
<file path=[Content_Types].xml><?xml version="1.0" encoding="utf-8"?>
<Types xmlns="http://schemas.openxmlformats.org/package/2006/content-types">
  <Default Extension="jpeg" ContentType="image/jpeg"/>
  <Default Extension="org&amp;utm_campaign=index&amp;utm_content=original"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86" r:id="rId2"/>
    <p:sldId id="605" r:id="rId3"/>
    <p:sldId id="607" r:id="rId4"/>
    <p:sldId id="530" r:id="rId5"/>
    <p:sldId id="285" r:id="rId6"/>
    <p:sldId id="543" r:id="rId7"/>
    <p:sldId id="535" r:id="rId8"/>
    <p:sldId id="531" r:id="rId9"/>
    <p:sldId id="537" r:id="rId10"/>
    <p:sldId id="288" r:id="rId11"/>
    <p:sldId id="540" r:id="rId12"/>
    <p:sldId id="581" r:id="rId13"/>
    <p:sldId id="588" r:id="rId14"/>
    <p:sldId id="591" r:id="rId15"/>
    <p:sldId id="592" r:id="rId16"/>
    <p:sldId id="593" r:id="rId17"/>
    <p:sldId id="594" r:id="rId18"/>
    <p:sldId id="595" r:id="rId19"/>
    <p:sldId id="596" r:id="rId20"/>
    <p:sldId id="542" r:id="rId21"/>
    <p:sldId id="604" r:id="rId22"/>
    <p:sldId id="293" r:id="rId23"/>
    <p:sldId id="584" r:id="rId24"/>
    <p:sldId id="597" r:id="rId25"/>
    <p:sldId id="606" r:id="rId26"/>
    <p:sldId id="522" r:id="rId27"/>
    <p:sldId id="456" r:id="rId28"/>
    <p:sldId id="455" r:id="rId29"/>
    <p:sldId id="449" r:id="rId30"/>
    <p:sldId id="608" r:id="rId31"/>
    <p:sldId id="609" r:id="rId32"/>
    <p:sldId id="600" r:id="rId33"/>
    <p:sldId id="601" r:id="rId34"/>
    <p:sldId id="583" r:id="rId35"/>
    <p:sldId id="289" r:id="rId36"/>
    <p:sldId id="60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73"/>
    <p:restoredTop sz="80946"/>
  </p:normalViewPr>
  <p:slideViewPr>
    <p:cSldViewPr snapToGrid="0">
      <p:cViewPr varScale="1">
        <p:scale>
          <a:sx n="100" d="100"/>
          <a:sy n="100" d="100"/>
        </p:scale>
        <p:origin x="119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DFC603-D38F-3840-9A8C-D81759CF19F7}" type="datetimeFigureOut">
              <a:rPr lang="en-US" smtClean="0"/>
              <a:t>10/6/26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C7078-1796-7A4D-86C7-BD551C747836}" type="slidenum">
              <a:rPr lang="en-US" smtClean="0"/>
              <a:t>‹#›</a:t>
            </a:fld>
            <a:endParaRPr lang="en-US"/>
          </a:p>
        </p:txBody>
      </p:sp>
    </p:spTree>
    <p:extLst>
      <p:ext uri="{BB962C8B-B14F-4D97-AF65-F5344CB8AC3E}">
        <p14:creationId xmlns:p14="http://schemas.microsoft.com/office/powerpoint/2010/main" val="2087100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F3A5F6-A6BC-E543-9B7F-4BD33E1BAA03}" type="slidenum">
              <a:rPr lang="en-US" smtClean="0"/>
              <a:t>1</a:t>
            </a:fld>
            <a:endParaRPr lang="en-US"/>
          </a:p>
        </p:txBody>
      </p:sp>
    </p:spTree>
    <p:extLst>
      <p:ext uri="{BB962C8B-B14F-4D97-AF65-F5344CB8AC3E}">
        <p14:creationId xmlns:p14="http://schemas.microsoft.com/office/powerpoint/2010/main" val="751096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These are the </a:t>
            </a:r>
            <a:r>
              <a:rPr lang="en-GB" b="1" dirty="0"/>
              <a:t>speaker notes</a:t>
            </a:r>
            <a:r>
              <a:rPr lang="en-GB" dirty="0"/>
              <a:t>. You will find a script for the presenter for every slide. In presentation mode, your audience will not be able to see these speaker notes, they are only visible to the presenter.</a:t>
            </a:r>
            <a:endParaRPr lang="en-US" sz="1200" dirty="0"/>
          </a:p>
          <a:p>
            <a:endParaRPr lang="en-US" dirty="0"/>
          </a:p>
          <a:p>
            <a:r>
              <a:rPr lang="en-GB" b="1" dirty="0"/>
              <a:t>This session</a:t>
            </a:r>
            <a:r>
              <a:rPr lang="en-GB" dirty="0"/>
              <a:t> assumes a basic familiarity with common Open Science concepts and practices. Examples include: replication crisis, R for data analysis and reproducible workflows; Quarto for reproducible documents; Git and GitHub for version control and collaboration, preregistration to document hypotheses and analysis plans in advance, Open Access publishing and broader transparency practices</a:t>
            </a:r>
          </a:p>
          <a:p>
            <a:endParaRPr lang="en-GB" dirty="0"/>
          </a:p>
          <a:p>
            <a:r>
              <a:rPr lang="en-GB" dirty="0"/>
              <a:t>You will need access to the workbook which can be downloaded as a Google Doc template and case studies which are linked in the slides and also on the landing page of these training materials.</a:t>
            </a:r>
          </a:p>
          <a:p>
            <a:endParaRPr lang="en-GB" dirty="0"/>
          </a:p>
          <a:p>
            <a:r>
              <a:rPr lang="en-GB" dirty="0"/>
              <a:t>Completion of session 1: </a:t>
            </a:r>
            <a:r>
              <a:rPr lang="en-US" sz="1200" dirty="0"/>
              <a:t>Leadership in Open Science: Skills, values and culture </a:t>
            </a:r>
          </a:p>
          <a:p>
            <a:r>
              <a:rPr lang="en-US" sz="1200" dirty="0"/>
              <a:t>Completion of session 2: Leadership in Open Science: Challenges</a:t>
            </a:r>
            <a:endParaRPr lang="en-GB" dirty="0"/>
          </a:p>
          <a:p>
            <a:endParaRPr lang="en-GB" dirty="0"/>
          </a:p>
          <a:p>
            <a:r>
              <a:rPr lang="en-GB" dirty="0"/>
              <a:t>Today forms the final part of 3 sessions on leadership in Open Science.</a:t>
            </a:r>
          </a:p>
          <a:p>
            <a:endParaRPr lang="en-GB" dirty="0"/>
          </a:p>
          <a:p>
            <a:r>
              <a:rPr lang="en-GB" b="1" dirty="0"/>
              <a:t>Instructor notes:</a:t>
            </a:r>
          </a:p>
          <a:p>
            <a:r>
              <a:rPr lang="en-GB" dirty="0"/>
              <a:t>Learners do not need to be an expert, but you should have at least seen or used some of these concepts before. If some of these terms are new, you are encouraged to review the introductory Open Science materials linked on the slide before continuing. The goal is simply to ensure everyone shares a common base vocabulary so the workshop can focus on learning how to teach about Open Science rather than Open Science itself.</a:t>
            </a:r>
            <a:endParaRPr lang="en-US" dirty="0"/>
          </a:p>
          <a:p>
            <a:endParaRPr lang="en-US" dirty="0"/>
          </a:p>
        </p:txBody>
      </p:sp>
      <p:sp>
        <p:nvSpPr>
          <p:cNvPr id="4" name="Slide Number Placeholder 3"/>
          <p:cNvSpPr>
            <a:spLocks noGrp="1"/>
          </p:cNvSpPr>
          <p:nvPr>
            <p:ph type="sldNum" sz="quarter" idx="5"/>
          </p:nvPr>
        </p:nvSpPr>
        <p:spPr/>
        <p:txBody>
          <a:bodyPr/>
          <a:lstStyle/>
          <a:p>
            <a:fld id="{6C6C7078-1796-7A4D-86C7-BD551C747836}" type="slidenum">
              <a:rPr lang="en-US" smtClean="0"/>
              <a:t>2</a:t>
            </a:fld>
            <a:endParaRPr lang="en-US"/>
          </a:p>
        </p:txBody>
      </p:sp>
    </p:spTree>
    <p:extLst>
      <p:ext uri="{BB962C8B-B14F-4D97-AF65-F5344CB8AC3E}">
        <p14:creationId xmlns:p14="http://schemas.microsoft.com/office/powerpoint/2010/main" val="170975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endParaRPr lang="en-US" sz="1200" b="1" dirty="0"/>
          </a:p>
          <a:p>
            <a:r>
              <a:rPr lang="en-US" sz="1200" b="0" dirty="0"/>
              <a:t>Let’s start with a survey!</a:t>
            </a:r>
          </a:p>
          <a:p>
            <a:endParaRPr lang="en-US" sz="1200" b="0" dirty="0"/>
          </a:p>
          <a:p>
            <a:endParaRPr lang="en-US" sz="1200" b="0" dirty="0"/>
          </a:p>
          <a:p>
            <a:r>
              <a:rPr lang="en-US" sz="1200" b="1" dirty="0"/>
              <a:t>Instructor notes:</a:t>
            </a:r>
          </a:p>
          <a:p>
            <a:r>
              <a:rPr lang="en-US" sz="1200" b="0" dirty="0"/>
              <a:t>These questions can be shared in an online survey format like https://</a:t>
            </a:r>
            <a:r>
              <a:rPr lang="en-US" sz="1200" b="0" dirty="0" err="1"/>
              <a:t>www.particify.de</a:t>
            </a:r>
            <a:r>
              <a:rPr lang="en-US" sz="1200" b="0" dirty="0"/>
              <a:t>/</a:t>
            </a:r>
            <a:r>
              <a:rPr lang="en-US" sz="1200" b="0" dirty="0" err="1"/>
              <a:t>en</a:t>
            </a:r>
            <a:r>
              <a:rPr lang="en-US" sz="1200" b="0" dirty="0"/>
              <a:t>/ </a:t>
            </a:r>
          </a:p>
          <a:p>
            <a:endParaRPr lang="en-US" dirty="0"/>
          </a:p>
        </p:txBody>
      </p:sp>
      <p:sp>
        <p:nvSpPr>
          <p:cNvPr id="4" name="Slide Number Placeholder 3"/>
          <p:cNvSpPr>
            <a:spLocks noGrp="1"/>
          </p:cNvSpPr>
          <p:nvPr>
            <p:ph type="sldNum" sz="quarter" idx="5"/>
          </p:nvPr>
        </p:nvSpPr>
        <p:spPr/>
        <p:txBody>
          <a:bodyPr/>
          <a:lstStyle/>
          <a:p>
            <a:fld id="{6C6C7078-1796-7A4D-86C7-BD551C747836}" type="slidenum">
              <a:rPr lang="en-US" smtClean="0"/>
              <a:t>3</a:t>
            </a:fld>
            <a:endParaRPr lang="en-US"/>
          </a:p>
        </p:txBody>
      </p:sp>
    </p:spTree>
    <p:extLst>
      <p:ext uri="{BB962C8B-B14F-4D97-AF65-F5344CB8AC3E}">
        <p14:creationId xmlns:p14="http://schemas.microsoft.com/office/powerpoint/2010/main" val="1554182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b="0" dirty="0"/>
              <a:t>2 main goals for this session:</a:t>
            </a:r>
          </a:p>
          <a:p>
            <a:endParaRPr lang="en-US" b="0" dirty="0"/>
          </a:p>
          <a:p>
            <a:r>
              <a:rPr lang="en-GB" sz="1200" b="1" i="0" u="none" strike="noStrike" dirty="0">
                <a:solidFill>
                  <a:srgbClr val="000000"/>
                </a:solidFill>
                <a:effectLst/>
                <a:latin typeface="Calibri" panose="020F0502020204030204" pitchFamily="34" charset="0"/>
              </a:rPr>
              <a:t>Examine </a:t>
            </a:r>
            <a:r>
              <a:rPr lang="en-GB" sz="1200" i="0" u="none" strike="noStrike" dirty="0">
                <a:solidFill>
                  <a:srgbClr val="000000"/>
                </a:solidFill>
                <a:effectLst/>
                <a:latin typeface="Calibri" panose="020F0502020204030204" pitchFamily="34" charset="0"/>
              </a:rPr>
              <a:t>approaches </a:t>
            </a:r>
            <a:r>
              <a:rPr lang="en-GB" sz="1200" dirty="0">
                <a:solidFill>
                  <a:srgbClr val="000000"/>
                </a:solidFill>
                <a:latin typeface="Calibri" panose="020F0502020204030204" pitchFamily="34" charset="0"/>
              </a:rPr>
              <a:t>to addressing challenges in Open Science from</a:t>
            </a:r>
            <a:r>
              <a:rPr lang="en-GB" sz="1200" b="1" i="0" u="none" strike="noStrike" dirty="0">
                <a:solidFill>
                  <a:srgbClr val="000000"/>
                </a:solidFill>
                <a:effectLst/>
                <a:latin typeface="Calibri" panose="020F0502020204030204" pitchFamily="34" charset="0"/>
              </a:rPr>
              <a:t> </a:t>
            </a:r>
            <a:r>
              <a:rPr lang="en-GB" sz="1200" i="0" u="none" strike="noStrike" dirty="0">
                <a:solidFill>
                  <a:srgbClr val="000000"/>
                </a:solidFill>
                <a:effectLst/>
                <a:latin typeface="Calibri" panose="020F0502020204030204" pitchFamily="34" charset="0"/>
              </a:rPr>
              <a:t>multipl</a:t>
            </a:r>
            <a:r>
              <a:rPr lang="en-GB" sz="1200" dirty="0">
                <a:solidFill>
                  <a:srgbClr val="000000"/>
                </a:solidFill>
                <a:latin typeface="Calibri" panose="020F0502020204030204" pitchFamily="34" charset="0"/>
              </a:rPr>
              <a:t>e perspectives to increase breadth of knowledge.</a:t>
            </a:r>
            <a:br>
              <a:rPr lang="en-GB" sz="1200" dirty="0"/>
            </a:br>
            <a:endParaRPr lang="en-GB" sz="1200" dirty="0"/>
          </a:p>
          <a:p>
            <a:r>
              <a:rPr lang="en-GB" sz="1200" b="1" i="0" u="none" strike="noStrike" dirty="0">
                <a:solidFill>
                  <a:srgbClr val="000000"/>
                </a:solidFill>
                <a:effectLst/>
                <a:latin typeface="Calibri" panose="020F0502020204030204" pitchFamily="34" charset="0"/>
              </a:rPr>
              <a:t>Discuss </a:t>
            </a:r>
            <a:r>
              <a:rPr lang="en-GB" sz="1200" i="0" u="none" strike="noStrike" dirty="0">
                <a:solidFill>
                  <a:srgbClr val="000000"/>
                </a:solidFill>
                <a:effectLst/>
                <a:latin typeface="Calibri" panose="020F0502020204030204" pitchFamily="34" charset="0"/>
              </a:rPr>
              <a:t>and</a:t>
            </a:r>
            <a:r>
              <a:rPr lang="en-GB" sz="1200" b="1" i="0" u="none" strike="noStrike" dirty="0">
                <a:solidFill>
                  <a:srgbClr val="000000"/>
                </a:solidFill>
                <a:effectLst/>
                <a:latin typeface="Calibri" panose="020F0502020204030204" pitchFamily="34" charset="0"/>
              </a:rPr>
              <a:t> propose</a:t>
            </a:r>
            <a:r>
              <a:rPr lang="en-GB" sz="1200" b="0" i="0" u="none" strike="noStrike" dirty="0">
                <a:solidFill>
                  <a:srgbClr val="000000"/>
                </a:solidFill>
                <a:effectLst/>
                <a:latin typeface="Calibri" panose="020F0502020204030204" pitchFamily="34" charset="0"/>
              </a:rPr>
              <a:t> actionable and equitable strategies to address challenges in Open Science as a way to </a:t>
            </a:r>
            <a:r>
              <a:rPr lang="en-GB" sz="1200" b="1" dirty="0">
                <a:solidFill>
                  <a:srgbClr val="000000"/>
                </a:solidFill>
                <a:latin typeface="Calibri" panose="020F0502020204030204" pitchFamily="34" charset="0"/>
              </a:rPr>
              <a:t>relate</a:t>
            </a:r>
            <a:r>
              <a:rPr lang="en-GB" sz="1200" dirty="0">
                <a:solidFill>
                  <a:srgbClr val="000000"/>
                </a:solidFill>
                <a:latin typeface="Calibri" panose="020F0502020204030204" pitchFamily="34" charset="0"/>
              </a:rPr>
              <a:t> to own leadership contexts</a:t>
            </a:r>
            <a:r>
              <a:rPr lang="en-GB" sz="1200" b="0" i="0" u="none" strike="noStrike" dirty="0">
                <a:solidFill>
                  <a:srgbClr val="000000"/>
                </a:solidFill>
                <a:effectLst/>
                <a:latin typeface="Calibri" panose="020F0502020204030204" pitchFamily="34" charset="0"/>
              </a:rPr>
              <a:t> and build up collective problem-solving skills.</a:t>
            </a:r>
            <a:endParaRPr lang="en-GB" sz="1200" dirty="0">
              <a:effectLst/>
            </a:endParaRPr>
          </a:p>
          <a:p>
            <a:endParaRPr lang="en-US" b="0" dirty="0"/>
          </a:p>
          <a:p>
            <a:r>
              <a:rPr lang="en-US" dirty="0"/>
              <a:t>We will work in groups later looking at case studies</a:t>
            </a:r>
          </a:p>
        </p:txBody>
      </p:sp>
      <p:sp>
        <p:nvSpPr>
          <p:cNvPr id="4" name="Slide Number Placeholder 3"/>
          <p:cNvSpPr>
            <a:spLocks noGrp="1"/>
          </p:cNvSpPr>
          <p:nvPr>
            <p:ph type="sldNum" sz="quarter" idx="5"/>
          </p:nvPr>
        </p:nvSpPr>
        <p:spPr/>
        <p:txBody>
          <a:bodyPr/>
          <a:lstStyle/>
          <a:p>
            <a:fld id="{46F3A5F6-A6BC-E543-9B7F-4BD33E1BAA03}" type="slidenum">
              <a:rPr lang="en-US" smtClean="0"/>
              <a:t>4</a:t>
            </a:fld>
            <a:endParaRPr lang="en-US"/>
          </a:p>
        </p:txBody>
      </p:sp>
    </p:spTree>
    <p:extLst>
      <p:ext uri="{BB962C8B-B14F-4D97-AF65-F5344CB8AC3E}">
        <p14:creationId xmlns:p14="http://schemas.microsoft.com/office/powerpoint/2010/main" val="1850179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3B99E-B8BC-92B5-DF4B-E4A40797D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FDEC9-385B-C173-1D2C-D6295A270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85560-9DC9-86D7-9D64-D95CB23576DC}"/>
              </a:ext>
            </a:extLst>
          </p:cNvPr>
          <p:cNvSpPr>
            <a:spLocks noGrp="1"/>
          </p:cNvSpPr>
          <p:nvPr>
            <p:ph type="body" idx="1"/>
          </p:nvPr>
        </p:nvSpPr>
        <p:spPr/>
        <p:txBody>
          <a:bodyPr/>
          <a:lstStyle/>
          <a:p>
            <a:r>
              <a:rPr lang="en-US" b="1" dirty="0"/>
              <a:t>Speaker notes:</a:t>
            </a:r>
          </a:p>
          <a:p>
            <a:r>
              <a:rPr lang="en-US" dirty="0"/>
              <a:t>In the previous session we looked at the what and why of open science challenges and we started to map out our challenges in the sphere of influence exercise.</a:t>
            </a:r>
          </a:p>
          <a:p>
            <a:endParaRPr lang="en-US" dirty="0"/>
          </a:p>
          <a:p>
            <a:endParaRPr lang="en-US" dirty="0"/>
          </a:p>
          <a:p>
            <a:r>
              <a:rPr lang="en-US" dirty="0"/>
              <a:t>Switch our attention to what we can do about it – stage 4 action.</a:t>
            </a:r>
          </a:p>
        </p:txBody>
      </p:sp>
      <p:sp>
        <p:nvSpPr>
          <p:cNvPr id="4" name="Slide Number Placeholder 3">
            <a:extLst>
              <a:ext uri="{FF2B5EF4-FFF2-40B4-BE49-F238E27FC236}">
                <a16:creationId xmlns:a16="http://schemas.microsoft.com/office/drawing/2014/main" id="{78A4FCA9-108C-815D-809F-3BFBFA11D720}"/>
              </a:ext>
            </a:extLst>
          </p:cNvPr>
          <p:cNvSpPr>
            <a:spLocks noGrp="1"/>
          </p:cNvSpPr>
          <p:nvPr>
            <p:ph type="sldNum" sz="quarter" idx="5"/>
          </p:nvPr>
        </p:nvSpPr>
        <p:spPr/>
        <p:txBody>
          <a:bodyPr/>
          <a:lstStyle/>
          <a:p>
            <a:fld id="{46F3A5F6-A6BC-E543-9B7F-4BD33E1BAA03}" type="slidenum">
              <a:rPr lang="en-US" smtClean="0"/>
              <a:t>5</a:t>
            </a:fld>
            <a:endParaRPr lang="en-US"/>
          </a:p>
        </p:txBody>
      </p:sp>
    </p:spTree>
    <p:extLst>
      <p:ext uri="{BB962C8B-B14F-4D97-AF65-F5344CB8AC3E}">
        <p14:creationId xmlns:p14="http://schemas.microsoft.com/office/powerpoint/2010/main" val="2499313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DDB34-DF99-4F77-16BF-2D33E43F0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96750-49E0-1B1B-673B-B88E24279C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7FFCB7-04D6-8DDD-CC02-B06600AF0C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342900" indent="-342900">
              <a:buFont typeface="Arial" panose="020B0604020202020204" pitchFamily="34" charset="0"/>
              <a:buChar char="•"/>
            </a:pPr>
            <a:r>
              <a:rPr lang="en-US" sz="1200" dirty="0"/>
              <a:t>First start by thinking about </a:t>
            </a:r>
            <a:r>
              <a:rPr lang="en-US" sz="1200" b="1" dirty="0"/>
              <a:t>general approaches</a:t>
            </a:r>
            <a:r>
              <a:rPr lang="en-US" sz="1200" dirty="0"/>
              <a:t> before we </a:t>
            </a:r>
            <a:r>
              <a:rPr lang="en-US" sz="1200" b="1" dirty="0"/>
              <a:t>apply </a:t>
            </a:r>
            <a:r>
              <a:rPr lang="en-US" sz="1200" dirty="0"/>
              <a:t>to the</a:t>
            </a:r>
            <a:r>
              <a:rPr lang="en-US" sz="1200" b="1" dirty="0"/>
              <a:t> group case study </a:t>
            </a:r>
            <a:r>
              <a:rPr lang="en-US" sz="1200" dirty="0"/>
              <a:t>activity</a:t>
            </a:r>
          </a:p>
          <a:p>
            <a:pPr marL="342900" indent="-342900">
              <a:buFont typeface="Arial" panose="020B0604020202020204" pitchFamily="34" charset="0"/>
              <a:buChar char="•"/>
            </a:pPr>
            <a:endParaRPr lang="en-US" sz="1200" dirty="0"/>
          </a:p>
          <a:p>
            <a:pPr marL="342900" indent="-342900">
              <a:buFont typeface="Arial" panose="020B0604020202020204" pitchFamily="34" charset="0"/>
              <a:buChar char="•"/>
            </a:pPr>
            <a:r>
              <a:rPr lang="en-US" sz="1200" dirty="0"/>
              <a:t>You can keep in mind the challenges you have written down from sphere of influence activity</a:t>
            </a:r>
          </a:p>
          <a:p>
            <a:endParaRPr lang="en-US" dirty="0"/>
          </a:p>
        </p:txBody>
      </p:sp>
      <p:sp>
        <p:nvSpPr>
          <p:cNvPr id="4" name="Slide Number Placeholder 3">
            <a:extLst>
              <a:ext uri="{FF2B5EF4-FFF2-40B4-BE49-F238E27FC236}">
                <a16:creationId xmlns:a16="http://schemas.microsoft.com/office/drawing/2014/main" id="{398FC704-BD78-A704-B4CF-E781C3327ACA}"/>
              </a:ext>
            </a:extLst>
          </p:cNvPr>
          <p:cNvSpPr>
            <a:spLocks noGrp="1"/>
          </p:cNvSpPr>
          <p:nvPr>
            <p:ph type="sldNum" sz="quarter" idx="5"/>
          </p:nvPr>
        </p:nvSpPr>
        <p:spPr/>
        <p:txBody>
          <a:bodyPr/>
          <a:lstStyle/>
          <a:p>
            <a:fld id="{46F3A5F6-A6BC-E543-9B7F-4BD33E1BAA03}" type="slidenum">
              <a:rPr lang="en-US" smtClean="0"/>
              <a:t>6</a:t>
            </a:fld>
            <a:endParaRPr lang="en-US"/>
          </a:p>
        </p:txBody>
      </p:sp>
    </p:spTree>
    <p:extLst>
      <p:ext uri="{BB962C8B-B14F-4D97-AF65-F5344CB8AC3E}">
        <p14:creationId xmlns:p14="http://schemas.microsoft.com/office/powerpoint/2010/main" val="1398566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33C3F-7B36-BA51-7002-CA57FF8DC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E27D5-81DC-B392-9875-E6F0B48B2A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6C2AB4-6948-C727-508C-5C872D5B68D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sz="1200" dirty="0"/>
              <a:t>Consider the </a:t>
            </a:r>
            <a:r>
              <a:rPr lang="en-US" sz="1200" b="1" dirty="0"/>
              <a:t>context</a:t>
            </a:r>
            <a:r>
              <a:rPr lang="en-US" sz="1200" dirty="0"/>
              <a:t> you are in. Locate the </a:t>
            </a:r>
            <a:r>
              <a:rPr lang="en-US" sz="1200" b="1" dirty="0"/>
              <a:t>scale</a:t>
            </a:r>
            <a:r>
              <a:rPr lang="en-US" sz="1200" dirty="0"/>
              <a:t>, </a:t>
            </a:r>
            <a:r>
              <a:rPr lang="en-US" sz="1200" b="1" dirty="0"/>
              <a:t>domain</a:t>
            </a:r>
            <a:r>
              <a:rPr lang="en-US" sz="1200" dirty="0"/>
              <a:t> and your social </a:t>
            </a:r>
            <a:r>
              <a:rPr lang="en-US" sz="1200" b="1" dirty="0"/>
              <a:t>position</a:t>
            </a:r>
          </a:p>
          <a:p>
            <a:endParaRPr lang="en-US" dirty="0"/>
          </a:p>
          <a:p>
            <a:r>
              <a:rPr lang="en-US" dirty="0"/>
              <a:t>Reflecting on these things helps provide a sense of direction and orientation with regards to the challenges. We are revisiting the concepts we saw in session 1 and 2 through a problem solving lens.</a:t>
            </a:r>
          </a:p>
          <a:p>
            <a:endParaRPr lang="en-US" dirty="0"/>
          </a:p>
          <a:p>
            <a:r>
              <a:rPr lang="en-US" dirty="0"/>
              <a:t>Scale – what scale is the challenge is it a system issue? Is it an interpersonal one?</a:t>
            </a:r>
          </a:p>
          <a:p>
            <a:r>
              <a:rPr lang="en-US" dirty="0"/>
              <a:t>Domain: Is the challenge related to infrastructure? Is the challenge within the domain of training? There may be overlap</a:t>
            </a:r>
          </a:p>
          <a:p>
            <a:r>
              <a:rPr lang="en-US" dirty="0"/>
              <a:t>If within the research domain then where is the challenge happening in the research cycle?</a:t>
            </a:r>
          </a:p>
          <a:p>
            <a:endParaRPr lang="en-US" dirty="0"/>
          </a:p>
          <a:p>
            <a:r>
              <a:rPr lang="en-US" dirty="0"/>
              <a:t>Adopter type: for issues that are interpersonal, which adopter types do the challenges related to? Is it mostly late majority and laggards?</a:t>
            </a:r>
          </a:p>
          <a:p>
            <a:endParaRPr lang="en-US" dirty="0"/>
          </a:p>
          <a:p>
            <a:r>
              <a:rPr lang="en-US" dirty="0"/>
              <a:t>Finally,  looking inwards, what is your positionality, what is the social location that you approach these challenges – it can give you an idea of your capacity and sphere of influence.</a:t>
            </a:r>
          </a:p>
        </p:txBody>
      </p:sp>
      <p:sp>
        <p:nvSpPr>
          <p:cNvPr id="4" name="Slide Number Placeholder 3">
            <a:extLst>
              <a:ext uri="{FF2B5EF4-FFF2-40B4-BE49-F238E27FC236}">
                <a16:creationId xmlns:a16="http://schemas.microsoft.com/office/drawing/2014/main" id="{C60D8A4B-EB27-D113-8631-C4E573188A1B}"/>
              </a:ext>
            </a:extLst>
          </p:cNvPr>
          <p:cNvSpPr>
            <a:spLocks noGrp="1"/>
          </p:cNvSpPr>
          <p:nvPr>
            <p:ph type="sldNum" sz="quarter" idx="5"/>
          </p:nvPr>
        </p:nvSpPr>
        <p:spPr/>
        <p:txBody>
          <a:bodyPr/>
          <a:lstStyle/>
          <a:p>
            <a:fld id="{46F3A5F6-A6BC-E543-9B7F-4BD33E1BAA03}" type="slidenum">
              <a:rPr lang="en-US" smtClean="0"/>
              <a:t>7</a:t>
            </a:fld>
            <a:endParaRPr lang="en-US"/>
          </a:p>
        </p:txBody>
      </p:sp>
    </p:spTree>
    <p:extLst>
      <p:ext uri="{BB962C8B-B14F-4D97-AF65-F5344CB8AC3E}">
        <p14:creationId xmlns:p14="http://schemas.microsoft.com/office/powerpoint/2010/main" val="1703216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628D0-EDF5-6136-5783-0323AD5FDD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3D7A7-7627-6A17-489E-6F5081E009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E15AC-3EC7-A5A1-97BA-7B5563B33D5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Connecting with others and ourselves is important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What are our values?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r>
              <a:rPr lang="en-US" dirty="0"/>
              <a:t>Where can we join with others to make change? There will be resources linked of OS communities to join listed at the end</a:t>
            </a:r>
          </a:p>
          <a:p>
            <a:endParaRPr lang="en-US" dirty="0"/>
          </a:p>
          <a:p>
            <a:r>
              <a:rPr lang="en-US" dirty="0"/>
              <a:t>Build up a shared vocabulary that makes expectations and project goals explicit and keeps in mind accessibility, cultural differences.</a:t>
            </a:r>
          </a:p>
        </p:txBody>
      </p:sp>
      <p:sp>
        <p:nvSpPr>
          <p:cNvPr id="4" name="Slide Number Placeholder 3">
            <a:extLst>
              <a:ext uri="{FF2B5EF4-FFF2-40B4-BE49-F238E27FC236}">
                <a16:creationId xmlns:a16="http://schemas.microsoft.com/office/drawing/2014/main" id="{5024204B-CCB4-EA55-F71D-76E7C6702C5F}"/>
              </a:ext>
            </a:extLst>
          </p:cNvPr>
          <p:cNvSpPr>
            <a:spLocks noGrp="1"/>
          </p:cNvSpPr>
          <p:nvPr>
            <p:ph type="sldNum" sz="quarter" idx="5"/>
          </p:nvPr>
        </p:nvSpPr>
        <p:spPr/>
        <p:txBody>
          <a:bodyPr/>
          <a:lstStyle/>
          <a:p>
            <a:fld id="{46F3A5F6-A6BC-E543-9B7F-4BD33E1BAA03}" type="slidenum">
              <a:rPr lang="en-US" smtClean="0"/>
              <a:t>8</a:t>
            </a:fld>
            <a:endParaRPr lang="en-US"/>
          </a:p>
        </p:txBody>
      </p:sp>
    </p:spTree>
    <p:extLst>
      <p:ext uri="{BB962C8B-B14F-4D97-AF65-F5344CB8AC3E}">
        <p14:creationId xmlns:p14="http://schemas.microsoft.com/office/powerpoint/2010/main" val="737770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AA236-4341-09D4-9FA7-6A39FDBAD7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029E3-EECD-363D-C08B-F18A3E3763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4EE58D-4E04-BC60-35AA-C73B38E0C34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Small steps start somewhere, in your sphere of influence, try out a practice at your own pace and context.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Taking a small action can help you build momentum.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Consider your capacity and resources adopting the open science buffet approach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Identify actions that can be done today and ones that can wait. This helps with overwhelm!</a:t>
            </a:r>
          </a:p>
        </p:txBody>
      </p:sp>
      <p:sp>
        <p:nvSpPr>
          <p:cNvPr id="4" name="Slide Number Placeholder 3">
            <a:extLst>
              <a:ext uri="{FF2B5EF4-FFF2-40B4-BE49-F238E27FC236}">
                <a16:creationId xmlns:a16="http://schemas.microsoft.com/office/drawing/2014/main" id="{1A129B7B-C74D-AC33-3605-2E7E8986F870}"/>
              </a:ext>
            </a:extLst>
          </p:cNvPr>
          <p:cNvSpPr>
            <a:spLocks noGrp="1"/>
          </p:cNvSpPr>
          <p:nvPr>
            <p:ph type="sldNum" sz="quarter" idx="5"/>
          </p:nvPr>
        </p:nvSpPr>
        <p:spPr/>
        <p:txBody>
          <a:bodyPr/>
          <a:lstStyle/>
          <a:p>
            <a:fld id="{46F3A5F6-A6BC-E543-9B7F-4BD33E1BAA03}" type="slidenum">
              <a:rPr lang="en-US" smtClean="0"/>
              <a:t>9</a:t>
            </a:fld>
            <a:endParaRPr lang="en-US"/>
          </a:p>
        </p:txBody>
      </p:sp>
    </p:spTree>
    <p:extLst>
      <p:ext uri="{BB962C8B-B14F-4D97-AF65-F5344CB8AC3E}">
        <p14:creationId xmlns:p14="http://schemas.microsoft.com/office/powerpoint/2010/main" val="4269871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dirty="0"/>
              <a:t>A nice overview of small steps, we were discussing in the previous slide.</a:t>
            </a:r>
          </a:p>
          <a:p>
            <a:endParaRPr lang="en-US" dirty="0"/>
          </a:p>
          <a:p>
            <a:r>
              <a:rPr lang="en-US" dirty="0"/>
              <a:t>Steps on the left-hand side from foundation, growth, community and leadership showing actions with increasing resources needed</a:t>
            </a:r>
          </a:p>
          <a:p>
            <a:endParaRPr lang="en-US" dirty="0"/>
          </a:p>
          <a:p>
            <a:r>
              <a:rPr lang="en-US" dirty="0"/>
              <a:t>Some actions are more resource intensive </a:t>
            </a:r>
          </a:p>
          <a:p>
            <a:r>
              <a:rPr lang="en-US" dirty="0"/>
              <a:t>Going at your own pace and context.</a:t>
            </a:r>
          </a:p>
        </p:txBody>
      </p:sp>
      <p:sp>
        <p:nvSpPr>
          <p:cNvPr id="4" name="Slide Number Placeholder 3"/>
          <p:cNvSpPr>
            <a:spLocks noGrp="1"/>
          </p:cNvSpPr>
          <p:nvPr>
            <p:ph type="sldNum" sz="quarter" idx="5"/>
          </p:nvPr>
        </p:nvSpPr>
        <p:spPr/>
        <p:txBody>
          <a:bodyPr/>
          <a:lstStyle/>
          <a:p>
            <a:fld id="{46F3A5F6-A6BC-E543-9B7F-4BD33E1BAA03}" type="slidenum">
              <a:rPr lang="en-US" smtClean="0"/>
              <a:t>10</a:t>
            </a:fld>
            <a:endParaRPr lang="en-US"/>
          </a:p>
        </p:txBody>
      </p:sp>
    </p:spTree>
    <p:extLst>
      <p:ext uri="{BB962C8B-B14F-4D97-AF65-F5344CB8AC3E}">
        <p14:creationId xmlns:p14="http://schemas.microsoft.com/office/powerpoint/2010/main" val="1790148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9A320-231D-23BC-D04A-0735580D1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D7D85-9291-EFDB-2E32-3BA275203D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9914CD-2A5C-241C-0329-7FAFE3294D5E}"/>
              </a:ext>
            </a:extLst>
          </p:cNvPr>
          <p:cNvSpPr>
            <a:spLocks noGrp="1"/>
          </p:cNvSpPr>
          <p:nvPr>
            <p:ph type="body" idx="1"/>
          </p:nvPr>
        </p:nvSpPr>
        <p:spPr/>
        <p:txBody>
          <a:bodyPr/>
          <a:lstStyle/>
          <a:p>
            <a:r>
              <a:rPr lang="en-US" b="1" dirty="0"/>
              <a:t>Speaker notes:</a:t>
            </a:r>
          </a:p>
          <a:p>
            <a:r>
              <a:rPr lang="en-US" b="0" dirty="0"/>
              <a:t>Equity should be integrated into strategies and not seen as separate.</a:t>
            </a:r>
          </a:p>
          <a:p>
            <a:endParaRPr lang="en-US"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Recognize </a:t>
            </a:r>
            <a:r>
              <a:rPr lang="en-US" sz="1200" dirty="0"/>
              <a:t>the </a:t>
            </a:r>
            <a:r>
              <a:rPr lang="en-US" sz="1200" b="1" dirty="0"/>
              <a:t>diversity</a:t>
            </a:r>
            <a:r>
              <a:rPr lang="en-US" sz="1200" dirty="0"/>
              <a:t> of capacities, knowledge systems and values of researchers</a:t>
            </a:r>
          </a:p>
          <a:p>
            <a:pPr marL="171450" indent="-171450">
              <a:buFont typeface="Arial" panose="020B0604020202020204" pitchFamily="34" charset="0"/>
              <a:buChar char="•"/>
            </a:pPr>
            <a:r>
              <a:rPr lang="en-US" sz="1200" dirty="0"/>
              <a:t>Consider how your </a:t>
            </a:r>
            <a:r>
              <a:rPr lang="en-US" sz="1200" b="1" dirty="0"/>
              <a:t>actions impact </a:t>
            </a:r>
            <a:r>
              <a:rPr lang="en-US" sz="1200" dirty="0"/>
              <a:t>those from under-represented communities</a:t>
            </a:r>
            <a:endParaRPr lang="en-US" sz="1200" b="1"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Advocate</a:t>
            </a:r>
            <a:r>
              <a:rPr lang="en-US" sz="1200" dirty="0"/>
              <a:t> for </a:t>
            </a:r>
            <a:r>
              <a:rPr lang="en-US" sz="1200" b="1" dirty="0"/>
              <a:t>broader metrics</a:t>
            </a:r>
            <a:r>
              <a:rPr lang="en-US" sz="1200" dirty="0"/>
              <a:t> for evaluating impact- think about i</a:t>
            </a:r>
            <a:r>
              <a:rPr lang="en-US" dirty="0"/>
              <a:t>s this metric serving us or are we serving it? </a:t>
            </a:r>
            <a:endParaRPr lang="en-US" b="1" dirty="0"/>
          </a:p>
          <a:p>
            <a:pPr marL="171450" indent="-171450">
              <a:buFont typeface="Arial" panose="020B0604020202020204" pitchFamily="34" charset="0"/>
              <a:buChar char="•"/>
            </a:pPr>
            <a:r>
              <a:rPr lang="en-US" dirty="0"/>
              <a:t>With diversity and one size doesn’t fit all it links to what we saw yesterday and earlier this morning about universal design for learning </a:t>
            </a:r>
          </a:p>
          <a:p>
            <a:endParaRPr lang="en-US" dirty="0"/>
          </a:p>
          <a:p>
            <a:r>
              <a:rPr lang="en-US" dirty="0"/>
              <a:t>There is more information about equity in Open Science in this Munich Manifesto.</a:t>
            </a:r>
          </a:p>
        </p:txBody>
      </p:sp>
      <p:sp>
        <p:nvSpPr>
          <p:cNvPr id="4" name="Slide Number Placeholder 3">
            <a:extLst>
              <a:ext uri="{FF2B5EF4-FFF2-40B4-BE49-F238E27FC236}">
                <a16:creationId xmlns:a16="http://schemas.microsoft.com/office/drawing/2014/main" id="{035DB9D8-2830-B825-C066-B97928CDBAB9}"/>
              </a:ext>
            </a:extLst>
          </p:cNvPr>
          <p:cNvSpPr>
            <a:spLocks noGrp="1"/>
          </p:cNvSpPr>
          <p:nvPr>
            <p:ph type="sldNum" sz="quarter" idx="5"/>
          </p:nvPr>
        </p:nvSpPr>
        <p:spPr/>
        <p:txBody>
          <a:bodyPr/>
          <a:lstStyle/>
          <a:p>
            <a:fld id="{46F3A5F6-A6BC-E543-9B7F-4BD33E1BAA03}" type="slidenum">
              <a:rPr lang="en-US" smtClean="0"/>
              <a:t>11</a:t>
            </a:fld>
            <a:endParaRPr lang="en-US"/>
          </a:p>
        </p:txBody>
      </p:sp>
    </p:spTree>
    <p:extLst>
      <p:ext uri="{BB962C8B-B14F-4D97-AF65-F5344CB8AC3E}">
        <p14:creationId xmlns:p14="http://schemas.microsoft.com/office/powerpoint/2010/main" val="1207297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23082-1652-58B3-ACE4-6863E3733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55DE4-9C24-D949-F712-37AFD0E1B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5709D4-93C1-992B-1C41-83992B4CA33B}"/>
              </a:ext>
            </a:extLst>
          </p:cNvPr>
          <p:cNvSpPr>
            <a:spLocks noGrp="1"/>
          </p:cNvSpPr>
          <p:nvPr>
            <p:ph type="body" idx="1"/>
          </p:nvPr>
        </p:nvSpPr>
        <p:spPr/>
        <p:txBody>
          <a:bodyPr/>
          <a:lstStyle/>
          <a:p>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To summarize before we move onto the next session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Ways to take action: </a:t>
            </a:r>
            <a:r>
              <a:rPr lang="en-US" sz="1200" b="1" dirty="0"/>
              <a:t>locate</a:t>
            </a:r>
            <a:r>
              <a:rPr lang="en-US" sz="1200" dirty="0"/>
              <a:t> scale and domain of challenges, </a:t>
            </a:r>
            <a:r>
              <a:rPr lang="en-US" sz="1200" b="1" dirty="0"/>
              <a:t>connect </a:t>
            </a:r>
            <a:r>
              <a:rPr lang="en-US" sz="1200" dirty="0"/>
              <a:t>inwards and with others, start with </a:t>
            </a:r>
            <a:r>
              <a:rPr lang="en-US" sz="1200" b="1" dirty="0"/>
              <a:t>small steps</a:t>
            </a:r>
            <a:r>
              <a:rPr lang="en-US" sz="1200" dirty="0"/>
              <a:t>, embed </a:t>
            </a:r>
            <a:r>
              <a:rPr lang="en-US" sz="1200" b="1" dirty="0"/>
              <a:t>equity.</a:t>
            </a:r>
          </a:p>
          <a:p>
            <a:endParaRPr lang="en-US" b="1" dirty="0"/>
          </a:p>
        </p:txBody>
      </p:sp>
      <p:sp>
        <p:nvSpPr>
          <p:cNvPr id="4" name="Slide Number Placeholder 3">
            <a:extLst>
              <a:ext uri="{FF2B5EF4-FFF2-40B4-BE49-F238E27FC236}">
                <a16:creationId xmlns:a16="http://schemas.microsoft.com/office/drawing/2014/main" id="{6C6F3ACE-4C2F-FEC1-93C3-C0639526E7B3}"/>
              </a:ext>
            </a:extLst>
          </p:cNvPr>
          <p:cNvSpPr>
            <a:spLocks noGrp="1"/>
          </p:cNvSpPr>
          <p:nvPr>
            <p:ph type="sldNum" sz="quarter" idx="5"/>
          </p:nvPr>
        </p:nvSpPr>
        <p:spPr/>
        <p:txBody>
          <a:bodyPr/>
          <a:lstStyle/>
          <a:p>
            <a:fld id="{46F3A5F6-A6BC-E543-9B7F-4BD33E1BAA03}" type="slidenum">
              <a:rPr lang="en-US" smtClean="0"/>
              <a:t>12</a:t>
            </a:fld>
            <a:endParaRPr lang="en-US"/>
          </a:p>
        </p:txBody>
      </p:sp>
    </p:spTree>
    <p:extLst>
      <p:ext uri="{BB962C8B-B14F-4D97-AF65-F5344CB8AC3E}">
        <p14:creationId xmlns:p14="http://schemas.microsoft.com/office/powerpoint/2010/main" val="3515890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3E9A5-7028-A6E1-D72B-AC97E4339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629FB0-BDCB-6319-F344-0B6896967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A54D07-FEDF-EF01-E47E-75CA174EA747}"/>
              </a:ext>
            </a:extLst>
          </p:cNvPr>
          <p:cNvSpPr>
            <a:spLocks noGrp="1"/>
          </p:cNvSpPr>
          <p:nvPr>
            <p:ph type="body" idx="1"/>
          </p:nvPr>
        </p:nvSpPr>
        <p:spPr/>
        <p:txBody>
          <a:bodyPr/>
          <a:lstStyle/>
          <a:p>
            <a:r>
              <a:rPr lang="en-US" b="1" dirty="0"/>
              <a:t>Speaker notes:</a:t>
            </a:r>
          </a:p>
          <a:p>
            <a:r>
              <a:rPr lang="en-US" dirty="0"/>
              <a:t>Case studies are a great reflective exercise that allows you to </a:t>
            </a:r>
            <a:r>
              <a:rPr lang="en-GB" sz="1200" b="0" i="0" u="none" strike="noStrike" kern="1200" dirty="0">
                <a:solidFill>
                  <a:schemeClr val="tx1"/>
                </a:solidFill>
                <a:effectLst/>
                <a:latin typeface="+mn-lt"/>
                <a:ea typeface="+mn-ea"/>
                <a:cs typeface="+mn-cs"/>
              </a:rPr>
              <a:t>combine learned theory and personal experiences</a:t>
            </a:r>
          </a:p>
          <a:p>
            <a:pPr marL="342900" indent="-342900">
              <a:buFont typeface="Arial" panose="020B0604020202020204" pitchFamily="34" charset="0"/>
              <a:buChar char="•"/>
            </a:pPr>
            <a:r>
              <a:rPr lang="en-US" sz="1200" dirty="0"/>
              <a:t>Allows you to </a:t>
            </a:r>
            <a:r>
              <a:rPr lang="en-GB" sz="1200" b="1" i="0" u="none" strike="noStrike" kern="1200" dirty="0">
                <a:solidFill>
                  <a:schemeClr val="tx1"/>
                </a:solidFill>
                <a:effectLst/>
                <a:ea typeface="+mn-ea"/>
                <a:cs typeface="+mn-cs"/>
              </a:rPr>
              <a:t>combine </a:t>
            </a:r>
            <a:r>
              <a:rPr lang="en-GB" sz="1200" i="0" u="none" strike="noStrike" kern="1200" dirty="0">
                <a:solidFill>
                  <a:schemeClr val="tx1"/>
                </a:solidFill>
                <a:effectLst/>
                <a:ea typeface="+mn-ea"/>
                <a:cs typeface="+mn-cs"/>
              </a:rPr>
              <a:t>learned</a:t>
            </a:r>
            <a:r>
              <a:rPr lang="en-GB" sz="1200" b="1" i="0" u="none" strike="noStrike" kern="1200" dirty="0">
                <a:solidFill>
                  <a:schemeClr val="tx1"/>
                </a:solidFill>
                <a:effectLst/>
                <a:ea typeface="+mn-ea"/>
                <a:cs typeface="+mn-cs"/>
              </a:rPr>
              <a:t> theory</a:t>
            </a:r>
            <a:r>
              <a:rPr lang="en-GB" sz="1200" b="0" i="0" u="none" strike="noStrike" kern="1200" dirty="0">
                <a:solidFill>
                  <a:schemeClr val="tx1"/>
                </a:solidFill>
                <a:effectLst/>
                <a:ea typeface="+mn-ea"/>
                <a:cs typeface="+mn-cs"/>
              </a:rPr>
              <a:t> and </a:t>
            </a:r>
            <a:r>
              <a:rPr lang="en-GB" sz="1200" b="1" i="0" u="none" strike="noStrike" kern="1200" dirty="0">
                <a:solidFill>
                  <a:schemeClr val="tx1"/>
                </a:solidFill>
                <a:effectLst/>
                <a:ea typeface="+mn-ea"/>
                <a:cs typeface="+mn-cs"/>
              </a:rPr>
              <a:t>personal experiences </a:t>
            </a:r>
            <a:r>
              <a:rPr lang="en-GB" sz="1200" b="0" i="0" u="none" strike="noStrike" kern="1200" dirty="0">
                <a:solidFill>
                  <a:schemeClr val="tx1"/>
                </a:solidFill>
                <a:effectLst/>
                <a:ea typeface="+mn-ea"/>
                <a:cs typeface="+mn-cs"/>
              </a:rPr>
              <a:t>to problem-solve </a:t>
            </a:r>
            <a:r>
              <a:rPr lang="en-GB" sz="1200" dirty="0"/>
              <a:t>scenarios that resemble real-world examples!</a:t>
            </a:r>
          </a:p>
          <a:p>
            <a:pPr marL="342900" indent="-342900">
              <a:buFont typeface="Arial" panose="020B0604020202020204" pitchFamily="34" charset="0"/>
              <a:buChar char="•"/>
            </a:pPr>
            <a:r>
              <a:rPr lang="en-GB" sz="1200" dirty="0"/>
              <a:t>Can be done individually, small groups or larger groups.</a:t>
            </a:r>
          </a:p>
          <a:p>
            <a:pPr marL="342900" indent="-342900">
              <a:buFont typeface="Arial" panose="020B0604020202020204" pitchFamily="34" charset="0"/>
              <a:buChar char="•"/>
            </a:pPr>
            <a:r>
              <a:rPr lang="en-GB" sz="1200" dirty="0">
                <a:solidFill>
                  <a:srgbClr val="000000"/>
                </a:solidFill>
              </a:rPr>
              <a:t>Helps</a:t>
            </a:r>
            <a:r>
              <a:rPr lang="en-GB" sz="1200" b="1" dirty="0">
                <a:solidFill>
                  <a:srgbClr val="000000"/>
                </a:solidFill>
              </a:rPr>
              <a:t> relate</a:t>
            </a:r>
            <a:r>
              <a:rPr lang="en-GB" sz="1200" dirty="0">
                <a:solidFill>
                  <a:srgbClr val="000000"/>
                </a:solidFill>
              </a:rPr>
              <a:t> to own leadership contexts and build up (collective) </a:t>
            </a:r>
            <a:r>
              <a:rPr lang="en-GB" sz="1200" b="1" dirty="0">
                <a:solidFill>
                  <a:srgbClr val="000000"/>
                </a:solidFill>
              </a:rPr>
              <a:t>problem-solving skills</a:t>
            </a:r>
            <a:r>
              <a:rPr lang="en-GB" sz="1200" dirty="0">
                <a:solidFill>
                  <a:srgbClr val="000000"/>
                </a:solidFill>
              </a:rPr>
              <a:t>.</a:t>
            </a:r>
            <a:endParaRPr lang="en-GB" sz="1200" dirty="0"/>
          </a:p>
          <a:p>
            <a:endParaRPr lang="en-US" dirty="0"/>
          </a:p>
        </p:txBody>
      </p:sp>
      <p:sp>
        <p:nvSpPr>
          <p:cNvPr id="4" name="Slide Number Placeholder 3">
            <a:extLst>
              <a:ext uri="{FF2B5EF4-FFF2-40B4-BE49-F238E27FC236}">
                <a16:creationId xmlns:a16="http://schemas.microsoft.com/office/drawing/2014/main" id="{2DD9D882-F1D9-9230-9BB7-6CBBECEAF68F}"/>
              </a:ext>
            </a:extLst>
          </p:cNvPr>
          <p:cNvSpPr>
            <a:spLocks noGrp="1"/>
          </p:cNvSpPr>
          <p:nvPr>
            <p:ph type="sldNum" sz="quarter" idx="5"/>
          </p:nvPr>
        </p:nvSpPr>
        <p:spPr/>
        <p:txBody>
          <a:bodyPr/>
          <a:lstStyle/>
          <a:p>
            <a:fld id="{46F3A5F6-A6BC-E543-9B7F-4BD33E1BAA03}" type="slidenum">
              <a:rPr lang="en-US" smtClean="0"/>
              <a:t>13</a:t>
            </a:fld>
            <a:endParaRPr lang="en-US"/>
          </a:p>
        </p:txBody>
      </p:sp>
    </p:spTree>
    <p:extLst>
      <p:ext uri="{BB962C8B-B14F-4D97-AF65-F5344CB8AC3E}">
        <p14:creationId xmlns:p14="http://schemas.microsoft.com/office/powerpoint/2010/main" val="165211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64619-E02F-1346-587F-61E0E2FFBA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7CCB1-F228-C9B1-B707-DC922DAE60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1C17F-2F10-32AC-37AA-0625F21222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Let’s apply the awareness of challenges, acknowledging the context identifying where we have agency (sphere of influence)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Work through one together: building a cross-functional team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Words in bold are areas to be aware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Read out loud the case study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Open up the floor and ask learners if they have thoughts on potential challenges.</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BEDD875-5F1C-E9BA-BF05-7087FF58D25F}"/>
              </a:ext>
            </a:extLst>
          </p:cNvPr>
          <p:cNvSpPr>
            <a:spLocks noGrp="1"/>
          </p:cNvSpPr>
          <p:nvPr>
            <p:ph type="sldNum" sz="quarter" idx="5"/>
          </p:nvPr>
        </p:nvSpPr>
        <p:spPr/>
        <p:txBody>
          <a:bodyPr/>
          <a:lstStyle/>
          <a:p>
            <a:fld id="{46F3A5F6-A6BC-E543-9B7F-4BD33E1BAA03}" type="slidenum">
              <a:rPr lang="en-US" smtClean="0"/>
              <a:t>14</a:t>
            </a:fld>
            <a:endParaRPr lang="en-US"/>
          </a:p>
        </p:txBody>
      </p:sp>
    </p:spTree>
    <p:extLst>
      <p:ext uri="{BB962C8B-B14F-4D97-AF65-F5344CB8AC3E}">
        <p14:creationId xmlns:p14="http://schemas.microsoft.com/office/powerpoint/2010/main" val="1131834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863F2-4792-D834-6D8B-EF70C9D6E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4EB00-5347-98D9-FB80-C3D5237613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17239-D3AB-EEED-CF83-D174095FCB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Onto acknowledging the challenges</a:t>
            </a:r>
          </a:p>
          <a:p>
            <a:r>
              <a:rPr lang="en-US" dirty="0"/>
              <a:t>A conceptual challenge might be that they are both biologist with different research approaches and norms. They might run into confusion of ways of working in an open science way.</a:t>
            </a:r>
          </a:p>
        </p:txBody>
      </p:sp>
      <p:sp>
        <p:nvSpPr>
          <p:cNvPr id="4" name="Slide Number Placeholder 3">
            <a:extLst>
              <a:ext uri="{FF2B5EF4-FFF2-40B4-BE49-F238E27FC236}">
                <a16:creationId xmlns:a16="http://schemas.microsoft.com/office/drawing/2014/main" id="{FDD2F486-9D4B-2ECF-FF08-7EB53A1819AA}"/>
              </a:ext>
            </a:extLst>
          </p:cNvPr>
          <p:cNvSpPr>
            <a:spLocks noGrp="1"/>
          </p:cNvSpPr>
          <p:nvPr>
            <p:ph type="sldNum" sz="quarter" idx="5"/>
          </p:nvPr>
        </p:nvSpPr>
        <p:spPr/>
        <p:txBody>
          <a:bodyPr/>
          <a:lstStyle/>
          <a:p>
            <a:fld id="{46F3A5F6-A6BC-E543-9B7F-4BD33E1BAA03}" type="slidenum">
              <a:rPr lang="en-US" smtClean="0"/>
              <a:t>15</a:t>
            </a:fld>
            <a:endParaRPr lang="en-US"/>
          </a:p>
        </p:txBody>
      </p:sp>
    </p:spTree>
    <p:extLst>
      <p:ext uri="{BB962C8B-B14F-4D97-AF65-F5344CB8AC3E}">
        <p14:creationId xmlns:p14="http://schemas.microsoft.com/office/powerpoint/2010/main" val="31647699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6E9C9-4F59-3307-52BA-0904E3AB7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60BAAC-666F-3DA7-B22D-DB72ABE209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CD8F3-00FD-1368-0872-8721171DE08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A practical challenge may be setting up an organizational infrastructure that accounts for current skills and knowledge of open science.</a:t>
            </a:r>
          </a:p>
        </p:txBody>
      </p:sp>
      <p:sp>
        <p:nvSpPr>
          <p:cNvPr id="4" name="Slide Number Placeholder 3">
            <a:extLst>
              <a:ext uri="{FF2B5EF4-FFF2-40B4-BE49-F238E27FC236}">
                <a16:creationId xmlns:a16="http://schemas.microsoft.com/office/drawing/2014/main" id="{F107978B-26E8-B8BD-3E64-A30A30E0B197}"/>
              </a:ext>
            </a:extLst>
          </p:cNvPr>
          <p:cNvSpPr>
            <a:spLocks noGrp="1"/>
          </p:cNvSpPr>
          <p:nvPr>
            <p:ph type="sldNum" sz="quarter" idx="5"/>
          </p:nvPr>
        </p:nvSpPr>
        <p:spPr/>
        <p:txBody>
          <a:bodyPr/>
          <a:lstStyle/>
          <a:p>
            <a:fld id="{46F3A5F6-A6BC-E543-9B7F-4BD33E1BAA03}" type="slidenum">
              <a:rPr lang="en-US" smtClean="0"/>
              <a:t>16</a:t>
            </a:fld>
            <a:endParaRPr lang="en-US"/>
          </a:p>
        </p:txBody>
      </p:sp>
    </p:spTree>
    <p:extLst>
      <p:ext uri="{BB962C8B-B14F-4D97-AF65-F5344CB8AC3E}">
        <p14:creationId xmlns:p14="http://schemas.microsoft.com/office/powerpoint/2010/main" val="20497681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D5B15-CD70-2992-C144-ECEA203F27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54FAB-F693-C3EF-AA49-DC8ED6D7AD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1E38E-54ED-8861-9603-65CBA7377F8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An equity challenge is defining what mutual success would be like to ensure their diverse and complimentary skills sets are valued.</a:t>
            </a:r>
          </a:p>
        </p:txBody>
      </p:sp>
      <p:sp>
        <p:nvSpPr>
          <p:cNvPr id="4" name="Slide Number Placeholder 3">
            <a:extLst>
              <a:ext uri="{FF2B5EF4-FFF2-40B4-BE49-F238E27FC236}">
                <a16:creationId xmlns:a16="http://schemas.microsoft.com/office/drawing/2014/main" id="{55290F2D-05E7-A9D6-15B8-AD5469C62A17}"/>
              </a:ext>
            </a:extLst>
          </p:cNvPr>
          <p:cNvSpPr>
            <a:spLocks noGrp="1"/>
          </p:cNvSpPr>
          <p:nvPr>
            <p:ph type="sldNum" sz="quarter" idx="5"/>
          </p:nvPr>
        </p:nvSpPr>
        <p:spPr/>
        <p:txBody>
          <a:bodyPr/>
          <a:lstStyle/>
          <a:p>
            <a:fld id="{46F3A5F6-A6BC-E543-9B7F-4BD33E1BAA03}" type="slidenum">
              <a:rPr lang="en-US" smtClean="0"/>
              <a:t>17</a:t>
            </a:fld>
            <a:endParaRPr lang="en-US"/>
          </a:p>
        </p:txBody>
      </p:sp>
    </p:spTree>
    <p:extLst>
      <p:ext uri="{BB962C8B-B14F-4D97-AF65-F5344CB8AC3E}">
        <p14:creationId xmlns:p14="http://schemas.microsoft.com/office/powerpoint/2010/main" val="31665201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D8C4D-706C-05F0-6563-E11E82C78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99D7AA-72BD-1A43-D293-7664B654D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AF7AE5-4C19-41A5-F5BD-889836255A0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Thinking about what they can do - a lot of the challenges mentioned previously are at the interpersonal and individual level.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Open up the floor and ask learners if they have thoughts on potential strategies.</a:t>
            </a:r>
            <a:endParaRPr lang="en-US" dirty="0"/>
          </a:p>
          <a:p>
            <a:endParaRPr lang="en-US" dirty="0"/>
          </a:p>
        </p:txBody>
      </p:sp>
      <p:sp>
        <p:nvSpPr>
          <p:cNvPr id="4" name="Slide Number Placeholder 3">
            <a:extLst>
              <a:ext uri="{FF2B5EF4-FFF2-40B4-BE49-F238E27FC236}">
                <a16:creationId xmlns:a16="http://schemas.microsoft.com/office/drawing/2014/main" id="{89C7447F-364A-2C92-E4D2-B31C32DD4555}"/>
              </a:ext>
            </a:extLst>
          </p:cNvPr>
          <p:cNvSpPr>
            <a:spLocks noGrp="1"/>
          </p:cNvSpPr>
          <p:nvPr>
            <p:ph type="sldNum" sz="quarter" idx="5"/>
          </p:nvPr>
        </p:nvSpPr>
        <p:spPr/>
        <p:txBody>
          <a:bodyPr/>
          <a:lstStyle/>
          <a:p>
            <a:fld id="{46F3A5F6-A6BC-E543-9B7F-4BD33E1BAA03}" type="slidenum">
              <a:rPr lang="en-US" smtClean="0"/>
              <a:t>18</a:t>
            </a:fld>
            <a:endParaRPr lang="en-US"/>
          </a:p>
        </p:txBody>
      </p:sp>
    </p:spTree>
    <p:extLst>
      <p:ext uri="{BB962C8B-B14F-4D97-AF65-F5344CB8AC3E}">
        <p14:creationId xmlns:p14="http://schemas.microsoft.com/office/powerpoint/2010/main" val="33866956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97FF2-6902-0B17-4A9B-6AD1CD5014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692C4-3809-447F-4251-CF3B33B1B5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1EE29D-0D6A-5B31-08CE-44CD9EA4B0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An action they could take early on in their collaboration is create a shared code of collaboration.</a:t>
            </a:r>
          </a:p>
        </p:txBody>
      </p:sp>
      <p:sp>
        <p:nvSpPr>
          <p:cNvPr id="4" name="Slide Number Placeholder 3">
            <a:extLst>
              <a:ext uri="{FF2B5EF4-FFF2-40B4-BE49-F238E27FC236}">
                <a16:creationId xmlns:a16="http://schemas.microsoft.com/office/drawing/2014/main" id="{FF4DFBFF-31DD-D47F-C2CE-73294238C662}"/>
              </a:ext>
            </a:extLst>
          </p:cNvPr>
          <p:cNvSpPr>
            <a:spLocks noGrp="1"/>
          </p:cNvSpPr>
          <p:nvPr>
            <p:ph type="sldNum" sz="quarter" idx="5"/>
          </p:nvPr>
        </p:nvSpPr>
        <p:spPr/>
        <p:txBody>
          <a:bodyPr/>
          <a:lstStyle/>
          <a:p>
            <a:fld id="{46F3A5F6-A6BC-E543-9B7F-4BD33E1BAA03}" type="slidenum">
              <a:rPr lang="en-US" smtClean="0"/>
              <a:t>19</a:t>
            </a:fld>
            <a:endParaRPr lang="en-US"/>
          </a:p>
        </p:txBody>
      </p:sp>
    </p:spTree>
    <p:extLst>
      <p:ext uri="{BB962C8B-B14F-4D97-AF65-F5344CB8AC3E}">
        <p14:creationId xmlns:p14="http://schemas.microsoft.com/office/powerpoint/2010/main" val="1392834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C1406-EA34-7E05-F2FD-64BA3C36E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64076-6192-B5E6-3CE1-FE01173038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C795EE-4B41-3BE6-A712-FBE68537033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Ok now it is your turn in groups to take a look at a case study.  These case studies have been developed by experts within the FORRT community covering a range of dilemmas in open science.</a:t>
            </a:r>
          </a:p>
          <a:p>
            <a:endParaRPr lang="en-US" dirty="0"/>
          </a:p>
          <a:p>
            <a:r>
              <a:rPr lang="en-US" dirty="0"/>
              <a:t>At the end we will have a group discussion where each group will share one sentence can you share a reflection. </a:t>
            </a:r>
          </a:p>
          <a:p>
            <a:endParaRPr lang="en-US" dirty="0"/>
          </a:p>
          <a:p>
            <a:r>
              <a:rPr lang="en-US" b="1"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can pre group learners based on interests shared prior to the session. </a:t>
            </a:r>
          </a:p>
          <a:p>
            <a:r>
              <a:rPr lang="en-US" dirty="0"/>
              <a:t>Creating a shared Google Doc for learners is a helpful way to collect thoughts from each group that the whole group can read.</a:t>
            </a:r>
          </a:p>
        </p:txBody>
      </p:sp>
      <p:sp>
        <p:nvSpPr>
          <p:cNvPr id="4" name="Slide Number Placeholder 3">
            <a:extLst>
              <a:ext uri="{FF2B5EF4-FFF2-40B4-BE49-F238E27FC236}">
                <a16:creationId xmlns:a16="http://schemas.microsoft.com/office/drawing/2014/main" id="{89F2182C-1080-3695-F5C4-0C16F2115575}"/>
              </a:ext>
            </a:extLst>
          </p:cNvPr>
          <p:cNvSpPr>
            <a:spLocks noGrp="1"/>
          </p:cNvSpPr>
          <p:nvPr>
            <p:ph type="sldNum" sz="quarter" idx="5"/>
          </p:nvPr>
        </p:nvSpPr>
        <p:spPr/>
        <p:txBody>
          <a:bodyPr/>
          <a:lstStyle/>
          <a:p>
            <a:fld id="{46F3A5F6-A6BC-E543-9B7F-4BD33E1BAA03}" type="slidenum">
              <a:rPr lang="en-US" smtClean="0"/>
              <a:t>20</a:t>
            </a:fld>
            <a:endParaRPr lang="en-US"/>
          </a:p>
        </p:txBody>
      </p:sp>
    </p:spTree>
    <p:extLst>
      <p:ext uri="{BB962C8B-B14F-4D97-AF65-F5344CB8AC3E}">
        <p14:creationId xmlns:p14="http://schemas.microsoft.com/office/powerpoint/2010/main" val="14404509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b="0" dirty="0"/>
              <a:t>Professor Hu Chuan-Peng shares this perspective on leadership in open science:</a:t>
            </a:r>
          </a:p>
          <a:p>
            <a:r>
              <a:rPr lang="en-GB" sz="1200" b="0" i="0" kern="1200" dirty="0">
                <a:solidFill>
                  <a:schemeClr val="tx1"/>
                </a:solidFill>
                <a:effectLst/>
                <a:latin typeface="+mn-lt"/>
                <a:ea typeface="+mn-ea"/>
                <a:cs typeface="+mn-cs"/>
              </a:rPr>
              <a:t>“To me, leadership in Open Science/Scholarship means helping build a research culture where </a:t>
            </a:r>
            <a:r>
              <a:rPr lang="en-GB" sz="1200" b="1" i="0" kern="1200" dirty="0">
                <a:solidFill>
                  <a:schemeClr val="tx1"/>
                </a:solidFill>
                <a:effectLst/>
                <a:latin typeface="+mn-lt"/>
                <a:ea typeface="+mn-ea"/>
                <a:cs typeface="+mn-cs"/>
              </a:rPr>
              <a:t>rigor</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transparency</a:t>
            </a:r>
            <a:r>
              <a:rPr lang="en-GB" sz="1200" b="0" i="0" kern="1200" dirty="0">
                <a:solidFill>
                  <a:schemeClr val="tx1"/>
                </a:solidFill>
                <a:effectLst/>
                <a:latin typeface="+mn-lt"/>
                <a:ea typeface="+mn-ea"/>
                <a:cs typeface="+mn-cs"/>
              </a:rPr>
              <a:t>, and </a:t>
            </a:r>
            <a:r>
              <a:rPr lang="en-GB" sz="1200" b="1" i="0" kern="1200" dirty="0">
                <a:solidFill>
                  <a:schemeClr val="tx1"/>
                </a:solidFill>
                <a:effectLst/>
                <a:latin typeface="+mn-lt"/>
                <a:ea typeface="+mn-ea"/>
                <a:cs typeface="+mn-cs"/>
              </a:rPr>
              <a:t>collaboration</a:t>
            </a:r>
            <a:r>
              <a:rPr lang="en-GB" sz="1200" b="0" i="0" kern="1200" dirty="0">
                <a:solidFill>
                  <a:schemeClr val="tx1"/>
                </a:solidFill>
                <a:effectLst/>
                <a:latin typeface="+mn-lt"/>
                <a:ea typeface="+mn-ea"/>
                <a:cs typeface="+mn-cs"/>
              </a:rPr>
              <a:t> are </a:t>
            </a:r>
            <a:r>
              <a:rPr lang="en-GB" sz="1200" b="1" i="0" kern="1200" dirty="0">
                <a:solidFill>
                  <a:schemeClr val="tx1"/>
                </a:solidFill>
                <a:effectLst/>
                <a:latin typeface="+mn-lt"/>
                <a:ea typeface="+mn-ea"/>
                <a:cs typeface="+mn-cs"/>
              </a:rPr>
              <a:t>valued over metrics</a:t>
            </a:r>
            <a:r>
              <a:rPr lang="en-GB" sz="1200" b="0" i="0" kern="1200" dirty="0">
                <a:solidFill>
                  <a:schemeClr val="tx1"/>
                </a:solidFill>
                <a:effectLst/>
                <a:latin typeface="+mn-lt"/>
                <a:ea typeface="+mn-ea"/>
                <a:cs typeface="+mn-cs"/>
              </a:rPr>
              <a:t> alone.</a:t>
            </a:r>
            <a:endParaRPr lang="en-GB" sz="120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Through the Chinese Open Science Network, I aim to provide an </a:t>
            </a:r>
            <a:r>
              <a:rPr lang="en-GB" sz="1200" b="1" i="0" kern="1200" dirty="0">
                <a:solidFill>
                  <a:schemeClr val="tx1"/>
                </a:solidFill>
                <a:effectLst/>
                <a:latin typeface="+mn-lt"/>
                <a:ea typeface="+mn-ea"/>
                <a:cs typeface="+mn-cs"/>
              </a:rPr>
              <a:t>alternative model</a:t>
            </a:r>
            <a:r>
              <a:rPr lang="en-GB" sz="1200" b="0" i="0" kern="1200" dirty="0">
                <a:solidFill>
                  <a:schemeClr val="tx1"/>
                </a:solidFill>
                <a:effectLst/>
                <a:latin typeface="+mn-lt"/>
                <a:ea typeface="+mn-ea"/>
                <a:cs typeface="+mn-cs"/>
              </a:rPr>
              <a:t> of scientific practice and </a:t>
            </a:r>
            <a:r>
              <a:rPr lang="en-GB" sz="1200" b="1" i="0" kern="1200" dirty="0">
                <a:solidFill>
                  <a:schemeClr val="tx1"/>
                </a:solidFill>
                <a:effectLst/>
                <a:latin typeface="+mn-lt"/>
                <a:ea typeface="+mn-ea"/>
                <a:cs typeface="+mn-cs"/>
              </a:rPr>
              <a:t>empower early-career researchers</a:t>
            </a:r>
            <a:r>
              <a:rPr lang="en-GB" sz="1200" b="0" i="0" kern="1200" dirty="0">
                <a:solidFill>
                  <a:schemeClr val="tx1"/>
                </a:solidFill>
                <a:effectLst/>
                <a:latin typeface="+mn-lt"/>
                <a:ea typeface="+mn-ea"/>
                <a:cs typeface="+mn-cs"/>
              </a:rPr>
              <a:t> to shape a </a:t>
            </a:r>
            <a:r>
              <a:rPr lang="en-GB" sz="1200" b="1" i="0" kern="1200" dirty="0">
                <a:solidFill>
                  <a:schemeClr val="tx1"/>
                </a:solidFill>
                <a:effectLst/>
                <a:latin typeface="+mn-lt"/>
                <a:ea typeface="+mn-ea"/>
                <a:cs typeface="+mn-cs"/>
              </a:rPr>
              <a:t>healthier</a:t>
            </a:r>
            <a:r>
              <a:rPr lang="en-GB" sz="1200" b="0" i="0" kern="1200" dirty="0">
                <a:solidFill>
                  <a:schemeClr val="tx1"/>
                </a:solidFill>
                <a:effectLst/>
                <a:latin typeface="+mn-lt"/>
                <a:ea typeface="+mn-ea"/>
                <a:cs typeface="+mn-cs"/>
              </a:rPr>
              <a:t> and more </a:t>
            </a:r>
            <a:r>
              <a:rPr lang="en-GB" sz="1200" b="1" i="0" kern="1200" dirty="0">
                <a:solidFill>
                  <a:schemeClr val="tx1"/>
                </a:solidFill>
                <a:effectLst/>
                <a:latin typeface="+mn-lt"/>
                <a:ea typeface="+mn-ea"/>
                <a:cs typeface="+mn-cs"/>
              </a:rPr>
              <a:t>inclusive </a:t>
            </a:r>
            <a:r>
              <a:rPr lang="en-GB" sz="1200" b="0" i="0" kern="1200" dirty="0">
                <a:solidFill>
                  <a:schemeClr val="tx1"/>
                </a:solidFill>
                <a:effectLst/>
                <a:latin typeface="+mn-lt"/>
                <a:ea typeface="+mn-ea"/>
                <a:cs typeface="+mn-cs"/>
              </a:rPr>
              <a:t>academic system.”</a:t>
            </a:r>
            <a:endParaRPr lang="en-GB" sz="1200" kern="1200" dirty="0">
              <a:solidFill>
                <a:schemeClr val="tx1"/>
              </a:solidFill>
              <a:effectLst/>
              <a:latin typeface="+mn-lt"/>
              <a:ea typeface="+mn-ea"/>
              <a:cs typeface="+mn-cs"/>
            </a:endParaRPr>
          </a:p>
          <a:p>
            <a:endParaRPr lang="en-US" b="0" dirty="0"/>
          </a:p>
        </p:txBody>
      </p:sp>
      <p:sp>
        <p:nvSpPr>
          <p:cNvPr id="4" name="Slide Number Placeholder 3"/>
          <p:cNvSpPr>
            <a:spLocks noGrp="1"/>
          </p:cNvSpPr>
          <p:nvPr>
            <p:ph type="sldNum" sz="quarter" idx="5"/>
          </p:nvPr>
        </p:nvSpPr>
        <p:spPr/>
        <p:txBody>
          <a:bodyPr/>
          <a:lstStyle/>
          <a:p>
            <a:fld id="{46F3A5F6-A6BC-E543-9B7F-4BD33E1BAA03}" type="slidenum">
              <a:rPr lang="en-US" smtClean="0"/>
              <a:t>22</a:t>
            </a:fld>
            <a:endParaRPr lang="en-US"/>
          </a:p>
        </p:txBody>
      </p:sp>
    </p:spTree>
    <p:extLst>
      <p:ext uri="{BB962C8B-B14F-4D97-AF65-F5344CB8AC3E}">
        <p14:creationId xmlns:p14="http://schemas.microsoft.com/office/powerpoint/2010/main" val="685638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1C82B-3AAD-4488-17AE-56D720D56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0071DA-E6AC-70FD-8192-EEE33E76B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771EE2-F4A7-4710-2C57-F2311311A23E}"/>
              </a:ext>
            </a:extLst>
          </p:cNvPr>
          <p:cNvSpPr>
            <a:spLocks noGrp="1"/>
          </p:cNvSpPr>
          <p:nvPr>
            <p:ph type="body" idx="1"/>
          </p:nvPr>
        </p:nvSpPr>
        <p:spPr/>
        <p:txBody>
          <a:bodyPr/>
          <a:lstStyle/>
          <a:p>
            <a:r>
              <a:rPr lang="en-US" b="1" dirty="0"/>
              <a:t>Speaker notes:</a:t>
            </a:r>
            <a:endParaRPr lang="en-US" dirty="0"/>
          </a:p>
          <a:p>
            <a:r>
              <a:rPr lang="en-US" dirty="0"/>
              <a:t>We worked a lot on our collective problem-solving skills.</a:t>
            </a:r>
          </a:p>
          <a:p>
            <a:r>
              <a:rPr lang="en-US" dirty="0"/>
              <a:t>We don’t have time to go into assess during this session, so please take a look at the workbooks for resources!</a:t>
            </a:r>
          </a:p>
        </p:txBody>
      </p:sp>
      <p:sp>
        <p:nvSpPr>
          <p:cNvPr id="4" name="Slide Number Placeholder 3">
            <a:extLst>
              <a:ext uri="{FF2B5EF4-FFF2-40B4-BE49-F238E27FC236}">
                <a16:creationId xmlns:a16="http://schemas.microsoft.com/office/drawing/2014/main" id="{7A393518-615E-9354-765D-ED0E390A081A}"/>
              </a:ext>
            </a:extLst>
          </p:cNvPr>
          <p:cNvSpPr>
            <a:spLocks noGrp="1"/>
          </p:cNvSpPr>
          <p:nvPr>
            <p:ph type="sldNum" sz="quarter" idx="5"/>
          </p:nvPr>
        </p:nvSpPr>
        <p:spPr/>
        <p:txBody>
          <a:bodyPr/>
          <a:lstStyle/>
          <a:p>
            <a:fld id="{46F3A5F6-A6BC-E543-9B7F-4BD33E1BAA03}" type="slidenum">
              <a:rPr lang="en-US" smtClean="0"/>
              <a:t>23</a:t>
            </a:fld>
            <a:endParaRPr lang="en-US"/>
          </a:p>
        </p:txBody>
      </p:sp>
    </p:spTree>
    <p:extLst>
      <p:ext uri="{BB962C8B-B14F-4D97-AF65-F5344CB8AC3E}">
        <p14:creationId xmlns:p14="http://schemas.microsoft.com/office/powerpoint/2010/main" val="35112758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sz="1200" dirty="0"/>
              <a:t>There is no one way to take </a:t>
            </a:r>
            <a:r>
              <a:rPr lang="en-US" sz="1200" b="1" dirty="0"/>
              <a:t>action</a:t>
            </a:r>
            <a:r>
              <a:rPr lang="en-US" sz="1200" dirty="0"/>
              <a:t> to address challenges. </a:t>
            </a:r>
          </a:p>
          <a:p>
            <a:endParaRPr lang="en-US" sz="1200" dirty="0"/>
          </a:p>
          <a:p>
            <a:r>
              <a:rPr lang="en-US" sz="1200" b="1" dirty="0"/>
              <a:t>Approaches </a:t>
            </a:r>
            <a:r>
              <a:rPr lang="en-US" sz="1200" dirty="0"/>
              <a:t>consider:</a:t>
            </a:r>
          </a:p>
          <a:p>
            <a:pPr marL="342900" indent="-342900">
              <a:buFont typeface="Arial" panose="020B0604020202020204" pitchFamily="34" charset="0"/>
              <a:buChar char="•"/>
            </a:pPr>
            <a:r>
              <a:rPr lang="en-US" sz="1200" b="1" dirty="0"/>
              <a:t>Context </a:t>
            </a:r>
            <a:r>
              <a:rPr lang="en-US" sz="1200" dirty="0"/>
              <a:t>(scale and domain of challenges, </a:t>
            </a:r>
            <a:r>
              <a:rPr lang="en-US" sz="1200" b="1" dirty="0"/>
              <a:t>types </a:t>
            </a:r>
            <a:r>
              <a:rPr lang="en-US" sz="1200" dirty="0"/>
              <a:t>of</a:t>
            </a:r>
            <a:r>
              <a:rPr lang="en-US" sz="1200" b="1" dirty="0"/>
              <a:t> values, motivations </a:t>
            </a:r>
            <a:r>
              <a:rPr lang="en-US" sz="1200" dirty="0"/>
              <a:t>of </a:t>
            </a:r>
            <a:r>
              <a:rPr lang="en-US" sz="1200" b="1" dirty="0"/>
              <a:t>self </a:t>
            </a:r>
            <a:r>
              <a:rPr lang="en-US" sz="1200" dirty="0"/>
              <a:t>and </a:t>
            </a:r>
            <a:r>
              <a:rPr lang="en-US" sz="1200" b="1" dirty="0"/>
              <a:t>others</a:t>
            </a:r>
            <a:r>
              <a:rPr lang="en-US" sz="1200" dirty="0"/>
              <a:t>)</a:t>
            </a:r>
          </a:p>
          <a:p>
            <a:pPr marL="342900" indent="-342900">
              <a:buFont typeface="Arial" panose="020B0604020202020204" pitchFamily="34" charset="0"/>
              <a:buChar char="•"/>
            </a:pPr>
            <a:r>
              <a:rPr lang="en-US" sz="1200" b="1" dirty="0"/>
              <a:t>Starting </a:t>
            </a:r>
            <a:r>
              <a:rPr lang="en-US" sz="1200" dirty="0"/>
              <a:t>somewhere</a:t>
            </a:r>
            <a:r>
              <a:rPr lang="en-US" sz="1200" b="1" dirty="0"/>
              <a:t> small </a:t>
            </a:r>
            <a:r>
              <a:rPr lang="en-US" sz="1200" dirty="0"/>
              <a:t>and then building up</a:t>
            </a:r>
          </a:p>
          <a:p>
            <a:pPr marL="342900" indent="-342900">
              <a:buFont typeface="Arial" panose="020B0604020202020204" pitchFamily="34" charset="0"/>
              <a:buChar char="•"/>
            </a:pPr>
            <a:r>
              <a:rPr lang="en-US" sz="1200" b="1" dirty="0"/>
              <a:t>Capacity</a:t>
            </a:r>
            <a:r>
              <a:rPr lang="en-US" sz="1200" dirty="0"/>
              <a:t>, </a:t>
            </a:r>
            <a:r>
              <a:rPr lang="en-US" sz="1200" b="1" dirty="0"/>
              <a:t>resources</a:t>
            </a:r>
            <a:r>
              <a:rPr lang="en-US" sz="1200" dirty="0"/>
              <a:t> and </a:t>
            </a:r>
            <a:r>
              <a:rPr lang="en-US" sz="1200" b="1" dirty="0"/>
              <a:t>equity</a:t>
            </a:r>
          </a:p>
          <a:p>
            <a:pPr marL="342900" indent="-342900">
              <a:buFont typeface="Arial" panose="020B0604020202020204" pitchFamily="34" charset="0"/>
              <a:buChar char="•"/>
            </a:pPr>
            <a:endParaRPr lang="en-US" sz="1200" b="1" dirty="0"/>
          </a:p>
          <a:p>
            <a:r>
              <a:rPr lang="en-US" sz="1200" b="1" dirty="0"/>
              <a:t>Case studies </a:t>
            </a:r>
            <a:r>
              <a:rPr lang="en-US" sz="1200" dirty="0"/>
              <a:t>are a useful active exercise by:</a:t>
            </a:r>
          </a:p>
          <a:p>
            <a:pPr marL="342900" indent="-342900">
              <a:buFont typeface="Arial" panose="020B0604020202020204" pitchFamily="34" charset="0"/>
              <a:buChar char="•"/>
            </a:pPr>
            <a:r>
              <a:rPr lang="en-US" sz="1200" dirty="0"/>
              <a:t>Combining </a:t>
            </a:r>
            <a:r>
              <a:rPr lang="en-US" sz="1200" b="1" dirty="0"/>
              <a:t>theory</a:t>
            </a:r>
            <a:r>
              <a:rPr lang="en-US" sz="1200" dirty="0"/>
              <a:t> and </a:t>
            </a:r>
            <a:r>
              <a:rPr lang="en-US" sz="1200" b="1" dirty="0"/>
              <a:t>practice</a:t>
            </a:r>
          </a:p>
          <a:p>
            <a:pPr marL="342900" indent="-342900">
              <a:buFont typeface="Arial" panose="020B0604020202020204" pitchFamily="34" charset="0"/>
              <a:buChar char="•"/>
            </a:pPr>
            <a:r>
              <a:rPr lang="en-US" sz="1200" dirty="0"/>
              <a:t>Having a </a:t>
            </a:r>
            <a:r>
              <a:rPr lang="en-US" sz="1200" b="1" dirty="0"/>
              <a:t>flexible </a:t>
            </a:r>
            <a:r>
              <a:rPr lang="en-US" sz="1200" dirty="0"/>
              <a:t>approach (</a:t>
            </a:r>
            <a:r>
              <a:rPr lang="en-US" sz="1200" b="1" dirty="0"/>
              <a:t>individual</a:t>
            </a:r>
            <a:r>
              <a:rPr lang="en-US" sz="1200" dirty="0"/>
              <a:t> or </a:t>
            </a:r>
            <a:r>
              <a:rPr lang="en-US" sz="1200" b="1" dirty="0"/>
              <a:t>group</a:t>
            </a:r>
            <a:r>
              <a:rPr lang="en-US" sz="1200" dirty="0"/>
              <a:t> discussions)</a:t>
            </a:r>
          </a:p>
          <a:p>
            <a:pPr marL="342900" indent="-342900">
              <a:buFont typeface="Arial" panose="020B0604020202020204" pitchFamily="34" charset="0"/>
              <a:buChar char="•"/>
            </a:pPr>
            <a:r>
              <a:rPr lang="en-US" sz="1200" dirty="0"/>
              <a:t>Building up </a:t>
            </a:r>
            <a:r>
              <a:rPr lang="en-US" sz="1200" b="1" dirty="0"/>
              <a:t>problem-solving skills </a:t>
            </a:r>
            <a:r>
              <a:rPr lang="en-US" sz="1200" dirty="0"/>
              <a:t>on a realistic scenario</a:t>
            </a:r>
          </a:p>
          <a:p>
            <a:pPr marL="342900" indent="-342900">
              <a:buFont typeface="Arial" panose="020B0604020202020204" pitchFamily="34" charset="0"/>
              <a:buChar char="•"/>
            </a:pPr>
            <a:endParaRPr lang="en-US" dirty="0"/>
          </a:p>
          <a:p>
            <a:endParaRPr lang="en-US" b="1" dirty="0"/>
          </a:p>
        </p:txBody>
      </p:sp>
      <p:sp>
        <p:nvSpPr>
          <p:cNvPr id="4" name="Slide Number Placeholder 3"/>
          <p:cNvSpPr>
            <a:spLocks noGrp="1"/>
          </p:cNvSpPr>
          <p:nvPr>
            <p:ph type="sldNum" sz="quarter" idx="5"/>
          </p:nvPr>
        </p:nvSpPr>
        <p:spPr/>
        <p:txBody>
          <a:bodyPr/>
          <a:lstStyle/>
          <a:p>
            <a:fld id="{46F3A5F6-A6BC-E543-9B7F-4BD33E1BAA03}" type="slidenum">
              <a:rPr lang="en-US" smtClean="0"/>
              <a:t>24</a:t>
            </a:fld>
            <a:endParaRPr lang="en-US"/>
          </a:p>
        </p:txBody>
      </p:sp>
    </p:spTree>
    <p:extLst>
      <p:ext uri="{BB962C8B-B14F-4D97-AF65-F5344CB8AC3E}">
        <p14:creationId xmlns:p14="http://schemas.microsoft.com/office/powerpoint/2010/main" val="15989336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Now it is time to wrap up!</a:t>
            </a:r>
          </a:p>
        </p:txBody>
      </p:sp>
      <p:sp>
        <p:nvSpPr>
          <p:cNvPr id="4" name="Slide Number Placeholder 3"/>
          <p:cNvSpPr>
            <a:spLocks noGrp="1"/>
          </p:cNvSpPr>
          <p:nvPr>
            <p:ph type="sldNum" sz="quarter" idx="5"/>
          </p:nvPr>
        </p:nvSpPr>
        <p:spPr/>
        <p:txBody>
          <a:bodyPr/>
          <a:lstStyle/>
          <a:p>
            <a:fld id="{6C6C7078-1796-7A4D-86C7-BD551C747836}" type="slidenum">
              <a:rPr lang="en-US" smtClean="0"/>
              <a:t>25</a:t>
            </a:fld>
            <a:endParaRPr lang="en-US"/>
          </a:p>
        </p:txBody>
      </p:sp>
    </p:spTree>
    <p:extLst>
      <p:ext uri="{BB962C8B-B14F-4D97-AF65-F5344CB8AC3E}">
        <p14:creationId xmlns:p14="http://schemas.microsoft.com/office/powerpoint/2010/main" val="26170977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b="0" dirty="0"/>
              <a:t>Professor Dorothy Bishop’s take on leadership in open science: </a:t>
            </a:r>
            <a:r>
              <a:rPr lang="en-GB" sz="1200" b="0" i="0" kern="1200" dirty="0">
                <a:solidFill>
                  <a:schemeClr val="tx1"/>
                </a:solidFill>
                <a:effectLst/>
                <a:latin typeface="+mn-lt"/>
                <a:ea typeface="+mn-ea"/>
                <a:cs typeface="+mn-cs"/>
              </a:rPr>
              <a:t>“Leadership in Open Science means leading by example.</a:t>
            </a:r>
            <a:endParaRPr lang="en-GB" sz="1200" b="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It doesn't mean doing everything perfectly - that is often too high a bar. But it does mean that in your own work you build open science into the research pipeline and reward your research team for good practice rather than for fast-churn flashy science.”</a:t>
            </a:r>
            <a:endParaRPr lang="en-GB" sz="1200" b="0" kern="1200" dirty="0">
              <a:solidFill>
                <a:schemeClr val="tx1"/>
              </a:solidFill>
              <a:effectLst/>
              <a:latin typeface="+mn-lt"/>
              <a:ea typeface="+mn-ea"/>
              <a:cs typeface="+mn-cs"/>
            </a:endParaRPr>
          </a:p>
          <a:p>
            <a:endParaRPr lang="en-US" b="1" dirty="0"/>
          </a:p>
        </p:txBody>
      </p:sp>
      <p:sp>
        <p:nvSpPr>
          <p:cNvPr id="4" name="Slide Number Placeholder 3"/>
          <p:cNvSpPr>
            <a:spLocks noGrp="1"/>
          </p:cNvSpPr>
          <p:nvPr>
            <p:ph type="sldNum" sz="quarter" idx="5"/>
          </p:nvPr>
        </p:nvSpPr>
        <p:spPr/>
        <p:txBody>
          <a:bodyPr/>
          <a:lstStyle/>
          <a:p>
            <a:fld id="{62487315-482A-C947-A0B5-A8567859F49C}" type="slidenum">
              <a:rPr lang="en-US" smtClean="0"/>
              <a:t>26</a:t>
            </a:fld>
            <a:endParaRPr lang="en-US"/>
          </a:p>
        </p:txBody>
      </p:sp>
    </p:spTree>
    <p:extLst>
      <p:ext uri="{BB962C8B-B14F-4D97-AF65-F5344CB8AC3E}">
        <p14:creationId xmlns:p14="http://schemas.microsoft.com/office/powerpoint/2010/main" val="35565441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Over the 3 sessions you have built up your leadership toolbox working on self-leadership using the 5A framework. You’ve practiced empathy, self-awareness, knowledge, problem solving and collaborative skills, which are all important for effective leadership. </a:t>
            </a:r>
          </a:p>
        </p:txBody>
      </p:sp>
      <p:sp>
        <p:nvSpPr>
          <p:cNvPr id="4" name="Slide Number Placeholder 3"/>
          <p:cNvSpPr>
            <a:spLocks noGrp="1"/>
          </p:cNvSpPr>
          <p:nvPr>
            <p:ph type="sldNum" sz="quarter" idx="5"/>
          </p:nvPr>
        </p:nvSpPr>
        <p:spPr/>
        <p:txBody>
          <a:bodyPr/>
          <a:lstStyle/>
          <a:p>
            <a:fld id="{62487315-482A-C947-A0B5-A8567859F49C}" type="slidenum">
              <a:rPr lang="en-US" smtClean="0"/>
              <a:t>27</a:t>
            </a:fld>
            <a:endParaRPr lang="en-US"/>
          </a:p>
        </p:txBody>
      </p:sp>
    </p:spTree>
    <p:extLst>
      <p:ext uri="{BB962C8B-B14F-4D97-AF65-F5344CB8AC3E}">
        <p14:creationId xmlns:p14="http://schemas.microsoft.com/office/powerpoint/2010/main" val="2717653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This summary sheet collects many of the points that have been covered across the 3 sessions.</a:t>
            </a:r>
          </a:p>
        </p:txBody>
      </p:sp>
      <p:sp>
        <p:nvSpPr>
          <p:cNvPr id="4" name="Slide Number Placeholder 3"/>
          <p:cNvSpPr>
            <a:spLocks noGrp="1"/>
          </p:cNvSpPr>
          <p:nvPr>
            <p:ph type="sldNum" sz="quarter" idx="5"/>
          </p:nvPr>
        </p:nvSpPr>
        <p:spPr/>
        <p:txBody>
          <a:bodyPr/>
          <a:lstStyle/>
          <a:p>
            <a:fld id="{6C6C7078-1796-7A4D-86C7-BD551C747836}" type="slidenum">
              <a:rPr lang="en-US" smtClean="0"/>
              <a:t>28</a:t>
            </a:fld>
            <a:endParaRPr lang="en-US"/>
          </a:p>
        </p:txBody>
      </p:sp>
    </p:spTree>
    <p:extLst>
      <p:ext uri="{BB962C8B-B14F-4D97-AF65-F5344CB8AC3E}">
        <p14:creationId xmlns:p14="http://schemas.microsoft.com/office/powerpoint/2010/main" val="22962792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GB" sz="1200" b="0" i="0" kern="1200" dirty="0">
                <a:solidFill>
                  <a:schemeClr val="tx1"/>
                </a:solidFill>
                <a:effectLst/>
                <a:latin typeface="+mn-lt"/>
                <a:ea typeface="+mn-ea"/>
                <a:cs typeface="+mn-cs"/>
              </a:rPr>
              <a:t>Dr Madeleine Pownall’s perspective on open science leadership: “Open science leadership to me means figuring out the best, most utopian, idealised version of what we want science to look like and then </a:t>
            </a:r>
            <a:r>
              <a:rPr lang="en-GB" sz="1200" b="1" i="0" kern="1200" dirty="0">
                <a:solidFill>
                  <a:schemeClr val="tx1"/>
                </a:solidFill>
                <a:effectLst/>
                <a:latin typeface="+mn-lt"/>
                <a:ea typeface="+mn-ea"/>
                <a:cs typeface="+mn-cs"/>
              </a:rPr>
              <a:t>figuring out</a:t>
            </a:r>
            <a:r>
              <a:rPr lang="en-GB" sz="1200" b="0" i="0" kern="1200" dirty="0">
                <a:solidFill>
                  <a:schemeClr val="tx1"/>
                </a:solidFill>
                <a:effectLst/>
                <a:latin typeface="+mn-lt"/>
                <a:ea typeface="+mn-ea"/>
                <a:cs typeface="+mn-cs"/>
              </a:rPr>
              <a:t> how we get there together. </a:t>
            </a:r>
            <a:endParaRPr lang="en-GB" sz="120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Leadership is about </a:t>
            </a:r>
            <a:r>
              <a:rPr lang="en-GB" sz="1200" b="1" i="0" kern="1200" dirty="0">
                <a:solidFill>
                  <a:schemeClr val="tx1"/>
                </a:solidFill>
                <a:effectLst/>
                <a:latin typeface="+mn-lt"/>
                <a:ea typeface="+mn-ea"/>
                <a:cs typeface="+mn-cs"/>
              </a:rPr>
              <a:t>vision</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optimism</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hope</a:t>
            </a:r>
            <a:r>
              <a:rPr lang="en-GB" sz="1200" b="0" i="0" kern="1200" dirty="0">
                <a:solidFill>
                  <a:schemeClr val="tx1"/>
                </a:solidFill>
                <a:effectLst/>
                <a:latin typeface="+mn-lt"/>
                <a:ea typeface="+mn-ea"/>
                <a:cs typeface="+mn-cs"/>
              </a:rPr>
              <a:t>, and harnessing the power of the </a:t>
            </a:r>
            <a:r>
              <a:rPr lang="en-GB" sz="1200" b="1" i="0" kern="1200" dirty="0">
                <a:solidFill>
                  <a:schemeClr val="tx1"/>
                </a:solidFill>
                <a:effectLst/>
                <a:latin typeface="+mn-lt"/>
                <a:ea typeface="+mn-ea"/>
                <a:cs typeface="+mn-cs"/>
              </a:rPr>
              <a:t>collective</a:t>
            </a:r>
            <a:r>
              <a:rPr lang="en-GB" sz="1200" b="0" i="0" kern="1200" dirty="0">
                <a:solidFill>
                  <a:schemeClr val="tx1"/>
                </a:solidFill>
                <a:effectLst/>
                <a:latin typeface="+mn-lt"/>
                <a:ea typeface="+mn-ea"/>
                <a:cs typeface="+mn-cs"/>
              </a:rPr>
              <a:t> to make things better for everyone.”</a:t>
            </a:r>
            <a:endParaRPr lang="en-GB" sz="1200" kern="1200" dirty="0">
              <a:solidFill>
                <a:schemeClr val="tx1"/>
              </a:solidFill>
              <a:effectLst/>
              <a:latin typeface="+mn-lt"/>
              <a:ea typeface="+mn-ea"/>
              <a:cs typeface="+mn-cs"/>
            </a:endParaRPr>
          </a:p>
          <a:p>
            <a:endParaRPr lang="en-US" b="1" dirty="0"/>
          </a:p>
          <a:p>
            <a:endParaRPr lang="en-US" dirty="0"/>
          </a:p>
        </p:txBody>
      </p:sp>
      <p:sp>
        <p:nvSpPr>
          <p:cNvPr id="4" name="Slide Number Placeholder 3"/>
          <p:cNvSpPr>
            <a:spLocks noGrp="1"/>
          </p:cNvSpPr>
          <p:nvPr>
            <p:ph type="sldNum" sz="quarter" idx="5"/>
          </p:nvPr>
        </p:nvSpPr>
        <p:spPr/>
        <p:txBody>
          <a:bodyPr/>
          <a:lstStyle/>
          <a:p>
            <a:fld id="{62487315-482A-C947-A0B5-A8567859F49C}" type="slidenum">
              <a:rPr lang="en-US" smtClean="0"/>
              <a:t>29</a:t>
            </a:fld>
            <a:endParaRPr lang="en-US"/>
          </a:p>
        </p:txBody>
      </p:sp>
    </p:spTree>
    <p:extLst>
      <p:ext uri="{BB962C8B-B14F-4D97-AF65-F5344CB8AC3E}">
        <p14:creationId xmlns:p14="http://schemas.microsoft.com/office/powerpoint/2010/main" val="35316919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endParaRPr lang="en-US" sz="1200" b="1" dirty="0"/>
          </a:p>
          <a:p>
            <a:r>
              <a:rPr lang="en-US" sz="1200" b="0" dirty="0"/>
              <a:t>Now to revisit the survey we began with</a:t>
            </a:r>
          </a:p>
          <a:p>
            <a:endParaRPr lang="en-US" dirty="0"/>
          </a:p>
        </p:txBody>
      </p:sp>
      <p:sp>
        <p:nvSpPr>
          <p:cNvPr id="4" name="Slide Number Placeholder 3"/>
          <p:cNvSpPr>
            <a:spLocks noGrp="1"/>
          </p:cNvSpPr>
          <p:nvPr>
            <p:ph type="sldNum" sz="quarter" idx="5"/>
          </p:nvPr>
        </p:nvSpPr>
        <p:spPr/>
        <p:txBody>
          <a:bodyPr/>
          <a:lstStyle/>
          <a:p>
            <a:fld id="{6C6C7078-1796-7A4D-86C7-BD551C747836}" type="slidenum">
              <a:rPr lang="en-US" smtClean="0"/>
              <a:t>30</a:t>
            </a:fld>
            <a:endParaRPr lang="en-US"/>
          </a:p>
        </p:txBody>
      </p:sp>
    </p:spTree>
    <p:extLst>
      <p:ext uri="{BB962C8B-B14F-4D97-AF65-F5344CB8AC3E}">
        <p14:creationId xmlns:p14="http://schemas.microsoft.com/office/powerpoint/2010/main" val="1755108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sz="1200" b="1" dirty="0"/>
          </a:p>
          <a:p>
            <a:r>
              <a:rPr lang="en-US" dirty="0"/>
              <a:t>We now have time for questions, thoughts and comments from the session.</a:t>
            </a:r>
          </a:p>
          <a:p>
            <a:endParaRPr lang="en-US" dirty="0"/>
          </a:p>
        </p:txBody>
      </p:sp>
      <p:sp>
        <p:nvSpPr>
          <p:cNvPr id="4" name="Slide Number Placeholder 3"/>
          <p:cNvSpPr>
            <a:spLocks noGrp="1"/>
          </p:cNvSpPr>
          <p:nvPr>
            <p:ph type="sldNum" sz="quarter" idx="5"/>
          </p:nvPr>
        </p:nvSpPr>
        <p:spPr/>
        <p:txBody>
          <a:bodyPr/>
          <a:lstStyle/>
          <a:p>
            <a:fld id="{6C6C7078-1796-7A4D-86C7-BD551C747836}" type="slidenum">
              <a:rPr lang="en-US" smtClean="0"/>
              <a:t>31</a:t>
            </a:fld>
            <a:endParaRPr lang="en-US"/>
          </a:p>
        </p:txBody>
      </p:sp>
    </p:spTree>
    <p:extLst>
      <p:ext uri="{BB962C8B-B14F-4D97-AF65-F5344CB8AC3E}">
        <p14:creationId xmlns:p14="http://schemas.microsoft.com/office/powerpoint/2010/main" val="35773977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FFEA4-76B7-5C7D-E861-FF4D6BB00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6EBA4-8620-5019-5CBA-71F1A598A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CCE9F4-B1E5-1541-B24A-764B09752CC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D8270D-D9C4-6B9F-9F6B-3E3A0E4FB611}"/>
              </a:ext>
            </a:extLst>
          </p:cNvPr>
          <p:cNvSpPr>
            <a:spLocks noGrp="1"/>
          </p:cNvSpPr>
          <p:nvPr>
            <p:ph type="sldNum" sz="quarter" idx="5"/>
          </p:nvPr>
        </p:nvSpPr>
        <p:spPr/>
        <p:txBody>
          <a:bodyPr/>
          <a:lstStyle/>
          <a:p>
            <a:fld id="{46F3A5F6-A6BC-E543-9B7F-4BD33E1BAA03}" type="slidenum">
              <a:rPr lang="en-US" smtClean="0"/>
              <a:t>32</a:t>
            </a:fld>
            <a:endParaRPr lang="en-US"/>
          </a:p>
        </p:txBody>
      </p:sp>
    </p:spTree>
    <p:extLst>
      <p:ext uri="{BB962C8B-B14F-4D97-AF65-F5344CB8AC3E}">
        <p14:creationId xmlns:p14="http://schemas.microsoft.com/office/powerpoint/2010/main" val="435637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334AC-0F39-3065-DF8D-EE6BE0A425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875CE0-DD27-05F4-6525-6E179805D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89856B-65B9-FCE4-E67F-E12F4F8B59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36522BF-1A4F-C9DD-8EC7-B43CCEF9FE91}"/>
              </a:ext>
            </a:extLst>
          </p:cNvPr>
          <p:cNvSpPr>
            <a:spLocks noGrp="1"/>
          </p:cNvSpPr>
          <p:nvPr>
            <p:ph type="sldNum" sz="quarter" idx="5"/>
          </p:nvPr>
        </p:nvSpPr>
        <p:spPr/>
        <p:txBody>
          <a:bodyPr/>
          <a:lstStyle/>
          <a:p>
            <a:fld id="{46F3A5F6-A6BC-E543-9B7F-4BD33E1BAA03}" type="slidenum">
              <a:rPr lang="en-US" smtClean="0"/>
              <a:t>33</a:t>
            </a:fld>
            <a:endParaRPr lang="en-US"/>
          </a:p>
        </p:txBody>
      </p:sp>
    </p:spTree>
    <p:extLst>
      <p:ext uri="{BB962C8B-B14F-4D97-AF65-F5344CB8AC3E}">
        <p14:creationId xmlns:p14="http://schemas.microsoft.com/office/powerpoint/2010/main" val="5567676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55137-2A44-1B36-5557-CAD339F9E6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67EDB7-D361-DF56-A404-1D1213C69F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2BC8B-F472-96E3-8A69-5E997A83C4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924615-60FF-8F27-6327-3F27A952EBAC}"/>
              </a:ext>
            </a:extLst>
          </p:cNvPr>
          <p:cNvSpPr>
            <a:spLocks noGrp="1"/>
          </p:cNvSpPr>
          <p:nvPr>
            <p:ph type="sldNum" sz="quarter" idx="5"/>
          </p:nvPr>
        </p:nvSpPr>
        <p:spPr/>
        <p:txBody>
          <a:bodyPr/>
          <a:lstStyle/>
          <a:p>
            <a:fld id="{46F3A5F6-A6BC-E543-9B7F-4BD33E1BAA03}" type="slidenum">
              <a:rPr lang="en-US" smtClean="0"/>
              <a:t>34</a:t>
            </a:fld>
            <a:endParaRPr lang="en-US"/>
          </a:p>
        </p:txBody>
      </p:sp>
    </p:spTree>
    <p:extLst>
      <p:ext uri="{BB962C8B-B14F-4D97-AF65-F5344CB8AC3E}">
        <p14:creationId xmlns:p14="http://schemas.microsoft.com/office/powerpoint/2010/main" val="40872997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34231-C82F-69FE-150E-4D70B8C4F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88A55-6A7A-7F59-724F-86257F28FE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5A962D-96F2-9FC0-42ED-F0FB653159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F6D6DD-AF79-A2AF-8936-5615FA71D540}"/>
              </a:ext>
            </a:extLst>
          </p:cNvPr>
          <p:cNvSpPr>
            <a:spLocks noGrp="1"/>
          </p:cNvSpPr>
          <p:nvPr>
            <p:ph type="sldNum" sz="quarter" idx="5"/>
          </p:nvPr>
        </p:nvSpPr>
        <p:spPr/>
        <p:txBody>
          <a:bodyPr/>
          <a:lstStyle/>
          <a:p>
            <a:fld id="{46F3A5F6-A6BC-E543-9B7F-4BD33E1BAA03}" type="slidenum">
              <a:rPr lang="en-US" smtClean="0"/>
              <a:t>35</a:t>
            </a:fld>
            <a:endParaRPr lang="en-US"/>
          </a:p>
        </p:txBody>
      </p:sp>
    </p:spTree>
    <p:extLst>
      <p:ext uri="{BB962C8B-B14F-4D97-AF65-F5344CB8AC3E}">
        <p14:creationId xmlns:p14="http://schemas.microsoft.com/office/powerpoint/2010/main" val="5180154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87600-EDDA-98E2-02CE-D247397F3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A63A0-9B7C-18C6-31DE-79F7F4469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0061E-63E3-9195-1C07-AFFADCDF4D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937344-840A-EA61-8017-367416B8DCEF}"/>
              </a:ext>
            </a:extLst>
          </p:cNvPr>
          <p:cNvSpPr>
            <a:spLocks noGrp="1"/>
          </p:cNvSpPr>
          <p:nvPr>
            <p:ph type="sldNum" sz="quarter" idx="5"/>
          </p:nvPr>
        </p:nvSpPr>
        <p:spPr/>
        <p:txBody>
          <a:bodyPr/>
          <a:lstStyle/>
          <a:p>
            <a:fld id="{46F3A5F6-A6BC-E543-9B7F-4BD33E1BAA03}" type="slidenum">
              <a:rPr lang="en-US" smtClean="0"/>
              <a:t>36</a:t>
            </a:fld>
            <a:endParaRPr lang="en-US"/>
          </a:p>
        </p:txBody>
      </p:sp>
    </p:spTree>
    <p:extLst>
      <p:ext uri="{BB962C8B-B14F-4D97-AF65-F5344CB8AC3E}">
        <p14:creationId xmlns:p14="http://schemas.microsoft.com/office/powerpoint/2010/main" val="4175897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CF685-E6CA-D688-85FF-81EC001F9E1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4D52A60-FF5E-3C89-FA51-ADEF938799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A0E64BC-4B2E-C51F-18C1-7EF614832949}"/>
              </a:ext>
            </a:extLst>
          </p:cNvPr>
          <p:cNvSpPr>
            <a:spLocks noGrp="1"/>
          </p:cNvSpPr>
          <p:nvPr>
            <p:ph type="dt" sz="half" idx="10"/>
          </p:nvPr>
        </p:nvSpPr>
        <p:spPr/>
        <p:txBody>
          <a:bodyPr/>
          <a:lstStyle/>
          <a:p>
            <a:fld id="{1551D60B-24BF-C74C-82E6-FC9D491F2682}" type="datetimeFigureOut">
              <a:rPr lang="en-US" smtClean="0"/>
              <a:t>10/6/26</a:t>
            </a:fld>
            <a:endParaRPr lang="en-US"/>
          </a:p>
        </p:txBody>
      </p:sp>
      <p:sp>
        <p:nvSpPr>
          <p:cNvPr id="5" name="Footer Placeholder 4">
            <a:extLst>
              <a:ext uri="{FF2B5EF4-FFF2-40B4-BE49-F238E27FC236}">
                <a16:creationId xmlns:a16="http://schemas.microsoft.com/office/drawing/2014/main" id="{C66E4798-627E-8AE9-B241-0A4D70ABAC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14519B-CCE9-2611-B5F6-04148A34D656}"/>
              </a:ext>
            </a:extLst>
          </p:cNvPr>
          <p:cNvSpPr>
            <a:spLocks noGrp="1"/>
          </p:cNvSpPr>
          <p:nvPr>
            <p:ph type="sldNum" sz="quarter" idx="12"/>
          </p:nvPr>
        </p:nvSpPr>
        <p:spPr/>
        <p:txBody>
          <a:bodyPr/>
          <a:lstStyle/>
          <a:p>
            <a:fld id="{5347BFDB-7C4E-DE41-8A12-EACAC8D9EEC9}" type="slidenum">
              <a:rPr lang="en-US" smtClean="0"/>
              <a:t>‹#›</a:t>
            </a:fld>
            <a:endParaRPr lang="en-US"/>
          </a:p>
        </p:txBody>
      </p:sp>
    </p:spTree>
    <p:extLst>
      <p:ext uri="{BB962C8B-B14F-4D97-AF65-F5344CB8AC3E}">
        <p14:creationId xmlns:p14="http://schemas.microsoft.com/office/powerpoint/2010/main" val="2015091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99B64-F7F1-1CA8-E31D-31891FAFF2F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D634232-1756-D476-5A6A-E6E113C6DF5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19C7D7A-D5E7-D33A-49DD-3802A136B0AE}"/>
              </a:ext>
            </a:extLst>
          </p:cNvPr>
          <p:cNvSpPr>
            <a:spLocks noGrp="1"/>
          </p:cNvSpPr>
          <p:nvPr>
            <p:ph type="dt" sz="half" idx="10"/>
          </p:nvPr>
        </p:nvSpPr>
        <p:spPr/>
        <p:txBody>
          <a:bodyPr/>
          <a:lstStyle/>
          <a:p>
            <a:fld id="{1551D60B-24BF-C74C-82E6-FC9D491F2682}" type="datetimeFigureOut">
              <a:rPr lang="en-US" smtClean="0"/>
              <a:t>10/6/26</a:t>
            </a:fld>
            <a:endParaRPr lang="en-US"/>
          </a:p>
        </p:txBody>
      </p:sp>
      <p:sp>
        <p:nvSpPr>
          <p:cNvPr id="5" name="Footer Placeholder 4">
            <a:extLst>
              <a:ext uri="{FF2B5EF4-FFF2-40B4-BE49-F238E27FC236}">
                <a16:creationId xmlns:a16="http://schemas.microsoft.com/office/drawing/2014/main" id="{7EAB3881-6985-7DD5-8C39-F01C2E8121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39F21C-01F1-0D30-99C7-878C0DF225CB}"/>
              </a:ext>
            </a:extLst>
          </p:cNvPr>
          <p:cNvSpPr>
            <a:spLocks noGrp="1"/>
          </p:cNvSpPr>
          <p:nvPr>
            <p:ph type="sldNum" sz="quarter" idx="12"/>
          </p:nvPr>
        </p:nvSpPr>
        <p:spPr/>
        <p:txBody>
          <a:bodyPr/>
          <a:lstStyle/>
          <a:p>
            <a:fld id="{5347BFDB-7C4E-DE41-8A12-EACAC8D9EEC9}" type="slidenum">
              <a:rPr lang="en-US" smtClean="0"/>
              <a:t>‹#›</a:t>
            </a:fld>
            <a:endParaRPr lang="en-US"/>
          </a:p>
        </p:txBody>
      </p:sp>
    </p:spTree>
    <p:extLst>
      <p:ext uri="{BB962C8B-B14F-4D97-AF65-F5344CB8AC3E}">
        <p14:creationId xmlns:p14="http://schemas.microsoft.com/office/powerpoint/2010/main" val="4081976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64B08-FB6F-1E8E-D94B-5DF15926A0F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5AD8A8D-688F-8D63-8410-BC2CB19C8A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F76719D-6DD9-0473-DF51-E6310AD5C868}"/>
              </a:ext>
            </a:extLst>
          </p:cNvPr>
          <p:cNvSpPr>
            <a:spLocks noGrp="1"/>
          </p:cNvSpPr>
          <p:nvPr>
            <p:ph type="dt" sz="half" idx="10"/>
          </p:nvPr>
        </p:nvSpPr>
        <p:spPr/>
        <p:txBody>
          <a:bodyPr/>
          <a:lstStyle/>
          <a:p>
            <a:fld id="{1551D60B-24BF-C74C-82E6-FC9D491F2682}" type="datetimeFigureOut">
              <a:rPr lang="en-US" smtClean="0"/>
              <a:t>10/6/26</a:t>
            </a:fld>
            <a:endParaRPr lang="en-US"/>
          </a:p>
        </p:txBody>
      </p:sp>
      <p:sp>
        <p:nvSpPr>
          <p:cNvPr id="5" name="Footer Placeholder 4">
            <a:extLst>
              <a:ext uri="{FF2B5EF4-FFF2-40B4-BE49-F238E27FC236}">
                <a16:creationId xmlns:a16="http://schemas.microsoft.com/office/drawing/2014/main" id="{409FC748-2B78-0D05-2050-3733663B89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6EE39D-A88B-5DEC-2E73-2F3AA660A4C3}"/>
              </a:ext>
            </a:extLst>
          </p:cNvPr>
          <p:cNvSpPr>
            <a:spLocks noGrp="1"/>
          </p:cNvSpPr>
          <p:nvPr>
            <p:ph type="sldNum" sz="quarter" idx="12"/>
          </p:nvPr>
        </p:nvSpPr>
        <p:spPr/>
        <p:txBody>
          <a:bodyPr/>
          <a:lstStyle/>
          <a:p>
            <a:fld id="{5347BFDB-7C4E-DE41-8A12-EACAC8D9EEC9}" type="slidenum">
              <a:rPr lang="en-US" smtClean="0"/>
              <a:t>‹#›</a:t>
            </a:fld>
            <a:endParaRPr lang="en-US"/>
          </a:p>
        </p:txBody>
      </p:sp>
    </p:spTree>
    <p:extLst>
      <p:ext uri="{BB962C8B-B14F-4D97-AF65-F5344CB8AC3E}">
        <p14:creationId xmlns:p14="http://schemas.microsoft.com/office/powerpoint/2010/main" val="69831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3728F-B45C-FEAB-CCDE-2E46F3982E9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746201F-A1F9-9544-5EF7-C5E0171B8F8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24A3E47-C3BE-B0C9-0C62-04D26164A58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34CF11F-3019-16AC-9B15-7F0622B04F1B}"/>
              </a:ext>
            </a:extLst>
          </p:cNvPr>
          <p:cNvSpPr>
            <a:spLocks noGrp="1"/>
          </p:cNvSpPr>
          <p:nvPr>
            <p:ph type="dt" sz="half" idx="10"/>
          </p:nvPr>
        </p:nvSpPr>
        <p:spPr/>
        <p:txBody>
          <a:bodyPr/>
          <a:lstStyle/>
          <a:p>
            <a:fld id="{1551D60B-24BF-C74C-82E6-FC9D491F2682}" type="datetimeFigureOut">
              <a:rPr lang="en-US" smtClean="0"/>
              <a:t>10/6/26</a:t>
            </a:fld>
            <a:endParaRPr lang="en-US"/>
          </a:p>
        </p:txBody>
      </p:sp>
      <p:sp>
        <p:nvSpPr>
          <p:cNvPr id="6" name="Footer Placeholder 5">
            <a:extLst>
              <a:ext uri="{FF2B5EF4-FFF2-40B4-BE49-F238E27FC236}">
                <a16:creationId xmlns:a16="http://schemas.microsoft.com/office/drawing/2014/main" id="{A6427E31-6BA9-2787-786E-DEFE9758F7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03339D-EF1A-39F9-C0E7-7FE6D1EE54B9}"/>
              </a:ext>
            </a:extLst>
          </p:cNvPr>
          <p:cNvSpPr>
            <a:spLocks noGrp="1"/>
          </p:cNvSpPr>
          <p:nvPr>
            <p:ph type="sldNum" sz="quarter" idx="12"/>
          </p:nvPr>
        </p:nvSpPr>
        <p:spPr/>
        <p:txBody>
          <a:bodyPr/>
          <a:lstStyle/>
          <a:p>
            <a:fld id="{5347BFDB-7C4E-DE41-8A12-EACAC8D9EEC9}" type="slidenum">
              <a:rPr lang="en-US" smtClean="0"/>
              <a:t>‹#›</a:t>
            </a:fld>
            <a:endParaRPr lang="en-US"/>
          </a:p>
        </p:txBody>
      </p:sp>
    </p:spTree>
    <p:extLst>
      <p:ext uri="{BB962C8B-B14F-4D97-AF65-F5344CB8AC3E}">
        <p14:creationId xmlns:p14="http://schemas.microsoft.com/office/powerpoint/2010/main" val="3572070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96D74-7A52-5239-6BFC-455420F60E5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46A0C8C-3027-3437-03B0-51E54BE734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F2DA7DB-D317-F3A6-47AB-37390458BA9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A12029B-DE2D-79DA-C225-52E1EB7AB0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9DCAB26-1593-4A23-B353-CAD836D407F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A67CE51-C306-E0B6-436F-CFE07A7DBC92}"/>
              </a:ext>
            </a:extLst>
          </p:cNvPr>
          <p:cNvSpPr>
            <a:spLocks noGrp="1"/>
          </p:cNvSpPr>
          <p:nvPr>
            <p:ph type="dt" sz="half" idx="10"/>
          </p:nvPr>
        </p:nvSpPr>
        <p:spPr/>
        <p:txBody>
          <a:bodyPr/>
          <a:lstStyle/>
          <a:p>
            <a:fld id="{1551D60B-24BF-C74C-82E6-FC9D491F2682}" type="datetimeFigureOut">
              <a:rPr lang="en-US" smtClean="0"/>
              <a:t>10/6/26</a:t>
            </a:fld>
            <a:endParaRPr lang="en-US"/>
          </a:p>
        </p:txBody>
      </p:sp>
      <p:sp>
        <p:nvSpPr>
          <p:cNvPr id="8" name="Footer Placeholder 7">
            <a:extLst>
              <a:ext uri="{FF2B5EF4-FFF2-40B4-BE49-F238E27FC236}">
                <a16:creationId xmlns:a16="http://schemas.microsoft.com/office/drawing/2014/main" id="{CCC02D0C-F023-EFC9-BC53-9168C4909C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1C3BA0-D65A-B871-3ADF-6B6068EB083D}"/>
              </a:ext>
            </a:extLst>
          </p:cNvPr>
          <p:cNvSpPr>
            <a:spLocks noGrp="1"/>
          </p:cNvSpPr>
          <p:nvPr>
            <p:ph type="sldNum" sz="quarter" idx="12"/>
          </p:nvPr>
        </p:nvSpPr>
        <p:spPr/>
        <p:txBody>
          <a:bodyPr/>
          <a:lstStyle/>
          <a:p>
            <a:fld id="{5347BFDB-7C4E-DE41-8A12-EACAC8D9EEC9}" type="slidenum">
              <a:rPr lang="en-US" smtClean="0"/>
              <a:t>‹#›</a:t>
            </a:fld>
            <a:endParaRPr lang="en-US"/>
          </a:p>
        </p:txBody>
      </p:sp>
    </p:spTree>
    <p:extLst>
      <p:ext uri="{BB962C8B-B14F-4D97-AF65-F5344CB8AC3E}">
        <p14:creationId xmlns:p14="http://schemas.microsoft.com/office/powerpoint/2010/main" val="1992075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B90E-337B-ADBA-1303-812233A250F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261BDB4-412B-1A3C-B7C1-8A58050A5783}"/>
              </a:ext>
            </a:extLst>
          </p:cNvPr>
          <p:cNvSpPr>
            <a:spLocks noGrp="1"/>
          </p:cNvSpPr>
          <p:nvPr>
            <p:ph type="dt" sz="half" idx="10"/>
          </p:nvPr>
        </p:nvSpPr>
        <p:spPr/>
        <p:txBody>
          <a:bodyPr/>
          <a:lstStyle/>
          <a:p>
            <a:fld id="{1551D60B-24BF-C74C-82E6-FC9D491F2682}" type="datetimeFigureOut">
              <a:rPr lang="en-US" smtClean="0"/>
              <a:t>10/6/26</a:t>
            </a:fld>
            <a:endParaRPr lang="en-US"/>
          </a:p>
        </p:txBody>
      </p:sp>
      <p:sp>
        <p:nvSpPr>
          <p:cNvPr id="4" name="Footer Placeholder 3">
            <a:extLst>
              <a:ext uri="{FF2B5EF4-FFF2-40B4-BE49-F238E27FC236}">
                <a16:creationId xmlns:a16="http://schemas.microsoft.com/office/drawing/2014/main" id="{43394897-A91C-E918-2243-1EA79B98F4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E4CA79-5D2A-E9D3-02C3-B529FF5CD8E2}"/>
              </a:ext>
            </a:extLst>
          </p:cNvPr>
          <p:cNvSpPr>
            <a:spLocks noGrp="1"/>
          </p:cNvSpPr>
          <p:nvPr>
            <p:ph type="sldNum" sz="quarter" idx="12"/>
          </p:nvPr>
        </p:nvSpPr>
        <p:spPr/>
        <p:txBody>
          <a:bodyPr/>
          <a:lstStyle/>
          <a:p>
            <a:fld id="{5347BFDB-7C4E-DE41-8A12-EACAC8D9EEC9}" type="slidenum">
              <a:rPr lang="en-US" smtClean="0"/>
              <a:t>‹#›</a:t>
            </a:fld>
            <a:endParaRPr lang="en-US"/>
          </a:p>
        </p:txBody>
      </p:sp>
    </p:spTree>
    <p:extLst>
      <p:ext uri="{BB962C8B-B14F-4D97-AF65-F5344CB8AC3E}">
        <p14:creationId xmlns:p14="http://schemas.microsoft.com/office/powerpoint/2010/main" val="2330818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19A86A-296C-7B5A-7D11-A706A5E3B946}"/>
              </a:ext>
            </a:extLst>
          </p:cNvPr>
          <p:cNvSpPr>
            <a:spLocks noGrp="1"/>
          </p:cNvSpPr>
          <p:nvPr>
            <p:ph type="dt" sz="half" idx="10"/>
          </p:nvPr>
        </p:nvSpPr>
        <p:spPr/>
        <p:txBody>
          <a:bodyPr/>
          <a:lstStyle/>
          <a:p>
            <a:fld id="{1551D60B-24BF-C74C-82E6-FC9D491F2682}" type="datetimeFigureOut">
              <a:rPr lang="en-US" smtClean="0"/>
              <a:t>10/6/26</a:t>
            </a:fld>
            <a:endParaRPr lang="en-US"/>
          </a:p>
        </p:txBody>
      </p:sp>
      <p:sp>
        <p:nvSpPr>
          <p:cNvPr id="3" name="Footer Placeholder 2">
            <a:extLst>
              <a:ext uri="{FF2B5EF4-FFF2-40B4-BE49-F238E27FC236}">
                <a16:creationId xmlns:a16="http://schemas.microsoft.com/office/drawing/2014/main" id="{89031A9F-815F-BB00-6209-FDC9AB356D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B6D23A-72C6-E034-DA31-F5D1392D5FD5}"/>
              </a:ext>
            </a:extLst>
          </p:cNvPr>
          <p:cNvSpPr>
            <a:spLocks noGrp="1"/>
          </p:cNvSpPr>
          <p:nvPr>
            <p:ph type="sldNum" sz="quarter" idx="12"/>
          </p:nvPr>
        </p:nvSpPr>
        <p:spPr/>
        <p:txBody>
          <a:bodyPr/>
          <a:lstStyle/>
          <a:p>
            <a:fld id="{5347BFDB-7C4E-DE41-8A12-EACAC8D9EEC9}" type="slidenum">
              <a:rPr lang="en-US" smtClean="0"/>
              <a:t>‹#›</a:t>
            </a:fld>
            <a:endParaRPr lang="en-US"/>
          </a:p>
        </p:txBody>
      </p:sp>
    </p:spTree>
    <p:extLst>
      <p:ext uri="{BB962C8B-B14F-4D97-AF65-F5344CB8AC3E}">
        <p14:creationId xmlns:p14="http://schemas.microsoft.com/office/powerpoint/2010/main" val="955831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BA3C-8E64-FC6E-8F1E-12AD13B7E74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6DC6F6D-C2EE-8E95-2394-4736A02B6A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CF3A722-344D-DFC5-A331-6E8B842DD3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DF8DE7-EEC3-1013-6F6E-DAED7C8206EE}"/>
              </a:ext>
            </a:extLst>
          </p:cNvPr>
          <p:cNvSpPr>
            <a:spLocks noGrp="1"/>
          </p:cNvSpPr>
          <p:nvPr>
            <p:ph type="dt" sz="half" idx="10"/>
          </p:nvPr>
        </p:nvSpPr>
        <p:spPr/>
        <p:txBody>
          <a:bodyPr/>
          <a:lstStyle/>
          <a:p>
            <a:fld id="{1551D60B-24BF-C74C-82E6-FC9D491F2682}" type="datetimeFigureOut">
              <a:rPr lang="en-US" smtClean="0"/>
              <a:t>10/6/26</a:t>
            </a:fld>
            <a:endParaRPr lang="en-US"/>
          </a:p>
        </p:txBody>
      </p:sp>
      <p:sp>
        <p:nvSpPr>
          <p:cNvPr id="6" name="Footer Placeholder 5">
            <a:extLst>
              <a:ext uri="{FF2B5EF4-FFF2-40B4-BE49-F238E27FC236}">
                <a16:creationId xmlns:a16="http://schemas.microsoft.com/office/drawing/2014/main" id="{9F409EA0-C13E-BFCE-4D42-64336D7B5B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5CA062-BC82-A5BD-87D4-A31C5BA7B34E}"/>
              </a:ext>
            </a:extLst>
          </p:cNvPr>
          <p:cNvSpPr>
            <a:spLocks noGrp="1"/>
          </p:cNvSpPr>
          <p:nvPr>
            <p:ph type="sldNum" sz="quarter" idx="12"/>
          </p:nvPr>
        </p:nvSpPr>
        <p:spPr/>
        <p:txBody>
          <a:bodyPr/>
          <a:lstStyle/>
          <a:p>
            <a:fld id="{5347BFDB-7C4E-DE41-8A12-EACAC8D9EEC9}" type="slidenum">
              <a:rPr lang="en-US" smtClean="0"/>
              <a:t>‹#›</a:t>
            </a:fld>
            <a:endParaRPr lang="en-US"/>
          </a:p>
        </p:txBody>
      </p:sp>
    </p:spTree>
    <p:extLst>
      <p:ext uri="{BB962C8B-B14F-4D97-AF65-F5344CB8AC3E}">
        <p14:creationId xmlns:p14="http://schemas.microsoft.com/office/powerpoint/2010/main" val="3944079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8B2A1-D367-6BAC-47AA-FEDF9DA5708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0E5B879-5F41-B1D1-8B06-6D904393C4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36242C-01D0-DBE9-5D7D-50F52C5869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A66193C-E174-0024-96CD-4E6603905E12}"/>
              </a:ext>
            </a:extLst>
          </p:cNvPr>
          <p:cNvSpPr>
            <a:spLocks noGrp="1"/>
          </p:cNvSpPr>
          <p:nvPr>
            <p:ph type="dt" sz="half" idx="10"/>
          </p:nvPr>
        </p:nvSpPr>
        <p:spPr/>
        <p:txBody>
          <a:bodyPr/>
          <a:lstStyle/>
          <a:p>
            <a:fld id="{1551D60B-24BF-C74C-82E6-FC9D491F2682}" type="datetimeFigureOut">
              <a:rPr lang="en-US" smtClean="0"/>
              <a:t>10/6/26</a:t>
            </a:fld>
            <a:endParaRPr lang="en-US"/>
          </a:p>
        </p:txBody>
      </p:sp>
      <p:sp>
        <p:nvSpPr>
          <p:cNvPr id="6" name="Footer Placeholder 5">
            <a:extLst>
              <a:ext uri="{FF2B5EF4-FFF2-40B4-BE49-F238E27FC236}">
                <a16:creationId xmlns:a16="http://schemas.microsoft.com/office/drawing/2014/main" id="{7CCBA0A3-3CDC-AE71-ECB2-DAD9400ED4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6AF283-6398-3582-5EC1-70136C9C65B1}"/>
              </a:ext>
            </a:extLst>
          </p:cNvPr>
          <p:cNvSpPr>
            <a:spLocks noGrp="1"/>
          </p:cNvSpPr>
          <p:nvPr>
            <p:ph type="sldNum" sz="quarter" idx="12"/>
          </p:nvPr>
        </p:nvSpPr>
        <p:spPr/>
        <p:txBody>
          <a:bodyPr/>
          <a:lstStyle/>
          <a:p>
            <a:fld id="{5347BFDB-7C4E-DE41-8A12-EACAC8D9EEC9}" type="slidenum">
              <a:rPr lang="en-US" smtClean="0"/>
              <a:t>‹#›</a:t>
            </a:fld>
            <a:endParaRPr lang="en-US"/>
          </a:p>
        </p:txBody>
      </p:sp>
    </p:spTree>
    <p:extLst>
      <p:ext uri="{BB962C8B-B14F-4D97-AF65-F5344CB8AC3E}">
        <p14:creationId xmlns:p14="http://schemas.microsoft.com/office/powerpoint/2010/main" val="4173689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67DDD-0D15-B75C-9479-6443B0A9053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404EFD7-D098-FB80-CE4C-ADD669471F7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D2DD8E8-A2C5-CD81-EC1B-628E9D7B4AB4}"/>
              </a:ext>
            </a:extLst>
          </p:cNvPr>
          <p:cNvSpPr>
            <a:spLocks noGrp="1"/>
          </p:cNvSpPr>
          <p:nvPr>
            <p:ph type="dt" sz="half" idx="10"/>
          </p:nvPr>
        </p:nvSpPr>
        <p:spPr/>
        <p:txBody>
          <a:bodyPr/>
          <a:lstStyle/>
          <a:p>
            <a:fld id="{1551D60B-24BF-C74C-82E6-FC9D491F2682}" type="datetimeFigureOut">
              <a:rPr lang="en-US" smtClean="0"/>
              <a:t>10/6/26</a:t>
            </a:fld>
            <a:endParaRPr lang="en-US"/>
          </a:p>
        </p:txBody>
      </p:sp>
      <p:sp>
        <p:nvSpPr>
          <p:cNvPr id="5" name="Footer Placeholder 4">
            <a:extLst>
              <a:ext uri="{FF2B5EF4-FFF2-40B4-BE49-F238E27FC236}">
                <a16:creationId xmlns:a16="http://schemas.microsoft.com/office/drawing/2014/main" id="{25A3078D-C6C3-4956-BEE5-2E11C5305B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6C4987-B004-6D42-6F74-65676DF04457}"/>
              </a:ext>
            </a:extLst>
          </p:cNvPr>
          <p:cNvSpPr>
            <a:spLocks noGrp="1"/>
          </p:cNvSpPr>
          <p:nvPr>
            <p:ph type="sldNum" sz="quarter" idx="12"/>
          </p:nvPr>
        </p:nvSpPr>
        <p:spPr/>
        <p:txBody>
          <a:bodyPr/>
          <a:lstStyle/>
          <a:p>
            <a:fld id="{5347BFDB-7C4E-DE41-8A12-EACAC8D9EEC9}" type="slidenum">
              <a:rPr lang="en-US" smtClean="0"/>
              <a:t>‹#›</a:t>
            </a:fld>
            <a:endParaRPr lang="en-US"/>
          </a:p>
        </p:txBody>
      </p:sp>
    </p:spTree>
    <p:extLst>
      <p:ext uri="{BB962C8B-B14F-4D97-AF65-F5344CB8AC3E}">
        <p14:creationId xmlns:p14="http://schemas.microsoft.com/office/powerpoint/2010/main" val="2348208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867321-3F0B-2666-FD9C-D5A18CB3E91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F2A9F0D-F52D-2815-0D3A-54859127323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EA2E413-BF48-7166-13C0-5FC63A3B797C}"/>
              </a:ext>
            </a:extLst>
          </p:cNvPr>
          <p:cNvSpPr>
            <a:spLocks noGrp="1"/>
          </p:cNvSpPr>
          <p:nvPr>
            <p:ph type="dt" sz="half" idx="10"/>
          </p:nvPr>
        </p:nvSpPr>
        <p:spPr/>
        <p:txBody>
          <a:bodyPr/>
          <a:lstStyle/>
          <a:p>
            <a:fld id="{1551D60B-24BF-C74C-82E6-FC9D491F2682}" type="datetimeFigureOut">
              <a:rPr lang="en-US" smtClean="0"/>
              <a:t>10/6/26</a:t>
            </a:fld>
            <a:endParaRPr lang="en-US"/>
          </a:p>
        </p:txBody>
      </p:sp>
      <p:sp>
        <p:nvSpPr>
          <p:cNvPr id="5" name="Footer Placeholder 4">
            <a:extLst>
              <a:ext uri="{FF2B5EF4-FFF2-40B4-BE49-F238E27FC236}">
                <a16:creationId xmlns:a16="http://schemas.microsoft.com/office/drawing/2014/main" id="{D028535C-B825-F184-8722-3E0CCA3A54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2DFCFF-9A89-7D17-B19B-04EC4BB67ECA}"/>
              </a:ext>
            </a:extLst>
          </p:cNvPr>
          <p:cNvSpPr>
            <a:spLocks noGrp="1"/>
          </p:cNvSpPr>
          <p:nvPr>
            <p:ph type="sldNum" sz="quarter" idx="12"/>
          </p:nvPr>
        </p:nvSpPr>
        <p:spPr/>
        <p:txBody>
          <a:bodyPr/>
          <a:lstStyle/>
          <a:p>
            <a:fld id="{5347BFDB-7C4E-DE41-8A12-EACAC8D9EEC9}" type="slidenum">
              <a:rPr lang="en-US" smtClean="0"/>
              <a:t>‹#›</a:t>
            </a:fld>
            <a:endParaRPr lang="en-US"/>
          </a:p>
        </p:txBody>
      </p:sp>
    </p:spTree>
    <p:extLst>
      <p:ext uri="{BB962C8B-B14F-4D97-AF65-F5344CB8AC3E}">
        <p14:creationId xmlns:p14="http://schemas.microsoft.com/office/powerpoint/2010/main" val="1869314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139D81-1833-4C30-4B53-257EC7166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756FD70-9B90-5D5D-BFD8-34BB0A253A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6340CB8-B845-4EAF-25B4-8315C52D81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51D60B-24BF-C74C-82E6-FC9D491F2682}" type="datetimeFigureOut">
              <a:rPr lang="en-US" smtClean="0"/>
              <a:t>10/6/26</a:t>
            </a:fld>
            <a:endParaRPr lang="en-US"/>
          </a:p>
        </p:txBody>
      </p:sp>
      <p:sp>
        <p:nvSpPr>
          <p:cNvPr id="5" name="Footer Placeholder 4">
            <a:extLst>
              <a:ext uri="{FF2B5EF4-FFF2-40B4-BE49-F238E27FC236}">
                <a16:creationId xmlns:a16="http://schemas.microsoft.com/office/drawing/2014/main" id="{4FDE14FE-2B7F-B9F1-B56C-35FED7257A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3CD355B-85F1-C0EE-B3EF-C54B7EA889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47BFDB-7C4E-DE41-8A12-EACAC8D9EEC9}" type="slidenum">
              <a:rPr lang="en-US" smtClean="0"/>
              <a:t>‹#›</a:t>
            </a:fld>
            <a:endParaRPr lang="en-US"/>
          </a:p>
        </p:txBody>
      </p:sp>
    </p:spTree>
    <p:extLst>
      <p:ext uri="{BB962C8B-B14F-4D97-AF65-F5344CB8AC3E}">
        <p14:creationId xmlns:p14="http://schemas.microsoft.com/office/powerpoint/2010/main" val="3502106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osc.lmu.de/training/" TargetMode="External"/><Relationship Id="rId7"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lmu-osc.github.io/train-the-trainer-open-research/workshop-design-workbook/" TargetMode="External"/><Relationship Id="rId5" Type="http://schemas.openxmlformats.org/officeDocument/2006/relationships/hyperlink" Target="https://lmu-osc.github.io/train-the-trainer-open-research/leadership-open-research/challenges-leadership/" TargetMode="External"/><Relationship Id="rId4" Type="http://schemas.openxmlformats.org/officeDocument/2006/relationships/hyperlink" Target="https://lmu-osc.github.io/train-the-trainer-open-research/leadership-open-research/leadership-skills-culture/"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svg"/><Relationship Id="rId18" Type="http://schemas.openxmlformats.org/officeDocument/2006/relationships/image" Target="../media/image18.svg"/><Relationship Id="rId3" Type="http://schemas.openxmlformats.org/officeDocument/2006/relationships/image" Target="../media/image2.jpeg"/><Relationship Id="rId21" Type="http://schemas.openxmlformats.org/officeDocument/2006/relationships/image" Target="../media/image21.svg"/><Relationship Id="rId7" Type="http://schemas.openxmlformats.org/officeDocument/2006/relationships/image" Target="../media/image7.svg"/><Relationship Id="rId12" Type="http://schemas.openxmlformats.org/officeDocument/2006/relationships/image" Target="../media/image12.svg"/><Relationship Id="rId17" Type="http://schemas.openxmlformats.org/officeDocument/2006/relationships/image" Target="../media/image17.svg"/><Relationship Id="rId2" Type="http://schemas.openxmlformats.org/officeDocument/2006/relationships/notesSlide" Target="../notesSlides/notesSlide5.xml"/><Relationship Id="rId16" Type="http://schemas.openxmlformats.org/officeDocument/2006/relationships/image" Target="../media/image16.svg"/><Relationship Id="rId20" Type="http://schemas.openxmlformats.org/officeDocument/2006/relationships/image" Target="../media/image20.svg"/><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3.png"/><Relationship Id="rId10" Type="http://schemas.openxmlformats.org/officeDocument/2006/relationships/image" Target="../media/image10.svg"/><Relationship Id="rId19" Type="http://schemas.openxmlformats.org/officeDocument/2006/relationships/image" Target="../media/image19.svg"/><Relationship Id="rId4" Type="http://schemas.openxmlformats.org/officeDocument/2006/relationships/image" Target="../media/image3.png"/><Relationship Id="rId9" Type="http://schemas.openxmlformats.org/officeDocument/2006/relationships/image" Target="../media/image9.svg"/><Relationship Id="rId14" Type="http://schemas.openxmlformats.org/officeDocument/2006/relationships/image" Target="../media/image14.svg"/><Relationship Id="rId22" Type="http://schemas.openxmlformats.org/officeDocument/2006/relationships/image" Target="../media/image22.svg"/></Relationships>
</file>

<file path=ppt/slides/_rels/slide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jpeg"/><Relationship Id="rId7" Type="http://schemas.openxmlformats.org/officeDocument/2006/relationships/image" Target="../media/image25.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18.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svg"/><Relationship Id="rId18" Type="http://schemas.openxmlformats.org/officeDocument/2006/relationships/hyperlink" Target="https://doi.org/10.31222/osf.io/af4nk_v2" TargetMode="External"/><Relationship Id="rId3" Type="http://schemas.openxmlformats.org/officeDocument/2006/relationships/image" Target="../media/image2.jpeg"/><Relationship Id="rId7" Type="http://schemas.openxmlformats.org/officeDocument/2006/relationships/image" Target="../media/image29.svg"/><Relationship Id="rId12" Type="http://schemas.openxmlformats.org/officeDocument/2006/relationships/image" Target="../media/image34.svg"/><Relationship Id="rId17" Type="http://schemas.openxmlformats.org/officeDocument/2006/relationships/hyperlink" Target="https://lmu-osc.github.io/training/research-cycle-handbook.html" TargetMode="External"/><Relationship Id="rId2" Type="http://schemas.openxmlformats.org/officeDocument/2006/relationships/notesSlide" Target="../notesSlides/notesSlide7.xml"/><Relationship Id="rId16" Type="http://schemas.openxmlformats.org/officeDocument/2006/relationships/image" Target="../media/image38.svg"/><Relationship Id="rId1" Type="http://schemas.openxmlformats.org/officeDocument/2006/relationships/slideLayout" Target="../slideLayouts/slideLayout2.xml"/><Relationship Id="rId6" Type="http://schemas.openxmlformats.org/officeDocument/2006/relationships/image" Target="../media/image28.svg"/><Relationship Id="rId11" Type="http://schemas.openxmlformats.org/officeDocument/2006/relationships/image" Target="../media/image33.svg"/><Relationship Id="rId5" Type="http://schemas.openxmlformats.org/officeDocument/2006/relationships/image" Target="../media/image27.svg"/><Relationship Id="rId15" Type="http://schemas.openxmlformats.org/officeDocument/2006/relationships/image" Target="../media/image37.png"/><Relationship Id="rId10" Type="http://schemas.openxmlformats.org/officeDocument/2006/relationships/image" Target="../media/image32.svg"/><Relationship Id="rId4" Type="http://schemas.openxmlformats.org/officeDocument/2006/relationships/image" Target="../media/image3.png"/><Relationship Id="rId9" Type="http://schemas.openxmlformats.org/officeDocument/2006/relationships/image" Target="../media/image31.png"/><Relationship Id="rId14" Type="http://schemas.openxmlformats.org/officeDocument/2006/relationships/image" Target="../media/image36.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1.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2.jpeg"/><Relationship Id="rId7" Type="http://schemas.openxmlformats.org/officeDocument/2006/relationships/image" Target="../media/image44.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3.png"/><Relationship Id="rId9" Type="http://schemas.openxmlformats.org/officeDocument/2006/relationships/hyperlink" Target="https://cogtales.wordpress.com/2023/04/16/the-buffet-approach-"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3.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doi.org/10.1177/25152459251357565" TargetMode="External"/><Relationship Id="rId5" Type="http://schemas.openxmlformats.org/officeDocument/2006/relationships/image" Target="../media/image46.jpe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2.jpeg"/><Relationship Id="rId7" Type="http://schemas.openxmlformats.org/officeDocument/2006/relationships/image" Target="../media/image29.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zenodo.org/records/20700870" TargetMode="External"/><Relationship Id="rId5" Type="http://schemas.openxmlformats.org/officeDocument/2006/relationships/image" Target="../media/image47.svg"/><Relationship Id="rId4" Type="http://schemas.openxmlformats.org/officeDocument/2006/relationships/image" Target="../media/image3.png"/><Relationship Id="rId9" Type="http://schemas.openxmlformats.org/officeDocument/2006/relationships/image" Target="../media/image49.svg"/></Relationships>
</file>

<file path=ppt/slides/_rels/slide12.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2.jpeg"/><Relationship Id="rId7" Type="http://schemas.openxmlformats.org/officeDocument/2006/relationships/image" Target="../media/image41.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6.svg"/><Relationship Id="rId5"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43.svg"/></Relationships>
</file>

<file path=ppt/slides/_rels/slide1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jpeg"/><Relationship Id="rId7" Type="http://schemas.openxmlformats.org/officeDocument/2006/relationships/image" Target="../media/image18.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7.svg"/><Relationship Id="rId11" Type="http://schemas.openxmlformats.org/officeDocument/2006/relationships/image" Target="../media/image51.svg"/><Relationship Id="rId5" Type="http://schemas.openxmlformats.org/officeDocument/2006/relationships/hyperlink" Target="https://doi.org/10.1080/00131911.2023.2281227" TargetMode="External"/><Relationship Id="rId10" Type="http://schemas.openxmlformats.org/officeDocument/2006/relationships/image" Target="../media/image21.svg"/><Relationship Id="rId4" Type="http://schemas.openxmlformats.org/officeDocument/2006/relationships/image" Target="../media/image3.png"/><Relationship Id="rId9" Type="http://schemas.openxmlformats.org/officeDocument/2006/relationships/image" Target="../media/image20.sv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2.svg"/><Relationship Id="rId5" Type="http://schemas.openxmlformats.org/officeDocument/2006/relationships/image" Target="../media/image20.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2.jpeg"/><Relationship Id="rId7" Type="http://schemas.openxmlformats.org/officeDocument/2006/relationships/image" Target="../media/image15.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4.svg"/><Relationship Id="rId5" Type="http://schemas.openxmlformats.org/officeDocument/2006/relationships/image" Target="../media/image53.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2.jpeg"/><Relationship Id="rId7" Type="http://schemas.openxmlformats.org/officeDocument/2006/relationships/image" Target="../media/image15.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4.svg"/><Relationship Id="rId5" Type="http://schemas.openxmlformats.org/officeDocument/2006/relationships/image" Target="../media/image53.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2.jpeg"/><Relationship Id="rId7" Type="http://schemas.openxmlformats.org/officeDocument/2006/relationships/image" Target="../media/image15.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4.svg"/><Relationship Id="rId5" Type="http://schemas.openxmlformats.org/officeDocument/2006/relationships/image" Target="../media/image53.sv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jpeg"/><Relationship Id="rId7" Type="http://schemas.openxmlformats.org/officeDocument/2006/relationships/image" Target="../media/image34.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44.sv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jpeg"/><Relationship Id="rId7" Type="http://schemas.openxmlformats.org/officeDocument/2006/relationships/image" Target="../media/image28.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7.svg"/><Relationship Id="rId11" Type="http://schemas.openxmlformats.org/officeDocument/2006/relationships/image" Target="../media/image18.svg"/><Relationship Id="rId5" Type="http://schemas.openxmlformats.org/officeDocument/2006/relationships/image" Target="../media/image37.png"/><Relationship Id="rId10" Type="http://schemas.openxmlformats.org/officeDocument/2006/relationships/image" Target="../media/image39.svg"/><Relationship Id="rId4" Type="http://schemas.openxmlformats.org/officeDocument/2006/relationships/image" Target="../media/image3.png"/><Relationship Id="rId9" Type="http://schemas.openxmlformats.org/officeDocument/2006/relationships/image" Target="../media/image30.sv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8" Type="http://schemas.openxmlformats.org/officeDocument/2006/relationships/hyperlink" Target="https://doi.org/10.5281/zenodo.22307709" TargetMode="External"/><Relationship Id="rId3" Type="http://schemas.openxmlformats.org/officeDocument/2006/relationships/image" Target="../media/image3.png"/><Relationship Id="rId7" Type="http://schemas.openxmlformats.org/officeDocument/2006/relationships/hyperlink" Target="https://doi.org/10.5281/zenodo.22308007" TargetMode="Externa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hyperlink" Target="https://doi.org/10.5281/zenodo.22308238" TargetMode="External"/><Relationship Id="rId5" Type="http://schemas.openxmlformats.org/officeDocument/2006/relationships/hyperlink" Target="https://doi.org/10.5281/zenodo.22306455" TargetMode="External"/><Relationship Id="rId4" Type="http://schemas.openxmlformats.org/officeDocument/2006/relationships/hyperlink" Target="https://doi.org/10.5281/zenodo.22282068" TargetMode="External"/><Relationship Id="rId9" Type="http://schemas.openxmlformats.org/officeDocument/2006/relationships/hyperlink" Target="https://doi.org/10.5281/zenodo.22307117"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2.jpeg"/><Relationship Id="rId7" Type="http://schemas.openxmlformats.org/officeDocument/2006/relationships/image" Target="../media/image19.svg"/><Relationship Id="rId12" Type="http://schemas.openxmlformats.org/officeDocument/2006/relationships/image" Target="../media/image22.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8.svg"/><Relationship Id="rId11" Type="http://schemas.openxmlformats.org/officeDocument/2006/relationships/image" Target="../media/image57.svg"/><Relationship Id="rId5" Type="http://schemas.openxmlformats.org/officeDocument/2006/relationships/image" Target="../media/image17.svg"/><Relationship Id="rId10" Type="http://schemas.openxmlformats.org/officeDocument/2006/relationships/image" Target="../media/image56.svg"/><Relationship Id="rId4" Type="http://schemas.openxmlformats.org/officeDocument/2006/relationships/image" Target="../media/image3.png"/><Relationship Id="rId9" Type="http://schemas.openxmlformats.org/officeDocument/2006/relationships/image" Target="../media/image21.sv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58.sv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image" Target="../media/image56.svg"/><Relationship Id="rId13" Type="http://schemas.openxmlformats.org/officeDocument/2006/relationships/image" Target="../media/image54.svg"/><Relationship Id="rId18" Type="http://schemas.openxmlformats.org/officeDocument/2006/relationships/image" Target="../media/image34.svg"/><Relationship Id="rId26" Type="http://schemas.openxmlformats.org/officeDocument/2006/relationships/image" Target="../media/image18.svg"/><Relationship Id="rId3" Type="http://schemas.openxmlformats.org/officeDocument/2006/relationships/image" Target="../media/image60.svg"/><Relationship Id="rId21" Type="http://schemas.openxmlformats.org/officeDocument/2006/relationships/image" Target="../media/image27.svg"/><Relationship Id="rId7" Type="http://schemas.openxmlformats.org/officeDocument/2006/relationships/image" Target="../media/image64.svg"/><Relationship Id="rId12" Type="http://schemas.openxmlformats.org/officeDocument/2006/relationships/image" Target="../media/image35.svg"/><Relationship Id="rId17" Type="http://schemas.openxmlformats.org/officeDocument/2006/relationships/image" Target="../media/image33.svg"/><Relationship Id="rId25" Type="http://schemas.openxmlformats.org/officeDocument/2006/relationships/image" Target="../media/image17.svg"/><Relationship Id="rId2" Type="http://schemas.openxmlformats.org/officeDocument/2006/relationships/notesSlide" Target="../notesSlides/notesSlide26.xml"/><Relationship Id="rId16" Type="http://schemas.openxmlformats.org/officeDocument/2006/relationships/image" Target="../media/image32.svg"/><Relationship Id="rId20" Type="http://schemas.openxmlformats.org/officeDocument/2006/relationships/image" Target="../media/image65.svg"/><Relationship Id="rId29" Type="http://schemas.openxmlformats.org/officeDocument/2006/relationships/image" Target="../media/image21.svg"/><Relationship Id="rId1" Type="http://schemas.openxmlformats.org/officeDocument/2006/relationships/slideLayout" Target="../slideLayouts/slideLayout2.xml"/><Relationship Id="rId6" Type="http://schemas.openxmlformats.org/officeDocument/2006/relationships/image" Target="../media/image63.svg"/><Relationship Id="rId11" Type="http://schemas.openxmlformats.org/officeDocument/2006/relationships/image" Target="../media/image44.svg"/><Relationship Id="rId24" Type="http://schemas.openxmlformats.org/officeDocument/2006/relationships/image" Target="../media/image30.svg"/><Relationship Id="rId5" Type="http://schemas.openxmlformats.org/officeDocument/2006/relationships/image" Target="../media/image62.jpeg"/><Relationship Id="rId15" Type="http://schemas.openxmlformats.org/officeDocument/2006/relationships/image" Target="../media/image15.svg"/><Relationship Id="rId23" Type="http://schemas.openxmlformats.org/officeDocument/2006/relationships/image" Target="../media/image29.svg"/><Relationship Id="rId28" Type="http://schemas.openxmlformats.org/officeDocument/2006/relationships/image" Target="../media/image20.svg"/><Relationship Id="rId10" Type="http://schemas.openxmlformats.org/officeDocument/2006/relationships/image" Target="../media/image31.png"/><Relationship Id="rId19" Type="http://schemas.openxmlformats.org/officeDocument/2006/relationships/image" Target="../media/image38.svg"/><Relationship Id="rId31" Type="http://schemas.openxmlformats.org/officeDocument/2006/relationships/image" Target="../media/image3.png"/><Relationship Id="rId4" Type="http://schemas.openxmlformats.org/officeDocument/2006/relationships/image" Target="../media/image61.svg"/><Relationship Id="rId9" Type="http://schemas.openxmlformats.org/officeDocument/2006/relationships/image" Target="../media/image57.svg"/><Relationship Id="rId14" Type="http://schemas.openxmlformats.org/officeDocument/2006/relationships/image" Target="../media/image53.svg"/><Relationship Id="rId22" Type="http://schemas.openxmlformats.org/officeDocument/2006/relationships/image" Target="../media/image28.svg"/><Relationship Id="rId27" Type="http://schemas.openxmlformats.org/officeDocument/2006/relationships/image" Target="../media/image19.svg"/><Relationship Id="rId30"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hyperlink" Target="https://zenodo.org/" TargetMode="Externa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8.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hyperlink" Target="https://lmu-osc.github.io/train-the-trainer-open-research/leadership-open-research/strategies-leadership/" TargetMode="External"/><Relationship Id="rId5" Type="http://schemas.openxmlformats.org/officeDocument/2006/relationships/hyperlink" Target="https://creativecommons.org/licenses/by-sa/4.0/deed.en" TargetMode="Externa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jpeg"/><Relationship Id="rId7" Type="http://schemas.openxmlformats.org/officeDocument/2006/relationships/hyperlink" Target="https://orcid.org/0000-0002-6413-3895"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hyperlink" Target="https://orcid.org/0000-0002-6778-6744" TargetMode="External"/><Relationship Id="rId5" Type="http://schemas.openxmlformats.org/officeDocument/2006/relationships/hyperlink" Target="https://orcid.org/0000-0001-5307-8029" TargetMode="Externa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8" Type="http://schemas.openxmlformats.org/officeDocument/2006/relationships/hyperlink" Target="https://doi.org/10.31222/osf.io/af4nk_v2" TargetMode="External"/><Relationship Id="rId3" Type="http://schemas.openxmlformats.org/officeDocument/2006/relationships/image" Target="../media/image2.jpeg"/><Relationship Id="rId7" Type="http://schemas.openxmlformats.org/officeDocument/2006/relationships/hyperlink" Target="https://lmu-osc.github.io/training/research-cycle-handbook.html"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hyperlink" Target="https://doi.org/10.1177/25152459251357565" TargetMode="External"/><Relationship Id="rId5" Type="http://schemas.openxmlformats.org/officeDocument/2006/relationships/hyperlink" Target="https://cogtales.wordpress.com/2023/04/16/the-buffet-approach-to-open-science/" TargetMode="External"/><Relationship Id="rId10" Type="http://schemas.openxmlformats.org/officeDocument/2006/relationships/hyperlink" Target="https://doi.org/10.1080/00131911.2023.2281227" TargetMode="External"/><Relationship Id="rId4" Type="http://schemas.openxmlformats.org/officeDocument/2006/relationships/image" Target="../media/image3.png"/><Relationship Id="rId9" Type="http://schemas.openxmlformats.org/officeDocument/2006/relationships/hyperlink" Target="https://doi.org/10.5281/zenodo.20700870" TargetMode="External"/></Relationships>
</file>

<file path=ppt/slides/_rels/slide35.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hyperlink" Target="https://reproducibilitea.org/" TargetMode="External"/><Relationship Id="rId3" Type="http://schemas.openxmlformats.org/officeDocument/2006/relationships/image" Target="../media/image2.jpeg"/><Relationship Id="rId7" Type="http://schemas.openxmlformats.org/officeDocument/2006/relationships/image" Target="../media/image71.png"/><Relationship Id="rId12" Type="http://schemas.openxmlformats.org/officeDocument/2006/relationships/hyperlink" Target="https://www.osc.lmu.de/about/join-us.html" TargetMode="External"/><Relationship Id="rId17" Type="http://schemas.openxmlformats.org/officeDocument/2006/relationships/hyperlink" Target="https://rladies.org/about-us/involved/" TargetMode="External"/><Relationship Id="rId2" Type="http://schemas.openxmlformats.org/officeDocument/2006/relationships/notesSlide" Target="../notesSlides/notesSlide34.xml"/><Relationship Id="rId16" Type="http://schemas.openxmlformats.org/officeDocument/2006/relationships/image" Target="../media/image75.org&amp;utm_campaign=index&amp;utm_content=original"/><Relationship Id="rId1" Type="http://schemas.openxmlformats.org/officeDocument/2006/relationships/slideLayout" Target="../slideLayouts/slideLayout2.xml"/><Relationship Id="rId6" Type="http://schemas.openxmlformats.org/officeDocument/2006/relationships/image" Target="../media/image70.jpeg"/><Relationship Id="rId11" Type="http://schemas.openxmlformats.org/officeDocument/2006/relationships/hyperlink" Target="https://www.ukrn.org/global-networks/" TargetMode="External"/><Relationship Id="rId5" Type="http://schemas.openxmlformats.org/officeDocument/2006/relationships/hyperlink" Target="https://forrt.org/about/get-involved/" TargetMode="External"/><Relationship Id="rId15" Type="http://schemas.openxmlformats.org/officeDocument/2006/relationships/hyperlink" Target="https://sortee.org/join/" TargetMode="External"/><Relationship Id="rId10" Type="http://schemas.openxmlformats.org/officeDocument/2006/relationships/image" Target="../media/image74.png"/><Relationship Id="rId4" Type="http://schemas.openxmlformats.org/officeDocument/2006/relationships/image" Target="../media/image3.png"/><Relationship Id="rId9" Type="http://schemas.openxmlformats.org/officeDocument/2006/relationships/image" Target="../media/image73.png"/><Relationship Id="rId14" Type="http://schemas.openxmlformats.org/officeDocument/2006/relationships/hyperlink" Target="https://qualalab.org/contact-us/" TargetMode="External"/></Relationships>
</file>

<file path=ppt/slides/_rels/slide36.xml.rels><?xml version="1.0" encoding="UTF-8" standalone="yes"?>
<Relationships xmlns="http://schemas.openxmlformats.org/package/2006/relationships"><Relationship Id="rId8" Type="http://schemas.openxmlformats.org/officeDocument/2006/relationships/hyperlink" Target="https://figshare.com/" TargetMode="External"/><Relationship Id="rId13" Type="http://schemas.openxmlformats.org/officeDocument/2006/relationships/hyperlink" Target="https://www.osc.lmu.de/news/news/2026-09-29-osf-project-functionality.html" TargetMode="External"/><Relationship Id="rId3" Type="http://schemas.openxmlformats.org/officeDocument/2006/relationships/image" Target="../media/image2.jpeg"/><Relationship Id="rId7" Type="http://schemas.openxmlformats.org/officeDocument/2006/relationships/hyperlink" Target="https://github.com/" TargetMode="External"/><Relationship Id="rId12" Type="http://schemas.openxmlformats.org/officeDocument/2006/relationships/hyperlink" Target="https://help.osf.io/article/735-choosing-a-repository"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hyperlink" Target="https://datadryad.org/" TargetMode="External"/><Relationship Id="rId11" Type="http://schemas.openxmlformats.org/officeDocument/2006/relationships/hyperlink" Target="https://zenodo.org/communities/lmu/about" TargetMode="External"/><Relationship Id="rId5" Type="http://schemas.openxmlformats.org/officeDocument/2006/relationships/hyperlink" Target="https://dataverse.harvard.edu/" TargetMode="External"/><Relationship Id="rId10" Type="http://schemas.openxmlformats.org/officeDocument/2006/relationships/hyperlink" Target="https://zenodo.org/" TargetMode="External"/><Relationship Id="rId4" Type="http://schemas.openxmlformats.org/officeDocument/2006/relationships/image" Target="../media/image3.png"/><Relationship Id="rId9" Type="http://schemas.openxmlformats.org/officeDocument/2006/relationships/hyperlink" Target="https://www.protocols.io/" TargetMode="External"/><Relationship Id="rId14" Type="http://schemas.openxmlformats.org/officeDocument/2006/relationships/hyperlink" Target="https://daniellakens.blogspot.com/2026/08/which-data-repository-should-you-us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D1731-2012-5C67-8060-1BDDFEBE2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C3FCB-9205-7EF2-1FA2-16CCC1E18297}"/>
              </a:ext>
            </a:extLst>
          </p:cNvPr>
          <p:cNvSpPr>
            <a:spLocks noGrp="1"/>
          </p:cNvSpPr>
          <p:nvPr>
            <p:ph type="ctrTitle"/>
          </p:nvPr>
        </p:nvSpPr>
        <p:spPr>
          <a:xfrm>
            <a:off x="87320" y="1706659"/>
            <a:ext cx="9951194" cy="2387600"/>
          </a:xfrm>
        </p:spPr>
        <p:txBody>
          <a:bodyPr>
            <a:normAutofit/>
          </a:bodyPr>
          <a:lstStyle/>
          <a:p>
            <a:pPr algn="l"/>
            <a:r>
              <a:rPr lang="en-GB" dirty="0"/>
              <a:t>Navigating leadership in Open Science: strategies</a:t>
            </a:r>
          </a:p>
        </p:txBody>
      </p:sp>
      <p:sp>
        <p:nvSpPr>
          <p:cNvPr id="15" name="Title 1">
            <a:extLst>
              <a:ext uri="{FF2B5EF4-FFF2-40B4-BE49-F238E27FC236}">
                <a16:creationId xmlns:a16="http://schemas.microsoft.com/office/drawing/2014/main" id="{38B0E148-73E7-DAF6-E78C-59BAA06B2493}"/>
              </a:ext>
            </a:extLst>
          </p:cNvPr>
          <p:cNvSpPr txBox="1">
            <a:spLocks/>
          </p:cNvSpPr>
          <p:nvPr/>
        </p:nvSpPr>
        <p:spPr>
          <a:xfrm>
            <a:off x="0" y="-2796"/>
            <a:ext cx="12192000" cy="1325563"/>
          </a:xfrm>
          <a:prstGeom prst="rect">
            <a:avLst/>
          </a:prstGeom>
          <a:solidFill>
            <a:schemeClr val="accent5">
              <a:alpha val="46955"/>
            </a:schemeClr>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b="1" dirty="0"/>
          </a:p>
        </p:txBody>
      </p:sp>
      <p:sp>
        <p:nvSpPr>
          <p:cNvPr id="18" name="TextBox 17">
            <a:extLst>
              <a:ext uri="{FF2B5EF4-FFF2-40B4-BE49-F238E27FC236}">
                <a16:creationId xmlns:a16="http://schemas.microsoft.com/office/drawing/2014/main" id="{98A32429-D596-7D7A-80A1-7E305AC4AA56}"/>
              </a:ext>
            </a:extLst>
          </p:cNvPr>
          <p:cNvSpPr txBox="1"/>
          <p:nvPr/>
        </p:nvSpPr>
        <p:spPr>
          <a:xfrm>
            <a:off x="3311769" y="4599575"/>
            <a:ext cx="6239020" cy="461665"/>
          </a:xfrm>
          <a:prstGeom prst="rect">
            <a:avLst/>
          </a:prstGeom>
          <a:noFill/>
        </p:spPr>
        <p:txBody>
          <a:bodyPr wrap="square">
            <a:spAutoFit/>
          </a:bodyPr>
          <a:lstStyle/>
          <a:p>
            <a:r>
              <a:rPr lang="en-US" sz="2400" dirty="0"/>
              <a:t>Dr Sara Lil Middleton (she/her)</a:t>
            </a:r>
          </a:p>
        </p:txBody>
      </p:sp>
      <p:pic>
        <p:nvPicPr>
          <p:cNvPr id="3" name="Graphic 2" descr="Route (Two Pins With A Path) with solid fill">
            <a:extLst>
              <a:ext uri="{FF2B5EF4-FFF2-40B4-BE49-F238E27FC236}">
                <a16:creationId xmlns:a16="http://schemas.microsoft.com/office/drawing/2014/main" id="{89AD9442-2926-4A6C-6212-20041D81E8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60513" y="2761558"/>
            <a:ext cx="2156001" cy="2156001"/>
          </a:xfrm>
          <a:prstGeom prst="rect">
            <a:avLst/>
          </a:prstGeom>
        </p:spPr>
      </p:pic>
      <p:grpSp>
        <p:nvGrpSpPr>
          <p:cNvPr id="8" name="Group 7">
            <a:extLst>
              <a:ext uri="{FF2B5EF4-FFF2-40B4-BE49-F238E27FC236}">
                <a16:creationId xmlns:a16="http://schemas.microsoft.com/office/drawing/2014/main" id="{9C51D42E-B7B7-5061-45AE-50D850E040BB}"/>
              </a:ext>
            </a:extLst>
          </p:cNvPr>
          <p:cNvGrpSpPr/>
          <p:nvPr/>
        </p:nvGrpSpPr>
        <p:grpSpPr>
          <a:xfrm>
            <a:off x="9124114" y="5997738"/>
            <a:ext cx="2804651" cy="513745"/>
            <a:chOff x="19317" y="2690018"/>
            <a:chExt cx="11784755" cy="2025180"/>
          </a:xfrm>
        </p:grpSpPr>
        <p:pic>
          <p:nvPicPr>
            <p:cNvPr id="9" name="Picture 2">
              <a:extLst>
                <a:ext uri="{FF2B5EF4-FFF2-40B4-BE49-F238E27FC236}">
                  <a16:creationId xmlns:a16="http://schemas.microsoft.com/office/drawing/2014/main" id="{D72378DB-AD9F-C624-5C32-5111FAD7CF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8C3C1A19-3423-8810-7653-E556E03E46D0}"/>
                </a:ext>
              </a:extLst>
            </p:cNvPr>
            <p:cNvPicPr>
              <a:picLocks noChangeAspect="1"/>
            </p:cNvPicPr>
            <p:nvPr/>
          </p:nvPicPr>
          <p:blipFill>
            <a:blip r:embed="rId5"/>
            <a:stretch>
              <a:fillRect/>
            </a:stretch>
          </p:blipFill>
          <p:spPr>
            <a:xfrm>
              <a:off x="5728531" y="2690018"/>
              <a:ext cx="6075541" cy="2025180"/>
            </a:xfrm>
            <a:prstGeom prst="rect">
              <a:avLst/>
            </a:prstGeom>
          </p:spPr>
        </p:pic>
      </p:grpSp>
    </p:spTree>
    <p:extLst>
      <p:ext uri="{BB962C8B-B14F-4D97-AF65-F5344CB8AC3E}">
        <p14:creationId xmlns:p14="http://schemas.microsoft.com/office/powerpoint/2010/main" val="3443298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0B65F-6723-8456-D62A-85E974A3B216}"/>
              </a:ext>
            </a:extLst>
          </p:cNvPr>
          <p:cNvSpPr>
            <a:spLocks noGrp="1"/>
          </p:cNvSpPr>
          <p:nvPr>
            <p:ph type="title"/>
          </p:nvPr>
        </p:nvSpPr>
        <p:spPr>
          <a:xfrm>
            <a:off x="0" y="1"/>
            <a:ext cx="12192000" cy="925286"/>
          </a:xfrm>
        </p:spPr>
        <p:txBody>
          <a:bodyPr/>
          <a:lstStyle/>
          <a:p>
            <a:r>
              <a:rPr lang="en-US" b="1" dirty="0"/>
              <a:t>Prerequisites</a:t>
            </a:r>
            <a:r>
              <a:rPr lang="en-US" dirty="0"/>
              <a:t> </a:t>
            </a:r>
          </a:p>
        </p:txBody>
      </p:sp>
      <p:sp>
        <p:nvSpPr>
          <p:cNvPr id="3" name="Content Placeholder 2">
            <a:extLst>
              <a:ext uri="{FF2B5EF4-FFF2-40B4-BE49-F238E27FC236}">
                <a16:creationId xmlns:a16="http://schemas.microsoft.com/office/drawing/2014/main" id="{D19DD0AB-67AC-4A27-5D6D-C6B1F8990242}"/>
              </a:ext>
            </a:extLst>
          </p:cNvPr>
          <p:cNvSpPr>
            <a:spLocks noGrp="1"/>
          </p:cNvSpPr>
          <p:nvPr>
            <p:ph idx="1"/>
          </p:nvPr>
        </p:nvSpPr>
        <p:spPr>
          <a:xfrm>
            <a:off x="410816" y="925287"/>
            <a:ext cx="11073331" cy="2659943"/>
          </a:xfrm>
        </p:spPr>
        <p:txBody>
          <a:bodyPr>
            <a:noAutofit/>
          </a:bodyPr>
          <a:lstStyle/>
          <a:p>
            <a:r>
              <a:rPr lang="en-US" sz="2400" dirty="0"/>
              <a:t>A foundational understanding of Open Science practices such as open access, preregistration, where training materials can be found here: </a:t>
            </a:r>
            <a:r>
              <a:rPr lang="en-US" sz="2400" dirty="0">
                <a:hlinkClick r:id="rId3"/>
              </a:rPr>
              <a:t>https://www.osc.lmu.de/training/</a:t>
            </a:r>
            <a:r>
              <a:rPr lang="en-US" sz="2400" dirty="0"/>
              <a:t> </a:t>
            </a:r>
          </a:p>
          <a:p>
            <a:r>
              <a:rPr lang="en-US" sz="2400" dirty="0"/>
              <a:t>Leadership in Open Science: Skills, values and culture (access </a:t>
            </a:r>
            <a:r>
              <a:rPr lang="en-US" sz="2400" dirty="0">
                <a:hlinkClick r:id="rId4"/>
              </a:rPr>
              <a:t>here</a:t>
            </a:r>
            <a:r>
              <a:rPr lang="en-US" sz="2400" dirty="0"/>
              <a:t>)</a:t>
            </a:r>
          </a:p>
          <a:p>
            <a:r>
              <a:rPr lang="en-US" sz="2400" dirty="0"/>
              <a:t>Navigating leadership in Open Science: Challenges (access </a:t>
            </a:r>
            <a:r>
              <a:rPr lang="en-US" sz="2400" dirty="0">
                <a:hlinkClick r:id="rId5"/>
              </a:rPr>
              <a:t>here</a:t>
            </a:r>
            <a:r>
              <a:rPr lang="en-US" sz="2400" dirty="0"/>
              <a:t>)</a:t>
            </a:r>
          </a:p>
          <a:p>
            <a:r>
              <a:rPr lang="en-US" sz="2400" dirty="0"/>
              <a:t>Access to the </a:t>
            </a:r>
            <a:r>
              <a:rPr lang="en-GB" sz="2400" dirty="0"/>
              <a:t>Open Research Workshop Design Workbook </a:t>
            </a:r>
            <a:r>
              <a:rPr lang="en-GB" sz="2400" dirty="0">
                <a:hlinkClick r:id="rId6"/>
              </a:rPr>
              <a:t>https://lmu-osc.github.io/train-the-trainer-open-research/workshop-design-workbook/</a:t>
            </a:r>
            <a:endParaRPr lang="en-GB" sz="2400" dirty="0"/>
          </a:p>
          <a:p>
            <a:r>
              <a:rPr lang="en-GB" sz="2400" dirty="0"/>
              <a:t> Access to Leadership in Open Science case studies</a:t>
            </a:r>
          </a:p>
          <a:p>
            <a:endParaRPr lang="en-US" sz="2400" dirty="0"/>
          </a:p>
          <a:p>
            <a:endParaRPr lang="en-US" sz="2400" dirty="0"/>
          </a:p>
          <a:p>
            <a:endParaRPr lang="en-US" sz="2400" dirty="0"/>
          </a:p>
        </p:txBody>
      </p:sp>
      <p:grpSp>
        <p:nvGrpSpPr>
          <p:cNvPr id="4" name="Group 3">
            <a:extLst>
              <a:ext uri="{FF2B5EF4-FFF2-40B4-BE49-F238E27FC236}">
                <a16:creationId xmlns:a16="http://schemas.microsoft.com/office/drawing/2014/main" id="{51C9200B-9EF4-1187-0368-8E9FC90CC602}"/>
              </a:ext>
            </a:extLst>
          </p:cNvPr>
          <p:cNvGrpSpPr/>
          <p:nvPr/>
        </p:nvGrpSpPr>
        <p:grpSpPr>
          <a:xfrm>
            <a:off x="10704849" y="6564312"/>
            <a:ext cx="1362075" cy="273690"/>
            <a:chOff x="19317" y="2690018"/>
            <a:chExt cx="11784755" cy="2025180"/>
          </a:xfrm>
        </p:grpSpPr>
        <p:pic>
          <p:nvPicPr>
            <p:cNvPr id="5" name="Picture 2">
              <a:extLst>
                <a:ext uri="{FF2B5EF4-FFF2-40B4-BE49-F238E27FC236}">
                  <a16:creationId xmlns:a16="http://schemas.microsoft.com/office/drawing/2014/main" id="{A972B7B0-B031-94C4-898F-43E364E32FC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46A4E0F-9FB8-74B0-79F3-D1FD98812595}"/>
                </a:ext>
              </a:extLst>
            </p:cNvPr>
            <p:cNvPicPr>
              <a:picLocks noChangeAspect="1"/>
            </p:cNvPicPr>
            <p:nvPr/>
          </p:nvPicPr>
          <p:blipFill>
            <a:blip r:embed="rId8"/>
            <a:stretch>
              <a:fillRect/>
            </a:stretch>
          </p:blipFill>
          <p:spPr>
            <a:xfrm>
              <a:off x="5728531" y="2690018"/>
              <a:ext cx="6075541" cy="2025180"/>
            </a:xfrm>
            <a:prstGeom prst="rect">
              <a:avLst/>
            </a:prstGeom>
          </p:spPr>
        </p:pic>
      </p:grpSp>
      <p:sp>
        <p:nvSpPr>
          <p:cNvPr id="7" name="Slide Number Placeholder 1">
            <a:extLst>
              <a:ext uri="{FF2B5EF4-FFF2-40B4-BE49-F238E27FC236}">
                <a16:creationId xmlns:a16="http://schemas.microsoft.com/office/drawing/2014/main" id="{7ED380A9-88EA-4221-B3D2-E4C927A758B9}"/>
              </a:ext>
            </a:extLst>
          </p:cNvPr>
          <p:cNvSpPr>
            <a:spLocks noGrp="1"/>
          </p:cNvSpPr>
          <p:nvPr>
            <p:ph type="sldNum" sz="quarter" idx="12"/>
          </p:nvPr>
        </p:nvSpPr>
        <p:spPr>
          <a:xfrm>
            <a:off x="8610600" y="6356350"/>
            <a:ext cx="2743200" cy="365125"/>
          </a:xfrm>
        </p:spPr>
        <p:txBody>
          <a:bodyPr/>
          <a:lstStyle/>
          <a:p>
            <a:fld id="{D292B180-B274-DE43-B36F-C827C7616C05}" type="slidenum">
              <a:rPr lang="en-US" smtClean="0"/>
              <a:t>2</a:t>
            </a:fld>
            <a:endParaRPr lang="en-US"/>
          </a:p>
        </p:txBody>
      </p:sp>
      <p:sp>
        <p:nvSpPr>
          <p:cNvPr id="8" name="TextBox 7">
            <a:extLst>
              <a:ext uri="{FF2B5EF4-FFF2-40B4-BE49-F238E27FC236}">
                <a16:creationId xmlns:a16="http://schemas.microsoft.com/office/drawing/2014/main" id="{A54600BD-0FEA-B71C-27FC-DF04CA3163CD}"/>
              </a:ext>
            </a:extLst>
          </p:cNvPr>
          <p:cNvSpPr txBox="1"/>
          <p:nvPr/>
        </p:nvSpPr>
        <p:spPr>
          <a:xfrm>
            <a:off x="559334" y="4324152"/>
            <a:ext cx="11073331" cy="1938992"/>
          </a:xfrm>
          <a:prstGeom prst="rect">
            <a:avLst/>
          </a:prstGeom>
          <a:solidFill>
            <a:schemeClr val="bg1">
              <a:lumMod val="65000"/>
              <a:alpha val="52000"/>
            </a:schemeClr>
          </a:solidFill>
        </p:spPr>
        <p:txBody>
          <a:bodyPr wrap="square">
            <a:spAutoFit/>
          </a:bodyPr>
          <a:lstStyle/>
          <a:p>
            <a:r>
              <a:rPr lang="en-US" sz="2400" b="1" dirty="0"/>
              <a:t>Note:</a:t>
            </a:r>
          </a:p>
          <a:p>
            <a:r>
              <a:rPr lang="en-US" sz="2400" dirty="0"/>
              <a:t>These training materials form part of three sessions on leadership in Open Science:</a:t>
            </a:r>
          </a:p>
          <a:p>
            <a:pPr marL="457200" indent="-457200">
              <a:buFont typeface="+mj-lt"/>
              <a:buAutoNum type="arabicPeriod"/>
            </a:pPr>
            <a:r>
              <a:rPr lang="en-US" sz="2400" dirty="0"/>
              <a:t>Skills, values and culture (access </a:t>
            </a:r>
            <a:r>
              <a:rPr lang="en-US" sz="2400" dirty="0">
                <a:hlinkClick r:id="rId4"/>
              </a:rPr>
              <a:t>here</a:t>
            </a:r>
            <a:r>
              <a:rPr lang="en-US" sz="2400" dirty="0"/>
              <a:t>)</a:t>
            </a:r>
          </a:p>
          <a:p>
            <a:pPr marL="457200" indent="-457200">
              <a:buFont typeface="+mj-lt"/>
              <a:buAutoNum type="arabicPeriod"/>
            </a:pPr>
            <a:r>
              <a:rPr lang="en-US" sz="2400" dirty="0"/>
              <a:t>Challenges (access </a:t>
            </a:r>
            <a:r>
              <a:rPr lang="en-US" sz="2400" dirty="0">
                <a:hlinkClick r:id="rId5"/>
              </a:rPr>
              <a:t>here</a:t>
            </a:r>
            <a:r>
              <a:rPr lang="en-US" sz="2400" dirty="0"/>
              <a:t>)</a:t>
            </a:r>
          </a:p>
          <a:p>
            <a:pPr marL="457200" indent="-457200">
              <a:buFont typeface="+mj-lt"/>
              <a:buAutoNum type="arabicPeriod"/>
            </a:pPr>
            <a:r>
              <a:rPr lang="en-US" sz="2400" dirty="0"/>
              <a:t>Strategies (current session)</a:t>
            </a:r>
          </a:p>
        </p:txBody>
      </p:sp>
    </p:spTree>
    <p:extLst>
      <p:ext uri="{BB962C8B-B14F-4D97-AF65-F5344CB8AC3E}">
        <p14:creationId xmlns:p14="http://schemas.microsoft.com/office/powerpoint/2010/main" val="2468447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9FF9C-7852-FFAE-9DFB-83577B573CAF}"/>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D414931A-0E10-9B8D-37D7-A9FBB8CC7541}"/>
              </a:ext>
            </a:extLst>
          </p:cNvPr>
          <p:cNvGrpSpPr/>
          <p:nvPr/>
        </p:nvGrpSpPr>
        <p:grpSpPr>
          <a:xfrm>
            <a:off x="10704849" y="6564312"/>
            <a:ext cx="1362075" cy="273690"/>
            <a:chOff x="19317" y="2690018"/>
            <a:chExt cx="11784755" cy="2025180"/>
          </a:xfrm>
        </p:grpSpPr>
        <p:pic>
          <p:nvPicPr>
            <p:cNvPr id="6" name="Picture 2">
              <a:extLst>
                <a:ext uri="{FF2B5EF4-FFF2-40B4-BE49-F238E27FC236}">
                  <a16:creationId xmlns:a16="http://schemas.microsoft.com/office/drawing/2014/main" id="{3D795128-7345-25AD-2764-4A34D5A5F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BAA9AD5-98EB-0C53-F3E4-1A5064513ACD}"/>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8" name="Title 1">
            <a:extLst>
              <a:ext uri="{FF2B5EF4-FFF2-40B4-BE49-F238E27FC236}">
                <a16:creationId xmlns:a16="http://schemas.microsoft.com/office/drawing/2014/main" id="{AC0ADB21-AD84-D9EA-561E-2FDC3136F1E6}"/>
              </a:ext>
            </a:extLst>
          </p:cNvPr>
          <p:cNvSpPr txBox="1">
            <a:spLocks/>
          </p:cNvSpPr>
          <p:nvPr/>
        </p:nvSpPr>
        <p:spPr>
          <a:xfrm>
            <a:off x="0" y="1"/>
            <a:ext cx="12192000" cy="83099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Survey</a:t>
            </a:r>
          </a:p>
        </p:txBody>
      </p:sp>
      <p:sp>
        <p:nvSpPr>
          <p:cNvPr id="9" name="Slide Number Placeholder 1">
            <a:extLst>
              <a:ext uri="{FF2B5EF4-FFF2-40B4-BE49-F238E27FC236}">
                <a16:creationId xmlns:a16="http://schemas.microsoft.com/office/drawing/2014/main" id="{B64D38C4-D7EE-FE04-40F2-B4F3D90AE9CE}"/>
              </a:ext>
            </a:extLst>
          </p:cNvPr>
          <p:cNvSpPr>
            <a:spLocks noGrp="1"/>
          </p:cNvSpPr>
          <p:nvPr>
            <p:ph type="sldNum" sz="quarter" idx="12"/>
          </p:nvPr>
        </p:nvSpPr>
        <p:spPr>
          <a:xfrm>
            <a:off x="8610600" y="6356350"/>
            <a:ext cx="2743200" cy="365125"/>
          </a:xfrm>
        </p:spPr>
        <p:txBody>
          <a:bodyPr/>
          <a:lstStyle/>
          <a:p>
            <a:fld id="{D292B180-B274-DE43-B36F-C827C7616C05}" type="slidenum">
              <a:rPr lang="en-US" smtClean="0"/>
              <a:t>3</a:t>
            </a:fld>
            <a:endParaRPr lang="en-US"/>
          </a:p>
        </p:txBody>
      </p:sp>
      <p:sp>
        <p:nvSpPr>
          <p:cNvPr id="11" name="TextBox 10">
            <a:extLst>
              <a:ext uri="{FF2B5EF4-FFF2-40B4-BE49-F238E27FC236}">
                <a16:creationId xmlns:a16="http://schemas.microsoft.com/office/drawing/2014/main" id="{72E8F6CD-2EAE-AA77-95F7-1585816877ED}"/>
              </a:ext>
            </a:extLst>
          </p:cNvPr>
          <p:cNvSpPr txBox="1"/>
          <p:nvPr/>
        </p:nvSpPr>
        <p:spPr>
          <a:xfrm>
            <a:off x="568652" y="2834874"/>
            <a:ext cx="10459279" cy="830997"/>
          </a:xfrm>
          <a:prstGeom prst="rect">
            <a:avLst/>
          </a:prstGeom>
          <a:noFill/>
        </p:spPr>
        <p:txBody>
          <a:bodyPr wrap="square">
            <a:spAutoFit/>
          </a:bodyPr>
          <a:lstStyle/>
          <a:p>
            <a:r>
              <a:rPr lang="en-US" sz="2400" dirty="0"/>
              <a:t>1. </a:t>
            </a:r>
            <a:r>
              <a:rPr lang="en-GB" sz="2400" dirty="0">
                <a:effectLst/>
              </a:rPr>
              <a:t>use effective strategies to address challenges within Open Science?</a:t>
            </a:r>
            <a:endParaRPr lang="en-GB" sz="2400" b="0" dirty="0">
              <a:effectLst/>
              <a:latin typeface="Calibri" panose="020F0502020204030204" pitchFamily="34" charset="0"/>
            </a:endParaRPr>
          </a:p>
          <a:p>
            <a:endParaRPr lang="en-US" sz="2400" dirty="0"/>
          </a:p>
        </p:txBody>
      </p:sp>
      <p:sp>
        <p:nvSpPr>
          <p:cNvPr id="12" name="TextBox 11">
            <a:extLst>
              <a:ext uri="{FF2B5EF4-FFF2-40B4-BE49-F238E27FC236}">
                <a16:creationId xmlns:a16="http://schemas.microsoft.com/office/drawing/2014/main" id="{5EEE5848-2949-DA0A-3773-8E19D56DD38D}"/>
              </a:ext>
            </a:extLst>
          </p:cNvPr>
          <p:cNvSpPr txBox="1"/>
          <p:nvPr/>
        </p:nvSpPr>
        <p:spPr>
          <a:xfrm>
            <a:off x="568652" y="1730536"/>
            <a:ext cx="5386090" cy="830997"/>
          </a:xfrm>
          <a:prstGeom prst="rect">
            <a:avLst/>
          </a:prstGeom>
          <a:noFill/>
        </p:spPr>
        <p:txBody>
          <a:bodyPr wrap="none" rtlCol="0">
            <a:spAutoFit/>
          </a:bodyPr>
          <a:lstStyle/>
          <a:p>
            <a:r>
              <a:rPr lang="en-US" sz="2400" dirty="0"/>
              <a:t>How confident are you in your ability to:</a:t>
            </a:r>
          </a:p>
          <a:p>
            <a:r>
              <a:rPr lang="en-US" sz="2400" dirty="0"/>
              <a:t> </a:t>
            </a:r>
          </a:p>
        </p:txBody>
      </p:sp>
      <p:sp>
        <p:nvSpPr>
          <p:cNvPr id="13" name="TextBox 12">
            <a:extLst>
              <a:ext uri="{FF2B5EF4-FFF2-40B4-BE49-F238E27FC236}">
                <a16:creationId xmlns:a16="http://schemas.microsoft.com/office/drawing/2014/main" id="{08D64B3B-8A27-0307-2D44-B1DFC3FF814F}"/>
              </a:ext>
            </a:extLst>
          </p:cNvPr>
          <p:cNvSpPr txBox="1"/>
          <p:nvPr/>
        </p:nvSpPr>
        <p:spPr>
          <a:xfrm>
            <a:off x="568652" y="2192201"/>
            <a:ext cx="9165009" cy="369332"/>
          </a:xfrm>
          <a:prstGeom prst="rect">
            <a:avLst/>
          </a:prstGeom>
          <a:noFill/>
        </p:spPr>
        <p:txBody>
          <a:bodyPr wrap="none" rtlCol="0">
            <a:spAutoFit/>
          </a:bodyPr>
          <a:lstStyle/>
          <a:p>
            <a:r>
              <a:rPr lang="en-US" i="1" dirty="0"/>
              <a:t>0 = not confident at all, 1 = mostly not confident, 2 = somewhat confident, 3 = very confident</a:t>
            </a:r>
          </a:p>
        </p:txBody>
      </p:sp>
    </p:spTree>
    <p:extLst>
      <p:ext uri="{BB962C8B-B14F-4D97-AF65-F5344CB8AC3E}">
        <p14:creationId xmlns:p14="http://schemas.microsoft.com/office/powerpoint/2010/main" val="3432345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4F707-BFED-67FB-8FF3-6628E49CA476}"/>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6678E0CE-BBFC-1AE1-CF7B-0F882E8DDC31}"/>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37A82D2E-BF89-5256-EF0A-2944E3EE3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8A23723-1193-B0C1-0292-AEF1AF871843}"/>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1DE9F578-9842-CFCA-D3A9-15A67D51DEF6}"/>
              </a:ext>
            </a:extLst>
          </p:cNvPr>
          <p:cNvSpPr txBox="1">
            <a:spLocks/>
          </p:cNvSpPr>
          <p:nvPr/>
        </p:nvSpPr>
        <p:spPr>
          <a:xfrm>
            <a:off x="0" y="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Session goals</a:t>
            </a:r>
          </a:p>
        </p:txBody>
      </p:sp>
      <p:sp>
        <p:nvSpPr>
          <p:cNvPr id="2" name="Slide Number Placeholder 1">
            <a:extLst>
              <a:ext uri="{FF2B5EF4-FFF2-40B4-BE49-F238E27FC236}">
                <a16:creationId xmlns:a16="http://schemas.microsoft.com/office/drawing/2014/main" id="{8F843763-EEDB-B93B-A47A-16B058AFE237}"/>
              </a:ext>
            </a:extLst>
          </p:cNvPr>
          <p:cNvSpPr>
            <a:spLocks noGrp="1"/>
          </p:cNvSpPr>
          <p:nvPr>
            <p:ph type="sldNum" sz="quarter" idx="12"/>
          </p:nvPr>
        </p:nvSpPr>
        <p:spPr/>
        <p:txBody>
          <a:bodyPr/>
          <a:lstStyle/>
          <a:p>
            <a:fld id="{D292B180-B274-DE43-B36F-C827C7616C05}" type="slidenum">
              <a:rPr lang="en-US" smtClean="0"/>
              <a:t>4</a:t>
            </a:fld>
            <a:endParaRPr lang="en-US"/>
          </a:p>
        </p:txBody>
      </p:sp>
      <p:pic>
        <p:nvPicPr>
          <p:cNvPr id="4" name="Graphic 3" descr="Bullseye with solid fill">
            <a:extLst>
              <a:ext uri="{FF2B5EF4-FFF2-40B4-BE49-F238E27FC236}">
                <a16:creationId xmlns:a16="http://schemas.microsoft.com/office/drawing/2014/main" id="{D5209189-3302-74C5-85C3-DCC831DD6E1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33460" y="1909189"/>
            <a:ext cx="2743200" cy="2743200"/>
          </a:xfrm>
          <a:prstGeom prst="rect">
            <a:avLst/>
          </a:prstGeom>
        </p:spPr>
      </p:pic>
      <p:sp>
        <p:nvSpPr>
          <p:cNvPr id="9" name="TextBox 8">
            <a:extLst>
              <a:ext uri="{FF2B5EF4-FFF2-40B4-BE49-F238E27FC236}">
                <a16:creationId xmlns:a16="http://schemas.microsoft.com/office/drawing/2014/main" id="{235FBF69-6769-029E-761C-6DEEC1F2154A}"/>
              </a:ext>
            </a:extLst>
          </p:cNvPr>
          <p:cNvSpPr txBox="1"/>
          <p:nvPr/>
        </p:nvSpPr>
        <p:spPr>
          <a:xfrm>
            <a:off x="319540" y="2090172"/>
            <a:ext cx="7353470" cy="3046988"/>
          </a:xfrm>
          <a:prstGeom prst="rect">
            <a:avLst/>
          </a:prstGeom>
          <a:noFill/>
        </p:spPr>
        <p:txBody>
          <a:bodyPr wrap="square">
            <a:spAutoFit/>
          </a:bodyPr>
          <a:lstStyle/>
          <a:p>
            <a:r>
              <a:rPr lang="en-GB" sz="2400" b="1" i="0" u="none" strike="noStrike" dirty="0">
                <a:solidFill>
                  <a:srgbClr val="000000"/>
                </a:solidFill>
                <a:effectLst/>
                <a:latin typeface="Calibri" panose="020F0502020204030204" pitchFamily="34" charset="0"/>
              </a:rPr>
              <a:t>Examine </a:t>
            </a:r>
            <a:r>
              <a:rPr lang="en-GB" sz="2400" i="0" u="none" strike="noStrike" dirty="0">
                <a:solidFill>
                  <a:srgbClr val="000000"/>
                </a:solidFill>
                <a:effectLst/>
                <a:latin typeface="Calibri" panose="020F0502020204030204" pitchFamily="34" charset="0"/>
              </a:rPr>
              <a:t>approaches </a:t>
            </a:r>
            <a:r>
              <a:rPr lang="en-GB" sz="2400" dirty="0">
                <a:solidFill>
                  <a:srgbClr val="000000"/>
                </a:solidFill>
                <a:latin typeface="Calibri" panose="020F0502020204030204" pitchFamily="34" charset="0"/>
              </a:rPr>
              <a:t>to addressing challenges in Open Science from</a:t>
            </a:r>
            <a:r>
              <a:rPr lang="en-GB" sz="2400" b="1" i="0" u="none" strike="noStrike" dirty="0">
                <a:solidFill>
                  <a:srgbClr val="000000"/>
                </a:solidFill>
                <a:effectLst/>
                <a:latin typeface="Calibri" panose="020F0502020204030204" pitchFamily="34" charset="0"/>
              </a:rPr>
              <a:t> </a:t>
            </a:r>
            <a:r>
              <a:rPr lang="en-GB" sz="2400" i="0" u="none" strike="noStrike" dirty="0">
                <a:solidFill>
                  <a:srgbClr val="000000"/>
                </a:solidFill>
                <a:effectLst/>
                <a:latin typeface="Calibri" panose="020F0502020204030204" pitchFamily="34" charset="0"/>
              </a:rPr>
              <a:t>multipl</a:t>
            </a:r>
            <a:r>
              <a:rPr lang="en-GB" sz="2400" dirty="0">
                <a:solidFill>
                  <a:srgbClr val="000000"/>
                </a:solidFill>
                <a:latin typeface="Calibri" panose="020F0502020204030204" pitchFamily="34" charset="0"/>
              </a:rPr>
              <a:t>e perspectives to increase breadth of knowledge.</a:t>
            </a:r>
            <a:br>
              <a:rPr lang="en-GB" sz="2400" dirty="0"/>
            </a:br>
            <a:endParaRPr lang="en-GB" sz="2400" dirty="0"/>
          </a:p>
          <a:p>
            <a:r>
              <a:rPr lang="en-GB" sz="2400" b="1" i="0" u="none" strike="noStrike" dirty="0">
                <a:solidFill>
                  <a:srgbClr val="000000"/>
                </a:solidFill>
                <a:effectLst/>
                <a:latin typeface="Calibri" panose="020F0502020204030204" pitchFamily="34" charset="0"/>
              </a:rPr>
              <a:t>Discuss </a:t>
            </a:r>
            <a:r>
              <a:rPr lang="en-GB" sz="2400" i="0" u="none" strike="noStrike" dirty="0">
                <a:solidFill>
                  <a:srgbClr val="000000"/>
                </a:solidFill>
                <a:effectLst/>
                <a:latin typeface="Calibri" panose="020F0502020204030204" pitchFamily="34" charset="0"/>
              </a:rPr>
              <a:t>and</a:t>
            </a:r>
            <a:r>
              <a:rPr lang="en-GB" sz="2400" b="1" i="0" u="none" strike="noStrike" dirty="0">
                <a:solidFill>
                  <a:srgbClr val="000000"/>
                </a:solidFill>
                <a:effectLst/>
                <a:latin typeface="Calibri" panose="020F0502020204030204" pitchFamily="34" charset="0"/>
              </a:rPr>
              <a:t> propose</a:t>
            </a:r>
            <a:r>
              <a:rPr lang="en-GB" sz="2400" b="0" i="0" u="none" strike="noStrike" dirty="0">
                <a:solidFill>
                  <a:srgbClr val="000000"/>
                </a:solidFill>
                <a:effectLst/>
                <a:latin typeface="Calibri" panose="020F0502020204030204" pitchFamily="34" charset="0"/>
              </a:rPr>
              <a:t> actionable and equitable strategies to address challenges in Open Science as a way to </a:t>
            </a:r>
            <a:r>
              <a:rPr lang="en-GB" sz="2400" b="1" dirty="0">
                <a:solidFill>
                  <a:srgbClr val="000000"/>
                </a:solidFill>
                <a:latin typeface="Calibri" panose="020F0502020204030204" pitchFamily="34" charset="0"/>
              </a:rPr>
              <a:t>relate</a:t>
            </a:r>
            <a:r>
              <a:rPr lang="en-GB" sz="2400" dirty="0">
                <a:solidFill>
                  <a:srgbClr val="000000"/>
                </a:solidFill>
                <a:latin typeface="Calibri" panose="020F0502020204030204" pitchFamily="34" charset="0"/>
              </a:rPr>
              <a:t> to own leadership contexts</a:t>
            </a:r>
            <a:r>
              <a:rPr lang="en-GB" sz="2400" b="0" i="0" u="none" strike="noStrike" dirty="0">
                <a:solidFill>
                  <a:srgbClr val="000000"/>
                </a:solidFill>
                <a:effectLst/>
                <a:latin typeface="Calibri" panose="020F0502020204030204" pitchFamily="34" charset="0"/>
              </a:rPr>
              <a:t> and build up collective problem-solving skills.</a:t>
            </a:r>
            <a:endParaRPr lang="en-GB" sz="2400" dirty="0">
              <a:effectLst/>
            </a:endParaRPr>
          </a:p>
        </p:txBody>
      </p:sp>
    </p:spTree>
    <p:extLst>
      <p:ext uri="{BB962C8B-B14F-4D97-AF65-F5344CB8AC3E}">
        <p14:creationId xmlns:p14="http://schemas.microsoft.com/office/powerpoint/2010/main" val="1896947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D7518-BD14-3D43-640D-9744012A5EA6}"/>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42BA9FF7-420C-BBC4-BF47-DF6E6E48DC26}"/>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BE508669-5B08-3C52-2068-2E5CE88ED7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C9713FE9-7156-F616-59D3-FF98872DA860}"/>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4283AFF0-9F78-98DA-1FD9-32919267DF70}"/>
              </a:ext>
            </a:extLst>
          </p:cNvPr>
          <p:cNvSpPr txBox="1">
            <a:spLocks/>
          </p:cNvSpPr>
          <p:nvPr/>
        </p:nvSpPr>
        <p:spPr>
          <a:xfrm>
            <a:off x="0" y="-26541"/>
            <a:ext cx="9051235" cy="812816"/>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Quick recap</a:t>
            </a:r>
          </a:p>
        </p:txBody>
      </p:sp>
      <p:sp>
        <p:nvSpPr>
          <p:cNvPr id="16" name="TextBox 15">
            <a:extLst>
              <a:ext uri="{FF2B5EF4-FFF2-40B4-BE49-F238E27FC236}">
                <a16:creationId xmlns:a16="http://schemas.microsoft.com/office/drawing/2014/main" id="{E597FC65-6731-9634-6FE6-CB432B195D8E}"/>
              </a:ext>
            </a:extLst>
          </p:cNvPr>
          <p:cNvSpPr txBox="1"/>
          <p:nvPr/>
        </p:nvSpPr>
        <p:spPr>
          <a:xfrm>
            <a:off x="171689" y="818010"/>
            <a:ext cx="3560052" cy="1200329"/>
          </a:xfrm>
          <a:prstGeom prst="rect">
            <a:avLst/>
          </a:prstGeom>
          <a:noFill/>
        </p:spPr>
        <p:txBody>
          <a:bodyPr wrap="square" rtlCol="0">
            <a:spAutoFit/>
          </a:bodyPr>
          <a:lstStyle/>
          <a:p>
            <a:r>
              <a:rPr lang="en-US" sz="2400" dirty="0"/>
              <a:t>Looked at </a:t>
            </a:r>
            <a:r>
              <a:rPr lang="en-US" sz="2400" b="1" dirty="0"/>
              <a:t>what</a:t>
            </a:r>
            <a:r>
              <a:rPr lang="en-US" sz="2400" dirty="0"/>
              <a:t> and </a:t>
            </a:r>
            <a:r>
              <a:rPr lang="en-US" sz="2400" b="1" dirty="0"/>
              <a:t>why</a:t>
            </a:r>
            <a:r>
              <a:rPr lang="en-US" sz="2400" dirty="0"/>
              <a:t> of some challenges in Open Science</a:t>
            </a:r>
          </a:p>
        </p:txBody>
      </p:sp>
      <p:grpSp>
        <p:nvGrpSpPr>
          <p:cNvPr id="29" name="Group 28">
            <a:extLst>
              <a:ext uri="{FF2B5EF4-FFF2-40B4-BE49-F238E27FC236}">
                <a16:creationId xmlns:a16="http://schemas.microsoft.com/office/drawing/2014/main" id="{194B1E41-5A48-D9E3-055E-85E9B18DC468}"/>
              </a:ext>
            </a:extLst>
          </p:cNvPr>
          <p:cNvGrpSpPr/>
          <p:nvPr/>
        </p:nvGrpSpPr>
        <p:grpSpPr>
          <a:xfrm>
            <a:off x="643752" y="2036908"/>
            <a:ext cx="1808199" cy="4684567"/>
            <a:chOff x="7370922" y="1475863"/>
            <a:chExt cx="1808199" cy="4684567"/>
          </a:xfrm>
        </p:grpSpPr>
        <p:pic>
          <p:nvPicPr>
            <p:cNvPr id="17" name="Graphic 16" descr="Stopwatch 75% with solid fill">
              <a:extLst>
                <a:ext uri="{FF2B5EF4-FFF2-40B4-BE49-F238E27FC236}">
                  <a16:creationId xmlns:a16="http://schemas.microsoft.com/office/drawing/2014/main" id="{7CEA41CB-AE59-BFFD-60DC-2D2B322750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77120" y="1475863"/>
              <a:ext cx="684015" cy="655828"/>
            </a:xfrm>
            <a:prstGeom prst="rect">
              <a:avLst/>
            </a:prstGeom>
          </p:spPr>
        </p:pic>
        <p:pic>
          <p:nvPicPr>
            <p:cNvPr id="18" name="Graphic 17" descr="Medal with solid fill">
              <a:extLst>
                <a:ext uri="{FF2B5EF4-FFF2-40B4-BE49-F238E27FC236}">
                  <a16:creationId xmlns:a16="http://schemas.microsoft.com/office/drawing/2014/main" id="{36F74FEC-32DA-B759-6D25-A4D17F9AA8D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39208" y="2131691"/>
              <a:ext cx="684015" cy="655828"/>
            </a:xfrm>
            <a:prstGeom prst="rect">
              <a:avLst/>
            </a:prstGeom>
          </p:spPr>
        </p:pic>
        <p:pic>
          <p:nvPicPr>
            <p:cNvPr id="19" name="Graphic 18" descr="Tired face with solid fill with solid fill">
              <a:extLst>
                <a:ext uri="{FF2B5EF4-FFF2-40B4-BE49-F238E27FC236}">
                  <a16:creationId xmlns:a16="http://schemas.microsoft.com/office/drawing/2014/main" id="{9A86B012-4426-CA1A-7DD0-F0060E2723E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70922" y="1527242"/>
              <a:ext cx="640290" cy="613905"/>
            </a:xfrm>
            <a:prstGeom prst="rect">
              <a:avLst/>
            </a:prstGeom>
          </p:spPr>
        </p:pic>
        <p:pic>
          <p:nvPicPr>
            <p:cNvPr id="20" name="Graphic 19" descr="No Touch with solid fill">
              <a:extLst>
                <a:ext uri="{FF2B5EF4-FFF2-40B4-BE49-F238E27FC236}">
                  <a16:creationId xmlns:a16="http://schemas.microsoft.com/office/drawing/2014/main" id="{CB91A935-F9C9-26B1-A577-16902E788F0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67220" y="3769968"/>
              <a:ext cx="684015" cy="655827"/>
            </a:xfrm>
            <a:prstGeom prst="rect">
              <a:avLst/>
            </a:prstGeom>
          </p:spPr>
        </p:pic>
        <p:pic>
          <p:nvPicPr>
            <p:cNvPr id="21" name="Graphic 20" descr="Normal Distribution with solid fill">
              <a:extLst>
                <a:ext uri="{FF2B5EF4-FFF2-40B4-BE49-F238E27FC236}">
                  <a16:creationId xmlns:a16="http://schemas.microsoft.com/office/drawing/2014/main" id="{3B25CF10-A226-A782-094A-C9B1A5BE1C4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13700" y="2761106"/>
              <a:ext cx="865421" cy="1008862"/>
            </a:xfrm>
            <a:prstGeom prst="rect">
              <a:avLst/>
            </a:prstGeom>
          </p:spPr>
        </p:pic>
        <p:pic>
          <p:nvPicPr>
            <p:cNvPr id="22" name="Graphic 21" descr="Books with solid fill">
              <a:extLst>
                <a:ext uri="{FF2B5EF4-FFF2-40B4-BE49-F238E27FC236}">
                  <a16:creationId xmlns:a16="http://schemas.microsoft.com/office/drawing/2014/main" id="{CDEC0186-5899-7A5A-DC78-32CFB251610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43647" y="2215205"/>
              <a:ext cx="640290" cy="613905"/>
            </a:xfrm>
            <a:prstGeom prst="rect">
              <a:avLst/>
            </a:prstGeom>
          </p:spPr>
        </p:pic>
        <p:pic>
          <p:nvPicPr>
            <p:cNvPr id="23" name="Graphic 22" descr="Care with solid fill">
              <a:extLst>
                <a:ext uri="{FF2B5EF4-FFF2-40B4-BE49-F238E27FC236}">
                  <a16:creationId xmlns:a16="http://schemas.microsoft.com/office/drawing/2014/main" id="{B8B13979-20E0-2A85-75FC-8128EDF3AFE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427135" y="2969638"/>
              <a:ext cx="640290" cy="613905"/>
            </a:xfrm>
            <a:prstGeom prst="rect">
              <a:avLst/>
            </a:prstGeom>
          </p:spPr>
        </p:pic>
        <p:pic>
          <p:nvPicPr>
            <p:cNvPr id="24" name="Graphic 23" descr="Spinning Plates with solid fill">
              <a:extLst>
                <a:ext uri="{FF2B5EF4-FFF2-40B4-BE49-F238E27FC236}">
                  <a16:creationId xmlns:a16="http://schemas.microsoft.com/office/drawing/2014/main" id="{E9FA17CF-2A3D-ACC4-D02F-AE4599E51A8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41597" y="4576680"/>
              <a:ext cx="767527" cy="735898"/>
            </a:xfrm>
            <a:prstGeom prst="rect">
              <a:avLst/>
            </a:prstGeom>
          </p:spPr>
        </p:pic>
        <p:pic>
          <p:nvPicPr>
            <p:cNvPr id="25" name="Graphic 24" descr="Coins with solid fill">
              <a:extLst>
                <a:ext uri="{FF2B5EF4-FFF2-40B4-BE49-F238E27FC236}">
                  <a16:creationId xmlns:a16="http://schemas.microsoft.com/office/drawing/2014/main" id="{FE31D72B-4463-04A2-8FA3-181D828C20E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450270" y="3868124"/>
              <a:ext cx="640289" cy="613904"/>
            </a:xfrm>
            <a:prstGeom prst="rect">
              <a:avLst/>
            </a:prstGeom>
          </p:spPr>
        </p:pic>
        <p:pic>
          <p:nvPicPr>
            <p:cNvPr id="26" name="Graphic 25" descr="Plug with solid fill">
              <a:extLst>
                <a:ext uri="{FF2B5EF4-FFF2-40B4-BE49-F238E27FC236}">
                  <a16:creationId xmlns:a16="http://schemas.microsoft.com/office/drawing/2014/main" id="{81FBC217-D7D9-895E-1948-036AE102F46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577436" y="5410803"/>
              <a:ext cx="640289" cy="613904"/>
            </a:xfrm>
            <a:prstGeom prst="rect">
              <a:avLst/>
            </a:prstGeom>
          </p:spPr>
        </p:pic>
        <p:pic>
          <p:nvPicPr>
            <p:cNvPr id="27" name="Graphic 26" descr="Weights Uneven with solid fill">
              <a:extLst>
                <a:ext uri="{FF2B5EF4-FFF2-40B4-BE49-F238E27FC236}">
                  <a16:creationId xmlns:a16="http://schemas.microsoft.com/office/drawing/2014/main" id="{3BCEA7ED-5B61-A5A7-04CD-B44E4E64C31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392820" y="5490900"/>
              <a:ext cx="738262" cy="669530"/>
            </a:xfrm>
            <a:prstGeom prst="rect">
              <a:avLst/>
            </a:prstGeom>
          </p:spPr>
        </p:pic>
        <p:pic>
          <p:nvPicPr>
            <p:cNvPr id="28" name="Graphic 27" descr="Briefcase with solid fill">
              <a:extLst>
                <a:ext uri="{FF2B5EF4-FFF2-40B4-BE49-F238E27FC236}">
                  <a16:creationId xmlns:a16="http://schemas.microsoft.com/office/drawing/2014/main" id="{FB39E079-1540-11C3-36BD-3AFDF6F79F6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540039" y="4669305"/>
              <a:ext cx="640289" cy="613904"/>
            </a:xfrm>
            <a:prstGeom prst="rect">
              <a:avLst/>
            </a:prstGeom>
          </p:spPr>
        </p:pic>
      </p:grpSp>
      <p:sp>
        <p:nvSpPr>
          <p:cNvPr id="32" name="TextBox 31">
            <a:extLst>
              <a:ext uri="{FF2B5EF4-FFF2-40B4-BE49-F238E27FC236}">
                <a16:creationId xmlns:a16="http://schemas.microsoft.com/office/drawing/2014/main" id="{77E7EC76-0120-D0DC-B55E-42282AE2528F}"/>
              </a:ext>
            </a:extLst>
          </p:cNvPr>
          <p:cNvSpPr txBox="1"/>
          <p:nvPr/>
        </p:nvSpPr>
        <p:spPr>
          <a:xfrm>
            <a:off x="3885967" y="786275"/>
            <a:ext cx="4384431" cy="830997"/>
          </a:xfrm>
          <a:prstGeom prst="rect">
            <a:avLst/>
          </a:prstGeom>
          <a:noFill/>
        </p:spPr>
        <p:txBody>
          <a:bodyPr wrap="square">
            <a:spAutoFit/>
          </a:bodyPr>
          <a:lstStyle/>
          <a:p>
            <a:r>
              <a:rPr lang="en-US" sz="2400" dirty="0"/>
              <a:t>Identifying </a:t>
            </a:r>
            <a:r>
              <a:rPr lang="en-US" sz="2400" b="1" dirty="0"/>
              <a:t>sphere of influence </a:t>
            </a:r>
            <a:r>
              <a:rPr lang="en-US" sz="2400" dirty="0"/>
              <a:t>to address challenges </a:t>
            </a:r>
          </a:p>
        </p:txBody>
      </p:sp>
      <p:grpSp>
        <p:nvGrpSpPr>
          <p:cNvPr id="2" name="Group 1">
            <a:extLst>
              <a:ext uri="{FF2B5EF4-FFF2-40B4-BE49-F238E27FC236}">
                <a16:creationId xmlns:a16="http://schemas.microsoft.com/office/drawing/2014/main" id="{3AC64EED-C0D7-1418-9C46-ADADDE3C2CF2}"/>
              </a:ext>
            </a:extLst>
          </p:cNvPr>
          <p:cNvGrpSpPr/>
          <p:nvPr/>
        </p:nvGrpSpPr>
        <p:grpSpPr>
          <a:xfrm>
            <a:off x="8270398" y="3331328"/>
            <a:ext cx="3530527" cy="771846"/>
            <a:chOff x="1249262" y="2926161"/>
            <a:chExt cx="4622466" cy="888586"/>
          </a:xfrm>
        </p:grpSpPr>
        <p:grpSp>
          <p:nvGrpSpPr>
            <p:cNvPr id="3" name="Group 2">
              <a:extLst>
                <a:ext uri="{FF2B5EF4-FFF2-40B4-BE49-F238E27FC236}">
                  <a16:creationId xmlns:a16="http://schemas.microsoft.com/office/drawing/2014/main" id="{C4BF267A-9EEA-1218-5FB8-0024C1E12D0F}"/>
                </a:ext>
              </a:extLst>
            </p:cNvPr>
            <p:cNvGrpSpPr/>
            <p:nvPr/>
          </p:nvGrpSpPr>
          <p:grpSpPr>
            <a:xfrm>
              <a:off x="5040033" y="2931787"/>
              <a:ext cx="831695" cy="875891"/>
              <a:chOff x="9256513" y="1773566"/>
              <a:chExt cx="1646013" cy="1666134"/>
            </a:xfrm>
          </p:grpSpPr>
          <p:sp>
            <p:nvSpPr>
              <p:cNvPr id="33" name="Oval 32">
                <a:extLst>
                  <a:ext uri="{FF2B5EF4-FFF2-40B4-BE49-F238E27FC236}">
                    <a16:creationId xmlns:a16="http://schemas.microsoft.com/office/drawing/2014/main" id="{08DA84EC-B968-3A9D-0A44-6D2FE4CD0EAE}"/>
                  </a:ext>
                </a:extLst>
              </p:cNvPr>
              <p:cNvSpPr/>
              <p:nvPr/>
            </p:nvSpPr>
            <p:spPr>
              <a:xfrm>
                <a:off x="9256514" y="1773566"/>
                <a:ext cx="1646012"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4" name="Graphic 33" descr="Checkbox Ticked with solid fill">
                <a:extLst>
                  <a:ext uri="{FF2B5EF4-FFF2-40B4-BE49-F238E27FC236}">
                    <a16:creationId xmlns:a16="http://schemas.microsoft.com/office/drawing/2014/main" id="{195E07AB-87B7-832E-7CA4-86935CAA30C2}"/>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256513" y="1787012"/>
                <a:ext cx="1641987" cy="1641987"/>
              </a:xfrm>
              <a:prstGeom prst="rect">
                <a:avLst/>
              </a:prstGeom>
            </p:spPr>
          </p:pic>
        </p:grpSp>
        <p:grpSp>
          <p:nvGrpSpPr>
            <p:cNvPr id="5" name="Group 4">
              <a:extLst>
                <a:ext uri="{FF2B5EF4-FFF2-40B4-BE49-F238E27FC236}">
                  <a16:creationId xmlns:a16="http://schemas.microsoft.com/office/drawing/2014/main" id="{C4314CF8-B07E-6C7B-36DB-07DCB31C8D0A}"/>
                </a:ext>
              </a:extLst>
            </p:cNvPr>
            <p:cNvGrpSpPr/>
            <p:nvPr/>
          </p:nvGrpSpPr>
          <p:grpSpPr>
            <a:xfrm>
              <a:off x="4097822" y="2931787"/>
              <a:ext cx="831696" cy="875891"/>
              <a:chOff x="6606024" y="1721448"/>
              <a:chExt cx="1641987" cy="1666134"/>
            </a:xfrm>
          </p:grpSpPr>
          <p:sp>
            <p:nvSpPr>
              <p:cNvPr id="15" name="Oval 14">
                <a:extLst>
                  <a:ext uri="{FF2B5EF4-FFF2-40B4-BE49-F238E27FC236}">
                    <a16:creationId xmlns:a16="http://schemas.microsoft.com/office/drawing/2014/main" id="{62823D83-ED05-5DF4-F147-3E45CF5B1FCD}"/>
                  </a:ext>
                </a:extLst>
              </p:cNvPr>
              <p:cNvSpPr/>
              <p:nvPr/>
            </p:nvSpPr>
            <p:spPr>
              <a:xfrm>
                <a:off x="6606024" y="1721448"/>
                <a:ext cx="1641987"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1" name="Graphic 30" descr="Clapper board with solid fill">
                <a:extLst>
                  <a:ext uri="{FF2B5EF4-FFF2-40B4-BE49-F238E27FC236}">
                    <a16:creationId xmlns:a16="http://schemas.microsoft.com/office/drawing/2014/main" id="{2A7960E9-9403-8544-C867-874AF4AA19E8}"/>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824209" y="1910345"/>
                <a:ext cx="1151526" cy="1151526"/>
              </a:xfrm>
              <a:prstGeom prst="rect">
                <a:avLst/>
              </a:prstGeom>
            </p:spPr>
          </p:pic>
        </p:grpSp>
        <p:grpSp>
          <p:nvGrpSpPr>
            <p:cNvPr id="6" name="Group 5">
              <a:extLst>
                <a:ext uri="{FF2B5EF4-FFF2-40B4-BE49-F238E27FC236}">
                  <a16:creationId xmlns:a16="http://schemas.microsoft.com/office/drawing/2014/main" id="{70EC29AE-4460-C52B-64A2-4C8C034F66B6}"/>
                </a:ext>
              </a:extLst>
            </p:cNvPr>
            <p:cNvGrpSpPr/>
            <p:nvPr/>
          </p:nvGrpSpPr>
          <p:grpSpPr>
            <a:xfrm>
              <a:off x="3155610" y="2926162"/>
              <a:ext cx="831696" cy="875891"/>
              <a:chOff x="4435504" y="1964618"/>
              <a:chExt cx="1641987" cy="1614426"/>
            </a:xfrm>
          </p:grpSpPr>
          <p:sp>
            <p:nvSpPr>
              <p:cNvPr id="13" name="Oval 12">
                <a:extLst>
                  <a:ext uri="{FF2B5EF4-FFF2-40B4-BE49-F238E27FC236}">
                    <a16:creationId xmlns:a16="http://schemas.microsoft.com/office/drawing/2014/main" id="{DC9F5823-68EC-9401-CAB0-7721A86F445D}"/>
                  </a:ext>
                </a:extLst>
              </p:cNvPr>
              <p:cNvSpPr/>
              <p:nvPr/>
            </p:nvSpPr>
            <p:spPr>
              <a:xfrm>
                <a:off x="4435504" y="1964618"/>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descr="User with solid fill">
                <a:extLst>
                  <a:ext uri="{FF2B5EF4-FFF2-40B4-BE49-F238E27FC236}">
                    <a16:creationId xmlns:a16="http://schemas.microsoft.com/office/drawing/2014/main" id="{5975A2BD-4013-996E-8A31-8DABA8A8E644}"/>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645029" y="2134541"/>
                <a:ext cx="1196343" cy="1196343"/>
              </a:xfrm>
              <a:prstGeom prst="rect">
                <a:avLst/>
              </a:prstGeom>
            </p:spPr>
          </p:pic>
        </p:grpSp>
        <p:grpSp>
          <p:nvGrpSpPr>
            <p:cNvPr id="7" name="Group 6">
              <a:extLst>
                <a:ext uri="{FF2B5EF4-FFF2-40B4-BE49-F238E27FC236}">
                  <a16:creationId xmlns:a16="http://schemas.microsoft.com/office/drawing/2014/main" id="{6792FF7D-8B3D-0AA2-EB09-C872E5EA711C}"/>
                </a:ext>
              </a:extLst>
            </p:cNvPr>
            <p:cNvGrpSpPr/>
            <p:nvPr/>
          </p:nvGrpSpPr>
          <p:grpSpPr>
            <a:xfrm>
              <a:off x="1249262" y="2938856"/>
              <a:ext cx="844494" cy="875891"/>
              <a:chOff x="316947" y="2007971"/>
              <a:chExt cx="1641987" cy="1614426"/>
            </a:xfrm>
          </p:grpSpPr>
          <p:sp>
            <p:nvSpPr>
              <p:cNvPr id="11" name="Oval 10">
                <a:extLst>
                  <a:ext uri="{FF2B5EF4-FFF2-40B4-BE49-F238E27FC236}">
                    <a16:creationId xmlns:a16="http://schemas.microsoft.com/office/drawing/2014/main" id="{598682F1-40AA-C787-890C-0D3476E847AB}"/>
                  </a:ext>
                </a:extLst>
              </p:cNvPr>
              <p:cNvSpPr/>
              <p:nvPr/>
            </p:nvSpPr>
            <p:spPr>
              <a:xfrm>
                <a:off x="316947" y="200797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descr="Magnifying glass with solid fill">
                <a:extLst>
                  <a:ext uri="{FF2B5EF4-FFF2-40B4-BE49-F238E27FC236}">
                    <a16:creationId xmlns:a16="http://schemas.microsoft.com/office/drawing/2014/main" id="{2AB985B5-D051-0C38-D032-068EF417A719}"/>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37761" y="2261216"/>
                <a:ext cx="1080886" cy="1080886"/>
              </a:xfrm>
              <a:prstGeom prst="rect">
                <a:avLst/>
              </a:prstGeom>
            </p:spPr>
          </p:pic>
        </p:grpSp>
        <p:grpSp>
          <p:nvGrpSpPr>
            <p:cNvPr id="8" name="Group 7">
              <a:extLst>
                <a:ext uri="{FF2B5EF4-FFF2-40B4-BE49-F238E27FC236}">
                  <a16:creationId xmlns:a16="http://schemas.microsoft.com/office/drawing/2014/main" id="{F3A62477-13A7-45E4-2EF9-686EB4AA908F}"/>
                </a:ext>
              </a:extLst>
            </p:cNvPr>
            <p:cNvGrpSpPr/>
            <p:nvPr/>
          </p:nvGrpSpPr>
          <p:grpSpPr>
            <a:xfrm>
              <a:off x="2204272" y="2926161"/>
              <a:ext cx="831696" cy="875891"/>
              <a:chOff x="2627760" y="2015531"/>
              <a:chExt cx="1641987" cy="1614426"/>
            </a:xfrm>
          </p:grpSpPr>
          <p:sp>
            <p:nvSpPr>
              <p:cNvPr id="9" name="Oval 8">
                <a:extLst>
                  <a:ext uri="{FF2B5EF4-FFF2-40B4-BE49-F238E27FC236}">
                    <a16:creationId xmlns:a16="http://schemas.microsoft.com/office/drawing/2014/main" id="{DB305893-BCD8-FD67-C7B9-5E9E9355877F}"/>
                  </a:ext>
                </a:extLst>
              </p:cNvPr>
              <p:cNvSpPr/>
              <p:nvPr/>
            </p:nvSpPr>
            <p:spPr>
              <a:xfrm>
                <a:off x="2627760" y="201553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descr="Thumbs up sign with solid fill">
                <a:extLst>
                  <a:ext uri="{FF2B5EF4-FFF2-40B4-BE49-F238E27FC236}">
                    <a16:creationId xmlns:a16="http://schemas.microsoft.com/office/drawing/2014/main" id="{6A111A6D-6D19-0165-BD95-D792B85FF9AB}"/>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2949859" y="2357984"/>
                <a:ext cx="914400" cy="914400"/>
              </a:xfrm>
              <a:prstGeom prst="rect">
                <a:avLst/>
              </a:prstGeom>
            </p:spPr>
          </p:pic>
        </p:grpSp>
      </p:grpSp>
      <p:sp>
        <p:nvSpPr>
          <p:cNvPr id="40" name="TextBox 39">
            <a:extLst>
              <a:ext uri="{FF2B5EF4-FFF2-40B4-BE49-F238E27FC236}">
                <a16:creationId xmlns:a16="http://schemas.microsoft.com/office/drawing/2014/main" id="{3B6B3DAB-D9B6-9DCE-09F2-E019907F1937}"/>
              </a:ext>
            </a:extLst>
          </p:cNvPr>
          <p:cNvSpPr txBox="1"/>
          <p:nvPr/>
        </p:nvSpPr>
        <p:spPr>
          <a:xfrm>
            <a:off x="8442366" y="567617"/>
            <a:ext cx="3713999" cy="1938992"/>
          </a:xfrm>
          <a:prstGeom prst="rect">
            <a:avLst/>
          </a:prstGeom>
          <a:noFill/>
        </p:spPr>
        <p:txBody>
          <a:bodyPr wrap="square">
            <a:spAutoFit/>
          </a:bodyPr>
          <a:lstStyle/>
          <a:p>
            <a:r>
              <a:rPr lang="en-US" sz="2400" dirty="0"/>
              <a:t>Following the </a:t>
            </a:r>
            <a:r>
              <a:rPr lang="en-US" sz="2400" b="1" dirty="0"/>
              <a:t>5A framework </a:t>
            </a:r>
            <a:r>
              <a:rPr lang="en-US" sz="2400" dirty="0"/>
              <a:t>for</a:t>
            </a:r>
            <a:r>
              <a:rPr lang="en-US" sz="2400" b="1" dirty="0"/>
              <a:t> addressing challenges</a:t>
            </a:r>
            <a:r>
              <a:rPr lang="en-US" sz="2400" dirty="0"/>
              <a:t>: awareness, acknowledge, agency, action and assess</a:t>
            </a:r>
          </a:p>
        </p:txBody>
      </p:sp>
      <p:pic>
        <p:nvPicPr>
          <p:cNvPr id="41" name="Graphic 40" descr="Arrow: Slight curve with solid fill">
            <a:extLst>
              <a:ext uri="{FF2B5EF4-FFF2-40B4-BE49-F238E27FC236}">
                <a16:creationId xmlns:a16="http://schemas.microsoft.com/office/drawing/2014/main" id="{34362660-DDDF-1FA3-3E13-CB18C42ADAA6}"/>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rot="15965234">
            <a:off x="10299191" y="4284656"/>
            <a:ext cx="1054957" cy="849778"/>
          </a:xfrm>
          <a:prstGeom prst="rect">
            <a:avLst/>
          </a:prstGeom>
        </p:spPr>
      </p:pic>
      <p:sp>
        <p:nvSpPr>
          <p:cNvPr id="42" name="TextBox 41">
            <a:extLst>
              <a:ext uri="{FF2B5EF4-FFF2-40B4-BE49-F238E27FC236}">
                <a16:creationId xmlns:a16="http://schemas.microsoft.com/office/drawing/2014/main" id="{6E4CD181-6028-2E0B-5041-43EF4C7EC989}"/>
              </a:ext>
            </a:extLst>
          </p:cNvPr>
          <p:cNvSpPr txBox="1"/>
          <p:nvPr/>
        </p:nvSpPr>
        <p:spPr>
          <a:xfrm>
            <a:off x="10000488" y="5244817"/>
            <a:ext cx="1972392" cy="646331"/>
          </a:xfrm>
          <a:prstGeom prst="rect">
            <a:avLst/>
          </a:prstGeom>
          <a:noFill/>
        </p:spPr>
        <p:txBody>
          <a:bodyPr wrap="square" rtlCol="0">
            <a:spAutoFit/>
          </a:bodyPr>
          <a:lstStyle/>
          <a:p>
            <a:r>
              <a:rPr lang="en-US" dirty="0"/>
              <a:t>We’re at the </a:t>
            </a:r>
            <a:r>
              <a:rPr lang="en-US" b="1" dirty="0"/>
              <a:t>action</a:t>
            </a:r>
            <a:r>
              <a:rPr lang="en-US" dirty="0"/>
              <a:t> stage now</a:t>
            </a:r>
          </a:p>
        </p:txBody>
      </p:sp>
      <p:sp>
        <p:nvSpPr>
          <p:cNvPr id="43" name="Slide Number Placeholder 61">
            <a:extLst>
              <a:ext uri="{FF2B5EF4-FFF2-40B4-BE49-F238E27FC236}">
                <a16:creationId xmlns:a16="http://schemas.microsoft.com/office/drawing/2014/main" id="{B59B896B-E839-1A82-0B85-0221D46E8EA6}"/>
              </a:ext>
            </a:extLst>
          </p:cNvPr>
          <p:cNvSpPr>
            <a:spLocks noGrp="1"/>
          </p:cNvSpPr>
          <p:nvPr>
            <p:ph type="sldNum" sz="quarter" idx="12"/>
          </p:nvPr>
        </p:nvSpPr>
        <p:spPr>
          <a:xfrm>
            <a:off x="8610600" y="6356350"/>
            <a:ext cx="2743200" cy="365125"/>
          </a:xfrm>
        </p:spPr>
        <p:txBody>
          <a:bodyPr/>
          <a:lstStyle/>
          <a:p>
            <a:fld id="{DC6309F4-03C8-4D48-A124-A9AD6E083FAC}" type="slidenum">
              <a:rPr lang="en-US" smtClean="0"/>
              <a:t>5</a:t>
            </a:fld>
            <a:endParaRPr lang="en-US"/>
          </a:p>
        </p:txBody>
      </p:sp>
      <p:pic>
        <p:nvPicPr>
          <p:cNvPr id="44" name="Picture 43">
            <a:extLst>
              <a:ext uri="{FF2B5EF4-FFF2-40B4-BE49-F238E27FC236}">
                <a16:creationId xmlns:a16="http://schemas.microsoft.com/office/drawing/2014/main" id="{96E12A5A-E6ED-5632-2C01-E62BE0B7D210}"/>
              </a:ext>
            </a:extLst>
          </p:cNvPr>
          <p:cNvPicPr>
            <a:picLocks noChangeAspect="1"/>
          </p:cNvPicPr>
          <p:nvPr/>
        </p:nvPicPr>
        <p:blipFill>
          <a:blip r:embed="rId23"/>
          <a:stretch>
            <a:fillRect/>
          </a:stretch>
        </p:blipFill>
        <p:spPr>
          <a:xfrm>
            <a:off x="3460349" y="1966684"/>
            <a:ext cx="4427766" cy="3877570"/>
          </a:xfrm>
          <a:prstGeom prst="rect">
            <a:avLst/>
          </a:prstGeom>
        </p:spPr>
      </p:pic>
    </p:spTree>
    <p:extLst>
      <p:ext uri="{BB962C8B-B14F-4D97-AF65-F5344CB8AC3E}">
        <p14:creationId xmlns:p14="http://schemas.microsoft.com/office/powerpoint/2010/main" val="2104180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685E-3622-469E-FE72-576E39D42D8C}"/>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FD16B424-1C21-4F0E-6CCD-005EB373572D}"/>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74395083-7FE4-BE94-C5C3-18B97003E3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3380297D-33C4-4BCA-C6CB-BE14790FF2D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7F562790-6145-7DFA-9414-D434A0F06337}"/>
              </a:ext>
            </a:extLst>
          </p:cNvPr>
          <p:cNvSpPr>
            <a:spLocks noGrp="1"/>
          </p:cNvSpPr>
          <p:nvPr>
            <p:ph type="sldNum" sz="quarter" idx="12"/>
          </p:nvPr>
        </p:nvSpPr>
        <p:spPr/>
        <p:txBody>
          <a:bodyPr/>
          <a:lstStyle/>
          <a:p>
            <a:fld id="{DC6309F4-03C8-4D48-A124-A9AD6E083FAC}" type="slidenum">
              <a:rPr lang="en-US" smtClean="0"/>
              <a:t>6</a:t>
            </a:fld>
            <a:endParaRPr lang="en-US"/>
          </a:p>
        </p:txBody>
      </p:sp>
      <p:sp>
        <p:nvSpPr>
          <p:cNvPr id="4" name="Title 1">
            <a:extLst>
              <a:ext uri="{FF2B5EF4-FFF2-40B4-BE49-F238E27FC236}">
                <a16:creationId xmlns:a16="http://schemas.microsoft.com/office/drawing/2014/main" id="{E813462A-7089-36BA-D1F9-009AC164F01E}"/>
              </a:ext>
            </a:extLst>
          </p:cNvPr>
          <p:cNvSpPr txBox="1">
            <a:spLocks/>
          </p:cNvSpPr>
          <p:nvPr/>
        </p:nvSpPr>
        <p:spPr>
          <a:xfrm>
            <a:off x="0" y="136525"/>
            <a:ext cx="12192000" cy="861581"/>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Ways to approach challenges</a:t>
            </a:r>
          </a:p>
        </p:txBody>
      </p:sp>
      <p:grpSp>
        <p:nvGrpSpPr>
          <p:cNvPr id="6" name="Group 5">
            <a:extLst>
              <a:ext uri="{FF2B5EF4-FFF2-40B4-BE49-F238E27FC236}">
                <a16:creationId xmlns:a16="http://schemas.microsoft.com/office/drawing/2014/main" id="{C8B403D7-DC19-B529-0F89-825C3B9F73F9}"/>
              </a:ext>
            </a:extLst>
          </p:cNvPr>
          <p:cNvGrpSpPr/>
          <p:nvPr/>
        </p:nvGrpSpPr>
        <p:grpSpPr>
          <a:xfrm>
            <a:off x="8631574" y="761644"/>
            <a:ext cx="831696" cy="875891"/>
            <a:chOff x="6606024" y="1721448"/>
            <a:chExt cx="1641987" cy="1666134"/>
          </a:xfrm>
        </p:grpSpPr>
        <p:sp>
          <p:nvSpPr>
            <p:cNvPr id="7" name="Oval 6">
              <a:extLst>
                <a:ext uri="{FF2B5EF4-FFF2-40B4-BE49-F238E27FC236}">
                  <a16:creationId xmlns:a16="http://schemas.microsoft.com/office/drawing/2014/main" id="{FF265530-AF5A-2AB9-9C4D-F3866CE264F9}"/>
                </a:ext>
              </a:extLst>
            </p:cNvPr>
            <p:cNvSpPr/>
            <p:nvPr/>
          </p:nvSpPr>
          <p:spPr>
            <a:xfrm>
              <a:off x="6606024" y="1721448"/>
              <a:ext cx="1641987"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descr="Clapper board with solid fill">
              <a:extLst>
                <a:ext uri="{FF2B5EF4-FFF2-40B4-BE49-F238E27FC236}">
                  <a16:creationId xmlns:a16="http://schemas.microsoft.com/office/drawing/2014/main" id="{89F927EC-A493-6175-11CE-41F0031ACAA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24209" y="1910345"/>
              <a:ext cx="1151526" cy="1151526"/>
            </a:xfrm>
            <a:prstGeom prst="rect">
              <a:avLst/>
            </a:prstGeom>
          </p:spPr>
        </p:pic>
      </p:grpSp>
      <p:sp>
        <p:nvSpPr>
          <p:cNvPr id="9" name="TextBox 8">
            <a:extLst>
              <a:ext uri="{FF2B5EF4-FFF2-40B4-BE49-F238E27FC236}">
                <a16:creationId xmlns:a16="http://schemas.microsoft.com/office/drawing/2014/main" id="{F5EAC231-831B-4C79-78D3-536FBA58662A}"/>
              </a:ext>
            </a:extLst>
          </p:cNvPr>
          <p:cNvSpPr txBox="1"/>
          <p:nvPr/>
        </p:nvSpPr>
        <p:spPr>
          <a:xfrm>
            <a:off x="9511558" y="1027302"/>
            <a:ext cx="941283" cy="400110"/>
          </a:xfrm>
          <a:prstGeom prst="rect">
            <a:avLst/>
          </a:prstGeom>
          <a:noFill/>
        </p:spPr>
        <p:txBody>
          <a:bodyPr wrap="none" rtlCol="0">
            <a:spAutoFit/>
          </a:bodyPr>
          <a:lstStyle/>
          <a:p>
            <a:r>
              <a:rPr lang="en-US" sz="2000" b="1" dirty="0"/>
              <a:t>Action</a:t>
            </a:r>
          </a:p>
        </p:txBody>
      </p:sp>
      <p:sp>
        <p:nvSpPr>
          <p:cNvPr id="12" name="TextBox 11">
            <a:extLst>
              <a:ext uri="{FF2B5EF4-FFF2-40B4-BE49-F238E27FC236}">
                <a16:creationId xmlns:a16="http://schemas.microsoft.com/office/drawing/2014/main" id="{E6BF965F-22DE-71E9-0B1B-6856AF7FD535}"/>
              </a:ext>
            </a:extLst>
          </p:cNvPr>
          <p:cNvSpPr txBox="1"/>
          <p:nvPr/>
        </p:nvSpPr>
        <p:spPr>
          <a:xfrm>
            <a:off x="312001" y="2024521"/>
            <a:ext cx="5298432"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t>First start by thinking about </a:t>
            </a:r>
            <a:r>
              <a:rPr lang="en-US" sz="2400" b="1" dirty="0"/>
              <a:t>general approaches</a:t>
            </a:r>
            <a:r>
              <a:rPr lang="en-US" sz="2400" dirty="0"/>
              <a:t> before we </a:t>
            </a:r>
            <a:r>
              <a:rPr lang="en-US" sz="2400" b="1" dirty="0"/>
              <a:t>apply </a:t>
            </a:r>
            <a:r>
              <a:rPr lang="en-US" sz="2400" dirty="0"/>
              <a:t>to the</a:t>
            </a:r>
            <a:r>
              <a:rPr lang="en-US" sz="2400" b="1" dirty="0"/>
              <a:t> group case study </a:t>
            </a:r>
            <a:r>
              <a:rPr lang="en-US" sz="2400" dirty="0"/>
              <a:t>activity</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You can keep in mind the challenges you have written down from sphere of influence activity</a:t>
            </a:r>
          </a:p>
          <a:p>
            <a:endParaRPr lang="en-US" sz="2400" dirty="0"/>
          </a:p>
        </p:txBody>
      </p:sp>
      <p:grpSp>
        <p:nvGrpSpPr>
          <p:cNvPr id="16" name="Group 15">
            <a:extLst>
              <a:ext uri="{FF2B5EF4-FFF2-40B4-BE49-F238E27FC236}">
                <a16:creationId xmlns:a16="http://schemas.microsoft.com/office/drawing/2014/main" id="{F5104B45-86BC-FACD-732A-2127D551830F}"/>
              </a:ext>
            </a:extLst>
          </p:cNvPr>
          <p:cNvGrpSpPr/>
          <p:nvPr/>
        </p:nvGrpSpPr>
        <p:grpSpPr>
          <a:xfrm rot="412589">
            <a:off x="6401230" y="1559087"/>
            <a:ext cx="5030469" cy="5400908"/>
            <a:chOff x="5767679" y="2117627"/>
            <a:chExt cx="4988767" cy="4988767"/>
          </a:xfrm>
        </p:grpSpPr>
        <p:pic>
          <p:nvPicPr>
            <p:cNvPr id="14" name="Graphic 13" descr="Route (Two Pins With A Path) with solid fill">
              <a:extLst>
                <a:ext uri="{FF2B5EF4-FFF2-40B4-BE49-F238E27FC236}">
                  <a16:creationId xmlns:a16="http://schemas.microsoft.com/office/drawing/2014/main" id="{B6B43CD0-5F3A-F37C-2324-5AE558CA1A2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67679" y="2117627"/>
              <a:ext cx="4988767" cy="4988767"/>
            </a:xfrm>
            <a:prstGeom prst="rect">
              <a:avLst/>
            </a:prstGeom>
          </p:spPr>
        </p:pic>
        <p:sp>
          <p:nvSpPr>
            <p:cNvPr id="15" name="Rectangle 14">
              <a:extLst>
                <a:ext uri="{FF2B5EF4-FFF2-40B4-BE49-F238E27FC236}">
                  <a16:creationId xmlns:a16="http://schemas.microsoft.com/office/drawing/2014/main" id="{33DF7B2B-C930-053D-4A1A-17A3D7B04CC9}"/>
                </a:ext>
              </a:extLst>
            </p:cNvPr>
            <p:cNvSpPr/>
            <p:nvPr/>
          </p:nvSpPr>
          <p:spPr>
            <a:xfrm>
              <a:off x="6202259" y="4181388"/>
              <a:ext cx="1564412" cy="2504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Graphic 2" descr="Construction Barricade with solid fill">
            <a:extLst>
              <a:ext uri="{FF2B5EF4-FFF2-40B4-BE49-F238E27FC236}">
                <a16:creationId xmlns:a16="http://schemas.microsoft.com/office/drawing/2014/main" id="{776B48EA-382A-23FF-4F60-87E6DE8FD76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10251" y="3495222"/>
            <a:ext cx="1074998" cy="1074998"/>
          </a:xfrm>
          <a:prstGeom prst="rect">
            <a:avLst/>
          </a:prstGeom>
        </p:spPr>
      </p:pic>
      <p:pic>
        <p:nvPicPr>
          <p:cNvPr id="2" name="Graphic 1" descr="Smiling face with solid fill with solid fill">
            <a:extLst>
              <a:ext uri="{FF2B5EF4-FFF2-40B4-BE49-F238E27FC236}">
                <a16:creationId xmlns:a16="http://schemas.microsoft.com/office/drawing/2014/main" id="{468841BB-142F-FAE8-258A-A6D7751DD29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12898" y="4637172"/>
            <a:ext cx="1398590" cy="1398590"/>
          </a:xfrm>
          <a:prstGeom prst="rect">
            <a:avLst/>
          </a:prstGeom>
        </p:spPr>
      </p:pic>
      <p:sp>
        <p:nvSpPr>
          <p:cNvPr id="10" name="TextBox 9">
            <a:extLst>
              <a:ext uri="{FF2B5EF4-FFF2-40B4-BE49-F238E27FC236}">
                <a16:creationId xmlns:a16="http://schemas.microsoft.com/office/drawing/2014/main" id="{26C3F93E-B4F9-2AC5-F2BF-7FB384BD3EE5}"/>
              </a:ext>
            </a:extLst>
          </p:cNvPr>
          <p:cNvSpPr txBox="1"/>
          <p:nvPr/>
        </p:nvSpPr>
        <p:spPr>
          <a:xfrm>
            <a:off x="6585514" y="5933452"/>
            <a:ext cx="1053844" cy="461665"/>
          </a:xfrm>
          <a:prstGeom prst="rect">
            <a:avLst/>
          </a:prstGeom>
          <a:noFill/>
        </p:spPr>
        <p:txBody>
          <a:bodyPr wrap="square" rtlCol="0">
            <a:spAutoFit/>
          </a:bodyPr>
          <a:lstStyle/>
          <a:p>
            <a:r>
              <a:rPr lang="en-US" sz="2400" b="1" dirty="0"/>
              <a:t>You</a:t>
            </a:r>
          </a:p>
        </p:txBody>
      </p:sp>
    </p:spTree>
    <p:extLst>
      <p:ext uri="{BB962C8B-B14F-4D97-AF65-F5344CB8AC3E}">
        <p14:creationId xmlns:p14="http://schemas.microsoft.com/office/powerpoint/2010/main" val="1425434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30F7E-653A-677A-92D3-A9FDB59A423E}"/>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66F907E2-C3C7-C4FA-0A97-A5ADE5ADEE7B}"/>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77337463-76E4-ED1A-5040-C040D8DC83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3B84DF9B-6153-8DDB-C444-EA0C3C79F3D4}"/>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DBE1AD19-700F-9714-3D57-A5F65E36F368}"/>
              </a:ext>
            </a:extLst>
          </p:cNvPr>
          <p:cNvSpPr>
            <a:spLocks noGrp="1"/>
          </p:cNvSpPr>
          <p:nvPr>
            <p:ph type="sldNum" sz="quarter" idx="12"/>
          </p:nvPr>
        </p:nvSpPr>
        <p:spPr/>
        <p:txBody>
          <a:bodyPr/>
          <a:lstStyle/>
          <a:p>
            <a:fld id="{DC6309F4-03C8-4D48-A124-A9AD6E083FAC}" type="slidenum">
              <a:rPr lang="en-US" smtClean="0"/>
              <a:t>7</a:t>
            </a:fld>
            <a:endParaRPr lang="en-US"/>
          </a:p>
        </p:txBody>
      </p:sp>
      <p:sp>
        <p:nvSpPr>
          <p:cNvPr id="4" name="Title 1">
            <a:extLst>
              <a:ext uri="{FF2B5EF4-FFF2-40B4-BE49-F238E27FC236}">
                <a16:creationId xmlns:a16="http://schemas.microsoft.com/office/drawing/2014/main" id="{8493E57C-5DEF-33A4-F13E-6BB2D997580D}"/>
              </a:ext>
            </a:extLst>
          </p:cNvPr>
          <p:cNvSpPr txBox="1">
            <a:spLocks/>
          </p:cNvSpPr>
          <p:nvPr/>
        </p:nvSpPr>
        <p:spPr>
          <a:xfrm>
            <a:off x="0" y="-26542"/>
            <a:ext cx="12306300" cy="861581"/>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Ways to approach challenges: location</a:t>
            </a:r>
          </a:p>
        </p:txBody>
      </p:sp>
      <p:sp>
        <p:nvSpPr>
          <p:cNvPr id="2" name="TextBox 1">
            <a:extLst>
              <a:ext uri="{FF2B5EF4-FFF2-40B4-BE49-F238E27FC236}">
                <a16:creationId xmlns:a16="http://schemas.microsoft.com/office/drawing/2014/main" id="{8C1BEE13-0889-B010-4F5B-9CABD37F46A1}"/>
              </a:ext>
            </a:extLst>
          </p:cNvPr>
          <p:cNvSpPr txBox="1"/>
          <p:nvPr/>
        </p:nvSpPr>
        <p:spPr>
          <a:xfrm>
            <a:off x="5043390" y="1695461"/>
            <a:ext cx="2875246" cy="830997"/>
          </a:xfrm>
          <a:prstGeom prst="rect">
            <a:avLst/>
          </a:prstGeom>
          <a:noFill/>
        </p:spPr>
        <p:txBody>
          <a:bodyPr wrap="square" rtlCol="0">
            <a:spAutoFit/>
          </a:bodyPr>
          <a:lstStyle/>
          <a:p>
            <a:r>
              <a:rPr lang="en-US" sz="2400" dirty="0"/>
              <a:t>Where in the </a:t>
            </a:r>
            <a:r>
              <a:rPr lang="en-US" sz="2400" b="1" dirty="0"/>
              <a:t>research life cycle</a:t>
            </a:r>
            <a:r>
              <a:rPr lang="en-US" sz="2400" dirty="0"/>
              <a:t>?</a:t>
            </a:r>
          </a:p>
        </p:txBody>
      </p:sp>
      <p:sp>
        <p:nvSpPr>
          <p:cNvPr id="16" name="TextBox 15">
            <a:extLst>
              <a:ext uri="{FF2B5EF4-FFF2-40B4-BE49-F238E27FC236}">
                <a16:creationId xmlns:a16="http://schemas.microsoft.com/office/drawing/2014/main" id="{405ED7A5-2F59-E64B-C897-759BE09750D2}"/>
              </a:ext>
            </a:extLst>
          </p:cNvPr>
          <p:cNvSpPr txBox="1"/>
          <p:nvPr/>
        </p:nvSpPr>
        <p:spPr>
          <a:xfrm>
            <a:off x="73413" y="855984"/>
            <a:ext cx="11360674" cy="461665"/>
          </a:xfrm>
          <a:prstGeom prst="rect">
            <a:avLst/>
          </a:prstGeom>
          <a:noFill/>
        </p:spPr>
        <p:txBody>
          <a:bodyPr wrap="none" rtlCol="0">
            <a:spAutoFit/>
          </a:bodyPr>
          <a:lstStyle/>
          <a:p>
            <a:r>
              <a:rPr lang="en-US" sz="2400" dirty="0"/>
              <a:t>Consider the </a:t>
            </a:r>
            <a:r>
              <a:rPr lang="en-US" sz="2400" b="1" dirty="0"/>
              <a:t>context</a:t>
            </a:r>
            <a:r>
              <a:rPr lang="en-US" sz="2400" dirty="0"/>
              <a:t> you are in. Locate the </a:t>
            </a:r>
            <a:r>
              <a:rPr lang="en-US" sz="2400" b="1" dirty="0"/>
              <a:t>scale</a:t>
            </a:r>
            <a:r>
              <a:rPr lang="en-US" sz="2400" dirty="0"/>
              <a:t>, </a:t>
            </a:r>
            <a:r>
              <a:rPr lang="en-US" sz="2400" b="1" dirty="0"/>
              <a:t>domain</a:t>
            </a:r>
            <a:r>
              <a:rPr lang="en-US" sz="2400" dirty="0"/>
              <a:t> and your social </a:t>
            </a:r>
            <a:r>
              <a:rPr lang="en-US" sz="2400" b="1" dirty="0"/>
              <a:t>position. </a:t>
            </a:r>
            <a:endParaRPr lang="en-US" sz="2400" dirty="0"/>
          </a:p>
        </p:txBody>
      </p:sp>
      <p:sp>
        <p:nvSpPr>
          <p:cNvPr id="26" name="TextBox 25">
            <a:extLst>
              <a:ext uri="{FF2B5EF4-FFF2-40B4-BE49-F238E27FC236}">
                <a16:creationId xmlns:a16="http://schemas.microsoft.com/office/drawing/2014/main" id="{7713591C-4160-4C39-ECA5-8BF8985BD775}"/>
              </a:ext>
            </a:extLst>
          </p:cNvPr>
          <p:cNvSpPr txBox="1"/>
          <p:nvPr/>
        </p:nvSpPr>
        <p:spPr>
          <a:xfrm>
            <a:off x="2162402" y="1825040"/>
            <a:ext cx="2654894" cy="461665"/>
          </a:xfrm>
          <a:prstGeom prst="rect">
            <a:avLst/>
          </a:prstGeom>
          <a:noFill/>
        </p:spPr>
        <p:txBody>
          <a:bodyPr wrap="none" rtlCol="0">
            <a:spAutoFit/>
          </a:bodyPr>
          <a:lstStyle/>
          <a:p>
            <a:r>
              <a:rPr lang="en-US" sz="2400" dirty="0"/>
              <a:t>Which </a:t>
            </a:r>
            <a:r>
              <a:rPr lang="en-US" sz="2400" b="1" dirty="0"/>
              <a:t>domain(s)</a:t>
            </a:r>
            <a:r>
              <a:rPr lang="en-US" sz="2400" dirty="0"/>
              <a:t>?</a:t>
            </a:r>
          </a:p>
        </p:txBody>
      </p:sp>
      <p:grpSp>
        <p:nvGrpSpPr>
          <p:cNvPr id="3" name="Group 2">
            <a:extLst>
              <a:ext uri="{FF2B5EF4-FFF2-40B4-BE49-F238E27FC236}">
                <a16:creationId xmlns:a16="http://schemas.microsoft.com/office/drawing/2014/main" id="{2EB09CBA-7AFB-154E-3FD1-A9938AC1EB20}"/>
              </a:ext>
            </a:extLst>
          </p:cNvPr>
          <p:cNvGrpSpPr/>
          <p:nvPr/>
        </p:nvGrpSpPr>
        <p:grpSpPr>
          <a:xfrm>
            <a:off x="2154270" y="2979485"/>
            <a:ext cx="2683159" cy="2015206"/>
            <a:chOff x="685409" y="1298307"/>
            <a:chExt cx="2683159" cy="2015206"/>
          </a:xfrm>
        </p:grpSpPr>
        <p:grpSp>
          <p:nvGrpSpPr>
            <p:cNvPr id="19" name="Group 18">
              <a:extLst>
                <a:ext uri="{FF2B5EF4-FFF2-40B4-BE49-F238E27FC236}">
                  <a16:creationId xmlns:a16="http://schemas.microsoft.com/office/drawing/2014/main" id="{114B4424-2A82-1559-7A53-3DC155EAC9A4}"/>
                </a:ext>
              </a:extLst>
            </p:cNvPr>
            <p:cNvGrpSpPr/>
            <p:nvPr/>
          </p:nvGrpSpPr>
          <p:grpSpPr>
            <a:xfrm>
              <a:off x="1097254" y="1480730"/>
              <a:ext cx="2052423" cy="1712148"/>
              <a:chOff x="1898557" y="878352"/>
              <a:chExt cx="6432007" cy="5616769"/>
            </a:xfrm>
          </p:grpSpPr>
          <p:sp>
            <p:nvSpPr>
              <p:cNvPr id="20" name="Oval 19">
                <a:extLst>
                  <a:ext uri="{FF2B5EF4-FFF2-40B4-BE49-F238E27FC236}">
                    <a16:creationId xmlns:a16="http://schemas.microsoft.com/office/drawing/2014/main" id="{D50E8871-E6C2-7515-3A02-D9E3DA310532}"/>
                  </a:ext>
                </a:extLst>
              </p:cNvPr>
              <p:cNvSpPr/>
              <p:nvPr/>
            </p:nvSpPr>
            <p:spPr>
              <a:xfrm>
                <a:off x="1952927" y="878352"/>
                <a:ext cx="3834040" cy="3651313"/>
              </a:xfrm>
              <a:prstGeom prst="ellipse">
                <a:avLst/>
              </a:prstGeom>
              <a:solidFill>
                <a:srgbClr val="FFC000">
                  <a:alpha val="4413"/>
                </a:srgbClr>
              </a:solidFill>
              <a:ln>
                <a:solidFill>
                  <a:srgbClr val="FFC00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C55A5680-21C2-9DA8-5816-0FBD31BFBCAC}"/>
                  </a:ext>
                </a:extLst>
              </p:cNvPr>
              <p:cNvSpPr/>
              <p:nvPr/>
            </p:nvSpPr>
            <p:spPr>
              <a:xfrm>
                <a:off x="4443191" y="878352"/>
                <a:ext cx="3887373" cy="3651313"/>
              </a:xfrm>
              <a:prstGeom prst="ellipse">
                <a:avLst/>
              </a:prstGeom>
              <a:solidFill>
                <a:srgbClr val="92D050">
                  <a:alpha val="5552"/>
                </a:srgbClr>
              </a:solidFill>
              <a:ln>
                <a:solidFill>
                  <a:srgbClr val="92D05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205A042F-00CC-BEAC-C742-39E085253903}"/>
                  </a:ext>
                </a:extLst>
              </p:cNvPr>
              <p:cNvSpPr/>
              <p:nvPr/>
            </p:nvSpPr>
            <p:spPr>
              <a:xfrm>
                <a:off x="4415332" y="2843808"/>
                <a:ext cx="3834040" cy="3651313"/>
              </a:xfrm>
              <a:prstGeom prst="ellipse">
                <a:avLst/>
              </a:prstGeom>
              <a:solidFill>
                <a:schemeClr val="tx2">
                  <a:lumMod val="50000"/>
                  <a:lumOff val="50000"/>
                  <a:alpha val="4700"/>
                </a:schemeClr>
              </a:solidFill>
              <a:ln>
                <a:solidFill>
                  <a:schemeClr val="tx2">
                    <a:lumMod val="75000"/>
                    <a:lumOff val="2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1A7C20-D852-3014-7E3F-41282BB8BF3D}"/>
                  </a:ext>
                </a:extLst>
              </p:cNvPr>
              <p:cNvSpPr/>
              <p:nvPr/>
            </p:nvSpPr>
            <p:spPr>
              <a:xfrm>
                <a:off x="1898557" y="2827864"/>
                <a:ext cx="3975268" cy="3642123"/>
              </a:xfrm>
              <a:prstGeom prst="ellipse">
                <a:avLst/>
              </a:prstGeom>
              <a:solidFill>
                <a:srgbClr val="7030A0">
                  <a:alpha val="5000"/>
                </a:srgbClr>
              </a:solidFill>
              <a:ln>
                <a:solidFill>
                  <a:srgbClr val="7030A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utoShape 40" descr="Zenodo home">
                <a:extLst>
                  <a:ext uri="{FF2B5EF4-FFF2-40B4-BE49-F238E27FC236}">
                    <a16:creationId xmlns:a16="http://schemas.microsoft.com/office/drawing/2014/main" id="{53A19265-4C90-A5AD-14E4-4349C0CD332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AutoShape 58" descr="R (programming language) - Wikipedia">
                <a:extLst>
                  <a:ext uri="{FF2B5EF4-FFF2-40B4-BE49-F238E27FC236}">
                    <a16:creationId xmlns:a16="http://schemas.microsoft.com/office/drawing/2014/main" id="{AAE70EFA-C21F-9607-6E0A-15E68470402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31" name="Graphic 30" descr="Classroom with solid fill">
              <a:extLst>
                <a:ext uri="{FF2B5EF4-FFF2-40B4-BE49-F238E27FC236}">
                  <a16:creationId xmlns:a16="http://schemas.microsoft.com/office/drawing/2014/main" id="{39803E14-5F08-0346-D3BF-B5581D30B06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53056" y="1336829"/>
              <a:ext cx="615512" cy="615512"/>
            </a:xfrm>
            <a:prstGeom prst="rect">
              <a:avLst/>
            </a:prstGeom>
          </p:spPr>
        </p:pic>
        <p:pic>
          <p:nvPicPr>
            <p:cNvPr id="35" name="Graphic 34" descr="Clipboard Partially Ticked with solid fill">
              <a:extLst>
                <a:ext uri="{FF2B5EF4-FFF2-40B4-BE49-F238E27FC236}">
                  <a16:creationId xmlns:a16="http://schemas.microsoft.com/office/drawing/2014/main" id="{04E83BC9-2E94-4617-8431-87062E8F0D0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17521" y="2562466"/>
              <a:ext cx="751047" cy="751047"/>
            </a:xfrm>
            <a:prstGeom prst="rect">
              <a:avLst/>
            </a:prstGeom>
          </p:spPr>
        </p:pic>
        <p:pic>
          <p:nvPicPr>
            <p:cNvPr id="36" name="Graphic 35" descr="Cheers with solid fill">
              <a:extLst>
                <a:ext uri="{FF2B5EF4-FFF2-40B4-BE49-F238E27FC236}">
                  <a16:creationId xmlns:a16="http://schemas.microsoft.com/office/drawing/2014/main" id="{F963893A-D2AF-03F1-5957-9A7C02F75E1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1684" y="2669452"/>
              <a:ext cx="601468" cy="601468"/>
            </a:xfrm>
            <a:prstGeom prst="rect">
              <a:avLst/>
            </a:prstGeom>
          </p:spPr>
        </p:pic>
        <p:pic>
          <p:nvPicPr>
            <p:cNvPr id="41" name="Graphic 40" descr="Document with solid fill">
              <a:extLst>
                <a:ext uri="{FF2B5EF4-FFF2-40B4-BE49-F238E27FC236}">
                  <a16:creationId xmlns:a16="http://schemas.microsoft.com/office/drawing/2014/main" id="{518A7893-050A-6DA0-794F-1AB9C622E04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85409" y="1298307"/>
              <a:ext cx="678604" cy="678604"/>
            </a:xfrm>
            <a:prstGeom prst="rect">
              <a:avLst/>
            </a:prstGeom>
          </p:spPr>
        </p:pic>
      </p:grpSp>
      <p:pic>
        <p:nvPicPr>
          <p:cNvPr id="52" name="Picture 51">
            <a:extLst>
              <a:ext uri="{FF2B5EF4-FFF2-40B4-BE49-F238E27FC236}">
                <a16:creationId xmlns:a16="http://schemas.microsoft.com/office/drawing/2014/main" id="{D0D14E85-0A9F-092D-C9D3-274D2FBF18B9}"/>
              </a:ext>
            </a:extLst>
          </p:cNvPr>
          <p:cNvPicPr>
            <a:picLocks noChangeAspect="1"/>
          </p:cNvPicPr>
          <p:nvPr/>
        </p:nvPicPr>
        <p:blipFill>
          <a:blip r:embed="rId9"/>
          <a:srcRect l="12210" b="17485"/>
          <a:stretch>
            <a:fillRect/>
          </a:stretch>
        </p:blipFill>
        <p:spPr>
          <a:xfrm>
            <a:off x="10011560" y="3105113"/>
            <a:ext cx="2138759" cy="1846985"/>
          </a:xfrm>
          <a:prstGeom prst="rect">
            <a:avLst/>
          </a:prstGeom>
        </p:spPr>
      </p:pic>
      <p:sp>
        <p:nvSpPr>
          <p:cNvPr id="8" name="TextBox 7">
            <a:extLst>
              <a:ext uri="{FF2B5EF4-FFF2-40B4-BE49-F238E27FC236}">
                <a16:creationId xmlns:a16="http://schemas.microsoft.com/office/drawing/2014/main" id="{F4579325-4861-2B8F-688B-B76954B10344}"/>
              </a:ext>
            </a:extLst>
          </p:cNvPr>
          <p:cNvSpPr txBox="1"/>
          <p:nvPr/>
        </p:nvSpPr>
        <p:spPr>
          <a:xfrm>
            <a:off x="10066669" y="1730303"/>
            <a:ext cx="2311176" cy="830997"/>
          </a:xfrm>
          <a:prstGeom prst="rect">
            <a:avLst/>
          </a:prstGeom>
          <a:noFill/>
        </p:spPr>
        <p:txBody>
          <a:bodyPr wrap="square" rtlCol="0">
            <a:spAutoFit/>
          </a:bodyPr>
          <a:lstStyle/>
          <a:p>
            <a:r>
              <a:rPr lang="en-US" sz="2400" dirty="0"/>
              <a:t>What is my </a:t>
            </a:r>
            <a:r>
              <a:rPr lang="en-US" sz="2400" b="1" dirty="0"/>
              <a:t>positionality</a:t>
            </a:r>
            <a:r>
              <a:rPr lang="en-US" sz="2400" dirty="0"/>
              <a:t>?</a:t>
            </a:r>
          </a:p>
        </p:txBody>
      </p:sp>
      <p:sp>
        <p:nvSpPr>
          <p:cNvPr id="9" name="TextBox 8">
            <a:extLst>
              <a:ext uri="{FF2B5EF4-FFF2-40B4-BE49-F238E27FC236}">
                <a16:creationId xmlns:a16="http://schemas.microsoft.com/office/drawing/2014/main" id="{7F678B20-72F0-EED9-BB25-2FB7F36C6D15}"/>
              </a:ext>
            </a:extLst>
          </p:cNvPr>
          <p:cNvSpPr txBox="1"/>
          <p:nvPr/>
        </p:nvSpPr>
        <p:spPr>
          <a:xfrm>
            <a:off x="73413" y="1821548"/>
            <a:ext cx="2165305" cy="461665"/>
          </a:xfrm>
          <a:prstGeom prst="rect">
            <a:avLst/>
          </a:prstGeom>
          <a:noFill/>
        </p:spPr>
        <p:txBody>
          <a:bodyPr wrap="square" rtlCol="0">
            <a:spAutoFit/>
          </a:bodyPr>
          <a:lstStyle/>
          <a:p>
            <a:r>
              <a:rPr lang="en-US" sz="2400" dirty="0"/>
              <a:t>Which </a:t>
            </a:r>
            <a:r>
              <a:rPr lang="en-US" sz="2400" b="1" dirty="0"/>
              <a:t>scale</a:t>
            </a:r>
            <a:r>
              <a:rPr lang="en-US" sz="2400" dirty="0"/>
              <a:t>?</a:t>
            </a:r>
          </a:p>
        </p:txBody>
      </p:sp>
      <p:grpSp>
        <p:nvGrpSpPr>
          <p:cNvPr id="11" name="Group 10">
            <a:extLst>
              <a:ext uri="{FF2B5EF4-FFF2-40B4-BE49-F238E27FC236}">
                <a16:creationId xmlns:a16="http://schemas.microsoft.com/office/drawing/2014/main" id="{FC2799E3-B228-47C9-8916-2475D6DCA75D}"/>
              </a:ext>
            </a:extLst>
          </p:cNvPr>
          <p:cNvGrpSpPr/>
          <p:nvPr/>
        </p:nvGrpSpPr>
        <p:grpSpPr>
          <a:xfrm>
            <a:off x="474432" y="2247575"/>
            <a:ext cx="954841" cy="3487471"/>
            <a:chOff x="574861" y="2253143"/>
            <a:chExt cx="954841" cy="3487471"/>
          </a:xfrm>
        </p:grpSpPr>
        <p:pic>
          <p:nvPicPr>
            <p:cNvPr id="12" name="Graphic 11" descr="Solar system with solid fill">
              <a:extLst>
                <a:ext uri="{FF2B5EF4-FFF2-40B4-BE49-F238E27FC236}">
                  <a16:creationId xmlns:a16="http://schemas.microsoft.com/office/drawing/2014/main" id="{A5645D23-63E0-5488-7051-83A756C9547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74861" y="2253143"/>
              <a:ext cx="914400" cy="861183"/>
            </a:xfrm>
            <a:prstGeom prst="rect">
              <a:avLst/>
            </a:prstGeom>
          </p:spPr>
        </p:pic>
        <p:pic>
          <p:nvPicPr>
            <p:cNvPr id="14" name="Graphic 13" descr="Cycle with people with solid fill">
              <a:extLst>
                <a:ext uri="{FF2B5EF4-FFF2-40B4-BE49-F238E27FC236}">
                  <a16:creationId xmlns:a16="http://schemas.microsoft.com/office/drawing/2014/main" id="{69300E43-6653-F0B3-84C1-4A3B32F12C6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15302" y="4109192"/>
              <a:ext cx="914400" cy="861183"/>
            </a:xfrm>
            <a:prstGeom prst="rect">
              <a:avLst/>
            </a:prstGeom>
          </p:spPr>
        </p:pic>
        <p:pic>
          <p:nvPicPr>
            <p:cNvPr id="15" name="Graphic 14" descr="User with solid fill">
              <a:extLst>
                <a:ext uri="{FF2B5EF4-FFF2-40B4-BE49-F238E27FC236}">
                  <a16:creationId xmlns:a16="http://schemas.microsoft.com/office/drawing/2014/main" id="{32D6E62C-499A-388B-53C0-DA863370F1B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4546" y="4879431"/>
              <a:ext cx="914400" cy="861183"/>
            </a:xfrm>
            <a:prstGeom prst="rect">
              <a:avLst/>
            </a:prstGeom>
          </p:spPr>
        </p:pic>
      </p:grpSp>
      <p:grpSp>
        <p:nvGrpSpPr>
          <p:cNvPr id="29" name="Group 28">
            <a:extLst>
              <a:ext uri="{FF2B5EF4-FFF2-40B4-BE49-F238E27FC236}">
                <a16:creationId xmlns:a16="http://schemas.microsoft.com/office/drawing/2014/main" id="{C290FF72-7DD1-00C4-14CF-138BB5A2802F}"/>
              </a:ext>
            </a:extLst>
          </p:cNvPr>
          <p:cNvGrpSpPr/>
          <p:nvPr/>
        </p:nvGrpSpPr>
        <p:grpSpPr>
          <a:xfrm>
            <a:off x="7712384" y="3272988"/>
            <a:ext cx="2074786" cy="1462656"/>
            <a:chOff x="1190928" y="1726247"/>
            <a:chExt cx="2074786" cy="1462656"/>
          </a:xfrm>
        </p:grpSpPr>
        <p:sp>
          <p:nvSpPr>
            <p:cNvPr id="30" name="Oval 29">
              <a:extLst>
                <a:ext uri="{FF2B5EF4-FFF2-40B4-BE49-F238E27FC236}">
                  <a16:creationId xmlns:a16="http://schemas.microsoft.com/office/drawing/2014/main" id="{62A8E6AD-8F7B-F08C-95A3-4D2D153A747F}"/>
                </a:ext>
              </a:extLst>
            </p:cNvPr>
            <p:cNvSpPr/>
            <p:nvPr/>
          </p:nvSpPr>
          <p:spPr>
            <a:xfrm>
              <a:off x="2801365" y="2692907"/>
              <a:ext cx="402305" cy="365126"/>
            </a:xfrm>
            <a:prstGeom prst="ellipse">
              <a:avLst/>
            </a:prstGeom>
            <a:solidFill>
              <a:srgbClr val="C0000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4C5F4C7-784C-8E56-62C9-5B30A082D403}"/>
                </a:ext>
              </a:extLst>
            </p:cNvPr>
            <p:cNvSpPr/>
            <p:nvPr/>
          </p:nvSpPr>
          <p:spPr>
            <a:xfrm>
              <a:off x="2484698" y="1908810"/>
              <a:ext cx="402305" cy="365126"/>
            </a:xfrm>
            <a:prstGeom prst="ellipse">
              <a:avLst/>
            </a:prstGeom>
            <a:solidFill>
              <a:schemeClr val="accent2">
                <a:alpha val="6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A12B88F-7A91-FDE8-D65F-36017DC3DC81}"/>
                </a:ext>
              </a:extLst>
            </p:cNvPr>
            <p:cNvSpPr/>
            <p:nvPr/>
          </p:nvSpPr>
          <p:spPr>
            <a:xfrm>
              <a:off x="1757156" y="1726247"/>
              <a:ext cx="402305" cy="365126"/>
            </a:xfrm>
            <a:prstGeom prst="ellipse">
              <a:avLst/>
            </a:prstGeom>
            <a:solidFill>
              <a:srgbClr val="FFC000">
                <a:alpha val="5906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89575836-15A5-1D5E-BC2C-7EE007181248}"/>
                </a:ext>
              </a:extLst>
            </p:cNvPr>
            <p:cNvSpPr/>
            <p:nvPr/>
          </p:nvSpPr>
          <p:spPr>
            <a:xfrm>
              <a:off x="1520453" y="2283067"/>
              <a:ext cx="402305" cy="365126"/>
            </a:xfrm>
            <a:prstGeom prst="ellipse">
              <a:avLst/>
            </a:prstGeom>
            <a:solidFill>
              <a:srgbClr val="92D050">
                <a:alpha val="66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7BAF7ACE-B742-960A-C04B-5C442AA29B90}"/>
                </a:ext>
              </a:extLst>
            </p:cNvPr>
            <p:cNvSpPr/>
            <p:nvPr/>
          </p:nvSpPr>
          <p:spPr>
            <a:xfrm>
              <a:off x="1248051" y="2712604"/>
              <a:ext cx="402305" cy="365126"/>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557033EB-2750-D49E-4930-8E1CE15DAB3C}"/>
                </a:ext>
              </a:extLst>
            </p:cNvPr>
            <p:cNvGrpSpPr/>
            <p:nvPr/>
          </p:nvGrpSpPr>
          <p:grpSpPr>
            <a:xfrm>
              <a:off x="1190928" y="1852550"/>
              <a:ext cx="2074786" cy="1336353"/>
              <a:chOff x="4373172" y="914401"/>
              <a:chExt cx="6620884" cy="5617758"/>
            </a:xfrm>
          </p:grpSpPr>
          <p:pic>
            <p:nvPicPr>
              <p:cNvPr id="39" name="Graphic 38" descr="Normal Distribution outline">
                <a:extLst>
                  <a:ext uri="{FF2B5EF4-FFF2-40B4-BE49-F238E27FC236}">
                    <a16:creationId xmlns:a16="http://schemas.microsoft.com/office/drawing/2014/main" id="{3A4B946A-C293-68A4-60FA-0B0614953A38}"/>
                  </a:ext>
                </a:extLst>
              </p:cNvPr>
              <p:cNvPicPr>
                <a:picLocks noChangeAspect="1"/>
              </p:cNvPicPr>
              <p:nvPr/>
            </p:nvPicPr>
            <p:blipFill>
              <a:blip>
                <a:extLst>
                  <a:ext uri="{96DAC541-7B7A-43D3-8B79-37D633B846F1}">
                    <asvg:svgBlip xmlns:asvg="http://schemas.microsoft.com/office/drawing/2016/SVG/main" r:embed="rId13"/>
                  </a:ext>
                </a:extLst>
              </a:blip>
              <a:srcRect l="10997" t="18998" r="21214" b="23484"/>
              <a:stretch>
                <a:fillRect/>
              </a:stretch>
            </p:blipFill>
            <p:spPr>
              <a:xfrm>
                <a:off x="4373172" y="914401"/>
                <a:ext cx="6620884" cy="5617758"/>
              </a:xfrm>
              <a:prstGeom prst="rect">
                <a:avLst/>
              </a:prstGeom>
            </p:spPr>
          </p:pic>
          <p:sp>
            <p:nvSpPr>
              <p:cNvPr id="40" name="Rectangle 39">
                <a:extLst>
                  <a:ext uri="{FF2B5EF4-FFF2-40B4-BE49-F238E27FC236}">
                    <a16:creationId xmlns:a16="http://schemas.microsoft.com/office/drawing/2014/main" id="{5B999CC2-9EDB-C3F7-E65B-25ED5930028D}"/>
                  </a:ext>
                </a:extLst>
              </p:cNvPr>
              <p:cNvSpPr/>
              <p:nvPr/>
            </p:nvSpPr>
            <p:spPr>
              <a:xfrm>
                <a:off x="7283519" y="2121042"/>
                <a:ext cx="1011856" cy="4276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8" name="TextBox 57">
            <a:extLst>
              <a:ext uri="{FF2B5EF4-FFF2-40B4-BE49-F238E27FC236}">
                <a16:creationId xmlns:a16="http://schemas.microsoft.com/office/drawing/2014/main" id="{852C8BCB-5B73-C736-D54D-F3DE19539428}"/>
              </a:ext>
            </a:extLst>
          </p:cNvPr>
          <p:cNvSpPr txBox="1"/>
          <p:nvPr/>
        </p:nvSpPr>
        <p:spPr>
          <a:xfrm>
            <a:off x="7918636" y="1885017"/>
            <a:ext cx="2087238" cy="461665"/>
          </a:xfrm>
          <a:prstGeom prst="rect">
            <a:avLst/>
          </a:prstGeom>
          <a:noFill/>
        </p:spPr>
        <p:txBody>
          <a:bodyPr wrap="none" rtlCol="0">
            <a:spAutoFit/>
          </a:bodyPr>
          <a:lstStyle/>
          <a:p>
            <a:r>
              <a:rPr lang="en-US" sz="2400" b="1" dirty="0"/>
              <a:t>Adopter</a:t>
            </a:r>
            <a:r>
              <a:rPr lang="en-US" sz="2400" dirty="0"/>
              <a:t> type?</a:t>
            </a:r>
          </a:p>
        </p:txBody>
      </p:sp>
      <p:pic>
        <p:nvPicPr>
          <p:cNvPr id="7" name="Graphic 6" descr="Marker with solid fill">
            <a:extLst>
              <a:ext uri="{FF2B5EF4-FFF2-40B4-BE49-F238E27FC236}">
                <a16:creationId xmlns:a16="http://schemas.microsoft.com/office/drawing/2014/main" id="{435E32A1-DED7-0957-3BBF-657C9F7C536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570731" y="-7348"/>
            <a:ext cx="914400" cy="914400"/>
          </a:xfrm>
          <a:prstGeom prst="rect">
            <a:avLst/>
          </a:prstGeom>
        </p:spPr>
      </p:pic>
      <p:pic>
        <p:nvPicPr>
          <p:cNvPr id="6" name="Picture 5">
            <a:extLst>
              <a:ext uri="{FF2B5EF4-FFF2-40B4-BE49-F238E27FC236}">
                <a16:creationId xmlns:a16="http://schemas.microsoft.com/office/drawing/2014/main" id="{06D12E7A-2206-1EE8-0965-D17D19B90B74}"/>
              </a:ext>
            </a:extLst>
          </p:cNvPr>
          <p:cNvPicPr>
            <a:picLocks noChangeAspect="1"/>
          </p:cNvPicPr>
          <p:nvPr/>
        </p:nvPicPr>
        <p:blipFill>
          <a:blip r:embed="rId15"/>
          <a:srcRect l="10664" t="11649" r="5650"/>
          <a:stretch>
            <a:fillRect/>
          </a:stretch>
        </p:blipFill>
        <p:spPr>
          <a:xfrm>
            <a:off x="5260069" y="2974162"/>
            <a:ext cx="2062833" cy="1980585"/>
          </a:xfrm>
          <a:prstGeom prst="rect">
            <a:avLst/>
          </a:prstGeom>
        </p:spPr>
      </p:pic>
      <p:pic>
        <p:nvPicPr>
          <p:cNvPr id="13" name="Graphic 12" descr="Schoolhouse with solid fill">
            <a:extLst>
              <a:ext uri="{FF2B5EF4-FFF2-40B4-BE49-F238E27FC236}">
                <a16:creationId xmlns:a16="http://schemas.microsoft.com/office/drawing/2014/main" id="{08EEFD16-30BF-23E1-1633-B535C072C3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54128" y="2998351"/>
            <a:ext cx="914400" cy="914400"/>
          </a:xfrm>
          <a:prstGeom prst="rect">
            <a:avLst/>
          </a:prstGeom>
        </p:spPr>
      </p:pic>
      <p:sp>
        <p:nvSpPr>
          <p:cNvPr id="27" name="TextBox 26">
            <a:extLst>
              <a:ext uri="{FF2B5EF4-FFF2-40B4-BE49-F238E27FC236}">
                <a16:creationId xmlns:a16="http://schemas.microsoft.com/office/drawing/2014/main" id="{5EA7F972-D18E-97E2-A9F9-D4826E8EFA0F}"/>
              </a:ext>
            </a:extLst>
          </p:cNvPr>
          <p:cNvSpPr txBox="1"/>
          <p:nvPr/>
        </p:nvSpPr>
        <p:spPr>
          <a:xfrm>
            <a:off x="3262127" y="6445349"/>
            <a:ext cx="5630960" cy="369332"/>
          </a:xfrm>
          <a:prstGeom prst="rect">
            <a:avLst/>
          </a:prstGeom>
          <a:noFill/>
        </p:spPr>
        <p:txBody>
          <a:bodyPr wrap="square" rtlCol="0">
            <a:spAutoFit/>
          </a:bodyPr>
          <a:lstStyle/>
          <a:p>
            <a:r>
              <a:rPr lang="en-US" dirty="0">
                <a:solidFill>
                  <a:schemeClr val="bg1">
                    <a:lumMod val="50000"/>
                  </a:schemeClr>
                </a:solidFill>
                <a:hlinkClick r:id="rId17"/>
              </a:rPr>
              <a:t>Ihle et al. 2026</a:t>
            </a:r>
            <a:r>
              <a:rPr lang="en-US" dirty="0">
                <a:solidFill>
                  <a:schemeClr val="bg1">
                    <a:lumMod val="50000"/>
                  </a:schemeClr>
                </a:solidFill>
              </a:rPr>
              <a:t>; Rogers, 1983; </a:t>
            </a:r>
            <a:r>
              <a:rPr lang="en-US" dirty="0">
                <a:solidFill>
                  <a:schemeClr val="bg1">
                    <a:lumMod val="50000"/>
                  </a:schemeClr>
                </a:solidFill>
                <a:hlinkClick r:id="rId18"/>
              </a:rPr>
              <a:t>Middleton et al. 2026</a:t>
            </a:r>
            <a:endParaRPr lang="en-US" dirty="0">
              <a:solidFill>
                <a:schemeClr val="bg1">
                  <a:lumMod val="50000"/>
                </a:schemeClr>
              </a:solidFill>
            </a:endParaRPr>
          </a:p>
        </p:txBody>
      </p:sp>
    </p:spTree>
    <p:extLst>
      <p:ext uri="{BB962C8B-B14F-4D97-AF65-F5344CB8AC3E}">
        <p14:creationId xmlns:p14="http://schemas.microsoft.com/office/powerpoint/2010/main" val="4154736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E14E0-945B-FEF2-F70D-1B4561A36A8B}"/>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7F20B717-6318-7667-0883-B15CB3155BCD}"/>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A7CB3D6A-A565-0E20-FE7E-C58A2EF609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AD8F2B8B-5FC4-07B1-3507-F69718B7A152}"/>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9D58C733-A436-2228-6A0C-FBC8D20F49D9}"/>
              </a:ext>
            </a:extLst>
          </p:cNvPr>
          <p:cNvSpPr>
            <a:spLocks noGrp="1"/>
          </p:cNvSpPr>
          <p:nvPr>
            <p:ph type="sldNum" sz="quarter" idx="12"/>
          </p:nvPr>
        </p:nvSpPr>
        <p:spPr/>
        <p:txBody>
          <a:bodyPr/>
          <a:lstStyle/>
          <a:p>
            <a:fld id="{DC6309F4-03C8-4D48-A124-A9AD6E083FAC}" type="slidenum">
              <a:rPr lang="en-US" smtClean="0"/>
              <a:t>8</a:t>
            </a:fld>
            <a:endParaRPr lang="en-US"/>
          </a:p>
        </p:txBody>
      </p:sp>
      <p:sp>
        <p:nvSpPr>
          <p:cNvPr id="4" name="Title 1">
            <a:extLst>
              <a:ext uri="{FF2B5EF4-FFF2-40B4-BE49-F238E27FC236}">
                <a16:creationId xmlns:a16="http://schemas.microsoft.com/office/drawing/2014/main" id="{5CB7B251-E0DE-8D47-7C31-CAA0589EB7DE}"/>
              </a:ext>
            </a:extLst>
          </p:cNvPr>
          <p:cNvSpPr txBox="1">
            <a:spLocks/>
          </p:cNvSpPr>
          <p:nvPr/>
        </p:nvSpPr>
        <p:spPr>
          <a:xfrm>
            <a:off x="0" y="136525"/>
            <a:ext cx="12192000" cy="861581"/>
          </a:xfrm>
          <a:prstGeom prst="rect">
            <a:avLst/>
          </a:prstGeom>
          <a:noFill/>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Ways to approach challenges: connect, communicate and collaborate</a:t>
            </a:r>
          </a:p>
        </p:txBody>
      </p:sp>
      <p:sp>
        <p:nvSpPr>
          <p:cNvPr id="59" name="TextBox 58">
            <a:extLst>
              <a:ext uri="{FF2B5EF4-FFF2-40B4-BE49-F238E27FC236}">
                <a16:creationId xmlns:a16="http://schemas.microsoft.com/office/drawing/2014/main" id="{564181A7-D1B8-1CE6-24A1-82D262980485}"/>
              </a:ext>
            </a:extLst>
          </p:cNvPr>
          <p:cNvSpPr txBox="1"/>
          <p:nvPr/>
        </p:nvSpPr>
        <p:spPr>
          <a:xfrm>
            <a:off x="4016314" y="2378847"/>
            <a:ext cx="3972492" cy="830997"/>
          </a:xfrm>
          <a:prstGeom prst="rect">
            <a:avLst/>
          </a:prstGeom>
          <a:noFill/>
        </p:spPr>
        <p:txBody>
          <a:bodyPr wrap="square" rtlCol="0">
            <a:spAutoFit/>
          </a:bodyPr>
          <a:lstStyle/>
          <a:p>
            <a:r>
              <a:rPr lang="en-US" sz="2400" b="1" dirty="0"/>
              <a:t>Collaborate</a:t>
            </a:r>
            <a:r>
              <a:rPr lang="en-US" sz="2400" dirty="0"/>
              <a:t> with peers and find or form </a:t>
            </a:r>
            <a:r>
              <a:rPr lang="en-US" sz="2400" b="1" dirty="0"/>
              <a:t>community</a:t>
            </a:r>
            <a:r>
              <a:rPr lang="en-US" sz="2400" dirty="0"/>
              <a:t> </a:t>
            </a:r>
          </a:p>
        </p:txBody>
      </p:sp>
      <p:sp>
        <p:nvSpPr>
          <p:cNvPr id="60" name="TextBox 59">
            <a:extLst>
              <a:ext uri="{FF2B5EF4-FFF2-40B4-BE49-F238E27FC236}">
                <a16:creationId xmlns:a16="http://schemas.microsoft.com/office/drawing/2014/main" id="{D537B916-358F-00EA-939E-F3D9C9D26BE1}"/>
              </a:ext>
            </a:extLst>
          </p:cNvPr>
          <p:cNvSpPr txBox="1"/>
          <p:nvPr/>
        </p:nvSpPr>
        <p:spPr>
          <a:xfrm>
            <a:off x="8041599" y="2356293"/>
            <a:ext cx="3766986" cy="830997"/>
          </a:xfrm>
          <a:prstGeom prst="rect">
            <a:avLst/>
          </a:prstGeom>
          <a:noFill/>
        </p:spPr>
        <p:txBody>
          <a:bodyPr wrap="square" rtlCol="0">
            <a:spAutoFit/>
          </a:bodyPr>
          <a:lstStyle/>
          <a:p>
            <a:r>
              <a:rPr lang="en-US" sz="2400" dirty="0"/>
              <a:t>Clear </a:t>
            </a:r>
            <a:r>
              <a:rPr lang="en-US" sz="2400" b="1" dirty="0"/>
              <a:t>communication </a:t>
            </a:r>
            <a:r>
              <a:rPr lang="en-US" sz="2400" dirty="0"/>
              <a:t>and build a </a:t>
            </a:r>
            <a:r>
              <a:rPr lang="en-US" sz="2400" b="1" dirty="0"/>
              <a:t>shared vocabulary </a:t>
            </a:r>
          </a:p>
        </p:txBody>
      </p:sp>
      <p:pic>
        <p:nvPicPr>
          <p:cNvPr id="73" name="Graphic 72" descr="Chat with solid fill">
            <a:extLst>
              <a:ext uri="{FF2B5EF4-FFF2-40B4-BE49-F238E27FC236}">
                <a16:creationId xmlns:a16="http://schemas.microsoft.com/office/drawing/2014/main" id="{C44712B0-3FBF-134C-77D7-3221A03BE12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64373" y="3187673"/>
            <a:ext cx="1398566" cy="1398566"/>
          </a:xfrm>
          <a:prstGeom prst="rect">
            <a:avLst/>
          </a:prstGeom>
        </p:spPr>
      </p:pic>
      <p:sp>
        <p:nvSpPr>
          <p:cNvPr id="75" name="TextBox 74">
            <a:extLst>
              <a:ext uri="{FF2B5EF4-FFF2-40B4-BE49-F238E27FC236}">
                <a16:creationId xmlns:a16="http://schemas.microsoft.com/office/drawing/2014/main" id="{14CE1224-EEDD-CC0F-4452-F9E2A1339C6B}"/>
              </a:ext>
            </a:extLst>
          </p:cNvPr>
          <p:cNvSpPr txBox="1"/>
          <p:nvPr/>
        </p:nvSpPr>
        <p:spPr>
          <a:xfrm>
            <a:off x="4065879" y="4763070"/>
            <a:ext cx="3410619" cy="646331"/>
          </a:xfrm>
          <a:prstGeom prst="rect">
            <a:avLst/>
          </a:prstGeom>
          <a:noFill/>
        </p:spPr>
        <p:txBody>
          <a:bodyPr wrap="square" rtlCol="0">
            <a:spAutoFit/>
          </a:bodyPr>
          <a:lstStyle/>
          <a:p>
            <a:r>
              <a:rPr lang="en-US" dirty="0"/>
              <a:t>e.g. in your department, learned society, early career network</a:t>
            </a:r>
          </a:p>
        </p:txBody>
      </p:sp>
      <p:sp>
        <p:nvSpPr>
          <p:cNvPr id="76" name="TextBox 75">
            <a:extLst>
              <a:ext uri="{FF2B5EF4-FFF2-40B4-BE49-F238E27FC236}">
                <a16:creationId xmlns:a16="http://schemas.microsoft.com/office/drawing/2014/main" id="{9C7E0BC8-46ED-BB2E-C95F-32E090B04128}"/>
              </a:ext>
            </a:extLst>
          </p:cNvPr>
          <p:cNvSpPr txBox="1"/>
          <p:nvPr/>
        </p:nvSpPr>
        <p:spPr>
          <a:xfrm>
            <a:off x="8180163" y="4720666"/>
            <a:ext cx="3766986" cy="646331"/>
          </a:xfrm>
          <a:prstGeom prst="rect">
            <a:avLst/>
          </a:prstGeom>
          <a:noFill/>
        </p:spPr>
        <p:txBody>
          <a:bodyPr wrap="square" rtlCol="0">
            <a:spAutoFit/>
          </a:bodyPr>
          <a:lstStyle/>
          <a:p>
            <a:r>
              <a:rPr lang="en-US" dirty="0"/>
              <a:t>e.g. Co-create a group charter or glossary for a project </a:t>
            </a:r>
          </a:p>
        </p:txBody>
      </p:sp>
      <p:sp>
        <p:nvSpPr>
          <p:cNvPr id="2" name="TextBox 1">
            <a:extLst>
              <a:ext uri="{FF2B5EF4-FFF2-40B4-BE49-F238E27FC236}">
                <a16:creationId xmlns:a16="http://schemas.microsoft.com/office/drawing/2014/main" id="{A9951781-C604-BBE7-A425-B56847BD8E92}"/>
              </a:ext>
            </a:extLst>
          </p:cNvPr>
          <p:cNvSpPr txBox="1"/>
          <p:nvPr/>
        </p:nvSpPr>
        <p:spPr>
          <a:xfrm>
            <a:off x="92765" y="2479787"/>
            <a:ext cx="3870756" cy="461665"/>
          </a:xfrm>
          <a:prstGeom prst="rect">
            <a:avLst/>
          </a:prstGeom>
          <a:noFill/>
        </p:spPr>
        <p:txBody>
          <a:bodyPr wrap="square" rtlCol="0">
            <a:spAutoFit/>
          </a:bodyPr>
          <a:lstStyle/>
          <a:p>
            <a:r>
              <a:rPr lang="en-US" sz="2400" b="1" dirty="0"/>
              <a:t>Connect</a:t>
            </a:r>
            <a:r>
              <a:rPr lang="en-US" sz="2400" dirty="0"/>
              <a:t> with your </a:t>
            </a:r>
            <a:r>
              <a:rPr lang="en-US" sz="2400" b="1" dirty="0"/>
              <a:t>values</a:t>
            </a:r>
            <a:r>
              <a:rPr lang="en-US" sz="2400" dirty="0"/>
              <a:t> </a:t>
            </a:r>
          </a:p>
        </p:txBody>
      </p:sp>
      <p:pic>
        <p:nvPicPr>
          <p:cNvPr id="5" name="Graphic 4" descr="Handshake with solid fill">
            <a:extLst>
              <a:ext uri="{FF2B5EF4-FFF2-40B4-BE49-F238E27FC236}">
                <a16:creationId xmlns:a16="http://schemas.microsoft.com/office/drawing/2014/main" id="{EE13A40C-8BD0-5485-D673-E52FC118494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96413" y="3187290"/>
            <a:ext cx="1749552" cy="1749552"/>
          </a:xfrm>
          <a:prstGeom prst="rect">
            <a:avLst/>
          </a:prstGeom>
        </p:spPr>
      </p:pic>
      <p:grpSp>
        <p:nvGrpSpPr>
          <p:cNvPr id="6" name="Group 5">
            <a:extLst>
              <a:ext uri="{FF2B5EF4-FFF2-40B4-BE49-F238E27FC236}">
                <a16:creationId xmlns:a16="http://schemas.microsoft.com/office/drawing/2014/main" id="{CF111567-03C6-EA61-702B-54CB7363E24D}"/>
              </a:ext>
            </a:extLst>
          </p:cNvPr>
          <p:cNvGrpSpPr/>
          <p:nvPr/>
        </p:nvGrpSpPr>
        <p:grpSpPr>
          <a:xfrm>
            <a:off x="454738" y="3309705"/>
            <a:ext cx="2319706" cy="1045370"/>
            <a:chOff x="3896739" y="2725180"/>
            <a:chExt cx="2319706" cy="1045370"/>
          </a:xfrm>
        </p:grpSpPr>
        <p:sp>
          <p:nvSpPr>
            <p:cNvPr id="7" name="Oval 6">
              <a:extLst>
                <a:ext uri="{FF2B5EF4-FFF2-40B4-BE49-F238E27FC236}">
                  <a16:creationId xmlns:a16="http://schemas.microsoft.com/office/drawing/2014/main" id="{1AF833FE-2A71-6FFE-11B9-76C2BD542AA6}"/>
                </a:ext>
              </a:extLst>
            </p:cNvPr>
            <p:cNvSpPr/>
            <p:nvPr/>
          </p:nvSpPr>
          <p:spPr>
            <a:xfrm>
              <a:off x="5196203" y="2791757"/>
              <a:ext cx="1020242" cy="932041"/>
            </a:xfrm>
            <a:prstGeom prst="ellipse">
              <a:avLst/>
            </a:prstGeom>
            <a:solidFill>
              <a:srgbClr val="527ECE">
                <a:alpha val="9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DDED978F-9C6F-C3AC-164D-0DB1FE6A880A}"/>
                </a:ext>
              </a:extLst>
            </p:cNvPr>
            <p:cNvSpPr/>
            <p:nvPr/>
          </p:nvSpPr>
          <p:spPr>
            <a:xfrm>
              <a:off x="4589944" y="2778673"/>
              <a:ext cx="1033351" cy="95899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68D7A1BF-B686-45EE-8080-AD350931F7AC}"/>
                </a:ext>
              </a:extLst>
            </p:cNvPr>
            <p:cNvSpPr/>
            <p:nvPr/>
          </p:nvSpPr>
          <p:spPr>
            <a:xfrm>
              <a:off x="3896739" y="2725180"/>
              <a:ext cx="1116380" cy="104537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TextBox 9">
            <a:extLst>
              <a:ext uri="{FF2B5EF4-FFF2-40B4-BE49-F238E27FC236}">
                <a16:creationId xmlns:a16="http://schemas.microsoft.com/office/drawing/2014/main" id="{4D7DAB63-03BA-4276-C443-EFF5EE6FD3B9}"/>
              </a:ext>
            </a:extLst>
          </p:cNvPr>
          <p:cNvSpPr txBox="1"/>
          <p:nvPr/>
        </p:nvSpPr>
        <p:spPr>
          <a:xfrm>
            <a:off x="215210" y="4763070"/>
            <a:ext cx="3410619" cy="369332"/>
          </a:xfrm>
          <a:prstGeom prst="rect">
            <a:avLst/>
          </a:prstGeom>
          <a:noFill/>
        </p:spPr>
        <p:txBody>
          <a:bodyPr wrap="square" rtlCol="0">
            <a:spAutoFit/>
          </a:bodyPr>
          <a:lstStyle/>
          <a:p>
            <a:r>
              <a:rPr lang="en-US" dirty="0"/>
              <a:t>e.g. what is important to you? </a:t>
            </a:r>
          </a:p>
        </p:txBody>
      </p:sp>
      <p:pic>
        <p:nvPicPr>
          <p:cNvPr id="12" name="Graphic 11" descr="Network outline">
            <a:extLst>
              <a:ext uri="{FF2B5EF4-FFF2-40B4-BE49-F238E27FC236}">
                <a16:creationId xmlns:a16="http://schemas.microsoft.com/office/drawing/2014/main" id="{63171EAB-699F-63C0-79D2-9DD19B54F06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01420" y="219670"/>
            <a:ext cx="914400" cy="914400"/>
          </a:xfrm>
          <a:prstGeom prst="rect">
            <a:avLst/>
          </a:prstGeom>
        </p:spPr>
      </p:pic>
      <p:sp>
        <p:nvSpPr>
          <p:cNvPr id="15" name="TextBox 14">
            <a:extLst>
              <a:ext uri="{FF2B5EF4-FFF2-40B4-BE49-F238E27FC236}">
                <a16:creationId xmlns:a16="http://schemas.microsoft.com/office/drawing/2014/main" id="{A049CDB0-4270-5126-C4DD-5F4D3413A516}"/>
              </a:ext>
            </a:extLst>
          </p:cNvPr>
          <p:cNvSpPr txBox="1"/>
          <p:nvPr/>
        </p:nvSpPr>
        <p:spPr>
          <a:xfrm>
            <a:off x="92765" y="1277281"/>
            <a:ext cx="7533537" cy="461665"/>
          </a:xfrm>
          <a:prstGeom prst="rect">
            <a:avLst/>
          </a:prstGeom>
          <a:noFill/>
        </p:spPr>
        <p:txBody>
          <a:bodyPr wrap="none" rtlCol="0">
            <a:spAutoFit/>
          </a:bodyPr>
          <a:lstStyle/>
          <a:p>
            <a:r>
              <a:rPr lang="en-US" sz="2400" dirty="0"/>
              <a:t>Spend some time to </a:t>
            </a:r>
            <a:r>
              <a:rPr lang="en-US" sz="2400" b="1" dirty="0"/>
              <a:t>connect</a:t>
            </a:r>
            <a:r>
              <a:rPr lang="en-US" sz="2400" dirty="0"/>
              <a:t> with </a:t>
            </a:r>
            <a:r>
              <a:rPr lang="en-US" sz="2400" b="1" dirty="0"/>
              <a:t>yourself</a:t>
            </a:r>
            <a:r>
              <a:rPr lang="en-US" sz="2400" dirty="0"/>
              <a:t> and </a:t>
            </a:r>
            <a:r>
              <a:rPr lang="en-US" sz="2400" b="1" dirty="0"/>
              <a:t>others.</a:t>
            </a:r>
          </a:p>
        </p:txBody>
      </p:sp>
    </p:spTree>
    <p:extLst>
      <p:ext uri="{BB962C8B-B14F-4D97-AF65-F5344CB8AC3E}">
        <p14:creationId xmlns:p14="http://schemas.microsoft.com/office/powerpoint/2010/main" val="2050359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E3271-1AD4-F24D-7865-EC494306D678}"/>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24C00D9C-77C2-E13F-6B66-F4E9DBC06002}"/>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A5343521-27B6-9064-171D-D6807E8305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5FB6D71A-6D73-534A-62ED-F8E6F42AD343}"/>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70D9E93E-366F-C86C-0792-B499F4FB1704}"/>
              </a:ext>
            </a:extLst>
          </p:cNvPr>
          <p:cNvSpPr>
            <a:spLocks noGrp="1"/>
          </p:cNvSpPr>
          <p:nvPr>
            <p:ph type="sldNum" sz="quarter" idx="12"/>
          </p:nvPr>
        </p:nvSpPr>
        <p:spPr/>
        <p:txBody>
          <a:bodyPr/>
          <a:lstStyle/>
          <a:p>
            <a:fld id="{DC6309F4-03C8-4D48-A124-A9AD6E083FAC}" type="slidenum">
              <a:rPr lang="en-US" smtClean="0"/>
              <a:t>9</a:t>
            </a:fld>
            <a:endParaRPr lang="en-US"/>
          </a:p>
        </p:txBody>
      </p:sp>
      <p:sp>
        <p:nvSpPr>
          <p:cNvPr id="4" name="Title 1">
            <a:extLst>
              <a:ext uri="{FF2B5EF4-FFF2-40B4-BE49-F238E27FC236}">
                <a16:creationId xmlns:a16="http://schemas.microsoft.com/office/drawing/2014/main" id="{FE314EFA-B932-4409-14AC-36CC055BF8B4}"/>
              </a:ext>
            </a:extLst>
          </p:cNvPr>
          <p:cNvSpPr txBox="1">
            <a:spLocks/>
          </p:cNvSpPr>
          <p:nvPr/>
        </p:nvSpPr>
        <p:spPr>
          <a:xfrm>
            <a:off x="0" y="-26542"/>
            <a:ext cx="12066924" cy="861581"/>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Ways to approach challenges: small steps</a:t>
            </a:r>
          </a:p>
        </p:txBody>
      </p:sp>
      <p:sp>
        <p:nvSpPr>
          <p:cNvPr id="17" name="TextBox 16">
            <a:extLst>
              <a:ext uri="{FF2B5EF4-FFF2-40B4-BE49-F238E27FC236}">
                <a16:creationId xmlns:a16="http://schemas.microsoft.com/office/drawing/2014/main" id="{6A199332-88B3-9C24-C4D5-29E830954D05}"/>
              </a:ext>
            </a:extLst>
          </p:cNvPr>
          <p:cNvSpPr txBox="1"/>
          <p:nvPr/>
        </p:nvSpPr>
        <p:spPr>
          <a:xfrm>
            <a:off x="8139806" y="2118518"/>
            <a:ext cx="3678866" cy="830997"/>
          </a:xfrm>
          <a:prstGeom prst="rect">
            <a:avLst/>
          </a:prstGeom>
          <a:noFill/>
        </p:spPr>
        <p:txBody>
          <a:bodyPr wrap="square" rtlCol="0">
            <a:spAutoFit/>
          </a:bodyPr>
          <a:lstStyle/>
          <a:p>
            <a:r>
              <a:rPr lang="en-US" sz="2400" dirty="0"/>
              <a:t>Identify what can be done </a:t>
            </a:r>
            <a:r>
              <a:rPr lang="en-US" sz="2400" b="1" dirty="0"/>
              <a:t>now </a:t>
            </a:r>
            <a:r>
              <a:rPr lang="en-US" sz="2400" dirty="0"/>
              <a:t>and what </a:t>
            </a:r>
            <a:r>
              <a:rPr lang="en-US" sz="2400" b="1" dirty="0"/>
              <a:t>can wait</a:t>
            </a:r>
          </a:p>
        </p:txBody>
      </p:sp>
      <p:sp>
        <p:nvSpPr>
          <p:cNvPr id="56" name="TextBox 55">
            <a:extLst>
              <a:ext uri="{FF2B5EF4-FFF2-40B4-BE49-F238E27FC236}">
                <a16:creationId xmlns:a16="http://schemas.microsoft.com/office/drawing/2014/main" id="{FDD6244E-F40F-52FD-3D42-3CFE526C2C8D}"/>
              </a:ext>
            </a:extLst>
          </p:cNvPr>
          <p:cNvSpPr txBox="1"/>
          <p:nvPr/>
        </p:nvSpPr>
        <p:spPr>
          <a:xfrm>
            <a:off x="217223" y="2148580"/>
            <a:ext cx="3674110" cy="830997"/>
          </a:xfrm>
          <a:prstGeom prst="rect">
            <a:avLst/>
          </a:prstGeom>
          <a:noFill/>
        </p:spPr>
        <p:txBody>
          <a:bodyPr wrap="square" rtlCol="0">
            <a:spAutoFit/>
          </a:bodyPr>
          <a:lstStyle/>
          <a:p>
            <a:r>
              <a:rPr lang="en-US" sz="2400" dirty="0"/>
              <a:t>Take </a:t>
            </a:r>
            <a:r>
              <a:rPr lang="en-US" sz="2400" b="1" dirty="0"/>
              <a:t>action</a:t>
            </a:r>
            <a:r>
              <a:rPr lang="en-US" sz="2400" dirty="0"/>
              <a:t> in your sphere of influence/impact</a:t>
            </a:r>
          </a:p>
        </p:txBody>
      </p:sp>
      <p:sp>
        <p:nvSpPr>
          <p:cNvPr id="57" name="TextBox 56">
            <a:extLst>
              <a:ext uri="{FF2B5EF4-FFF2-40B4-BE49-F238E27FC236}">
                <a16:creationId xmlns:a16="http://schemas.microsoft.com/office/drawing/2014/main" id="{048D29E4-B718-EFD5-8A9F-9D51CDBCA082}"/>
              </a:ext>
            </a:extLst>
          </p:cNvPr>
          <p:cNvSpPr txBox="1"/>
          <p:nvPr/>
        </p:nvSpPr>
        <p:spPr>
          <a:xfrm>
            <a:off x="4241282" y="1963913"/>
            <a:ext cx="3551536" cy="1200329"/>
          </a:xfrm>
          <a:prstGeom prst="rect">
            <a:avLst/>
          </a:prstGeom>
          <a:noFill/>
        </p:spPr>
        <p:txBody>
          <a:bodyPr wrap="square" rtlCol="0">
            <a:spAutoFit/>
          </a:bodyPr>
          <a:lstStyle/>
          <a:p>
            <a:r>
              <a:rPr lang="en-US" sz="2400" dirty="0"/>
              <a:t>“Open Science Buffet” approach within your </a:t>
            </a:r>
            <a:r>
              <a:rPr lang="en-US" sz="2400" b="1" dirty="0"/>
              <a:t>capacity</a:t>
            </a:r>
            <a:r>
              <a:rPr lang="en-US" sz="2400" dirty="0"/>
              <a:t> and </a:t>
            </a:r>
            <a:r>
              <a:rPr lang="en-US" sz="2400" b="1" dirty="0"/>
              <a:t>resources</a:t>
            </a:r>
          </a:p>
        </p:txBody>
      </p:sp>
      <p:pic>
        <p:nvPicPr>
          <p:cNvPr id="7" name="Graphic 6" descr="Monthly calendar with solid fill">
            <a:extLst>
              <a:ext uri="{FF2B5EF4-FFF2-40B4-BE49-F238E27FC236}">
                <a16:creationId xmlns:a16="http://schemas.microsoft.com/office/drawing/2014/main" id="{F11E4ACB-1E3C-6129-27B9-B28715CD969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10279" y="3235800"/>
            <a:ext cx="1409465" cy="1409465"/>
          </a:xfrm>
          <a:prstGeom prst="rect">
            <a:avLst/>
          </a:prstGeom>
        </p:spPr>
      </p:pic>
      <p:sp>
        <p:nvSpPr>
          <p:cNvPr id="8" name="TextBox 7">
            <a:extLst>
              <a:ext uri="{FF2B5EF4-FFF2-40B4-BE49-F238E27FC236}">
                <a16:creationId xmlns:a16="http://schemas.microsoft.com/office/drawing/2014/main" id="{5ED171FB-7A65-3A92-DFD8-ADACA15DF584}"/>
              </a:ext>
            </a:extLst>
          </p:cNvPr>
          <p:cNvSpPr txBox="1"/>
          <p:nvPr/>
        </p:nvSpPr>
        <p:spPr>
          <a:xfrm>
            <a:off x="76703" y="955563"/>
            <a:ext cx="11913518" cy="461665"/>
          </a:xfrm>
          <a:prstGeom prst="rect">
            <a:avLst/>
          </a:prstGeom>
          <a:noFill/>
        </p:spPr>
        <p:txBody>
          <a:bodyPr wrap="none" rtlCol="0">
            <a:spAutoFit/>
          </a:bodyPr>
          <a:lstStyle/>
          <a:p>
            <a:r>
              <a:rPr lang="en-US" sz="2400" dirty="0"/>
              <a:t>Take small actions within sphere of </a:t>
            </a:r>
            <a:r>
              <a:rPr lang="en-US" sz="2400" b="1" dirty="0"/>
              <a:t>influence</a:t>
            </a:r>
            <a:r>
              <a:rPr lang="en-US" sz="2400" dirty="0"/>
              <a:t>, </a:t>
            </a:r>
            <a:r>
              <a:rPr lang="en-US" sz="2400" b="1" dirty="0"/>
              <a:t>capacity</a:t>
            </a:r>
            <a:r>
              <a:rPr lang="en-US" sz="2400" dirty="0"/>
              <a:t>, </a:t>
            </a:r>
            <a:r>
              <a:rPr lang="en-US" sz="2400" b="1" dirty="0"/>
              <a:t>resources</a:t>
            </a:r>
            <a:r>
              <a:rPr lang="en-US" sz="2400" dirty="0"/>
              <a:t> and </a:t>
            </a:r>
            <a:r>
              <a:rPr lang="en-US" sz="2400" b="1" dirty="0"/>
              <a:t>time</a:t>
            </a:r>
            <a:r>
              <a:rPr lang="en-US" sz="2400" dirty="0"/>
              <a:t> constraints</a:t>
            </a:r>
          </a:p>
        </p:txBody>
      </p:sp>
      <p:grpSp>
        <p:nvGrpSpPr>
          <p:cNvPr id="18" name="Group 17">
            <a:extLst>
              <a:ext uri="{FF2B5EF4-FFF2-40B4-BE49-F238E27FC236}">
                <a16:creationId xmlns:a16="http://schemas.microsoft.com/office/drawing/2014/main" id="{884B341F-4E28-75F7-D336-E6E843289FE2}"/>
              </a:ext>
            </a:extLst>
          </p:cNvPr>
          <p:cNvGrpSpPr/>
          <p:nvPr/>
        </p:nvGrpSpPr>
        <p:grpSpPr>
          <a:xfrm>
            <a:off x="10695606" y="28871"/>
            <a:ext cx="1052044" cy="942478"/>
            <a:chOff x="7225406" y="4467076"/>
            <a:chExt cx="1052044" cy="942478"/>
          </a:xfrm>
        </p:grpSpPr>
        <p:pic>
          <p:nvPicPr>
            <p:cNvPr id="15" name="Graphic 14" descr="Downstairs with solid fill">
              <a:extLst>
                <a:ext uri="{FF2B5EF4-FFF2-40B4-BE49-F238E27FC236}">
                  <a16:creationId xmlns:a16="http://schemas.microsoft.com/office/drawing/2014/main" id="{7BF79CD6-A4FA-2E6D-CDB9-BBD777BF387E}"/>
                </a:ext>
              </a:extLst>
            </p:cNvPr>
            <p:cNvPicPr>
              <a:picLocks noChangeAspect="1"/>
            </p:cNvPicPr>
            <p:nvPr/>
          </p:nvPicPr>
          <p:blipFill>
            <a:blip>
              <a:extLst>
                <a:ext uri="{96DAC541-7B7A-43D3-8B79-37D633B846F1}">
                  <asvg:svgBlip xmlns:asvg="http://schemas.microsoft.com/office/drawing/2016/SVG/main" r:embed="rId6"/>
                </a:ext>
              </a:extLst>
            </a:blip>
            <a:srcRect b="-2141"/>
            <a:stretch>
              <a:fillRect/>
            </a:stretch>
          </p:blipFill>
          <p:spPr>
            <a:xfrm>
              <a:off x="7225406" y="4467076"/>
              <a:ext cx="914400" cy="933980"/>
            </a:xfrm>
            <a:prstGeom prst="rect">
              <a:avLst/>
            </a:prstGeom>
          </p:spPr>
        </p:pic>
        <p:sp>
          <p:nvSpPr>
            <p:cNvPr id="16" name="Oval 15">
              <a:extLst>
                <a:ext uri="{FF2B5EF4-FFF2-40B4-BE49-F238E27FC236}">
                  <a16:creationId xmlns:a16="http://schemas.microsoft.com/office/drawing/2014/main" id="{6645BEA6-E267-3D7C-0A9C-49B016B17611}"/>
                </a:ext>
              </a:extLst>
            </p:cNvPr>
            <p:cNvSpPr/>
            <p:nvPr/>
          </p:nvSpPr>
          <p:spPr>
            <a:xfrm>
              <a:off x="7768434" y="4909682"/>
              <a:ext cx="509016" cy="49987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Graphic 2" descr="Ripple with solid fill">
            <a:extLst>
              <a:ext uri="{FF2B5EF4-FFF2-40B4-BE49-F238E27FC236}">
                <a16:creationId xmlns:a16="http://schemas.microsoft.com/office/drawing/2014/main" id="{1B9857DD-69A5-7831-5E0D-A1B71C6F547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2147" y="2868613"/>
            <a:ext cx="1831482" cy="1831482"/>
          </a:xfrm>
          <a:prstGeom prst="rect">
            <a:avLst/>
          </a:prstGeom>
        </p:spPr>
      </p:pic>
      <p:pic>
        <p:nvPicPr>
          <p:cNvPr id="6" name="Graphic 5" descr="Monthly calendar with solid fill">
            <a:extLst>
              <a:ext uri="{FF2B5EF4-FFF2-40B4-BE49-F238E27FC236}">
                <a16:creationId xmlns:a16="http://schemas.microsoft.com/office/drawing/2014/main" id="{88C04C41-D653-51ED-F603-CB6DCFC4CE2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56394" y="2994943"/>
            <a:ext cx="1409465" cy="1409465"/>
          </a:xfrm>
          <a:prstGeom prst="rect">
            <a:avLst/>
          </a:prstGeom>
        </p:spPr>
      </p:pic>
      <p:sp>
        <p:nvSpPr>
          <p:cNvPr id="9" name="TextBox 8">
            <a:extLst>
              <a:ext uri="{FF2B5EF4-FFF2-40B4-BE49-F238E27FC236}">
                <a16:creationId xmlns:a16="http://schemas.microsoft.com/office/drawing/2014/main" id="{920410BB-B255-7BE9-8B0F-EEF5D50A268C}"/>
              </a:ext>
            </a:extLst>
          </p:cNvPr>
          <p:cNvSpPr txBox="1"/>
          <p:nvPr/>
        </p:nvSpPr>
        <p:spPr>
          <a:xfrm>
            <a:off x="4639934" y="4716823"/>
            <a:ext cx="1879810" cy="369332"/>
          </a:xfrm>
          <a:prstGeom prst="rect">
            <a:avLst/>
          </a:prstGeom>
          <a:noFill/>
        </p:spPr>
        <p:txBody>
          <a:bodyPr wrap="none" rtlCol="0">
            <a:spAutoFit/>
          </a:bodyPr>
          <a:lstStyle/>
          <a:p>
            <a:r>
              <a:rPr lang="en-US" dirty="0">
                <a:hlinkClick r:id="rId9"/>
              </a:rPr>
              <a:t>Bergmann (2023)</a:t>
            </a:r>
            <a:endParaRPr lang="en-US" dirty="0"/>
          </a:p>
        </p:txBody>
      </p:sp>
      <p:sp>
        <p:nvSpPr>
          <p:cNvPr id="10" name="TextBox 9">
            <a:extLst>
              <a:ext uri="{FF2B5EF4-FFF2-40B4-BE49-F238E27FC236}">
                <a16:creationId xmlns:a16="http://schemas.microsoft.com/office/drawing/2014/main" id="{DC3190C9-34EC-8F35-17F2-BAC551352055}"/>
              </a:ext>
            </a:extLst>
          </p:cNvPr>
          <p:cNvSpPr txBox="1"/>
          <p:nvPr/>
        </p:nvSpPr>
        <p:spPr>
          <a:xfrm>
            <a:off x="8239147" y="4622210"/>
            <a:ext cx="3370859" cy="369332"/>
          </a:xfrm>
          <a:prstGeom prst="rect">
            <a:avLst/>
          </a:prstGeom>
          <a:noFill/>
        </p:spPr>
        <p:txBody>
          <a:bodyPr wrap="none" rtlCol="0">
            <a:spAutoFit/>
          </a:bodyPr>
          <a:lstStyle/>
          <a:p>
            <a:r>
              <a:rPr lang="en-US" dirty="0"/>
              <a:t>e.g. can I send that email today?</a:t>
            </a:r>
          </a:p>
        </p:txBody>
      </p:sp>
      <p:sp>
        <p:nvSpPr>
          <p:cNvPr id="11" name="TextBox 10">
            <a:extLst>
              <a:ext uri="{FF2B5EF4-FFF2-40B4-BE49-F238E27FC236}">
                <a16:creationId xmlns:a16="http://schemas.microsoft.com/office/drawing/2014/main" id="{8D9A961F-9690-FA08-62B1-57FC21D46439}"/>
              </a:ext>
            </a:extLst>
          </p:cNvPr>
          <p:cNvSpPr txBox="1"/>
          <p:nvPr/>
        </p:nvSpPr>
        <p:spPr>
          <a:xfrm>
            <a:off x="416457" y="4439824"/>
            <a:ext cx="3173653" cy="923330"/>
          </a:xfrm>
          <a:prstGeom prst="rect">
            <a:avLst/>
          </a:prstGeom>
          <a:noFill/>
        </p:spPr>
        <p:txBody>
          <a:bodyPr wrap="square" rtlCol="0">
            <a:spAutoFit/>
          </a:bodyPr>
          <a:lstStyle/>
          <a:p>
            <a:r>
              <a:rPr lang="en-US" dirty="0"/>
              <a:t>e.g. What things can I influence/control in a situation?</a:t>
            </a:r>
          </a:p>
        </p:txBody>
      </p:sp>
    </p:spTree>
    <p:extLst>
      <p:ext uri="{BB962C8B-B14F-4D97-AF65-F5344CB8AC3E}">
        <p14:creationId xmlns:p14="http://schemas.microsoft.com/office/powerpoint/2010/main" val="1377806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13802-ADEF-3846-B0C1-67A01578B3F9}"/>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C24E4DD7-14F2-053F-829C-FCFB7FDE75A1}"/>
              </a:ext>
            </a:extLst>
          </p:cNvPr>
          <p:cNvGrpSpPr/>
          <p:nvPr/>
        </p:nvGrpSpPr>
        <p:grpSpPr>
          <a:xfrm>
            <a:off x="10704849" y="6564312"/>
            <a:ext cx="1362075" cy="273690"/>
            <a:chOff x="19317" y="2690018"/>
            <a:chExt cx="11784755" cy="2025180"/>
          </a:xfrm>
        </p:grpSpPr>
        <p:pic>
          <p:nvPicPr>
            <p:cNvPr id="8" name="Picture 2">
              <a:extLst>
                <a:ext uri="{FF2B5EF4-FFF2-40B4-BE49-F238E27FC236}">
                  <a16:creationId xmlns:a16="http://schemas.microsoft.com/office/drawing/2014/main" id="{7D372631-7FCB-DA60-C5D8-DE6FEE81E7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54BF6788-16DA-1BC3-2A9F-17104F107C1D}"/>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Title 1">
            <a:extLst>
              <a:ext uri="{FF2B5EF4-FFF2-40B4-BE49-F238E27FC236}">
                <a16:creationId xmlns:a16="http://schemas.microsoft.com/office/drawing/2014/main" id="{DA4B6830-639C-2CB8-8D7F-26452DAF51FA}"/>
              </a:ext>
            </a:extLst>
          </p:cNvPr>
          <p:cNvSpPr txBox="1">
            <a:spLocks/>
          </p:cNvSpPr>
          <p:nvPr/>
        </p:nvSpPr>
        <p:spPr>
          <a:xfrm>
            <a:off x="0" y="1"/>
            <a:ext cx="12192000" cy="948772"/>
          </a:xfrm>
          <a:prstGeom prst="rect">
            <a:avLst/>
          </a:prstGeom>
          <a:noFill/>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Small steps: from individual actions to community efforts</a:t>
            </a:r>
          </a:p>
        </p:txBody>
      </p:sp>
      <p:sp>
        <p:nvSpPr>
          <p:cNvPr id="3" name="Slide Number Placeholder 2">
            <a:extLst>
              <a:ext uri="{FF2B5EF4-FFF2-40B4-BE49-F238E27FC236}">
                <a16:creationId xmlns:a16="http://schemas.microsoft.com/office/drawing/2014/main" id="{ED9C1298-8D60-4C5E-3E3F-A2BC55DA5B6A}"/>
              </a:ext>
            </a:extLst>
          </p:cNvPr>
          <p:cNvSpPr>
            <a:spLocks noGrp="1"/>
          </p:cNvSpPr>
          <p:nvPr>
            <p:ph type="sldNum" sz="quarter" idx="12"/>
          </p:nvPr>
        </p:nvSpPr>
        <p:spPr/>
        <p:txBody>
          <a:bodyPr/>
          <a:lstStyle/>
          <a:p>
            <a:fld id="{DC6309F4-03C8-4D48-A124-A9AD6E083FAC}" type="slidenum">
              <a:rPr lang="en-US" smtClean="0"/>
              <a:t>10</a:t>
            </a:fld>
            <a:endParaRPr lang="en-US"/>
          </a:p>
        </p:txBody>
      </p:sp>
      <p:pic>
        <p:nvPicPr>
          <p:cNvPr id="1026" name="Picture 2">
            <a:extLst>
              <a:ext uri="{FF2B5EF4-FFF2-40B4-BE49-F238E27FC236}">
                <a16:creationId xmlns:a16="http://schemas.microsoft.com/office/drawing/2014/main" id="{FCA5A49C-C1FE-642C-9231-82276A8D97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859" y="1816312"/>
            <a:ext cx="11244602" cy="436314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0A7E5EB-8386-0461-4FDA-439BFFA5A5DC}"/>
              </a:ext>
            </a:extLst>
          </p:cNvPr>
          <p:cNvSpPr txBox="1"/>
          <p:nvPr/>
        </p:nvSpPr>
        <p:spPr>
          <a:xfrm>
            <a:off x="229859" y="820289"/>
            <a:ext cx="9243325" cy="830997"/>
          </a:xfrm>
          <a:prstGeom prst="rect">
            <a:avLst/>
          </a:prstGeom>
          <a:noFill/>
        </p:spPr>
        <p:txBody>
          <a:bodyPr wrap="square" rtlCol="0">
            <a:spAutoFit/>
          </a:bodyPr>
          <a:lstStyle/>
          <a:p>
            <a:r>
              <a:rPr lang="en-US" sz="2400" dirty="0"/>
              <a:t>A practical guide for engaging in Open Science by </a:t>
            </a:r>
            <a:r>
              <a:rPr lang="en-US" sz="2400" dirty="0">
                <a:hlinkClick r:id="rId6"/>
              </a:rPr>
              <a:t>Chuan-peng et al. (2025)</a:t>
            </a:r>
            <a:r>
              <a:rPr lang="en-US" sz="2400" dirty="0"/>
              <a:t>, with a focus on researchers from developing countries. </a:t>
            </a:r>
          </a:p>
        </p:txBody>
      </p:sp>
      <p:sp>
        <p:nvSpPr>
          <p:cNvPr id="2" name="TextBox 1">
            <a:extLst>
              <a:ext uri="{FF2B5EF4-FFF2-40B4-BE49-F238E27FC236}">
                <a16:creationId xmlns:a16="http://schemas.microsoft.com/office/drawing/2014/main" id="{A2F46596-A685-81D7-5552-3523FC63E9D1}"/>
              </a:ext>
            </a:extLst>
          </p:cNvPr>
          <p:cNvSpPr txBox="1"/>
          <p:nvPr/>
        </p:nvSpPr>
        <p:spPr>
          <a:xfrm>
            <a:off x="1991458" y="6356350"/>
            <a:ext cx="6229141" cy="369332"/>
          </a:xfrm>
          <a:prstGeom prst="rect">
            <a:avLst/>
          </a:prstGeom>
          <a:noFill/>
        </p:spPr>
        <p:txBody>
          <a:bodyPr wrap="none" rtlCol="0">
            <a:spAutoFit/>
          </a:bodyPr>
          <a:lstStyle/>
          <a:p>
            <a:r>
              <a:rPr lang="en-US" dirty="0"/>
              <a:t>FOSS = F</a:t>
            </a:r>
            <a:r>
              <a:rPr lang="en-GB" dirty="0" err="1"/>
              <a:t>ree</a:t>
            </a:r>
            <a:r>
              <a:rPr lang="en-GB" dirty="0"/>
              <a:t> and open-source software, OH = Open hardware</a:t>
            </a:r>
            <a:endParaRPr lang="en-US" dirty="0"/>
          </a:p>
        </p:txBody>
      </p:sp>
      <p:grpSp>
        <p:nvGrpSpPr>
          <p:cNvPr id="11" name="Group 10">
            <a:extLst>
              <a:ext uri="{FF2B5EF4-FFF2-40B4-BE49-F238E27FC236}">
                <a16:creationId xmlns:a16="http://schemas.microsoft.com/office/drawing/2014/main" id="{B47C7DA7-71E8-E362-DF01-52806E7E5215}"/>
              </a:ext>
            </a:extLst>
          </p:cNvPr>
          <p:cNvGrpSpPr/>
          <p:nvPr/>
        </p:nvGrpSpPr>
        <p:grpSpPr>
          <a:xfrm>
            <a:off x="10824991" y="669964"/>
            <a:ext cx="1052044" cy="942478"/>
            <a:chOff x="7225406" y="4467076"/>
            <a:chExt cx="1052044" cy="942478"/>
          </a:xfrm>
        </p:grpSpPr>
        <p:pic>
          <p:nvPicPr>
            <p:cNvPr id="12" name="Graphic 11" descr="Downstairs with solid fill">
              <a:extLst>
                <a:ext uri="{FF2B5EF4-FFF2-40B4-BE49-F238E27FC236}">
                  <a16:creationId xmlns:a16="http://schemas.microsoft.com/office/drawing/2014/main" id="{23BBDD73-8169-98ED-B074-F92935348F34}"/>
                </a:ext>
              </a:extLst>
            </p:cNvPr>
            <p:cNvPicPr>
              <a:picLocks noChangeAspect="1"/>
            </p:cNvPicPr>
            <p:nvPr/>
          </p:nvPicPr>
          <p:blipFill>
            <a:blip>
              <a:extLst>
                <a:ext uri="{96DAC541-7B7A-43D3-8B79-37D633B846F1}">
                  <asvg:svgBlip xmlns:asvg="http://schemas.microsoft.com/office/drawing/2016/SVG/main" r:embed="rId7"/>
                </a:ext>
              </a:extLst>
            </a:blip>
            <a:srcRect b="-2141"/>
            <a:stretch>
              <a:fillRect/>
            </a:stretch>
          </p:blipFill>
          <p:spPr>
            <a:xfrm>
              <a:off x="7225406" y="4467076"/>
              <a:ext cx="914400" cy="933980"/>
            </a:xfrm>
            <a:prstGeom prst="rect">
              <a:avLst/>
            </a:prstGeom>
          </p:spPr>
        </p:pic>
        <p:sp>
          <p:nvSpPr>
            <p:cNvPr id="13" name="Oval 12">
              <a:extLst>
                <a:ext uri="{FF2B5EF4-FFF2-40B4-BE49-F238E27FC236}">
                  <a16:creationId xmlns:a16="http://schemas.microsoft.com/office/drawing/2014/main" id="{1D961938-25A5-B036-7AC0-40456047B2D0}"/>
                </a:ext>
              </a:extLst>
            </p:cNvPr>
            <p:cNvSpPr/>
            <p:nvPr/>
          </p:nvSpPr>
          <p:spPr>
            <a:xfrm>
              <a:off x="7768434" y="4909682"/>
              <a:ext cx="509016" cy="49987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77783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E5394-7071-9D35-29A8-95B20D4645B1}"/>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377C2FA8-3DFA-B196-A63A-27C213AD0D30}"/>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E1FF339B-2B01-3A98-248E-58C3AECDFC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9C4DC371-1C1A-3066-9846-88A8D7409EB5}"/>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00FBF809-42A6-F147-1514-9EC1718101E3}"/>
              </a:ext>
            </a:extLst>
          </p:cNvPr>
          <p:cNvSpPr>
            <a:spLocks noGrp="1"/>
          </p:cNvSpPr>
          <p:nvPr>
            <p:ph type="sldNum" sz="quarter" idx="12"/>
          </p:nvPr>
        </p:nvSpPr>
        <p:spPr/>
        <p:txBody>
          <a:bodyPr/>
          <a:lstStyle/>
          <a:p>
            <a:fld id="{DC6309F4-03C8-4D48-A124-A9AD6E083FAC}" type="slidenum">
              <a:rPr lang="en-US" smtClean="0"/>
              <a:t>11</a:t>
            </a:fld>
            <a:endParaRPr lang="en-US"/>
          </a:p>
        </p:txBody>
      </p:sp>
      <p:sp>
        <p:nvSpPr>
          <p:cNvPr id="4" name="Title 1">
            <a:extLst>
              <a:ext uri="{FF2B5EF4-FFF2-40B4-BE49-F238E27FC236}">
                <a16:creationId xmlns:a16="http://schemas.microsoft.com/office/drawing/2014/main" id="{CBDE7755-6C38-9076-BD64-D88A6DCFFE23}"/>
              </a:ext>
            </a:extLst>
          </p:cNvPr>
          <p:cNvSpPr txBox="1">
            <a:spLocks/>
          </p:cNvSpPr>
          <p:nvPr/>
        </p:nvSpPr>
        <p:spPr>
          <a:xfrm>
            <a:off x="0" y="-26541"/>
            <a:ext cx="11232125" cy="940942"/>
          </a:xfrm>
          <a:prstGeom prst="rect">
            <a:avLst/>
          </a:prstGeom>
          <a:noFill/>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Equity embedded not as an add-on in Open Science   </a:t>
            </a:r>
          </a:p>
        </p:txBody>
      </p:sp>
      <p:sp>
        <p:nvSpPr>
          <p:cNvPr id="7" name="TextBox 6">
            <a:extLst>
              <a:ext uri="{FF2B5EF4-FFF2-40B4-BE49-F238E27FC236}">
                <a16:creationId xmlns:a16="http://schemas.microsoft.com/office/drawing/2014/main" id="{9DA12D73-6FEF-B867-EC13-FF43F72EAE6F}"/>
              </a:ext>
            </a:extLst>
          </p:cNvPr>
          <p:cNvSpPr txBox="1"/>
          <p:nvPr/>
        </p:nvSpPr>
        <p:spPr>
          <a:xfrm>
            <a:off x="8851394" y="3197721"/>
            <a:ext cx="3215530" cy="646331"/>
          </a:xfrm>
          <a:prstGeom prst="rect">
            <a:avLst/>
          </a:prstGeom>
          <a:noFill/>
        </p:spPr>
        <p:txBody>
          <a:bodyPr wrap="square" rtlCol="0">
            <a:spAutoFit/>
          </a:bodyPr>
          <a:lstStyle/>
          <a:p>
            <a:r>
              <a:rPr lang="en-US" dirty="0"/>
              <a:t>e.g. More than H-index. What </a:t>
            </a:r>
          </a:p>
          <a:p>
            <a:r>
              <a:rPr lang="en-US" dirty="0"/>
              <a:t>counts as rigorous research? </a:t>
            </a:r>
          </a:p>
        </p:txBody>
      </p:sp>
      <p:sp>
        <p:nvSpPr>
          <p:cNvPr id="8" name="TextBox 7">
            <a:extLst>
              <a:ext uri="{FF2B5EF4-FFF2-40B4-BE49-F238E27FC236}">
                <a16:creationId xmlns:a16="http://schemas.microsoft.com/office/drawing/2014/main" id="{72371A56-3456-E074-7280-77D386C12C2C}"/>
              </a:ext>
            </a:extLst>
          </p:cNvPr>
          <p:cNvSpPr txBox="1"/>
          <p:nvPr/>
        </p:nvSpPr>
        <p:spPr>
          <a:xfrm>
            <a:off x="8766199" y="906455"/>
            <a:ext cx="3215531" cy="1200329"/>
          </a:xfrm>
          <a:prstGeom prst="rect">
            <a:avLst/>
          </a:prstGeom>
          <a:noFill/>
        </p:spPr>
        <p:txBody>
          <a:bodyPr wrap="square" rtlCol="0">
            <a:spAutoFit/>
          </a:bodyPr>
          <a:lstStyle/>
          <a:p>
            <a:r>
              <a:rPr lang="en-US" sz="2400" b="1" dirty="0"/>
              <a:t>Advocate</a:t>
            </a:r>
            <a:r>
              <a:rPr lang="en-US" sz="2400" dirty="0"/>
              <a:t> for </a:t>
            </a:r>
            <a:r>
              <a:rPr lang="en-US" sz="2400" b="1" dirty="0"/>
              <a:t>broader metrics</a:t>
            </a:r>
            <a:r>
              <a:rPr lang="en-US" sz="2400" dirty="0"/>
              <a:t> for evaluating impact</a:t>
            </a:r>
          </a:p>
        </p:txBody>
      </p:sp>
      <p:pic>
        <p:nvPicPr>
          <p:cNvPr id="10" name="Graphic 9" descr="Thought with solid fill">
            <a:extLst>
              <a:ext uri="{FF2B5EF4-FFF2-40B4-BE49-F238E27FC236}">
                <a16:creationId xmlns:a16="http://schemas.microsoft.com/office/drawing/2014/main" id="{DD5AC2C4-882E-0EAC-A6D1-854CAECAE85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2688" y="2038010"/>
            <a:ext cx="1159711" cy="1159711"/>
          </a:xfrm>
          <a:prstGeom prst="rect">
            <a:avLst/>
          </a:prstGeom>
        </p:spPr>
      </p:pic>
      <p:sp>
        <p:nvSpPr>
          <p:cNvPr id="11" name="TextBox 10">
            <a:extLst>
              <a:ext uri="{FF2B5EF4-FFF2-40B4-BE49-F238E27FC236}">
                <a16:creationId xmlns:a16="http://schemas.microsoft.com/office/drawing/2014/main" id="{A74DFF6E-98BD-FD36-B817-2F9001EDC03B}"/>
              </a:ext>
            </a:extLst>
          </p:cNvPr>
          <p:cNvSpPr txBox="1"/>
          <p:nvPr/>
        </p:nvSpPr>
        <p:spPr>
          <a:xfrm>
            <a:off x="4771170" y="752487"/>
            <a:ext cx="4459115" cy="1569660"/>
          </a:xfrm>
          <a:prstGeom prst="rect">
            <a:avLst/>
          </a:prstGeom>
          <a:noFill/>
        </p:spPr>
        <p:txBody>
          <a:bodyPr wrap="square" rtlCol="0">
            <a:spAutoFit/>
          </a:bodyPr>
          <a:lstStyle/>
          <a:p>
            <a:r>
              <a:rPr lang="en-US" sz="2400" b="1" dirty="0"/>
              <a:t>Consider</a:t>
            </a:r>
            <a:r>
              <a:rPr lang="en-US" sz="2400" dirty="0"/>
              <a:t> how your </a:t>
            </a:r>
          </a:p>
          <a:p>
            <a:r>
              <a:rPr lang="en-US" sz="2400" b="1" dirty="0"/>
              <a:t>actions impact </a:t>
            </a:r>
            <a:r>
              <a:rPr lang="en-US" sz="2400" dirty="0"/>
              <a:t>those </a:t>
            </a:r>
          </a:p>
          <a:p>
            <a:r>
              <a:rPr lang="en-US" sz="2400" dirty="0"/>
              <a:t>from under-represented communities</a:t>
            </a:r>
            <a:endParaRPr lang="en-US" sz="2400" b="1" dirty="0"/>
          </a:p>
        </p:txBody>
      </p:sp>
      <p:sp>
        <p:nvSpPr>
          <p:cNvPr id="14" name="TextBox 13">
            <a:extLst>
              <a:ext uri="{FF2B5EF4-FFF2-40B4-BE49-F238E27FC236}">
                <a16:creationId xmlns:a16="http://schemas.microsoft.com/office/drawing/2014/main" id="{BBDB1D83-35EC-D3D9-E6E4-F224F460FDF1}"/>
              </a:ext>
            </a:extLst>
          </p:cNvPr>
          <p:cNvSpPr txBox="1"/>
          <p:nvPr/>
        </p:nvSpPr>
        <p:spPr>
          <a:xfrm>
            <a:off x="4885620" y="3370024"/>
            <a:ext cx="3031664" cy="369332"/>
          </a:xfrm>
          <a:prstGeom prst="rect">
            <a:avLst/>
          </a:prstGeom>
          <a:noFill/>
        </p:spPr>
        <p:txBody>
          <a:bodyPr wrap="none" rtlCol="0">
            <a:spAutoFit/>
          </a:bodyPr>
          <a:lstStyle/>
          <a:p>
            <a:r>
              <a:rPr lang="en-US" dirty="0"/>
              <a:t>e.g. Using inclusive language</a:t>
            </a:r>
          </a:p>
        </p:txBody>
      </p:sp>
      <p:sp>
        <p:nvSpPr>
          <p:cNvPr id="15" name="TextBox 14">
            <a:extLst>
              <a:ext uri="{FF2B5EF4-FFF2-40B4-BE49-F238E27FC236}">
                <a16:creationId xmlns:a16="http://schemas.microsoft.com/office/drawing/2014/main" id="{2BC20587-2244-E098-B231-4E64E11E3B1B}"/>
              </a:ext>
            </a:extLst>
          </p:cNvPr>
          <p:cNvSpPr txBox="1"/>
          <p:nvPr/>
        </p:nvSpPr>
        <p:spPr>
          <a:xfrm>
            <a:off x="5996522" y="5010543"/>
            <a:ext cx="5647357" cy="923330"/>
          </a:xfrm>
          <a:prstGeom prst="rect">
            <a:avLst/>
          </a:prstGeom>
          <a:solidFill>
            <a:schemeClr val="bg1">
              <a:lumMod val="85000"/>
            </a:schemeClr>
          </a:solidFill>
        </p:spPr>
        <p:txBody>
          <a:bodyPr wrap="square" rtlCol="0">
            <a:spAutoFit/>
          </a:bodyPr>
          <a:lstStyle/>
          <a:p>
            <a:r>
              <a:rPr lang="en-US" dirty="0"/>
              <a:t>Read more about equity in Open Science in the Munich Manifesto for Equitable Open Research (</a:t>
            </a:r>
            <a:r>
              <a:rPr lang="en-GB" dirty="0"/>
              <a:t>PHIL_OS, 2026</a:t>
            </a:r>
            <a:r>
              <a:rPr lang="en-US" dirty="0"/>
              <a:t>): </a:t>
            </a:r>
            <a:r>
              <a:rPr lang="en-US" dirty="0">
                <a:hlinkClick r:id="rId6"/>
              </a:rPr>
              <a:t>https://zenodo.org/records/20700870</a:t>
            </a:r>
            <a:r>
              <a:rPr lang="en-US" dirty="0"/>
              <a:t> </a:t>
            </a:r>
          </a:p>
        </p:txBody>
      </p:sp>
      <p:sp>
        <p:nvSpPr>
          <p:cNvPr id="16" name="TextBox 15">
            <a:extLst>
              <a:ext uri="{FF2B5EF4-FFF2-40B4-BE49-F238E27FC236}">
                <a16:creationId xmlns:a16="http://schemas.microsoft.com/office/drawing/2014/main" id="{F9F5CF15-9B44-D99E-0B10-7E425825BF41}"/>
              </a:ext>
            </a:extLst>
          </p:cNvPr>
          <p:cNvSpPr txBox="1"/>
          <p:nvPr/>
        </p:nvSpPr>
        <p:spPr>
          <a:xfrm>
            <a:off x="140944" y="950627"/>
            <a:ext cx="4459116" cy="1200329"/>
          </a:xfrm>
          <a:prstGeom prst="rect">
            <a:avLst/>
          </a:prstGeom>
          <a:noFill/>
        </p:spPr>
        <p:txBody>
          <a:bodyPr wrap="square" rtlCol="0">
            <a:spAutoFit/>
          </a:bodyPr>
          <a:lstStyle/>
          <a:p>
            <a:r>
              <a:rPr lang="en-US" sz="2400" b="1" dirty="0"/>
              <a:t>Recognize </a:t>
            </a:r>
            <a:r>
              <a:rPr lang="en-US" sz="2400" dirty="0"/>
              <a:t>the </a:t>
            </a:r>
            <a:r>
              <a:rPr lang="en-US" sz="2400" b="1" dirty="0"/>
              <a:t>diversity</a:t>
            </a:r>
            <a:r>
              <a:rPr lang="en-US" sz="2400" dirty="0"/>
              <a:t> of capacities, knowledge systems and values of researchers</a:t>
            </a:r>
          </a:p>
        </p:txBody>
      </p:sp>
      <p:pic>
        <p:nvPicPr>
          <p:cNvPr id="17" name="Graphic 16" descr="Cheers with solid fill">
            <a:extLst>
              <a:ext uri="{FF2B5EF4-FFF2-40B4-BE49-F238E27FC236}">
                <a16:creationId xmlns:a16="http://schemas.microsoft.com/office/drawing/2014/main" id="{2AF7F48F-B3FE-D5D7-B976-D6203B1B49E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1655" y="2106784"/>
            <a:ext cx="1159711" cy="1159711"/>
          </a:xfrm>
          <a:prstGeom prst="rect">
            <a:avLst/>
          </a:prstGeom>
        </p:spPr>
      </p:pic>
      <p:pic>
        <p:nvPicPr>
          <p:cNvPr id="19" name="Graphic 18" descr="Pinch Zoom In with solid fill">
            <a:extLst>
              <a:ext uri="{FF2B5EF4-FFF2-40B4-BE49-F238E27FC236}">
                <a16:creationId xmlns:a16="http://schemas.microsoft.com/office/drawing/2014/main" id="{9EC59862-027B-1F44-B738-8EB2ADCF6D9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94371" y="1991092"/>
            <a:ext cx="1153559" cy="1153559"/>
          </a:xfrm>
          <a:prstGeom prst="rect">
            <a:avLst/>
          </a:prstGeom>
        </p:spPr>
      </p:pic>
      <p:sp>
        <p:nvSpPr>
          <p:cNvPr id="21" name="TextBox 20">
            <a:extLst>
              <a:ext uri="{FF2B5EF4-FFF2-40B4-BE49-F238E27FC236}">
                <a16:creationId xmlns:a16="http://schemas.microsoft.com/office/drawing/2014/main" id="{52B0C9E2-8DEE-DB90-83EC-DA52728B4290}"/>
              </a:ext>
            </a:extLst>
          </p:cNvPr>
          <p:cNvSpPr txBox="1"/>
          <p:nvPr/>
        </p:nvSpPr>
        <p:spPr>
          <a:xfrm>
            <a:off x="327468" y="4594255"/>
            <a:ext cx="3517914" cy="461665"/>
          </a:xfrm>
          <a:prstGeom prst="rect">
            <a:avLst/>
          </a:prstGeom>
          <a:noFill/>
        </p:spPr>
        <p:txBody>
          <a:bodyPr wrap="square" rtlCol="0">
            <a:spAutoFit/>
          </a:bodyPr>
          <a:lstStyle/>
          <a:p>
            <a:r>
              <a:rPr lang="en-US" sz="2400" b="1" dirty="0"/>
              <a:t>One-size-doesn’t-fit-all</a:t>
            </a:r>
          </a:p>
        </p:txBody>
      </p:sp>
      <p:sp>
        <p:nvSpPr>
          <p:cNvPr id="27" name="TextBox 26">
            <a:extLst>
              <a:ext uri="{FF2B5EF4-FFF2-40B4-BE49-F238E27FC236}">
                <a16:creationId xmlns:a16="http://schemas.microsoft.com/office/drawing/2014/main" id="{CCE9A4B4-85E7-4B2C-AD51-9CEFB4F03827}"/>
              </a:ext>
            </a:extLst>
          </p:cNvPr>
          <p:cNvSpPr txBox="1"/>
          <p:nvPr/>
        </p:nvSpPr>
        <p:spPr>
          <a:xfrm>
            <a:off x="327468" y="3288311"/>
            <a:ext cx="3915348" cy="923330"/>
          </a:xfrm>
          <a:prstGeom prst="rect">
            <a:avLst/>
          </a:prstGeom>
          <a:noFill/>
        </p:spPr>
        <p:txBody>
          <a:bodyPr wrap="square" rtlCol="0">
            <a:spAutoFit/>
          </a:bodyPr>
          <a:lstStyle/>
          <a:p>
            <a:r>
              <a:rPr lang="en-US" dirty="0"/>
              <a:t>e.g. Openness and flexibility to different ways of working, establish multiple ways to contribute</a:t>
            </a:r>
          </a:p>
        </p:txBody>
      </p:sp>
      <p:sp>
        <p:nvSpPr>
          <p:cNvPr id="28" name="TextBox 27">
            <a:extLst>
              <a:ext uri="{FF2B5EF4-FFF2-40B4-BE49-F238E27FC236}">
                <a16:creationId xmlns:a16="http://schemas.microsoft.com/office/drawing/2014/main" id="{F461481A-BB39-D9D0-97A3-72AA71B6ACC4}"/>
              </a:ext>
            </a:extLst>
          </p:cNvPr>
          <p:cNvSpPr txBox="1"/>
          <p:nvPr/>
        </p:nvSpPr>
        <p:spPr>
          <a:xfrm>
            <a:off x="282841" y="5992034"/>
            <a:ext cx="4837799" cy="646331"/>
          </a:xfrm>
          <a:prstGeom prst="rect">
            <a:avLst/>
          </a:prstGeom>
          <a:noFill/>
        </p:spPr>
        <p:txBody>
          <a:bodyPr wrap="square" rtlCol="0">
            <a:spAutoFit/>
          </a:bodyPr>
          <a:lstStyle/>
          <a:p>
            <a:r>
              <a:rPr lang="en-US" dirty="0"/>
              <a:t>e.g. Challenge binary ways of thinking, adopt and adapt recommended practices to context</a:t>
            </a:r>
          </a:p>
        </p:txBody>
      </p:sp>
      <p:sp>
        <p:nvSpPr>
          <p:cNvPr id="32" name="Oval 31">
            <a:extLst>
              <a:ext uri="{FF2B5EF4-FFF2-40B4-BE49-F238E27FC236}">
                <a16:creationId xmlns:a16="http://schemas.microsoft.com/office/drawing/2014/main" id="{078F34ED-8346-131F-D365-A95BC012AD55}"/>
              </a:ext>
            </a:extLst>
          </p:cNvPr>
          <p:cNvSpPr/>
          <p:nvPr/>
        </p:nvSpPr>
        <p:spPr>
          <a:xfrm>
            <a:off x="1048280" y="5197204"/>
            <a:ext cx="523230" cy="55000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ounded Rectangle 33">
            <a:extLst>
              <a:ext uri="{FF2B5EF4-FFF2-40B4-BE49-F238E27FC236}">
                <a16:creationId xmlns:a16="http://schemas.microsoft.com/office/drawing/2014/main" id="{5D88D00E-966B-ECF6-E6F5-D760204D885B}"/>
              </a:ext>
            </a:extLst>
          </p:cNvPr>
          <p:cNvSpPr/>
          <p:nvPr/>
        </p:nvSpPr>
        <p:spPr>
          <a:xfrm>
            <a:off x="1747836" y="5197204"/>
            <a:ext cx="523230" cy="550008"/>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gular Pentagon 34">
            <a:extLst>
              <a:ext uri="{FF2B5EF4-FFF2-40B4-BE49-F238E27FC236}">
                <a16:creationId xmlns:a16="http://schemas.microsoft.com/office/drawing/2014/main" id="{489A2029-E482-D1F6-C25F-B41941AAAD7D}"/>
              </a:ext>
            </a:extLst>
          </p:cNvPr>
          <p:cNvSpPr/>
          <p:nvPr/>
        </p:nvSpPr>
        <p:spPr>
          <a:xfrm>
            <a:off x="2447392" y="5160281"/>
            <a:ext cx="523230" cy="556506"/>
          </a:xfrm>
          <a:prstGeom prst="pentag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Graphic 36" descr="Weights Uneven with solid fill">
            <a:extLst>
              <a:ext uri="{FF2B5EF4-FFF2-40B4-BE49-F238E27FC236}">
                <a16:creationId xmlns:a16="http://schemas.microsoft.com/office/drawing/2014/main" id="{97048FC4-678D-ED55-5666-7E07D9991BB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232125" y="116818"/>
            <a:ext cx="721286" cy="721286"/>
          </a:xfrm>
          <a:prstGeom prst="rect">
            <a:avLst/>
          </a:prstGeom>
        </p:spPr>
      </p:pic>
    </p:spTree>
    <p:extLst>
      <p:ext uri="{BB962C8B-B14F-4D97-AF65-F5344CB8AC3E}">
        <p14:creationId xmlns:p14="http://schemas.microsoft.com/office/powerpoint/2010/main" val="3916712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C6437-2112-5243-0504-CC0B351DB6D8}"/>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7DAE3E5F-D358-CC3A-0001-0FEF4432336B}"/>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DCACA630-4F90-D997-5D42-667832B580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41A9AB22-C144-3EC4-45E2-CBE0C1924AE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47AB983F-E662-A4B9-1F41-C55E9B5A7165}"/>
              </a:ext>
            </a:extLst>
          </p:cNvPr>
          <p:cNvSpPr>
            <a:spLocks noGrp="1"/>
          </p:cNvSpPr>
          <p:nvPr>
            <p:ph type="sldNum" sz="quarter" idx="12"/>
          </p:nvPr>
        </p:nvSpPr>
        <p:spPr/>
        <p:txBody>
          <a:bodyPr/>
          <a:lstStyle/>
          <a:p>
            <a:fld id="{DC6309F4-03C8-4D48-A124-A9AD6E083FAC}" type="slidenum">
              <a:rPr lang="en-US" smtClean="0"/>
              <a:t>12</a:t>
            </a:fld>
            <a:endParaRPr lang="en-US" dirty="0"/>
          </a:p>
        </p:txBody>
      </p:sp>
      <p:sp>
        <p:nvSpPr>
          <p:cNvPr id="4" name="Title 1">
            <a:extLst>
              <a:ext uri="{FF2B5EF4-FFF2-40B4-BE49-F238E27FC236}">
                <a16:creationId xmlns:a16="http://schemas.microsoft.com/office/drawing/2014/main" id="{61129D12-3E04-6A8E-336E-D950E61E3D62}"/>
              </a:ext>
            </a:extLst>
          </p:cNvPr>
          <p:cNvSpPr txBox="1">
            <a:spLocks/>
          </p:cNvSpPr>
          <p:nvPr/>
        </p:nvSpPr>
        <p:spPr>
          <a:xfrm>
            <a:off x="0" y="-26541"/>
            <a:ext cx="9051235" cy="989710"/>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Interim summary</a:t>
            </a:r>
          </a:p>
        </p:txBody>
      </p:sp>
      <p:grpSp>
        <p:nvGrpSpPr>
          <p:cNvPr id="2" name="Group 1">
            <a:extLst>
              <a:ext uri="{FF2B5EF4-FFF2-40B4-BE49-F238E27FC236}">
                <a16:creationId xmlns:a16="http://schemas.microsoft.com/office/drawing/2014/main" id="{1FFA8918-85E5-CFE3-BBA2-B3F72EF50C9C}"/>
              </a:ext>
            </a:extLst>
          </p:cNvPr>
          <p:cNvGrpSpPr/>
          <p:nvPr/>
        </p:nvGrpSpPr>
        <p:grpSpPr>
          <a:xfrm>
            <a:off x="5029659" y="1896038"/>
            <a:ext cx="1602395" cy="1636174"/>
            <a:chOff x="6606024" y="1721448"/>
            <a:chExt cx="1641987" cy="1666134"/>
          </a:xfrm>
        </p:grpSpPr>
        <p:sp>
          <p:nvSpPr>
            <p:cNvPr id="6" name="Oval 5">
              <a:extLst>
                <a:ext uri="{FF2B5EF4-FFF2-40B4-BE49-F238E27FC236}">
                  <a16:creationId xmlns:a16="http://schemas.microsoft.com/office/drawing/2014/main" id="{4AE5DF4D-CB1D-787E-472D-1DBE545697B0}"/>
                </a:ext>
              </a:extLst>
            </p:cNvPr>
            <p:cNvSpPr/>
            <p:nvPr/>
          </p:nvSpPr>
          <p:spPr>
            <a:xfrm>
              <a:off x="6606024" y="1721448"/>
              <a:ext cx="1641987"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Clapper board with solid fill">
              <a:extLst>
                <a:ext uri="{FF2B5EF4-FFF2-40B4-BE49-F238E27FC236}">
                  <a16:creationId xmlns:a16="http://schemas.microsoft.com/office/drawing/2014/main" id="{8A1CF48E-76D9-9653-85F0-FA83BDD6C16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24209" y="1910345"/>
              <a:ext cx="1151526" cy="1151526"/>
            </a:xfrm>
            <a:prstGeom prst="rect">
              <a:avLst/>
            </a:prstGeom>
          </p:spPr>
        </p:pic>
      </p:grpSp>
      <p:pic>
        <p:nvPicPr>
          <p:cNvPr id="13" name="Graphic 12" descr="Marker with solid fill">
            <a:extLst>
              <a:ext uri="{FF2B5EF4-FFF2-40B4-BE49-F238E27FC236}">
                <a16:creationId xmlns:a16="http://schemas.microsoft.com/office/drawing/2014/main" id="{55D6AD53-CE0B-309B-0BDD-1C7B3D8792B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1117" y="4287309"/>
            <a:ext cx="795452" cy="795452"/>
          </a:xfrm>
          <a:prstGeom prst="rect">
            <a:avLst/>
          </a:prstGeom>
        </p:spPr>
      </p:pic>
      <p:sp>
        <p:nvSpPr>
          <p:cNvPr id="14" name="TextBox 13">
            <a:extLst>
              <a:ext uri="{FF2B5EF4-FFF2-40B4-BE49-F238E27FC236}">
                <a16:creationId xmlns:a16="http://schemas.microsoft.com/office/drawing/2014/main" id="{AA721E31-4DB2-89F6-7E3E-1BFC111898D4}"/>
              </a:ext>
            </a:extLst>
          </p:cNvPr>
          <p:cNvSpPr txBox="1"/>
          <p:nvPr/>
        </p:nvSpPr>
        <p:spPr>
          <a:xfrm>
            <a:off x="1110110" y="4454202"/>
            <a:ext cx="1398973" cy="461665"/>
          </a:xfrm>
          <a:prstGeom prst="rect">
            <a:avLst/>
          </a:prstGeom>
          <a:noFill/>
        </p:spPr>
        <p:txBody>
          <a:bodyPr wrap="none" rtlCol="0">
            <a:spAutoFit/>
          </a:bodyPr>
          <a:lstStyle/>
          <a:p>
            <a:r>
              <a:rPr lang="en-US" sz="2400" b="1" dirty="0"/>
              <a:t>Location</a:t>
            </a:r>
          </a:p>
        </p:txBody>
      </p:sp>
      <p:sp>
        <p:nvSpPr>
          <p:cNvPr id="15" name="TextBox 14">
            <a:extLst>
              <a:ext uri="{FF2B5EF4-FFF2-40B4-BE49-F238E27FC236}">
                <a16:creationId xmlns:a16="http://schemas.microsoft.com/office/drawing/2014/main" id="{7303D295-5CD2-4F5F-F590-62204465EADC}"/>
              </a:ext>
            </a:extLst>
          </p:cNvPr>
          <p:cNvSpPr txBox="1"/>
          <p:nvPr/>
        </p:nvSpPr>
        <p:spPr>
          <a:xfrm>
            <a:off x="471117" y="923601"/>
            <a:ext cx="9677232" cy="830997"/>
          </a:xfrm>
          <a:prstGeom prst="rect">
            <a:avLst/>
          </a:prstGeom>
          <a:noFill/>
        </p:spPr>
        <p:txBody>
          <a:bodyPr wrap="square" rtlCol="0">
            <a:spAutoFit/>
          </a:bodyPr>
          <a:lstStyle/>
          <a:p>
            <a:r>
              <a:rPr lang="en-US" sz="2400" dirty="0"/>
              <a:t>Ways to take action: </a:t>
            </a:r>
            <a:r>
              <a:rPr lang="en-US" sz="2400" b="1" dirty="0"/>
              <a:t>locate</a:t>
            </a:r>
            <a:r>
              <a:rPr lang="en-US" sz="2400" dirty="0"/>
              <a:t> scale and domain of challenges, </a:t>
            </a:r>
            <a:r>
              <a:rPr lang="en-US" sz="2400" b="1" dirty="0"/>
              <a:t>connect </a:t>
            </a:r>
            <a:r>
              <a:rPr lang="en-US" sz="2400" dirty="0"/>
              <a:t>inwards and with others, start with </a:t>
            </a:r>
            <a:r>
              <a:rPr lang="en-US" sz="2400" b="1" dirty="0"/>
              <a:t>small steps</a:t>
            </a:r>
            <a:r>
              <a:rPr lang="en-US" sz="2400" dirty="0"/>
              <a:t>, embed </a:t>
            </a:r>
            <a:r>
              <a:rPr lang="en-US" sz="2400" b="1" dirty="0"/>
              <a:t>equity.</a:t>
            </a:r>
          </a:p>
        </p:txBody>
      </p:sp>
      <p:pic>
        <p:nvPicPr>
          <p:cNvPr id="16" name="Graphic 15" descr="Network outline">
            <a:extLst>
              <a:ext uri="{FF2B5EF4-FFF2-40B4-BE49-F238E27FC236}">
                <a16:creationId xmlns:a16="http://schemas.microsoft.com/office/drawing/2014/main" id="{D6A229D8-B21E-3470-23D4-476C6CF8428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092118" y="4182291"/>
            <a:ext cx="914400" cy="914400"/>
          </a:xfrm>
          <a:prstGeom prst="rect">
            <a:avLst/>
          </a:prstGeom>
        </p:spPr>
      </p:pic>
      <p:sp>
        <p:nvSpPr>
          <p:cNvPr id="17" name="TextBox 16">
            <a:extLst>
              <a:ext uri="{FF2B5EF4-FFF2-40B4-BE49-F238E27FC236}">
                <a16:creationId xmlns:a16="http://schemas.microsoft.com/office/drawing/2014/main" id="{52F25F42-CA84-A2A2-4D94-5ACBD320410A}"/>
              </a:ext>
            </a:extLst>
          </p:cNvPr>
          <p:cNvSpPr txBox="1"/>
          <p:nvPr/>
        </p:nvSpPr>
        <p:spPr>
          <a:xfrm>
            <a:off x="3988929" y="4453984"/>
            <a:ext cx="1383712" cy="461665"/>
          </a:xfrm>
          <a:prstGeom prst="rect">
            <a:avLst/>
          </a:prstGeom>
          <a:noFill/>
        </p:spPr>
        <p:txBody>
          <a:bodyPr wrap="none" rtlCol="0">
            <a:spAutoFit/>
          </a:bodyPr>
          <a:lstStyle/>
          <a:p>
            <a:r>
              <a:rPr lang="en-US" sz="2400" b="1" dirty="0"/>
              <a:t>Connect</a:t>
            </a:r>
          </a:p>
        </p:txBody>
      </p:sp>
      <p:pic>
        <p:nvPicPr>
          <p:cNvPr id="18" name="Graphic 17" descr="Weights Uneven with solid fill">
            <a:extLst>
              <a:ext uri="{FF2B5EF4-FFF2-40B4-BE49-F238E27FC236}">
                <a16:creationId xmlns:a16="http://schemas.microsoft.com/office/drawing/2014/main" id="{25C61D98-EB5A-736B-D00F-1CE638CD6F2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32403" y="4213062"/>
            <a:ext cx="793428" cy="793428"/>
          </a:xfrm>
          <a:prstGeom prst="rect">
            <a:avLst/>
          </a:prstGeom>
        </p:spPr>
      </p:pic>
      <p:grpSp>
        <p:nvGrpSpPr>
          <p:cNvPr id="19" name="Group 18">
            <a:extLst>
              <a:ext uri="{FF2B5EF4-FFF2-40B4-BE49-F238E27FC236}">
                <a16:creationId xmlns:a16="http://schemas.microsoft.com/office/drawing/2014/main" id="{8E4791C7-728F-F65E-351C-CAEBF605286A}"/>
              </a:ext>
            </a:extLst>
          </p:cNvPr>
          <p:cNvGrpSpPr/>
          <p:nvPr/>
        </p:nvGrpSpPr>
        <p:grpSpPr>
          <a:xfrm>
            <a:off x="6089026" y="4194316"/>
            <a:ext cx="1052044" cy="942478"/>
            <a:chOff x="7225406" y="4467076"/>
            <a:chExt cx="1052044" cy="942478"/>
          </a:xfrm>
        </p:grpSpPr>
        <p:pic>
          <p:nvPicPr>
            <p:cNvPr id="20" name="Graphic 19" descr="Downstairs with solid fill">
              <a:extLst>
                <a:ext uri="{FF2B5EF4-FFF2-40B4-BE49-F238E27FC236}">
                  <a16:creationId xmlns:a16="http://schemas.microsoft.com/office/drawing/2014/main" id="{73209617-7334-CCCF-B4F7-066F34AE99B6}"/>
                </a:ext>
              </a:extLst>
            </p:cNvPr>
            <p:cNvPicPr>
              <a:picLocks noChangeAspect="1"/>
            </p:cNvPicPr>
            <p:nvPr/>
          </p:nvPicPr>
          <p:blipFill>
            <a:blip>
              <a:extLst>
                <a:ext uri="{96DAC541-7B7A-43D3-8B79-37D633B846F1}">
                  <asvg:svgBlip xmlns:asvg="http://schemas.microsoft.com/office/drawing/2016/SVG/main" r:embed="rId9"/>
                </a:ext>
              </a:extLst>
            </a:blip>
            <a:srcRect b="-2141"/>
            <a:stretch>
              <a:fillRect/>
            </a:stretch>
          </p:blipFill>
          <p:spPr>
            <a:xfrm>
              <a:off x="7225406" y="4467076"/>
              <a:ext cx="914400" cy="933980"/>
            </a:xfrm>
            <a:prstGeom prst="rect">
              <a:avLst/>
            </a:prstGeom>
          </p:spPr>
        </p:pic>
        <p:sp>
          <p:nvSpPr>
            <p:cNvPr id="21" name="Oval 20">
              <a:extLst>
                <a:ext uri="{FF2B5EF4-FFF2-40B4-BE49-F238E27FC236}">
                  <a16:creationId xmlns:a16="http://schemas.microsoft.com/office/drawing/2014/main" id="{B30DB89C-849C-ECBD-F37C-9460D6025608}"/>
                </a:ext>
              </a:extLst>
            </p:cNvPr>
            <p:cNvSpPr/>
            <p:nvPr/>
          </p:nvSpPr>
          <p:spPr>
            <a:xfrm>
              <a:off x="7768434" y="4909682"/>
              <a:ext cx="509016" cy="49987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TextBox 21">
            <a:extLst>
              <a:ext uri="{FF2B5EF4-FFF2-40B4-BE49-F238E27FC236}">
                <a16:creationId xmlns:a16="http://schemas.microsoft.com/office/drawing/2014/main" id="{4D8F6F95-A920-97A8-8303-BB35F8CC869C}"/>
              </a:ext>
            </a:extLst>
          </p:cNvPr>
          <p:cNvSpPr txBox="1"/>
          <p:nvPr/>
        </p:nvSpPr>
        <p:spPr>
          <a:xfrm>
            <a:off x="6886562" y="4490900"/>
            <a:ext cx="2340007" cy="461665"/>
          </a:xfrm>
          <a:prstGeom prst="rect">
            <a:avLst/>
          </a:prstGeom>
          <a:noFill/>
        </p:spPr>
        <p:txBody>
          <a:bodyPr wrap="square" rtlCol="0">
            <a:spAutoFit/>
          </a:bodyPr>
          <a:lstStyle/>
          <a:p>
            <a:r>
              <a:rPr lang="en-US" sz="2400" b="1" dirty="0"/>
              <a:t>Small steps</a:t>
            </a:r>
          </a:p>
        </p:txBody>
      </p:sp>
      <p:sp>
        <p:nvSpPr>
          <p:cNvPr id="23" name="TextBox 22">
            <a:extLst>
              <a:ext uri="{FF2B5EF4-FFF2-40B4-BE49-F238E27FC236}">
                <a16:creationId xmlns:a16="http://schemas.microsoft.com/office/drawing/2014/main" id="{8D6CB446-F480-152C-FA30-2A1984593369}"/>
              </a:ext>
            </a:extLst>
          </p:cNvPr>
          <p:cNvSpPr txBox="1"/>
          <p:nvPr/>
        </p:nvSpPr>
        <p:spPr>
          <a:xfrm>
            <a:off x="10241205" y="4490899"/>
            <a:ext cx="1064715" cy="461665"/>
          </a:xfrm>
          <a:prstGeom prst="rect">
            <a:avLst/>
          </a:prstGeom>
          <a:noFill/>
        </p:spPr>
        <p:txBody>
          <a:bodyPr wrap="none" rtlCol="0">
            <a:spAutoFit/>
          </a:bodyPr>
          <a:lstStyle/>
          <a:p>
            <a:r>
              <a:rPr lang="en-US" sz="2400" b="1" dirty="0"/>
              <a:t>Equity</a:t>
            </a:r>
          </a:p>
        </p:txBody>
      </p:sp>
      <p:sp>
        <p:nvSpPr>
          <p:cNvPr id="24" name="TextBox 23">
            <a:extLst>
              <a:ext uri="{FF2B5EF4-FFF2-40B4-BE49-F238E27FC236}">
                <a16:creationId xmlns:a16="http://schemas.microsoft.com/office/drawing/2014/main" id="{148037BB-D959-9C9B-EF82-8BB6836848F6}"/>
              </a:ext>
            </a:extLst>
          </p:cNvPr>
          <p:cNvSpPr txBox="1"/>
          <p:nvPr/>
        </p:nvSpPr>
        <p:spPr>
          <a:xfrm>
            <a:off x="3204569" y="5048034"/>
            <a:ext cx="2540459" cy="1015663"/>
          </a:xfrm>
          <a:prstGeom prst="rect">
            <a:avLst/>
          </a:prstGeom>
          <a:noFill/>
        </p:spPr>
        <p:txBody>
          <a:bodyPr wrap="square" rtlCol="0">
            <a:spAutoFit/>
          </a:bodyPr>
          <a:lstStyle/>
          <a:p>
            <a:r>
              <a:rPr lang="en-US" sz="2000" dirty="0"/>
              <a:t>Check-in with yourself and connect with others </a:t>
            </a:r>
          </a:p>
        </p:txBody>
      </p:sp>
      <p:sp>
        <p:nvSpPr>
          <p:cNvPr id="25" name="TextBox 24">
            <a:extLst>
              <a:ext uri="{FF2B5EF4-FFF2-40B4-BE49-F238E27FC236}">
                <a16:creationId xmlns:a16="http://schemas.microsoft.com/office/drawing/2014/main" id="{CE6A23FA-ADF2-0C8A-30F1-AD8F0A49A216}"/>
              </a:ext>
            </a:extLst>
          </p:cNvPr>
          <p:cNvSpPr txBox="1"/>
          <p:nvPr/>
        </p:nvSpPr>
        <p:spPr>
          <a:xfrm>
            <a:off x="6096000" y="5207447"/>
            <a:ext cx="2739047" cy="707886"/>
          </a:xfrm>
          <a:prstGeom prst="rect">
            <a:avLst/>
          </a:prstGeom>
          <a:noFill/>
        </p:spPr>
        <p:txBody>
          <a:bodyPr wrap="square" rtlCol="0">
            <a:spAutoFit/>
          </a:bodyPr>
          <a:lstStyle/>
          <a:p>
            <a:r>
              <a:rPr lang="en-US" sz="2000" dirty="0"/>
              <a:t>Breakdown challenges into manageable steps</a:t>
            </a:r>
          </a:p>
        </p:txBody>
      </p:sp>
      <p:sp>
        <p:nvSpPr>
          <p:cNvPr id="29" name="TextBox 28">
            <a:extLst>
              <a:ext uri="{FF2B5EF4-FFF2-40B4-BE49-F238E27FC236}">
                <a16:creationId xmlns:a16="http://schemas.microsoft.com/office/drawing/2014/main" id="{E0323A5E-6413-0A2A-0ED7-3E4D38FF293B}"/>
              </a:ext>
            </a:extLst>
          </p:cNvPr>
          <p:cNvSpPr txBox="1"/>
          <p:nvPr/>
        </p:nvSpPr>
        <p:spPr>
          <a:xfrm>
            <a:off x="291548" y="5006490"/>
            <a:ext cx="2912995" cy="1015663"/>
          </a:xfrm>
          <a:prstGeom prst="rect">
            <a:avLst/>
          </a:prstGeom>
          <a:noFill/>
        </p:spPr>
        <p:txBody>
          <a:bodyPr wrap="square" rtlCol="0">
            <a:spAutoFit/>
          </a:bodyPr>
          <a:lstStyle/>
          <a:p>
            <a:r>
              <a:rPr lang="en-US" sz="2000" dirty="0"/>
              <a:t>Map out where the challenges are and your relationship to them</a:t>
            </a:r>
          </a:p>
        </p:txBody>
      </p:sp>
      <p:sp>
        <p:nvSpPr>
          <p:cNvPr id="30" name="TextBox 29">
            <a:extLst>
              <a:ext uri="{FF2B5EF4-FFF2-40B4-BE49-F238E27FC236}">
                <a16:creationId xmlns:a16="http://schemas.microsoft.com/office/drawing/2014/main" id="{C3B14CA8-10F1-CAF9-B079-D611B65D119B}"/>
              </a:ext>
            </a:extLst>
          </p:cNvPr>
          <p:cNvSpPr txBox="1"/>
          <p:nvPr/>
        </p:nvSpPr>
        <p:spPr>
          <a:xfrm>
            <a:off x="8987459" y="5138081"/>
            <a:ext cx="3204541" cy="1015663"/>
          </a:xfrm>
          <a:prstGeom prst="rect">
            <a:avLst/>
          </a:prstGeom>
          <a:noFill/>
        </p:spPr>
        <p:txBody>
          <a:bodyPr wrap="square" rtlCol="0">
            <a:spAutoFit/>
          </a:bodyPr>
          <a:lstStyle/>
          <a:p>
            <a:r>
              <a:rPr lang="en-US" sz="2000" dirty="0"/>
              <a:t>Consider equity as central part of practice and not as an optional addition </a:t>
            </a:r>
          </a:p>
        </p:txBody>
      </p:sp>
      <p:sp>
        <p:nvSpPr>
          <p:cNvPr id="31" name="Left Brace 30">
            <a:extLst>
              <a:ext uri="{FF2B5EF4-FFF2-40B4-BE49-F238E27FC236}">
                <a16:creationId xmlns:a16="http://schemas.microsoft.com/office/drawing/2014/main" id="{505E02DA-93BC-53B8-6683-15E8FC777C7F}"/>
              </a:ext>
            </a:extLst>
          </p:cNvPr>
          <p:cNvSpPr/>
          <p:nvPr/>
        </p:nvSpPr>
        <p:spPr>
          <a:xfrm rot="5400000">
            <a:off x="5741753" y="-1235153"/>
            <a:ext cx="430200" cy="10270435"/>
          </a:xfrm>
          <a:prstGeom prst="leftBrace">
            <a:avLst>
              <a:gd name="adj1" fmla="val 15293"/>
              <a:gd name="adj2" fmla="val 51256"/>
            </a:avLst>
          </a:prstGeom>
          <a:ln w="85725">
            <a:solidFill>
              <a:schemeClr val="bg2">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190907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20971-E96C-286B-75CF-F487023278AE}"/>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60BD8CC5-54AA-9100-32D7-719F53C48E5A}"/>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4A801ED6-594F-D7E0-1719-E01A8185D1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F91C2769-C7D6-EE1B-3669-7920B554A1CD}"/>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C7128C86-94D7-EDA6-462C-C4162B997D68}"/>
              </a:ext>
            </a:extLst>
          </p:cNvPr>
          <p:cNvSpPr>
            <a:spLocks noGrp="1"/>
          </p:cNvSpPr>
          <p:nvPr>
            <p:ph type="sldNum" sz="quarter" idx="12"/>
          </p:nvPr>
        </p:nvSpPr>
        <p:spPr/>
        <p:txBody>
          <a:bodyPr/>
          <a:lstStyle/>
          <a:p>
            <a:fld id="{DC6309F4-03C8-4D48-A124-A9AD6E083FAC}" type="slidenum">
              <a:rPr lang="en-US" smtClean="0"/>
              <a:t>13</a:t>
            </a:fld>
            <a:endParaRPr lang="en-US"/>
          </a:p>
        </p:txBody>
      </p:sp>
      <p:sp>
        <p:nvSpPr>
          <p:cNvPr id="4" name="Title 1">
            <a:extLst>
              <a:ext uri="{FF2B5EF4-FFF2-40B4-BE49-F238E27FC236}">
                <a16:creationId xmlns:a16="http://schemas.microsoft.com/office/drawing/2014/main" id="{DF8F11BC-EFD7-71DA-5212-1B947BFAD70A}"/>
              </a:ext>
            </a:extLst>
          </p:cNvPr>
          <p:cNvSpPr txBox="1">
            <a:spLocks/>
          </p:cNvSpPr>
          <p:nvPr/>
        </p:nvSpPr>
        <p:spPr>
          <a:xfrm>
            <a:off x="0" y="-26541"/>
            <a:ext cx="12192000" cy="989710"/>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Using case studies to apply the 5A framework </a:t>
            </a:r>
          </a:p>
        </p:txBody>
      </p:sp>
      <p:sp>
        <p:nvSpPr>
          <p:cNvPr id="5" name="TextBox 4">
            <a:extLst>
              <a:ext uri="{FF2B5EF4-FFF2-40B4-BE49-F238E27FC236}">
                <a16:creationId xmlns:a16="http://schemas.microsoft.com/office/drawing/2014/main" id="{E4B65C83-28DE-D8A5-30D8-97D419A04886}"/>
              </a:ext>
            </a:extLst>
          </p:cNvPr>
          <p:cNvSpPr txBox="1"/>
          <p:nvPr/>
        </p:nvSpPr>
        <p:spPr>
          <a:xfrm>
            <a:off x="378991" y="1542927"/>
            <a:ext cx="8799444" cy="4524315"/>
          </a:xfrm>
          <a:prstGeom prst="rect">
            <a:avLst/>
          </a:prstGeom>
          <a:noFill/>
        </p:spPr>
        <p:txBody>
          <a:bodyPr wrap="square">
            <a:spAutoFit/>
          </a:bodyPr>
          <a:lstStyle/>
          <a:p>
            <a:pPr marL="342900" indent="-342900">
              <a:buFont typeface="Arial" panose="020B0604020202020204" pitchFamily="34" charset="0"/>
              <a:buChar char="•"/>
            </a:pPr>
            <a:r>
              <a:rPr lang="en-US" sz="2400" dirty="0"/>
              <a:t>Case studies are a great </a:t>
            </a:r>
            <a:r>
              <a:rPr lang="en-US" sz="2400" b="1" dirty="0"/>
              <a:t>reflective</a:t>
            </a:r>
            <a:r>
              <a:rPr lang="en-US" sz="2400" dirty="0"/>
              <a:t> exercise (</a:t>
            </a:r>
            <a:r>
              <a:rPr lang="en-US" sz="2400" dirty="0">
                <a:hlinkClick r:id="rId5"/>
              </a:rPr>
              <a:t>Toogood, 2023</a:t>
            </a:r>
            <a:r>
              <a:rPr lang="en-US" sz="2400" dirty="0"/>
              <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Allows you to </a:t>
            </a:r>
            <a:r>
              <a:rPr lang="en-GB" sz="2400" b="1" i="0" u="none" strike="noStrike" kern="1200" dirty="0">
                <a:solidFill>
                  <a:schemeClr val="tx1"/>
                </a:solidFill>
                <a:effectLst/>
                <a:ea typeface="+mn-ea"/>
                <a:cs typeface="+mn-cs"/>
              </a:rPr>
              <a:t>combine </a:t>
            </a:r>
            <a:r>
              <a:rPr lang="en-GB" sz="2400" i="0" u="none" strike="noStrike" kern="1200" dirty="0">
                <a:solidFill>
                  <a:schemeClr val="tx1"/>
                </a:solidFill>
                <a:effectLst/>
                <a:ea typeface="+mn-ea"/>
                <a:cs typeface="+mn-cs"/>
              </a:rPr>
              <a:t>learned</a:t>
            </a:r>
            <a:r>
              <a:rPr lang="en-GB" sz="2400" b="1" i="0" u="none" strike="noStrike" kern="1200" dirty="0">
                <a:solidFill>
                  <a:schemeClr val="tx1"/>
                </a:solidFill>
                <a:effectLst/>
                <a:ea typeface="+mn-ea"/>
                <a:cs typeface="+mn-cs"/>
              </a:rPr>
              <a:t> theory</a:t>
            </a:r>
            <a:r>
              <a:rPr lang="en-GB" sz="2400" b="0" i="0" u="none" strike="noStrike" kern="1200" dirty="0">
                <a:solidFill>
                  <a:schemeClr val="tx1"/>
                </a:solidFill>
                <a:effectLst/>
                <a:ea typeface="+mn-ea"/>
                <a:cs typeface="+mn-cs"/>
              </a:rPr>
              <a:t> and </a:t>
            </a:r>
            <a:r>
              <a:rPr lang="en-GB" sz="2400" b="1" i="0" u="none" strike="noStrike" kern="1200" dirty="0">
                <a:solidFill>
                  <a:schemeClr val="tx1"/>
                </a:solidFill>
                <a:effectLst/>
                <a:ea typeface="+mn-ea"/>
                <a:cs typeface="+mn-cs"/>
              </a:rPr>
              <a:t>personal experiences </a:t>
            </a:r>
            <a:r>
              <a:rPr lang="en-GB" sz="2400" b="0" i="0" u="none" strike="noStrike" kern="1200" dirty="0">
                <a:solidFill>
                  <a:schemeClr val="tx1"/>
                </a:solidFill>
                <a:effectLst/>
                <a:ea typeface="+mn-ea"/>
                <a:cs typeface="+mn-cs"/>
              </a:rPr>
              <a:t>to problem-solve </a:t>
            </a:r>
            <a:r>
              <a:rPr lang="en-GB" sz="2400" dirty="0"/>
              <a:t>scenarios that resemble real-world examples!</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t>Can be done individually, small groups or larger groups.</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solidFill>
                  <a:srgbClr val="000000"/>
                </a:solidFill>
              </a:rPr>
              <a:t>Helps</a:t>
            </a:r>
            <a:r>
              <a:rPr lang="en-GB" sz="2400" b="1" dirty="0">
                <a:solidFill>
                  <a:srgbClr val="000000"/>
                </a:solidFill>
              </a:rPr>
              <a:t> relate</a:t>
            </a:r>
            <a:r>
              <a:rPr lang="en-GB" sz="2400" dirty="0">
                <a:solidFill>
                  <a:srgbClr val="000000"/>
                </a:solidFill>
              </a:rPr>
              <a:t> to own leadership contexts and build up (collective) </a:t>
            </a:r>
            <a:r>
              <a:rPr lang="en-GB" sz="2400" b="1" dirty="0">
                <a:solidFill>
                  <a:srgbClr val="000000"/>
                </a:solidFill>
              </a:rPr>
              <a:t>problem-solving skills</a:t>
            </a:r>
            <a:r>
              <a:rPr lang="en-GB" sz="2400" dirty="0">
                <a:solidFill>
                  <a:srgbClr val="000000"/>
                </a:solidFill>
              </a:rPr>
              <a:t>.</a:t>
            </a:r>
            <a:endParaRPr lang="en-GB" sz="2400" dirty="0"/>
          </a:p>
          <a:p>
            <a:endParaRPr lang="en-GB" sz="2400" dirty="0"/>
          </a:p>
          <a:p>
            <a:endParaRPr lang="en-US" sz="2400" dirty="0"/>
          </a:p>
        </p:txBody>
      </p:sp>
      <p:grpSp>
        <p:nvGrpSpPr>
          <p:cNvPr id="8" name="Group 7">
            <a:extLst>
              <a:ext uri="{FF2B5EF4-FFF2-40B4-BE49-F238E27FC236}">
                <a16:creationId xmlns:a16="http://schemas.microsoft.com/office/drawing/2014/main" id="{74FF063C-F2D2-52A3-B4EC-EAFADC17D7D7}"/>
              </a:ext>
            </a:extLst>
          </p:cNvPr>
          <p:cNvGrpSpPr/>
          <p:nvPr/>
        </p:nvGrpSpPr>
        <p:grpSpPr>
          <a:xfrm>
            <a:off x="9055481" y="809886"/>
            <a:ext cx="2951437" cy="556584"/>
            <a:chOff x="1249262" y="2926161"/>
            <a:chExt cx="4622466" cy="888586"/>
          </a:xfrm>
        </p:grpSpPr>
        <p:grpSp>
          <p:nvGrpSpPr>
            <p:cNvPr id="9" name="Group 8">
              <a:extLst>
                <a:ext uri="{FF2B5EF4-FFF2-40B4-BE49-F238E27FC236}">
                  <a16:creationId xmlns:a16="http://schemas.microsoft.com/office/drawing/2014/main" id="{467B6FDE-818E-EDDC-C27C-ED2CA944AD36}"/>
                </a:ext>
              </a:extLst>
            </p:cNvPr>
            <p:cNvGrpSpPr/>
            <p:nvPr/>
          </p:nvGrpSpPr>
          <p:grpSpPr>
            <a:xfrm>
              <a:off x="5040033" y="2931787"/>
              <a:ext cx="831695" cy="875891"/>
              <a:chOff x="9256513" y="1773566"/>
              <a:chExt cx="1646013" cy="1666134"/>
            </a:xfrm>
          </p:grpSpPr>
          <p:sp>
            <p:nvSpPr>
              <p:cNvPr id="36" name="Oval 35">
                <a:extLst>
                  <a:ext uri="{FF2B5EF4-FFF2-40B4-BE49-F238E27FC236}">
                    <a16:creationId xmlns:a16="http://schemas.microsoft.com/office/drawing/2014/main" id="{0413897B-8856-B1E3-7932-F820381EE695}"/>
                  </a:ext>
                </a:extLst>
              </p:cNvPr>
              <p:cNvSpPr/>
              <p:nvPr/>
            </p:nvSpPr>
            <p:spPr>
              <a:xfrm>
                <a:off x="9256514" y="1773566"/>
                <a:ext cx="1646012"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7" name="Graphic 36" descr="Checkbox Ticked with solid fill">
                <a:extLst>
                  <a:ext uri="{FF2B5EF4-FFF2-40B4-BE49-F238E27FC236}">
                    <a16:creationId xmlns:a16="http://schemas.microsoft.com/office/drawing/2014/main" id="{54F7C6D9-9F09-2A74-5C46-B3E0F89DF46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56513" y="1787012"/>
                <a:ext cx="1641987" cy="1641987"/>
              </a:xfrm>
              <a:prstGeom prst="rect">
                <a:avLst/>
              </a:prstGeom>
            </p:spPr>
          </p:pic>
        </p:grpSp>
        <p:grpSp>
          <p:nvGrpSpPr>
            <p:cNvPr id="10" name="Group 9">
              <a:extLst>
                <a:ext uri="{FF2B5EF4-FFF2-40B4-BE49-F238E27FC236}">
                  <a16:creationId xmlns:a16="http://schemas.microsoft.com/office/drawing/2014/main" id="{78BEB484-1981-0637-BBBE-562FD834553D}"/>
                </a:ext>
              </a:extLst>
            </p:cNvPr>
            <p:cNvGrpSpPr/>
            <p:nvPr/>
          </p:nvGrpSpPr>
          <p:grpSpPr>
            <a:xfrm>
              <a:off x="4097822" y="2931787"/>
              <a:ext cx="831696" cy="875891"/>
              <a:chOff x="6606024" y="1721448"/>
              <a:chExt cx="1641987" cy="1666134"/>
            </a:xfrm>
          </p:grpSpPr>
          <p:sp>
            <p:nvSpPr>
              <p:cNvPr id="34" name="Oval 33">
                <a:extLst>
                  <a:ext uri="{FF2B5EF4-FFF2-40B4-BE49-F238E27FC236}">
                    <a16:creationId xmlns:a16="http://schemas.microsoft.com/office/drawing/2014/main" id="{FA23062F-1B67-7522-6D80-55E0CF60A270}"/>
                  </a:ext>
                </a:extLst>
              </p:cNvPr>
              <p:cNvSpPr/>
              <p:nvPr/>
            </p:nvSpPr>
            <p:spPr>
              <a:xfrm>
                <a:off x="6606024" y="1721448"/>
                <a:ext cx="1641987"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Graphic 34" descr="Clapper board with solid fill">
                <a:extLst>
                  <a:ext uri="{FF2B5EF4-FFF2-40B4-BE49-F238E27FC236}">
                    <a16:creationId xmlns:a16="http://schemas.microsoft.com/office/drawing/2014/main" id="{921AD26B-515E-12EF-D7A7-73FEC9F650C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24209" y="1910345"/>
                <a:ext cx="1151526" cy="1151526"/>
              </a:xfrm>
              <a:prstGeom prst="rect">
                <a:avLst/>
              </a:prstGeom>
            </p:spPr>
          </p:pic>
        </p:grpSp>
        <p:grpSp>
          <p:nvGrpSpPr>
            <p:cNvPr id="11" name="Group 10">
              <a:extLst>
                <a:ext uri="{FF2B5EF4-FFF2-40B4-BE49-F238E27FC236}">
                  <a16:creationId xmlns:a16="http://schemas.microsoft.com/office/drawing/2014/main" id="{49C97A84-7E21-9226-8615-7787874B9D81}"/>
                </a:ext>
              </a:extLst>
            </p:cNvPr>
            <p:cNvGrpSpPr/>
            <p:nvPr/>
          </p:nvGrpSpPr>
          <p:grpSpPr>
            <a:xfrm>
              <a:off x="3155610" y="2926162"/>
              <a:ext cx="831696" cy="875891"/>
              <a:chOff x="4435504" y="1964618"/>
              <a:chExt cx="1641987" cy="1614426"/>
            </a:xfrm>
          </p:grpSpPr>
          <p:sp>
            <p:nvSpPr>
              <p:cNvPr id="32" name="Oval 31">
                <a:extLst>
                  <a:ext uri="{FF2B5EF4-FFF2-40B4-BE49-F238E27FC236}">
                    <a16:creationId xmlns:a16="http://schemas.microsoft.com/office/drawing/2014/main" id="{D0815303-44CB-8DFA-6DB6-FD79C9C6F2AF}"/>
                  </a:ext>
                </a:extLst>
              </p:cNvPr>
              <p:cNvSpPr/>
              <p:nvPr/>
            </p:nvSpPr>
            <p:spPr>
              <a:xfrm>
                <a:off x="4435504" y="1964618"/>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Graphic 32" descr="User with solid fill">
                <a:extLst>
                  <a:ext uri="{FF2B5EF4-FFF2-40B4-BE49-F238E27FC236}">
                    <a16:creationId xmlns:a16="http://schemas.microsoft.com/office/drawing/2014/main" id="{55605067-805D-8D68-E62A-41BF75970CE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45029" y="2134541"/>
                <a:ext cx="1196343" cy="1196343"/>
              </a:xfrm>
              <a:prstGeom prst="rect">
                <a:avLst/>
              </a:prstGeom>
            </p:spPr>
          </p:pic>
        </p:grpSp>
        <p:grpSp>
          <p:nvGrpSpPr>
            <p:cNvPr id="12" name="Group 11">
              <a:extLst>
                <a:ext uri="{FF2B5EF4-FFF2-40B4-BE49-F238E27FC236}">
                  <a16:creationId xmlns:a16="http://schemas.microsoft.com/office/drawing/2014/main" id="{C8450A53-1C6C-E29E-8256-0F688D672BEE}"/>
                </a:ext>
              </a:extLst>
            </p:cNvPr>
            <p:cNvGrpSpPr/>
            <p:nvPr/>
          </p:nvGrpSpPr>
          <p:grpSpPr>
            <a:xfrm>
              <a:off x="1249262" y="2938856"/>
              <a:ext cx="844494" cy="875891"/>
              <a:chOff x="316947" y="2007971"/>
              <a:chExt cx="1641987" cy="1614426"/>
            </a:xfrm>
          </p:grpSpPr>
          <p:sp>
            <p:nvSpPr>
              <p:cNvPr id="30" name="Oval 29">
                <a:extLst>
                  <a:ext uri="{FF2B5EF4-FFF2-40B4-BE49-F238E27FC236}">
                    <a16:creationId xmlns:a16="http://schemas.microsoft.com/office/drawing/2014/main" id="{25663E1D-90CB-893D-32E0-63572575113E}"/>
                  </a:ext>
                </a:extLst>
              </p:cNvPr>
              <p:cNvSpPr/>
              <p:nvPr/>
            </p:nvSpPr>
            <p:spPr>
              <a:xfrm>
                <a:off x="316947" y="200797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1" name="Graphic 30" descr="Magnifying glass with solid fill">
                <a:extLst>
                  <a:ext uri="{FF2B5EF4-FFF2-40B4-BE49-F238E27FC236}">
                    <a16:creationId xmlns:a16="http://schemas.microsoft.com/office/drawing/2014/main" id="{BDDF3C96-F7B0-86F4-3112-4FCA11D1D38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7761" y="2261216"/>
                <a:ext cx="1080886" cy="1080886"/>
              </a:xfrm>
              <a:prstGeom prst="rect">
                <a:avLst/>
              </a:prstGeom>
            </p:spPr>
          </p:pic>
        </p:grpSp>
        <p:grpSp>
          <p:nvGrpSpPr>
            <p:cNvPr id="27" name="Group 26">
              <a:extLst>
                <a:ext uri="{FF2B5EF4-FFF2-40B4-BE49-F238E27FC236}">
                  <a16:creationId xmlns:a16="http://schemas.microsoft.com/office/drawing/2014/main" id="{9DF7B1C8-0C89-F5C0-AD53-CE4267A0E3BB}"/>
                </a:ext>
              </a:extLst>
            </p:cNvPr>
            <p:cNvGrpSpPr/>
            <p:nvPr/>
          </p:nvGrpSpPr>
          <p:grpSpPr>
            <a:xfrm>
              <a:off x="2204272" y="2926161"/>
              <a:ext cx="831696" cy="875891"/>
              <a:chOff x="2627760" y="2015531"/>
              <a:chExt cx="1641987" cy="1614426"/>
            </a:xfrm>
          </p:grpSpPr>
          <p:sp>
            <p:nvSpPr>
              <p:cNvPr id="28" name="Oval 27">
                <a:extLst>
                  <a:ext uri="{FF2B5EF4-FFF2-40B4-BE49-F238E27FC236}">
                    <a16:creationId xmlns:a16="http://schemas.microsoft.com/office/drawing/2014/main" id="{7BF0FBFA-0EBA-9C31-3EBF-4DC30DBCACC5}"/>
                  </a:ext>
                </a:extLst>
              </p:cNvPr>
              <p:cNvSpPr/>
              <p:nvPr/>
            </p:nvSpPr>
            <p:spPr>
              <a:xfrm>
                <a:off x="2627760" y="201553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Thumbs up sign with solid fill">
                <a:extLst>
                  <a:ext uri="{FF2B5EF4-FFF2-40B4-BE49-F238E27FC236}">
                    <a16:creationId xmlns:a16="http://schemas.microsoft.com/office/drawing/2014/main" id="{C2940B4C-48CE-B109-9BA8-3E488B40754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949859" y="2357984"/>
                <a:ext cx="914400" cy="914400"/>
              </a:xfrm>
              <a:prstGeom prst="rect">
                <a:avLst/>
              </a:prstGeom>
            </p:spPr>
          </p:pic>
        </p:grpSp>
      </p:grpSp>
      <p:sp>
        <p:nvSpPr>
          <p:cNvPr id="39" name="TextBox 38">
            <a:extLst>
              <a:ext uri="{FF2B5EF4-FFF2-40B4-BE49-F238E27FC236}">
                <a16:creationId xmlns:a16="http://schemas.microsoft.com/office/drawing/2014/main" id="{FF09A997-234F-1C13-04EB-45B555F59CFE}"/>
              </a:ext>
            </a:extLst>
          </p:cNvPr>
          <p:cNvSpPr txBox="1"/>
          <p:nvPr/>
        </p:nvSpPr>
        <p:spPr>
          <a:xfrm>
            <a:off x="557490" y="6192251"/>
            <a:ext cx="9724842" cy="461665"/>
          </a:xfrm>
          <a:prstGeom prst="rect">
            <a:avLst/>
          </a:prstGeom>
          <a:noFill/>
        </p:spPr>
        <p:txBody>
          <a:bodyPr wrap="none" rtlCol="0">
            <a:spAutoFit/>
          </a:bodyPr>
          <a:lstStyle/>
          <a:p>
            <a:r>
              <a:rPr lang="en-US" sz="2400" b="1" dirty="0"/>
              <a:t>Next: </a:t>
            </a:r>
            <a:r>
              <a:rPr lang="en-US" sz="2400" dirty="0"/>
              <a:t>Example case study as a larger group -&gt; case study in small groups</a:t>
            </a:r>
          </a:p>
        </p:txBody>
      </p:sp>
      <p:pic>
        <p:nvPicPr>
          <p:cNvPr id="41" name="Graphic 40" descr="Closed book with solid fill">
            <a:extLst>
              <a:ext uri="{FF2B5EF4-FFF2-40B4-BE49-F238E27FC236}">
                <a16:creationId xmlns:a16="http://schemas.microsoft.com/office/drawing/2014/main" id="{31E6BE3C-80E7-F350-D83F-AA708BC6F14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565277" y="2194945"/>
            <a:ext cx="1783251" cy="1783251"/>
          </a:xfrm>
          <a:prstGeom prst="rect">
            <a:avLst/>
          </a:prstGeom>
        </p:spPr>
      </p:pic>
    </p:spTree>
    <p:extLst>
      <p:ext uri="{BB962C8B-B14F-4D97-AF65-F5344CB8AC3E}">
        <p14:creationId xmlns:p14="http://schemas.microsoft.com/office/powerpoint/2010/main" val="330416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B23D8-8607-C061-A3D2-6E1165C5EF74}"/>
            </a:ext>
          </a:extLst>
        </p:cNvPr>
        <p:cNvGrpSpPr/>
        <p:nvPr/>
      </p:nvGrpSpPr>
      <p:grpSpPr>
        <a:xfrm>
          <a:off x="0" y="0"/>
          <a:ext cx="0" cy="0"/>
          <a:chOff x="0" y="0"/>
          <a:chExt cx="0" cy="0"/>
        </a:xfrm>
      </p:grpSpPr>
      <p:sp>
        <p:nvSpPr>
          <p:cNvPr id="41" name="Rounded Rectangle 40">
            <a:extLst>
              <a:ext uri="{FF2B5EF4-FFF2-40B4-BE49-F238E27FC236}">
                <a16:creationId xmlns:a16="http://schemas.microsoft.com/office/drawing/2014/main" id="{41B9BB70-2E8C-7EA0-EA57-F6A4B85BF86A}"/>
              </a:ext>
            </a:extLst>
          </p:cNvPr>
          <p:cNvSpPr/>
          <p:nvPr/>
        </p:nvSpPr>
        <p:spPr>
          <a:xfrm>
            <a:off x="283557" y="5498464"/>
            <a:ext cx="6382615" cy="1216404"/>
          </a:xfrm>
          <a:prstGeom prst="roundRect">
            <a:avLst/>
          </a:prstGeom>
          <a:solidFill>
            <a:srgbClr val="7030A0">
              <a:alpha val="27219"/>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BFAB13D-DF97-CE06-54E5-EC92C8078D6E}"/>
              </a:ext>
            </a:extLst>
          </p:cNvPr>
          <p:cNvSpPr txBox="1"/>
          <p:nvPr/>
        </p:nvSpPr>
        <p:spPr>
          <a:xfrm>
            <a:off x="7015522" y="3434416"/>
            <a:ext cx="5040555" cy="3046988"/>
          </a:xfrm>
          <a:prstGeom prst="rect">
            <a:avLst/>
          </a:prstGeom>
          <a:noFill/>
        </p:spPr>
        <p:txBody>
          <a:bodyPr wrap="square">
            <a:spAutoFit/>
          </a:bodyPr>
          <a:lstStyle/>
          <a:p>
            <a:pPr algn="just"/>
            <a:r>
              <a:rPr lang="en-US" sz="2400" dirty="0"/>
              <a:t>Gloria has </a:t>
            </a:r>
            <a:r>
              <a:rPr lang="en-US" sz="2400" b="1" dirty="0"/>
              <a:t>extensive fieldwork experience</a:t>
            </a:r>
            <a:r>
              <a:rPr lang="en-US" sz="2400" dirty="0"/>
              <a:t> with large mammals and keeping </a:t>
            </a:r>
            <a:r>
              <a:rPr lang="en-US" sz="2400" b="1" dirty="0"/>
              <a:t>detailed field notebooks</a:t>
            </a:r>
            <a:r>
              <a:rPr lang="en-US" sz="2400" dirty="0"/>
              <a:t>. She is </a:t>
            </a:r>
            <a:r>
              <a:rPr lang="en-US" sz="2400" b="1" dirty="0"/>
              <a:t>aware</a:t>
            </a:r>
            <a:r>
              <a:rPr lang="en-US" sz="2400" dirty="0"/>
              <a:t> of some Open Science practices, but her workflows are </a:t>
            </a:r>
            <a:r>
              <a:rPr lang="en-US" sz="2400" b="1" dirty="0"/>
              <a:t>not yet reproducible </a:t>
            </a:r>
            <a:r>
              <a:rPr lang="en-US" sz="2400" dirty="0"/>
              <a:t>(e.g. she uses point and click software for data analysis). </a:t>
            </a:r>
          </a:p>
        </p:txBody>
      </p:sp>
      <p:sp>
        <p:nvSpPr>
          <p:cNvPr id="13" name="TextBox 12">
            <a:extLst>
              <a:ext uri="{FF2B5EF4-FFF2-40B4-BE49-F238E27FC236}">
                <a16:creationId xmlns:a16="http://schemas.microsoft.com/office/drawing/2014/main" id="{D1B71754-3C72-E93F-2289-C2CE239A77BC}"/>
              </a:ext>
            </a:extLst>
          </p:cNvPr>
          <p:cNvSpPr txBox="1"/>
          <p:nvPr/>
        </p:nvSpPr>
        <p:spPr>
          <a:xfrm>
            <a:off x="290427" y="3465459"/>
            <a:ext cx="6382616" cy="1938992"/>
          </a:xfrm>
          <a:prstGeom prst="rect">
            <a:avLst/>
          </a:prstGeom>
          <a:noFill/>
        </p:spPr>
        <p:txBody>
          <a:bodyPr wrap="square">
            <a:spAutoFit/>
          </a:bodyPr>
          <a:lstStyle/>
          <a:p>
            <a:pPr algn="just"/>
            <a:r>
              <a:rPr lang="en-US" sz="2400" dirty="0"/>
              <a:t>Cameron has a </a:t>
            </a:r>
            <a:r>
              <a:rPr lang="en-US" sz="2400" b="1" dirty="0"/>
              <a:t>computational background</a:t>
            </a:r>
            <a:r>
              <a:rPr lang="en-US" sz="2400" dirty="0"/>
              <a:t> working with big data and adopts Open Science practices like </a:t>
            </a:r>
            <a:r>
              <a:rPr lang="en-US" sz="2400" b="1" dirty="0"/>
              <a:t>reproducible workflows</a:t>
            </a:r>
            <a:r>
              <a:rPr lang="en-US" sz="2400" dirty="0"/>
              <a:t>, version control and data archiving. He has </a:t>
            </a:r>
            <a:r>
              <a:rPr lang="en-US" sz="2400" b="1" dirty="0"/>
              <a:t>some knowledge </a:t>
            </a:r>
            <a:r>
              <a:rPr lang="en-US" sz="2400" dirty="0"/>
              <a:t>of the study species. </a:t>
            </a:r>
          </a:p>
        </p:txBody>
      </p:sp>
      <p:sp>
        <p:nvSpPr>
          <p:cNvPr id="2" name="TextBox 1">
            <a:extLst>
              <a:ext uri="{FF2B5EF4-FFF2-40B4-BE49-F238E27FC236}">
                <a16:creationId xmlns:a16="http://schemas.microsoft.com/office/drawing/2014/main" id="{041B5B00-1028-F8EC-2251-559A75D22A68}"/>
              </a:ext>
            </a:extLst>
          </p:cNvPr>
          <p:cNvSpPr txBox="1"/>
          <p:nvPr/>
        </p:nvSpPr>
        <p:spPr>
          <a:xfrm>
            <a:off x="322984" y="822694"/>
            <a:ext cx="9167645" cy="2308324"/>
          </a:xfrm>
          <a:prstGeom prst="rect">
            <a:avLst/>
          </a:prstGeom>
          <a:noFill/>
        </p:spPr>
        <p:txBody>
          <a:bodyPr wrap="square" rtlCol="0">
            <a:spAutoFit/>
          </a:bodyPr>
          <a:lstStyle/>
          <a:p>
            <a:r>
              <a:rPr lang="en-US" sz="2400" b="1" dirty="0"/>
              <a:t>Cameron</a:t>
            </a:r>
            <a:r>
              <a:rPr lang="en-US" sz="2400" dirty="0"/>
              <a:t> and </a:t>
            </a:r>
            <a:r>
              <a:rPr lang="en-US" sz="2400" b="1" dirty="0"/>
              <a:t>Gloria</a:t>
            </a:r>
            <a:r>
              <a:rPr lang="en-US" sz="2400" dirty="0"/>
              <a:t> are two biologists starting a </a:t>
            </a:r>
            <a:r>
              <a:rPr lang="en-US" sz="2400" b="1" dirty="0"/>
              <a:t>new collaboration </a:t>
            </a:r>
            <a:r>
              <a:rPr lang="en-US" sz="2400" dirty="0"/>
              <a:t>on a project on </a:t>
            </a:r>
            <a:r>
              <a:rPr lang="en-US" sz="2400" b="1" dirty="0"/>
              <a:t>modelling</a:t>
            </a:r>
            <a:r>
              <a:rPr lang="en-US" sz="2400" dirty="0"/>
              <a:t> large mammal migrations. </a:t>
            </a:r>
          </a:p>
          <a:p>
            <a:endParaRPr lang="en-US" sz="2400" dirty="0"/>
          </a:p>
          <a:p>
            <a:r>
              <a:rPr lang="en-US" sz="2400" dirty="0"/>
              <a:t>They are both excited about the project and want to make it a success. They are not sure how best to </a:t>
            </a:r>
            <a:r>
              <a:rPr lang="en-US" sz="2400" b="1" dirty="0"/>
              <a:t>leverage their expertise</a:t>
            </a:r>
            <a:r>
              <a:rPr lang="en-US" sz="2400" dirty="0"/>
              <a:t> and </a:t>
            </a:r>
            <a:r>
              <a:rPr lang="en-US" sz="2400" b="1" dirty="0"/>
              <a:t>align </a:t>
            </a:r>
            <a:r>
              <a:rPr lang="en-US" sz="2400" dirty="0"/>
              <a:t>their </a:t>
            </a:r>
            <a:r>
              <a:rPr lang="en-US" sz="2400" b="1" dirty="0"/>
              <a:t>ways of working</a:t>
            </a:r>
            <a:r>
              <a:rPr lang="en-US" sz="2400" dirty="0"/>
              <a:t>. </a:t>
            </a:r>
          </a:p>
        </p:txBody>
      </p:sp>
      <p:grpSp>
        <p:nvGrpSpPr>
          <p:cNvPr id="63" name="Group 62">
            <a:extLst>
              <a:ext uri="{FF2B5EF4-FFF2-40B4-BE49-F238E27FC236}">
                <a16:creationId xmlns:a16="http://schemas.microsoft.com/office/drawing/2014/main" id="{1ED3B5E7-6501-7DDC-1BBA-7A0176C5E5A2}"/>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7AE19A43-33EC-06E0-7109-27EAA6B171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90E388DE-9DED-47A3-781C-B041603CB5F4}"/>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CCF7B394-9829-A4E0-50A4-6C66BF8DF646}"/>
              </a:ext>
            </a:extLst>
          </p:cNvPr>
          <p:cNvSpPr>
            <a:spLocks noGrp="1"/>
          </p:cNvSpPr>
          <p:nvPr>
            <p:ph type="sldNum" sz="quarter" idx="12"/>
          </p:nvPr>
        </p:nvSpPr>
        <p:spPr/>
        <p:txBody>
          <a:bodyPr/>
          <a:lstStyle/>
          <a:p>
            <a:fld id="{DC6309F4-03C8-4D48-A124-A9AD6E083FAC}" type="slidenum">
              <a:rPr lang="en-US" smtClean="0"/>
              <a:t>14</a:t>
            </a:fld>
            <a:endParaRPr lang="en-US"/>
          </a:p>
        </p:txBody>
      </p:sp>
      <p:sp>
        <p:nvSpPr>
          <p:cNvPr id="4" name="Title 1">
            <a:extLst>
              <a:ext uri="{FF2B5EF4-FFF2-40B4-BE49-F238E27FC236}">
                <a16:creationId xmlns:a16="http://schemas.microsoft.com/office/drawing/2014/main" id="{328D14B7-9DC7-18AB-B0C7-A9537444CCD0}"/>
              </a:ext>
            </a:extLst>
          </p:cNvPr>
          <p:cNvSpPr txBox="1">
            <a:spLocks/>
          </p:cNvSpPr>
          <p:nvPr/>
        </p:nvSpPr>
        <p:spPr>
          <a:xfrm>
            <a:off x="0" y="-146"/>
            <a:ext cx="10085227" cy="989710"/>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Case study: building a cross-functional team</a:t>
            </a:r>
          </a:p>
        </p:txBody>
      </p:sp>
      <p:sp>
        <p:nvSpPr>
          <p:cNvPr id="9" name="TextBox 8">
            <a:extLst>
              <a:ext uri="{FF2B5EF4-FFF2-40B4-BE49-F238E27FC236}">
                <a16:creationId xmlns:a16="http://schemas.microsoft.com/office/drawing/2014/main" id="{77D32619-C444-1CC9-DB31-C5BF5516E702}"/>
              </a:ext>
            </a:extLst>
          </p:cNvPr>
          <p:cNvSpPr txBox="1"/>
          <p:nvPr/>
        </p:nvSpPr>
        <p:spPr>
          <a:xfrm>
            <a:off x="322984" y="5691167"/>
            <a:ext cx="6382614" cy="830997"/>
          </a:xfrm>
          <a:prstGeom prst="rect">
            <a:avLst/>
          </a:prstGeom>
          <a:noFill/>
        </p:spPr>
        <p:txBody>
          <a:bodyPr wrap="square">
            <a:spAutoFit/>
          </a:bodyPr>
          <a:lstStyle/>
          <a:p>
            <a:r>
              <a:rPr lang="en-US" sz="2400" dirty="0"/>
              <a:t>What could Cameron and Gloria do next? What </a:t>
            </a:r>
            <a:r>
              <a:rPr lang="en-US" sz="2400" b="1" dirty="0"/>
              <a:t>potential challenges </a:t>
            </a:r>
            <a:r>
              <a:rPr lang="en-US" sz="2400" dirty="0"/>
              <a:t>could they experience? </a:t>
            </a:r>
          </a:p>
        </p:txBody>
      </p:sp>
      <p:grpSp>
        <p:nvGrpSpPr>
          <p:cNvPr id="3" name="Group 2">
            <a:extLst>
              <a:ext uri="{FF2B5EF4-FFF2-40B4-BE49-F238E27FC236}">
                <a16:creationId xmlns:a16="http://schemas.microsoft.com/office/drawing/2014/main" id="{B2BF35B1-C4C4-5711-6413-627F82ADF23A}"/>
              </a:ext>
            </a:extLst>
          </p:cNvPr>
          <p:cNvGrpSpPr/>
          <p:nvPr/>
        </p:nvGrpSpPr>
        <p:grpSpPr>
          <a:xfrm>
            <a:off x="10139370" y="87150"/>
            <a:ext cx="586040" cy="601598"/>
            <a:chOff x="316947" y="2007971"/>
            <a:chExt cx="1641987" cy="1614426"/>
          </a:xfrm>
        </p:grpSpPr>
        <p:sp>
          <p:nvSpPr>
            <p:cNvPr id="5" name="Oval 4">
              <a:extLst>
                <a:ext uri="{FF2B5EF4-FFF2-40B4-BE49-F238E27FC236}">
                  <a16:creationId xmlns:a16="http://schemas.microsoft.com/office/drawing/2014/main" id="{817DFF3E-F4D2-9524-DCB6-62FA5B6DEAE2}"/>
                </a:ext>
              </a:extLst>
            </p:cNvPr>
            <p:cNvSpPr/>
            <p:nvPr/>
          </p:nvSpPr>
          <p:spPr>
            <a:xfrm>
              <a:off x="316947" y="200797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descr="Magnifying glass with solid fill">
              <a:extLst>
                <a:ext uri="{FF2B5EF4-FFF2-40B4-BE49-F238E27FC236}">
                  <a16:creationId xmlns:a16="http://schemas.microsoft.com/office/drawing/2014/main" id="{30E7EFE4-66BF-8FF6-965D-A5666D4C54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7761" y="2261216"/>
              <a:ext cx="1080886" cy="1080886"/>
            </a:xfrm>
            <a:prstGeom prst="rect">
              <a:avLst/>
            </a:prstGeom>
          </p:spPr>
        </p:pic>
      </p:grpSp>
      <p:sp>
        <p:nvSpPr>
          <p:cNvPr id="25" name="TextBox 24">
            <a:extLst>
              <a:ext uri="{FF2B5EF4-FFF2-40B4-BE49-F238E27FC236}">
                <a16:creationId xmlns:a16="http://schemas.microsoft.com/office/drawing/2014/main" id="{FF07CF9F-FEC0-9A81-E242-705E0BD63242}"/>
              </a:ext>
            </a:extLst>
          </p:cNvPr>
          <p:cNvSpPr txBox="1"/>
          <p:nvPr/>
        </p:nvSpPr>
        <p:spPr>
          <a:xfrm>
            <a:off x="10725410" y="193654"/>
            <a:ext cx="1276568" cy="369332"/>
          </a:xfrm>
          <a:prstGeom prst="rect">
            <a:avLst/>
          </a:prstGeom>
          <a:noFill/>
        </p:spPr>
        <p:txBody>
          <a:bodyPr wrap="none" rtlCol="0">
            <a:spAutoFit/>
          </a:bodyPr>
          <a:lstStyle/>
          <a:p>
            <a:r>
              <a:rPr lang="en-US" dirty="0"/>
              <a:t>Awareness</a:t>
            </a:r>
          </a:p>
        </p:txBody>
      </p:sp>
      <p:pic>
        <p:nvPicPr>
          <p:cNvPr id="44" name="Graphic 43" descr="Questions with solid fill">
            <a:extLst>
              <a:ext uri="{FF2B5EF4-FFF2-40B4-BE49-F238E27FC236}">
                <a16:creationId xmlns:a16="http://schemas.microsoft.com/office/drawing/2014/main" id="{648D59A8-CE58-9C4E-A5B9-86C5D1C26D4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931023" y="887697"/>
            <a:ext cx="1588773" cy="1588773"/>
          </a:xfrm>
          <a:prstGeom prst="rect">
            <a:avLst/>
          </a:prstGeom>
        </p:spPr>
      </p:pic>
    </p:spTree>
    <p:extLst>
      <p:ext uri="{BB962C8B-B14F-4D97-AF65-F5344CB8AC3E}">
        <p14:creationId xmlns:p14="http://schemas.microsoft.com/office/powerpoint/2010/main" val="4042770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84E42-9353-E019-29CF-A1D184AF6128}"/>
            </a:ext>
          </a:extLst>
        </p:cNvPr>
        <p:cNvGrpSpPr/>
        <p:nvPr/>
      </p:nvGrpSpPr>
      <p:grpSpPr>
        <a:xfrm>
          <a:off x="0" y="0"/>
          <a:ext cx="0" cy="0"/>
          <a:chOff x="0" y="0"/>
          <a:chExt cx="0" cy="0"/>
        </a:xfrm>
      </p:grpSpPr>
      <p:sp>
        <p:nvSpPr>
          <p:cNvPr id="44" name="Rounded Rectangle 43">
            <a:extLst>
              <a:ext uri="{FF2B5EF4-FFF2-40B4-BE49-F238E27FC236}">
                <a16:creationId xmlns:a16="http://schemas.microsoft.com/office/drawing/2014/main" id="{FDED0622-998D-A4BE-3001-374A8B21127F}"/>
              </a:ext>
            </a:extLst>
          </p:cNvPr>
          <p:cNvSpPr/>
          <p:nvPr/>
        </p:nvSpPr>
        <p:spPr>
          <a:xfrm>
            <a:off x="7036712" y="3878766"/>
            <a:ext cx="1611351" cy="365125"/>
          </a:xfrm>
          <a:prstGeom prst="roundRect">
            <a:avLst/>
          </a:prstGeom>
          <a:solidFill>
            <a:srgbClr val="FFC000">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ed Rectangle 42">
            <a:extLst>
              <a:ext uri="{FF2B5EF4-FFF2-40B4-BE49-F238E27FC236}">
                <a16:creationId xmlns:a16="http://schemas.microsoft.com/office/drawing/2014/main" id="{FC712C49-1CBE-96DB-DE34-0E68100DDD52}"/>
              </a:ext>
            </a:extLst>
          </p:cNvPr>
          <p:cNvSpPr/>
          <p:nvPr/>
        </p:nvSpPr>
        <p:spPr>
          <a:xfrm>
            <a:off x="8960839" y="3486886"/>
            <a:ext cx="3053781" cy="362204"/>
          </a:xfrm>
          <a:prstGeom prst="roundRect">
            <a:avLst/>
          </a:prstGeom>
          <a:solidFill>
            <a:srgbClr val="FFC000">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a:extLst>
              <a:ext uri="{FF2B5EF4-FFF2-40B4-BE49-F238E27FC236}">
                <a16:creationId xmlns:a16="http://schemas.microsoft.com/office/drawing/2014/main" id="{6D8C4D38-143A-74C1-031F-451E7213C50A}"/>
              </a:ext>
            </a:extLst>
          </p:cNvPr>
          <p:cNvSpPr/>
          <p:nvPr/>
        </p:nvSpPr>
        <p:spPr>
          <a:xfrm>
            <a:off x="4208164" y="830535"/>
            <a:ext cx="1344497" cy="392251"/>
          </a:xfrm>
          <a:prstGeom prst="roundRect">
            <a:avLst/>
          </a:prstGeom>
          <a:solidFill>
            <a:srgbClr val="FFC000">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7D6FFB2-C1CC-E359-B2AF-E422DFB631CC}"/>
              </a:ext>
            </a:extLst>
          </p:cNvPr>
          <p:cNvSpPr txBox="1"/>
          <p:nvPr/>
        </p:nvSpPr>
        <p:spPr>
          <a:xfrm>
            <a:off x="322984" y="822694"/>
            <a:ext cx="9167645" cy="2308324"/>
          </a:xfrm>
          <a:prstGeom prst="rect">
            <a:avLst/>
          </a:prstGeom>
          <a:noFill/>
        </p:spPr>
        <p:txBody>
          <a:bodyPr wrap="square" rtlCol="0">
            <a:spAutoFit/>
          </a:bodyPr>
          <a:lstStyle/>
          <a:p>
            <a:r>
              <a:rPr lang="en-US" sz="2400" b="1" dirty="0"/>
              <a:t>Cameron</a:t>
            </a:r>
            <a:r>
              <a:rPr lang="en-US" sz="2400" dirty="0"/>
              <a:t> and </a:t>
            </a:r>
            <a:r>
              <a:rPr lang="en-US" sz="2400" b="1" dirty="0"/>
              <a:t>Gloria</a:t>
            </a:r>
            <a:r>
              <a:rPr lang="en-US" sz="2400" dirty="0"/>
              <a:t> are two biologists starting a </a:t>
            </a:r>
            <a:r>
              <a:rPr lang="en-US" sz="2400" b="1" dirty="0"/>
              <a:t>new collaboration </a:t>
            </a:r>
            <a:r>
              <a:rPr lang="en-US" sz="2400" dirty="0"/>
              <a:t>on a project on </a:t>
            </a:r>
            <a:r>
              <a:rPr lang="en-US" sz="2400" b="1" dirty="0"/>
              <a:t>modelling</a:t>
            </a:r>
            <a:r>
              <a:rPr lang="en-US" sz="2400" dirty="0"/>
              <a:t> large mammal migrations. </a:t>
            </a:r>
          </a:p>
          <a:p>
            <a:endParaRPr lang="en-US" sz="2400" dirty="0"/>
          </a:p>
          <a:p>
            <a:r>
              <a:rPr lang="en-US" sz="2400" dirty="0"/>
              <a:t>They are both excited about the project and want to make it a success. They are not sure how best to </a:t>
            </a:r>
            <a:r>
              <a:rPr lang="en-US" sz="2400" b="1" dirty="0"/>
              <a:t>leverage their expertise</a:t>
            </a:r>
            <a:r>
              <a:rPr lang="en-US" sz="2400" dirty="0"/>
              <a:t> and </a:t>
            </a:r>
            <a:r>
              <a:rPr lang="en-US" sz="2400" b="1" dirty="0"/>
              <a:t>align </a:t>
            </a:r>
            <a:r>
              <a:rPr lang="en-US" sz="2400" dirty="0"/>
              <a:t>their </a:t>
            </a:r>
            <a:r>
              <a:rPr lang="en-US" sz="2400" b="1" dirty="0"/>
              <a:t>ways of working</a:t>
            </a:r>
            <a:r>
              <a:rPr lang="en-US" sz="2400" dirty="0"/>
              <a:t>. </a:t>
            </a:r>
          </a:p>
        </p:txBody>
      </p:sp>
      <p:sp>
        <p:nvSpPr>
          <p:cNvPr id="18" name="Rounded Rectangle 17">
            <a:extLst>
              <a:ext uri="{FF2B5EF4-FFF2-40B4-BE49-F238E27FC236}">
                <a16:creationId xmlns:a16="http://schemas.microsoft.com/office/drawing/2014/main" id="{7D766E84-D710-DB15-F5C7-0E1F89CB31F0}"/>
              </a:ext>
            </a:extLst>
          </p:cNvPr>
          <p:cNvSpPr/>
          <p:nvPr/>
        </p:nvSpPr>
        <p:spPr>
          <a:xfrm>
            <a:off x="289525" y="4980152"/>
            <a:ext cx="4481258" cy="346361"/>
          </a:xfrm>
          <a:prstGeom prst="roundRect">
            <a:avLst/>
          </a:prstGeom>
          <a:solidFill>
            <a:srgbClr val="FFC000">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a:extLst>
              <a:ext uri="{FF2B5EF4-FFF2-40B4-BE49-F238E27FC236}">
                <a16:creationId xmlns:a16="http://schemas.microsoft.com/office/drawing/2014/main" id="{09EDF479-EA3C-3197-0302-5B7D7D60C9CE}"/>
              </a:ext>
            </a:extLst>
          </p:cNvPr>
          <p:cNvSpPr/>
          <p:nvPr/>
        </p:nvSpPr>
        <p:spPr>
          <a:xfrm>
            <a:off x="5699986" y="4605105"/>
            <a:ext cx="973057" cy="375048"/>
          </a:xfrm>
          <a:prstGeom prst="roundRect">
            <a:avLst/>
          </a:prstGeom>
          <a:solidFill>
            <a:srgbClr val="FFC000">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05D5AED6-8D46-DAC6-543F-A0E6E4A2E42D}"/>
              </a:ext>
            </a:extLst>
          </p:cNvPr>
          <p:cNvSpPr/>
          <p:nvPr/>
        </p:nvSpPr>
        <p:spPr>
          <a:xfrm>
            <a:off x="7004676" y="5328925"/>
            <a:ext cx="2743200" cy="365125"/>
          </a:xfrm>
          <a:prstGeom prst="roundRect">
            <a:avLst/>
          </a:prstGeom>
          <a:solidFill>
            <a:srgbClr val="FFC000">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B803BEBF-BA2F-9315-6B9C-692783507363}"/>
              </a:ext>
            </a:extLst>
          </p:cNvPr>
          <p:cNvSpPr/>
          <p:nvPr/>
        </p:nvSpPr>
        <p:spPr>
          <a:xfrm>
            <a:off x="9478866" y="4917168"/>
            <a:ext cx="2576295" cy="369589"/>
          </a:xfrm>
          <a:prstGeom prst="roundRect">
            <a:avLst/>
          </a:prstGeom>
          <a:solidFill>
            <a:srgbClr val="FFC000">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3" name="Group 62">
            <a:extLst>
              <a:ext uri="{FF2B5EF4-FFF2-40B4-BE49-F238E27FC236}">
                <a16:creationId xmlns:a16="http://schemas.microsoft.com/office/drawing/2014/main" id="{E182CD1C-699B-429D-5488-23DF5DBE2FF9}"/>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A19A8719-23DD-3323-0625-CA1B42E659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055E02BB-043E-50BE-47F3-63611C49CAA5}"/>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1C4EBF6B-107D-42FC-6AB9-46BEEAF3D10A}"/>
              </a:ext>
            </a:extLst>
          </p:cNvPr>
          <p:cNvSpPr>
            <a:spLocks noGrp="1"/>
          </p:cNvSpPr>
          <p:nvPr>
            <p:ph type="sldNum" sz="quarter" idx="12"/>
          </p:nvPr>
        </p:nvSpPr>
        <p:spPr/>
        <p:txBody>
          <a:bodyPr/>
          <a:lstStyle/>
          <a:p>
            <a:fld id="{DC6309F4-03C8-4D48-A124-A9AD6E083FAC}" type="slidenum">
              <a:rPr lang="en-US" smtClean="0"/>
              <a:t>15</a:t>
            </a:fld>
            <a:endParaRPr lang="en-US"/>
          </a:p>
        </p:txBody>
      </p:sp>
      <p:sp>
        <p:nvSpPr>
          <p:cNvPr id="4" name="Title 1">
            <a:extLst>
              <a:ext uri="{FF2B5EF4-FFF2-40B4-BE49-F238E27FC236}">
                <a16:creationId xmlns:a16="http://schemas.microsoft.com/office/drawing/2014/main" id="{E4431FEE-86AD-A9F7-0CA3-C0413171BE53}"/>
              </a:ext>
            </a:extLst>
          </p:cNvPr>
          <p:cNvSpPr txBox="1">
            <a:spLocks/>
          </p:cNvSpPr>
          <p:nvPr/>
        </p:nvSpPr>
        <p:spPr>
          <a:xfrm>
            <a:off x="0" y="-146"/>
            <a:ext cx="10085227" cy="989710"/>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Case study: building a cross-functional team</a:t>
            </a:r>
          </a:p>
        </p:txBody>
      </p:sp>
      <p:sp>
        <p:nvSpPr>
          <p:cNvPr id="11" name="TextBox 10">
            <a:extLst>
              <a:ext uri="{FF2B5EF4-FFF2-40B4-BE49-F238E27FC236}">
                <a16:creationId xmlns:a16="http://schemas.microsoft.com/office/drawing/2014/main" id="{6CD0F19E-633E-C10C-2FAC-6BAD23B658C0}"/>
              </a:ext>
            </a:extLst>
          </p:cNvPr>
          <p:cNvSpPr txBox="1"/>
          <p:nvPr/>
        </p:nvSpPr>
        <p:spPr>
          <a:xfrm>
            <a:off x="7015522" y="3434416"/>
            <a:ext cx="5040555" cy="3046988"/>
          </a:xfrm>
          <a:prstGeom prst="rect">
            <a:avLst/>
          </a:prstGeom>
          <a:noFill/>
        </p:spPr>
        <p:txBody>
          <a:bodyPr wrap="square">
            <a:spAutoFit/>
          </a:bodyPr>
          <a:lstStyle/>
          <a:p>
            <a:pPr algn="just"/>
            <a:r>
              <a:rPr lang="en-US" sz="2400" dirty="0"/>
              <a:t>Gloria has </a:t>
            </a:r>
            <a:r>
              <a:rPr lang="en-US" sz="2400" b="1" dirty="0"/>
              <a:t>extensive fieldwork experience</a:t>
            </a:r>
            <a:r>
              <a:rPr lang="en-US" sz="2400" dirty="0"/>
              <a:t> with large mammals and keeping </a:t>
            </a:r>
            <a:r>
              <a:rPr lang="en-US" sz="2400" b="1" dirty="0"/>
              <a:t>detailed field notebooks</a:t>
            </a:r>
            <a:r>
              <a:rPr lang="en-US" sz="2400" dirty="0"/>
              <a:t>. She is </a:t>
            </a:r>
            <a:r>
              <a:rPr lang="en-US" sz="2400" b="1" dirty="0"/>
              <a:t>aware</a:t>
            </a:r>
            <a:r>
              <a:rPr lang="en-US" sz="2400" dirty="0"/>
              <a:t> of some Open Science practices, but her workflows are </a:t>
            </a:r>
            <a:r>
              <a:rPr lang="en-US" sz="2400" b="1" dirty="0"/>
              <a:t>not yet reproducible </a:t>
            </a:r>
            <a:r>
              <a:rPr lang="en-US" sz="2400" dirty="0"/>
              <a:t>(e.g. she uses point and click software for data analysis). </a:t>
            </a:r>
          </a:p>
        </p:txBody>
      </p:sp>
      <p:sp>
        <p:nvSpPr>
          <p:cNvPr id="13" name="TextBox 12">
            <a:extLst>
              <a:ext uri="{FF2B5EF4-FFF2-40B4-BE49-F238E27FC236}">
                <a16:creationId xmlns:a16="http://schemas.microsoft.com/office/drawing/2014/main" id="{EC0391B6-F3F1-EDCA-5AFD-36AF23CAB409}"/>
              </a:ext>
            </a:extLst>
          </p:cNvPr>
          <p:cNvSpPr txBox="1"/>
          <p:nvPr/>
        </p:nvSpPr>
        <p:spPr>
          <a:xfrm>
            <a:off x="290427" y="3465459"/>
            <a:ext cx="6382616" cy="1938992"/>
          </a:xfrm>
          <a:prstGeom prst="rect">
            <a:avLst/>
          </a:prstGeom>
          <a:noFill/>
        </p:spPr>
        <p:txBody>
          <a:bodyPr wrap="square">
            <a:spAutoFit/>
          </a:bodyPr>
          <a:lstStyle/>
          <a:p>
            <a:pPr algn="just"/>
            <a:r>
              <a:rPr lang="en-US" sz="2400" dirty="0"/>
              <a:t>Cameron has a </a:t>
            </a:r>
            <a:r>
              <a:rPr lang="en-US" sz="2400" b="1" dirty="0"/>
              <a:t>computational background</a:t>
            </a:r>
            <a:r>
              <a:rPr lang="en-US" sz="2400" dirty="0"/>
              <a:t> working with big data and adopts Open Science practices like </a:t>
            </a:r>
            <a:r>
              <a:rPr lang="en-US" sz="2400" b="1" dirty="0"/>
              <a:t>reproducible workflows</a:t>
            </a:r>
            <a:r>
              <a:rPr lang="en-US" sz="2400" dirty="0"/>
              <a:t>, version control and data archiving. He has </a:t>
            </a:r>
            <a:r>
              <a:rPr lang="en-US" sz="2400" b="1" dirty="0"/>
              <a:t>some knowledge </a:t>
            </a:r>
            <a:r>
              <a:rPr lang="en-US" sz="2400" dirty="0"/>
              <a:t>of the study species. </a:t>
            </a:r>
          </a:p>
        </p:txBody>
      </p:sp>
      <p:sp>
        <p:nvSpPr>
          <p:cNvPr id="25" name="TextBox 24">
            <a:extLst>
              <a:ext uri="{FF2B5EF4-FFF2-40B4-BE49-F238E27FC236}">
                <a16:creationId xmlns:a16="http://schemas.microsoft.com/office/drawing/2014/main" id="{C16DB294-98B4-A604-D0D7-7BF0C2662202}"/>
              </a:ext>
            </a:extLst>
          </p:cNvPr>
          <p:cNvSpPr txBox="1"/>
          <p:nvPr/>
        </p:nvSpPr>
        <p:spPr>
          <a:xfrm>
            <a:off x="10718291" y="251070"/>
            <a:ext cx="1516056" cy="369332"/>
          </a:xfrm>
          <a:prstGeom prst="rect">
            <a:avLst/>
          </a:prstGeom>
          <a:noFill/>
        </p:spPr>
        <p:txBody>
          <a:bodyPr wrap="none" rtlCol="0">
            <a:spAutoFit/>
          </a:bodyPr>
          <a:lstStyle/>
          <a:p>
            <a:r>
              <a:rPr lang="en-US" dirty="0"/>
              <a:t>Acknowledge</a:t>
            </a:r>
          </a:p>
        </p:txBody>
      </p:sp>
      <p:sp>
        <p:nvSpPr>
          <p:cNvPr id="27" name="TextBox 26">
            <a:extLst>
              <a:ext uri="{FF2B5EF4-FFF2-40B4-BE49-F238E27FC236}">
                <a16:creationId xmlns:a16="http://schemas.microsoft.com/office/drawing/2014/main" id="{87D38883-579E-9D92-48F1-B95646B402A9}"/>
              </a:ext>
            </a:extLst>
          </p:cNvPr>
          <p:cNvSpPr txBox="1"/>
          <p:nvPr/>
        </p:nvSpPr>
        <p:spPr>
          <a:xfrm>
            <a:off x="10641431" y="830535"/>
            <a:ext cx="1306704" cy="369332"/>
          </a:xfrm>
          <a:prstGeom prst="rect">
            <a:avLst/>
          </a:prstGeom>
          <a:noFill/>
        </p:spPr>
        <p:txBody>
          <a:bodyPr wrap="none" rtlCol="0">
            <a:spAutoFit/>
          </a:bodyPr>
          <a:lstStyle/>
          <a:p>
            <a:r>
              <a:rPr lang="en-US" i="1" dirty="0"/>
              <a:t>Challenges</a:t>
            </a:r>
          </a:p>
        </p:txBody>
      </p:sp>
      <p:grpSp>
        <p:nvGrpSpPr>
          <p:cNvPr id="37" name="Group 36">
            <a:extLst>
              <a:ext uri="{FF2B5EF4-FFF2-40B4-BE49-F238E27FC236}">
                <a16:creationId xmlns:a16="http://schemas.microsoft.com/office/drawing/2014/main" id="{F037BF0F-DAFF-1CFD-696F-53FB7AF05B91}"/>
              </a:ext>
            </a:extLst>
          </p:cNvPr>
          <p:cNvGrpSpPr/>
          <p:nvPr/>
        </p:nvGrpSpPr>
        <p:grpSpPr>
          <a:xfrm>
            <a:off x="10058474" y="1222786"/>
            <a:ext cx="1996687" cy="1585388"/>
            <a:chOff x="10117098" y="1440499"/>
            <a:chExt cx="1996687" cy="1585388"/>
          </a:xfrm>
        </p:grpSpPr>
        <p:pic>
          <p:nvPicPr>
            <p:cNvPr id="10" name="Graphic 9" descr="Gears with solid fill">
              <a:extLst>
                <a:ext uri="{FF2B5EF4-FFF2-40B4-BE49-F238E27FC236}">
                  <a16:creationId xmlns:a16="http://schemas.microsoft.com/office/drawing/2014/main" id="{AE6D320D-528D-F0A6-6B85-6195D8E855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17098" y="1929037"/>
              <a:ext cx="608312" cy="608312"/>
            </a:xfrm>
            <a:prstGeom prst="rect">
              <a:avLst/>
            </a:prstGeom>
          </p:spPr>
        </p:pic>
        <p:grpSp>
          <p:nvGrpSpPr>
            <p:cNvPr id="36" name="Group 35">
              <a:extLst>
                <a:ext uri="{FF2B5EF4-FFF2-40B4-BE49-F238E27FC236}">
                  <a16:creationId xmlns:a16="http://schemas.microsoft.com/office/drawing/2014/main" id="{F7189ABE-1A28-9566-299D-230BDA3EFF4C}"/>
                </a:ext>
              </a:extLst>
            </p:cNvPr>
            <p:cNvGrpSpPr/>
            <p:nvPr/>
          </p:nvGrpSpPr>
          <p:grpSpPr>
            <a:xfrm>
              <a:off x="10136371" y="1440499"/>
              <a:ext cx="1977414" cy="1585388"/>
              <a:chOff x="10136371" y="1440499"/>
              <a:chExt cx="1977414" cy="1585388"/>
            </a:xfrm>
          </p:grpSpPr>
          <p:sp>
            <p:nvSpPr>
              <p:cNvPr id="32" name="Rounded Rectangle 31">
                <a:extLst>
                  <a:ext uri="{FF2B5EF4-FFF2-40B4-BE49-F238E27FC236}">
                    <a16:creationId xmlns:a16="http://schemas.microsoft.com/office/drawing/2014/main" id="{F0AD2BFD-A7CA-5062-C28A-977BF6A49652}"/>
                  </a:ext>
                </a:extLst>
              </p:cNvPr>
              <p:cNvSpPr/>
              <p:nvPr/>
            </p:nvSpPr>
            <p:spPr>
              <a:xfrm>
                <a:off x="10652371" y="1473647"/>
                <a:ext cx="1397284" cy="450573"/>
              </a:xfrm>
              <a:prstGeom prst="roundRect">
                <a:avLst/>
              </a:prstGeom>
              <a:solidFill>
                <a:srgbClr val="FFC000">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32">
                <a:extLst>
                  <a:ext uri="{FF2B5EF4-FFF2-40B4-BE49-F238E27FC236}">
                    <a16:creationId xmlns:a16="http://schemas.microsoft.com/office/drawing/2014/main" id="{9FD2D235-5FAA-2C88-7FC0-52F26F7FA933}"/>
                  </a:ext>
                </a:extLst>
              </p:cNvPr>
              <p:cNvSpPr/>
              <p:nvPr/>
            </p:nvSpPr>
            <p:spPr>
              <a:xfrm>
                <a:off x="10643941" y="2021743"/>
                <a:ext cx="1397284" cy="450573"/>
              </a:xfrm>
              <a:prstGeom prst="roundRect">
                <a:avLst/>
              </a:prstGeom>
              <a:solidFill>
                <a:srgbClr val="45B08B">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a:extLst>
                  <a:ext uri="{FF2B5EF4-FFF2-40B4-BE49-F238E27FC236}">
                    <a16:creationId xmlns:a16="http://schemas.microsoft.com/office/drawing/2014/main" id="{97E26B4D-AF87-003D-9E74-13C994664FB9}"/>
                  </a:ext>
                </a:extLst>
              </p:cNvPr>
              <p:cNvSpPr/>
              <p:nvPr/>
            </p:nvSpPr>
            <p:spPr>
              <a:xfrm>
                <a:off x="10657037" y="2544716"/>
                <a:ext cx="1397284" cy="450573"/>
              </a:xfrm>
              <a:prstGeom prst="roundRect">
                <a:avLst/>
              </a:prstGeom>
              <a:solidFill>
                <a:schemeClr val="bg1">
                  <a:lumMod val="65000"/>
                  <a:alpha val="2721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descr="Lights On with solid fill">
                <a:extLst>
                  <a:ext uri="{FF2B5EF4-FFF2-40B4-BE49-F238E27FC236}">
                    <a16:creationId xmlns:a16="http://schemas.microsoft.com/office/drawing/2014/main" id="{9D75E7BC-3A85-A6A6-4BBB-55CF52D6CDC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36371" y="1440499"/>
                <a:ext cx="520145" cy="520145"/>
              </a:xfrm>
              <a:prstGeom prst="rect">
                <a:avLst/>
              </a:prstGeom>
            </p:spPr>
          </p:pic>
          <p:pic>
            <p:nvPicPr>
              <p:cNvPr id="12" name="Graphic 11" descr="Weights Uneven with solid fill">
                <a:extLst>
                  <a:ext uri="{FF2B5EF4-FFF2-40B4-BE49-F238E27FC236}">
                    <a16:creationId xmlns:a16="http://schemas.microsoft.com/office/drawing/2014/main" id="{96D3D93E-D4C6-3F4F-69E3-A7CD72518AA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70486" y="2537995"/>
                <a:ext cx="487892" cy="487892"/>
              </a:xfrm>
              <a:prstGeom prst="rect">
                <a:avLst/>
              </a:prstGeom>
            </p:spPr>
          </p:pic>
          <p:sp>
            <p:nvSpPr>
              <p:cNvPr id="29" name="TextBox 28">
                <a:extLst>
                  <a:ext uri="{FF2B5EF4-FFF2-40B4-BE49-F238E27FC236}">
                    <a16:creationId xmlns:a16="http://schemas.microsoft.com/office/drawing/2014/main" id="{B5145F9E-2C02-147C-11F8-9B7EA941CD3D}"/>
                  </a:ext>
                </a:extLst>
              </p:cNvPr>
              <p:cNvSpPr txBox="1"/>
              <p:nvPr/>
            </p:nvSpPr>
            <p:spPr>
              <a:xfrm>
                <a:off x="10698013" y="1531864"/>
                <a:ext cx="1415772" cy="369332"/>
              </a:xfrm>
              <a:prstGeom prst="rect">
                <a:avLst/>
              </a:prstGeom>
              <a:noFill/>
            </p:spPr>
            <p:txBody>
              <a:bodyPr wrap="none" rtlCol="0">
                <a:spAutoFit/>
              </a:bodyPr>
              <a:lstStyle/>
              <a:p>
                <a:r>
                  <a:rPr lang="en-US" b="1" dirty="0"/>
                  <a:t>Conceptual</a:t>
                </a:r>
              </a:p>
            </p:txBody>
          </p:sp>
          <p:sp>
            <p:nvSpPr>
              <p:cNvPr id="30" name="TextBox 29">
                <a:extLst>
                  <a:ext uri="{FF2B5EF4-FFF2-40B4-BE49-F238E27FC236}">
                    <a16:creationId xmlns:a16="http://schemas.microsoft.com/office/drawing/2014/main" id="{DCAFBDF7-CD32-9D51-2E1F-CFA356E7EEB1}"/>
                  </a:ext>
                </a:extLst>
              </p:cNvPr>
              <p:cNvSpPr txBox="1"/>
              <p:nvPr/>
            </p:nvSpPr>
            <p:spPr>
              <a:xfrm>
                <a:off x="10802700" y="2093735"/>
                <a:ext cx="1063881" cy="369332"/>
              </a:xfrm>
              <a:prstGeom prst="rect">
                <a:avLst/>
              </a:prstGeom>
              <a:noFill/>
            </p:spPr>
            <p:txBody>
              <a:bodyPr wrap="none" rtlCol="0">
                <a:spAutoFit/>
              </a:bodyPr>
              <a:lstStyle/>
              <a:p>
                <a:r>
                  <a:rPr lang="en-US" dirty="0"/>
                  <a:t>Practical</a:t>
                </a:r>
              </a:p>
            </p:txBody>
          </p:sp>
          <p:sp>
            <p:nvSpPr>
              <p:cNvPr id="31" name="TextBox 30">
                <a:extLst>
                  <a:ext uri="{FF2B5EF4-FFF2-40B4-BE49-F238E27FC236}">
                    <a16:creationId xmlns:a16="http://schemas.microsoft.com/office/drawing/2014/main" id="{5E2DA683-6C1A-3411-E5A0-C52DCB2AF2C9}"/>
                  </a:ext>
                </a:extLst>
              </p:cNvPr>
              <p:cNvSpPr txBox="1"/>
              <p:nvPr/>
            </p:nvSpPr>
            <p:spPr>
              <a:xfrm>
                <a:off x="10932127" y="2590602"/>
                <a:ext cx="805029" cy="369332"/>
              </a:xfrm>
              <a:prstGeom prst="rect">
                <a:avLst/>
              </a:prstGeom>
              <a:noFill/>
            </p:spPr>
            <p:txBody>
              <a:bodyPr wrap="none" rtlCol="0">
                <a:spAutoFit/>
              </a:bodyPr>
              <a:lstStyle/>
              <a:p>
                <a:r>
                  <a:rPr lang="en-US" dirty="0"/>
                  <a:t>Equity</a:t>
                </a:r>
              </a:p>
            </p:txBody>
          </p:sp>
        </p:grpSp>
      </p:grpSp>
      <p:sp>
        <p:nvSpPr>
          <p:cNvPr id="42" name="Rounded Rectangle 41">
            <a:extLst>
              <a:ext uri="{FF2B5EF4-FFF2-40B4-BE49-F238E27FC236}">
                <a16:creationId xmlns:a16="http://schemas.microsoft.com/office/drawing/2014/main" id="{D79D1D84-BBA1-536F-7B20-1C4DCBD64A2C}"/>
              </a:ext>
            </a:extLst>
          </p:cNvPr>
          <p:cNvSpPr/>
          <p:nvPr/>
        </p:nvSpPr>
        <p:spPr>
          <a:xfrm>
            <a:off x="272156" y="5462815"/>
            <a:ext cx="6382615" cy="1216404"/>
          </a:xfrm>
          <a:prstGeom prst="roundRect">
            <a:avLst/>
          </a:prstGeom>
          <a:solidFill>
            <a:srgbClr val="FFC000">
              <a:alpha val="27219"/>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F2F92D4-0513-1E09-33F2-F6AE85D47164}"/>
              </a:ext>
            </a:extLst>
          </p:cNvPr>
          <p:cNvSpPr txBox="1"/>
          <p:nvPr/>
        </p:nvSpPr>
        <p:spPr>
          <a:xfrm>
            <a:off x="322984" y="5489339"/>
            <a:ext cx="6644986" cy="1200329"/>
          </a:xfrm>
          <a:prstGeom prst="rect">
            <a:avLst/>
          </a:prstGeom>
          <a:noFill/>
        </p:spPr>
        <p:txBody>
          <a:bodyPr wrap="square">
            <a:spAutoFit/>
          </a:bodyPr>
          <a:lstStyle/>
          <a:p>
            <a:r>
              <a:rPr lang="en-US" sz="2400" b="1" dirty="0"/>
              <a:t>Conceptual challenges: </a:t>
            </a:r>
            <a:r>
              <a:rPr lang="en-US" sz="2400" dirty="0"/>
              <a:t>Same discipline but different norms, possible confusion over Open Science concepts and study species. </a:t>
            </a:r>
          </a:p>
        </p:txBody>
      </p:sp>
      <p:sp>
        <p:nvSpPr>
          <p:cNvPr id="46" name="Oval 45">
            <a:extLst>
              <a:ext uri="{FF2B5EF4-FFF2-40B4-BE49-F238E27FC236}">
                <a16:creationId xmlns:a16="http://schemas.microsoft.com/office/drawing/2014/main" id="{0EA7333D-7767-86A3-51E6-7BC566D932A9}"/>
              </a:ext>
            </a:extLst>
          </p:cNvPr>
          <p:cNvSpPr/>
          <p:nvPr/>
        </p:nvSpPr>
        <p:spPr>
          <a:xfrm>
            <a:off x="10139370" y="87150"/>
            <a:ext cx="586040" cy="601598"/>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8" name="Graphic 47" descr="Thumbs up sign with solid fill">
            <a:extLst>
              <a:ext uri="{FF2B5EF4-FFF2-40B4-BE49-F238E27FC236}">
                <a16:creationId xmlns:a16="http://schemas.microsoft.com/office/drawing/2014/main" id="{60279052-D858-292F-FF82-6837C23AC1F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64817" y="209130"/>
            <a:ext cx="328028" cy="340741"/>
          </a:xfrm>
          <a:prstGeom prst="rect">
            <a:avLst/>
          </a:prstGeom>
        </p:spPr>
      </p:pic>
    </p:spTree>
    <p:extLst>
      <p:ext uri="{BB962C8B-B14F-4D97-AF65-F5344CB8AC3E}">
        <p14:creationId xmlns:p14="http://schemas.microsoft.com/office/powerpoint/2010/main" val="2092012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39E5F-F3B1-9794-5C6C-426C995508B6}"/>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60DFC37B-AB47-0049-8CCD-FE662E05BA63}"/>
              </a:ext>
            </a:extLst>
          </p:cNvPr>
          <p:cNvSpPr txBox="1"/>
          <p:nvPr/>
        </p:nvSpPr>
        <p:spPr>
          <a:xfrm>
            <a:off x="290427" y="3465459"/>
            <a:ext cx="6382616" cy="1938992"/>
          </a:xfrm>
          <a:prstGeom prst="rect">
            <a:avLst/>
          </a:prstGeom>
          <a:noFill/>
        </p:spPr>
        <p:txBody>
          <a:bodyPr wrap="square">
            <a:spAutoFit/>
          </a:bodyPr>
          <a:lstStyle/>
          <a:p>
            <a:pPr algn="just"/>
            <a:r>
              <a:rPr lang="en-US" sz="2400" dirty="0"/>
              <a:t>Cameron has a </a:t>
            </a:r>
            <a:r>
              <a:rPr lang="en-US" sz="2400" b="1" dirty="0"/>
              <a:t>computational background</a:t>
            </a:r>
            <a:r>
              <a:rPr lang="en-US" sz="2400" dirty="0"/>
              <a:t> working with big data and adopts Open Science practices like </a:t>
            </a:r>
            <a:r>
              <a:rPr lang="en-US" sz="2400" b="1" dirty="0"/>
              <a:t>reproducible workflows</a:t>
            </a:r>
            <a:r>
              <a:rPr lang="en-US" sz="2400" dirty="0"/>
              <a:t>, version control and data archiving. He has </a:t>
            </a:r>
            <a:r>
              <a:rPr lang="en-US" sz="2400" b="1" dirty="0"/>
              <a:t>some knowledge </a:t>
            </a:r>
            <a:r>
              <a:rPr lang="en-US" sz="2400" dirty="0"/>
              <a:t>of the study species. </a:t>
            </a:r>
          </a:p>
        </p:txBody>
      </p:sp>
      <p:sp>
        <p:nvSpPr>
          <p:cNvPr id="11" name="TextBox 10">
            <a:extLst>
              <a:ext uri="{FF2B5EF4-FFF2-40B4-BE49-F238E27FC236}">
                <a16:creationId xmlns:a16="http://schemas.microsoft.com/office/drawing/2014/main" id="{E9A02B7A-AF78-3F0B-47A4-7DDAF6BC2DEA}"/>
              </a:ext>
            </a:extLst>
          </p:cNvPr>
          <p:cNvSpPr txBox="1"/>
          <p:nvPr/>
        </p:nvSpPr>
        <p:spPr>
          <a:xfrm>
            <a:off x="7015522" y="3434416"/>
            <a:ext cx="5040555" cy="3046988"/>
          </a:xfrm>
          <a:prstGeom prst="rect">
            <a:avLst/>
          </a:prstGeom>
          <a:noFill/>
        </p:spPr>
        <p:txBody>
          <a:bodyPr wrap="square">
            <a:spAutoFit/>
          </a:bodyPr>
          <a:lstStyle/>
          <a:p>
            <a:pPr algn="just"/>
            <a:r>
              <a:rPr lang="en-US" sz="2400" dirty="0"/>
              <a:t>Gloria has </a:t>
            </a:r>
            <a:r>
              <a:rPr lang="en-US" sz="2400" b="1" dirty="0"/>
              <a:t>extensive fieldwork experience</a:t>
            </a:r>
            <a:r>
              <a:rPr lang="en-US" sz="2400" dirty="0"/>
              <a:t> with large mammals and keeping </a:t>
            </a:r>
            <a:r>
              <a:rPr lang="en-US" sz="2400" b="1" dirty="0"/>
              <a:t>detailed field notebooks</a:t>
            </a:r>
            <a:r>
              <a:rPr lang="en-US" sz="2400" dirty="0"/>
              <a:t>. She is </a:t>
            </a:r>
            <a:r>
              <a:rPr lang="en-US" sz="2400" b="1" dirty="0"/>
              <a:t>aware</a:t>
            </a:r>
            <a:r>
              <a:rPr lang="en-US" sz="2400" dirty="0"/>
              <a:t> of some Open Science practices, but her workflows are </a:t>
            </a:r>
            <a:r>
              <a:rPr lang="en-US" sz="2400" b="1" dirty="0"/>
              <a:t>not yet reproducible </a:t>
            </a:r>
            <a:r>
              <a:rPr lang="en-US" sz="2400" dirty="0"/>
              <a:t>(e.g. she uses point and click software for data analysis). </a:t>
            </a:r>
          </a:p>
        </p:txBody>
      </p:sp>
      <p:grpSp>
        <p:nvGrpSpPr>
          <p:cNvPr id="63" name="Group 62">
            <a:extLst>
              <a:ext uri="{FF2B5EF4-FFF2-40B4-BE49-F238E27FC236}">
                <a16:creationId xmlns:a16="http://schemas.microsoft.com/office/drawing/2014/main" id="{D1492327-10A6-7B3F-CF12-23B12BEBB796}"/>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45DF1459-2AA1-2853-5CFE-47DD2439C7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E2AD4E02-0CDD-DBD8-77FA-A3732CE281F8}"/>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06726693-ED2C-A907-37B9-5EDE37B11F12}"/>
              </a:ext>
            </a:extLst>
          </p:cNvPr>
          <p:cNvSpPr>
            <a:spLocks noGrp="1"/>
          </p:cNvSpPr>
          <p:nvPr>
            <p:ph type="sldNum" sz="quarter" idx="12"/>
          </p:nvPr>
        </p:nvSpPr>
        <p:spPr/>
        <p:txBody>
          <a:bodyPr/>
          <a:lstStyle/>
          <a:p>
            <a:fld id="{DC6309F4-03C8-4D48-A124-A9AD6E083FAC}" type="slidenum">
              <a:rPr lang="en-US" smtClean="0"/>
              <a:t>16</a:t>
            </a:fld>
            <a:endParaRPr lang="en-US"/>
          </a:p>
        </p:txBody>
      </p:sp>
      <p:sp>
        <p:nvSpPr>
          <p:cNvPr id="4" name="Title 1">
            <a:extLst>
              <a:ext uri="{FF2B5EF4-FFF2-40B4-BE49-F238E27FC236}">
                <a16:creationId xmlns:a16="http://schemas.microsoft.com/office/drawing/2014/main" id="{83D9CD51-2213-142A-A6AE-5B15857D8B37}"/>
              </a:ext>
            </a:extLst>
          </p:cNvPr>
          <p:cNvSpPr txBox="1">
            <a:spLocks/>
          </p:cNvSpPr>
          <p:nvPr/>
        </p:nvSpPr>
        <p:spPr>
          <a:xfrm>
            <a:off x="0" y="-146"/>
            <a:ext cx="10085227" cy="989710"/>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Case study: building a cross-functional team</a:t>
            </a:r>
          </a:p>
        </p:txBody>
      </p:sp>
      <p:sp>
        <p:nvSpPr>
          <p:cNvPr id="42" name="Rounded Rectangle 41">
            <a:extLst>
              <a:ext uri="{FF2B5EF4-FFF2-40B4-BE49-F238E27FC236}">
                <a16:creationId xmlns:a16="http://schemas.microsoft.com/office/drawing/2014/main" id="{8308510F-5D67-10BD-E5C5-9604D69B7FAB}"/>
              </a:ext>
            </a:extLst>
          </p:cNvPr>
          <p:cNvSpPr/>
          <p:nvPr/>
        </p:nvSpPr>
        <p:spPr>
          <a:xfrm>
            <a:off x="322984" y="5462830"/>
            <a:ext cx="6382615" cy="1216404"/>
          </a:xfrm>
          <a:prstGeom prst="roundRect">
            <a:avLst/>
          </a:prstGeom>
          <a:solidFill>
            <a:srgbClr val="45B08B">
              <a:alpha val="27219"/>
            </a:srgbClr>
          </a:solidFill>
          <a:ln>
            <a:solidFill>
              <a:srgbClr val="45B08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6659AE1-1262-09EC-1792-C2D05C9B65E1}"/>
              </a:ext>
            </a:extLst>
          </p:cNvPr>
          <p:cNvSpPr txBox="1"/>
          <p:nvPr/>
        </p:nvSpPr>
        <p:spPr>
          <a:xfrm>
            <a:off x="387554" y="5462830"/>
            <a:ext cx="6440418" cy="1200329"/>
          </a:xfrm>
          <a:prstGeom prst="rect">
            <a:avLst/>
          </a:prstGeom>
          <a:noFill/>
        </p:spPr>
        <p:txBody>
          <a:bodyPr wrap="square">
            <a:spAutoFit/>
          </a:bodyPr>
          <a:lstStyle/>
          <a:p>
            <a:r>
              <a:rPr lang="en-US" sz="2400" b="1" dirty="0"/>
              <a:t>Practical challenge: </a:t>
            </a:r>
            <a:r>
              <a:rPr lang="en-US" sz="2400" dirty="0"/>
              <a:t>Developing an organizational infrastructure that accounts for varying Open Science skills </a:t>
            </a:r>
          </a:p>
        </p:txBody>
      </p:sp>
      <p:sp>
        <p:nvSpPr>
          <p:cNvPr id="14" name="Rounded Rectangle 13">
            <a:extLst>
              <a:ext uri="{FF2B5EF4-FFF2-40B4-BE49-F238E27FC236}">
                <a16:creationId xmlns:a16="http://schemas.microsoft.com/office/drawing/2014/main" id="{8E18FE1F-1551-61DE-3199-188945C71D4A}"/>
              </a:ext>
            </a:extLst>
          </p:cNvPr>
          <p:cNvSpPr/>
          <p:nvPr/>
        </p:nvSpPr>
        <p:spPr>
          <a:xfrm>
            <a:off x="6834514" y="877646"/>
            <a:ext cx="2629611" cy="348495"/>
          </a:xfrm>
          <a:prstGeom prst="roundRect">
            <a:avLst/>
          </a:prstGeom>
          <a:solidFill>
            <a:srgbClr val="45B08B">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3CCC489D-3E6A-96C5-4056-15400BCE6359}"/>
              </a:ext>
            </a:extLst>
          </p:cNvPr>
          <p:cNvSpPr/>
          <p:nvPr/>
        </p:nvSpPr>
        <p:spPr>
          <a:xfrm>
            <a:off x="336236" y="2727109"/>
            <a:ext cx="3744913" cy="334336"/>
          </a:xfrm>
          <a:prstGeom prst="roundRect">
            <a:avLst/>
          </a:prstGeom>
          <a:solidFill>
            <a:srgbClr val="45B08B">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D48FBD0-C319-F148-EA03-EF424E6D0372}"/>
              </a:ext>
            </a:extLst>
          </p:cNvPr>
          <p:cNvSpPr txBox="1"/>
          <p:nvPr/>
        </p:nvSpPr>
        <p:spPr>
          <a:xfrm>
            <a:off x="322984" y="822694"/>
            <a:ext cx="9167645" cy="2308324"/>
          </a:xfrm>
          <a:prstGeom prst="rect">
            <a:avLst/>
          </a:prstGeom>
          <a:noFill/>
        </p:spPr>
        <p:txBody>
          <a:bodyPr wrap="square" rtlCol="0">
            <a:spAutoFit/>
          </a:bodyPr>
          <a:lstStyle/>
          <a:p>
            <a:r>
              <a:rPr lang="en-US" sz="2400" b="1" dirty="0"/>
              <a:t>Cameron</a:t>
            </a:r>
            <a:r>
              <a:rPr lang="en-US" sz="2400" dirty="0"/>
              <a:t> and </a:t>
            </a:r>
            <a:r>
              <a:rPr lang="en-US" sz="2400" b="1" dirty="0"/>
              <a:t>Gloria</a:t>
            </a:r>
            <a:r>
              <a:rPr lang="en-US" sz="2400" dirty="0"/>
              <a:t> are two biologists starting a </a:t>
            </a:r>
            <a:r>
              <a:rPr lang="en-US" sz="2400" b="1" dirty="0"/>
              <a:t>new collaboration </a:t>
            </a:r>
            <a:r>
              <a:rPr lang="en-US" sz="2400" dirty="0"/>
              <a:t>on a project on </a:t>
            </a:r>
            <a:r>
              <a:rPr lang="en-US" sz="2400" b="1" dirty="0"/>
              <a:t>modelling</a:t>
            </a:r>
            <a:r>
              <a:rPr lang="en-US" sz="2400" dirty="0"/>
              <a:t> large mammal migrations. </a:t>
            </a:r>
          </a:p>
          <a:p>
            <a:endParaRPr lang="en-US" sz="2400" dirty="0"/>
          </a:p>
          <a:p>
            <a:r>
              <a:rPr lang="en-US" sz="2400" dirty="0"/>
              <a:t>They are both excited about the project and want to make it a success. They are not sure how best to </a:t>
            </a:r>
            <a:r>
              <a:rPr lang="en-US" sz="2400" b="1" dirty="0"/>
              <a:t>leverage their expertise</a:t>
            </a:r>
            <a:r>
              <a:rPr lang="en-US" sz="2400" dirty="0"/>
              <a:t> and </a:t>
            </a:r>
            <a:r>
              <a:rPr lang="en-US" sz="2400" b="1" dirty="0"/>
              <a:t>align </a:t>
            </a:r>
            <a:r>
              <a:rPr lang="en-US" sz="2400" dirty="0"/>
              <a:t>their </a:t>
            </a:r>
            <a:r>
              <a:rPr lang="en-US" sz="2400" b="1" dirty="0"/>
              <a:t>ways of working</a:t>
            </a:r>
            <a:r>
              <a:rPr lang="en-US" sz="2400" dirty="0"/>
              <a:t>. </a:t>
            </a:r>
          </a:p>
        </p:txBody>
      </p:sp>
      <p:sp>
        <p:nvSpPr>
          <p:cNvPr id="40" name="TextBox 39">
            <a:extLst>
              <a:ext uri="{FF2B5EF4-FFF2-40B4-BE49-F238E27FC236}">
                <a16:creationId xmlns:a16="http://schemas.microsoft.com/office/drawing/2014/main" id="{760FE545-6A2C-E9B7-FFC5-98211A39890C}"/>
              </a:ext>
            </a:extLst>
          </p:cNvPr>
          <p:cNvSpPr txBox="1"/>
          <p:nvPr/>
        </p:nvSpPr>
        <p:spPr>
          <a:xfrm>
            <a:off x="10718291" y="251070"/>
            <a:ext cx="1516056" cy="369332"/>
          </a:xfrm>
          <a:prstGeom prst="rect">
            <a:avLst/>
          </a:prstGeom>
          <a:noFill/>
        </p:spPr>
        <p:txBody>
          <a:bodyPr wrap="none" rtlCol="0">
            <a:spAutoFit/>
          </a:bodyPr>
          <a:lstStyle/>
          <a:p>
            <a:r>
              <a:rPr lang="en-US" dirty="0"/>
              <a:t>Acknowledge</a:t>
            </a:r>
          </a:p>
        </p:txBody>
      </p:sp>
      <p:sp>
        <p:nvSpPr>
          <p:cNvPr id="41" name="TextBox 40">
            <a:extLst>
              <a:ext uri="{FF2B5EF4-FFF2-40B4-BE49-F238E27FC236}">
                <a16:creationId xmlns:a16="http://schemas.microsoft.com/office/drawing/2014/main" id="{8FE78239-15EE-E7C2-FDCD-4CBFD3F70986}"/>
              </a:ext>
            </a:extLst>
          </p:cNvPr>
          <p:cNvSpPr txBox="1"/>
          <p:nvPr/>
        </p:nvSpPr>
        <p:spPr>
          <a:xfrm>
            <a:off x="10641431" y="830535"/>
            <a:ext cx="1306704" cy="369332"/>
          </a:xfrm>
          <a:prstGeom prst="rect">
            <a:avLst/>
          </a:prstGeom>
          <a:noFill/>
        </p:spPr>
        <p:txBody>
          <a:bodyPr wrap="none" rtlCol="0">
            <a:spAutoFit/>
          </a:bodyPr>
          <a:lstStyle/>
          <a:p>
            <a:r>
              <a:rPr lang="en-US" i="1" dirty="0"/>
              <a:t>Challenges</a:t>
            </a:r>
          </a:p>
        </p:txBody>
      </p:sp>
      <p:grpSp>
        <p:nvGrpSpPr>
          <p:cNvPr id="45" name="Group 44">
            <a:extLst>
              <a:ext uri="{FF2B5EF4-FFF2-40B4-BE49-F238E27FC236}">
                <a16:creationId xmlns:a16="http://schemas.microsoft.com/office/drawing/2014/main" id="{F9864F6B-101D-59C7-4F67-38AD892EFDA1}"/>
              </a:ext>
            </a:extLst>
          </p:cNvPr>
          <p:cNvGrpSpPr/>
          <p:nvPr/>
        </p:nvGrpSpPr>
        <p:grpSpPr>
          <a:xfrm>
            <a:off x="10058474" y="1222786"/>
            <a:ext cx="1938979" cy="1585388"/>
            <a:chOff x="10117098" y="1440499"/>
            <a:chExt cx="1938979" cy="1585388"/>
          </a:xfrm>
        </p:grpSpPr>
        <p:pic>
          <p:nvPicPr>
            <p:cNvPr id="46" name="Graphic 45" descr="Gears with solid fill">
              <a:extLst>
                <a:ext uri="{FF2B5EF4-FFF2-40B4-BE49-F238E27FC236}">
                  <a16:creationId xmlns:a16="http://schemas.microsoft.com/office/drawing/2014/main" id="{A2A9C228-830E-C9D7-CC7C-B7FC89B12D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17098" y="1929037"/>
              <a:ext cx="608312" cy="608312"/>
            </a:xfrm>
            <a:prstGeom prst="rect">
              <a:avLst/>
            </a:prstGeom>
          </p:spPr>
        </p:pic>
        <p:grpSp>
          <p:nvGrpSpPr>
            <p:cNvPr id="47" name="Group 46">
              <a:extLst>
                <a:ext uri="{FF2B5EF4-FFF2-40B4-BE49-F238E27FC236}">
                  <a16:creationId xmlns:a16="http://schemas.microsoft.com/office/drawing/2014/main" id="{A4C1071E-CEB3-40D5-AFC4-8B4C5A530423}"/>
                </a:ext>
              </a:extLst>
            </p:cNvPr>
            <p:cNvGrpSpPr/>
            <p:nvPr/>
          </p:nvGrpSpPr>
          <p:grpSpPr>
            <a:xfrm>
              <a:off x="10136371" y="1440499"/>
              <a:ext cx="1919706" cy="1585388"/>
              <a:chOff x="10136371" y="1440499"/>
              <a:chExt cx="1919706" cy="1585388"/>
            </a:xfrm>
          </p:grpSpPr>
          <p:sp>
            <p:nvSpPr>
              <p:cNvPr id="48" name="Rounded Rectangle 47">
                <a:extLst>
                  <a:ext uri="{FF2B5EF4-FFF2-40B4-BE49-F238E27FC236}">
                    <a16:creationId xmlns:a16="http://schemas.microsoft.com/office/drawing/2014/main" id="{43FB9484-0BF7-479A-2276-3643BC51F790}"/>
                  </a:ext>
                </a:extLst>
              </p:cNvPr>
              <p:cNvSpPr/>
              <p:nvPr/>
            </p:nvSpPr>
            <p:spPr>
              <a:xfrm>
                <a:off x="10652371" y="1473647"/>
                <a:ext cx="1397284" cy="450573"/>
              </a:xfrm>
              <a:prstGeom prst="roundRect">
                <a:avLst/>
              </a:prstGeom>
              <a:solidFill>
                <a:srgbClr val="FFC000">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ounded Rectangle 48">
                <a:extLst>
                  <a:ext uri="{FF2B5EF4-FFF2-40B4-BE49-F238E27FC236}">
                    <a16:creationId xmlns:a16="http://schemas.microsoft.com/office/drawing/2014/main" id="{43AC66AB-F34F-49F4-BCC2-37E4F0056147}"/>
                  </a:ext>
                </a:extLst>
              </p:cNvPr>
              <p:cNvSpPr/>
              <p:nvPr/>
            </p:nvSpPr>
            <p:spPr>
              <a:xfrm>
                <a:off x="10643941" y="2021743"/>
                <a:ext cx="1397284" cy="450573"/>
              </a:xfrm>
              <a:prstGeom prst="roundRect">
                <a:avLst/>
              </a:prstGeom>
              <a:solidFill>
                <a:srgbClr val="45B08B">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ounded Rectangle 49">
                <a:extLst>
                  <a:ext uri="{FF2B5EF4-FFF2-40B4-BE49-F238E27FC236}">
                    <a16:creationId xmlns:a16="http://schemas.microsoft.com/office/drawing/2014/main" id="{21B9290D-CADB-1E5A-6C06-63D1EEEEADFE}"/>
                  </a:ext>
                </a:extLst>
              </p:cNvPr>
              <p:cNvSpPr/>
              <p:nvPr/>
            </p:nvSpPr>
            <p:spPr>
              <a:xfrm>
                <a:off x="10657037" y="2544716"/>
                <a:ext cx="1397284" cy="450573"/>
              </a:xfrm>
              <a:prstGeom prst="roundRect">
                <a:avLst/>
              </a:prstGeom>
              <a:solidFill>
                <a:schemeClr val="bg1">
                  <a:lumMod val="65000"/>
                  <a:alpha val="2721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1" name="Graphic 50" descr="Lights On with solid fill">
                <a:extLst>
                  <a:ext uri="{FF2B5EF4-FFF2-40B4-BE49-F238E27FC236}">
                    <a16:creationId xmlns:a16="http://schemas.microsoft.com/office/drawing/2014/main" id="{3B60D5B7-E8E4-C201-9AFF-FF5BCDCE93D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36371" y="1440499"/>
                <a:ext cx="520145" cy="520145"/>
              </a:xfrm>
              <a:prstGeom prst="rect">
                <a:avLst/>
              </a:prstGeom>
            </p:spPr>
          </p:pic>
          <p:pic>
            <p:nvPicPr>
              <p:cNvPr id="52" name="Graphic 51" descr="Weights Uneven with solid fill">
                <a:extLst>
                  <a:ext uri="{FF2B5EF4-FFF2-40B4-BE49-F238E27FC236}">
                    <a16:creationId xmlns:a16="http://schemas.microsoft.com/office/drawing/2014/main" id="{4F1D1A82-641D-A96F-56AA-80AD7FF04C8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70486" y="2537995"/>
                <a:ext cx="487892" cy="487892"/>
              </a:xfrm>
              <a:prstGeom prst="rect">
                <a:avLst/>
              </a:prstGeom>
            </p:spPr>
          </p:pic>
          <p:sp>
            <p:nvSpPr>
              <p:cNvPr id="53" name="TextBox 52">
                <a:extLst>
                  <a:ext uri="{FF2B5EF4-FFF2-40B4-BE49-F238E27FC236}">
                    <a16:creationId xmlns:a16="http://schemas.microsoft.com/office/drawing/2014/main" id="{6AF60B00-8F9A-4447-AB93-FA627946E714}"/>
                  </a:ext>
                </a:extLst>
              </p:cNvPr>
              <p:cNvSpPr txBox="1"/>
              <p:nvPr/>
            </p:nvSpPr>
            <p:spPr>
              <a:xfrm>
                <a:off x="10698013" y="1531864"/>
                <a:ext cx="1358064" cy="369332"/>
              </a:xfrm>
              <a:prstGeom prst="rect">
                <a:avLst/>
              </a:prstGeom>
              <a:noFill/>
            </p:spPr>
            <p:txBody>
              <a:bodyPr wrap="none" rtlCol="0">
                <a:spAutoFit/>
              </a:bodyPr>
              <a:lstStyle/>
              <a:p>
                <a:r>
                  <a:rPr lang="en-US" dirty="0"/>
                  <a:t>Conceptual</a:t>
                </a:r>
              </a:p>
            </p:txBody>
          </p:sp>
          <p:sp>
            <p:nvSpPr>
              <p:cNvPr id="54" name="TextBox 53">
                <a:extLst>
                  <a:ext uri="{FF2B5EF4-FFF2-40B4-BE49-F238E27FC236}">
                    <a16:creationId xmlns:a16="http://schemas.microsoft.com/office/drawing/2014/main" id="{C88BD869-3CCF-1B49-EA25-8B2EF9EDB446}"/>
                  </a:ext>
                </a:extLst>
              </p:cNvPr>
              <p:cNvSpPr txBox="1"/>
              <p:nvPr/>
            </p:nvSpPr>
            <p:spPr>
              <a:xfrm>
                <a:off x="10802700" y="2093735"/>
                <a:ext cx="1117807" cy="369332"/>
              </a:xfrm>
              <a:prstGeom prst="rect">
                <a:avLst/>
              </a:prstGeom>
              <a:noFill/>
            </p:spPr>
            <p:txBody>
              <a:bodyPr wrap="none" rtlCol="0">
                <a:spAutoFit/>
              </a:bodyPr>
              <a:lstStyle/>
              <a:p>
                <a:r>
                  <a:rPr lang="en-US" b="1" dirty="0"/>
                  <a:t>Practical</a:t>
                </a:r>
              </a:p>
            </p:txBody>
          </p:sp>
          <p:sp>
            <p:nvSpPr>
              <p:cNvPr id="55" name="TextBox 54">
                <a:extLst>
                  <a:ext uri="{FF2B5EF4-FFF2-40B4-BE49-F238E27FC236}">
                    <a16:creationId xmlns:a16="http://schemas.microsoft.com/office/drawing/2014/main" id="{71DB9228-729F-304B-5191-4DA6C9739093}"/>
                  </a:ext>
                </a:extLst>
              </p:cNvPr>
              <p:cNvSpPr txBox="1"/>
              <p:nvPr/>
            </p:nvSpPr>
            <p:spPr>
              <a:xfrm>
                <a:off x="10932127" y="2590602"/>
                <a:ext cx="805029" cy="369332"/>
              </a:xfrm>
              <a:prstGeom prst="rect">
                <a:avLst/>
              </a:prstGeom>
              <a:noFill/>
            </p:spPr>
            <p:txBody>
              <a:bodyPr wrap="none" rtlCol="0">
                <a:spAutoFit/>
              </a:bodyPr>
              <a:lstStyle/>
              <a:p>
                <a:r>
                  <a:rPr lang="en-US" dirty="0"/>
                  <a:t>Equity</a:t>
                </a:r>
              </a:p>
            </p:txBody>
          </p:sp>
        </p:grpSp>
      </p:grpSp>
      <p:sp>
        <p:nvSpPr>
          <p:cNvPr id="56" name="Oval 55">
            <a:extLst>
              <a:ext uri="{FF2B5EF4-FFF2-40B4-BE49-F238E27FC236}">
                <a16:creationId xmlns:a16="http://schemas.microsoft.com/office/drawing/2014/main" id="{8AF9204E-B15E-947E-7399-8D9B1F0503B7}"/>
              </a:ext>
            </a:extLst>
          </p:cNvPr>
          <p:cNvSpPr/>
          <p:nvPr/>
        </p:nvSpPr>
        <p:spPr>
          <a:xfrm>
            <a:off x="10139370" y="87150"/>
            <a:ext cx="586040" cy="601598"/>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7" name="Graphic 56" descr="Thumbs up sign with solid fill">
            <a:extLst>
              <a:ext uri="{FF2B5EF4-FFF2-40B4-BE49-F238E27FC236}">
                <a16:creationId xmlns:a16="http://schemas.microsoft.com/office/drawing/2014/main" id="{76C6DD83-D967-BFEA-35BA-3AAC3606AF9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64817" y="209130"/>
            <a:ext cx="328028" cy="340741"/>
          </a:xfrm>
          <a:prstGeom prst="rect">
            <a:avLst/>
          </a:prstGeom>
        </p:spPr>
      </p:pic>
    </p:spTree>
    <p:extLst>
      <p:ext uri="{BB962C8B-B14F-4D97-AF65-F5344CB8AC3E}">
        <p14:creationId xmlns:p14="http://schemas.microsoft.com/office/powerpoint/2010/main" val="2918432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3334F-3C7A-E6DD-731F-C9E35EE898B8}"/>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B305AC24-5F50-C3C3-58E5-271D198B0F33}"/>
              </a:ext>
            </a:extLst>
          </p:cNvPr>
          <p:cNvSpPr txBox="1"/>
          <p:nvPr/>
        </p:nvSpPr>
        <p:spPr>
          <a:xfrm>
            <a:off x="290427" y="3465459"/>
            <a:ext cx="6382616" cy="1938992"/>
          </a:xfrm>
          <a:prstGeom prst="rect">
            <a:avLst/>
          </a:prstGeom>
          <a:noFill/>
        </p:spPr>
        <p:txBody>
          <a:bodyPr wrap="square">
            <a:spAutoFit/>
          </a:bodyPr>
          <a:lstStyle/>
          <a:p>
            <a:pPr algn="just"/>
            <a:r>
              <a:rPr lang="en-US" sz="2400" dirty="0"/>
              <a:t>Cameron has a </a:t>
            </a:r>
            <a:r>
              <a:rPr lang="en-US" sz="2400" b="1" dirty="0"/>
              <a:t>computational background</a:t>
            </a:r>
            <a:r>
              <a:rPr lang="en-US" sz="2400" dirty="0"/>
              <a:t> working with big data and adopts Open Science practices like </a:t>
            </a:r>
            <a:r>
              <a:rPr lang="en-US" sz="2400" b="1" dirty="0"/>
              <a:t>reproducible workflows</a:t>
            </a:r>
            <a:r>
              <a:rPr lang="en-US" sz="2400" dirty="0"/>
              <a:t>, version control and data archiving. He has </a:t>
            </a:r>
            <a:r>
              <a:rPr lang="en-US" sz="2400" b="1" dirty="0"/>
              <a:t>some knowledge </a:t>
            </a:r>
            <a:r>
              <a:rPr lang="en-US" sz="2400" dirty="0"/>
              <a:t>of the study species. </a:t>
            </a:r>
          </a:p>
        </p:txBody>
      </p:sp>
      <p:sp>
        <p:nvSpPr>
          <p:cNvPr id="11" name="TextBox 10">
            <a:extLst>
              <a:ext uri="{FF2B5EF4-FFF2-40B4-BE49-F238E27FC236}">
                <a16:creationId xmlns:a16="http://schemas.microsoft.com/office/drawing/2014/main" id="{A45A3AD2-E3FC-7DE4-0813-77E04633CBC9}"/>
              </a:ext>
            </a:extLst>
          </p:cNvPr>
          <p:cNvSpPr txBox="1"/>
          <p:nvPr/>
        </p:nvSpPr>
        <p:spPr>
          <a:xfrm>
            <a:off x="7015522" y="3434416"/>
            <a:ext cx="5040555" cy="3046988"/>
          </a:xfrm>
          <a:prstGeom prst="rect">
            <a:avLst/>
          </a:prstGeom>
          <a:noFill/>
        </p:spPr>
        <p:txBody>
          <a:bodyPr wrap="square">
            <a:spAutoFit/>
          </a:bodyPr>
          <a:lstStyle/>
          <a:p>
            <a:pPr algn="just"/>
            <a:r>
              <a:rPr lang="en-US" sz="2400" dirty="0"/>
              <a:t>Gloria has </a:t>
            </a:r>
            <a:r>
              <a:rPr lang="en-US" sz="2400" b="1" dirty="0"/>
              <a:t>extensive fieldwork experience</a:t>
            </a:r>
            <a:r>
              <a:rPr lang="en-US" sz="2400" dirty="0"/>
              <a:t> with large mammals and keeping </a:t>
            </a:r>
            <a:r>
              <a:rPr lang="en-US" sz="2400" b="1" dirty="0"/>
              <a:t>detailed field notebooks</a:t>
            </a:r>
            <a:r>
              <a:rPr lang="en-US" sz="2400" dirty="0"/>
              <a:t>. She is </a:t>
            </a:r>
            <a:r>
              <a:rPr lang="en-US" sz="2400" b="1" dirty="0"/>
              <a:t>aware</a:t>
            </a:r>
            <a:r>
              <a:rPr lang="en-US" sz="2400" dirty="0"/>
              <a:t> of some Open Science practices, but her workflows are </a:t>
            </a:r>
            <a:r>
              <a:rPr lang="en-US" sz="2400" b="1" dirty="0"/>
              <a:t>not yet reproducible </a:t>
            </a:r>
            <a:r>
              <a:rPr lang="en-US" sz="2400" dirty="0"/>
              <a:t>(e.g. she uses point and click software for data analysis). </a:t>
            </a:r>
          </a:p>
        </p:txBody>
      </p:sp>
      <p:grpSp>
        <p:nvGrpSpPr>
          <p:cNvPr id="63" name="Group 62">
            <a:extLst>
              <a:ext uri="{FF2B5EF4-FFF2-40B4-BE49-F238E27FC236}">
                <a16:creationId xmlns:a16="http://schemas.microsoft.com/office/drawing/2014/main" id="{0A7CA309-8C7F-BB1D-1A84-FF7CE9B77312}"/>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980173EC-E52E-B246-55BE-7D30FFCE3C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7FDBDE99-B1B4-6D1C-79BA-6FBF92429C11}"/>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95C5A0CC-C334-7C71-A5AA-0CB73276D328}"/>
              </a:ext>
            </a:extLst>
          </p:cNvPr>
          <p:cNvSpPr>
            <a:spLocks noGrp="1"/>
          </p:cNvSpPr>
          <p:nvPr>
            <p:ph type="sldNum" sz="quarter" idx="12"/>
          </p:nvPr>
        </p:nvSpPr>
        <p:spPr/>
        <p:txBody>
          <a:bodyPr/>
          <a:lstStyle/>
          <a:p>
            <a:fld id="{DC6309F4-03C8-4D48-A124-A9AD6E083FAC}" type="slidenum">
              <a:rPr lang="en-US" smtClean="0"/>
              <a:t>17</a:t>
            </a:fld>
            <a:endParaRPr lang="en-US"/>
          </a:p>
        </p:txBody>
      </p:sp>
      <p:sp>
        <p:nvSpPr>
          <p:cNvPr id="4" name="Title 1">
            <a:extLst>
              <a:ext uri="{FF2B5EF4-FFF2-40B4-BE49-F238E27FC236}">
                <a16:creationId xmlns:a16="http://schemas.microsoft.com/office/drawing/2014/main" id="{CF504D2A-2432-5F12-833E-B241CA1568F4}"/>
              </a:ext>
            </a:extLst>
          </p:cNvPr>
          <p:cNvSpPr txBox="1">
            <a:spLocks/>
          </p:cNvSpPr>
          <p:nvPr/>
        </p:nvSpPr>
        <p:spPr>
          <a:xfrm>
            <a:off x="0" y="-146"/>
            <a:ext cx="10085227" cy="989710"/>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Case study: building a cross-functional team</a:t>
            </a:r>
          </a:p>
        </p:txBody>
      </p:sp>
      <p:sp>
        <p:nvSpPr>
          <p:cNvPr id="42" name="Rounded Rectangle 41">
            <a:extLst>
              <a:ext uri="{FF2B5EF4-FFF2-40B4-BE49-F238E27FC236}">
                <a16:creationId xmlns:a16="http://schemas.microsoft.com/office/drawing/2014/main" id="{534AE82B-3E74-679D-1C93-B251B586FBE0}"/>
              </a:ext>
            </a:extLst>
          </p:cNvPr>
          <p:cNvSpPr/>
          <p:nvPr/>
        </p:nvSpPr>
        <p:spPr>
          <a:xfrm>
            <a:off x="354680" y="5404451"/>
            <a:ext cx="6382615" cy="1216404"/>
          </a:xfrm>
          <a:prstGeom prst="roundRect">
            <a:avLst/>
          </a:prstGeom>
          <a:solidFill>
            <a:schemeClr val="bg1">
              <a:lumMod val="65000"/>
              <a:alpha val="27219"/>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2359475-D2AA-FA58-6359-82A7D549AA24}"/>
              </a:ext>
            </a:extLst>
          </p:cNvPr>
          <p:cNvSpPr txBox="1"/>
          <p:nvPr/>
        </p:nvSpPr>
        <p:spPr>
          <a:xfrm>
            <a:off x="447035" y="5435141"/>
            <a:ext cx="6226008" cy="1200329"/>
          </a:xfrm>
          <a:prstGeom prst="rect">
            <a:avLst/>
          </a:prstGeom>
          <a:noFill/>
        </p:spPr>
        <p:txBody>
          <a:bodyPr wrap="square">
            <a:spAutoFit/>
          </a:bodyPr>
          <a:lstStyle/>
          <a:p>
            <a:r>
              <a:rPr lang="en-US" sz="2400" b="1" dirty="0"/>
              <a:t>Equity challenge: </a:t>
            </a:r>
            <a:r>
              <a:rPr lang="en-US" sz="2400" dirty="0"/>
              <a:t>Valuing diverse expertise and experiences. What does a successful collaboration look like?</a:t>
            </a:r>
          </a:p>
        </p:txBody>
      </p:sp>
      <p:sp>
        <p:nvSpPr>
          <p:cNvPr id="14" name="Rounded Rectangle 13">
            <a:extLst>
              <a:ext uri="{FF2B5EF4-FFF2-40B4-BE49-F238E27FC236}">
                <a16:creationId xmlns:a16="http://schemas.microsoft.com/office/drawing/2014/main" id="{D5507A30-8941-7B85-A3FA-3DBD066C6FC5}"/>
              </a:ext>
            </a:extLst>
          </p:cNvPr>
          <p:cNvSpPr/>
          <p:nvPr/>
        </p:nvSpPr>
        <p:spPr>
          <a:xfrm>
            <a:off x="354680" y="2348653"/>
            <a:ext cx="1275338" cy="348495"/>
          </a:xfrm>
          <a:prstGeom prst="roundRect">
            <a:avLst/>
          </a:prstGeom>
          <a:solidFill>
            <a:schemeClr val="bg1">
              <a:lumMod val="65000"/>
              <a:alpha val="2721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61559FA2-69D9-7DD4-25E6-CB84551D8E7D}"/>
              </a:ext>
            </a:extLst>
          </p:cNvPr>
          <p:cNvSpPr/>
          <p:nvPr/>
        </p:nvSpPr>
        <p:spPr>
          <a:xfrm>
            <a:off x="5458330" y="2348652"/>
            <a:ext cx="3303095" cy="348495"/>
          </a:xfrm>
          <a:prstGeom prst="roundRect">
            <a:avLst/>
          </a:prstGeom>
          <a:solidFill>
            <a:schemeClr val="bg1">
              <a:lumMod val="65000"/>
              <a:alpha val="2721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08F8063-B6DB-6FCC-CAE6-BCBF73473E41}"/>
              </a:ext>
            </a:extLst>
          </p:cNvPr>
          <p:cNvSpPr txBox="1"/>
          <p:nvPr/>
        </p:nvSpPr>
        <p:spPr>
          <a:xfrm>
            <a:off x="322984" y="822694"/>
            <a:ext cx="9167645" cy="2308324"/>
          </a:xfrm>
          <a:prstGeom prst="rect">
            <a:avLst/>
          </a:prstGeom>
          <a:noFill/>
        </p:spPr>
        <p:txBody>
          <a:bodyPr wrap="square" rtlCol="0">
            <a:spAutoFit/>
          </a:bodyPr>
          <a:lstStyle/>
          <a:p>
            <a:r>
              <a:rPr lang="en-US" sz="2400" b="1" dirty="0"/>
              <a:t>Cameron</a:t>
            </a:r>
            <a:r>
              <a:rPr lang="en-US" sz="2400" dirty="0"/>
              <a:t> and </a:t>
            </a:r>
            <a:r>
              <a:rPr lang="en-US" sz="2400" b="1" dirty="0"/>
              <a:t>Gloria</a:t>
            </a:r>
            <a:r>
              <a:rPr lang="en-US" sz="2400" dirty="0"/>
              <a:t> are two biologists starting a </a:t>
            </a:r>
            <a:r>
              <a:rPr lang="en-US" sz="2400" b="1" dirty="0"/>
              <a:t>new collaboration </a:t>
            </a:r>
            <a:r>
              <a:rPr lang="en-US" sz="2400" dirty="0"/>
              <a:t>on a project on </a:t>
            </a:r>
            <a:r>
              <a:rPr lang="en-US" sz="2400" b="1" dirty="0"/>
              <a:t>modelling</a:t>
            </a:r>
            <a:r>
              <a:rPr lang="en-US" sz="2400" dirty="0"/>
              <a:t> large mammal migrations. </a:t>
            </a:r>
          </a:p>
          <a:p>
            <a:endParaRPr lang="en-US" sz="2400" dirty="0"/>
          </a:p>
          <a:p>
            <a:r>
              <a:rPr lang="en-US" sz="2400" dirty="0"/>
              <a:t>They are both excited about the project and want to make it a success. They are not sure how best to </a:t>
            </a:r>
            <a:r>
              <a:rPr lang="en-US" sz="2400" b="1" dirty="0"/>
              <a:t>leverage their expertise</a:t>
            </a:r>
            <a:r>
              <a:rPr lang="en-US" sz="2400" dirty="0"/>
              <a:t> and </a:t>
            </a:r>
            <a:r>
              <a:rPr lang="en-US" sz="2400" b="1" dirty="0"/>
              <a:t>align </a:t>
            </a:r>
            <a:r>
              <a:rPr lang="en-US" sz="2400" dirty="0"/>
              <a:t>their </a:t>
            </a:r>
            <a:r>
              <a:rPr lang="en-US" sz="2400" b="1" dirty="0"/>
              <a:t>ways of working</a:t>
            </a:r>
            <a:r>
              <a:rPr lang="en-US" sz="2400" dirty="0"/>
              <a:t>. </a:t>
            </a:r>
          </a:p>
        </p:txBody>
      </p:sp>
      <p:sp>
        <p:nvSpPr>
          <p:cNvPr id="16" name="TextBox 15">
            <a:extLst>
              <a:ext uri="{FF2B5EF4-FFF2-40B4-BE49-F238E27FC236}">
                <a16:creationId xmlns:a16="http://schemas.microsoft.com/office/drawing/2014/main" id="{57CC7E9C-E4CE-3721-E8A1-C34EBD860865}"/>
              </a:ext>
            </a:extLst>
          </p:cNvPr>
          <p:cNvSpPr txBox="1"/>
          <p:nvPr/>
        </p:nvSpPr>
        <p:spPr>
          <a:xfrm>
            <a:off x="10718291" y="251070"/>
            <a:ext cx="1516056" cy="369332"/>
          </a:xfrm>
          <a:prstGeom prst="rect">
            <a:avLst/>
          </a:prstGeom>
          <a:noFill/>
        </p:spPr>
        <p:txBody>
          <a:bodyPr wrap="none" rtlCol="0">
            <a:spAutoFit/>
          </a:bodyPr>
          <a:lstStyle/>
          <a:p>
            <a:r>
              <a:rPr lang="en-US" dirty="0"/>
              <a:t>Acknowledge</a:t>
            </a:r>
          </a:p>
        </p:txBody>
      </p:sp>
      <p:sp>
        <p:nvSpPr>
          <p:cNvPr id="18" name="TextBox 17">
            <a:extLst>
              <a:ext uri="{FF2B5EF4-FFF2-40B4-BE49-F238E27FC236}">
                <a16:creationId xmlns:a16="http://schemas.microsoft.com/office/drawing/2014/main" id="{C3D9173E-9624-B5BD-D5EB-13E057D24E6A}"/>
              </a:ext>
            </a:extLst>
          </p:cNvPr>
          <p:cNvSpPr txBox="1"/>
          <p:nvPr/>
        </p:nvSpPr>
        <p:spPr>
          <a:xfrm>
            <a:off x="10641431" y="830535"/>
            <a:ext cx="1306704" cy="369332"/>
          </a:xfrm>
          <a:prstGeom prst="rect">
            <a:avLst/>
          </a:prstGeom>
          <a:noFill/>
        </p:spPr>
        <p:txBody>
          <a:bodyPr wrap="none" rtlCol="0">
            <a:spAutoFit/>
          </a:bodyPr>
          <a:lstStyle/>
          <a:p>
            <a:r>
              <a:rPr lang="en-US" i="1" dirty="0"/>
              <a:t>Challenges</a:t>
            </a:r>
          </a:p>
        </p:txBody>
      </p:sp>
      <p:grpSp>
        <p:nvGrpSpPr>
          <p:cNvPr id="20" name="Group 19">
            <a:extLst>
              <a:ext uri="{FF2B5EF4-FFF2-40B4-BE49-F238E27FC236}">
                <a16:creationId xmlns:a16="http://schemas.microsoft.com/office/drawing/2014/main" id="{42DAFCD5-3241-D472-B049-A1F31EAC5072}"/>
              </a:ext>
            </a:extLst>
          </p:cNvPr>
          <p:cNvGrpSpPr/>
          <p:nvPr/>
        </p:nvGrpSpPr>
        <p:grpSpPr>
          <a:xfrm>
            <a:off x="10058474" y="1222786"/>
            <a:ext cx="1938979" cy="1585388"/>
            <a:chOff x="10117098" y="1440499"/>
            <a:chExt cx="1938979" cy="1585388"/>
          </a:xfrm>
        </p:grpSpPr>
        <p:pic>
          <p:nvPicPr>
            <p:cNvPr id="26" name="Graphic 25" descr="Gears with solid fill">
              <a:extLst>
                <a:ext uri="{FF2B5EF4-FFF2-40B4-BE49-F238E27FC236}">
                  <a16:creationId xmlns:a16="http://schemas.microsoft.com/office/drawing/2014/main" id="{AB08D239-E90F-296C-6A72-27AFE414C0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17098" y="1929037"/>
              <a:ext cx="608312" cy="608312"/>
            </a:xfrm>
            <a:prstGeom prst="rect">
              <a:avLst/>
            </a:prstGeom>
          </p:spPr>
        </p:pic>
        <p:grpSp>
          <p:nvGrpSpPr>
            <p:cNvPr id="28" name="Group 27">
              <a:extLst>
                <a:ext uri="{FF2B5EF4-FFF2-40B4-BE49-F238E27FC236}">
                  <a16:creationId xmlns:a16="http://schemas.microsoft.com/office/drawing/2014/main" id="{CF8CD143-D73F-8CD4-54E3-45E9AB87D800}"/>
                </a:ext>
              </a:extLst>
            </p:cNvPr>
            <p:cNvGrpSpPr/>
            <p:nvPr/>
          </p:nvGrpSpPr>
          <p:grpSpPr>
            <a:xfrm>
              <a:off x="10136371" y="1440499"/>
              <a:ext cx="1919706" cy="1585388"/>
              <a:chOff x="10136371" y="1440499"/>
              <a:chExt cx="1919706" cy="1585388"/>
            </a:xfrm>
          </p:grpSpPr>
          <p:sp>
            <p:nvSpPr>
              <p:cNvPr id="35" name="Rounded Rectangle 34">
                <a:extLst>
                  <a:ext uri="{FF2B5EF4-FFF2-40B4-BE49-F238E27FC236}">
                    <a16:creationId xmlns:a16="http://schemas.microsoft.com/office/drawing/2014/main" id="{C778EF86-78BA-6458-7D51-EBEC7E072363}"/>
                  </a:ext>
                </a:extLst>
              </p:cNvPr>
              <p:cNvSpPr/>
              <p:nvPr/>
            </p:nvSpPr>
            <p:spPr>
              <a:xfrm>
                <a:off x="10652371" y="1473647"/>
                <a:ext cx="1397284" cy="450573"/>
              </a:xfrm>
              <a:prstGeom prst="roundRect">
                <a:avLst/>
              </a:prstGeom>
              <a:solidFill>
                <a:srgbClr val="FFC000">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a:extLst>
                  <a:ext uri="{FF2B5EF4-FFF2-40B4-BE49-F238E27FC236}">
                    <a16:creationId xmlns:a16="http://schemas.microsoft.com/office/drawing/2014/main" id="{FBE64EC5-51EB-56FF-C288-639DB25FFE8C}"/>
                  </a:ext>
                </a:extLst>
              </p:cNvPr>
              <p:cNvSpPr/>
              <p:nvPr/>
            </p:nvSpPr>
            <p:spPr>
              <a:xfrm>
                <a:off x="10643941" y="2021743"/>
                <a:ext cx="1397284" cy="450573"/>
              </a:xfrm>
              <a:prstGeom prst="roundRect">
                <a:avLst/>
              </a:prstGeom>
              <a:solidFill>
                <a:srgbClr val="45B08B">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50C568B2-5572-49E7-6D0C-413CB85D44A9}"/>
                  </a:ext>
                </a:extLst>
              </p:cNvPr>
              <p:cNvSpPr/>
              <p:nvPr/>
            </p:nvSpPr>
            <p:spPr>
              <a:xfrm>
                <a:off x="10657037" y="2544716"/>
                <a:ext cx="1397284" cy="450573"/>
              </a:xfrm>
              <a:prstGeom prst="roundRect">
                <a:avLst/>
              </a:prstGeom>
              <a:solidFill>
                <a:schemeClr val="bg1">
                  <a:lumMod val="65000"/>
                  <a:alpha val="2721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 name="Graphic 39" descr="Lights On with solid fill">
                <a:extLst>
                  <a:ext uri="{FF2B5EF4-FFF2-40B4-BE49-F238E27FC236}">
                    <a16:creationId xmlns:a16="http://schemas.microsoft.com/office/drawing/2014/main" id="{810DF9A9-0000-9D69-4905-B9DC2FE1A9E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36371" y="1440499"/>
                <a:ext cx="520145" cy="520145"/>
              </a:xfrm>
              <a:prstGeom prst="rect">
                <a:avLst/>
              </a:prstGeom>
            </p:spPr>
          </p:pic>
          <p:pic>
            <p:nvPicPr>
              <p:cNvPr id="41" name="Graphic 40" descr="Weights Uneven with solid fill">
                <a:extLst>
                  <a:ext uri="{FF2B5EF4-FFF2-40B4-BE49-F238E27FC236}">
                    <a16:creationId xmlns:a16="http://schemas.microsoft.com/office/drawing/2014/main" id="{3D91C76E-2B70-D1E5-DAA8-689813BB1AB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70486" y="2537995"/>
                <a:ext cx="487892" cy="487892"/>
              </a:xfrm>
              <a:prstGeom prst="rect">
                <a:avLst/>
              </a:prstGeom>
            </p:spPr>
          </p:pic>
          <p:sp>
            <p:nvSpPr>
              <p:cNvPr id="43" name="TextBox 42">
                <a:extLst>
                  <a:ext uri="{FF2B5EF4-FFF2-40B4-BE49-F238E27FC236}">
                    <a16:creationId xmlns:a16="http://schemas.microsoft.com/office/drawing/2014/main" id="{5D88E8E1-6A1C-8859-BFC1-922F6977486C}"/>
                  </a:ext>
                </a:extLst>
              </p:cNvPr>
              <p:cNvSpPr txBox="1"/>
              <p:nvPr/>
            </p:nvSpPr>
            <p:spPr>
              <a:xfrm>
                <a:off x="10698013" y="1531864"/>
                <a:ext cx="1358064" cy="369332"/>
              </a:xfrm>
              <a:prstGeom prst="rect">
                <a:avLst/>
              </a:prstGeom>
              <a:noFill/>
            </p:spPr>
            <p:txBody>
              <a:bodyPr wrap="none" rtlCol="0">
                <a:spAutoFit/>
              </a:bodyPr>
              <a:lstStyle/>
              <a:p>
                <a:r>
                  <a:rPr lang="en-US" dirty="0"/>
                  <a:t>Conceptual</a:t>
                </a:r>
              </a:p>
            </p:txBody>
          </p:sp>
          <p:sp>
            <p:nvSpPr>
              <p:cNvPr id="44" name="TextBox 43">
                <a:extLst>
                  <a:ext uri="{FF2B5EF4-FFF2-40B4-BE49-F238E27FC236}">
                    <a16:creationId xmlns:a16="http://schemas.microsoft.com/office/drawing/2014/main" id="{4F60DC4F-2DC7-B4DA-4AEF-A2EAFE832CE2}"/>
                  </a:ext>
                </a:extLst>
              </p:cNvPr>
              <p:cNvSpPr txBox="1"/>
              <p:nvPr/>
            </p:nvSpPr>
            <p:spPr>
              <a:xfrm>
                <a:off x="10802700" y="2093735"/>
                <a:ext cx="1063881" cy="369332"/>
              </a:xfrm>
              <a:prstGeom prst="rect">
                <a:avLst/>
              </a:prstGeom>
              <a:noFill/>
            </p:spPr>
            <p:txBody>
              <a:bodyPr wrap="none" rtlCol="0">
                <a:spAutoFit/>
              </a:bodyPr>
              <a:lstStyle/>
              <a:p>
                <a:r>
                  <a:rPr lang="en-US" dirty="0"/>
                  <a:t>Practical</a:t>
                </a:r>
              </a:p>
            </p:txBody>
          </p:sp>
          <p:sp>
            <p:nvSpPr>
              <p:cNvPr id="45" name="TextBox 44">
                <a:extLst>
                  <a:ext uri="{FF2B5EF4-FFF2-40B4-BE49-F238E27FC236}">
                    <a16:creationId xmlns:a16="http://schemas.microsoft.com/office/drawing/2014/main" id="{6F47D668-2F99-0C0C-1027-5B8550C698E8}"/>
                  </a:ext>
                </a:extLst>
              </p:cNvPr>
              <p:cNvSpPr txBox="1"/>
              <p:nvPr/>
            </p:nvSpPr>
            <p:spPr>
              <a:xfrm>
                <a:off x="10932127" y="2590602"/>
                <a:ext cx="845103" cy="369332"/>
              </a:xfrm>
              <a:prstGeom prst="rect">
                <a:avLst/>
              </a:prstGeom>
              <a:noFill/>
            </p:spPr>
            <p:txBody>
              <a:bodyPr wrap="none" rtlCol="0">
                <a:spAutoFit/>
              </a:bodyPr>
              <a:lstStyle/>
              <a:p>
                <a:r>
                  <a:rPr lang="en-US" b="1" dirty="0"/>
                  <a:t>Equity</a:t>
                </a:r>
              </a:p>
            </p:txBody>
          </p:sp>
        </p:grpSp>
      </p:grpSp>
      <p:sp>
        <p:nvSpPr>
          <p:cNvPr id="46" name="Oval 45">
            <a:extLst>
              <a:ext uri="{FF2B5EF4-FFF2-40B4-BE49-F238E27FC236}">
                <a16:creationId xmlns:a16="http://schemas.microsoft.com/office/drawing/2014/main" id="{489DF9EC-C9F5-43D6-8FEB-D73F9698B3ED}"/>
              </a:ext>
            </a:extLst>
          </p:cNvPr>
          <p:cNvSpPr/>
          <p:nvPr/>
        </p:nvSpPr>
        <p:spPr>
          <a:xfrm>
            <a:off x="10139370" y="87150"/>
            <a:ext cx="586040" cy="601598"/>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7" name="Graphic 46" descr="Thumbs up sign with solid fill">
            <a:extLst>
              <a:ext uri="{FF2B5EF4-FFF2-40B4-BE49-F238E27FC236}">
                <a16:creationId xmlns:a16="http://schemas.microsoft.com/office/drawing/2014/main" id="{68BDF15A-5567-AA1D-89F9-DC0369D3E04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64817" y="209130"/>
            <a:ext cx="328028" cy="340741"/>
          </a:xfrm>
          <a:prstGeom prst="rect">
            <a:avLst/>
          </a:prstGeom>
        </p:spPr>
      </p:pic>
    </p:spTree>
    <p:extLst>
      <p:ext uri="{BB962C8B-B14F-4D97-AF65-F5344CB8AC3E}">
        <p14:creationId xmlns:p14="http://schemas.microsoft.com/office/powerpoint/2010/main" val="2887647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A724C-068D-3C9B-F65E-11777BAC257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42C0F26-C093-528F-96B6-8A051FFDA3A0}"/>
              </a:ext>
            </a:extLst>
          </p:cNvPr>
          <p:cNvSpPr txBox="1"/>
          <p:nvPr/>
        </p:nvSpPr>
        <p:spPr>
          <a:xfrm>
            <a:off x="322984" y="822694"/>
            <a:ext cx="9167645" cy="2308324"/>
          </a:xfrm>
          <a:prstGeom prst="rect">
            <a:avLst/>
          </a:prstGeom>
          <a:noFill/>
        </p:spPr>
        <p:txBody>
          <a:bodyPr wrap="square" rtlCol="0">
            <a:spAutoFit/>
          </a:bodyPr>
          <a:lstStyle/>
          <a:p>
            <a:r>
              <a:rPr lang="en-US" sz="2400" b="1" dirty="0"/>
              <a:t>Cameron</a:t>
            </a:r>
            <a:r>
              <a:rPr lang="en-US" sz="2400" dirty="0"/>
              <a:t> and </a:t>
            </a:r>
            <a:r>
              <a:rPr lang="en-US" sz="2400" b="1" dirty="0"/>
              <a:t>Gloria</a:t>
            </a:r>
            <a:r>
              <a:rPr lang="en-US" sz="2400" dirty="0"/>
              <a:t> are two biologists starting a </a:t>
            </a:r>
            <a:r>
              <a:rPr lang="en-US" sz="2400" b="1" dirty="0"/>
              <a:t>new collaboration </a:t>
            </a:r>
            <a:r>
              <a:rPr lang="en-US" sz="2400" dirty="0"/>
              <a:t>on a project on </a:t>
            </a:r>
            <a:r>
              <a:rPr lang="en-US" sz="2400" b="1" dirty="0"/>
              <a:t>modelling</a:t>
            </a:r>
            <a:r>
              <a:rPr lang="en-US" sz="2400" dirty="0"/>
              <a:t> large mammal migrations. </a:t>
            </a:r>
          </a:p>
          <a:p>
            <a:endParaRPr lang="en-US" sz="2400" dirty="0"/>
          </a:p>
          <a:p>
            <a:r>
              <a:rPr lang="en-US" sz="2400" dirty="0"/>
              <a:t>They are both excited about the project and want to make it a success. They are not sure how best to </a:t>
            </a:r>
            <a:r>
              <a:rPr lang="en-US" sz="2400" b="1" dirty="0"/>
              <a:t>leverage their expertise</a:t>
            </a:r>
            <a:r>
              <a:rPr lang="en-US" sz="2400" dirty="0"/>
              <a:t> and </a:t>
            </a:r>
            <a:r>
              <a:rPr lang="en-US" sz="2400" b="1" dirty="0"/>
              <a:t>align </a:t>
            </a:r>
            <a:r>
              <a:rPr lang="en-US" sz="2400" dirty="0"/>
              <a:t>their </a:t>
            </a:r>
            <a:r>
              <a:rPr lang="en-US" sz="2400" b="1" dirty="0"/>
              <a:t>ways of working</a:t>
            </a:r>
            <a:r>
              <a:rPr lang="en-US" sz="2400" dirty="0"/>
              <a:t>. </a:t>
            </a:r>
          </a:p>
        </p:txBody>
      </p:sp>
      <p:sp>
        <p:nvSpPr>
          <p:cNvPr id="13" name="TextBox 12">
            <a:extLst>
              <a:ext uri="{FF2B5EF4-FFF2-40B4-BE49-F238E27FC236}">
                <a16:creationId xmlns:a16="http://schemas.microsoft.com/office/drawing/2014/main" id="{53675D41-DB0D-0DDA-4760-6BA6B641DECD}"/>
              </a:ext>
            </a:extLst>
          </p:cNvPr>
          <p:cNvSpPr txBox="1"/>
          <p:nvPr/>
        </p:nvSpPr>
        <p:spPr>
          <a:xfrm>
            <a:off x="290427" y="3465459"/>
            <a:ext cx="6382616" cy="1938992"/>
          </a:xfrm>
          <a:prstGeom prst="rect">
            <a:avLst/>
          </a:prstGeom>
          <a:noFill/>
        </p:spPr>
        <p:txBody>
          <a:bodyPr wrap="square">
            <a:spAutoFit/>
          </a:bodyPr>
          <a:lstStyle/>
          <a:p>
            <a:pPr algn="just"/>
            <a:r>
              <a:rPr lang="en-US" sz="2400" dirty="0"/>
              <a:t>Cameron has a </a:t>
            </a:r>
            <a:r>
              <a:rPr lang="en-US" sz="2400" b="1" dirty="0"/>
              <a:t>computational background</a:t>
            </a:r>
            <a:r>
              <a:rPr lang="en-US" sz="2400" dirty="0"/>
              <a:t> working with big data and adopts Open Science practices like </a:t>
            </a:r>
            <a:r>
              <a:rPr lang="en-US" sz="2400" b="1" dirty="0"/>
              <a:t>reproducible workflows</a:t>
            </a:r>
            <a:r>
              <a:rPr lang="en-US" sz="2400" dirty="0"/>
              <a:t>, version control and data archiving. He has </a:t>
            </a:r>
            <a:r>
              <a:rPr lang="en-US" sz="2400" b="1" dirty="0"/>
              <a:t>some knowledge </a:t>
            </a:r>
            <a:r>
              <a:rPr lang="en-US" sz="2400" dirty="0"/>
              <a:t>of the study species. </a:t>
            </a:r>
          </a:p>
        </p:txBody>
      </p:sp>
      <p:sp>
        <p:nvSpPr>
          <p:cNvPr id="11" name="TextBox 10">
            <a:extLst>
              <a:ext uri="{FF2B5EF4-FFF2-40B4-BE49-F238E27FC236}">
                <a16:creationId xmlns:a16="http://schemas.microsoft.com/office/drawing/2014/main" id="{B4AC8C23-5E46-B8C7-BD65-5C73BF47DC78}"/>
              </a:ext>
            </a:extLst>
          </p:cNvPr>
          <p:cNvSpPr txBox="1"/>
          <p:nvPr/>
        </p:nvSpPr>
        <p:spPr>
          <a:xfrm>
            <a:off x="7015522" y="3434416"/>
            <a:ext cx="5040555" cy="3046988"/>
          </a:xfrm>
          <a:prstGeom prst="rect">
            <a:avLst/>
          </a:prstGeom>
          <a:noFill/>
        </p:spPr>
        <p:txBody>
          <a:bodyPr wrap="square">
            <a:spAutoFit/>
          </a:bodyPr>
          <a:lstStyle/>
          <a:p>
            <a:pPr algn="just"/>
            <a:r>
              <a:rPr lang="en-US" sz="2400" dirty="0"/>
              <a:t>Gloria has </a:t>
            </a:r>
            <a:r>
              <a:rPr lang="en-US" sz="2400" b="1" dirty="0"/>
              <a:t>extensive fieldwork experience</a:t>
            </a:r>
            <a:r>
              <a:rPr lang="en-US" sz="2400" dirty="0"/>
              <a:t> with large mammals and keeping </a:t>
            </a:r>
            <a:r>
              <a:rPr lang="en-US" sz="2400" b="1" dirty="0"/>
              <a:t>detailed field notebooks</a:t>
            </a:r>
            <a:r>
              <a:rPr lang="en-US" sz="2400" dirty="0"/>
              <a:t>. She is </a:t>
            </a:r>
            <a:r>
              <a:rPr lang="en-US" sz="2400" b="1" dirty="0"/>
              <a:t>aware</a:t>
            </a:r>
            <a:r>
              <a:rPr lang="en-US" sz="2400" dirty="0"/>
              <a:t> of some Open Science practices, but her workflows are </a:t>
            </a:r>
            <a:r>
              <a:rPr lang="en-US" sz="2400" b="1" dirty="0"/>
              <a:t>not yet reproducible </a:t>
            </a:r>
            <a:r>
              <a:rPr lang="en-US" sz="2400" dirty="0"/>
              <a:t>(e.g. she uses point and click software for data analysis). </a:t>
            </a:r>
          </a:p>
        </p:txBody>
      </p:sp>
      <p:grpSp>
        <p:nvGrpSpPr>
          <p:cNvPr id="63" name="Group 62">
            <a:extLst>
              <a:ext uri="{FF2B5EF4-FFF2-40B4-BE49-F238E27FC236}">
                <a16:creationId xmlns:a16="http://schemas.microsoft.com/office/drawing/2014/main" id="{0B01BAD1-BC0E-2D90-D3D0-7BEB70D34D5D}"/>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4CB3E172-190A-700B-64AC-D1EFBBD19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9F871F98-E365-1F6E-1532-21B41FF87603}"/>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1859DC2F-CB9C-59C9-BF3C-C538106B6A13}"/>
              </a:ext>
            </a:extLst>
          </p:cNvPr>
          <p:cNvSpPr>
            <a:spLocks noGrp="1"/>
          </p:cNvSpPr>
          <p:nvPr>
            <p:ph type="sldNum" sz="quarter" idx="12"/>
          </p:nvPr>
        </p:nvSpPr>
        <p:spPr/>
        <p:txBody>
          <a:bodyPr/>
          <a:lstStyle/>
          <a:p>
            <a:fld id="{DC6309F4-03C8-4D48-A124-A9AD6E083FAC}" type="slidenum">
              <a:rPr lang="en-US" smtClean="0"/>
              <a:t>18</a:t>
            </a:fld>
            <a:endParaRPr lang="en-US"/>
          </a:p>
        </p:txBody>
      </p:sp>
      <p:sp>
        <p:nvSpPr>
          <p:cNvPr id="4" name="Title 1">
            <a:extLst>
              <a:ext uri="{FF2B5EF4-FFF2-40B4-BE49-F238E27FC236}">
                <a16:creationId xmlns:a16="http://schemas.microsoft.com/office/drawing/2014/main" id="{4CAE7E74-6C0F-C8A4-D829-B50C2E821A81}"/>
              </a:ext>
            </a:extLst>
          </p:cNvPr>
          <p:cNvSpPr txBox="1">
            <a:spLocks/>
          </p:cNvSpPr>
          <p:nvPr/>
        </p:nvSpPr>
        <p:spPr>
          <a:xfrm>
            <a:off x="0" y="-146"/>
            <a:ext cx="10085227" cy="989710"/>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Case study: building a cross-functional team</a:t>
            </a:r>
          </a:p>
        </p:txBody>
      </p:sp>
      <p:sp>
        <p:nvSpPr>
          <p:cNvPr id="21" name="TextBox 20">
            <a:extLst>
              <a:ext uri="{FF2B5EF4-FFF2-40B4-BE49-F238E27FC236}">
                <a16:creationId xmlns:a16="http://schemas.microsoft.com/office/drawing/2014/main" id="{DBBC5364-FF05-EE9C-F2A4-AEFB22CD803B}"/>
              </a:ext>
            </a:extLst>
          </p:cNvPr>
          <p:cNvSpPr txBox="1"/>
          <p:nvPr/>
        </p:nvSpPr>
        <p:spPr>
          <a:xfrm>
            <a:off x="10754504" y="214967"/>
            <a:ext cx="909801" cy="369332"/>
          </a:xfrm>
          <a:prstGeom prst="rect">
            <a:avLst/>
          </a:prstGeom>
          <a:noFill/>
        </p:spPr>
        <p:txBody>
          <a:bodyPr wrap="none" rtlCol="0">
            <a:spAutoFit/>
          </a:bodyPr>
          <a:lstStyle/>
          <a:p>
            <a:r>
              <a:rPr lang="en-US" dirty="0"/>
              <a:t>Agency</a:t>
            </a:r>
          </a:p>
        </p:txBody>
      </p:sp>
      <p:sp>
        <p:nvSpPr>
          <p:cNvPr id="42" name="Rounded Rectangle 41">
            <a:extLst>
              <a:ext uri="{FF2B5EF4-FFF2-40B4-BE49-F238E27FC236}">
                <a16:creationId xmlns:a16="http://schemas.microsoft.com/office/drawing/2014/main" id="{85FF1FFF-82B9-DDC9-DF12-77CFABCE7D94}"/>
              </a:ext>
            </a:extLst>
          </p:cNvPr>
          <p:cNvSpPr/>
          <p:nvPr/>
        </p:nvSpPr>
        <p:spPr>
          <a:xfrm>
            <a:off x="322984" y="5427104"/>
            <a:ext cx="6382615" cy="1216404"/>
          </a:xfrm>
          <a:prstGeom prst="roundRect">
            <a:avLst/>
          </a:prstGeom>
          <a:solidFill>
            <a:srgbClr val="00B0F0">
              <a:alpha val="27219"/>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3E54BFF-9E4B-63D8-8AE1-F657A899264E}"/>
              </a:ext>
            </a:extLst>
          </p:cNvPr>
          <p:cNvSpPr txBox="1"/>
          <p:nvPr/>
        </p:nvSpPr>
        <p:spPr>
          <a:xfrm>
            <a:off x="364200" y="5637673"/>
            <a:ext cx="6692538" cy="1200329"/>
          </a:xfrm>
          <a:prstGeom prst="rect">
            <a:avLst/>
          </a:prstGeom>
          <a:noFill/>
        </p:spPr>
        <p:txBody>
          <a:bodyPr wrap="square">
            <a:spAutoFit/>
          </a:bodyPr>
          <a:lstStyle/>
          <a:p>
            <a:r>
              <a:rPr lang="en-US" sz="2400" b="1" dirty="0"/>
              <a:t>Agency: </a:t>
            </a:r>
            <a:r>
              <a:rPr lang="en-US" sz="2400" dirty="0"/>
              <a:t>The challenges are mostly at the team and individual level</a:t>
            </a:r>
          </a:p>
          <a:p>
            <a:endParaRPr lang="en-US" sz="2400" dirty="0"/>
          </a:p>
        </p:txBody>
      </p:sp>
      <p:pic>
        <p:nvPicPr>
          <p:cNvPr id="20" name="Graphic 19" descr="Ripple with solid fill">
            <a:extLst>
              <a:ext uri="{FF2B5EF4-FFF2-40B4-BE49-F238E27FC236}">
                <a16:creationId xmlns:a16="http://schemas.microsoft.com/office/drawing/2014/main" id="{31DDD4DB-0AF5-3C3A-F9F8-0751D6D0A4F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80768" y="805699"/>
            <a:ext cx="753149" cy="753149"/>
          </a:xfrm>
          <a:prstGeom prst="rect">
            <a:avLst/>
          </a:prstGeom>
        </p:spPr>
      </p:pic>
      <p:pic>
        <p:nvPicPr>
          <p:cNvPr id="26" name="Graphic 25" descr="Cycle with people with solid fill">
            <a:extLst>
              <a:ext uri="{FF2B5EF4-FFF2-40B4-BE49-F238E27FC236}">
                <a16:creationId xmlns:a16="http://schemas.microsoft.com/office/drawing/2014/main" id="{0F632373-6A1D-8728-69C7-28D330B185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055012" y="1669525"/>
            <a:ext cx="704335" cy="704335"/>
          </a:xfrm>
          <a:prstGeom prst="rect">
            <a:avLst/>
          </a:prstGeom>
        </p:spPr>
      </p:pic>
      <p:pic>
        <p:nvPicPr>
          <p:cNvPr id="28" name="Graphic 27" descr="User with solid fill">
            <a:extLst>
              <a:ext uri="{FF2B5EF4-FFF2-40B4-BE49-F238E27FC236}">
                <a16:creationId xmlns:a16="http://schemas.microsoft.com/office/drawing/2014/main" id="{697BDAFB-F416-DB10-78E1-27B84921E59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20951" y="2382512"/>
            <a:ext cx="572459" cy="572459"/>
          </a:xfrm>
          <a:prstGeom prst="rect">
            <a:avLst/>
          </a:prstGeom>
        </p:spPr>
      </p:pic>
      <p:sp>
        <p:nvSpPr>
          <p:cNvPr id="35" name="TextBox 34">
            <a:extLst>
              <a:ext uri="{FF2B5EF4-FFF2-40B4-BE49-F238E27FC236}">
                <a16:creationId xmlns:a16="http://schemas.microsoft.com/office/drawing/2014/main" id="{13A89C4C-5460-83DE-F61A-04DE4D0D6962}"/>
              </a:ext>
            </a:extLst>
          </p:cNvPr>
          <p:cNvSpPr txBox="1"/>
          <p:nvPr/>
        </p:nvSpPr>
        <p:spPr>
          <a:xfrm>
            <a:off x="10746490" y="2585639"/>
            <a:ext cx="1154483" cy="369332"/>
          </a:xfrm>
          <a:prstGeom prst="rect">
            <a:avLst/>
          </a:prstGeom>
          <a:noFill/>
        </p:spPr>
        <p:txBody>
          <a:bodyPr wrap="none" rtlCol="0">
            <a:spAutoFit/>
          </a:bodyPr>
          <a:lstStyle/>
          <a:p>
            <a:r>
              <a:rPr lang="en-US" dirty="0"/>
              <a:t>Individual</a:t>
            </a:r>
          </a:p>
        </p:txBody>
      </p:sp>
      <p:sp>
        <p:nvSpPr>
          <p:cNvPr id="38" name="TextBox 37">
            <a:extLst>
              <a:ext uri="{FF2B5EF4-FFF2-40B4-BE49-F238E27FC236}">
                <a16:creationId xmlns:a16="http://schemas.microsoft.com/office/drawing/2014/main" id="{E1AA2A2E-E07E-E0C1-22E6-97C189B859B9}"/>
              </a:ext>
            </a:extLst>
          </p:cNvPr>
          <p:cNvSpPr txBox="1"/>
          <p:nvPr/>
        </p:nvSpPr>
        <p:spPr>
          <a:xfrm>
            <a:off x="10662454" y="1917337"/>
            <a:ext cx="1587038" cy="369332"/>
          </a:xfrm>
          <a:prstGeom prst="rect">
            <a:avLst/>
          </a:prstGeom>
          <a:noFill/>
        </p:spPr>
        <p:txBody>
          <a:bodyPr wrap="none" rtlCol="0">
            <a:spAutoFit/>
          </a:bodyPr>
          <a:lstStyle/>
          <a:p>
            <a:r>
              <a:rPr lang="en-US" dirty="0"/>
              <a:t>Inter-personal</a:t>
            </a:r>
          </a:p>
        </p:txBody>
      </p:sp>
      <p:sp>
        <p:nvSpPr>
          <p:cNvPr id="39" name="TextBox 38">
            <a:extLst>
              <a:ext uri="{FF2B5EF4-FFF2-40B4-BE49-F238E27FC236}">
                <a16:creationId xmlns:a16="http://schemas.microsoft.com/office/drawing/2014/main" id="{A9C0CC88-B9B0-08FB-1A17-3DA8CADF69EB}"/>
              </a:ext>
            </a:extLst>
          </p:cNvPr>
          <p:cNvSpPr txBox="1"/>
          <p:nvPr/>
        </p:nvSpPr>
        <p:spPr>
          <a:xfrm>
            <a:off x="10843122" y="901238"/>
            <a:ext cx="1225702" cy="646331"/>
          </a:xfrm>
          <a:prstGeom prst="rect">
            <a:avLst/>
          </a:prstGeom>
          <a:noFill/>
        </p:spPr>
        <p:txBody>
          <a:bodyPr wrap="square" rtlCol="0">
            <a:spAutoFit/>
          </a:bodyPr>
          <a:lstStyle/>
          <a:p>
            <a:r>
              <a:rPr lang="en-US" i="1" dirty="0"/>
              <a:t>Sphere of influence</a:t>
            </a:r>
          </a:p>
        </p:txBody>
      </p:sp>
      <p:sp>
        <p:nvSpPr>
          <p:cNvPr id="56" name="Oval 55">
            <a:extLst>
              <a:ext uri="{FF2B5EF4-FFF2-40B4-BE49-F238E27FC236}">
                <a16:creationId xmlns:a16="http://schemas.microsoft.com/office/drawing/2014/main" id="{A7F3F75C-D2C4-26FE-CA8F-3C21A09D648D}"/>
              </a:ext>
            </a:extLst>
          </p:cNvPr>
          <p:cNvSpPr/>
          <p:nvPr/>
        </p:nvSpPr>
        <p:spPr>
          <a:xfrm>
            <a:off x="10139370" y="87150"/>
            <a:ext cx="586040" cy="601598"/>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7" name="Graphic 56" descr="User with solid fill">
            <a:extLst>
              <a:ext uri="{FF2B5EF4-FFF2-40B4-BE49-F238E27FC236}">
                <a16:creationId xmlns:a16="http://schemas.microsoft.com/office/drawing/2014/main" id="{87333326-8EF8-9540-FD6A-1F9DB62EC6E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98264" y="109817"/>
            <a:ext cx="495146" cy="533557"/>
          </a:xfrm>
          <a:prstGeom prst="rect">
            <a:avLst/>
          </a:prstGeom>
        </p:spPr>
      </p:pic>
    </p:spTree>
    <p:extLst>
      <p:ext uri="{BB962C8B-B14F-4D97-AF65-F5344CB8AC3E}">
        <p14:creationId xmlns:p14="http://schemas.microsoft.com/office/powerpoint/2010/main" val="2540562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FAC94-4923-08A2-8C0E-1C0EC1CB1977}"/>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D212BA96-41DA-9533-C02D-B4D17283C23E}"/>
              </a:ext>
            </a:extLst>
          </p:cNvPr>
          <p:cNvSpPr txBox="1"/>
          <p:nvPr/>
        </p:nvSpPr>
        <p:spPr>
          <a:xfrm>
            <a:off x="290427" y="3465459"/>
            <a:ext cx="6382616" cy="1938992"/>
          </a:xfrm>
          <a:prstGeom prst="rect">
            <a:avLst/>
          </a:prstGeom>
          <a:noFill/>
        </p:spPr>
        <p:txBody>
          <a:bodyPr wrap="square">
            <a:spAutoFit/>
          </a:bodyPr>
          <a:lstStyle/>
          <a:p>
            <a:pPr algn="just"/>
            <a:r>
              <a:rPr lang="en-US" sz="2400" dirty="0"/>
              <a:t>Cameron has a </a:t>
            </a:r>
            <a:r>
              <a:rPr lang="en-US" sz="2400" b="1" dirty="0"/>
              <a:t>computational background</a:t>
            </a:r>
            <a:r>
              <a:rPr lang="en-US" sz="2400" dirty="0"/>
              <a:t> working with big data and adopts Open Science practices like </a:t>
            </a:r>
            <a:r>
              <a:rPr lang="en-US" sz="2400" b="1" dirty="0"/>
              <a:t>reproducible workflows</a:t>
            </a:r>
            <a:r>
              <a:rPr lang="en-US" sz="2400" dirty="0"/>
              <a:t>, version control and data archiving. He has </a:t>
            </a:r>
            <a:r>
              <a:rPr lang="en-US" sz="2400" b="1" dirty="0"/>
              <a:t>some knowledge </a:t>
            </a:r>
            <a:r>
              <a:rPr lang="en-US" sz="2400" dirty="0"/>
              <a:t>of the study species. </a:t>
            </a:r>
          </a:p>
        </p:txBody>
      </p:sp>
      <p:sp>
        <p:nvSpPr>
          <p:cNvPr id="11" name="TextBox 10">
            <a:extLst>
              <a:ext uri="{FF2B5EF4-FFF2-40B4-BE49-F238E27FC236}">
                <a16:creationId xmlns:a16="http://schemas.microsoft.com/office/drawing/2014/main" id="{1C019BE6-65FC-4084-4E3F-1E9AFE44911B}"/>
              </a:ext>
            </a:extLst>
          </p:cNvPr>
          <p:cNvSpPr txBox="1"/>
          <p:nvPr/>
        </p:nvSpPr>
        <p:spPr>
          <a:xfrm>
            <a:off x="7015522" y="3434416"/>
            <a:ext cx="5040555" cy="3046988"/>
          </a:xfrm>
          <a:prstGeom prst="rect">
            <a:avLst/>
          </a:prstGeom>
          <a:noFill/>
        </p:spPr>
        <p:txBody>
          <a:bodyPr wrap="square">
            <a:spAutoFit/>
          </a:bodyPr>
          <a:lstStyle/>
          <a:p>
            <a:pPr algn="just"/>
            <a:r>
              <a:rPr lang="en-US" sz="2400" dirty="0"/>
              <a:t>Gloria has </a:t>
            </a:r>
            <a:r>
              <a:rPr lang="en-US" sz="2400" b="1" dirty="0"/>
              <a:t>extensive fieldwork experience</a:t>
            </a:r>
            <a:r>
              <a:rPr lang="en-US" sz="2400" dirty="0"/>
              <a:t> with large mammals and keeping </a:t>
            </a:r>
            <a:r>
              <a:rPr lang="en-US" sz="2400" b="1" dirty="0"/>
              <a:t>detailed field notebooks</a:t>
            </a:r>
            <a:r>
              <a:rPr lang="en-US" sz="2400" dirty="0"/>
              <a:t>. She is </a:t>
            </a:r>
            <a:r>
              <a:rPr lang="en-US" sz="2400" b="1" dirty="0"/>
              <a:t>aware</a:t>
            </a:r>
            <a:r>
              <a:rPr lang="en-US" sz="2400" dirty="0"/>
              <a:t> of some Open Science practices, but her workflows are </a:t>
            </a:r>
            <a:r>
              <a:rPr lang="en-US" sz="2400" b="1" dirty="0"/>
              <a:t>not yet reproducible </a:t>
            </a:r>
            <a:r>
              <a:rPr lang="en-US" sz="2400" dirty="0"/>
              <a:t>(e.g. she uses point and click software for data analysis). </a:t>
            </a:r>
          </a:p>
        </p:txBody>
      </p:sp>
      <p:grpSp>
        <p:nvGrpSpPr>
          <p:cNvPr id="63" name="Group 62">
            <a:extLst>
              <a:ext uri="{FF2B5EF4-FFF2-40B4-BE49-F238E27FC236}">
                <a16:creationId xmlns:a16="http://schemas.microsoft.com/office/drawing/2014/main" id="{709A1480-7E95-6B54-7226-0860E220E1B4}"/>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E078083B-9CD1-7CC8-B96B-3AB6D6379C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D69D17A3-8D98-16EF-5F84-5FFE7385053D}"/>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503527D7-9D13-D858-C8C0-A1854B4B469E}"/>
              </a:ext>
            </a:extLst>
          </p:cNvPr>
          <p:cNvSpPr>
            <a:spLocks noGrp="1"/>
          </p:cNvSpPr>
          <p:nvPr>
            <p:ph type="sldNum" sz="quarter" idx="12"/>
          </p:nvPr>
        </p:nvSpPr>
        <p:spPr/>
        <p:txBody>
          <a:bodyPr/>
          <a:lstStyle/>
          <a:p>
            <a:fld id="{DC6309F4-03C8-4D48-A124-A9AD6E083FAC}" type="slidenum">
              <a:rPr lang="en-US" smtClean="0"/>
              <a:t>19</a:t>
            </a:fld>
            <a:endParaRPr lang="en-US"/>
          </a:p>
        </p:txBody>
      </p:sp>
      <p:sp>
        <p:nvSpPr>
          <p:cNvPr id="4" name="Title 1">
            <a:extLst>
              <a:ext uri="{FF2B5EF4-FFF2-40B4-BE49-F238E27FC236}">
                <a16:creationId xmlns:a16="http://schemas.microsoft.com/office/drawing/2014/main" id="{6F13E166-7588-B48E-A80C-DA23FB4BD012}"/>
              </a:ext>
            </a:extLst>
          </p:cNvPr>
          <p:cNvSpPr txBox="1">
            <a:spLocks/>
          </p:cNvSpPr>
          <p:nvPr/>
        </p:nvSpPr>
        <p:spPr>
          <a:xfrm>
            <a:off x="0" y="-146"/>
            <a:ext cx="10085227" cy="989710"/>
          </a:xfrm>
          <a:prstGeom prst="rect">
            <a:avLst/>
          </a:prstGeom>
          <a:noFill/>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Case study: building a cross-functional team</a:t>
            </a:r>
          </a:p>
        </p:txBody>
      </p:sp>
      <p:sp>
        <p:nvSpPr>
          <p:cNvPr id="9" name="TextBox 8">
            <a:extLst>
              <a:ext uri="{FF2B5EF4-FFF2-40B4-BE49-F238E27FC236}">
                <a16:creationId xmlns:a16="http://schemas.microsoft.com/office/drawing/2014/main" id="{13141884-717D-5D0F-4F19-9F837F76CAD9}"/>
              </a:ext>
            </a:extLst>
          </p:cNvPr>
          <p:cNvSpPr txBox="1"/>
          <p:nvPr/>
        </p:nvSpPr>
        <p:spPr>
          <a:xfrm>
            <a:off x="236930" y="5618057"/>
            <a:ext cx="5494720" cy="1200329"/>
          </a:xfrm>
          <a:prstGeom prst="rect">
            <a:avLst/>
          </a:prstGeom>
          <a:noFill/>
        </p:spPr>
        <p:txBody>
          <a:bodyPr wrap="square">
            <a:spAutoFit/>
          </a:bodyPr>
          <a:lstStyle/>
          <a:p>
            <a:pPr algn="just"/>
            <a:r>
              <a:rPr lang="en-US" sz="2400" dirty="0"/>
              <a:t>What could Cameron and Gloria do next? What </a:t>
            </a:r>
            <a:r>
              <a:rPr lang="en-US" sz="2400" b="1" dirty="0"/>
              <a:t>potential challenges </a:t>
            </a:r>
            <a:r>
              <a:rPr lang="en-US" sz="2400" dirty="0"/>
              <a:t>could they experience? </a:t>
            </a:r>
          </a:p>
        </p:txBody>
      </p:sp>
      <p:sp>
        <p:nvSpPr>
          <p:cNvPr id="21" name="TextBox 20">
            <a:extLst>
              <a:ext uri="{FF2B5EF4-FFF2-40B4-BE49-F238E27FC236}">
                <a16:creationId xmlns:a16="http://schemas.microsoft.com/office/drawing/2014/main" id="{B26F2336-2564-6FAA-E051-E23B07E834A9}"/>
              </a:ext>
            </a:extLst>
          </p:cNvPr>
          <p:cNvSpPr txBox="1"/>
          <p:nvPr/>
        </p:nvSpPr>
        <p:spPr>
          <a:xfrm>
            <a:off x="10884305" y="223334"/>
            <a:ext cx="825867" cy="369332"/>
          </a:xfrm>
          <a:prstGeom prst="rect">
            <a:avLst/>
          </a:prstGeom>
          <a:noFill/>
        </p:spPr>
        <p:txBody>
          <a:bodyPr wrap="none" rtlCol="0">
            <a:spAutoFit/>
          </a:bodyPr>
          <a:lstStyle/>
          <a:p>
            <a:r>
              <a:rPr lang="en-US" dirty="0"/>
              <a:t>Action</a:t>
            </a:r>
          </a:p>
        </p:txBody>
      </p:sp>
      <p:sp>
        <p:nvSpPr>
          <p:cNvPr id="7" name="Rounded Rectangle 6">
            <a:extLst>
              <a:ext uri="{FF2B5EF4-FFF2-40B4-BE49-F238E27FC236}">
                <a16:creationId xmlns:a16="http://schemas.microsoft.com/office/drawing/2014/main" id="{D55FBB05-EC88-6616-DB97-96E21E7B0683}"/>
              </a:ext>
            </a:extLst>
          </p:cNvPr>
          <p:cNvSpPr/>
          <p:nvPr/>
        </p:nvSpPr>
        <p:spPr>
          <a:xfrm>
            <a:off x="236930" y="5557050"/>
            <a:ext cx="6778592" cy="130095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2" name="Rounded Rectangle 41">
            <a:extLst>
              <a:ext uri="{FF2B5EF4-FFF2-40B4-BE49-F238E27FC236}">
                <a16:creationId xmlns:a16="http://schemas.microsoft.com/office/drawing/2014/main" id="{AA914A39-C92C-E892-F123-481A0F70104B}"/>
              </a:ext>
            </a:extLst>
          </p:cNvPr>
          <p:cNvSpPr/>
          <p:nvPr/>
        </p:nvSpPr>
        <p:spPr>
          <a:xfrm>
            <a:off x="135924" y="5457050"/>
            <a:ext cx="6537120" cy="1216404"/>
          </a:xfrm>
          <a:prstGeom prst="roundRect">
            <a:avLst/>
          </a:prstGeom>
          <a:solidFill>
            <a:srgbClr val="7030A0">
              <a:alpha val="27219"/>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37120ED-039E-3BAF-43F1-8F62BE14E03D}"/>
              </a:ext>
            </a:extLst>
          </p:cNvPr>
          <p:cNvSpPr txBox="1"/>
          <p:nvPr/>
        </p:nvSpPr>
        <p:spPr>
          <a:xfrm>
            <a:off x="160972" y="5536488"/>
            <a:ext cx="6613078" cy="1015663"/>
          </a:xfrm>
          <a:prstGeom prst="rect">
            <a:avLst/>
          </a:prstGeom>
          <a:noFill/>
        </p:spPr>
        <p:txBody>
          <a:bodyPr wrap="square">
            <a:spAutoFit/>
          </a:bodyPr>
          <a:lstStyle/>
          <a:p>
            <a:r>
              <a:rPr lang="en-US" sz="2000" b="1" dirty="0"/>
              <a:t>Actions: </a:t>
            </a:r>
            <a:r>
              <a:rPr lang="en-US" sz="2000" dirty="0"/>
              <a:t>Create a shared code of collaboration. Helps ensure joint agreement of expectations for project workflow, roles, outputs and ways of communicating </a:t>
            </a:r>
          </a:p>
        </p:txBody>
      </p:sp>
      <p:sp>
        <p:nvSpPr>
          <p:cNvPr id="35" name="TextBox 34">
            <a:extLst>
              <a:ext uri="{FF2B5EF4-FFF2-40B4-BE49-F238E27FC236}">
                <a16:creationId xmlns:a16="http://schemas.microsoft.com/office/drawing/2014/main" id="{312127C3-7DC7-6B3F-243B-E154F905A4A6}"/>
              </a:ext>
            </a:extLst>
          </p:cNvPr>
          <p:cNvSpPr txBox="1"/>
          <p:nvPr/>
        </p:nvSpPr>
        <p:spPr>
          <a:xfrm>
            <a:off x="10495080" y="1790188"/>
            <a:ext cx="1395691" cy="646331"/>
          </a:xfrm>
          <a:prstGeom prst="rect">
            <a:avLst/>
          </a:prstGeom>
          <a:noFill/>
        </p:spPr>
        <p:txBody>
          <a:bodyPr wrap="square" rtlCol="0">
            <a:spAutoFit/>
          </a:bodyPr>
          <a:lstStyle/>
          <a:p>
            <a:r>
              <a:rPr lang="en-US" dirty="0"/>
              <a:t>Research cycle</a:t>
            </a:r>
          </a:p>
        </p:txBody>
      </p:sp>
      <p:pic>
        <p:nvPicPr>
          <p:cNvPr id="6" name="Picture 5">
            <a:extLst>
              <a:ext uri="{FF2B5EF4-FFF2-40B4-BE49-F238E27FC236}">
                <a16:creationId xmlns:a16="http://schemas.microsoft.com/office/drawing/2014/main" id="{96C124AB-9724-4601-C705-62E92598F2F5}"/>
              </a:ext>
            </a:extLst>
          </p:cNvPr>
          <p:cNvPicPr>
            <a:picLocks noChangeAspect="1"/>
          </p:cNvPicPr>
          <p:nvPr/>
        </p:nvPicPr>
        <p:blipFill>
          <a:blip r:embed="rId5"/>
          <a:srcRect l="10664" t="11649" r="5650"/>
          <a:stretch>
            <a:fillRect/>
          </a:stretch>
        </p:blipFill>
        <p:spPr>
          <a:xfrm>
            <a:off x="9632062" y="1777460"/>
            <a:ext cx="806177" cy="774034"/>
          </a:xfrm>
          <a:prstGeom prst="rect">
            <a:avLst/>
          </a:prstGeom>
        </p:spPr>
      </p:pic>
      <p:grpSp>
        <p:nvGrpSpPr>
          <p:cNvPr id="8" name="Group 7">
            <a:extLst>
              <a:ext uri="{FF2B5EF4-FFF2-40B4-BE49-F238E27FC236}">
                <a16:creationId xmlns:a16="http://schemas.microsoft.com/office/drawing/2014/main" id="{A5BAB42D-5FE8-C6E9-BC08-E935A94EAC10}"/>
              </a:ext>
            </a:extLst>
          </p:cNvPr>
          <p:cNvGrpSpPr/>
          <p:nvPr/>
        </p:nvGrpSpPr>
        <p:grpSpPr>
          <a:xfrm>
            <a:off x="9595078" y="961045"/>
            <a:ext cx="806178" cy="701825"/>
            <a:chOff x="685409" y="1298307"/>
            <a:chExt cx="2683159" cy="2015206"/>
          </a:xfrm>
        </p:grpSpPr>
        <p:grpSp>
          <p:nvGrpSpPr>
            <p:cNvPr id="10" name="Group 9">
              <a:extLst>
                <a:ext uri="{FF2B5EF4-FFF2-40B4-BE49-F238E27FC236}">
                  <a16:creationId xmlns:a16="http://schemas.microsoft.com/office/drawing/2014/main" id="{10B901AF-E605-9349-1CF2-16D9E31E3F9F}"/>
                </a:ext>
              </a:extLst>
            </p:cNvPr>
            <p:cNvGrpSpPr/>
            <p:nvPr/>
          </p:nvGrpSpPr>
          <p:grpSpPr>
            <a:xfrm>
              <a:off x="1097254" y="1480730"/>
              <a:ext cx="2052423" cy="1712148"/>
              <a:chOff x="1898557" y="878352"/>
              <a:chExt cx="6432007" cy="5616769"/>
            </a:xfrm>
          </p:grpSpPr>
          <p:sp>
            <p:nvSpPr>
              <p:cNvPr id="23" name="Oval 22">
                <a:extLst>
                  <a:ext uri="{FF2B5EF4-FFF2-40B4-BE49-F238E27FC236}">
                    <a16:creationId xmlns:a16="http://schemas.microsoft.com/office/drawing/2014/main" id="{7D37F07B-009B-87BD-7EED-D16CD46D33EC}"/>
                  </a:ext>
                </a:extLst>
              </p:cNvPr>
              <p:cNvSpPr/>
              <p:nvPr/>
            </p:nvSpPr>
            <p:spPr>
              <a:xfrm>
                <a:off x="1952927" y="878352"/>
                <a:ext cx="3834040" cy="3651313"/>
              </a:xfrm>
              <a:prstGeom prst="ellipse">
                <a:avLst/>
              </a:prstGeom>
              <a:solidFill>
                <a:srgbClr val="FFC000">
                  <a:alpha val="4413"/>
                </a:srgbClr>
              </a:solidFill>
              <a:ln>
                <a:solidFill>
                  <a:srgbClr val="FFC00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D8E309E5-C3CD-5A81-A0BD-A1E41AD44D1D}"/>
                  </a:ext>
                </a:extLst>
              </p:cNvPr>
              <p:cNvSpPr/>
              <p:nvPr/>
            </p:nvSpPr>
            <p:spPr>
              <a:xfrm>
                <a:off x="4443191" y="878352"/>
                <a:ext cx="3887373" cy="3651313"/>
              </a:xfrm>
              <a:prstGeom prst="ellipse">
                <a:avLst/>
              </a:prstGeom>
              <a:solidFill>
                <a:srgbClr val="92D050">
                  <a:alpha val="5552"/>
                </a:srgbClr>
              </a:solidFill>
              <a:ln>
                <a:solidFill>
                  <a:srgbClr val="92D05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FD7DFF88-1733-BFB3-5A35-C355D80D43E4}"/>
                  </a:ext>
                </a:extLst>
              </p:cNvPr>
              <p:cNvSpPr/>
              <p:nvPr/>
            </p:nvSpPr>
            <p:spPr>
              <a:xfrm>
                <a:off x="4415332" y="2843808"/>
                <a:ext cx="3834040" cy="3651313"/>
              </a:xfrm>
              <a:prstGeom prst="ellipse">
                <a:avLst/>
              </a:prstGeom>
              <a:solidFill>
                <a:schemeClr val="tx2">
                  <a:lumMod val="50000"/>
                  <a:lumOff val="50000"/>
                  <a:alpha val="4700"/>
                </a:schemeClr>
              </a:solidFill>
              <a:ln>
                <a:solidFill>
                  <a:schemeClr val="tx2">
                    <a:lumMod val="75000"/>
                    <a:lumOff val="2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F0CDB94-16D3-3C02-3011-0D6542EFDE9A}"/>
                  </a:ext>
                </a:extLst>
              </p:cNvPr>
              <p:cNvSpPr/>
              <p:nvPr/>
            </p:nvSpPr>
            <p:spPr>
              <a:xfrm>
                <a:off x="1898557" y="2827864"/>
                <a:ext cx="3975268" cy="3642123"/>
              </a:xfrm>
              <a:prstGeom prst="ellipse">
                <a:avLst/>
              </a:prstGeom>
              <a:solidFill>
                <a:srgbClr val="7030A0">
                  <a:alpha val="5000"/>
                </a:srgbClr>
              </a:solidFill>
              <a:ln>
                <a:solidFill>
                  <a:srgbClr val="7030A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utoShape 40" descr="Zenodo home">
                <a:extLst>
                  <a:ext uri="{FF2B5EF4-FFF2-40B4-BE49-F238E27FC236}">
                    <a16:creationId xmlns:a16="http://schemas.microsoft.com/office/drawing/2014/main" id="{BC198A09-AE02-4F60-71C1-E3724A222CA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AutoShape 58" descr="R (programming language) - Wikipedia">
                <a:extLst>
                  <a:ext uri="{FF2B5EF4-FFF2-40B4-BE49-F238E27FC236}">
                    <a16:creationId xmlns:a16="http://schemas.microsoft.com/office/drawing/2014/main" id="{38598CA4-7CD7-BE8F-6F33-D0551965DB1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12" name="Graphic 11" descr="Classroom with solid fill">
              <a:extLst>
                <a:ext uri="{FF2B5EF4-FFF2-40B4-BE49-F238E27FC236}">
                  <a16:creationId xmlns:a16="http://schemas.microsoft.com/office/drawing/2014/main" id="{FF8D79F7-4EF4-E6AF-66B2-9CE81C7BB7E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53056" y="1336829"/>
              <a:ext cx="615512" cy="615512"/>
            </a:xfrm>
            <a:prstGeom prst="rect">
              <a:avLst/>
            </a:prstGeom>
          </p:spPr>
        </p:pic>
        <p:pic>
          <p:nvPicPr>
            <p:cNvPr id="14" name="Graphic 13" descr="Clipboard Partially Ticked with solid fill">
              <a:extLst>
                <a:ext uri="{FF2B5EF4-FFF2-40B4-BE49-F238E27FC236}">
                  <a16:creationId xmlns:a16="http://schemas.microsoft.com/office/drawing/2014/main" id="{B7C1DC11-A7C4-EA79-08F6-32ADD66F37C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17521" y="2562466"/>
              <a:ext cx="751047" cy="751047"/>
            </a:xfrm>
            <a:prstGeom prst="rect">
              <a:avLst/>
            </a:prstGeom>
          </p:spPr>
        </p:pic>
        <p:pic>
          <p:nvPicPr>
            <p:cNvPr id="15" name="Graphic 14" descr="Cheers with solid fill">
              <a:extLst>
                <a:ext uri="{FF2B5EF4-FFF2-40B4-BE49-F238E27FC236}">
                  <a16:creationId xmlns:a16="http://schemas.microsoft.com/office/drawing/2014/main" id="{747742BF-4E50-9BF3-5BB9-01E992FA98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1684" y="2669452"/>
              <a:ext cx="601468" cy="601468"/>
            </a:xfrm>
            <a:prstGeom prst="rect">
              <a:avLst/>
            </a:prstGeom>
          </p:spPr>
        </p:pic>
        <p:pic>
          <p:nvPicPr>
            <p:cNvPr id="22" name="Graphic 21" descr="Document with solid fill">
              <a:extLst>
                <a:ext uri="{FF2B5EF4-FFF2-40B4-BE49-F238E27FC236}">
                  <a16:creationId xmlns:a16="http://schemas.microsoft.com/office/drawing/2014/main" id="{C794EFAB-B15C-7BFE-A797-E30831989B7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85409" y="1298307"/>
              <a:ext cx="678604" cy="678604"/>
            </a:xfrm>
            <a:prstGeom prst="rect">
              <a:avLst/>
            </a:prstGeom>
          </p:spPr>
        </p:pic>
      </p:grpSp>
      <p:sp>
        <p:nvSpPr>
          <p:cNvPr id="31" name="TextBox 30">
            <a:extLst>
              <a:ext uri="{FF2B5EF4-FFF2-40B4-BE49-F238E27FC236}">
                <a16:creationId xmlns:a16="http://schemas.microsoft.com/office/drawing/2014/main" id="{55AD6FD1-C6F7-762D-16D5-01FB1625A1CD}"/>
              </a:ext>
            </a:extLst>
          </p:cNvPr>
          <p:cNvSpPr txBox="1"/>
          <p:nvPr/>
        </p:nvSpPr>
        <p:spPr>
          <a:xfrm>
            <a:off x="10508971" y="1017672"/>
            <a:ext cx="1806711" cy="646331"/>
          </a:xfrm>
          <a:prstGeom prst="rect">
            <a:avLst/>
          </a:prstGeom>
          <a:noFill/>
        </p:spPr>
        <p:txBody>
          <a:bodyPr wrap="square" rtlCol="0">
            <a:spAutoFit/>
          </a:bodyPr>
          <a:lstStyle/>
          <a:p>
            <a:r>
              <a:rPr lang="en-US" dirty="0"/>
              <a:t>Research domain</a:t>
            </a:r>
          </a:p>
        </p:txBody>
      </p:sp>
      <p:pic>
        <p:nvPicPr>
          <p:cNvPr id="32" name="Graphic 31" descr="Chat with solid fill">
            <a:extLst>
              <a:ext uri="{FF2B5EF4-FFF2-40B4-BE49-F238E27FC236}">
                <a16:creationId xmlns:a16="http://schemas.microsoft.com/office/drawing/2014/main" id="{A1ACE837-12BF-0320-642E-753A475BD4F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684150" y="2623406"/>
            <a:ext cx="717106" cy="717106"/>
          </a:xfrm>
          <a:prstGeom prst="rect">
            <a:avLst/>
          </a:prstGeom>
        </p:spPr>
      </p:pic>
      <p:sp>
        <p:nvSpPr>
          <p:cNvPr id="33" name="TextBox 32">
            <a:extLst>
              <a:ext uri="{FF2B5EF4-FFF2-40B4-BE49-F238E27FC236}">
                <a16:creationId xmlns:a16="http://schemas.microsoft.com/office/drawing/2014/main" id="{10725C40-AF80-765B-EDCE-EC6C9513F140}"/>
              </a:ext>
            </a:extLst>
          </p:cNvPr>
          <p:cNvSpPr txBox="1"/>
          <p:nvPr/>
        </p:nvSpPr>
        <p:spPr>
          <a:xfrm>
            <a:off x="10474940" y="2596006"/>
            <a:ext cx="1752146" cy="646331"/>
          </a:xfrm>
          <a:prstGeom prst="rect">
            <a:avLst/>
          </a:prstGeom>
          <a:noFill/>
        </p:spPr>
        <p:txBody>
          <a:bodyPr wrap="square" rtlCol="0">
            <a:spAutoFit/>
          </a:bodyPr>
          <a:lstStyle/>
          <a:p>
            <a:r>
              <a:rPr lang="en-US" dirty="0"/>
              <a:t>Clear communication</a:t>
            </a:r>
          </a:p>
        </p:txBody>
      </p:sp>
      <p:sp>
        <p:nvSpPr>
          <p:cNvPr id="34" name="Rounded Rectangle 33">
            <a:extLst>
              <a:ext uri="{FF2B5EF4-FFF2-40B4-BE49-F238E27FC236}">
                <a16:creationId xmlns:a16="http://schemas.microsoft.com/office/drawing/2014/main" id="{848EE7DE-6E9D-FC3F-AED4-EC73F1F03A0F}"/>
              </a:ext>
            </a:extLst>
          </p:cNvPr>
          <p:cNvSpPr/>
          <p:nvPr/>
        </p:nvSpPr>
        <p:spPr>
          <a:xfrm>
            <a:off x="5437458" y="2329658"/>
            <a:ext cx="3352801" cy="384632"/>
          </a:xfrm>
          <a:prstGeom prst="roundRect">
            <a:avLst/>
          </a:prstGeom>
          <a:solidFill>
            <a:srgbClr val="7030A0">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ounded Rectangle 35">
            <a:extLst>
              <a:ext uri="{FF2B5EF4-FFF2-40B4-BE49-F238E27FC236}">
                <a16:creationId xmlns:a16="http://schemas.microsoft.com/office/drawing/2014/main" id="{FDA7C202-40E9-7BBE-A668-370E8993733E}"/>
              </a:ext>
            </a:extLst>
          </p:cNvPr>
          <p:cNvSpPr/>
          <p:nvPr/>
        </p:nvSpPr>
        <p:spPr>
          <a:xfrm>
            <a:off x="322984" y="2704224"/>
            <a:ext cx="3851451" cy="384632"/>
          </a:xfrm>
          <a:prstGeom prst="roundRect">
            <a:avLst/>
          </a:prstGeom>
          <a:solidFill>
            <a:srgbClr val="7030A0">
              <a:alpha val="2721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6A85047-4F7F-9410-58B3-6A3B9F78297B}"/>
              </a:ext>
            </a:extLst>
          </p:cNvPr>
          <p:cNvSpPr txBox="1"/>
          <p:nvPr/>
        </p:nvSpPr>
        <p:spPr>
          <a:xfrm>
            <a:off x="322984" y="822694"/>
            <a:ext cx="9167645" cy="2308324"/>
          </a:xfrm>
          <a:prstGeom prst="rect">
            <a:avLst/>
          </a:prstGeom>
          <a:noFill/>
        </p:spPr>
        <p:txBody>
          <a:bodyPr wrap="square" rtlCol="0">
            <a:spAutoFit/>
          </a:bodyPr>
          <a:lstStyle/>
          <a:p>
            <a:r>
              <a:rPr lang="en-US" sz="2400" b="1" dirty="0"/>
              <a:t>Cameron</a:t>
            </a:r>
            <a:r>
              <a:rPr lang="en-US" sz="2400" dirty="0"/>
              <a:t> and </a:t>
            </a:r>
            <a:r>
              <a:rPr lang="en-US" sz="2400" b="1" dirty="0"/>
              <a:t>Gloria</a:t>
            </a:r>
            <a:r>
              <a:rPr lang="en-US" sz="2400" dirty="0"/>
              <a:t> are two biologists starting a </a:t>
            </a:r>
            <a:r>
              <a:rPr lang="en-US" sz="2400" b="1" dirty="0"/>
              <a:t>new collaboration </a:t>
            </a:r>
            <a:r>
              <a:rPr lang="en-US" sz="2400" dirty="0"/>
              <a:t>on a project on </a:t>
            </a:r>
            <a:r>
              <a:rPr lang="en-US" sz="2400" b="1" dirty="0"/>
              <a:t>modelling</a:t>
            </a:r>
            <a:r>
              <a:rPr lang="en-US" sz="2400" dirty="0"/>
              <a:t> large mammal migrations. </a:t>
            </a:r>
          </a:p>
          <a:p>
            <a:endParaRPr lang="en-US" sz="2400" dirty="0"/>
          </a:p>
          <a:p>
            <a:r>
              <a:rPr lang="en-US" sz="2400" dirty="0"/>
              <a:t>They are both excited about the project and want to make it a success. They are not sure how best to </a:t>
            </a:r>
            <a:r>
              <a:rPr lang="en-US" sz="2400" b="1" dirty="0"/>
              <a:t>leverage their expertise</a:t>
            </a:r>
            <a:r>
              <a:rPr lang="en-US" sz="2400" dirty="0"/>
              <a:t> and </a:t>
            </a:r>
            <a:r>
              <a:rPr lang="en-US" sz="2400" b="1" dirty="0"/>
              <a:t>align </a:t>
            </a:r>
            <a:r>
              <a:rPr lang="en-US" sz="2400" dirty="0"/>
              <a:t>their </a:t>
            </a:r>
            <a:r>
              <a:rPr lang="en-US" sz="2400" b="1" dirty="0"/>
              <a:t>ways of working</a:t>
            </a:r>
            <a:r>
              <a:rPr lang="en-US" sz="2400" dirty="0"/>
              <a:t>. </a:t>
            </a:r>
          </a:p>
        </p:txBody>
      </p:sp>
      <p:sp>
        <p:nvSpPr>
          <p:cNvPr id="37" name="Oval 36">
            <a:extLst>
              <a:ext uri="{FF2B5EF4-FFF2-40B4-BE49-F238E27FC236}">
                <a16:creationId xmlns:a16="http://schemas.microsoft.com/office/drawing/2014/main" id="{7A2ADCEE-6C26-5B55-ACC0-16D0DE3B18D3}"/>
              </a:ext>
            </a:extLst>
          </p:cNvPr>
          <p:cNvSpPr/>
          <p:nvPr/>
        </p:nvSpPr>
        <p:spPr>
          <a:xfrm>
            <a:off x="10139370" y="87150"/>
            <a:ext cx="586040" cy="601598"/>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1" name="Graphic 40" descr="Clapper board with solid fill">
            <a:extLst>
              <a:ext uri="{FF2B5EF4-FFF2-40B4-BE49-F238E27FC236}">
                <a16:creationId xmlns:a16="http://schemas.microsoft.com/office/drawing/2014/main" id="{C83CCCF3-B224-234A-1FB6-C555919CA4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216320" y="163686"/>
            <a:ext cx="422868" cy="425525"/>
          </a:xfrm>
          <a:prstGeom prst="rect">
            <a:avLst/>
          </a:prstGeom>
        </p:spPr>
      </p:pic>
    </p:spTree>
    <p:extLst>
      <p:ext uri="{BB962C8B-B14F-4D97-AF65-F5344CB8AC3E}">
        <p14:creationId xmlns:p14="http://schemas.microsoft.com/office/powerpoint/2010/main" val="3676564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3D8B3-30D1-0650-C323-A78E01008C66}"/>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8BBE8813-1DE4-72FD-EF01-6C767B9C8C8E}"/>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4669E2AB-E1AF-A752-F107-D18F56F5ED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34D7C1FE-BAE1-3F99-E8C8-654CD3379868}"/>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289B0859-EA63-BA5E-52BA-7A356BDCE834}"/>
              </a:ext>
            </a:extLst>
          </p:cNvPr>
          <p:cNvSpPr>
            <a:spLocks noGrp="1"/>
          </p:cNvSpPr>
          <p:nvPr>
            <p:ph type="sldNum" sz="quarter" idx="12"/>
          </p:nvPr>
        </p:nvSpPr>
        <p:spPr/>
        <p:txBody>
          <a:bodyPr/>
          <a:lstStyle/>
          <a:p>
            <a:fld id="{DC6309F4-03C8-4D48-A124-A9AD6E083FAC}" type="slidenum">
              <a:rPr lang="en-US" smtClean="0"/>
              <a:t>20</a:t>
            </a:fld>
            <a:endParaRPr lang="en-US" dirty="0"/>
          </a:p>
        </p:txBody>
      </p:sp>
      <p:sp>
        <p:nvSpPr>
          <p:cNvPr id="4" name="Title 1">
            <a:extLst>
              <a:ext uri="{FF2B5EF4-FFF2-40B4-BE49-F238E27FC236}">
                <a16:creationId xmlns:a16="http://schemas.microsoft.com/office/drawing/2014/main" id="{59EDD404-9D5F-9CDE-B284-9DE35F74A49E}"/>
              </a:ext>
            </a:extLst>
          </p:cNvPr>
          <p:cNvSpPr txBox="1">
            <a:spLocks/>
          </p:cNvSpPr>
          <p:nvPr/>
        </p:nvSpPr>
        <p:spPr>
          <a:xfrm>
            <a:off x="0" y="-26542"/>
            <a:ext cx="12192000" cy="101660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Collective problem-solving with case studies</a:t>
            </a:r>
          </a:p>
        </p:txBody>
      </p:sp>
      <p:sp>
        <p:nvSpPr>
          <p:cNvPr id="5" name="TextBox 4">
            <a:extLst>
              <a:ext uri="{FF2B5EF4-FFF2-40B4-BE49-F238E27FC236}">
                <a16:creationId xmlns:a16="http://schemas.microsoft.com/office/drawing/2014/main" id="{860940EA-10EE-7618-909B-257B44A6B4BE}"/>
              </a:ext>
            </a:extLst>
          </p:cNvPr>
          <p:cNvSpPr txBox="1"/>
          <p:nvPr/>
        </p:nvSpPr>
        <p:spPr>
          <a:xfrm>
            <a:off x="330609" y="1339708"/>
            <a:ext cx="9480655" cy="4524315"/>
          </a:xfrm>
          <a:prstGeom prst="rect">
            <a:avLst/>
          </a:prstGeom>
          <a:noFill/>
        </p:spPr>
        <p:txBody>
          <a:bodyPr wrap="square">
            <a:spAutoFit/>
          </a:bodyPr>
          <a:lstStyle/>
          <a:p>
            <a:pPr marL="342900" indent="-342900">
              <a:buAutoNum type="arabicPeriod"/>
            </a:pPr>
            <a:r>
              <a:rPr lang="en-US" sz="2400" b="1" dirty="0"/>
              <a:t>Find</a:t>
            </a:r>
            <a:r>
              <a:rPr lang="en-US" sz="2400" dirty="0"/>
              <a:t> your case study group</a:t>
            </a:r>
          </a:p>
          <a:p>
            <a:pPr marL="342900" indent="-342900">
              <a:buAutoNum type="arabicPeriod"/>
            </a:pPr>
            <a:endParaRPr lang="en-US" sz="2400" dirty="0"/>
          </a:p>
          <a:p>
            <a:pPr marL="342900" indent="-342900">
              <a:buFontTx/>
              <a:buAutoNum type="arabicPeriod"/>
            </a:pPr>
            <a:r>
              <a:rPr lang="en-US" sz="2400" b="1" dirty="0"/>
              <a:t>Nominate</a:t>
            </a:r>
            <a:r>
              <a:rPr lang="en-US" sz="2400" dirty="0"/>
              <a:t> 1 person to be a </a:t>
            </a:r>
            <a:r>
              <a:rPr lang="en-US" sz="2400" b="1" dirty="0"/>
              <a:t>notetaker</a:t>
            </a:r>
            <a:r>
              <a:rPr lang="en-US" sz="2400" dirty="0"/>
              <a:t> and 1 </a:t>
            </a:r>
            <a:r>
              <a:rPr lang="en-US" sz="2400" b="1" dirty="0"/>
              <a:t>spokesperson</a:t>
            </a:r>
          </a:p>
          <a:p>
            <a:pPr marL="342900" indent="-342900">
              <a:buFontTx/>
              <a:buAutoNum type="arabicPeriod"/>
            </a:pPr>
            <a:endParaRPr lang="en-US" sz="2400" b="1" dirty="0"/>
          </a:p>
          <a:p>
            <a:pPr marL="342900" indent="-342900">
              <a:buAutoNum type="arabicPeriod"/>
            </a:pPr>
            <a:r>
              <a:rPr lang="en-US" sz="2400" b="1" dirty="0"/>
              <a:t>Read</a:t>
            </a:r>
            <a:r>
              <a:rPr lang="en-US" sz="2400" dirty="0"/>
              <a:t> the case study scenario and guiding questions</a:t>
            </a:r>
          </a:p>
          <a:p>
            <a:pPr marL="342900" indent="-342900">
              <a:buAutoNum type="arabicPeriod"/>
            </a:pPr>
            <a:endParaRPr lang="en-US" sz="2400" dirty="0"/>
          </a:p>
          <a:p>
            <a:pPr marL="342900" indent="-342900">
              <a:buAutoNum type="arabicPeriod"/>
            </a:pPr>
            <a:r>
              <a:rPr lang="en-US" sz="2400" dirty="0"/>
              <a:t>In your groups </a:t>
            </a:r>
            <a:r>
              <a:rPr lang="en-US" sz="2400" b="1" dirty="0"/>
              <a:t>note down </a:t>
            </a:r>
            <a:r>
              <a:rPr lang="en-US" sz="2400" dirty="0"/>
              <a:t>some </a:t>
            </a:r>
            <a:r>
              <a:rPr lang="en-US" sz="2400" b="1" dirty="0"/>
              <a:t>challenges</a:t>
            </a:r>
            <a:r>
              <a:rPr lang="en-US" sz="2400" dirty="0"/>
              <a:t>, </a:t>
            </a:r>
            <a:r>
              <a:rPr lang="en-US" sz="2400" b="1" dirty="0"/>
              <a:t>strategies</a:t>
            </a:r>
            <a:r>
              <a:rPr lang="en-US" sz="2400" dirty="0"/>
              <a:t> </a:t>
            </a:r>
          </a:p>
          <a:p>
            <a:pPr marL="342900" indent="-342900">
              <a:buAutoNum type="arabicPeriod"/>
            </a:pPr>
            <a:endParaRPr lang="en-US" sz="2400" dirty="0"/>
          </a:p>
          <a:p>
            <a:pPr marL="342900" indent="-342900">
              <a:buAutoNum type="arabicPeriod"/>
            </a:pPr>
            <a:r>
              <a:rPr lang="en-US" sz="2400" b="1" dirty="0"/>
              <a:t>Compare</a:t>
            </a:r>
            <a:r>
              <a:rPr lang="en-US" sz="2400" dirty="0"/>
              <a:t> your group’s suggested strategies with those in the case study and </a:t>
            </a:r>
            <a:r>
              <a:rPr lang="en-US" sz="2400" b="1" dirty="0"/>
              <a:t>reflect</a:t>
            </a:r>
            <a:endParaRPr lang="en-US" sz="2400" dirty="0"/>
          </a:p>
          <a:p>
            <a:pPr marL="342900" indent="-342900">
              <a:buAutoNum type="arabicPeriod"/>
            </a:pPr>
            <a:endParaRPr lang="en-US" sz="2400" dirty="0"/>
          </a:p>
          <a:p>
            <a:pPr marL="342900" indent="-342900">
              <a:buAutoNum type="arabicPeriod"/>
            </a:pPr>
            <a:r>
              <a:rPr lang="en-US" sz="2400" b="1" dirty="0"/>
              <a:t>Whole group discussion </a:t>
            </a:r>
            <a:r>
              <a:rPr lang="en-US" sz="2400" dirty="0"/>
              <a:t>and reflections</a:t>
            </a:r>
          </a:p>
        </p:txBody>
      </p:sp>
      <p:sp>
        <p:nvSpPr>
          <p:cNvPr id="6" name="TextBox 5">
            <a:extLst>
              <a:ext uri="{FF2B5EF4-FFF2-40B4-BE49-F238E27FC236}">
                <a16:creationId xmlns:a16="http://schemas.microsoft.com/office/drawing/2014/main" id="{3F003492-B1F1-E7A1-9FCF-C90884383FDB}"/>
              </a:ext>
            </a:extLst>
          </p:cNvPr>
          <p:cNvSpPr txBox="1"/>
          <p:nvPr/>
        </p:nvSpPr>
        <p:spPr>
          <a:xfrm>
            <a:off x="2707896" y="5933758"/>
            <a:ext cx="1398140" cy="461665"/>
          </a:xfrm>
          <a:prstGeom prst="rect">
            <a:avLst/>
          </a:prstGeom>
          <a:noFill/>
        </p:spPr>
        <p:txBody>
          <a:bodyPr wrap="none" rtlCol="0">
            <a:spAutoFit/>
          </a:bodyPr>
          <a:lstStyle/>
          <a:p>
            <a:r>
              <a:rPr lang="en-US" sz="2400" dirty="0"/>
              <a:t>~20 mins</a:t>
            </a:r>
          </a:p>
        </p:txBody>
      </p:sp>
    </p:spTree>
    <p:extLst>
      <p:ext uri="{BB962C8B-B14F-4D97-AF65-F5344CB8AC3E}">
        <p14:creationId xmlns:p14="http://schemas.microsoft.com/office/powerpoint/2010/main" val="3898155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7BECF3F-EE65-3062-90F5-58310B336C3B}"/>
              </a:ext>
            </a:extLst>
          </p:cNvPr>
          <p:cNvGrpSpPr/>
          <p:nvPr/>
        </p:nvGrpSpPr>
        <p:grpSpPr>
          <a:xfrm>
            <a:off x="10704849" y="6564312"/>
            <a:ext cx="1362075" cy="273690"/>
            <a:chOff x="19317" y="2690018"/>
            <a:chExt cx="11784755" cy="2025180"/>
          </a:xfrm>
        </p:grpSpPr>
        <p:pic>
          <p:nvPicPr>
            <p:cNvPr id="10" name="Picture 2">
              <a:extLst>
                <a:ext uri="{FF2B5EF4-FFF2-40B4-BE49-F238E27FC236}">
                  <a16:creationId xmlns:a16="http://schemas.microsoft.com/office/drawing/2014/main" id="{97F8C310-B13B-0325-0649-B68502DC84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71F76ED-DAA1-938C-C170-2B6DA75B3617}"/>
                </a:ext>
              </a:extLst>
            </p:cNvPr>
            <p:cNvPicPr>
              <a:picLocks noChangeAspect="1"/>
            </p:cNvPicPr>
            <p:nvPr/>
          </p:nvPicPr>
          <p:blipFill>
            <a:blip r:embed="rId3"/>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28245CE6-3610-E720-CA39-4860692D2B7F}"/>
              </a:ext>
            </a:extLst>
          </p:cNvPr>
          <p:cNvSpPr>
            <a:spLocks noGrp="1"/>
          </p:cNvSpPr>
          <p:nvPr>
            <p:ph type="title"/>
          </p:nvPr>
        </p:nvSpPr>
        <p:spPr>
          <a:xfrm>
            <a:off x="-1" y="0"/>
            <a:ext cx="12443791" cy="725983"/>
          </a:xfrm>
        </p:spPr>
        <p:txBody>
          <a:bodyPr>
            <a:normAutofit/>
          </a:bodyPr>
          <a:lstStyle/>
          <a:p>
            <a:r>
              <a:rPr lang="en-US" b="1" dirty="0"/>
              <a:t>Case study series on leadership in Open Science</a:t>
            </a:r>
          </a:p>
        </p:txBody>
      </p:sp>
      <p:sp>
        <p:nvSpPr>
          <p:cNvPr id="4" name="Slide Number Placeholder 3">
            <a:extLst>
              <a:ext uri="{FF2B5EF4-FFF2-40B4-BE49-F238E27FC236}">
                <a16:creationId xmlns:a16="http://schemas.microsoft.com/office/drawing/2014/main" id="{37729E03-253B-8BAD-0969-2FA907E3CC6E}"/>
              </a:ext>
            </a:extLst>
          </p:cNvPr>
          <p:cNvSpPr>
            <a:spLocks noGrp="1"/>
          </p:cNvSpPr>
          <p:nvPr>
            <p:ph type="sldNum" sz="quarter" idx="12"/>
          </p:nvPr>
        </p:nvSpPr>
        <p:spPr/>
        <p:txBody>
          <a:bodyPr/>
          <a:lstStyle/>
          <a:p>
            <a:fld id="{DC6309F4-03C8-4D48-A124-A9AD6E083FAC}" type="slidenum">
              <a:rPr lang="en-US" smtClean="0"/>
              <a:t>21</a:t>
            </a:fld>
            <a:endParaRPr lang="en-US"/>
          </a:p>
        </p:txBody>
      </p:sp>
      <p:sp>
        <p:nvSpPr>
          <p:cNvPr id="19" name="TextBox 18">
            <a:extLst>
              <a:ext uri="{FF2B5EF4-FFF2-40B4-BE49-F238E27FC236}">
                <a16:creationId xmlns:a16="http://schemas.microsoft.com/office/drawing/2014/main" id="{627925B1-0456-F927-978B-3B86C27A3378}"/>
              </a:ext>
            </a:extLst>
          </p:cNvPr>
          <p:cNvSpPr txBox="1"/>
          <p:nvPr/>
        </p:nvSpPr>
        <p:spPr>
          <a:xfrm>
            <a:off x="374904" y="894263"/>
            <a:ext cx="11326766" cy="923330"/>
          </a:xfrm>
          <a:prstGeom prst="rect">
            <a:avLst/>
          </a:prstGeom>
          <a:noFill/>
        </p:spPr>
        <p:txBody>
          <a:bodyPr wrap="square">
            <a:spAutoFit/>
          </a:bodyPr>
          <a:lstStyle/>
          <a:p>
            <a:r>
              <a:rPr lang="en-GB" dirty="0"/>
              <a:t>Columbus, A., &amp; Middleton, S. L. (2026, September 3). Leading an equitable Big Team Science consortium, a case study series on leadership in Open Science (LMU Open Science Center and FORRT). </a:t>
            </a:r>
            <a:r>
              <a:rPr lang="en-GB" dirty="0" err="1"/>
              <a:t>Zenodo</a:t>
            </a:r>
            <a:r>
              <a:rPr lang="en-GB" dirty="0"/>
              <a:t>. </a:t>
            </a:r>
            <a:r>
              <a:rPr lang="en-GB" dirty="0">
                <a:hlinkClick r:id="rId4"/>
              </a:rPr>
              <a:t>https://doi.org/10.5281/zenodo.22282068</a:t>
            </a:r>
            <a:endParaRPr lang="en-US" dirty="0"/>
          </a:p>
        </p:txBody>
      </p:sp>
      <p:sp>
        <p:nvSpPr>
          <p:cNvPr id="21" name="TextBox 20">
            <a:extLst>
              <a:ext uri="{FF2B5EF4-FFF2-40B4-BE49-F238E27FC236}">
                <a16:creationId xmlns:a16="http://schemas.microsoft.com/office/drawing/2014/main" id="{6E114E74-0C8B-D76D-2E19-692DE4228EDA}"/>
              </a:ext>
            </a:extLst>
          </p:cNvPr>
          <p:cNvSpPr txBox="1"/>
          <p:nvPr/>
        </p:nvSpPr>
        <p:spPr>
          <a:xfrm>
            <a:off x="374904" y="5655757"/>
            <a:ext cx="11326766" cy="646331"/>
          </a:xfrm>
          <a:prstGeom prst="rect">
            <a:avLst/>
          </a:prstGeom>
          <a:noFill/>
        </p:spPr>
        <p:txBody>
          <a:bodyPr wrap="square">
            <a:spAutoFit/>
          </a:bodyPr>
          <a:lstStyle/>
          <a:p>
            <a:r>
              <a:rPr lang="en-GB" dirty="0"/>
              <a:t>Plank, I. S., &amp; Middleton, S. L. (2026, September 4). Alex's open code dilemma, a case study series on leadership in Open Science (LMU Open Science Center and FORRT). </a:t>
            </a:r>
            <a:r>
              <a:rPr lang="en-GB" dirty="0" err="1"/>
              <a:t>Zenodo</a:t>
            </a:r>
            <a:r>
              <a:rPr lang="en-GB" dirty="0"/>
              <a:t>. </a:t>
            </a:r>
            <a:r>
              <a:rPr lang="en-GB" dirty="0">
                <a:hlinkClick r:id="rId5"/>
              </a:rPr>
              <a:t>https://doi.org/10.5281/zenodo.22306455</a:t>
            </a:r>
            <a:endParaRPr lang="en-US" dirty="0"/>
          </a:p>
        </p:txBody>
      </p:sp>
      <p:sp>
        <p:nvSpPr>
          <p:cNvPr id="23" name="TextBox 22">
            <a:extLst>
              <a:ext uri="{FF2B5EF4-FFF2-40B4-BE49-F238E27FC236}">
                <a16:creationId xmlns:a16="http://schemas.microsoft.com/office/drawing/2014/main" id="{15AB9177-D201-4EDE-09A8-6413A7D32346}"/>
              </a:ext>
            </a:extLst>
          </p:cNvPr>
          <p:cNvSpPr txBox="1"/>
          <p:nvPr/>
        </p:nvSpPr>
        <p:spPr>
          <a:xfrm>
            <a:off x="374904" y="2938633"/>
            <a:ext cx="11525548" cy="923330"/>
          </a:xfrm>
          <a:prstGeom prst="rect">
            <a:avLst/>
          </a:prstGeom>
          <a:noFill/>
        </p:spPr>
        <p:txBody>
          <a:bodyPr wrap="square">
            <a:spAutoFit/>
          </a:bodyPr>
          <a:lstStyle/>
          <a:p>
            <a:pPr>
              <a:buNone/>
            </a:pPr>
            <a:r>
              <a:rPr lang="en-GB" dirty="0"/>
              <a:t>Daniel, A., Verheyen, S., &amp; Middleton, S. L. (2026, September 4). Listening beyond protocol: Roya's experience with cultural ways of knowing, a case study series on leadership in Open Science (LMU Open Science Center and FORRT). </a:t>
            </a:r>
            <a:r>
              <a:rPr lang="en-GB" dirty="0" err="1"/>
              <a:t>Zenodo</a:t>
            </a:r>
            <a:r>
              <a:rPr lang="en-GB" dirty="0"/>
              <a:t>. </a:t>
            </a:r>
            <a:r>
              <a:rPr lang="en-GB" dirty="0">
                <a:hlinkClick r:id="rId6"/>
              </a:rPr>
              <a:t>https://doi.org/10.5281/zenodo.22308238</a:t>
            </a:r>
            <a:endParaRPr lang="en-GB" dirty="0"/>
          </a:p>
        </p:txBody>
      </p:sp>
      <p:sp>
        <p:nvSpPr>
          <p:cNvPr id="25" name="TextBox 24">
            <a:extLst>
              <a:ext uri="{FF2B5EF4-FFF2-40B4-BE49-F238E27FC236}">
                <a16:creationId xmlns:a16="http://schemas.microsoft.com/office/drawing/2014/main" id="{4C6BF46D-2564-1928-A1BE-CA68BE837FEA}"/>
              </a:ext>
            </a:extLst>
          </p:cNvPr>
          <p:cNvSpPr txBox="1"/>
          <p:nvPr/>
        </p:nvSpPr>
        <p:spPr>
          <a:xfrm>
            <a:off x="374904" y="1902757"/>
            <a:ext cx="11326766" cy="923330"/>
          </a:xfrm>
          <a:prstGeom prst="rect">
            <a:avLst/>
          </a:prstGeom>
          <a:noFill/>
        </p:spPr>
        <p:txBody>
          <a:bodyPr wrap="square">
            <a:spAutoFit/>
          </a:bodyPr>
          <a:lstStyle/>
          <a:p>
            <a:r>
              <a:rPr lang="en-GB" dirty="0"/>
              <a:t>Daniel, A., &amp; Middleton, S. L. (2026, September 4). Finn's struggle to choose a method(ology), a case study series on leadership in Open Science (LMU Open Science Center and FORRT). </a:t>
            </a:r>
            <a:r>
              <a:rPr lang="en-GB" dirty="0" err="1"/>
              <a:t>Zenodo</a:t>
            </a:r>
            <a:r>
              <a:rPr lang="en-GB" dirty="0"/>
              <a:t>. </a:t>
            </a:r>
            <a:r>
              <a:rPr lang="en-GB" dirty="0">
                <a:hlinkClick r:id="rId7"/>
              </a:rPr>
              <a:t>https://doi.org/10.5281/zenodo.22308007</a:t>
            </a:r>
            <a:endParaRPr lang="en-US" dirty="0"/>
          </a:p>
        </p:txBody>
      </p:sp>
      <p:sp>
        <p:nvSpPr>
          <p:cNvPr id="27" name="TextBox 26">
            <a:extLst>
              <a:ext uri="{FF2B5EF4-FFF2-40B4-BE49-F238E27FC236}">
                <a16:creationId xmlns:a16="http://schemas.microsoft.com/office/drawing/2014/main" id="{03B1F6FD-C110-009E-EB6B-506DC5470C33}"/>
              </a:ext>
            </a:extLst>
          </p:cNvPr>
          <p:cNvSpPr txBox="1"/>
          <p:nvPr/>
        </p:nvSpPr>
        <p:spPr>
          <a:xfrm>
            <a:off x="374904" y="4819522"/>
            <a:ext cx="11326766" cy="646331"/>
          </a:xfrm>
          <a:prstGeom prst="rect">
            <a:avLst/>
          </a:prstGeom>
          <a:noFill/>
        </p:spPr>
        <p:txBody>
          <a:bodyPr wrap="square">
            <a:spAutoFit/>
          </a:bodyPr>
          <a:lstStyle/>
          <a:p>
            <a:r>
              <a:rPr lang="en-GB" dirty="0"/>
              <a:t>Middleton, S. L., &amp; Ihle, M. (2026, September 4). Paulo's preregistration problem, a case study series on leadership in Open Science (LMU Open Science Center and FORRT). </a:t>
            </a:r>
            <a:r>
              <a:rPr lang="en-GB" dirty="0" err="1"/>
              <a:t>Zenodo</a:t>
            </a:r>
            <a:r>
              <a:rPr lang="en-GB" dirty="0"/>
              <a:t>. </a:t>
            </a:r>
            <a:r>
              <a:rPr lang="en-GB" dirty="0">
                <a:hlinkClick r:id="rId8"/>
              </a:rPr>
              <a:t>https://doi.org/10.5281/zenodo.22307709</a:t>
            </a:r>
            <a:endParaRPr lang="en-US" dirty="0"/>
          </a:p>
        </p:txBody>
      </p:sp>
      <p:sp>
        <p:nvSpPr>
          <p:cNvPr id="29" name="TextBox 28">
            <a:extLst>
              <a:ext uri="{FF2B5EF4-FFF2-40B4-BE49-F238E27FC236}">
                <a16:creationId xmlns:a16="http://schemas.microsoft.com/office/drawing/2014/main" id="{B93002BE-A9EC-495A-2C4B-A8DA1CC2880E}"/>
              </a:ext>
            </a:extLst>
          </p:cNvPr>
          <p:cNvSpPr txBox="1"/>
          <p:nvPr/>
        </p:nvSpPr>
        <p:spPr>
          <a:xfrm>
            <a:off x="374904" y="4002862"/>
            <a:ext cx="11722162" cy="646331"/>
          </a:xfrm>
          <a:prstGeom prst="rect">
            <a:avLst/>
          </a:prstGeom>
          <a:noFill/>
        </p:spPr>
        <p:txBody>
          <a:bodyPr wrap="square">
            <a:spAutoFit/>
          </a:bodyPr>
          <a:lstStyle/>
          <a:p>
            <a:r>
              <a:rPr lang="en-GB" dirty="0"/>
              <a:t>Mathy, A., &amp; Middleton, S. L. (2026, September 4). </a:t>
            </a:r>
            <a:r>
              <a:rPr lang="en-GB" dirty="0" err="1"/>
              <a:t>Contributorship</a:t>
            </a:r>
            <a:r>
              <a:rPr lang="en-GB" dirty="0"/>
              <a:t> under tension, a case study series on leadership in Open Science (LMU Open Science Center and FORRT). </a:t>
            </a:r>
            <a:r>
              <a:rPr lang="en-GB" dirty="0" err="1"/>
              <a:t>Zenodo</a:t>
            </a:r>
            <a:r>
              <a:rPr lang="en-GB" dirty="0"/>
              <a:t>. </a:t>
            </a:r>
            <a:r>
              <a:rPr lang="en-GB" dirty="0">
                <a:hlinkClick r:id="rId9"/>
              </a:rPr>
              <a:t>https://doi.org/10.5281/zenodo.22307117</a:t>
            </a:r>
            <a:endParaRPr lang="en-US" dirty="0"/>
          </a:p>
        </p:txBody>
      </p:sp>
    </p:spTree>
    <p:extLst>
      <p:ext uri="{BB962C8B-B14F-4D97-AF65-F5344CB8AC3E}">
        <p14:creationId xmlns:p14="http://schemas.microsoft.com/office/powerpoint/2010/main" val="1034569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96E1E1D-1505-6167-8869-8A17FA520E91}"/>
              </a:ext>
            </a:extLst>
          </p:cNvPr>
          <p:cNvGrpSpPr/>
          <p:nvPr/>
        </p:nvGrpSpPr>
        <p:grpSpPr>
          <a:xfrm>
            <a:off x="10704849" y="6564312"/>
            <a:ext cx="1362075" cy="273690"/>
            <a:chOff x="19317" y="2690018"/>
            <a:chExt cx="11784755" cy="2025180"/>
          </a:xfrm>
        </p:grpSpPr>
        <p:pic>
          <p:nvPicPr>
            <p:cNvPr id="5" name="Picture 2">
              <a:extLst>
                <a:ext uri="{FF2B5EF4-FFF2-40B4-BE49-F238E27FC236}">
                  <a16:creationId xmlns:a16="http://schemas.microsoft.com/office/drawing/2014/main" id="{09441909-0010-294A-E545-43F894C3E2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79A92BCC-D1D1-63C7-18D4-3E0E8BD34F0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431C3BFA-8B63-AB66-3327-94055AA95C20}"/>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59D04601-B5D0-874C-3E76-7140E806C3D8}"/>
              </a:ext>
            </a:extLst>
          </p:cNvPr>
          <p:cNvSpPr>
            <a:spLocks noGrp="1"/>
          </p:cNvSpPr>
          <p:nvPr>
            <p:ph type="sldNum" sz="quarter" idx="12"/>
          </p:nvPr>
        </p:nvSpPr>
        <p:spPr/>
        <p:txBody>
          <a:bodyPr/>
          <a:lstStyle/>
          <a:p>
            <a:fld id="{DC6309F4-03C8-4D48-A124-A9AD6E083FAC}" type="slidenum">
              <a:rPr lang="en-US" smtClean="0"/>
              <a:t>22</a:t>
            </a:fld>
            <a:endParaRPr lang="en-US"/>
          </a:p>
        </p:txBody>
      </p:sp>
      <p:pic>
        <p:nvPicPr>
          <p:cNvPr id="6" name="Picture 5">
            <a:extLst>
              <a:ext uri="{FF2B5EF4-FFF2-40B4-BE49-F238E27FC236}">
                <a16:creationId xmlns:a16="http://schemas.microsoft.com/office/drawing/2014/main" id="{197F958B-6BBB-3E1D-2928-50AD858B7EDB}"/>
              </a:ext>
            </a:extLst>
          </p:cNvPr>
          <p:cNvPicPr>
            <a:picLocks noChangeAspect="1"/>
          </p:cNvPicPr>
          <p:nvPr/>
        </p:nvPicPr>
        <p:blipFill>
          <a:blip r:embed="rId5"/>
          <a:srcRect b="3742"/>
          <a:stretch>
            <a:fillRect/>
          </a:stretch>
        </p:blipFill>
        <p:spPr>
          <a:xfrm>
            <a:off x="245679" y="136525"/>
            <a:ext cx="11481486" cy="6219825"/>
          </a:xfrm>
          <a:prstGeom prst="rect">
            <a:avLst/>
          </a:prstGeom>
        </p:spPr>
      </p:pic>
    </p:spTree>
    <p:extLst>
      <p:ext uri="{BB962C8B-B14F-4D97-AF65-F5344CB8AC3E}">
        <p14:creationId xmlns:p14="http://schemas.microsoft.com/office/powerpoint/2010/main" val="3856943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4573A-D961-7442-4C7B-62A625C972F6}"/>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014277C8-3D01-D646-7566-FBC2968C89D1}"/>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713E21E6-1607-F19D-887A-DCE2E28C7F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9376B893-836F-8896-7940-C63475437717}"/>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DE57C437-9685-8EE1-79A0-02B9A44EED5E}"/>
              </a:ext>
            </a:extLst>
          </p:cNvPr>
          <p:cNvSpPr>
            <a:spLocks noGrp="1"/>
          </p:cNvSpPr>
          <p:nvPr>
            <p:ph type="sldNum" sz="quarter" idx="12"/>
          </p:nvPr>
        </p:nvSpPr>
        <p:spPr/>
        <p:txBody>
          <a:bodyPr/>
          <a:lstStyle/>
          <a:p>
            <a:fld id="{DC6309F4-03C8-4D48-A124-A9AD6E083FAC}" type="slidenum">
              <a:rPr lang="en-US" smtClean="0"/>
              <a:t>23</a:t>
            </a:fld>
            <a:endParaRPr lang="en-US" dirty="0"/>
          </a:p>
        </p:txBody>
      </p:sp>
      <p:sp>
        <p:nvSpPr>
          <p:cNvPr id="4" name="Title 1">
            <a:extLst>
              <a:ext uri="{FF2B5EF4-FFF2-40B4-BE49-F238E27FC236}">
                <a16:creationId xmlns:a16="http://schemas.microsoft.com/office/drawing/2014/main" id="{ADC4F764-9057-F5DA-1F9C-3CE97500E8FE}"/>
              </a:ext>
            </a:extLst>
          </p:cNvPr>
          <p:cNvSpPr txBox="1">
            <a:spLocks/>
          </p:cNvSpPr>
          <p:nvPr/>
        </p:nvSpPr>
        <p:spPr>
          <a:xfrm>
            <a:off x="49582" y="0"/>
            <a:ext cx="9051235" cy="111259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Leadership qualities we practiced</a:t>
            </a:r>
          </a:p>
        </p:txBody>
      </p:sp>
      <p:grpSp>
        <p:nvGrpSpPr>
          <p:cNvPr id="2" name="Group 1">
            <a:extLst>
              <a:ext uri="{FF2B5EF4-FFF2-40B4-BE49-F238E27FC236}">
                <a16:creationId xmlns:a16="http://schemas.microsoft.com/office/drawing/2014/main" id="{B3957174-B183-1B37-D415-21F801E560FE}"/>
              </a:ext>
            </a:extLst>
          </p:cNvPr>
          <p:cNvGrpSpPr/>
          <p:nvPr/>
        </p:nvGrpSpPr>
        <p:grpSpPr>
          <a:xfrm>
            <a:off x="490115" y="2052503"/>
            <a:ext cx="7088432" cy="1295049"/>
            <a:chOff x="1249262" y="2926161"/>
            <a:chExt cx="4622466" cy="888586"/>
          </a:xfrm>
        </p:grpSpPr>
        <p:grpSp>
          <p:nvGrpSpPr>
            <p:cNvPr id="3" name="Group 2">
              <a:extLst>
                <a:ext uri="{FF2B5EF4-FFF2-40B4-BE49-F238E27FC236}">
                  <a16:creationId xmlns:a16="http://schemas.microsoft.com/office/drawing/2014/main" id="{B14317E3-814D-BEC5-6F5F-32830A6B5817}"/>
                </a:ext>
              </a:extLst>
            </p:cNvPr>
            <p:cNvGrpSpPr/>
            <p:nvPr/>
          </p:nvGrpSpPr>
          <p:grpSpPr>
            <a:xfrm>
              <a:off x="5040033" y="2931787"/>
              <a:ext cx="831695" cy="875891"/>
              <a:chOff x="9256513" y="1773566"/>
              <a:chExt cx="1646013" cy="1666134"/>
            </a:xfrm>
          </p:grpSpPr>
          <p:sp>
            <p:nvSpPr>
              <p:cNvPr id="17" name="Oval 16">
                <a:extLst>
                  <a:ext uri="{FF2B5EF4-FFF2-40B4-BE49-F238E27FC236}">
                    <a16:creationId xmlns:a16="http://schemas.microsoft.com/office/drawing/2014/main" id="{92F36A9B-1A80-A686-28A1-470035A83A5C}"/>
                  </a:ext>
                </a:extLst>
              </p:cNvPr>
              <p:cNvSpPr/>
              <p:nvPr/>
            </p:nvSpPr>
            <p:spPr>
              <a:xfrm>
                <a:off x="9256514" y="1773566"/>
                <a:ext cx="1646012"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descr="Checkbox Ticked with solid fill">
                <a:extLst>
                  <a:ext uri="{FF2B5EF4-FFF2-40B4-BE49-F238E27FC236}">
                    <a16:creationId xmlns:a16="http://schemas.microsoft.com/office/drawing/2014/main" id="{FCA405DF-3591-C8B5-AF9A-9CC3D015AEE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56513" y="1787012"/>
                <a:ext cx="1641987" cy="1641987"/>
              </a:xfrm>
              <a:prstGeom prst="rect">
                <a:avLst/>
              </a:prstGeom>
            </p:spPr>
          </p:pic>
        </p:grpSp>
        <p:grpSp>
          <p:nvGrpSpPr>
            <p:cNvPr id="5" name="Group 4">
              <a:extLst>
                <a:ext uri="{FF2B5EF4-FFF2-40B4-BE49-F238E27FC236}">
                  <a16:creationId xmlns:a16="http://schemas.microsoft.com/office/drawing/2014/main" id="{A424DED7-CD14-2D0B-948F-DAC4AB7F762B}"/>
                </a:ext>
              </a:extLst>
            </p:cNvPr>
            <p:cNvGrpSpPr/>
            <p:nvPr/>
          </p:nvGrpSpPr>
          <p:grpSpPr>
            <a:xfrm>
              <a:off x="4097822" y="2931787"/>
              <a:ext cx="831696" cy="875891"/>
              <a:chOff x="6606024" y="1721448"/>
              <a:chExt cx="1641987" cy="1666134"/>
            </a:xfrm>
          </p:grpSpPr>
          <p:sp>
            <p:nvSpPr>
              <p:cNvPr id="15" name="Oval 14">
                <a:extLst>
                  <a:ext uri="{FF2B5EF4-FFF2-40B4-BE49-F238E27FC236}">
                    <a16:creationId xmlns:a16="http://schemas.microsoft.com/office/drawing/2014/main" id="{4FB9848B-4576-C4DA-6E4D-4987C39578E2}"/>
                  </a:ext>
                </a:extLst>
              </p:cNvPr>
              <p:cNvSpPr/>
              <p:nvPr/>
            </p:nvSpPr>
            <p:spPr>
              <a:xfrm>
                <a:off x="6606024" y="1721448"/>
                <a:ext cx="1641987"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Graphic 15" descr="Clapper board with solid fill">
                <a:extLst>
                  <a:ext uri="{FF2B5EF4-FFF2-40B4-BE49-F238E27FC236}">
                    <a16:creationId xmlns:a16="http://schemas.microsoft.com/office/drawing/2014/main" id="{5C981657-F045-AEC3-8935-BB36D976005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24209" y="1910345"/>
                <a:ext cx="1151526" cy="1151526"/>
              </a:xfrm>
              <a:prstGeom prst="rect">
                <a:avLst/>
              </a:prstGeom>
            </p:spPr>
          </p:pic>
        </p:grpSp>
        <p:grpSp>
          <p:nvGrpSpPr>
            <p:cNvPr id="6" name="Group 5">
              <a:extLst>
                <a:ext uri="{FF2B5EF4-FFF2-40B4-BE49-F238E27FC236}">
                  <a16:creationId xmlns:a16="http://schemas.microsoft.com/office/drawing/2014/main" id="{40B5D609-3622-74FC-4BF1-39CFE16E48CA}"/>
                </a:ext>
              </a:extLst>
            </p:cNvPr>
            <p:cNvGrpSpPr/>
            <p:nvPr/>
          </p:nvGrpSpPr>
          <p:grpSpPr>
            <a:xfrm>
              <a:off x="3155610" y="2926162"/>
              <a:ext cx="831696" cy="875891"/>
              <a:chOff x="4435504" y="1964618"/>
              <a:chExt cx="1641987" cy="1614426"/>
            </a:xfrm>
          </p:grpSpPr>
          <p:sp>
            <p:nvSpPr>
              <p:cNvPr id="13" name="Oval 12">
                <a:extLst>
                  <a:ext uri="{FF2B5EF4-FFF2-40B4-BE49-F238E27FC236}">
                    <a16:creationId xmlns:a16="http://schemas.microsoft.com/office/drawing/2014/main" id="{FD3EBB9D-2C4F-A2C6-EAD3-CBFCEEB6F26D}"/>
                  </a:ext>
                </a:extLst>
              </p:cNvPr>
              <p:cNvSpPr/>
              <p:nvPr/>
            </p:nvSpPr>
            <p:spPr>
              <a:xfrm>
                <a:off x="4435504" y="1964618"/>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descr="User with solid fill">
                <a:extLst>
                  <a:ext uri="{FF2B5EF4-FFF2-40B4-BE49-F238E27FC236}">
                    <a16:creationId xmlns:a16="http://schemas.microsoft.com/office/drawing/2014/main" id="{E08CE4BD-CED2-4A39-BBE0-9DA609A9C2B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45029" y="2134541"/>
                <a:ext cx="1196343" cy="1196343"/>
              </a:xfrm>
              <a:prstGeom prst="rect">
                <a:avLst/>
              </a:prstGeom>
            </p:spPr>
          </p:pic>
        </p:grpSp>
        <p:grpSp>
          <p:nvGrpSpPr>
            <p:cNvPr id="7" name="Group 6">
              <a:extLst>
                <a:ext uri="{FF2B5EF4-FFF2-40B4-BE49-F238E27FC236}">
                  <a16:creationId xmlns:a16="http://schemas.microsoft.com/office/drawing/2014/main" id="{70C76E52-A637-CE59-A846-B71BC205F6D7}"/>
                </a:ext>
              </a:extLst>
            </p:cNvPr>
            <p:cNvGrpSpPr/>
            <p:nvPr/>
          </p:nvGrpSpPr>
          <p:grpSpPr>
            <a:xfrm>
              <a:off x="1249262" y="2938856"/>
              <a:ext cx="844494" cy="875891"/>
              <a:chOff x="316947" y="2007971"/>
              <a:chExt cx="1641987" cy="1614426"/>
            </a:xfrm>
          </p:grpSpPr>
          <p:sp>
            <p:nvSpPr>
              <p:cNvPr id="11" name="Oval 10">
                <a:extLst>
                  <a:ext uri="{FF2B5EF4-FFF2-40B4-BE49-F238E27FC236}">
                    <a16:creationId xmlns:a16="http://schemas.microsoft.com/office/drawing/2014/main" id="{E8ACCE16-191D-8985-39E5-FA05BE3A7271}"/>
                  </a:ext>
                </a:extLst>
              </p:cNvPr>
              <p:cNvSpPr/>
              <p:nvPr/>
            </p:nvSpPr>
            <p:spPr>
              <a:xfrm>
                <a:off x="316947" y="200797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descr="Magnifying glass with solid fill">
                <a:extLst>
                  <a:ext uri="{FF2B5EF4-FFF2-40B4-BE49-F238E27FC236}">
                    <a16:creationId xmlns:a16="http://schemas.microsoft.com/office/drawing/2014/main" id="{4DD58A31-2338-6EFD-4D94-8598E0AC264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7761" y="2261216"/>
                <a:ext cx="1080886" cy="1080886"/>
              </a:xfrm>
              <a:prstGeom prst="rect">
                <a:avLst/>
              </a:prstGeom>
            </p:spPr>
          </p:pic>
        </p:grpSp>
        <p:grpSp>
          <p:nvGrpSpPr>
            <p:cNvPr id="8" name="Group 7">
              <a:extLst>
                <a:ext uri="{FF2B5EF4-FFF2-40B4-BE49-F238E27FC236}">
                  <a16:creationId xmlns:a16="http://schemas.microsoft.com/office/drawing/2014/main" id="{19AEA2A6-3EE5-9070-195F-AC9571B1E978}"/>
                </a:ext>
              </a:extLst>
            </p:cNvPr>
            <p:cNvGrpSpPr/>
            <p:nvPr/>
          </p:nvGrpSpPr>
          <p:grpSpPr>
            <a:xfrm>
              <a:off x="2204272" y="2926161"/>
              <a:ext cx="831696" cy="875891"/>
              <a:chOff x="2627760" y="2015531"/>
              <a:chExt cx="1641987" cy="1614426"/>
            </a:xfrm>
          </p:grpSpPr>
          <p:sp>
            <p:nvSpPr>
              <p:cNvPr id="9" name="Oval 8">
                <a:extLst>
                  <a:ext uri="{FF2B5EF4-FFF2-40B4-BE49-F238E27FC236}">
                    <a16:creationId xmlns:a16="http://schemas.microsoft.com/office/drawing/2014/main" id="{13773C64-21A6-DB77-E187-5CF0D28ACE1D}"/>
                  </a:ext>
                </a:extLst>
              </p:cNvPr>
              <p:cNvSpPr/>
              <p:nvPr/>
            </p:nvSpPr>
            <p:spPr>
              <a:xfrm>
                <a:off x="2627760" y="201553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descr="Thumbs up sign with solid fill">
                <a:extLst>
                  <a:ext uri="{FF2B5EF4-FFF2-40B4-BE49-F238E27FC236}">
                    <a16:creationId xmlns:a16="http://schemas.microsoft.com/office/drawing/2014/main" id="{0B22E1EA-78D9-0A60-7079-BAAB52FB59D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949859" y="2357984"/>
                <a:ext cx="914400" cy="914400"/>
              </a:xfrm>
              <a:prstGeom prst="rect">
                <a:avLst/>
              </a:prstGeom>
            </p:spPr>
          </p:pic>
        </p:grpSp>
      </p:grpSp>
      <p:sp>
        <p:nvSpPr>
          <p:cNvPr id="21" name="TextBox 20">
            <a:extLst>
              <a:ext uri="{FF2B5EF4-FFF2-40B4-BE49-F238E27FC236}">
                <a16:creationId xmlns:a16="http://schemas.microsoft.com/office/drawing/2014/main" id="{9B027819-80FE-41B6-168F-4E63DBBC8CAF}"/>
              </a:ext>
            </a:extLst>
          </p:cNvPr>
          <p:cNvSpPr txBox="1"/>
          <p:nvPr/>
        </p:nvSpPr>
        <p:spPr>
          <a:xfrm>
            <a:off x="165640" y="1034798"/>
            <a:ext cx="10445039" cy="461665"/>
          </a:xfrm>
          <a:prstGeom prst="rect">
            <a:avLst/>
          </a:prstGeom>
          <a:noFill/>
        </p:spPr>
        <p:txBody>
          <a:bodyPr wrap="none" rtlCol="0">
            <a:spAutoFit/>
          </a:bodyPr>
          <a:lstStyle/>
          <a:p>
            <a:r>
              <a:rPr lang="en-US" sz="2400" dirty="0"/>
              <a:t>Using the 5A framework we worked on our collaborative problem-solving skills!</a:t>
            </a:r>
            <a:endParaRPr lang="en-US" sz="2400" b="1" dirty="0"/>
          </a:p>
        </p:txBody>
      </p:sp>
      <p:sp>
        <p:nvSpPr>
          <p:cNvPr id="23" name="TextBox 22">
            <a:extLst>
              <a:ext uri="{FF2B5EF4-FFF2-40B4-BE49-F238E27FC236}">
                <a16:creationId xmlns:a16="http://schemas.microsoft.com/office/drawing/2014/main" id="{3439EAD2-6EE7-6FBC-9D44-B3F991AD0CF5}"/>
              </a:ext>
            </a:extLst>
          </p:cNvPr>
          <p:cNvSpPr txBox="1"/>
          <p:nvPr/>
        </p:nvSpPr>
        <p:spPr>
          <a:xfrm>
            <a:off x="4128742" y="5300029"/>
            <a:ext cx="1305935" cy="830997"/>
          </a:xfrm>
          <a:prstGeom prst="rect">
            <a:avLst/>
          </a:prstGeom>
          <a:noFill/>
        </p:spPr>
        <p:txBody>
          <a:bodyPr wrap="none" rtlCol="0">
            <a:spAutoFit/>
          </a:bodyPr>
          <a:lstStyle/>
          <a:p>
            <a:r>
              <a:rPr lang="en-US" sz="2400" dirty="0"/>
              <a:t>Problem</a:t>
            </a:r>
          </a:p>
          <a:p>
            <a:r>
              <a:rPr lang="en-US" sz="2400" dirty="0"/>
              <a:t> solving</a:t>
            </a:r>
          </a:p>
        </p:txBody>
      </p:sp>
      <p:pic>
        <p:nvPicPr>
          <p:cNvPr id="24" name="Graphic 23" descr="Puzzle pieces with solid fill">
            <a:extLst>
              <a:ext uri="{FF2B5EF4-FFF2-40B4-BE49-F238E27FC236}">
                <a16:creationId xmlns:a16="http://schemas.microsoft.com/office/drawing/2014/main" id="{991EA5C1-AC39-672E-EEF5-71E81FECF2F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300993" y="4385629"/>
            <a:ext cx="914400" cy="914400"/>
          </a:xfrm>
          <a:prstGeom prst="rect">
            <a:avLst/>
          </a:prstGeom>
        </p:spPr>
      </p:pic>
      <p:sp>
        <p:nvSpPr>
          <p:cNvPr id="30" name="TextBox 29">
            <a:extLst>
              <a:ext uri="{FF2B5EF4-FFF2-40B4-BE49-F238E27FC236}">
                <a16:creationId xmlns:a16="http://schemas.microsoft.com/office/drawing/2014/main" id="{57BEE4C5-D538-9F53-A318-B8B5C89F0D88}"/>
              </a:ext>
            </a:extLst>
          </p:cNvPr>
          <p:cNvSpPr txBox="1"/>
          <p:nvPr/>
        </p:nvSpPr>
        <p:spPr>
          <a:xfrm>
            <a:off x="5608677" y="5317212"/>
            <a:ext cx="2001830" cy="461665"/>
          </a:xfrm>
          <a:prstGeom prst="rect">
            <a:avLst/>
          </a:prstGeom>
          <a:noFill/>
        </p:spPr>
        <p:txBody>
          <a:bodyPr wrap="none" rtlCol="0">
            <a:spAutoFit/>
          </a:bodyPr>
          <a:lstStyle/>
          <a:p>
            <a:r>
              <a:rPr lang="en-US" sz="2400" dirty="0"/>
              <a:t>Collaboration</a:t>
            </a:r>
          </a:p>
        </p:txBody>
      </p:sp>
      <p:pic>
        <p:nvPicPr>
          <p:cNvPr id="31" name="Graphic 30" descr="Cheers with solid fill">
            <a:extLst>
              <a:ext uri="{FF2B5EF4-FFF2-40B4-BE49-F238E27FC236}">
                <a16:creationId xmlns:a16="http://schemas.microsoft.com/office/drawing/2014/main" id="{ABE695F4-C912-4231-2839-E8CE7D2E8D3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877606" y="4438728"/>
            <a:ext cx="914400" cy="914400"/>
          </a:xfrm>
          <a:prstGeom prst="rect">
            <a:avLst/>
          </a:prstGeom>
        </p:spPr>
      </p:pic>
      <p:sp>
        <p:nvSpPr>
          <p:cNvPr id="33" name="TextBox 32">
            <a:extLst>
              <a:ext uri="{FF2B5EF4-FFF2-40B4-BE49-F238E27FC236}">
                <a16:creationId xmlns:a16="http://schemas.microsoft.com/office/drawing/2014/main" id="{AB6DB17F-4852-4781-04E5-CD191A4C36CE}"/>
              </a:ext>
            </a:extLst>
          </p:cNvPr>
          <p:cNvSpPr txBox="1"/>
          <p:nvPr/>
        </p:nvSpPr>
        <p:spPr>
          <a:xfrm>
            <a:off x="590135" y="3364251"/>
            <a:ext cx="1276568" cy="369332"/>
          </a:xfrm>
          <a:prstGeom prst="rect">
            <a:avLst/>
          </a:prstGeom>
          <a:noFill/>
        </p:spPr>
        <p:txBody>
          <a:bodyPr wrap="none" rtlCol="0">
            <a:spAutoFit/>
          </a:bodyPr>
          <a:lstStyle/>
          <a:p>
            <a:r>
              <a:rPr lang="en-US" dirty="0"/>
              <a:t>Awareness</a:t>
            </a:r>
          </a:p>
        </p:txBody>
      </p:sp>
      <p:sp>
        <p:nvSpPr>
          <p:cNvPr id="34" name="TextBox 33">
            <a:extLst>
              <a:ext uri="{FF2B5EF4-FFF2-40B4-BE49-F238E27FC236}">
                <a16:creationId xmlns:a16="http://schemas.microsoft.com/office/drawing/2014/main" id="{D7705CEA-B07C-FA61-AFBF-813658370A01}"/>
              </a:ext>
            </a:extLst>
          </p:cNvPr>
          <p:cNvSpPr txBox="1"/>
          <p:nvPr/>
        </p:nvSpPr>
        <p:spPr>
          <a:xfrm>
            <a:off x="1889918" y="3385640"/>
            <a:ext cx="1516056" cy="369332"/>
          </a:xfrm>
          <a:prstGeom prst="rect">
            <a:avLst/>
          </a:prstGeom>
          <a:noFill/>
        </p:spPr>
        <p:txBody>
          <a:bodyPr wrap="none" rtlCol="0">
            <a:spAutoFit/>
          </a:bodyPr>
          <a:lstStyle/>
          <a:p>
            <a:r>
              <a:rPr lang="en-US" dirty="0"/>
              <a:t>Acknowledge</a:t>
            </a:r>
          </a:p>
        </p:txBody>
      </p:sp>
      <p:sp>
        <p:nvSpPr>
          <p:cNvPr id="35" name="TextBox 34">
            <a:extLst>
              <a:ext uri="{FF2B5EF4-FFF2-40B4-BE49-F238E27FC236}">
                <a16:creationId xmlns:a16="http://schemas.microsoft.com/office/drawing/2014/main" id="{0174878D-C35B-07D3-DA0E-5800E8760F2D}"/>
              </a:ext>
            </a:extLst>
          </p:cNvPr>
          <p:cNvSpPr txBox="1"/>
          <p:nvPr/>
        </p:nvSpPr>
        <p:spPr>
          <a:xfrm>
            <a:off x="3576195" y="3385640"/>
            <a:ext cx="909801" cy="369332"/>
          </a:xfrm>
          <a:prstGeom prst="rect">
            <a:avLst/>
          </a:prstGeom>
          <a:noFill/>
        </p:spPr>
        <p:txBody>
          <a:bodyPr wrap="none" rtlCol="0">
            <a:spAutoFit/>
          </a:bodyPr>
          <a:lstStyle/>
          <a:p>
            <a:r>
              <a:rPr lang="en-US" dirty="0"/>
              <a:t>Agency</a:t>
            </a:r>
          </a:p>
        </p:txBody>
      </p:sp>
      <p:sp>
        <p:nvSpPr>
          <p:cNvPr id="36" name="TextBox 35">
            <a:extLst>
              <a:ext uri="{FF2B5EF4-FFF2-40B4-BE49-F238E27FC236}">
                <a16:creationId xmlns:a16="http://schemas.microsoft.com/office/drawing/2014/main" id="{D7477351-0DCD-6964-90D6-C9926F0D18E0}"/>
              </a:ext>
            </a:extLst>
          </p:cNvPr>
          <p:cNvSpPr txBox="1"/>
          <p:nvPr/>
        </p:nvSpPr>
        <p:spPr>
          <a:xfrm>
            <a:off x="5104957" y="3425088"/>
            <a:ext cx="825867" cy="369332"/>
          </a:xfrm>
          <a:prstGeom prst="rect">
            <a:avLst/>
          </a:prstGeom>
          <a:noFill/>
        </p:spPr>
        <p:txBody>
          <a:bodyPr wrap="none" rtlCol="0">
            <a:spAutoFit/>
          </a:bodyPr>
          <a:lstStyle/>
          <a:p>
            <a:r>
              <a:rPr lang="en-US" dirty="0"/>
              <a:t>Action</a:t>
            </a:r>
          </a:p>
        </p:txBody>
      </p:sp>
      <p:sp>
        <p:nvSpPr>
          <p:cNvPr id="37" name="TextBox 36">
            <a:extLst>
              <a:ext uri="{FF2B5EF4-FFF2-40B4-BE49-F238E27FC236}">
                <a16:creationId xmlns:a16="http://schemas.microsoft.com/office/drawing/2014/main" id="{83581487-2838-A049-F487-81CD046CD8FB}"/>
              </a:ext>
            </a:extLst>
          </p:cNvPr>
          <p:cNvSpPr txBox="1"/>
          <p:nvPr/>
        </p:nvSpPr>
        <p:spPr>
          <a:xfrm>
            <a:off x="6491930" y="3395362"/>
            <a:ext cx="894732" cy="369332"/>
          </a:xfrm>
          <a:prstGeom prst="rect">
            <a:avLst/>
          </a:prstGeom>
          <a:noFill/>
        </p:spPr>
        <p:txBody>
          <a:bodyPr wrap="none" rtlCol="0">
            <a:spAutoFit/>
          </a:bodyPr>
          <a:lstStyle/>
          <a:p>
            <a:r>
              <a:rPr lang="en-US" dirty="0"/>
              <a:t>Assess</a:t>
            </a:r>
          </a:p>
        </p:txBody>
      </p:sp>
      <p:sp>
        <p:nvSpPr>
          <p:cNvPr id="28" name="Left Brace 27">
            <a:extLst>
              <a:ext uri="{FF2B5EF4-FFF2-40B4-BE49-F238E27FC236}">
                <a16:creationId xmlns:a16="http://schemas.microsoft.com/office/drawing/2014/main" id="{F1C410F9-D436-A104-09D7-B9CE89B034CD}"/>
              </a:ext>
            </a:extLst>
          </p:cNvPr>
          <p:cNvSpPr/>
          <p:nvPr/>
        </p:nvSpPr>
        <p:spPr>
          <a:xfrm rot="16200000">
            <a:off x="5274178" y="3586195"/>
            <a:ext cx="430200" cy="1060787"/>
          </a:xfrm>
          <a:prstGeom prst="leftBrace">
            <a:avLst>
              <a:gd name="adj1" fmla="val 15293"/>
              <a:gd name="adj2" fmla="val 51256"/>
            </a:avLst>
          </a:prstGeom>
          <a:ln w="85725">
            <a:solidFill>
              <a:schemeClr val="bg2">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9" name="Graphic 28" descr="Arrow: Slight curve with solid fill">
            <a:extLst>
              <a:ext uri="{FF2B5EF4-FFF2-40B4-BE49-F238E27FC236}">
                <a16:creationId xmlns:a16="http://schemas.microsoft.com/office/drawing/2014/main" id="{A50F7AE6-03AF-98C9-2BDD-5EA109093B2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rot="1442683">
            <a:off x="7317641" y="2843514"/>
            <a:ext cx="2126525" cy="1712937"/>
          </a:xfrm>
          <a:prstGeom prst="rect">
            <a:avLst/>
          </a:prstGeom>
        </p:spPr>
      </p:pic>
      <p:sp>
        <p:nvSpPr>
          <p:cNvPr id="38" name="TextBox 37">
            <a:extLst>
              <a:ext uri="{FF2B5EF4-FFF2-40B4-BE49-F238E27FC236}">
                <a16:creationId xmlns:a16="http://schemas.microsoft.com/office/drawing/2014/main" id="{0D419443-C58F-3053-BB5D-6A4801D7647D}"/>
              </a:ext>
            </a:extLst>
          </p:cNvPr>
          <p:cNvSpPr txBox="1"/>
          <p:nvPr/>
        </p:nvSpPr>
        <p:spPr>
          <a:xfrm>
            <a:off x="9349183" y="3764694"/>
            <a:ext cx="2299478" cy="830997"/>
          </a:xfrm>
          <a:prstGeom prst="rect">
            <a:avLst/>
          </a:prstGeom>
          <a:noFill/>
        </p:spPr>
        <p:txBody>
          <a:bodyPr wrap="square" rtlCol="0">
            <a:spAutoFit/>
          </a:bodyPr>
          <a:lstStyle/>
          <a:p>
            <a:r>
              <a:rPr lang="en-US" sz="2400" dirty="0"/>
              <a:t>See workbook for resources!</a:t>
            </a:r>
          </a:p>
        </p:txBody>
      </p:sp>
    </p:spTree>
    <p:extLst>
      <p:ext uri="{BB962C8B-B14F-4D97-AF65-F5344CB8AC3E}">
        <p14:creationId xmlns:p14="http://schemas.microsoft.com/office/powerpoint/2010/main" val="3796962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6B728-4F5E-4188-40F4-8D77AEF9A6B1}"/>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48555911-2015-014F-F5CB-9CCB874527EE}"/>
              </a:ext>
            </a:extLst>
          </p:cNvPr>
          <p:cNvGrpSpPr/>
          <p:nvPr/>
        </p:nvGrpSpPr>
        <p:grpSpPr>
          <a:xfrm>
            <a:off x="10704849" y="6564312"/>
            <a:ext cx="1362075" cy="273690"/>
            <a:chOff x="19317" y="2690018"/>
            <a:chExt cx="11784755" cy="2025180"/>
          </a:xfrm>
        </p:grpSpPr>
        <p:pic>
          <p:nvPicPr>
            <p:cNvPr id="14" name="Picture 13">
              <a:extLst>
                <a:ext uri="{FF2B5EF4-FFF2-40B4-BE49-F238E27FC236}">
                  <a16:creationId xmlns:a16="http://schemas.microsoft.com/office/drawing/2014/main" id="{DC1F6F7D-B647-6A1E-C62B-C9898A9C4E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0F406E41-2D84-8D27-1201-663F30CA485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D65E8F41-AE3D-33CD-0DAB-5D053550F5B8}"/>
              </a:ext>
            </a:extLst>
          </p:cNvPr>
          <p:cNvSpPr>
            <a:spLocks noGrp="1"/>
          </p:cNvSpPr>
          <p:nvPr>
            <p:ph type="title"/>
          </p:nvPr>
        </p:nvSpPr>
        <p:spPr>
          <a:xfrm>
            <a:off x="0" y="-3059"/>
            <a:ext cx="12192000" cy="1025036"/>
          </a:xfrm>
        </p:spPr>
        <p:txBody>
          <a:bodyPr>
            <a:normAutofit/>
          </a:bodyPr>
          <a:lstStyle/>
          <a:p>
            <a:r>
              <a:rPr lang="en-US" b="1" dirty="0"/>
              <a:t>Final summary and questions</a:t>
            </a:r>
          </a:p>
        </p:txBody>
      </p:sp>
      <p:sp>
        <p:nvSpPr>
          <p:cNvPr id="4" name="Slide Number Placeholder 3">
            <a:extLst>
              <a:ext uri="{FF2B5EF4-FFF2-40B4-BE49-F238E27FC236}">
                <a16:creationId xmlns:a16="http://schemas.microsoft.com/office/drawing/2014/main" id="{25B5B55E-1A01-46EF-0F26-1CEBF4591F7F}"/>
              </a:ext>
            </a:extLst>
          </p:cNvPr>
          <p:cNvSpPr>
            <a:spLocks noGrp="1"/>
          </p:cNvSpPr>
          <p:nvPr>
            <p:ph type="sldNum" sz="quarter" idx="12"/>
          </p:nvPr>
        </p:nvSpPr>
        <p:spPr/>
        <p:txBody>
          <a:bodyPr/>
          <a:lstStyle/>
          <a:p>
            <a:fld id="{01E105D4-D357-B14D-804D-1EE3D58285EA}" type="slidenum">
              <a:rPr lang="en-US" smtClean="0"/>
              <a:t>24</a:t>
            </a:fld>
            <a:endParaRPr lang="en-US" dirty="0"/>
          </a:p>
        </p:txBody>
      </p:sp>
      <p:pic>
        <p:nvPicPr>
          <p:cNvPr id="5" name="Graphic 4" descr="Closed book with solid fill">
            <a:extLst>
              <a:ext uri="{FF2B5EF4-FFF2-40B4-BE49-F238E27FC236}">
                <a16:creationId xmlns:a16="http://schemas.microsoft.com/office/drawing/2014/main" id="{55D649FD-0639-7695-956C-83A1DA67348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83957" y="1152684"/>
            <a:ext cx="1309486" cy="1309486"/>
          </a:xfrm>
          <a:prstGeom prst="rect">
            <a:avLst/>
          </a:prstGeom>
        </p:spPr>
      </p:pic>
      <p:grpSp>
        <p:nvGrpSpPr>
          <p:cNvPr id="6" name="Group 5">
            <a:extLst>
              <a:ext uri="{FF2B5EF4-FFF2-40B4-BE49-F238E27FC236}">
                <a16:creationId xmlns:a16="http://schemas.microsoft.com/office/drawing/2014/main" id="{C4E1CFA4-CA85-C3DF-5748-5D24136210E2}"/>
              </a:ext>
            </a:extLst>
          </p:cNvPr>
          <p:cNvGrpSpPr/>
          <p:nvPr/>
        </p:nvGrpSpPr>
        <p:grpSpPr>
          <a:xfrm>
            <a:off x="186614" y="1152684"/>
            <a:ext cx="1309486" cy="1309486"/>
            <a:chOff x="6606024" y="1721448"/>
            <a:chExt cx="1641987" cy="1666134"/>
          </a:xfrm>
        </p:grpSpPr>
        <p:sp>
          <p:nvSpPr>
            <p:cNvPr id="16" name="Oval 15">
              <a:extLst>
                <a:ext uri="{FF2B5EF4-FFF2-40B4-BE49-F238E27FC236}">
                  <a16:creationId xmlns:a16="http://schemas.microsoft.com/office/drawing/2014/main" id="{3D15D3D4-1287-3D3E-DC8B-03088000359C}"/>
                </a:ext>
              </a:extLst>
            </p:cNvPr>
            <p:cNvSpPr/>
            <p:nvPr/>
          </p:nvSpPr>
          <p:spPr>
            <a:xfrm>
              <a:off x="6606024" y="1721448"/>
              <a:ext cx="1641987"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descr="Clapper board with solid fill">
              <a:extLst>
                <a:ext uri="{FF2B5EF4-FFF2-40B4-BE49-F238E27FC236}">
                  <a16:creationId xmlns:a16="http://schemas.microsoft.com/office/drawing/2014/main" id="{A567D80F-99C6-0030-9343-A21A132B82B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24209" y="1910345"/>
              <a:ext cx="1151526" cy="1151526"/>
            </a:xfrm>
            <a:prstGeom prst="rect">
              <a:avLst/>
            </a:prstGeom>
          </p:spPr>
        </p:pic>
      </p:grpSp>
      <p:sp>
        <p:nvSpPr>
          <p:cNvPr id="19" name="TextBox 18">
            <a:extLst>
              <a:ext uri="{FF2B5EF4-FFF2-40B4-BE49-F238E27FC236}">
                <a16:creationId xmlns:a16="http://schemas.microsoft.com/office/drawing/2014/main" id="{D4E71112-50A7-41E7-8C0A-0634E250932B}"/>
              </a:ext>
            </a:extLst>
          </p:cNvPr>
          <p:cNvSpPr txBox="1"/>
          <p:nvPr/>
        </p:nvSpPr>
        <p:spPr>
          <a:xfrm>
            <a:off x="1614174" y="1388157"/>
            <a:ext cx="5187778" cy="4524315"/>
          </a:xfrm>
          <a:prstGeom prst="rect">
            <a:avLst/>
          </a:prstGeom>
          <a:noFill/>
        </p:spPr>
        <p:txBody>
          <a:bodyPr wrap="square">
            <a:spAutoFit/>
          </a:bodyPr>
          <a:lstStyle/>
          <a:p>
            <a:r>
              <a:rPr lang="en-US" sz="2400" dirty="0"/>
              <a:t>There is no one way to take </a:t>
            </a:r>
            <a:r>
              <a:rPr lang="en-US" sz="2400" b="1" dirty="0"/>
              <a:t>action</a:t>
            </a:r>
            <a:r>
              <a:rPr lang="en-US" sz="2400" dirty="0"/>
              <a:t> to address challenges. </a:t>
            </a:r>
          </a:p>
          <a:p>
            <a:endParaRPr lang="en-US" sz="2400" dirty="0"/>
          </a:p>
          <a:p>
            <a:r>
              <a:rPr lang="en-US" sz="2400" b="1" dirty="0"/>
              <a:t>Approaches </a:t>
            </a:r>
            <a:r>
              <a:rPr lang="en-US" sz="2400" dirty="0"/>
              <a:t>consider:</a:t>
            </a:r>
          </a:p>
          <a:p>
            <a:pPr marL="342900" indent="-342900">
              <a:buFont typeface="Arial" panose="020B0604020202020204" pitchFamily="34" charset="0"/>
              <a:buChar char="•"/>
            </a:pPr>
            <a:r>
              <a:rPr lang="en-US" sz="2400" b="1" dirty="0"/>
              <a:t>Context </a:t>
            </a:r>
            <a:r>
              <a:rPr lang="en-US" sz="2400" dirty="0"/>
              <a:t>(scale and domain of challenges, </a:t>
            </a:r>
            <a:r>
              <a:rPr lang="en-US" sz="2400" b="1" dirty="0"/>
              <a:t>types </a:t>
            </a:r>
            <a:r>
              <a:rPr lang="en-US" sz="2400" dirty="0"/>
              <a:t>of</a:t>
            </a:r>
            <a:r>
              <a:rPr lang="en-US" sz="2400" b="1" dirty="0"/>
              <a:t> values, motivations </a:t>
            </a:r>
            <a:r>
              <a:rPr lang="en-US" sz="2400" dirty="0"/>
              <a:t>of </a:t>
            </a:r>
            <a:r>
              <a:rPr lang="en-US" sz="2400" b="1" dirty="0"/>
              <a:t>self </a:t>
            </a:r>
            <a:r>
              <a:rPr lang="en-US" sz="2400" dirty="0"/>
              <a:t>and </a:t>
            </a:r>
            <a:r>
              <a:rPr lang="en-US" sz="2400" b="1" dirty="0"/>
              <a:t>others</a:t>
            </a:r>
            <a:r>
              <a:rPr lang="en-US" sz="2400" dirty="0"/>
              <a: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Starting </a:t>
            </a:r>
            <a:r>
              <a:rPr lang="en-US" sz="2400" dirty="0"/>
              <a:t>somewhere</a:t>
            </a:r>
            <a:r>
              <a:rPr lang="en-US" sz="2400" b="1" dirty="0"/>
              <a:t> small </a:t>
            </a:r>
            <a:r>
              <a:rPr lang="en-US" sz="2400" dirty="0"/>
              <a:t>and then building up</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Capacity</a:t>
            </a:r>
            <a:r>
              <a:rPr lang="en-US" sz="2400" dirty="0"/>
              <a:t>, </a:t>
            </a:r>
            <a:r>
              <a:rPr lang="en-US" sz="2400" b="1" dirty="0"/>
              <a:t>resources</a:t>
            </a:r>
            <a:r>
              <a:rPr lang="en-US" sz="2400" dirty="0"/>
              <a:t> and </a:t>
            </a:r>
            <a:r>
              <a:rPr lang="en-US" sz="2400" b="1" dirty="0"/>
              <a:t>equity</a:t>
            </a:r>
            <a:endParaRPr lang="en-US" dirty="0"/>
          </a:p>
        </p:txBody>
      </p:sp>
      <p:sp>
        <p:nvSpPr>
          <p:cNvPr id="20" name="TextBox 19">
            <a:extLst>
              <a:ext uri="{FF2B5EF4-FFF2-40B4-BE49-F238E27FC236}">
                <a16:creationId xmlns:a16="http://schemas.microsoft.com/office/drawing/2014/main" id="{E09AB41F-E5E5-E51D-0DD2-F2351A058CE8}"/>
              </a:ext>
            </a:extLst>
          </p:cNvPr>
          <p:cNvSpPr txBox="1"/>
          <p:nvPr/>
        </p:nvSpPr>
        <p:spPr>
          <a:xfrm>
            <a:off x="8193443" y="1301146"/>
            <a:ext cx="3838019" cy="5262979"/>
          </a:xfrm>
          <a:prstGeom prst="rect">
            <a:avLst/>
          </a:prstGeom>
          <a:noFill/>
        </p:spPr>
        <p:txBody>
          <a:bodyPr wrap="square">
            <a:spAutoFit/>
          </a:bodyPr>
          <a:lstStyle/>
          <a:p>
            <a:r>
              <a:rPr lang="en-US" sz="2400" b="1" dirty="0"/>
              <a:t>Case studies </a:t>
            </a:r>
            <a:r>
              <a:rPr lang="en-US" sz="2400" dirty="0"/>
              <a:t>are a useful active exercise by:</a:t>
            </a:r>
          </a:p>
          <a:p>
            <a:endParaRPr lang="en-US" sz="2400" dirty="0"/>
          </a:p>
          <a:p>
            <a:pPr marL="342900" indent="-342900">
              <a:buFont typeface="Arial" panose="020B0604020202020204" pitchFamily="34" charset="0"/>
              <a:buChar char="•"/>
            </a:pPr>
            <a:r>
              <a:rPr lang="en-US" sz="2400" dirty="0"/>
              <a:t>Combining </a:t>
            </a:r>
            <a:r>
              <a:rPr lang="en-US" sz="2400" b="1" dirty="0"/>
              <a:t>theory</a:t>
            </a:r>
            <a:r>
              <a:rPr lang="en-US" sz="2400" dirty="0"/>
              <a:t> and </a:t>
            </a:r>
            <a:r>
              <a:rPr lang="en-US" sz="2400" b="1" dirty="0"/>
              <a:t>practice</a:t>
            </a:r>
          </a:p>
          <a:p>
            <a:pPr marL="342900" indent="-342900">
              <a:buFont typeface="Arial" panose="020B0604020202020204" pitchFamily="34" charset="0"/>
              <a:buChar char="•"/>
            </a:pPr>
            <a:endParaRPr lang="en-US" sz="2400" b="1" dirty="0"/>
          </a:p>
          <a:p>
            <a:pPr marL="342900" indent="-342900">
              <a:buFont typeface="Arial" panose="020B0604020202020204" pitchFamily="34" charset="0"/>
              <a:buChar char="•"/>
            </a:pPr>
            <a:r>
              <a:rPr lang="en-US" sz="2400" dirty="0"/>
              <a:t>Having a </a:t>
            </a:r>
            <a:r>
              <a:rPr lang="en-US" sz="2400" b="1" dirty="0"/>
              <a:t>flexible </a:t>
            </a:r>
            <a:r>
              <a:rPr lang="en-US" sz="2400" dirty="0"/>
              <a:t>approach (</a:t>
            </a:r>
            <a:r>
              <a:rPr lang="en-US" sz="2400" b="1" dirty="0"/>
              <a:t>individual</a:t>
            </a:r>
            <a:r>
              <a:rPr lang="en-US" sz="2400" dirty="0"/>
              <a:t> or </a:t>
            </a:r>
            <a:r>
              <a:rPr lang="en-US" sz="2400" b="1" dirty="0"/>
              <a:t>group</a:t>
            </a:r>
            <a:r>
              <a:rPr lang="en-US" sz="2400" dirty="0"/>
              <a:t> discussions)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Building up </a:t>
            </a:r>
            <a:r>
              <a:rPr lang="en-US" sz="2400" b="1" dirty="0"/>
              <a:t>problem-solving skills </a:t>
            </a:r>
            <a:r>
              <a:rPr lang="en-US" sz="2400" dirty="0"/>
              <a:t>on a realistic scenario</a:t>
            </a:r>
          </a:p>
          <a:p>
            <a:endParaRPr lang="en-US" sz="2400" dirty="0"/>
          </a:p>
        </p:txBody>
      </p:sp>
      <p:sp>
        <p:nvSpPr>
          <p:cNvPr id="21" name="TextBox 20">
            <a:extLst>
              <a:ext uri="{FF2B5EF4-FFF2-40B4-BE49-F238E27FC236}">
                <a16:creationId xmlns:a16="http://schemas.microsoft.com/office/drawing/2014/main" id="{7B35980B-1549-2345-019A-FE63106D3A61}"/>
              </a:ext>
            </a:extLst>
          </p:cNvPr>
          <p:cNvSpPr txBox="1"/>
          <p:nvPr/>
        </p:nvSpPr>
        <p:spPr>
          <a:xfrm>
            <a:off x="165640" y="6254552"/>
            <a:ext cx="7977505" cy="400110"/>
          </a:xfrm>
          <a:prstGeom prst="rect">
            <a:avLst/>
          </a:prstGeom>
          <a:noFill/>
        </p:spPr>
        <p:txBody>
          <a:bodyPr wrap="none" rtlCol="0">
            <a:spAutoFit/>
          </a:bodyPr>
          <a:lstStyle/>
          <a:p>
            <a:r>
              <a:rPr lang="en-US" sz="2000" dirty="0"/>
              <a:t>As you take action, keep in mind: What would be successful outcome? </a:t>
            </a:r>
          </a:p>
        </p:txBody>
      </p:sp>
    </p:spTree>
    <p:extLst>
      <p:ext uri="{BB962C8B-B14F-4D97-AF65-F5344CB8AC3E}">
        <p14:creationId xmlns:p14="http://schemas.microsoft.com/office/powerpoint/2010/main" val="30051262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71E40-1CAD-E12D-48D5-A2AA39DFEBA3}"/>
              </a:ext>
            </a:extLst>
          </p:cNvPr>
          <p:cNvSpPr>
            <a:spLocks noGrp="1"/>
          </p:cNvSpPr>
          <p:nvPr>
            <p:ph type="title"/>
          </p:nvPr>
        </p:nvSpPr>
        <p:spPr>
          <a:xfrm>
            <a:off x="0" y="0"/>
            <a:ext cx="12192000" cy="1325563"/>
          </a:xfrm>
        </p:spPr>
        <p:txBody>
          <a:bodyPr/>
          <a:lstStyle/>
          <a:p>
            <a:r>
              <a:rPr lang="en-US" b="1" dirty="0"/>
              <a:t>Take homes and wrap up</a:t>
            </a:r>
          </a:p>
        </p:txBody>
      </p:sp>
      <p:grpSp>
        <p:nvGrpSpPr>
          <p:cNvPr id="4" name="Group 3">
            <a:extLst>
              <a:ext uri="{FF2B5EF4-FFF2-40B4-BE49-F238E27FC236}">
                <a16:creationId xmlns:a16="http://schemas.microsoft.com/office/drawing/2014/main" id="{8E369B72-E594-1D35-66AB-66CB2B9D25A1}"/>
              </a:ext>
            </a:extLst>
          </p:cNvPr>
          <p:cNvGrpSpPr/>
          <p:nvPr/>
        </p:nvGrpSpPr>
        <p:grpSpPr>
          <a:xfrm>
            <a:off x="10704849" y="6564312"/>
            <a:ext cx="1362075" cy="273690"/>
            <a:chOff x="19317" y="2690018"/>
            <a:chExt cx="11784755" cy="2025180"/>
          </a:xfrm>
        </p:grpSpPr>
        <p:pic>
          <p:nvPicPr>
            <p:cNvPr id="5" name="Picture 2">
              <a:extLst>
                <a:ext uri="{FF2B5EF4-FFF2-40B4-BE49-F238E27FC236}">
                  <a16:creationId xmlns:a16="http://schemas.microsoft.com/office/drawing/2014/main" id="{A76F1D6D-A62A-0956-88AC-57D12A1FD0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2B20E70-0BE1-4809-F793-2A37E343108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7" name="Slide Number Placeholder 61">
            <a:extLst>
              <a:ext uri="{FF2B5EF4-FFF2-40B4-BE49-F238E27FC236}">
                <a16:creationId xmlns:a16="http://schemas.microsoft.com/office/drawing/2014/main" id="{11F8A02A-79F0-E709-955C-44289C2E56D0}"/>
              </a:ext>
            </a:extLst>
          </p:cNvPr>
          <p:cNvSpPr>
            <a:spLocks noGrp="1"/>
          </p:cNvSpPr>
          <p:nvPr>
            <p:ph type="sldNum" sz="quarter" idx="12"/>
          </p:nvPr>
        </p:nvSpPr>
        <p:spPr>
          <a:xfrm>
            <a:off x="8610600" y="6356350"/>
            <a:ext cx="2743200" cy="365125"/>
          </a:xfrm>
        </p:spPr>
        <p:txBody>
          <a:bodyPr/>
          <a:lstStyle/>
          <a:p>
            <a:fld id="{DC6309F4-03C8-4D48-A124-A9AD6E083FAC}" type="slidenum">
              <a:rPr lang="en-US" smtClean="0"/>
              <a:t>25</a:t>
            </a:fld>
            <a:endParaRPr lang="en-US"/>
          </a:p>
        </p:txBody>
      </p:sp>
    </p:spTree>
    <p:extLst>
      <p:ext uri="{BB962C8B-B14F-4D97-AF65-F5344CB8AC3E}">
        <p14:creationId xmlns:p14="http://schemas.microsoft.com/office/powerpoint/2010/main" val="960244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331898A-7A86-BF80-5096-E3CE0D8819FA}"/>
              </a:ext>
            </a:extLst>
          </p:cNvPr>
          <p:cNvGrpSpPr/>
          <p:nvPr/>
        </p:nvGrpSpPr>
        <p:grpSpPr>
          <a:xfrm>
            <a:off x="10704849" y="6564312"/>
            <a:ext cx="1362075" cy="273690"/>
            <a:chOff x="19317" y="2690018"/>
            <a:chExt cx="11784755" cy="2025180"/>
          </a:xfrm>
        </p:grpSpPr>
        <p:pic>
          <p:nvPicPr>
            <p:cNvPr id="3" name="Picture 2">
              <a:extLst>
                <a:ext uri="{FF2B5EF4-FFF2-40B4-BE49-F238E27FC236}">
                  <a16:creationId xmlns:a16="http://schemas.microsoft.com/office/drawing/2014/main" id="{7377E66F-1D55-BF5B-0ACD-4EDF331981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98EABE0-CE3F-64A1-2BD1-02DE2178144E}"/>
                </a:ext>
              </a:extLst>
            </p:cNvPr>
            <p:cNvPicPr>
              <a:picLocks noChangeAspect="1"/>
            </p:cNvPicPr>
            <p:nvPr/>
          </p:nvPicPr>
          <p:blipFill>
            <a:blip r:embed="rId4"/>
            <a:stretch>
              <a:fillRect/>
            </a:stretch>
          </p:blipFill>
          <p:spPr>
            <a:xfrm>
              <a:off x="5728531" y="2690018"/>
              <a:ext cx="6075541" cy="2025180"/>
            </a:xfrm>
            <a:prstGeom prst="rect">
              <a:avLst/>
            </a:prstGeom>
          </p:spPr>
        </p:pic>
      </p:grpSp>
      <p:pic>
        <p:nvPicPr>
          <p:cNvPr id="8" name="Picture 7">
            <a:extLst>
              <a:ext uri="{FF2B5EF4-FFF2-40B4-BE49-F238E27FC236}">
                <a16:creationId xmlns:a16="http://schemas.microsoft.com/office/drawing/2014/main" id="{35B94226-E4FA-AD1B-D463-BFA55ECC0B11}"/>
              </a:ext>
            </a:extLst>
          </p:cNvPr>
          <p:cNvPicPr>
            <a:picLocks noChangeAspect="1"/>
          </p:cNvPicPr>
          <p:nvPr/>
        </p:nvPicPr>
        <p:blipFill>
          <a:blip r:embed="rId5"/>
          <a:srcRect b="9050"/>
          <a:stretch>
            <a:fillRect/>
          </a:stretch>
        </p:blipFill>
        <p:spPr>
          <a:xfrm>
            <a:off x="0" y="43319"/>
            <a:ext cx="11940886" cy="6040622"/>
          </a:xfrm>
          <a:prstGeom prst="rect">
            <a:avLst/>
          </a:prstGeom>
        </p:spPr>
      </p:pic>
      <p:sp>
        <p:nvSpPr>
          <p:cNvPr id="4" name="Slide Number Placeholder 3">
            <a:extLst>
              <a:ext uri="{FF2B5EF4-FFF2-40B4-BE49-F238E27FC236}">
                <a16:creationId xmlns:a16="http://schemas.microsoft.com/office/drawing/2014/main" id="{3DF848FD-8EB4-3342-1846-6DE00DAA7DB1}"/>
              </a:ext>
            </a:extLst>
          </p:cNvPr>
          <p:cNvSpPr>
            <a:spLocks noGrp="1"/>
          </p:cNvSpPr>
          <p:nvPr>
            <p:ph type="sldNum" sz="quarter" idx="12"/>
          </p:nvPr>
        </p:nvSpPr>
        <p:spPr/>
        <p:txBody>
          <a:bodyPr/>
          <a:lstStyle/>
          <a:p>
            <a:fld id="{01E105D4-D357-B14D-804D-1EE3D58285EA}" type="slidenum">
              <a:rPr lang="en-US" smtClean="0"/>
              <a:t>26</a:t>
            </a:fld>
            <a:endParaRPr lang="en-US"/>
          </a:p>
        </p:txBody>
      </p:sp>
    </p:spTree>
    <p:extLst>
      <p:ext uri="{BB962C8B-B14F-4D97-AF65-F5344CB8AC3E}">
        <p14:creationId xmlns:p14="http://schemas.microsoft.com/office/powerpoint/2010/main" val="3337748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6454A-8A73-CC6B-F192-94D51C9F77AC}"/>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338E21AB-00B1-AB15-9BCD-68E52596CDD5}"/>
              </a:ext>
            </a:extLst>
          </p:cNvPr>
          <p:cNvGrpSpPr/>
          <p:nvPr/>
        </p:nvGrpSpPr>
        <p:grpSpPr>
          <a:xfrm>
            <a:off x="264097" y="1274390"/>
            <a:ext cx="755895" cy="1212650"/>
            <a:chOff x="7864892" y="2862387"/>
            <a:chExt cx="970294" cy="1447098"/>
          </a:xfrm>
        </p:grpSpPr>
        <p:sp>
          <p:nvSpPr>
            <p:cNvPr id="9" name="Oval 8">
              <a:extLst>
                <a:ext uri="{FF2B5EF4-FFF2-40B4-BE49-F238E27FC236}">
                  <a16:creationId xmlns:a16="http://schemas.microsoft.com/office/drawing/2014/main" id="{EEF34CA5-D1FD-67DA-CF96-5C5556F661D6}"/>
                </a:ext>
              </a:extLst>
            </p:cNvPr>
            <p:cNvSpPr/>
            <p:nvPr/>
          </p:nvSpPr>
          <p:spPr>
            <a:xfrm>
              <a:off x="7864892" y="2862387"/>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a:p>
          </p:txBody>
        </p:sp>
        <p:pic>
          <p:nvPicPr>
            <p:cNvPr id="10" name="Graphic 9" descr="Line arrow: Rotate left with solid fill">
              <a:extLst>
                <a:ext uri="{FF2B5EF4-FFF2-40B4-BE49-F238E27FC236}">
                  <a16:creationId xmlns:a16="http://schemas.microsoft.com/office/drawing/2014/main" id="{15F61DD2-D131-11A7-E4CA-1AB2826850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10310" y="2974343"/>
              <a:ext cx="674423" cy="674423"/>
            </a:xfrm>
            <a:prstGeom prst="rect">
              <a:avLst/>
            </a:prstGeom>
          </p:spPr>
        </p:pic>
        <p:sp>
          <p:nvSpPr>
            <p:cNvPr id="11" name="TextBox 10">
              <a:extLst>
                <a:ext uri="{FF2B5EF4-FFF2-40B4-BE49-F238E27FC236}">
                  <a16:creationId xmlns:a16="http://schemas.microsoft.com/office/drawing/2014/main" id="{2E4BD77F-9963-7012-2D17-9DDD0FBE7E57}"/>
                </a:ext>
              </a:extLst>
            </p:cNvPr>
            <p:cNvSpPr txBox="1"/>
            <p:nvPr/>
          </p:nvSpPr>
          <p:spPr>
            <a:xfrm>
              <a:off x="8255155" y="3847820"/>
              <a:ext cx="184730" cy="461665"/>
            </a:xfrm>
            <a:prstGeom prst="rect">
              <a:avLst/>
            </a:prstGeom>
            <a:noFill/>
          </p:spPr>
          <p:txBody>
            <a:bodyPr wrap="none" rtlCol="0">
              <a:spAutoFit/>
            </a:bodyPr>
            <a:lstStyle/>
            <a:p>
              <a:pPr algn="ctr"/>
              <a:endParaRPr lang="en-US" sz="2400" i="1" dirty="0"/>
            </a:p>
          </p:txBody>
        </p:sp>
      </p:grpSp>
      <p:sp>
        <p:nvSpPr>
          <p:cNvPr id="42" name="TextBox 41">
            <a:extLst>
              <a:ext uri="{FF2B5EF4-FFF2-40B4-BE49-F238E27FC236}">
                <a16:creationId xmlns:a16="http://schemas.microsoft.com/office/drawing/2014/main" id="{F3D063CE-E6C8-9CC7-4FEC-B40B02F1666D}"/>
              </a:ext>
            </a:extLst>
          </p:cNvPr>
          <p:cNvSpPr txBox="1"/>
          <p:nvPr/>
        </p:nvSpPr>
        <p:spPr>
          <a:xfrm>
            <a:off x="2071940" y="1253271"/>
            <a:ext cx="2982585" cy="830997"/>
          </a:xfrm>
          <a:prstGeom prst="rect">
            <a:avLst/>
          </a:prstGeom>
          <a:noFill/>
        </p:spPr>
        <p:txBody>
          <a:bodyPr wrap="square" rtlCol="0">
            <a:spAutoFit/>
          </a:bodyPr>
          <a:lstStyle/>
          <a:p>
            <a:r>
              <a:rPr lang="en-US" sz="2400" b="1" dirty="0"/>
              <a:t>Self-leadership</a:t>
            </a:r>
            <a:r>
              <a:rPr lang="en-US" sz="2400" dirty="0"/>
              <a:t> and sideways leadership</a:t>
            </a:r>
          </a:p>
        </p:txBody>
      </p:sp>
      <p:grpSp>
        <p:nvGrpSpPr>
          <p:cNvPr id="43" name="Group 42">
            <a:extLst>
              <a:ext uri="{FF2B5EF4-FFF2-40B4-BE49-F238E27FC236}">
                <a16:creationId xmlns:a16="http://schemas.microsoft.com/office/drawing/2014/main" id="{9D17A43B-B1AB-AD25-D5A0-27DD9422E992}"/>
              </a:ext>
            </a:extLst>
          </p:cNvPr>
          <p:cNvGrpSpPr/>
          <p:nvPr/>
        </p:nvGrpSpPr>
        <p:grpSpPr>
          <a:xfrm>
            <a:off x="1189868" y="1308996"/>
            <a:ext cx="746821" cy="699181"/>
            <a:chOff x="7864892" y="5048043"/>
            <a:chExt cx="970294" cy="898336"/>
          </a:xfrm>
        </p:grpSpPr>
        <p:sp>
          <p:nvSpPr>
            <p:cNvPr id="44" name="Oval 43">
              <a:extLst>
                <a:ext uri="{FF2B5EF4-FFF2-40B4-BE49-F238E27FC236}">
                  <a16:creationId xmlns:a16="http://schemas.microsoft.com/office/drawing/2014/main" id="{AE0FA27A-6710-6CA9-62BF-B934DD28CBC8}"/>
                </a:ext>
              </a:extLst>
            </p:cNvPr>
            <p:cNvSpPr/>
            <p:nvPr/>
          </p:nvSpPr>
          <p:spPr>
            <a:xfrm>
              <a:off x="7864892" y="5048043"/>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45" name="Graphic 44" descr="Transfer with solid fill">
              <a:extLst>
                <a:ext uri="{FF2B5EF4-FFF2-40B4-BE49-F238E27FC236}">
                  <a16:creationId xmlns:a16="http://schemas.microsoft.com/office/drawing/2014/main" id="{A3BA7BF2-D680-D4FC-D643-E33304E5AA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04521" y="5117203"/>
              <a:ext cx="708202" cy="708202"/>
            </a:xfrm>
            <a:prstGeom prst="rect">
              <a:avLst/>
            </a:prstGeom>
          </p:spPr>
        </p:pic>
      </p:grpSp>
      <p:grpSp>
        <p:nvGrpSpPr>
          <p:cNvPr id="2062" name="Group 2061">
            <a:extLst>
              <a:ext uri="{FF2B5EF4-FFF2-40B4-BE49-F238E27FC236}">
                <a16:creationId xmlns:a16="http://schemas.microsoft.com/office/drawing/2014/main" id="{90630066-C783-0CAC-E690-13220D2839E3}"/>
              </a:ext>
            </a:extLst>
          </p:cNvPr>
          <p:cNvGrpSpPr/>
          <p:nvPr/>
        </p:nvGrpSpPr>
        <p:grpSpPr>
          <a:xfrm>
            <a:off x="366207" y="2587537"/>
            <a:ext cx="10880278" cy="4003677"/>
            <a:chOff x="759834" y="2466634"/>
            <a:chExt cx="10880278" cy="4003677"/>
          </a:xfrm>
        </p:grpSpPr>
        <p:pic>
          <p:nvPicPr>
            <p:cNvPr id="2050" name="Picture 2" descr="35,300+ Toolbox Stock Illustrations, Royalty-Free Vector Graphics &amp; Clip  Art - iStock">
              <a:extLst>
                <a:ext uri="{FF2B5EF4-FFF2-40B4-BE49-F238E27FC236}">
                  <a16:creationId xmlns:a16="http://schemas.microsoft.com/office/drawing/2014/main" id="{1FE5C322-B27E-9787-119A-13C1F326EBB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198" t="18044" r="14304" b="16890"/>
            <a:stretch>
              <a:fillRect/>
            </a:stretch>
          </p:blipFill>
          <p:spPr bwMode="auto">
            <a:xfrm>
              <a:off x="4287274" y="3113599"/>
              <a:ext cx="2525748" cy="233111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BAAA9C2-17B2-AD21-EB39-823067E4C7E8}"/>
                </a:ext>
              </a:extLst>
            </p:cNvPr>
            <p:cNvSpPr txBox="1"/>
            <p:nvPr/>
          </p:nvSpPr>
          <p:spPr>
            <a:xfrm>
              <a:off x="3638071" y="2466634"/>
              <a:ext cx="5701201" cy="461665"/>
            </a:xfrm>
            <a:prstGeom prst="rect">
              <a:avLst/>
            </a:prstGeom>
            <a:noFill/>
          </p:spPr>
          <p:txBody>
            <a:bodyPr wrap="square" rtlCol="0">
              <a:spAutoFit/>
            </a:bodyPr>
            <a:lstStyle/>
            <a:p>
              <a:r>
                <a:rPr lang="en-US" sz="2400" dirty="0"/>
                <a:t>Built up your </a:t>
              </a:r>
              <a:r>
                <a:rPr lang="en-US" sz="2400" b="1" dirty="0"/>
                <a:t>leadership toolbox</a:t>
              </a:r>
              <a:r>
                <a:rPr lang="en-US" sz="2400" dirty="0"/>
                <a:t>!</a:t>
              </a:r>
            </a:p>
          </p:txBody>
        </p:sp>
        <p:pic>
          <p:nvPicPr>
            <p:cNvPr id="12" name="Graphic 11" descr="Reflection with solid fill">
              <a:extLst>
                <a:ext uri="{FF2B5EF4-FFF2-40B4-BE49-F238E27FC236}">
                  <a16:creationId xmlns:a16="http://schemas.microsoft.com/office/drawing/2014/main" id="{64EC7990-7559-9C3C-D609-B07BD2A9511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97335" y="4729741"/>
              <a:ext cx="914400" cy="914400"/>
            </a:xfrm>
            <a:prstGeom prst="rect">
              <a:avLst/>
            </a:prstGeom>
          </p:spPr>
        </p:pic>
        <p:pic>
          <p:nvPicPr>
            <p:cNvPr id="13" name="Graphic 12" descr="Care with solid fill">
              <a:extLst>
                <a:ext uri="{FF2B5EF4-FFF2-40B4-BE49-F238E27FC236}">
                  <a16:creationId xmlns:a16="http://schemas.microsoft.com/office/drawing/2014/main" id="{9BA5A67E-0AED-3703-D95F-EEBC2A2071D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19447" y="3013203"/>
              <a:ext cx="914400" cy="914400"/>
            </a:xfrm>
            <a:prstGeom prst="rect">
              <a:avLst/>
            </a:prstGeom>
          </p:spPr>
        </p:pic>
        <p:pic>
          <p:nvPicPr>
            <p:cNvPr id="14" name="Graphic 13" descr="Puzzle pieces with solid fill">
              <a:extLst>
                <a:ext uri="{FF2B5EF4-FFF2-40B4-BE49-F238E27FC236}">
                  <a16:creationId xmlns:a16="http://schemas.microsoft.com/office/drawing/2014/main" id="{AD74F658-6889-85F4-F701-57F388EB365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82678" y="2954876"/>
              <a:ext cx="914400" cy="914400"/>
            </a:xfrm>
            <a:prstGeom prst="rect">
              <a:avLst/>
            </a:prstGeom>
          </p:spPr>
        </p:pic>
        <p:pic>
          <p:nvPicPr>
            <p:cNvPr id="15" name="Graphic 14" descr="Cheers with solid fill">
              <a:extLst>
                <a:ext uri="{FF2B5EF4-FFF2-40B4-BE49-F238E27FC236}">
                  <a16:creationId xmlns:a16="http://schemas.microsoft.com/office/drawing/2014/main" id="{9B078A73-32C3-4667-EB6A-A38790A4C06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796534" y="4727134"/>
              <a:ext cx="914400" cy="914400"/>
            </a:xfrm>
            <a:prstGeom prst="rect">
              <a:avLst/>
            </a:prstGeom>
          </p:spPr>
        </p:pic>
        <p:sp>
          <p:nvSpPr>
            <p:cNvPr id="16" name="TextBox 15">
              <a:extLst>
                <a:ext uri="{FF2B5EF4-FFF2-40B4-BE49-F238E27FC236}">
                  <a16:creationId xmlns:a16="http://schemas.microsoft.com/office/drawing/2014/main" id="{25EB2D8A-4562-A900-505C-40859EE17811}"/>
                </a:ext>
              </a:extLst>
            </p:cNvPr>
            <p:cNvSpPr txBox="1"/>
            <p:nvPr/>
          </p:nvSpPr>
          <p:spPr>
            <a:xfrm>
              <a:off x="4557799" y="4392207"/>
              <a:ext cx="2011000" cy="954107"/>
            </a:xfrm>
            <a:prstGeom prst="rect">
              <a:avLst/>
            </a:prstGeom>
            <a:noFill/>
          </p:spPr>
          <p:txBody>
            <a:bodyPr wrap="none" rtlCol="0">
              <a:spAutoFit/>
            </a:bodyPr>
            <a:lstStyle/>
            <a:p>
              <a:pPr algn="ctr"/>
              <a:r>
                <a:rPr lang="en-US" sz="2800" b="1" dirty="0">
                  <a:solidFill>
                    <a:schemeClr val="bg1">
                      <a:lumMod val="85000"/>
                    </a:schemeClr>
                  </a:solidFill>
                </a:rPr>
                <a:t>Leadership</a:t>
              </a:r>
            </a:p>
            <a:p>
              <a:pPr algn="ctr"/>
              <a:r>
                <a:rPr lang="en-US" sz="2800" b="1" dirty="0">
                  <a:solidFill>
                    <a:schemeClr val="bg1">
                      <a:lumMod val="85000"/>
                    </a:schemeClr>
                  </a:solidFill>
                </a:rPr>
                <a:t>Toolbox</a:t>
              </a:r>
            </a:p>
          </p:txBody>
        </p:sp>
        <p:grpSp>
          <p:nvGrpSpPr>
            <p:cNvPr id="17" name="Group 16">
              <a:extLst>
                <a:ext uri="{FF2B5EF4-FFF2-40B4-BE49-F238E27FC236}">
                  <a16:creationId xmlns:a16="http://schemas.microsoft.com/office/drawing/2014/main" id="{FD581C4C-E106-6D8A-4063-8D9228D3300D}"/>
                </a:ext>
              </a:extLst>
            </p:cNvPr>
            <p:cNvGrpSpPr/>
            <p:nvPr/>
          </p:nvGrpSpPr>
          <p:grpSpPr>
            <a:xfrm>
              <a:off x="784075" y="3013203"/>
              <a:ext cx="1249164" cy="603488"/>
              <a:chOff x="3896739" y="2725180"/>
              <a:chExt cx="2319706" cy="1045370"/>
            </a:xfrm>
          </p:grpSpPr>
          <p:sp>
            <p:nvSpPr>
              <p:cNvPr id="18" name="Oval 17">
                <a:extLst>
                  <a:ext uri="{FF2B5EF4-FFF2-40B4-BE49-F238E27FC236}">
                    <a16:creationId xmlns:a16="http://schemas.microsoft.com/office/drawing/2014/main" id="{1FF7E832-AB34-54CA-3A5A-46B7D2A015ED}"/>
                  </a:ext>
                </a:extLst>
              </p:cNvPr>
              <p:cNvSpPr/>
              <p:nvPr/>
            </p:nvSpPr>
            <p:spPr>
              <a:xfrm>
                <a:off x="5196203" y="2791757"/>
                <a:ext cx="1020242" cy="932041"/>
              </a:xfrm>
              <a:prstGeom prst="ellipse">
                <a:avLst/>
              </a:prstGeom>
              <a:solidFill>
                <a:srgbClr val="527ECE">
                  <a:alpha val="9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276DB9D3-F035-68F6-D8FA-C283AE6111C7}"/>
                  </a:ext>
                </a:extLst>
              </p:cNvPr>
              <p:cNvSpPr/>
              <p:nvPr/>
            </p:nvSpPr>
            <p:spPr>
              <a:xfrm>
                <a:off x="4589944" y="2778673"/>
                <a:ext cx="1033351" cy="95899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9C088198-FE3A-0F6B-6C37-9CD4A97BD8F0}"/>
                  </a:ext>
                </a:extLst>
              </p:cNvPr>
              <p:cNvSpPr/>
              <p:nvPr/>
            </p:nvSpPr>
            <p:spPr>
              <a:xfrm>
                <a:off x="3896739" y="2725180"/>
                <a:ext cx="1116380" cy="104537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1" name="Picture 20">
              <a:extLst>
                <a:ext uri="{FF2B5EF4-FFF2-40B4-BE49-F238E27FC236}">
                  <a16:creationId xmlns:a16="http://schemas.microsoft.com/office/drawing/2014/main" id="{FBE54ADB-9003-3964-6E3B-EEC5D6A65CB4}"/>
                </a:ext>
              </a:extLst>
            </p:cNvPr>
            <p:cNvPicPr>
              <a:picLocks noChangeAspect="1"/>
            </p:cNvPicPr>
            <p:nvPr/>
          </p:nvPicPr>
          <p:blipFill>
            <a:blip r:embed="rId10"/>
            <a:srcRect l="12210" b="17485"/>
            <a:stretch>
              <a:fillRect/>
            </a:stretch>
          </p:blipFill>
          <p:spPr>
            <a:xfrm>
              <a:off x="759834" y="3930800"/>
              <a:ext cx="1099850" cy="949806"/>
            </a:xfrm>
            <a:prstGeom prst="rect">
              <a:avLst/>
            </a:prstGeom>
          </p:spPr>
        </p:pic>
        <p:pic>
          <p:nvPicPr>
            <p:cNvPr id="22" name="Graphic 21" descr="Ripple with solid fill">
              <a:extLst>
                <a:ext uri="{FF2B5EF4-FFF2-40B4-BE49-F238E27FC236}">
                  <a16:creationId xmlns:a16="http://schemas.microsoft.com/office/drawing/2014/main" id="{333225F5-FDEC-6E25-0BA5-DF0C443C0BD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52559" y="5106330"/>
              <a:ext cx="914401" cy="914401"/>
            </a:xfrm>
            <a:prstGeom prst="rect">
              <a:avLst/>
            </a:prstGeom>
          </p:spPr>
        </p:pic>
        <p:sp>
          <p:nvSpPr>
            <p:cNvPr id="23" name="Left Brace 22">
              <a:extLst>
                <a:ext uri="{FF2B5EF4-FFF2-40B4-BE49-F238E27FC236}">
                  <a16:creationId xmlns:a16="http://schemas.microsoft.com/office/drawing/2014/main" id="{E17A0EE8-77B4-AEE7-DD81-1E3D49BF6E05}"/>
                </a:ext>
              </a:extLst>
            </p:cNvPr>
            <p:cNvSpPr/>
            <p:nvPr/>
          </p:nvSpPr>
          <p:spPr>
            <a:xfrm rot="10800000">
              <a:off x="3455959" y="3464711"/>
              <a:ext cx="914400" cy="1722230"/>
            </a:xfrm>
            <a:prstGeom prst="leftBrace">
              <a:avLst>
                <a:gd name="adj1" fmla="val 15293"/>
                <a:gd name="adj2" fmla="val 51256"/>
              </a:avLst>
            </a:prstGeom>
            <a:ln w="85725">
              <a:solidFill>
                <a:schemeClr val="bg2">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24" name="Group 23">
              <a:extLst>
                <a:ext uri="{FF2B5EF4-FFF2-40B4-BE49-F238E27FC236}">
                  <a16:creationId xmlns:a16="http://schemas.microsoft.com/office/drawing/2014/main" id="{1F169859-6E07-F9DB-4AC3-9D3151C0A1CF}"/>
                </a:ext>
              </a:extLst>
            </p:cNvPr>
            <p:cNvGrpSpPr/>
            <p:nvPr/>
          </p:nvGrpSpPr>
          <p:grpSpPr>
            <a:xfrm>
              <a:off x="10375747" y="3776714"/>
              <a:ext cx="1264365" cy="1035968"/>
              <a:chOff x="1190928" y="1726247"/>
              <a:chExt cx="2074786" cy="1462656"/>
            </a:xfrm>
          </p:grpSpPr>
          <p:sp>
            <p:nvSpPr>
              <p:cNvPr id="25" name="Oval 24">
                <a:extLst>
                  <a:ext uri="{FF2B5EF4-FFF2-40B4-BE49-F238E27FC236}">
                    <a16:creationId xmlns:a16="http://schemas.microsoft.com/office/drawing/2014/main" id="{D2B14350-2637-CD9F-8B3C-DBA381FCE2D2}"/>
                  </a:ext>
                </a:extLst>
              </p:cNvPr>
              <p:cNvSpPr/>
              <p:nvPr/>
            </p:nvSpPr>
            <p:spPr>
              <a:xfrm>
                <a:off x="2801365" y="2692907"/>
                <a:ext cx="402305" cy="365126"/>
              </a:xfrm>
              <a:prstGeom prst="ellipse">
                <a:avLst/>
              </a:prstGeom>
              <a:solidFill>
                <a:srgbClr val="C0000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8EEB6F1-EDEB-F078-E905-11D726736253}"/>
                  </a:ext>
                </a:extLst>
              </p:cNvPr>
              <p:cNvSpPr/>
              <p:nvPr/>
            </p:nvSpPr>
            <p:spPr>
              <a:xfrm>
                <a:off x="2484698" y="1908810"/>
                <a:ext cx="402305" cy="365126"/>
              </a:xfrm>
              <a:prstGeom prst="ellipse">
                <a:avLst/>
              </a:prstGeom>
              <a:solidFill>
                <a:schemeClr val="accent2">
                  <a:alpha val="6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972CC986-32AB-2491-CD8C-DADCEF13B2C3}"/>
                  </a:ext>
                </a:extLst>
              </p:cNvPr>
              <p:cNvSpPr/>
              <p:nvPr/>
            </p:nvSpPr>
            <p:spPr>
              <a:xfrm>
                <a:off x="1757156" y="1726247"/>
                <a:ext cx="402305" cy="365126"/>
              </a:xfrm>
              <a:prstGeom prst="ellipse">
                <a:avLst/>
              </a:prstGeom>
              <a:solidFill>
                <a:srgbClr val="FFC000">
                  <a:alpha val="5906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BAB9C1B-A648-8ABF-8489-2534447EDDBC}"/>
                  </a:ext>
                </a:extLst>
              </p:cNvPr>
              <p:cNvSpPr/>
              <p:nvPr/>
            </p:nvSpPr>
            <p:spPr>
              <a:xfrm>
                <a:off x="1520453" y="2283067"/>
                <a:ext cx="402305" cy="365126"/>
              </a:xfrm>
              <a:prstGeom prst="ellipse">
                <a:avLst/>
              </a:prstGeom>
              <a:solidFill>
                <a:srgbClr val="92D050">
                  <a:alpha val="66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3D1E92A2-9B51-CEC7-822A-2B8B2D7FF18D}"/>
                  </a:ext>
                </a:extLst>
              </p:cNvPr>
              <p:cNvSpPr/>
              <p:nvPr/>
            </p:nvSpPr>
            <p:spPr>
              <a:xfrm>
                <a:off x="1248051" y="2712604"/>
                <a:ext cx="402305" cy="365126"/>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6B6ED9F8-7584-2339-A860-BCA3C2F70CEA}"/>
                  </a:ext>
                </a:extLst>
              </p:cNvPr>
              <p:cNvGrpSpPr/>
              <p:nvPr/>
            </p:nvGrpSpPr>
            <p:grpSpPr>
              <a:xfrm>
                <a:off x="1190928" y="1852550"/>
                <a:ext cx="2074786" cy="1336353"/>
                <a:chOff x="4373172" y="914401"/>
                <a:chExt cx="6620884" cy="5617758"/>
              </a:xfrm>
            </p:grpSpPr>
            <p:pic>
              <p:nvPicPr>
                <p:cNvPr id="31" name="Graphic 30" descr="Normal Distribution outline">
                  <a:extLst>
                    <a:ext uri="{FF2B5EF4-FFF2-40B4-BE49-F238E27FC236}">
                      <a16:creationId xmlns:a16="http://schemas.microsoft.com/office/drawing/2014/main" id="{A2B0EDDA-60F4-6F91-0E67-5219DBA47037}"/>
                    </a:ext>
                  </a:extLst>
                </p:cNvPr>
                <p:cNvPicPr>
                  <a:picLocks noChangeAspect="1"/>
                </p:cNvPicPr>
                <p:nvPr/>
              </p:nvPicPr>
              <p:blipFill>
                <a:blip>
                  <a:extLst>
                    <a:ext uri="{96DAC541-7B7A-43D3-8B79-37D633B846F1}">
                      <asvg:svgBlip xmlns:asvg="http://schemas.microsoft.com/office/drawing/2016/SVG/main" r:embed="rId12"/>
                    </a:ext>
                  </a:extLst>
                </a:blip>
                <a:srcRect l="10997" t="18998" r="21214" b="23484"/>
                <a:stretch>
                  <a:fillRect/>
                </a:stretch>
              </p:blipFill>
              <p:spPr>
                <a:xfrm>
                  <a:off x="4373172" y="914401"/>
                  <a:ext cx="6620884" cy="5617758"/>
                </a:xfrm>
                <a:prstGeom prst="rect">
                  <a:avLst/>
                </a:prstGeom>
              </p:spPr>
            </p:pic>
            <p:sp>
              <p:nvSpPr>
                <p:cNvPr id="32" name="Rectangle 31">
                  <a:extLst>
                    <a:ext uri="{FF2B5EF4-FFF2-40B4-BE49-F238E27FC236}">
                      <a16:creationId xmlns:a16="http://schemas.microsoft.com/office/drawing/2014/main" id="{9BD497C6-32CD-3328-F280-79E3E75F600F}"/>
                    </a:ext>
                  </a:extLst>
                </p:cNvPr>
                <p:cNvSpPr/>
                <p:nvPr/>
              </p:nvSpPr>
              <p:spPr>
                <a:xfrm>
                  <a:off x="7283519" y="2121042"/>
                  <a:ext cx="1011856" cy="4276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3" name="Group 32">
              <a:extLst>
                <a:ext uri="{FF2B5EF4-FFF2-40B4-BE49-F238E27FC236}">
                  <a16:creationId xmlns:a16="http://schemas.microsoft.com/office/drawing/2014/main" id="{D7BB5627-A228-5D91-280F-FA94997AB0A7}"/>
                </a:ext>
              </a:extLst>
            </p:cNvPr>
            <p:cNvGrpSpPr/>
            <p:nvPr/>
          </p:nvGrpSpPr>
          <p:grpSpPr>
            <a:xfrm>
              <a:off x="9327245" y="2541140"/>
              <a:ext cx="2109254" cy="799803"/>
              <a:chOff x="8274670" y="1292703"/>
              <a:chExt cx="3112742" cy="1261475"/>
            </a:xfrm>
          </p:grpSpPr>
          <p:pic>
            <p:nvPicPr>
              <p:cNvPr id="34" name="Graphic 33" descr="Lights On with solid fill">
                <a:extLst>
                  <a:ext uri="{FF2B5EF4-FFF2-40B4-BE49-F238E27FC236}">
                    <a16:creationId xmlns:a16="http://schemas.microsoft.com/office/drawing/2014/main" id="{5FBC856F-7B91-3D61-D712-75686C40876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274670" y="1435685"/>
                <a:ext cx="888675" cy="888675"/>
              </a:xfrm>
              <a:prstGeom prst="rect">
                <a:avLst/>
              </a:prstGeom>
            </p:spPr>
          </p:pic>
          <p:pic>
            <p:nvPicPr>
              <p:cNvPr id="35" name="Graphic 34" descr="Gears with solid fill">
                <a:extLst>
                  <a:ext uri="{FF2B5EF4-FFF2-40B4-BE49-F238E27FC236}">
                    <a16:creationId xmlns:a16="http://schemas.microsoft.com/office/drawing/2014/main" id="{4891508D-0B7E-89B5-504D-13C05A47D88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051235" y="1292703"/>
                <a:ext cx="1261475" cy="1261475"/>
              </a:xfrm>
              <a:prstGeom prst="rect">
                <a:avLst/>
              </a:prstGeom>
            </p:spPr>
          </p:pic>
          <p:pic>
            <p:nvPicPr>
              <p:cNvPr id="36" name="Graphic 35" descr="Weights Uneven with solid fill">
                <a:extLst>
                  <a:ext uri="{FF2B5EF4-FFF2-40B4-BE49-F238E27FC236}">
                    <a16:creationId xmlns:a16="http://schemas.microsoft.com/office/drawing/2014/main" id="{AB542E36-F3D0-A3CA-DAC4-B8C4EE919B5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0322402" y="1357310"/>
                <a:ext cx="1065010" cy="1065010"/>
              </a:xfrm>
              <a:prstGeom prst="rect">
                <a:avLst/>
              </a:prstGeom>
            </p:spPr>
          </p:pic>
        </p:grpSp>
        <p:sp>
          <p:nvSpPr>
            <p:cNvPr id="37" name="Left Brace 36">
              <a:extLst>
                <a:ext uri="{FF2B5EF4-FFF2-40B4-BE49-F238E27FC236}">
                  <a16:creationId xmlns:a16="http://schemas.microsoft.com/office/drawing/2014/main" id="{C7C0EE6D-DDDF-BDE5-D129-EA0633522826}"/>
                </a:ext>
              </a:extLst>
            </p:cNvPr>
            <p:cNvSpPr/>
            <p:nvPr/>
          </p:nvSpPr>
          <p:spPr>
            <a:xfrm>
              <a:off x="6763780" y="3418041"/>
              <a:ext cx="914400" cy="1722230"/>
            </a:xfrm>
            <a:prstGeom prst="leftBrace">
              <a:avLst>
                <a:gd name="adj1" fmla="val 15293"/>
                <a:gd name="adj2" fmla="val 51256"/>
              </a:avLst>
            </a:prstGeom>
            <a:ln w="85725">
              <a:solidFill>
                <a:schemeClr val="bg2">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8" name="TextBox 37">
              <a:extLst>
                <a:ext uri="{FF2B5EF4-FFF2-40B4-BE49-F238E27FC236}">
                  <a16:creationId xmlns:a16="http://schemas.microsoft.com/office/drawing/2014/main" id="{CEBCFA3D-0A9F-A0CC-E0D5-3BAB414A7A22}"/>
                </a:ext>
              </a:extLst>
            </p:cNvPr>
            <p:cNvSpPr txBox="1"/>
            <p:nvPr/>
          </p:nvSpPr>
          <p:spPr>
            <a:xfrm>
              <a:off x="2322873" y="3815899"/>
              <a:ext cx="1216359" cy="400110"/>
            </a:xfrm>
            <a:prstGeom prst="rect">
              <a:avLst/>
            </a:prstGeom>
            <a:noFill/>
          </p:spPr>
          <p:txBody>
            <a:bodyPr wrap="none" rtlCol="0">
              <a:spAutoFit/>
            </a:bodyPr>
            <a:lstStyle/>
            <a:p>
              <a:r>
                <a:rPr lang="en-US" sz="2000" dirty="0"/>
                <a:t>Empathy </a:t>
              </a:r>
            </a:p>
          </p:txBody>
        </p:sp>
        <p:sp>
          <p:nvSpPr>
            <p:cNvPr id="39" name="TextBox 38">
              <a:extLst>
                <a:ext uri="{FF2B5EF4-FFF2-40B4-BE49-F238E27FC236}">
                  <a16:creationId xmlns:a16="http://schemas.microsoft.com/office/drawing/2014/main" id="{B73C0824-D737-7E10-89B1-1B93908CDB65}"/>
                </a:ext>
              </a:extLst>
            </p:cNvPr>
            <p:cNvSpPr txBox="1"/>
            <p:nvPr/>
          </p:nvSpPr>
          <p:spPr>
            <a:xfrm>
              <a:off x="2033239" y="5500787"/>
              <a:ext cx="1893339" cy="400110"/>
            </a:xfrm>
            <a:prstGeom prst="rect">
              <a:avLst/>
            </a:prstGeom>
            <a:noFill/>
          </p:spPr>
          <p:txBody>
            <a:bodyPr wrap="none" rtlCol="0">
              <a:spAutoFit/>
            </a:bodyPr>
            <a:lstStyle/>
            <a:p>
              <a:r>
                <a:rPr lang="en-US" sz="2000" dirty="0"/>
                <a:t>Self-awareness</a:t>
              </a:r>
            </a:p>
          </p:txBody>
        </p:sp>
        <p:sp>
          <p:nvSpPr>
            <p:cNvPr id="40" name="TextBox 39">
              <a:extLst>
                <a:ext uri="{FF2B5EF4-FFF2-40B4-BE49-F238E27FC236}">
                  <a16:creationId xmlns:a16="http://schemas.microsoft.com/office/drawing/2014/main" id="{A885DF9D-D17E-A215-29F3-CFE057B8B822}"/>
                </a:ext>
              </a:extLst>
            </p:cNvPr>
            <p:cNvSpPr txBox="1"/>
            <p:nvPr/>
          </p:nvSpPr>
          <p:spPr>
            <a:xfrm>
              <a:off x="7340721" y="3734971"/>
              <a:ext cx="1980414" cy="400110"/>
            </a:xfrm>
            <a:prstGeom prst="rect">
              <a:avLst/>
            </a:prstGeom>
            <a:noFill/>
          </p:spPr>
          <p:txBody>
            <a:bodyPr wrap="none" rtlCol="0">
              <a:spAutoFit/>
            </a:bodyPr>
            <a:lstStyle/>
            <a:p>
              <a:r>
                <a:rPr lang="en-US" sz="2000" dirty="0"/>
                <a:t>Problem-solving</a:t>
              </a:r>
            </a:p>
          </p:txBody>
        </p:sp>
        <p:sp>
          <p:nvSpPr>
            <p:cNvPr id="41" name="TextBox 40">
              <a:extLst>
                <a:ext uri="{FF2B5EF4-FFF2-40B4-BE49-F238E27FC236}">
                  <a16:creationId xmlns:a16="http://schemas.microsoft.com/office/drawing/2014/main" id="{6F76A4F5-97A4-00B4-C0FE-8F1C63516166}"/>
                </a:ext>
              </a:extLst>
            </p:cNvPr>
            <p:cNvSpPr txBox="1"/>
            <p:nvPr/>
          </p:nvSpPr>
          <p:spPr>
            <a:xfrm>
              <a:off x="7529439" y="5580456"/>
              <a:ext cx="1699248" cy="400110"/>
            </a:xfrm>
            <a:prstGeom prst="rect">
              <a:avLst/>
            </a:prstGeom>
            <a:noFill/>
          </p:spPr>
          <p:txBody>
            <a:bodyPr wrap="none" rtlCol="0">
              <a:spAutoFit/>
            </a:bodyPr>
            <a:lstStyle/>
            <a:p>
              <a:r>
                <a:rPr lang="en-US" sz="2000" dirty="0"/>
                <a:t>Collaboration</a:t>
              </a:r>
            </a:p>
          </p:txBody>
        </p:sp>
        <p:grpSp>
          <p:nvGrpSpPr>
            <p:cNvPr id="46" name="Group 45">
              <a:extLst>
                <a:ext uri="{FF2B5EF4-FFF2-40B4-BE49-F238E27FC236}">
                  <a16:creationId xmlns:a16="http://schemas.microsoft.com/office/drawing/2014/main" id="{203369FA-E94E-07A7-87AE-9435F24B6DCE}"/>
                </a:ext>
              </a:extLst>
            </p:cNvPr>
            <p:cNvGrpSpPr/>
            <p:nvPr/>
          </p:nvGrpSpPr>
          <p:grpSpPr>
            <a:xfrm>
              <a:off x="9339272" y="3429000"/>
              <a:ext cx="656418" cy="2490286"/>
              <a:chOff x="536989" y="2253143"/>
              <a:chExt cx="992713" cy="3487471"/>
            </a:xfrm>
          </p:grpSpPr>
          <p:pic>
            <p:nvPicPr>
              <p:cNvPr id="47" name="Graphic 46" descr="Solar system with solid fill">
                <a:extLst>
                  <a:ext uri="{FF2B5EF4-FFF2-40B4-BE49-F238E27FC236}">
                    <a16:creationId xmlns:a16="http://schemas.microsoft.com/office/drawing/2014/main" id="{B2E59588-26A2-3289-E821-F443EFFD39B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74861" y="2253143"/>
                <a:ext cx="914400" cy="861183"/>
              </a:xfrm>
              <a:prstGeom prst="rect">
                <a:avLst/>
              </a:prstGeom>
            </p:spPr>
          </p:pic>
          <p:pic>
            <p:nvPicPr>
              <p:cNvPr id="48" name="Graphic 47" descr="Cycle with people with solid fill">
                <a:extLst>
                  <a:ext uri="{FF2B5EF4-FFF2-40B4-BE49-F238E27FC236}">
                    <a16:creationId xmlns:a16="http://schemas.microsoft.com/office/drawing/2014/main" id="{72C2DCA1-504D-D06C-3A1C-A799E73D25F6}"/>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15302" y="4109192"/>
                <a:ext cx="914400" cy="861183"/>
              </a:xfrm>
              <a:prstGeom prst="rect">
                <a:avLst/>
              </a:prstGeom>
            </p:spPr>
          </p:pic>
          <p:pic>
            <p:nvPicPr>
              <p:cNvPr id="49" name="Graphic 48" descr="User with solid fill">
                <a:extLst>
                  <a:ext uri="{FF2B5EF4-FFF2-40B4-BE49-F238E27FC236}">
                    <a16:creationId xmlns:a16="http://schemas.microsoft.com/office/drawing/2014/main" id="{1CA4FBE9-C179-BC66-A4EC-9BFED17D94BB}"/>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14546" y="4879431"/>
                <a:ext cx="914400" cy="861183"/>
              </a:xfrm>
              <a:prstGeom prst="rect">
                <a:avLst/>
              </a:prstGeom>
            </p:spPr>
          </p:pic>
          <p:pic>
            <p:nvPicPr>
              <p:cNvPr id="50" name="Graphic 49" descr="Schoolhouse with solid fill">
                <a:extLst>
                  <a:ext uri="{FF2B5EF4-FFF2-40B4-BE49-F238E27FC236}">
                    <a16:creationId xmlns:a16="http://schemas.microsoft.com/office/drawing/2014/main" id="{99C2AC39-54C6-7453-034F-CF878ADDED2B}"/>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36989" y="3019741"/>
                <a:ext cx="990143" cy="990143"/>
              </a:xfrm>
              <a:prstGeom prst="rect">
                <a:avLst/>
              </a:prstGeom>
            </p:spPr>
          </p:pic>
        </p:grpSp>
        <p:pic>
          <p:nvPicPr>
            <p:cNvPr id="3" name="Graphic 2" descr="Books with solid fill">
              <a:extLst>
                <a:ext uri="{FF2B5EF4-FFF2-40B4-BE49-F238E27FC236}">
                  <a16:creationId xmlns:a16="http://schemas.microsoft.com/office/drawing/2014/main" id="{B46242D2-C3F7-B7E5-BD53-19F4A7BEE937}"/>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051119" y="5376750"/>
              <a:ext cx="807522" cy="807522"/>
            </a:xfrm>
            <a:prstGeom prst="rect">
              <a:avLst/>
            </a:prstGeom>
          </p:spPr>
        </p:pic>
        <p:sp>
          <p:nvSpPr>
            <p:cNvPr id="4" name="TextBox 3">
              <a:extLst>
                <a:ext uri="{FF2B5EF4-FFF2-40B4-BE49-F238E27FC236}">
                  <a16:creationId xmlns:a16="http://schemas.microsoft.com/office/drawing/2014/main" id="{E8F6D439-B921-AC6E-9A40-E26E290DA5D8}"/>
                </a:ext>
              </a:extLst>
            </p:cNvPr>
            <p:cNvSpPr txBox="1"/>
            <p:nvPr/>
          </p:nvSpPr>
          <p:spPr>
            <a:xfrm>
              <a:off x="4857789" y="6070201"/>
              <a:ext cx="1397562" cy="400110"/>
            </a:xfrm>
            <a:prstGeom prst="rect">
              <a:avLst/>
            </a:prstGeom>
            <a:noFill/>
          </p:spPr>
          <p:txBody>
            <a:bodyPr wrap="none" rtlCol="0">
              <a:spAutoFit/>
            </a:bodyPr>
            <a:lstStyle/>
            <a:p>
              <a:r>
                <a:rPr lang="en-US" sz="2000" dirty="0"/>
                <a:t>Knowledge</a:t>
              </a:r>
            </a:p>
          </p:txBody>
        </p:sp>
        <p:grpSp>
          <p:nvGrpSpPr>
            <p:cNvPr id="5" name="Group 4">
              <a:extLst>
                <a:ext uri="{FF2B5EF4-FFF2-40B4-BE49-F238E27FC236}">
                  <a16:creationId xmlns:a16="http://schemas.microsoft.com/office/drawing/2014/main" id="{1EDAE401-1476-5C0D-4E2D-BC78CAEC1747}"/>
                </a:ext>
              </a:extLst>
            </p:cNvPr>
            <p:cNvGrpSpPr/>
            <p:nvPr/>
          </p:nvGrpSpPr>
          <p:grpSpPr>
            <a:xfrm>
              <a:off x="10275045" y="4943638"/>
              <a:ext cx="1365067" cy="1197944"/>
              <a:chOff x="685409" y="1298307"/>
              <a:chExt cx="2683159" cy="2015206"/>
            </a:xfrm>
          </p:grpSpPr>
          <p:grpSp>
            <p:nvGrpSpPr>
              <p:cNvPr id="6" name="Group 5">
                <a:extLst>
                  <a:ext uri="{FF2B5EF4-FFF2-40B4-BE49-F238E27FC236}">
                    <a16:creationId xmlns:a16="http://schemas.microsoft.com/office/drawing/2014/main" id="{DB94948C-EDBC-E13A-3C14-D81A63E5A4EC}"/>
                  </a:ext>
                </a:extLst>
              </p:cNvPr>
              <p:cNvGrpSpPr/>
              <p:nvPr/>
            </p:nvGrpSpPr>
            <p:grpSpPr>
              <a:xfrm>
                <a:off x="1097254" y="1480730"/>
                <a:ext cx="2052423" cy="1712148"/>
                <a:chOff x="1898557" y="878352"/>
                <a:chExt cx="6432007" cy="5616769"/>
              </a:xfrm>
            </p:grpSpPr>
            <p:sp>
              <p:nvSpPr>
                <p:cNvPr id="55" name="Oval 54">
                  <a:extLst>
                    <a:ext uri="{FF2B5EF4-FFF2-40B4-BE49-F238E27FC236}">
                      <a16:creationId xmlns:a16="http://schemas.microsoft.com/office/drawing/2014/main" id="{F9CB99A8-C46F-EF9C-7DF0-38CF0C843C6E}"/>
                    </a:ext>
                  </a:extLst>
                </p:cNvPr>
                <p:cNvSpPr/>
                <p:nvPr/>
              </p:nvSpPr>
              <p:spPr>
                <a:xfrm>
                  <a:off x="1952927" y="878352"/>
                  <a:ext cx="3834040" cy="3651313"/>
                </a:xfrm>
                <a:prstGeom prst="ellipse">
                  <a:avLst/>
                </a:prstGeom>
                <a:solidFill>
                  <a:srgbClr val="FFC000">
                    <a:alpha val="4413"/>
                  </a:srgbClr>
                </a:solidFill>
                <a:ln>
                  <a:solidFill>
                    <a:srgbClr val="FFC00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3203931A-30E6-C718-E2E7-9C052A939806}"/>
                    </a:ext>
                  </a:extLst>
                </p:cNvPr>
                <p:cNvSpPr/>
                <p:nvPr/>
              </p:nvSpPr>
              <p:spPr>
                <a:xfrm>
                  <a:off x="4443191" y="878352"/>
                  <a:ext cx="3887373" cy="3651313"/>
                </a:xfrm>
                <a:prstGeom prst="ellipse">
                  <a:avLst/>
                </a:prstGeom>
                <a:solidFill>
                  <a:srgbClr val="92D050">
                    <a:alpha val="5552"/>
                  </a:srgbClr>
                </a:solidFill>
                <a:ln>
                  <a:solidFill>
                    <a:srgbClr val="92D05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417DEFE5-29B2-D933-A604-162FFD77E85C}"/>
                    </a:ext>
                  </a:extLst>
                </p:cNvPr>
                <p:cNvSpPr/>
                <p:nvPr/>
              </p:nvSpPr>
              <p:spPr>
                <a:xfrm>
                  <a:off x="4415332" y="2843808"/>
                  <a:ext cx="3834040" cy="3651313"/>
                </a:xfrm>
                <a:prstGeom prst="ellipse">
                  <a:avLst/>
                </a:prstGeom>
                <a:solidFill>
                  <a:schemeClr val="tx2">
                    <a:lumMod val="50000"/>
                    <a:lumOff val="50000"/>
                    <a:alpha val="4700"/>
                  </a:schemeClr>
                </a:solidFill>
                <a:ln>
                  <a:solidFill>
                    <a:schemeClr val="tx2">
                      <a:lumMod val="75000"/>
                      <a:lumOff val="2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3B0E0C07-773B-EDD4-5627-534FE726D877}"/>
                    </a:ext>
                  </a:extLst>
                </p:cNvPr>
                <p:cNvSpPr/>
                <p:nvPr/>
              </p:nvSpPr>
              <p:spPr>
                <a:xfrm>
                  <a:off x="1898557" y="2827864"/>
                  <a:ext cx="3975268" cy="3642123"/>
                </a:xfrm>
                <a:prstGeom prst="ellipse">
                  <a:avLst/>
                </a:prstGeom>
                <a:solidFill>
                  <a:srgbClr val="7030A0">
                    <a:alpha val="5000"/>
                  </a:srgbClr>
                </a:solidFill>
                <a:ln>
                  <a:solidFill>
                    <a:srgbClr val="7030A0">
                      <a:alpha val="6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AutoShape 40" descr="Zenodo home">
                  <a:extLst>
                    <a:ext uri="{FF2B5EF4-FFF2-40B4-BE49-F238E27FC236}">
                      <a16:creationId xmlns:a16="http://schemas.microsoft.com/office/drawing/2014/main" id="{6BE1F145-564A-DC4C-9D94-256C3F1C440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AutoShape 58" descr="R (programming language) - Wikipedia">
                  <a:extLst>
                    <a:ext uri="{FF2B5EF4-FFF2-40B4-BE49-F238E27FC236}">
                      <a16:creationId xmlns:a16="http://schemas.microsoft.com/office/drawing/2014/main" id="{CF948B22-033E-EC42-ADAF-0D4045999C3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pic>
            <p:nvPicPr>
              <p:cNvPr id="51" name="Graphic 50" descr="Classroom with solid fill">
                <a:extLst>
                  <a:ext uri="{FF2B5EF4-FFF2-40B4-BE49-F238E27FC236}">
                    <a16:creationId xmlns:a16="http://schemas.microsoft.com/office/drawing/2014/main" id="{12199B88-B13C-54E2-039E-8042629FD9ED}"/>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2753056" y="1336829"/>
                <a:ext cx="615512" cy="615512"/>
              </a:xfrm>
              <a:prstGeom prst="rect">
                <a:avLst/>
              </a:prstGeom>
            </p:spPr>
          </p:pic>
          <p:pic>
            <p:nvPicPr>
              <p:cNvPr id="52" name="Graphic 51" descr="Clipboard Partially Ticked with solid fill">
                <a:extLst>
                  <a:ext uri="{FF2B5EF4-FFF2-40B4-BE49-F238E27FC236}">
                    <a16:creationId xmlns:a16="http://schemas.microsoft.com/office/drawing/2014/main" id="{72CAF98D-5AB1-56BB-8E2C-4E227CD98175}"/>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2617521" y="2562466"/>
                <a:ext cx="751047" cy="751047"/>
              </a:xfrm>
              <a:prstGeom prst="rect">
                <a:avLst/>
              </a:prstGeom>
            </p:spPr>
          </p:pic>
          <p:pic>
            <p:nvPicPr>
              <p:cNvPr id="53" name="Graphic 52" descr="Cheers with solid fill">
                <a:extLst>
                  <a:ext uri="{FF2B5EF4-FFF2-40B4-BE49-F238E27FC236}">
                    <a16:creationId xmlns:a16="http://schemas.microsoft.com/office/drawing/2014/main" id="{CB8083CB-5519-F13B-516B-72C1E1C2951C}"/>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741684" y="2669452"/>
                <a:ext cx="601468" cy="601468"/>
              </a:xfrm>
              <a:prstGeom prst="rect">
                <a:avLst/>
              </a:prstGeom>
            </p:spPr>
          </p:pic>
          <p:pic>
            <p:nvPicPr>
              <p:cNvPr id="54" name="Graphic 53" descr="Document with solid fill">
                <a:extLst>
                  <a:ext uri="{FF2B5EF4-FFF2-40B4-BE49-F238E27FC236}">
                    <a16:creationId xmlns:a16="http://schemas.microsoft.com/office/drawing/2014/main" id="{C431BE17-15C9-5DA9-BAD0-7179008C4AA8}"/>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85409" y="1298307"/>
                <a:ext cx="678604" cy="678604"/>
              </a:xfrm>
              <a:prstGeom prst="rect">
                <a:avLst/>
              </a:prstGeom>
            </p:spPr>
          </p:pic>
        </p:grpSp>
      </p:grpSp>
      <p:grpSp>
        <p:nvGrpSpPr>
          <p:cNvPr id="61" name="Group 60">
            <a:extLst>
              <a:ext uri="{FF2B5EF4-FFF2-40B4-BE49-F238E27FC236}">
                <a16:creationId xmlns:a16="http://schemas.microsoft.com/office/drawing/2014/main" id="{586C87D9-B806-9B28-7503-C616EC2BC1C4}"/>
              </a:ext>
            </a:extLst>
          </p:cNvPr>
          <p:cNvGrpSpPr/>
          <p:nvPr/>
        </p:nvGrpSpPr>
        <p:grpSpPr>
          <a:xfrm>
            <a:off x="5507310" y="1236331"/>
            <a:ext cx="3530527" cy="771846"/>
            <a:chOff x="1249262" y="2926161"/>
            <a:chExt cx="4622466" cy="888586"/>
          </a:xfrm>
        </p:grpSpPr>
        <p:grpSp>
          <p:nvGrpSpPr>
            <p:cNvPr id="62" name="Group 61">
              <a:extLst>
                <a:ext uri="{FF2B5EF4-FFF2-40B4-BE49-F238E27FC236}">
                  <a16:creationId xmlns:a16="http://schemas.microsoft.com/office/drawing/2014/main" id="{DFC0DFFE-7043-BCFE-EA90-4029F99AFB26}"/>
                </a:ext>
              </a:extLst>
            </p:cNvPr>
            <p:cNvGrpSpPr/>
            <p:nvPr/>
          </p:nvGrpSpPr>
          <p:grpSpPr>
            <a:xfrm>
              <a:off x="5040033" y="2931787"/>
              <a:ext cx="831695" cy="875891"/>
              <a:chOff x="9256513" y="1773566"/>
              <a:chExt cx="1646013" cy="1666134"/>
            </a:xfrm>
          </p:grpSpPr>
          <p:sp>
            <p:nvSpPr>
              <p:cNvPr id="2060" name="Oval 2059">
                <a:extLst>
                  <a:ext uri="{FF2B5EF4-FFF2-40B4-BE49-F238E27FC236}">
                    <a16:creationId xmlns:a16="http://schemas.microsoft.com/office/drawing/2014/main" id="{65669DAD-B21D-CA7F-B71F-48CE670CBF74}"/>
                  </a:ext>
                </a:extLst>
              </p:cNvPr>
              <p:cNvSpPr/>
              <p:nvPr/>
            </p:nvSpPr>
            <p:spPr>
              <a:xfrm>
                <a:off x="9256514" y="1773566"/>
                <a:ext cx="1646012"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61" name="Graphic 2060" descr="Checkbox Ticked with solid fill">
                <a:extLst>
                  <a:ext uri="{FF2B5EF4-FFF2-40B4-BE49-F238E27FC236}">
                    <a16:creationId xmlns:a16="http://schemas.microsoft.com/office/drawing/2014/main" id="{E22AC1D7-B150-44C0-3AEF-C809DC9F57D1}"/>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9256513" y="1787012"/>
                <a:ext cx="1641987" cy="1641987"/>
              </a:xfrm>
              <a:prstGeom prst="rect">
                <a:avLst/>
              </a:prstGeom>
            </p:spPr>
          </p:pic>
        </p:grpSp>
        <p:grpSp>
          <p:nvGrpSpPr>
            <p:cNvPr id="63" name="Group 62">
              <a:extLst>
                <a:ext uri="{FF2B5EF4-FFF2-40B4-BE49-F238E27FC236}">
                  <a16:creationId xmlns:a16="http://schemas.microsoft.com/office/drawing/2014/main" id="{619A5353-01D4-57F4-1A71-D53856AD4FFD}"/>
                </a:ext>
              </a:extLst>
            </p:cNvPr>
            <p:cNvGrpSpPr/>
            <p:nvPr/>
          </p:nvGrpSpPr>
          <p:grpSpPr>
            <a:xfrm>
              <a:off x="4097822" y="2931787"/>
              <a:ext cx="831696" cy="875891"/>
              <a:chOff x="6606024" y="1721448"/>
              <a:chExt cx="1641987" cy="1666134"/>
            </a:xfrm>
          </p:grpSpPr>
          <p:sp>
            <p:nvSpPr>
              <p:cNvPr id="2058" name="Oval 2057">
                <a:extLst>
                  <a:ext uri="{FF2B5EF4-FFF2-40B4-BE49-F238E27FC236}">
                    <a16:creationId xmlns:a16="http://schemas.microsoft.com/office/drawing/2014/main" id="{580D3690-7023-4AB3-2B56-160E419769DA}"/>
                  </a:ext>
                </a:extLst>
              </p:cNvPr>
              <p:cNvSpPr/>
              <p:nvPr/>
            </p:nvSpPr>
            <p:spPr>
              <a:xfrm>
                <a:off x="6606024" y="1721448"/>
                <a:ext cx="1641987" cy="1666134"/>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9" name="Graphic 2058" descr="Clapper board with solid fill">
                <a:extLst>
                  <a:ext uri="{FF2B5EF4-FFF2-40B4-BE49-F238E27FC236}">
                    <a16:creationId xmlns:a16="http://schemas.microsoft.com/office/drawing/2014/main" id="{BD5FB67D-AACD-91F3-9BE1-EDC1895B4BF2}"/>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6824209" y="1910345"/>
                <a:ext cx="1151526" cy="1151526"/>
              </a:xfrm>
              <a:prstGeom prst="rect">
                <a:avLst/>
              </a:prstGeom>
            </p:spPr>
          </p:pic>
        </p:grpSp>
        <p:grpSp>
          <p:nvGrpSpPr>
            <p:cNvPr id="2048" name="Group 2047">
              <a:extLst>
                <a:ext uri="{FF2B5EF4-FFF2-40B4-BE49-F238E27FC236}">
                  <a16:creationId xmlns:a16="http://schemas.microsoft.com/office/drawing/2014/main" id="{7180B8BA-478E-A0CD-EA94-62EB430CB075}"/>
                </a:ext>
              </a:extLst>
            </p:cNvPr>
            <p:cNvGrpSpPr/>
            <p:nvPr/>
          </p:nvGrpSpPr>
          <p:grpSpPr>
            <a:xfrm>
              <a:off x="3155610" y="2926162"/>
              <a:ext cx="831696" cy="875891"/>
              <a:chOff x="4435504" y="1964618"/>
              <a:chExt cx="1641987" cy="1614426"/>
            </a:xfrm>
          </p:grpSpPr>
          <p:sp>
            <p:nvSpPr>
              <p:cNvPr id="2056" name="Oval 2055">
                <a:extLst>
                  <a:ext uri="{FF2B5EF4-FFF2-40B4-BE49-F238E27FC236}">
                    <a16:creationId xmlns:a16="http://schemas.microsoft.com/office/drawing/2014/main" id="{5EF08A7E-3241-7FE5-DCE9-BCE03F363CFB}"/>
                  </a:ext>
                </a:extLst>
              </p:cNvPr>
              <p:cNvSpPr/>
              <p:nvPr/>
            </p:nvSpPr>
            <p:spPr>
              <a:xfrm>
                <a:off x="4435504" y="1964618"/>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7" name="Graphic 2056" descr="User with solid fill">
                <a:extLst>
                  <a:ext uri="{FF2B5EF4-FFF2-40B4-BE49-F238E27FC236}">
                    <a16:creationId xmlns:a16="http://schemas.microsoft.com/office/drawing/2014/main" id="{9705EC91-3692-0119-7DE3-4FE7DDC26673}"/>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4645029" y="2134541"/>
                <a:ext cx="1196343" cy="1196343"/>
              </a:xfrm>
              <a:prstGeom prst="rect">
                <a:avLst/>
              </a:prstGeom>
            </p:spPr>
          </p:pic>
        </p:grpSp>
        <p:grpSp>
          <p:nvGrpSpPr>
            <p:cNvPr id="2049" name="Group 2048">
              <a:extLst>
                <a:ext uri="{FF2B5EF4-FFF2-40B4-BE49-F238E27FC236}">
                  <a16:creationId xmlns:a16="http://schemas.microsoft.com/office/drawing/2014/main" id="{76FE28B6-25C9-C90C-AEF1-7F1AB6414DBA}"/>
                </a:ext>
              </a:extLst>
            </p:cNvPr>
            <p:cNvGrpSpPr/>
            <p:nvPr/>
          </p:nvGrpSpPr>
          <p:grpSpPr>
            <a:xfrm>
              <a:off x="1249262" y="2938856"/>
              <a:ext cx="844494" cy="875891"/>
              <a:chOff x="316947" y="2007971"/>
              <a:chExt cx="1641987" cy="1614426"/>
            </a:xfrm>
          </p:grpSpPr>
          <p:sp>
            <p:nvSpPr>
              <p:cNvPr id="2054" name="Oval 2053">
                <a:extLst>
                  <a:ext uri="{FF2B5EF4-FFF2-40B4-BE49-F238E27FC236}">
                    <a16:creationId xmlns:a16="http://schemas.microsoft.com/office/drawing/2014/main" id="{94EE1D91-D02D-9263-F183-DB94BB38DE96}"/>
                  </a:ext>
                </a:extLst>
              </p:cNvPr>
              <p:cNvSpPr/>
              <p:nvPr/>
            </p:nvSpPr>
            <p:spPr>
              <a:xfrm>
                <a:off x="316947" y="200797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5" name="Graphic 2054" descr="Magnifying glass with solid fill">
                <a:extLst>
                  <a:ext uri="{FF2B5EF4-FFF2-40B4-BE49-F238E27FC236}">
                    <a16:creationId xmlns:a16="http://schemas.microsoft.com/office/drawing/2014/main" id="{89E1AF1F-C08F-EF33-4C6B-728EEC3C940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537761" y="2261216"/>
                <a:ext cx="1080886" cy="1080886"/>
              </a:xfrm>
              <a:prstGeom prst="rect">
                <a:avLst/>
              </a:prstGeom>
            </p:spPr>
          </p:pic>
        </p:grpSp>
        <p:grpSp>
          <p:nvGrpSpPr>
            <p:cNvPr id="2051" name="Group 2050">
              <a:extLst>
                <a:ext uri="{FF2B5EF4-FFF2-40B4-BE49-F238E27FC236}">
                  <a16:creationId xmlns:a16="http://schemas.microsoft.com/office/drawing/2014/main" id="{FFD1158B-5586-7511-B1B9-4DE308415F28}"/>
                </a:ext>
              </a:extLst>
            </p:cNvPr>
            <p:cNvGrpSpPr/>
            <p:nvPr/>
          </p:nvGrpSpPr>
          <p:grpSpPr>
            <a:xfrm>
              <a:off x="2204272" y="2926161"/>
              <a:ext cx="831696" cy="875891"/>
              <a:chOff x="2627760" y="2015531"/>
              <a:chExt cx="1641987" cy="1614426"/>
            </a:xfrm>
          </p:grpSpPr>
          <p:sp>
            <p:nvSpPr>
              <p:cNvPr id="2052" name="Oval 2051">
                <a:extLst>
                  <a:ext uri="{FF2B5EF4-FFF2-40B4-BE49-F238E27FC236}">
                    <a16:creationId xmlns:a16="http://schemas.microsoft.com/office/drawing/2014/main" id="{83A7B06A-2B28-172E-1AD4-B765B0B0E19A}"/>
                  </a:ext>
                </a:extLst>
              </p:cNvPr>
              <p:cNvSpPr/>
              <p:nvPr/>
            </p:nvSpPr>
            <p:spPr>
              <a:xfrm>
                <a:off x="2627760" y="2015531"/>
                <a:ext cx="1641987" cy="161442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3" name="Graphic 2052" descr="Thumbs up sign with solid fill">
                <a:extLst>
                  <a:ext uri="{FF2B5EF4-FFF2-40B4-BE49-F238E27FC236}">
                    <a16:creationId xmlns:a16="http://schemas.microsoft.com/office/drawing/2014/main" id="{2239DFA2-B07E-4CB2-6599-566162886D8F}"/>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2949859" y="2357984"/>
                <a:ext cx="914400" cy="914400"/>
              </a:xfrm>
              <a:prstGeom prst="rect">
                <a:avLst/>
              </a:prstGeom>
            </p:spPr>
          </p:pic>
        </p:grpSp>
      </p:grpSp>
      <p:sp>
        <p:nvSpPr>
          <p:cNvPr id="2063" name="TextBox 2062">
            <a:extLst>
              <a:ext uri="{FF2B5EF4-FFF2-40B4-BE49-F238E27FC236}">
                <a16:creationId xmlns:a16="http://schemas.microsoft.com/office/drawing/2014/main" id="{21D9A1E2-DC27-6498-F0D0-43E1957FBB06}"/>
              </a:ext>
            </a:extLst>
          </p:cNvPr>
          <p:cNvSpPr txBox="1"/>
          <p:nvPr/>
        </p:nvSpPr>
        <p:spPr>
          <a:xfrm>
            <a:off x="9129218" y="1209145"/>
            <a:ext cx="3399851" cy="830997"/>
          </a:xfrm>
          <a:prstGeom prst="rect">
            <a:avLst/>
          </a:prstGeom>
          <a:noFill/>
        </p:spPr>
        <p:txBody>
          <a:bodyPr wrap="square" rtlCol="0">
            <a:spAutoFit/>
          </a:bodyPr>
          <a:lstStyle/>
          <a:p>
            <a:r>
              <a:rPr lang="en-US" sz="2400" b="1" dirty="0"/>
              <a:t>5A framework </a:t>
            </a:r>
            <a:r>
              <a:rPr lang="en-US" sz="2400" dirty="0"/>
              <a:t>for navigating challenges</a:t>
            </a:r>
          </a:p>
        </p:txBody>
      </p:sp>
      <p:grpSp>
        <p:nvGrpSpPr>
          <p:cNvPr id="2065" name="Group 2064">
            <a:extLst>
              <a:ext uri="{FF2B5EF4-FFF2-40B4-BE49-F238E27FC236}">
                <a16:creationId xmlns:a16="http://schemas.microsoft.com/office/drawing/2014/main" id="{B0EA70E1-39F4-59F4-0E77-700D165F3A4A}"/>
              </a:ext>
            </a:extLst>
          </p:cNvPr>
          <p:cNvGrpSpPr/>
          <p:nvPr/>
        </p:nvGrpSpPr>
        <p:grpSpPr>
          <a:xfrm>
            <a:off x="10704849" y="6564312"/>
            <a:ext cx="1362075" cy="273690"/>
            <a:chOff x="19317" y="2690018"/>
            <a:chExt cx="11784755" cy="2025180"/>
          </a:xfrm>
        </p:grpSpPr>
        <p:pic>
          <p:nvPicPr>
            <p:cNvPr id="2066" name="Picture 2">
              <a:extLst>
                <a:ext uri="{FF2B5EF4-FFF2-40B4-BE49-F238E27FC236}">
                  <a16:creationId xmlns:a16="http://schemas.microsoft.com/office/drawing/2014/main" id="{124ECC7A-B60E-4B6A-BDBD-1104392DBE19}"/>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2067" name="Picture 2066">
              <a:extLst>
                <a:ext uri="{FF2B5EF4-FFF2-40B4-BE49-F238E27FC236}">
                  <a16:creationId xmlns:a16="http://schemas.microsoft.com/office/drawing/2014/main" id="{804D624C-E6B8-7AA8-9372-89BC508335CE}"/>
                </a:ext>
              </a:extLst>
            </p:cNvPr>
            <p:cNvPicPr>
              <a:picLocks noChangeAspect="1"/>
            </p:cNvPicPr>
            <p:nvPr/>
          </p:nvPicPr>
          <p:blipFill>
            <a:blip r:embed="rId31"/>
            <a:stretch>
              <a:fillRect/>
            </a:stretch>
          </p:blipFill>
          <p:spPr>
            <a:xfrm>
              <a:off x="5728531" y="2690018"/>
              <a:ext cx="6075541" cy="2025180"/>
            </a:xfrm>
            <a:prstGeom prst="rect">
              <a:avLst/>
            </a:prstGeom>
          </p:spPr>
        </p:pic>
      </p:grpSp>
      <p:sp>
        <p:nvSpPr>
          <p:cNvPr id="2068" name="Slide Number Placeholder 61">
            <a:extLst>
              <a:ext uri="{FF2B5EF4-FFF2-40B4-BE49-F238E27FC236}">
                <a16:creationId xmlns:a16="http://schemas.microsoft.com/office/drawing/2014/main" id="{05FCA0EE-F1DA-303E-DF6C-148F88230918}"/>
              </a:ext>
            </a:extLst>
          </p:cNvPr>
          <p:cNvSpPr>
            <a:spLocks noGrp="1"/>
          </p:cNvSpPr>
          <p:nvPr>
            <p:ph type="sldNum" sz="quarter" idx="12"/>
          </p:nvPr>
        </p:nvSpPr>
        <p:spPr>
          <a:xfrm>
            <a:off x="8610600" y="6356350"/>
            <a:ext cx="2743200" cy="365125"/>
          </a:xfrm>
        </p:spPr>
        <p:txBody>
          <a:bodyPr/>
          <a:lstStyle/>
          <a:p>
            <a:fld id="{DC6309F4-03C8-4D48-A124-A9AD6E083FAC}" type="slidenum">
              <a:rPr lang="en-US" smtClean="0"/>
              <a:t>27</a:t>
            </a:fld>
            <a:endParaRPr lang="en-US"/>
          </a:p>
        </p:txBody>
      </p:sp>
      <p:sp>
        <p:nvSpPr>
          <p:cNvPr id="2070" name="Title 1">
            <a:extLst>
              <a:ext uri="{FF2B5EF4-FFF2-40B4-BE49-F238E27FC236}">
                <a16:creationId xmlns:a16="http://schemas.microsoft.com/office/drawing/2014/main" id="{7B2251E8-B7A5-B3FB-2E06-EE543E358088}"/>
              </a:ext>
            </a:extLst>
          </p:cNvPr>
          <p:cNvSpPr txBox="1">
            <a:spLocks/>
          </p:cNvSpPr>
          <p:nvPr/>
        </p:nvSpPr>
        <p:spPr>
          <a:xfrm>
            <a:off x="0" y="18255"/>
            <a:ext cx="12268200" cy="7998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Leadership in Open Science take home messages</a:t>
            </a:r>
            <a:endParaRPr lang="en-US" b="1" dirty="0"/>
          </a:p>
        </p:txBody>
      </p:sp>
    </p:spTree>
    <p:extLst>
      <p:ext uri="{BB962C8B-B14F-4D97-AF65-F5344CB8AC3E}">
        <p14:creationId xmlns:p14="http://schemas.microsoft.com/office/powerpoint/2010/main" val="2574926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E526261-F4D5-1F38-9E97-0229606AE47A}"/>
              </a:ext>
            </a:extLst>
          </p:cNvPr>
          <p:cNvSpPr txBox="1"/>
          <p:nvPr/>
        </p:nvSpPr>
        <p:spPr>
          <a:xfrm>
            <a:off x="0" y="0"/>
            <a:ext cx="12192000" cy="769441"/>
          </a:xfrm>
          <a:prstGeom prst="rect">
            <a:avLst/>
          </a:prstGeom>
          <a:noFill/>
        </p:spPr>
        <p:txBody>
          <a:bodyPr wrap="square" rtlCol="0">
            <a:spAutoFit/>
          </a:bodyPr>
          <a:lstStyle/>
          <a:p>
            <a:r>
              <a:rPr lang="en-US" sz="4400" b="1" dirty="0"/>
              <a:t>Leadership in Open Science summary sheet </a:t>
            </a:r>
          </a:p>
        </p:txBody>
      </p:sp>
      <p:grpSp>
        <p:nvGrpSpPr>
          <p:cNvPr id="11" name="Group 10">
            <a:extLst>
              <a:ext uri="{FF2B5EF4-FFF2-40B4-BE49-F238E27FC236}">
                <a16:creationId xmlns:a16="http://schemas.microsoft.com/office/drawing/2014/main" id="{243ADDDE-C672-E992-7318-E4B8366D8DF2}"/>
              </a:ext>
            </a:extLst>
          </p:cNvPr>
          <p:cNvGrpSpPr/>
          <p:nvPr/>
        </p:nvGrpSpPr>
        <p:grpSpPr>
          <a:xfrm>
            <a:off x="10704849" y="6564312"/>
            <a:ext cx="1362075" cy="273690"/>
            <a:chOff x="19317" y="2690018"/>
            <a:chExt cx="11784755" cy="2025180"/>
          </a:xfrm>
        </p:grpSpPr>
        <p:pic>
          <p:nvPicPr>
            <p:cNvPr id="12" name="Picture 2">
              <a:extLst>
                <a:ext uri="{FF2B5EF4-FFF2-40B4-BE49-F238E27FC236}">
                  <a16:creationId xmlns:a16="http://schemas.microsoft.com/office/drawing/2014/main" id="{CFADEF56-3058-A8ED-E4AC-6EE57AE4E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EA11F963-FF0E-5C8F-FFA9-B4CC265F8C88}"/>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4" name="Slide Number Placeholder 61">
            <a:extLst>
              <a:ext uri="{FF2B5EF4-FFF2-40B4-BE49-F238E27FC236}">
                <a16:creationId xmlns:a16="http://schemas.microsoft.com/office/drawing/2014/main" id="{D8D8E6BF-921D-6CBF-8A78-82A010289ADB}"/>
              </a:ext>
            </a:extLst>
          </p:cNvPr>
          <p:cNvSpPr>
            <a:spLocks noGrp="1"/>
          </p:cNvSpPr>
          <p:nvPr>
            <p:ph type="sldNum" sz="quarter" idx="12"/>
          </p:nvPr>
        </p:nvSpPr>
        <p:spPr>
          <a:xfrm>
            <a:off x="8610600" y="6356350"/>
            <a:ext cx="2743200" cy="365125"/>
          </a:xfrm>
        </p:spPr>
        <p:txBody>
          <a:bodyPr/>
          <a:lstStyle/>
          <a:p>
            <a:fld id="{DC6309F4-03C8-4D48-A124-A9AD6E083FAC}" type="slidenum">
              <a:rPr lang="en-US" smtClean="0"/>
              <a:t>28</a:t>
            </a:fld>
            <a:endParaRPr lang="en-US"/>
          </a:p>
        </p:txBody>
      </p:sp>
      <p:sp>
        <p:nvSpPr>
          <p:cNvPr id="3" name="TextBox 2">
            <a:extLst>
              <a:ext uri="{FF2B5EF4-FFF2-40B4-BE49-F238E27FC236}">
                <a16:creationId xmlns:a16="http://schemas.microsoft.com/office/drawing/2014/main" id="{71F011DD-1C8E-F8B8-1A2D-F29B317742CC}"/>
              </a:ext>
            </a:extLst>
          </p:cNvPr>
          <p:cNvSpPr txBox="1"/>
          <p:nvPr/>
        </p:nvSpPr>
        <p:spPr>
          <a:xfrm>
            <a:off x="3762830" y="6162188"/>
            <a:ext cx="6219370" cy="369332"/>
          </a:xfrm>
          <a:prstGeom prst="rect">
            <a:avLst/>
          </a:prstGeom>
          <a:noFill/>
        </p:spPr>
        <p:txBody>
          <a:bodyPr wrap="square">
            <a:spAutoFit/>
          </a:bodyPr>
          <a:lstStyle/>
          <a:p>
            <a:r>
              <a:rPr lang="en-US" dirty="0">
                <a:hlinkClick r:id="rId5"/>
              </a:rPr>
              <a:t>https://zenodo.org/records/22655511 </a:t>
            </a:r>
            <a:endParaRPr lang="en-US" dirty="0"/>
          </a:p>
        </p:txBody>
      </p:sp>
      <p:pic>
        <p:nvPicPr>
          <p:cNvPr id="6" name="Picture 5">
            <a:extLst>
              <a:ext uri="{FF2B5EF4-FFF2-40B4-BE49-F238E27FC236}">
                <a16:creationId xmlns:a16="http://schemas.microsoft.com/office/drawing/2014/main" id="{80D39DFB-C0E8-A140-2C7E-42380842184F}"/>
              </a:ext>
            </a:extLst>
          </p:cNvPr>
          <p:cNvPicPr>
            <a:picLocks noChangeAspect="1"/>
          </p:cNvPicPr>
          <p:nvPr/>
        </p:nvPicPr>
        <p:blipFill>
          <a:blip r:embed="rId6"/>
          <a:stretch>
            <a:fillRect/>
          </a:stretch>
        </p:blipFill>
        <p:spPr>
          <a:xfrm>
            <a:off x="3121107" y="769441"/>
            <a:ext cx="5307420" cy="5307420"/>
          </a:xfrm>
          <a:prstGeom prst="rect">
            <a:avLst/>
          </a:prstGeom>
        </p:spPr>
      </p:pic>
    </p:spTree>
    <p:extLst>
      <p:ext uri="{BB962C8B-B14F-4D97-AF65-F5344CB8AC3E}">
        <p14:creationId xmlns:p14="http://schemas.microsoft.com/office/powerpoint/2010/main" val="12622962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A54870-2707-4C6C-18D0-0489849F91A3}"/>
              </a:ext>
            </a:extLst>
          </p:cNvPr>
          <p:cNvPicPr>
            <a:picLocks noChangeAspect="1"/>
          </p:cNvPicPr>
          <p:nvPr/>
        </p:nvPicPr>
        <p:blipFill>
          <a:blip r:embed="rId3"/>
          <a:srcRect l="1425" b="11495"/>
          <a:stretch>
            <a:fillRect/>
          </a:stretch>
        </p:blipFill>
        <p:spPr>
          <a:xfrm>
            <a:off x="62930" y="228319"/>
            <a:ext cx="12129070" cy="6034825"/>
          </a:xfrm>
          <a:prstGeom prst="rect">
            <a:avLst/>
          </a:prstGeom>
        </p:spPr>
      </p:pic>
      <p:grpSp>
        <p:nvGrpSpPr>
          <p:cNvPr id="3" name="Group 2">
            <a:extLst>
              <a:ext uri="{FF2B5EF4-FFF2-40B4-BE49-F238E27FC236}">
                <a16:creationId xmlns:a16="http://schemas.microsoft.com/office/drawing/2014/main" id="{3CA4FF30-DE77-0225-39FC-9F5BAA2A2E5E}"/>
              </a:ext>
            </a:extLst>
          </p:cNvPr>
          <p:cNvGrpSpPr/>
          <p:nvPr/>
        </p:nvGrpSpPr>
        <p:grpSpPr>
          <a:xfrm>
            <a:off x="10704849" y="6564312"/>
            <a:ext cx="1362075" cy="273690"/>
            <a:chOff x="19317" y="2690018"/>
            <a:chExt cx="11784755" cy="2025180"/>
          </a:xfrm>
        </p:grpSpPr>
        <p:pic>
          <p:nvPicPr>
            <p:cNvPr id="5" name="Picture 2">
              <a:extLst>
                <a:ext uri="{FF2B5EF4-FFF2-40B4-BE49-F238E27FC236}">
                  <a16:creationId xmlns:a16="http://schemas.microsoft.com/office/drawing/2014/main" id="{6CE44410-C28B-1CDA-5E76-BA2E7080A0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58F86CD-9AEB-D5A0-B6EB-612D4B567936}"/>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7" name="Slide Number Placeholder 61">
            <a:extLst>
              <a:ext uri="{FF2B5EF4-FFF2-40B4-BE49-F238E27FC236}">
                <a16:creationId xmlns:a16="http://schemas.microsoft.com/office/drawing/2014/main" id="{DDE46320-C9AE-3B4E-601C-04B0DDB26A61}"/>
              </a:ext>
            </a:extLst>
          </p:cNvPr>
          <p:cNvSpPr>
            <a:spLocks noGrp="1"/>
          </p:cNvSpPr>
          <p:nvPr>
            <p:ph type="sldNum" sz="quarter" idx="12"/>
          </p:nvPr>
        </p:nvSpPr>
        <p:spPr>
          <a:xfrm>
            <a:off x="8610600" y="6356350"/>
            <a:ext cx="2743200" cy="365125"/>
          </a:xfrm>
        </p:spPr>
        <p:txBody>
          <a:bodyPr/>
          <a:lstStyle/>
          <a:p>
            <a:fld id="{DC6309F4-03C8-4D48-A124-A9AD6E083FAC}" type="slidenum">
              <a:rPr lang="en-US" smtClean="0"/>
              <a:t>29</a:t>
            </a:fld>
            <a:endParaRPr lang="en-US"/>
          </a:p>
        </p:txBody>
      </p:sp>
    </p:spTree>
    <p:extLst>
      <p:ext uri="{BB962C8B-B14F-4D97-AF65-F5344CB8AC3E}">
        <p14:creationId xmlns:p14="http://schemas.microsoft.com/office/powerpoint/2010/main" val="36910560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C4F06-0BFB-1447-289F-4C5343BE303B}"/>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99D12FDC-ED74-3FA9-C23F-C5FAAAE30590}"/>
              </a:ext>
            </a:extLst>
          </p:cNvPr>
          <p:cNvGrpSpPr/>
          <p:nvPr/>
        </p:nvGrpSpPr>
        <p:grpSpPr>
          <a:xfrm>
            <a:off x="10704849" y="6564312"/>
            <a:ext cx="1362075" cy="273690"/>
            <a:chOff x="19317" y="2690018"/>
            <a:chExt cx="11784755" cy="2025180"/>
          </a:xfrm>
        </p:grpSpPr>
        <p:pic>
          <p:nvPicPr>
            <p:cNvPr id="6" name="Picture 2">
              <a:extLst>
                <a:ext uri="{FF2B5EF4-FFF2-40B4-BE49-F238E27FC236}">
                  <a16:creationId xmlns:a16="http://schemas.microsoft.com/office/drawing/2014/main" id="{91ECBA93-B3A9-C169-23DC-3DE0EB621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4D64969-159E-6819-D90E-0E1B3AEFC21F}"/>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8" name="Title 1">
            <a:extLst>
              <a:ext uri="{FF2B5EF4-FFF2-40B4-BE49-F238E27FC236}">
                <a16:creationId xmlns:a16="http://schemas.microsoft.com/office/drawing/2014/main" id="{5FE3B403-CD77-4BE8-69BF-CC2CFA3CAA52}"/>
              </a:ext>
            </a:extLst>
          </p:cNvPr>
          <p:cNvSpPr txBox="1">
            <a:spLocks/>
          </p:cNvSpPr>
          <p:nvPr/>
        </p:nvSpPr>
        <p:spPr>
          <a:xfrm>
            <a:off x="0" y="1"/>
            <a:ext cx="12192000" cy="83099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Survey</a:t>
            </a:r>
          </a:p>
        </p:txBody>
      </p:sp>
      <p:sp>
        <p:nvSpPr>
          <p:cNvPr id="9" name="Slide Number Placeholder 1">
            <a:extLst>
              <a:ext uri="{FF2B5EF4-FFF2-40B4-BE49-F238E27FC236}">
                <a16:creationId xmlns:a16="http://schemas.microsoft.com/office/drawing/2014/main" id="{86CA8447-D90B-031F-56F3-B26E623BBFDB}"/>
              </a:ext>
            </a:extLst>
          </p:cNvPr>
          <p:cNvSpPr>
            <a:spLocks noGrp="1"/>
          </p:cNvSpPr>
          <p:nvPr>
            <p:ph type="sldNum" sz="quarter" idx="12"/>
          </p:nvPr>
        </p:nvSpPr>
        <p:spPr>
          <a:xfrm>
            <a:off x="8610600" y="6356350"/>
            <a:ext cx="2743200" cy="365125"/>
          </a:xfrm>
        </p:spPr>
        <p:txBody>
          <a:bodyPr/>
          <a:lstStyle/>
          <a:p>
            <a:fld id="{D292B180-B274-DE43-B36F-C827C7616C05}" type="slidenum">
              <a:rPr lang="en-US" smtClean="0"/>
              <a:t>30</a:t>
            </a:fld>
            <a:endParaRPr lang="en-US"/>
          </a:p>
        </p:txBody>
      </p:sp>
      <p:sp>
        <p:nvSpPr>
          <p:cNvPr id="11" name="TextBox 10">
            <a:extLst>
              <a:ext uri="{FF2B5EF4-FFF2-40B4-BE49-F238E27FC236}">
                <a16:creationId xmlns:a16="http://schemas.microsoft.com/office/drawing/2014/main" id="{73CCEF60-2B22-0950-F88B-1446A8C542EF}"/>
              </a:ext>
            </a:extLst>
          </p:cNvPr>
          <p:cNvSpPr txBox="1"/>
          <p:nvPr/>
        </p:nvSpPr>
        <p:spPr>
          <a:xfrm>
            <a:off x="568652" y="2834874"/>
            <a:ext cx="10459279" cy="830997"/>
          </a:xfrm>
          <a:prstGeom prst="rect">
            <a:avLst/>
          </a:prstGeom>
          <a:noFill/>
        </p:spPr>
        <p:txBody>
          <a:bodyPr wrap="square">
            <a:spAutoFit/>
          </a:bodyPr>
          <a:lstStyle/>
          <a:p>
            <a:r>
              <a:rPr lang="en-US" sz="2400" dirty="0"/>
              <a:t>1. </a:t>
            </a:r>
            <a:r>
              <a:rPr lang="en-GB" sz="2400" dirty="0">
                <a:effectLst/>
              </a:rPr>
              <a:t>use effective strategies to address challenges within Open Science?</a:t>
            </a:r>
            <a:endParaRPr lang="en-GB" sz="2400" b="0" dirty="0">
              <a:effectLst/>
              <a:latin typeface="Calibri" panose="020F0502020204030204" pitchFamily="34" charset="0"/>
            </a:endParaRPr>
          </a:p>
          <a:p>
            <a:endParaRPr lang="en-US" sz="2400" dirty="0"/>
          </a:p>
        </p:txBody>
      </p:sp>
      <p:sp>
        <p:nvSpPr>
          <p:cNvPr id="12" name="TextBox 11">
            <a:extLst>
              <a:ext uri="{FF2B5EF4-FFF2-40B4-BE49-F238E27FC236}">
                <a16:creationId xmlns:a16="http://schemas.microsoft.com/office/drawing/2014/main" id="{FBCD12D2-39AA-12AC-4E77-4C9B88D77B98}"/>
              </a:ext>
            </a:extLst>
          </p:cNvPr>
          <p:cNvSpPr txBox="1"/>
          <p:nvPr/>
        </p:nvSpPr>
        <p:spPr>
          <a:xfrm>
            <a:off x="568652" y="1730536"/>
            <a:ext cx="5386090" cy="830997"/>
          </a:xfrm>
          <a:prstGeom prst="rect">
            <a:avLst/>
          </a:prstGeom>
          <a:noFill/>
        </p:spPr>
        <p:txBody>
          <a:bodyPr wrap="none" rtlCol="0">
            <a:spAutoFit/>
          </a:bodyPr>
          <a:lstStyle/>
          <a:p>
            <a:r>
              <a:rPr lang="en-US" sz="2400" dirty="0"/>
              <a:t>How confident are you in your ability to:</a:t>
            </a:r>
          </a:p>
          <a:p>
            <a:r>
              <a:rPr lang="en-US" sz="2400" dirty="0"/>
              <a:t> </a:t>
            </a:r>
          </a:p>
        </p:txBody>
      </p:sp>
      <p:sp>
        <p:nvSpPr>
          <p:cNvPr id="13" name="TextBox 12">
            <a:extLst>
              <a:ext uri="{FF2B5EF4-FFF2-40B4-BE49-F238E27FC236}">
                <a16:creationId xmlns:a16="http://schemas.microsoft.com/office/drawing/2014/main" id="{8EB36E68-14EF-8626-A01B-00DA3177F565}"/>
              </a:ext>
            </a:extLst>
          </p:cNvPr>
          <p:cNvSpPr txBox="1"/>
          <p:nvPr/>
        </p:nvSpPr>
        <p:spPr>
          <a:xfrm>
            <a:off x="568652" y="2192201"/>
            <a:ext cx="9165009" cy="369332"/>
          </a:xfrm>
          <a:prstGeom prst="rect">
            <a:avLst/>
          </a:prstGeom>
          <a:noFill/>
        </p:spPr>
        <p:txBody>
          <a:bodyPr wrap="none" rtlCol="0">
            <a:spAutoFit/>
          </a:bodyPr>
          <a:lstStyle/>
          <a:p>
            <a:r>
              <a:rPr lang="en-US" i="1" dirty="0"/>
              <a:t>0 = not confident at all, 1 = mostly not confident, 2 = somewhat confident, 3 = very confident</a:t>
            </a:r>
          </a:p>
        </p:txBody>
      </p:sp>
    </p:spTree>
    <p:extLst>
      <p:ext uri="{BB962C8B-B14F-4D97-AF65-F5344CB8AC3E}">
        <p14:creationId xmlns:p14="http://schemas.microsoft.com/office/powerpoint/2010/main" val="29551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49035-997E-DB6F-E1A9-F27912742583}"/>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B8A25255-C463-E6DE-8E2E-0ABEBE04161D}"/>
              </a:ext>
            </a:extLst>
          </p:cNvPr>
          <p:cNvGrpSpPr/>
          <p:nvPr/>
        </p:nvGrpSpPr>
        <p:grpSpPr>
          <a:xfrm>
            <a:off x="10704849" y="6564312"/>
            <a:ext cx="1362075" cy="273690"/>
            <a:chOff x="19317" y="2690018"/>
            <a:chExt cx="11784755" cy="2025180"/>
          </a:xfrm>
        </p:grpSpPr>
        <p:pic>
          <p:nvPicPr>
            <p:cNvPr id="6" name="Picture 2">
              <a:extLst>
                <a:ext uri="{FF2B5EF4-FFF2-40B4-BE49-F238E27FC236}">
                  <a16:creationId xmlns:a16="http://schemas.microsoft.com/office/drawing/2014/main" id="{9929A7C9-5865-F9FA-C9DF-CC1935964B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CC809D3-23AE-7F3D-04BF-F8E82138E752}"/>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8" name="Title 1">
            <a:extLst>
              <a:ext uri="{FF2B5EF4-FFF2-40B4-BE49-F238E27FC236}">
                <a16:creationId xmlns:a16="http://schemas.microsoft.com/office/drawing/2014/main" id="{5D323F24-6FF6-E463-A0C6-86EBD85CFDBB}"/>
              </a:ext>
            </a:extLst>
          </p:cNvPr>
          <p:cNvSpPr txBox="1">
            <a:spLocks/>
          </p:cNvSpPr>
          <p:nvPr/>
        </p:nvSpPr>
        <p:spPr>
          <a:xfrm>
            <a:off x="0" y="1"/>
            <a:ext cx="12192000" cy="83099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Questions</a:t>
            </a:r>
          </a:p>
        </p:txBody>
      </p:sp>
      <p:sp>
        <p:nvSpPr>
          <p:cNvPr id="9" name="Slide Number Placeholder 1">
            <a:extLst>
              <a:ext uri="{FF2B5EF4-FFF2-40B4-BE49-F238E27FC236}">
                <a16:creationId xmlns:a16="http://schemas.microsoft.com/office/drawing/2014/main" id="{EED44D35-E1B6-F321-132A-DBA1FC84ED8F}"/>
              </a:ext>
            </a:extLst>
          </p:cNvPr>
          <p:cNvSpPr>
            <a:spLocks noGrp="1"/>
          </p:cNvSpPr>
          <p:nvPr>
            <p:ph type="sldNum" sz="quarter" idx="12"/>
          </p:nvPr>
        </p:nvSpPr>
        <p:spPr>
          <a:xfrm>
            <a:off x="8610600" y="6356350"/>
            <a:ext cx="2743200" cy="365125"/>
          </a:xfrm>
        </p:spPr>
        <p:txBody>
          <a:bodyPr/>
          <a:lstStyle/>
          <a:p>
            <a:fld id="{D292B180-B274-DE43-B36F-C827C7616C05}" type="slidenum">
              <a:rPr lang="en-US" smtClean="0"/>
              <a:t>31</a:t>
            </a:fld>
            <a:endParaRPr lang="en-US"/>
          </a:p>
        </p:txBody>
      </p:sp>
    </p:spTree>
    <p:extLst>
      <p:ext uri="{BB962C8B-B14F-4D97-AF65-F5344CB8AC3E}">
        <p14:creationId xmlns:p14="http://schemas.microsoft.com/office/powerpoint/2010/main" val="40823134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782E8-4195-1AAF-08DE-A4DF1F6DC291}"/>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0AB3B511-8C80-8F9B-0037-543199153B1A}"/>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CA83B2B9-ED47-4C5E-8B2D-92215BF601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7DAC1D1D-6F62-B3C6-61E1-5C626B133A47}"/>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DF8EB6EB-04B7-380D-89E0-7A851FD67637}"/>
              </a:ext>
            </a:extLst>
          </p:cNvPr>
          <p:cNvSpPr txBox="1">
            <a:spLocks/>
          </p:cNvSpPr>
          <p:nvPr/>
        </p:nvSpPr>
        <p:spPr>
          <a:xfrm>
            <a:off x="0" y="0"/>
            <a:ext cx="12192000" cy="981091"/>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License and citation statement</a:t>
            </a:r>
          </a:p>
        </p:txBody>
      </p:sp>
      <p:sp>
        <p:nvSpPr>
          <p:cNvPr id="2" name="Slide Number Placeholder 1">
            <a:extLst>
              <a:ext uri="{FF2B5EF4-FFF2-40B4-BE49-F238E27FC236}">
                <a16:creationId xmlns:a16="http://schemas.microsoft.com/office/drawing/2014/main" id="{0F54A9BA-36FF-1510-AA12-192843580FB5}"/>
              </a:ext>
            </a:extLst>
          </p:cNvPr>
          <p:cNvSpPr>
            <a:spLocks noGrp="1"/>
          </p:cNvSpPr>
          <p:nvPr>
            <p:ph type="sldNum" sz="quarter" idx="12"/>
          </p:nvPr>
        </p:nvSpPr>
        <p:spPr/>
        <p:txBody>
          <a:bodyPr/>
          <a:lstStyle/>
          <a:p>
            <a:fld id="{D292B180-B274-DE43-B36F-C827C7616C05}" type="slidenum">
              <a:rPr lang="en-US" smtClean="0"/>
              <a:t>32</a:t>
            </a:fld>
            <a:endParaRPr lang="en-US"/>
          </a:p>
        </p:txBody>
      </p:sp>
      <p:sp>
        <p:nvSpPr>
          <p:cNvPr id="5" name="TextBox 4">
            <a:extLst>
              <a:ext uri="{FF2B5EF4-FFF2-40B4-BE49-F238E27FC236}">
                <a16:creationId xmlns:a16="http://schemas.microsoft.com/office/drawing/2014/main" id="{E69B1A8D-9C38-3FAE-31F4-B8331A6B94A0}"/>
              </a:ext>
            </a:extLst>
          </p:cNvPr>
          <p:cNvSpPr txBox="1"/>
          <p:nvPr/>
        </p:nvSpPr>
        <p:spPr>
          <a:xfrm>
            <a:off x="462656" y="1682780"/>
            <a:ext cx="10888357" cy="4154984"/>
          </a:xfrm>
          <a:prstGeom prst="rect">
            <a:avLst/>
          </a:prstGeom>
          <a:noFill/>
        </p:spPr>
        <p:txBody>
          <a:bodyPr wrap="square">
            <a:spAutoFit/>
          </a:bodyPr>
          <a:lstStyle/>
          <a:p>
            <a:r>
              <a:rPr lang="en-GB" sz="2400" dirty="0"/>
              <a:t>This current work by Sara Lil Middleton, Steven Verheyen and Sarah von </a:t>
            </a:r>
            <a:r>
              <a:rPr lang="en-GB" sz="2400" dirty="0" err="1"/>
              <a:t>Grebmer</a:t>
            </a:r>
            <a:r>
              <a:rPr lang="en-GB" sz="2400" dirty="0"/>
              <a:t> </a:t>
            </a:r>
            <a:r>
              <a:rPr lang="en-GB" sz="2400" dirty="0" err="1"/>
              <a:t>zu</a:t>
            </a:r>
            <a:r>
              <a:rPr lang="en-GB" sz="2400" dirty="0"/>
              <a:t> </a:t>
            </a:r>
            <a:r>
              <a:rPr lang="en-GB" sz="2400" dirty="0" err="1"/>
              <a:t>Wolfsthurn</a:t>
            </a:r>
            <a:r>
              <a:rPr lang="en-GB" sz="2400" dirty="0"/>
              <a:t> is licensed under a CC-BY-SA 4.0 </a:t>
            </a:r>
            <a:r>
              <a:rPr lang="en-GB" sz="2400" dirty="0">
                <a:hlinkClick r:id="rId5"/>
              </a:rPr>
              <a:t>Creative Commons Attribution 4.0 International SA License</a:t>
            </a:r>
            <a:r>
              <a:rPr lang="en-GB" sz="2400" dirty="0"/>
              <a:t> (unless otherwise stated). It permits unrestricted re-use, distribution, and reproduction in any medium, provided the original work is properly cited. If you remix, transform, or build upon the material, you must distribute your contributions under the same license as the original.</a:t>
            </a:r>
          </a:p>
          <a:p>
            <a:endParaRPr lang="en-GB" sz="2400" dirty="0"/>
          </a:p>
          <a:p>
            <a:r>
              <a:rPr lang="en-GB" sz="2400" dirty="0"/>
              <a:t>Please cite these materials as: Middleton, S., Verheyen, S., &amp; Von </a:t>
            </a:r>
            <a:r>
              <a:rPr lang="en-GB" sz="2400" dirty="0" err="1"/>
              <a:t>Grebmer</a:t>
            </a:r>
            <a:r>
              <a:rPr lang="en-GB" sz="2400" dirty="0"/>
              <a:t> Zu </a:t>
            </a:r>
            <a:r>
              <a:rPr lang="en-GB" sz="2400" dirty="0" err="1"/>
              <a:t>Wolfsthurn</a:t>
            </a:r>
            <a:r>
              <a:rPr lang="en-GB" sz="2400" dirty="0"/>
              <a:t>, S., (2026). </a:t>
            </a:r>
            <a:r>
              <a:rPr lang="en-GB" sz="2400" i="1" dirty="0"/>
              <a:t>Strategies in leadership</a:t>
            </a:r>
            <a:r>
              <a:rPr lang="en-GB" sz="2400" dirty="0"/>
              <a:t> [Quarto slides]. LMU Open Science Center and FORRT. </a:t>
            </a:r>
            <a:r>
              <a:rPr lang="en-GB" sz="2400" dirty="0">
                <a:hlinkClick r:id="rId6"/>
              </a:rPr>
              <a:t>https://lmu-osc.github.io/train-the-trainer-open-research/leadership-open-research/strategies-leadership/</a:t>
            </a:r>
            <a:endParaRPr lang="en-US" sz="2400" dirty="0"/>
          </a:p>
        </p:txBody>
      </p:sp>
      <p:pic>
        <p:nvPicPr>
          <p:cNvPr id="4" name="Picture 3" descr="Creative Commons Attribution 4.0 SA">
            <a:extLst>
              <a:ext uri="{FF2B5EF4-FFF2-40B4-BE49-F238E27FC236}">
                <a16:creationId xmlns:a16="http://schemas.microsoft.com/office/drawing/2014/main" id="{4C36D623-17CE-8502-0DB5-80A1091AD406}"/>
              </a:ext>
            </a:extLst>
          </p:cNvPr>
          <p:cNvPicPr>
            <a:picLocks noChangeAspect="1"/>
          </p:cNvPicPr>
          <p:nvPr/>
        </p:nvPicPr>
        <p:blipFill>
          <a:blip r:embed="rId7"/>
          <a:stretch>
            <a:fillRect/>
          </a:stretch>
        </p:blipFill>
        <p:spPr>
          <a:xfrm>
            <a:off x="4876800" y="981091"/>
            <a:ext cx="1219200" cy="419100"/>
          </a:xfrm>
          <a:prstGeom prst="rect">
            <a:avLst/>
          </a:prstGeom>
        </p:spPr>
      </p:pic>
    </p:spTree>
    <p:extLst>
      <p:ext uri="{BB962C8B-B14F-4D97-AF65-F5344CB8AC3E}">
        <p14:creationId xmlns:p14="http://schemas.microsoft.com/office/powerpoint/2010/main" val="14562564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33490-0E42-AA7A-F998-1AAFAC3BD6B1}"/>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104C4F72-1D1F-3E90-B2F5-C0540E68EA92}"/>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9805B7A3-3CA6-EFF9-D0A5-5417DDD48F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D815DFF-8EFE-7AD0-C7D6-9D97915C4EEB}"/>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5CF63CC4-1AD2-C19A-2D24-F017DBE2EE05}"/>
              </a:ext>
            </a:extLst>
          </p:cNvPr>
          <p:cNvSpPr txBox="1">
            <a:spLocks/>
          </p:cNvSpPr>
          <p:nvPr/>
        </p:nvSpPr>
        <p:spPr>
          <a:xfrm>
            <a:off x="0" y="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Contribution statement</a:t>
            </a:r>
          </a:p>
        </p:txBody>
      </p:sp>
      <p:sp>
        <p:nvSpPr>
          <p:cNvPr id="2" name="Slide Number Placeholder 1">
            <a:extLst>
              <a:ext uri="{FF2B5EF4-FFF2-40B4-BE49-F238E27FC236}">
                <a16:creationId xmlns:a16="http://schemas.microsoft.com/office/drawing/2014/main" id="{DB403083-FFCB-2B58-AECE-C3065E8BD534}"/>
              </a:ext>
            </a:extLst>
          </p:cNvPr>
          <p:cNvSpPr>
            <a:spLocks noGrp="1"/>
          </p:cNvSpPr>
          <p:nvPr>
            <p:ph type="sldNum" sz="quarter" idx="12"/>
          </p:nvPr>
        </p:nvSpPr>
        <p:spPr/>
        <p:txBody>
          <a:bodyPr/>
          <a:lstStyle/>
          <a:p>
            <a:fld id="{D292B180-B274-DE43-B36F-C827C7616C05}" type="slidenum">
              <a:rPr lang="en-US" smtClean="0"/>
              <a:t>33</a:t>
            </a:fld>
            <a:endParaRPr lang="en-US"/>
          </a:p>
        </p:txBody>
      </p:sp>
      <p:grpSp>
        <p:nvGrpSpPr>
          <p:cNvPr id="9" name="Group 8">
            <a:extLst>
              <a:ext uri="{FF2B5EF4-FFF2-40B4-BE49-F238E27FC236}">
                <a16:creationId xmlns:a16="http://schemas.microsoft.com/office/drawing/2014/main" id="{85028319-CE0A-3FA7-67B4-115E841C7406}"/>
              </a:ext>
            </a:extLst>
          </p:cNvPr>
          <p:cNvGrpSpPr/>
          <p:nvPr/>
        </p:nvGrpSpPr>
        <p:grpSpPr>
          <a:xfrm>
            <a:off x="198090" y="1093371"/>
            <a:ext cx="10829841" cy="5262979"/>
            <a:chOff x="190459" y="1859340"/>
            <a:chExt cx="10829841" cy="5262979"/>
          </a:xfrm>
        </p:grpSpPr>
        <p:sp>
          <p:nvSpPr>
            <p:cNvPr id="5" name="TextBox 4">
              <a:extLst>
                <a:ext uri="{FF2B5EF4-FFF2-40B4-BE49-F238E27FC236}">
                  <a16:creationId xmlns:a16="http://schemas.microsoft.com/office/drawing/2014/main" id="{45A17C93-4385-B223-1F0B-A43D2A702E17}"/>
                </a:ext>
              </a:extLst>
            </p:cNvPr>
            <p:cNvSpPr txBox="1"/>
            <p:nvPr/>
          </p:nvSpPr>
          <p:spPr>
            <a:xfrm>
              <a:off x="190459" y="1859340"/>
              <a:ext cx="10829841" cy="5262979"/>
            </a:xfrm>
            <a:prstGeom prst="rect">
              <a:avLst/>
            </a:prstGeom>
            <a:noFill/>
          </p:spPr>
          <p:txBody>
            <a:bodyPr wrap="square">
              <a:spAutoFit/>
            </a:bodyPr>
            <a:lstStyle/>
            <a:p>
              <a:r>
                <a:rPr lang="en-GB" sz="2400" b="1" i="0" u="none" strike="noStrike" dirty="0">
                  <a:solidFill>
                    <a:srgbClr val="000000"/>
                  </a:solidFill>
                  <a:effectLst/>
                </a:rPr>
                <a:t>Creator: </a:t>
              </a:r>
              <a:r>
                <a:rPr lang="en-GB" sz="2400" dirty="0">
                  <a:solidFill>
                    <a:srgbClr val="000000"/>
                  </a:solidFill>
                </a:rPr>
                <a:t>Middleton, Sara Lil </a:t>
              </a:r>
              <a:r>
                <a:rPr lang="en-GB" sz="2400" dirty="0"/>
                <a:t>(      </a:t>
              </a:r>
              <a:r>
                <a:rPr lang="en-GB" sz="2400" dirty="0">
                  <a:hlinkClick r:id="rId5"/>
                </a:rPr>
                <a:t>0000-0001-5307-8029</a:t>
              </a:r>
              <a:r>
                <a:rPr lang="en-GB" sz="2400" dirty="0"/>
                <a:t>)</a:t>
              </a:r>
            </a:p>
            <a:p>
              <a:r>
                <a:rPr lang="en-GB" sz="2400" b="1" dirty="0"/>
                <a:t>Reviewer:</a:t>
              </a:r>
              <a:r>
                <a:rPr lang="en-GB" sz="2400" dirty="0"/>
                <a:t> Verheyen, Steven (      </a:t>
              </a:r>
              <a:r>
                <a:rPr lang="en-GB" sz="2400" dirty="0">
                  <a:hlinkClick r:id="rId6"/>
                </a:rPr>
                <a:t>0000-0002-6778-6744</a:t>
              </a:r>
              <a:r>
                <a:rPr lang="en-GB" sz="2400" dirty="0"/>
                <a:t>),</a:t>
              </a:r>
            </a:p>
            <a:p>
              <a:r>
                <a:rPr lang="en-GB" sz="2400" dirty="0"/>
                <a:t>von </a:t>
              </a:r>
              <a:r>
                <a:rPr lang="en-GB" sz="2400" dirty="0" err="1"/>
                <a:t>Grebmer</a:t>
              </a:r>
              <a:r>
                <a:rPr lang="en-GB" sz="2400" dirty="0"/>
                <a:t> </a:t>
              </a:r>
              <a:r>
                <a:rPr lang="en-GB" sz="2400" dirty="0" err="1"/>
                <a:t>zu</a:t>
              </a:r>
              <a:r>
                <a:rPr lang="en-GB" sz="2400" dirty="0"/>
                <a:t> </a:t>
              </a:r>
              <a:r>
                <a:rPr lang="en-GB" sz="2400" dirty="0" err="1"/>
                <a:t>Wolfsthurn</a:t>
              </a:r>
              <a:r>
                <a:rPr lang="en-GB" sz="2400" dirty="0"/>
                <a:t>, Sarah (      </a:t>
              </a:r>
              <a:r>
                <a:rPr lang="en-GB" sz="2400" dirty="0">
                  <a:hlinkClick r:id="rId7"/>
                </a:rPr>
                <a:t>0000-0002-6413-3895</a:t>
              </a:r>
              <a:r>
                <a:rPr lang="en-GB" sz="2400" dirty="0"/>
                <a:t>)</a:t>
              </a:r>
            </a:p>
            <a:p>
              <a:endParaRPr lang="en-GB" sz="2400" dirty="0"/>
            </a:p>
            <a:p>
              <a:r>
                <a:rPr lang="en-US" sz="2400" b="1" dirty="0"/>
                <a:t>Acknowledgements:</a:t>
              </a:r>
            </a:p>
            <a:p>
              <a:r>
                <a:rPr lang="en-US" sz="2400" b="1" dirty="0"/>
                <a:t>Case study developers:</a:t>
              </a:r>
            </a:p>
            <a:p>
              <a:r>
                <a:rPr lang="en-US" sz="2400" dirty="0"/>
                <a:t>Adira Daniel, Adrien Mathy, Alyssa Columbus, Irene Sophia Plank</a:t>
              </a:r>
            </a:p>
            <a:p>
              <a:endParaRPr lang="en-US" sz="2400" b="1" dirty="0"/>
            </a:p>
            <a:p>
              <a:r>
                <a:rPr lang="en-US" sz="2400" b="1" dirty="0"/>
                <a:t>Case study reviewers:</a:t>
              </a:r>
            </a:p>
            <a:p>
              <a:r>
                <a:rPr lang="en-GB" sz="2400" dirty="0">
                  <a:solidFill>
                    <a:srgbClr val="000000"/>
                  </a:solidFill>
                  <a:cs typeface="Calibri" panose="020F0502020204030204" pitchFamily="34" charset="0"/>
                </a:rPr>
                <a:t>Steven Verheyen, Flavio, Azevedo, Malika Ihle, Max Wan, Sarah Sauve</a:t>
              </a:r>
              <a:endParaRPr lang="en-US" sz="2400" b="1" dirty="0"/>
            </a:p>
            <a:p>
              <a:endParaRPr lang="en-US" sz="2400" b="1" dirty="0"/>
            </a:p>
            <a:p>
              <a:r>
                <a:rPr lang="en-US" sz="2400" b="1" dirty="0"/>
                <a:t>Sharing leadership and Open Science expertise:</a:t>
              </a:r>
            </a:p>
            <a:p>
              <a:r>
                <a:rPr lang="en-GB" sz="2400" dirty="0"/>
                <a:t>Hu Chuan-Peng, Richard Telford, Dorothy Bishop, Madeleine Pownall </a:t>
              </a:r>
            </a:p>
            <a:p>
              <a:endParaRPr lang="en-GB" sz="2400" dirty="0"/>
            </a:p>
          </p:txBody>
        </p:sp>
        <p:pic>
          <p:nvPicPr>
            <p:cNvPr id="4" name="Picture 3" descr="orcid logo">
              <a:extLst>
                <a:ext uri="{FF2B5EF4-FFF2-40B4-BE49-F238E27FC236}">
                  <a16:creationId xmlns:a16="http://schemas.microsoft.com/office/drawing/2014/main" id="{A5977AC9-8F35-86CC-B5E3-B53B0DB230AC}"/>
                </a:ext>
              </a:extLst>
            </p:cNvPr>
            <p:cNvPicPr>
              <a:picLocks noChangeAspect="1"/>
            </p:cNvPicPr>
            <p:nvPr/>
          </p:nvPicPr>
          <p:blipFill>
            <a:blip r:embed="rId8"/>
            <a:stretch>
              <a:fillRect/>
            </a:stretch>
          </p:blipFill>
          <p:spPr>
            <a:xfrm>
              <a:off x="4078060" y="1938852"/>
              <a:ext cx="322470" cy="322470"/>
            </a:xfrm>
            <a:prstGeom prst="rect">
              <a:avLst/>
            </a:prstGeom>
          </p:spPr>
        </p:pic>
        <p:pic>
          <p:nvPicPr>
            <p:cNvPr id="6" name="Picture 5" descr="orcid logo">
              <a:extLst>
                <a:ext uri="{FF2B5EF4-FFF2-40B4-BE49-F238E27FC236}">
                  <a16:creationId xmlns:a16="http://schemas.microsoft.com/office/drawing/2014/main" id="{01F66459-08F4-AF56-3992-DA7271510666}"/>
                </a:ext>
              </a:extLst>
            </p:cNvPr>
            <p:cNvPicPr>
              <a:picLocks noChangeAspect="1"/>
            </p:cNvPicPr>
            <p:nvPr/>
          </p:nvPicPr>
          <p:blipFill>
            <a:blip r:embed="rId8"/>
            <a:stretch>
              <a:fillRect/>
            </a:stretch>
          </p:blipFill>
          <p:spPr>
            <a:xfrm>
              <a:off x="4128082" y="2313311"/>
              <a:ext cx="322470" cy="322470"/>
            </a:xfrm>
            <a:prstGeom prst="rect">
              <a:avLst/>
            </a:prstGeom>
          </p:spPr>
        </p:pic>
        <p:pic>
          <p:nvPicPr>
            <p:cNvPr id="8" name="Picture 7" descr="orcid logo">
              <a:extLst>
                <a:ext uri="{FF2B5EF4-FFF2-40B4-BE49-F238E27FC236}">
                  <a16:creationId xmlns:a16="http://schemas.microsoft.com/office/drawing/2014/main" id="{CEBA6120-6AF4-131D-0A37-B4E9E540AA7F}"/>
                </a:ext>
              </a:extLst>
            </p:cNvPr>
            <p:cNvPicPr>
              <a:picLocks noChangeAspect="1"/>
            </p:cNvPicPr>
            <p:nvPr/>
          </p:nvPicPr>
          <p:blipFill>
            <a:blip r:embed="rId8"/>
            <a:stretch>
              <a:fillRect/>
            </a:stretch>
          </p:blipFill>
          <p:spPr>
            <a:xfrm>
              <a:off x="4923034" y="2651433"/>
              <a:ext cx="322470" cy="322470"/>
            </a:xfrm>
            <a:prstGeom prst="rect">
              <a:avLst/>
            </a:prstGeom>
          </p:spPr>
        </p:pic>
      </p:grpSp>
    </p:spTree>
    <p:extLst>
      <p:ext uri="{BB962C8B-B14F-4D97-AF65-F5344CB8AC3E}">
        <p14:creationId xmlns:p14="http://schemas.microsoft.com/office/powerpoint/2010/main" val="8852106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2E777-0615-B7A8-E998-D1BFAF87307C}"/>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C4F643D1-9AD9-CCBD-F683-3C47562DBDEC}"/>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D593C304-D90C-CB62-A56D-6828E44E6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9A9C087F-326B-01A3-3434-A1C66C69C2BB}"/>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4F2C8277-4F3B-240F-4270-65BC6309AD26}"/>
              </a:ext>
            </a:extLst>
          </p:cNvPr>
          <p:cNvSpPr>
            <a:spLocks noGrp="1"/>
          </p:cNvSpPr>
          <p:nvPr>
            <p:ph type="sldNum" sz="quarter" idx="12"/>
          </p:nvPr>
        </p:nvSpPr>
        <p:spPr/>
        <p:txBody>
          <a:bodyPr/>
          <a:lstStyle/>
          <a:p>
            <a:fld id="{DC6309F4-03C8-4D48-A124-A9AD6E083FAC}" type="slidenum">
              <a:rPr lang="en-US" smtClean="0"/>
              <a:t>34</a:t>
            </a:fld>
            <a:endParaRPr lang="en-US"/>
          </a:p>
        </p:txBody>
      </p:sp>
      <p:sp>
        <p:nvSpPr>
          <p:cNvPr id="4" name="Title 1">
            <a:extLst>
              <a:ext uri="{FF2B5EF4-FFF2-40B4-BE49-F238E27FC236}">
                <a16:creationId xmlns:a16="http://schemas.microsoft.com/office/drawing/2014/main" id="{AB64C03C-2201-97F7-6CBA-02A4091AE2E7}"/>
              </a:ext>
            </a:extLst>
          </p:cNvPr>
          <p:cNvSpPr txBox="1">
            <a:spLocks/>
          </p:cNvSpPr>
          <p:nvPr/>
        </p:nvSpPr>
        <p:spPr>
          <a:xfrm>
            <a:off x="0" y="-26542"/>
            <a:ext cx="9051235"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References </a:t>
            </a:r>
          </a:p>
        </p:txBody>
      </p:sp>
      <p:sp>
        <p:nvSpPr>
          <p:cNvPr id="2" name="Content Placeholder 2">
            <a:extLst>
              <a:ext uri="{FF2B5EF4-FFF2-40B4-BE49-F238E27FC236}">
                <a16:creationId xmlns:a16="http://schemas.microsoft.com/office/drawing/2014/main" id="{9C8B0DCA-AEEA-D532-17F7-C7C4B7BDB4BE}"/>
              </a:ext>
            </a:extLst>
          </p:cNvPr>
          <p:cNvSpPr>
            <a:spLocks noGrp="1"/>
          </p:cNvSpPr>
          <p:nvPr>
            <p:ph idx="1"/>
          </p:nvPr>
        </p:nvSpPr>
        <p:spPr>
          <a:xfrm>
            <a:off x="189248" y="1231239"/>
            <a:ext cx="11877676" cy="5192894"/>
          </a:xfrm>
        </p:spPr>
        <p:txBody>
          <a:bodyPr>
            <a:normAutofit/>
          </a:bodyPr>
          <a:lstStyle/>
          <a:p>
            <a:r>
              <a:rPr lang="en-GB" sz="1400" dirty="0"/>
              <a:t>Bergmann, C. (2023). </a:t>
            </a:r>
            <a:r>
              <a:rPr lang="en-GB" sz="1400" i="1" dirty="0"/>
              <a:t>The Buffet Approach to Open Science</a:t>
            </a:r>
            <a:r>
              <a:rPr lang="en-GB" sz="1400" dirty="0"/>
              <a:t>.</a:t>
            </a:r>
            <a:r>
              <a:rPr lang="en-GB" sz="1400" dirty="0">
                <a:hlinkClick r:id="rId5"/>
              </a:rPr>
              <a:t> </a:t>
            </a:r>
            <a:r>
              <a:rPr lang="en-GB" sz="1400" u="sng" dirty="0">
                <a:hlinkClick r:id="rId5"/>
              </a:rPr>
              <a:t>https://cogtales.wordpress.com/2023/04/16/the-buffet-approach-</a:t>
            </a:r>
            <a:endParaRPr lang="en-GB" sz="1400" b="1" dirty="0"/>
          </a:p>
          <a:p>
            <a:r>
              <a:rPr lang="en-GB" sz="1400" dirty="0"/>
              <a:t>Chuan-Peng, H., Xu, Z., Lazić, A., Bhattacharya, P., Seda, L., Hossain, S., </a:t>
            </a:r>
            <a:r>
              <a:rPr lang="en-GB" sz="1400" dirty="0" err="1"/>
              <a:t>Jeftić</a:t>
            </a:r>
            <a:r>
              <a:rPr lang="en-GB" sz="1400" dirty="0"/>
              <a:t>, A., </a:t>
            </a:r>
            <a:r>
              <a:rPr lang="en-GB" sz="1400" dirty="0" err="1"/>
              <a:t>Özdoğru</a:t>
            </a:r>
            <a:r>
              <a:rPr lang="en-GB" sz="1400" dirty="0"/>
              <a:t>, A. A., Amaral, O. B., </a:t>
            </a:r>
            <a:r>
              <a:rPr lang="en-GB" sz="1400" dirty="0" err="1"/>
              <a:t>Miljković</a:t>
            </a:r>
            <a:r>
              <a:rPr lang="en-GB" sz="1400" dirty="0"/>
              <a:t>, N., </a:t>
            </a:r>
            <a:r>
              <a:rPr lang="en-GB" sz="1400" dirty="0" err="1"/>
              <a:t>Ilchovska</a:t>
            </a:r>
            <a:r>
              <a:rPr lang="en-GB" sz="1400" dirty="0"/>
              <a:t>, Z. G., Lazarevic, L. B., Bao, H. W. S., Ghodke, N., Moreau, D., Elsherif, M., C., C., Ghai, S., Carneiro, C. F. D., … Azevedo, F. (2025). Open Science in the Developing World: A Collection of Practical Guides for Researchers in Developing Countries. </a:t>
            </a:r>
            <a:r>
              <a:rPr lang="en-GB" sz="1400" i="1" dirty="0"/>
              <a:t>Advances in Methods and Practices in Psychological Science</a:t>
            </a:r>
            <a:r>
              <a:rPr lang="en-GB" sz="1400" dirty="0"/>
              <a:t>, </a:t>
            </a:r>
            <a:r>
              <a:rPr lang="en-GB" sz="1400" i="1" dirty="0"/>
              <a:t>8</a:t>
            </a:r>
            <a:r>
              <a:rPr lang="en-GB" sz="1400" dirty="0"/>
              <a:t>(3), 25152459251357565. </a:t>
            </a:r>
            <a:r>
              <a:rPr lang="en-GB" sz="1400" dirty="0">
                <a:hlinkClick r:id="rId6"/>
              </a:rPr>
              <a:t>https://doi.org/10.1177/25152459251357565</a:t>
            </a:r>
            <a:endParaRPr lang="en-GB" sz="1400" dirty="0"/>
          </a:p>
          <a:p>
            <a:r>
              <a:rPr lang="en-GB" sz="1400" dirty="0"/>
              <a:t>Ihle Malika, Gupta Reema, </a:t>
            </a:r>
            <a:r>
              <a:rPr lang="en-GB" sz="1400" dirty="0" err="1"/>
              <a:t>Schönbrodt</a:t>
            </a:r>
            <a:r>
              <a:rPr lang="en-GB" sz="1400" dirty="0"/>
              <a:t> Felix, April 2026, Open Research Cycle Handbook </a:t>
            </a:r>
            <a:r>
              <a:rPr lang="en-GB" sz="1400" u="sng" dirty="0">
                <a:hlinkClick r:id="rId7"/>
              </a:rPr>
              <a:t>https://lmu-osc.github.io/training/research-cycle-handbook.html</a:t>
            </a:r>
            <a:r>
              <a:rPr lang="en-GB" sz="1400" dirty="0"/>
              <a:t> CC-BY-SA 4.0 LMU Open Science Center </a:t>
            </a:r>
          </a:p>
          <a:p>
            <a:r>
              <a:rPr lang="en-GB" sz="1400" dirty="0"/>
              <a:t>Middleton, S. L., Sulik, J., Iley, B. J., Elsherif, M. M., &amp; Azevedo, F. (2026). </a:t>
            </a:r>
            <a:r>
              <a:rPr lang="en-GB" sz="1400" i="1" dirty="0"/>
              <a:t>The Academic Wheel of Privilege: An equity-based tool for authorship order</a:t>
            </a:r>
            <a:r>
              <a:rPr lang="en-GB" sz="1400" dirty="0"/>
              <a:t>. </a:t>
            </a:r>
            <a:r>
              <a:rPr lang="en-GB" sz="1400" dirty="0" err="1"/>
              <a:t>MetaArXiv</a:t>
            </a:r>
            <a:r>
              <a:rPr lang="en-GB" sz="1400" dirty="0"/>
              <a:t>. </a:t>
            </a:r>
            <a:r>
              <a:rPr lang="en-GB" sz="1400" u="sng" dirty="0">
                <a:hlinkClick r:id="rId8"/>
              </a:rPr>
              <a:t>https://doi.org/10.31222/osf.io/af4nk_v2</a:t>
            </a:r>
            <a:endParaRPr lang="en-GB" sz="1400" dirty="0"/>
          </a:p>
          <a:p>
            <a:r>
              <a:rPr lang="en-GB" sz="1400" dirty="0"/>
              <a:t>PHIL_OS. (2026). Munich Manifesto for Equitable Open Research. </a:t>
            </a:r>
            <a:r>
              <a:rPr lang="en-GB" sz="1400" dirty="0" err="1"/>
              <a:t>Zenodo</a:t>
            </a:r>
            <a:r>
              <a:rPr lang="en-GB" sz="1400" dirty="0"/>
              <a:t>. </a:t>
            </a:r>
            <a:r>
              <a:rPr lang="en-GB" sz="1400" dirty="0">
                <a:hlinkClick r:id="rId9"/>
              </a:rPr>
              <a:t>https://doi.org/10.5281/zenodo.20700870</a:t>
            </a:r>
            <a:endParaRPr lang="en-GB" sz="1400" dirty="0"/>
          </a:p>
          <a:p>
            <a:r>
              <a:rPr lang="en-GB" sz="1400" dirty="0"/>
              <a:t>Rogers, E. M. (1983). Elements of Diffusion. In </a:t>
            </a:r>
            <a:r>
              <a:rPr lang="en-GB" sz="1400" i="1" dirty="0"/>
              <a:t>Diffusion of innovations</a:t>
            </a:r>
            <a:r>
              <a:rPr lang="en-GB" sz="1400" dirty="0"/>
              <a:t> (3rd </a:t>
            </a:r>
            <a:r>
              <a:rPr lang="en-GB" sz="1400" dirty="0" err="1"/>
              <a:t>edn</a:t>
            </a:r>
            <a:r>
              <a:rPr lang="en-GB" sz="1400" dirty="0"/>
              <a:t>). The Free Press. (Original work published 1962)</a:t>
            </a:r>
          </a:p>
          <a:p>
            <a:r>
              <a:rPr lang="en-GB" sz="1400" dirty="0"/>
              <a:t>Toogood, C. (2025). Supporting students to engage with case studies: A model of engagement principles. </a:t>
            </a:r>
            <a:r>
              <a:rPr lang="en-GB" sz="1400" i="1" dirty="0"/>
              <a:t>Educational Review</a:t>
            </a:r>
            <a:r>
              <a:rPr lang="en-GB" sz="1400" dirty="0"/>
              <a:t>, </a:t>
            </a:r>
            <a:r>
              <a:rPr lang="en-GB" sz="1400" i="1" dirty="0"/>
              <a:t>77</a:t>
            </a:r>
            <a:r>
              <a:rPr lang="en-GB" sz="1400" dirty="0"/>
              <a:t>(4), 1125–1139. </a:t>
            </a:r>
            <a:r>
              <a:rPr lang="en-GB" sz="1400" dirty="0">
                <a:hlinkClick r:id="rId10"/>
              </a:rPr>
              <a:t>https://doi.org/10.1080/00131911.2023.2281227</a:t>
            </a:r>
            <a:endParaRPr lang="en-GB" sz="1400" dirty="0"/>
          </a:p>
          <a:p>
            <a:pPr lvl="0"/>
            <a:endParaRPr lang="en-GB" sz="1400" dirty="0"/>
          </a:p>
        </p:txBody>
      </p:sp>
    </p:spTree>
    <p:extLst>
      <p:ext uri="{BB962C8B-B14F-4D97-AF65-F5344CB8AC3E}">
        <p14:creationId xmlns:p14="http://schemas.microsoft.com/office/powerpoint/2010/main" val="27487925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F39D2-AE4C-1045-EA41-FFB06FA7FEB3}"/>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4D3FC7A9-3B10-237A-4A97-F303A707C7E6}"/>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EFCA269D-78D9-7FED-7119-0F0C67BA1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CE229702-E99E-FCA7-FEE9-BF2EEFAF587C}"/>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6C6536EC-E7A5-62A1-C193-D318EB99F11D}"/>
              </a:ext>
            </a:extLst>
          </p:cNvPr>
          <p:cNvSpPr>
            <a:spLocks noGrp="1"/>
          </p:cNvSpPr>
          <p:nvPr>
            <p:ph type="sldNum" sz="quarter" idx="12"/>
          </p:nvPr>
        </p:nvSpPr>
        <p:spPr/>
        <p:txBody>
          <a:bodyPr/>
          <a:lstStyle/>
          <a:p>
            <a:fld id="{DC6309F4-03C8-4D48-A124-A9AD6E083FAC}" type="slidenum">
              <a:rPr lang="en-US" smtClean="0"/>
              <a:t>35</a:t>
            </a:fld>
            <a:endParaRPr lang="en-US"/>
          </a:p>
        </p:txBody>
      </p:sp>
      <p:sp>
        <p:nvSpPr>
          <p:cNvPr id="4" name="Title 1">
            <a:extLst>
              <a:ext uri="{FF2B5EF4-FFF2-40B4-BE49-F238E27FC236}">
                <a16:creationId xmlns:a16="http://schemas.microsoft.com/office/drawing/2014/main" id="{51B00F50-DB04-252E-F0FF-8735E0C06C2C}"/>
              </a:ext>
            </a:extLst>
          </p:cNvPr>
          <p:cNvSpPr txBox="1">
            <a:spLocks/>
          </p:cNvSpPr>
          <p:nvPr/>
        </p:nvSpPr>
        <p:spPr>
          <a:xfrm>
            <a:off x="0" y="-51462"/>
            <a:ext cx="12192000" cy="1035040"/>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Some Open Science communities and networks </a:t>
            </a:r>
          </a:p>
        </p:txBody>
      </p:sp>
      <p:sp>
        <p:nvSpPr>
          <p:cNvPr id="2" name="TextBox 1">
            <a:extLst>
              <a:ext uri="{FF2B5EF4-FFF2-40B4-BE49-F238E27FC236}">
                <a16:creationId xmlns:a16="http://schemas.microsoft.com/office/drawing/2014/main" id="{4014BCDB-5BA9-DFBE-6085-60D722AFAF99}"/>
              </a:ext>
            </a:extLst>
          </p:cNvPr>
          <p:cNvSpPr txBox="1"/>
          <p:nvPr/>
        </p:nvSpPr>
        <p:spPr>
          <a:xfrm>
            <a:off x="1694732" y="2149727"/>
            <a:ext cx="4401268" cy="1477328"/>
          </a:xfrm>
          <a:prstGeom prst="rect">
            <a:avLst/>
          </a:prstGeom>
          <a:noFill/>
        </p:spPr>
        <p:txBody>
          <a:bodyPr wrap="square" rtlCol="0">
            <a:spAutoFit/>
          </a:bodyPr>
          <a:lstStyle/>
          <a:p>
            <a:r>
              <a:rPr lang="en-US" dirty="0"/>
              <a:t>FORRT (</a:t>
            </a:r>
            <a:r>
              <a:rPr lang="en-GB" dirty="0"/>
              <a:t>Framework for Open and Reproducible Research Training</a:t>
            </a:r>
            <a:r>
              <a:rPr lang="en-US" dirty="0"/>
              <a:t>):</a:t>
            </a:r>
            <a:r>
              <a:rPr lang="en-US" dirty="0">
                <a:hlinkClick r:id="rId5"/>
              </a:rPr>
              <a:t>https://forrt.org/about/get-involved/</a:t>
            </a:r>
            <a:r>
              <a:rPr lang="en-US" dirty="0"/>
              <a:t> </a:t>
            </a:r>
          </a:p>
          <a:p>
            <a:endParaRPr lang="en-US" dirty="0"/>
          </a:p>
        </p:txBody>
      </p:sp>
      <p:pic>
        <p:nvPicPr>
          <p:cNvPr id="5" name="Picture 6" descr="ReproducibiliTea | University Library | Newcastle University">
            <a:extLst>
              <a:ext uri="{FF2B5EF4-FFF2-40B4-BE49-F238E27FC236}">
                <a16:creationId xmlns:a16="http://schemas.microsoft.com/office/drawing/2014/main" id="{69F2490B-A694-6A88-2E13-0342B4EDE6F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276" y="5042103"/>
            <a:ext cx="758313" cy="7583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ORTEE logo">
            <a:extLst>
              <a:ext uri="{FF2B5EF4-FFF2-40B4-BE49-F238E27FC236}">
                <a16:creationId xmlns:a16="http://schemas.microsoft.com/office/drawing/2014/main" id="{421ED47C-8C8F-07F4-3FEE-7445FC491CF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57773" y="1087368"/>
            <a:ext cx="1751985" cy="62570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2" descr="Quala Lab">
            <a:extLst>
              <a:ext uri="{FF2B5EF4-FFF2-40B4-BE49-F238E27FC236}">
                <a16:creationId xmlns:a16="http://schemas.microsoft.com/office/drawing/2014/main" id="{20CA5DDA-C1D3-A777-4F98-EE37DE00CB2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1934" t="20822" r="13333" b="25623"/>
          <a:stretch>
            <a:fillRect/>
          </a:stretch>
        </p:blipFill>
        <p:spPr bwMode="auto">
          <a:xfrm>
            <a:off x="5883722" y="2025391"/>
            <a:ext cx="993708" cy="71210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809B6EE5-09F7-0ACA-63E5-D0BFAD3C14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204" y="1292928"/>
            <a:ext cx="1272610" cy="4828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4D7A81E0-EC47-23C3-4255-820552728B56}"/>
              </a:ext>
            </a:extLst>
          </p:cNvPr>
          <p:cNvPicPr>
            <a:picLocks noChangeAspect="1"/>
          </p:cNvPicPr>
          <p:nvPr/>
        </p:nvPicPr>
        <p:blipFill>
          <a:blip r:embed="rId4"/>
          <a:stretch>
            <a:fillRect/>
          </a:stretch>
        </p:blipFill>
        <p:spPr>
          <a:xfrm>
            <a:off x="353204" y="2275014"/>
            <a:ext cx="1341529" cy="522870"/>
          </a:xfrm>
          <a:prstGeom prst="rect">
            <a:avLst/>
          </a:prstGeom>
        </p:spPr>
      </p:pic>
      <p:pic>
        <p:nvPicPr>
          <p:cNvPr id="13" name="Picture 12" descr="Map showing the global areas where there are reproducibility networks">
            <a:extLst>
              <a:ext uri="{FF2B5EF4-FFF2-40B4-BE49-F238E27FC236}">
                <a16:creationId xmlns:a16="http://schemas.microsoft.com/office/drawing/2014/main" id="{B5942382-1487-C84B-45FC-0FDA2D2ABB33}"/>
              </a:ext>
            </a:extLst>
          </p:cNvPr>
          <p:cNvPicPr>
            <a:picLocks noChangeAspect="1"/>
          </p:cNvPicPr>
          <p:nvPr/>
        </p:nvPicPr>
        <p:blipFill>
          <a:blip r:embed="rId9"/>
          <a:stretch>
            <a:fillRect/>
          </a:stretch>
        </p:blipFill>
        <p:spPr>
          <a:xfrm>
            <a:off x="157097" y="4108399"/>
            <a:ext cx="1468716" cy="704984"/>
          </a:xfrm>
          <a:prstGeom prst="rect">
            <a:avLst/>
          </a:prstGeom>
        </p:spPr>
      </p:pic>
      <p:pic>
        <p:nvPicPr>
          <p:cNvPr id="15" name="Picture 14">
            <a:extLst>
              <a:ext uri="{FF2B5EF4-FFF2-40B4-BE49-F238E27FC236}">
                <a16:creationId xmlns:a16="http://schemas.microsoft.com/office/drawing/2014/main" id="{C41E8B32-89D6-8358-2B14-BDDA81271D5F}"/>
              </a:ext>
            </a:extLst>
          </p:cNvPr>
          <p:cNvPicPr>
            <a:picLocks noChangeAspect="1"/>
          </p:cNvPicPr>
          <p:nvPr/>
        </p:nvPicPr>
        <p:blipFill>
          <a:blip r:embed="rId10"/>
          <a:stretch>
            <a:fillRect/>
          </a:stretch>
        </p:blipFill>
        <p:spPr>
          <a:xfrm>
            <a:off x="295316" y="3468005"/>
            <a:ext cx="1192278" cy="640394"/>
          </a:xfrm>
          <a:prstGeom prst="rect">
            <a:avLst/>
          </a:prstGeom>
        </p:spPr>
      </p:pic>
      <p:sp>
        <p:nvSpPr>
          <p:cNvPr id="17" name="TextBox 16">
            <a:extLst>
              <a:ext uri="{FF2B5EF4-FFF2-40B4-BE49-F238E27FC236}">
                <a16:creationId xmlns:a16="http://schemas.microsoft.com/office/drawing/2014/main" id="{E6392620-5B7E-E263-DE90-B585524BCDC9}"/>
              </a:ext>
            </a:extLst>
          </p:cNvPr>
          <p:cNvSpPr txBox="1"/>
          <p:nvPr/>
        </p:nvSpPr>
        <p:spPr>
          <a:xfrm>
            <a:off x="1684044" y="3489155"/>
            <a:ext cx="3798842" cy="1200329"/>
          </a:xfrm>
          <a:prstGeom prst="rect">
            <a:avLst/>
          </a:prstGeom>
          <a:noFill/>
        </p:spPr>
        <p:txBody>
          <a:bodyPr wrap="square">
            <a:spAutoFit/>
          </a:bodyPr>
          <a:lstStyle/>
          <a:p>
            <a:r>
              <a:rPr lang="en-US" dirty="0"/>
              <a:t>Global reproducibility networks (e.g. German Reproducibility Network): </a:t>
            </a:r>
          </a:p>
          <a:p>
            <a:r>
              <a:rPr lang="en-US" dirty="0">
                <a:hlinkClick r:id="rId11"/>
              </a:rPr>
              <a:t>https://www.ukrn.org/global-networks/</a:t>
            </a:r>
            <a:r>
              <a:rPr lang="en-US" dirty="0"/>
              <a:t> </a:t>
            </a:r>
          </a:p>
        </p:txBody>
      </p:sp>
      <p:sp>
        <p:nvSpPr>
          <p:cNvPr id="22" name="TextBox 21">
            <a:extLst>
              <a:ext uri="{FF2B5EF4-FFF2-40B4-BE49-F238E27FC236}">
                <a16:creationId xmlns:a16="http://schemas.microsoft.com/office/drawing/2014/main" id="{6F6A204C-4C37-8FF2-0D91-465753C666F3}"/>
              </a:ext>
            </a:extLst>
          </p:cNvPr>
          <p:cNvSpPr txBox="1"/>
          <p:nvPr/>
        </p:nvSpPr>
        <p:spPr>
          <a:xfrm>
            <a:off x="1694732" y="1125983"/>
            <a:ext cx="3798842" cy="1200329"/>
          </a:xfrm>
          <a:prstGeom prst="rect">
            <a:avLst/>
          </a:prstGeom>
          <a:noFill/>
        </p:spPr>
        <p:txBody>
          <a:bodyPr wrap="square" rtlCol="0">
            <a:spAutoFit/>
          </a:bodyPr>
          <a:lstStyle/>
          <a:p>
            <a:r>
              <a:rPr lang="en-GB" dirty="0"/>
              <a:t>LMU, Munich Open Science Center: </a:t>
            </a:r>
            <a:r>
              <a:rPr lang="en-US" dirty="0">
                <a:hlinkClick r:id="rId12"/>
              </a:rPr>
              <a:t>https://www.osc.lmu.de/about/join-us.html</a:t>
            </a:r>
            <a:r>
              <a:rPr lang="en-US" dirty="0"/>
              <a:t> </a:t>
            </a:r>
          </a:p>
          <a:p>
            <a:endParaRPr lang="en-US" dirty="0"/>
          </a:p>
        </p:txBody>
      </p:sp>
      <p:sp>
        <p:nvSpPr>
          <p:cNvPr id="24" name="TextBox 23">
            <a:extLst>
              <a:ext uri="{FF2B5EF4-FFF2-40B4-BE49-F238E27FC236}">
                <a16:creationId xmlns:a16="http://schemas.microsoft.com/office/drawing/2014/main" id="{B0479C7A-8CDC-DD5C-621F-43B9FC91966C}"/>
              </a:ext>
            </a:extLst>
          </p:cNvPr>
          <p:cNvSpPr txBox="1"/>
          <p:nvPr/>
        </p:nvSpPr>
        <p:spPr>
          <a:xfrm>
            <a:off x="1694732" y="5129740"/>
            <a:ext cx="3138911" cy="646331"/>
          </a:xfrm>
          <a:prstGeom prst="rect">
            <a:avLst/>
          </a:prstGeom>
          <a:noFill/>
        </p:spPr>
        <p:txBody>
          <a:bodyPr wrap="square">
            <a:spAutoFit/>
          </a:bodyPr>
          <a:lstStyle/>
          <a:p>
            <a:r>
              <a:rPr lang="en-US" dirty="0" err="1"/>
              <a:t>ReproducibiliTea</a:t>
            </a:r>
            <a:r>
              <a:rPr lang="en-US" dirty="0"/>
              <a:t>:</a:t>
            </a:r>
          </a:p>
          <a:p>
            <a:r>
              <a:rPr lang="en-US" dirty="0">
                <a:hlinkClick r:id="rId13"/>
              </a:rPr>
              <a:t>https://reproducibilitea.org/</a:t>
            </a:r>
            <a:r>
              <a:rPr lang="en-US" dirty="0"/>
              <a:t> </a:t>
            </a:r>
          </a:p>
        </p:txBody>
      </p:sp>
      <p:sp>
        <p:nvSpPr>
          <p:cNvPr id="27" name="TextBox 26">
            <a:extLst>
              <a:ext uri="{FF2B5EF4-FFF2-40B4-BE49-F238E27FC236}">
                <a16:creationId xmlns:a16="http://schemas.microsoft.com/office/drawing/2014/main" id="{86B77445-027B-1D9E-48B0-2E510996B45F}"/>
              </a:ext>
            </a:extLst>
          </p:cNvPr>
          <p:cNvSpPr txBox="1"/>
          <p:nvPr/>
        </p:nvSpPr>
        <p:spPr>
          <a:xfrm>
            <a:off x="7279227" y="2105516"/>
            <a:ext cx="3627782" cy="646331"/>
          </a:xfrm>
          <a:prstGeom prst="rect">
            <a:avLst/>
          </a:prstGeom>
          <a:noFill/>
        </p:spPr>
        <p:txBody>
          <a:bodyPr wrap="square">
            <a:spAutoFit/>
          </a:bodyPr>
          <a:lstStyle/>
          <a:p>
            <a:r>
              <a:rPr lang="en-US" dirty="0"/>
              <a:t>Quala Lab:</a:t>
            </a:r>
          </a:p>
          <a:p>
            <a:r>
              <a:rPr lang="en-US" dirty="0">
                <a:hlinkClick r:id="rId14"/>
              </a:rPr>
              <a:t>https://qualalab.org/contact-us/</a:t>
            </a:r>
            <a:r>
              <a:rPr lang="en-US" dirty="0"/>
              <a:t> </a:t>
            </a:r>
          </a:p>
        </p:txBody>
      </p:sp>
      <p:sp>
        <p:nvSpPr>
          <p:cNvPr id="29" name="TextBox 28">
            <a:extLst>
              <a:ext uri="{FF2B5EF4-FFF2-40B4-BE49-F238E27FC236}">
                <a16:creationId xmlns:a16="http://schemas.microsoft.com/office/drawing/2014/main" id="{991EA11D-3DF2-3FC8-576E-A396D24AF4A5}"/>
              </a:ext>
            </a:extLst>
          </p:cNvPr>
          <p:cNvSpPr txBox="1"/>
          <p:nvPr/>
        </p:nvSpPr>
        <p:spPr>
          <a:xfrm>
            <a:off x="7309758" y="1025462"/>
            <a:ext cx="4992756" cy="1200329"/>
          </a:xfrm>
          <a:prstGeom prst="rect">
            <a:avLst/>
          </a:prstGeom>
          <a:noFill/>
        </p:spPr>
        <p:txBody>
          <a:bodyPr wrap="square" rtlCol="0">
            <a:spAutoFit/>
          </a:bodyPr>
          <a:lstStyle/>
          <a:p>
            <a:r>
              <a:rPr lang="en-US" dirty="0"/>
              <a:t>SORTEE (</a:t>
            </a:r>
            <a:r>
              <a:rPr lang="en-GB" dirty="0"/>
              <a:t>Society for Open, Reliable, and Transparent Ecology and Evolutionary Biology): </a:t>
            </a:r>
            <a:r>
              <a:rPr lang="en-US" dirty="0">
                <a:hlinkClick r:id="rId15"/>
              </a:rPr>
              <a:t>https://sortee.org/join/</a:t>
            </a:r>
            <a:r>
              <a:rPr lang="en-US" dirty="0"/>
              <a:t> </a:t>
            </a:r>
          </a:p>
          <a:p>
            <a:endParaRPr lang="en-US" dirty="0"/>
          </a:p>
        </p:txBody>
      </p:sp>
      <p:pic>
        <p:nvPicPr>
          <p:cNvPr id="32" name="Picture 31" descr="R-Ladies - Wikipedia">
            <a:extLst>
              <a:ext uri="{FF2B5EF4-FFF2-40B4-BE49-F238E27FC236}">
                <a16:creationId xmlns:a16="http://schemas.microsoft.com/office/drawing/2014/main" id="{35B50E60-8805-7DBB-A93F-7AC0B4434A7A}"/>
              </a:ext>
            </a:extLst>
          </p:cNvPr>
          <p:cNvPicPr>
            <a:picLocks noChangeAspect="1"/>
          </p:cNvPicPr>
          <p:nvPr/>
        </p:nvPicPr>
        <p:blipFill>
          <a:blip r:embed="rId16"/>
          <a:stretch>
            <a:fillRect/>
          </a:stretch>
        </p:blipFill>
        <p:spPr>
          <a:xfrm>
            <a:off x="438231" y="5958898"/>
            <a:ext cx="799937" cy="799937"/>
          </a:xfrm>
          <a:prstGeom prst="rect">
            <a:avLst/>
          </a:prstGeom>
        </p:spPr>
      </p:pic>
      <p:sp>
        <p:nvSpPr>
          <p:cNvPr id="33" name="TextBox 32">
            <a:extLst>
              <a:ext uri="{FF2B5EF4-FFF2-40B4-BE49-F238E27FC236}">
                <a16:creationId xmlns:a16="http://schemas.microsoft.com/office/drawing/2014/main" id="{82B77D19-C8AC-474E-EC4A-219651C10626}"/>
              </a:ext>
            </a:extLst>
          </p:cNvPr>
          <p:cNvSpPr txBox="1"/>
          <p:nvPr/>
        </p:nvSpPr>
        <p:spPr>
          <a:xfrm>
            <a:off x="1681333" y="5928279"/>
            <a:ext cx="3876440" cy="646331"/>
          </a:xfrm>
          <a:prstGeom prst="rect">
            <a:avLst/>
          </a:prstGeom>
          <a:noFill/>
        </p:spPr>
        <p:txBody>
          <a:bodyPr wrap="square" rtlCol="0">
            <a:spAutoFit/>
          </a:bodyPr>
          <a:lstStyle/>
          <a:p>
            <a:r>
              <a:rPr lang="en-US" dirty="0"/>
              <a:t>R Ladies: </a:t>
            </a:r>
            <a:r>
              <a:rPr lang="en-US" dirty="0">
                <a:hlinkClick r:id="rId17"/>
              </a:rPr>
              <a:t>https://rladies.org/about-us/involved/</a:t>
            </a:r>
            <a:r>
              <a:rPr lang="en-US" dirty="0"/>
              <a:t> </a:t>
            </a:r>
          </a:p>
        </p:txBody>
      </p:sp>
    </p:spTree>
    <p:extLst>
      <p:ext uri="{BB962C8B-B14F-4D97-AF65-F5344CB8AC3E}">
        <p14:creationId xmlns:p14="http://schemas.microsoft.com/office/powerpoint/2010/main" val="21910562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A87A0-3A4B-B8F1-0E02-DB344F1A3920}"/>
            </a:ext>
          </a:extLst>
        </p:cNvPr>
        <p:cNvGrpSpPr/>
        <p:nvPr/>
      </p:nvGrpSpPr>
      <p:grpSpPr>
        <a:xfrm>
          <a:off x="0" y="0"/>
          <a:ext cx="0" cy="0"/>
          <a:chOff x="0" y="0"/>
          <a:chExt cx="0" cy="0"/>
        </a:xfrm>
      </p:grpSpPr>
      <p:grpSp>
        <p:nvGrpSpPr>
          <p:cNvPr id="63" name="Group 62">
            <a:extLst>
              <a:ext uri="{FF2B5EF4-FFF2-40B4-BE49-F238E27FC236}">
                <a16:creationId xmlns:a16="http://schemas.microsoft.com/office/drawing/2014/main" id="{597ED0ED-A7A6-2826-AEA6-CF00CCC4ED76}"/>
              </a:ext>
            </a:extLst>
          </p:cNvPr>
          <p:cNvGrpSpPr/>
          <p:nvPr/>
        </p:nvGrpSpPr>
        <p:grpSpPr>
          <a:xfrm>
            <a:off x="10704849" y="6564312"/>
            <a:ext cx="1362075" cy="273690"/>
            <a:chOff x="19317" y="2690018"/>
            <a:chExt cx="11784755" cy="2025180"/>
          </a:xfrm>
        </p:grpSpPr>
        <p:pic>
          <p:nvPicPr>
            <p:cNvPr id="64" name="Picture 2">
              <a:extLst>
                <a:ext uri="{FF2B5EF4-FFF2-40B4-BE49-F238E27FC236}">
                  <a16:creationId xmlns:a16="http://schemas.microsoft.com/office/drawing/2014/main" id="{3B09545B-9DA3-3781-D8AC-1A5CB89C07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0EED64F2-1FE4-E01A-A2BC-92696E01AE64}"/>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62" name="Slide Number Placeholder 61">
            <a:extLst>
              <a:ext uri="{FF2B5EF4-FFF2-40B4-BE49-F238E27FC236}">
                <a16:creationId xmlns:a16="http://schemas.microsoft.com/office/drawing/2014/main" id="{03387CCF-2C4B-E626-4ABE-F7BB22A5ACA8}"/>
              </a:ext>
            </a:extLst>
          </p:cNvPr>
          <p:cNvSpPr>
            <a:spLocks noGrp="1"/>
          </p:cNvSpPr>
          <p:nvPr>
            <p:ph type="sldNum" sz="quarter" idx="12"/>
          </p:nvPr>
        </p:nvSpPr>
        <p:spPr/>
        <p:txBody>
          <a:bodyPr/>
          <a:lstStyle/>
          <a:p>
            <a:fld id="{DC6309F4-03C8-4D48-A124-A9AD6E083FAC}" type="slidenum">
              <a:rPr lang="en-US" smtClean="0"/>
              <a:t>36</a:t>
            </a:fld>
            <a:endParaRPr lang="en-US"/>
          </a:p>
        </p:txBody>
      </p:sp>
      <p:sp>
        <p:nvSpPr>
          <p:cNvPr id="4" name="Title 1">
            <a:extLst>
              <a:ext uri="{FF2B5EF4-FFF2-40B4-BE49-F238E27FC236}">
                <a16:creationId xmlns:a16="http://schemas.microsoft.com/office/drawing/2014/main" id="{070422D5-2473-DFB3-ADB3-D9CE199D26AB}"/>
              </a:ext>
            </a:extLst>
          </p:cNvPr>
          <p:cNvSpPr txBox="1">
            <a:spLocks/>
          </p:cNvSpPr>
          <p:nvPr/>
        </p:nvSpPr>
        <p:spPr>
          <a:xfrm>
            <a:off x="0" y="-26542"/>
            <a:ext cx="9051235" cy="954195"/>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Some alternatives to OSF projects </a:t>
            </a:r>
          </a:p>
        </p:txBody>
      </p:sp>
      <p:sp>
        <p:nvSpPr>
          <p:cNvPr id="2" name="Content Placeholder 2">
            <a:extLst>
              <a:ext uri="{FF2B5EF4-FFF2-40B4-BE49-F238E27FC236}">
                <a16:creationId xmlns:a16="http://schemas.microsoft.com/office/drawing/2014/main" id="{11181249-0A09-F206-48C6-66B5AEBA1BF4}"/>
              </a:ext>
            </a:extLst>
          </p:cNvPr>
          <p:cNvSpPr>
            <a:spLocks noGrp="1"/>
          </p:cNvSpPr>
          <p:nvPr>
            <p:ph idx="1"/>
          </p:nvPr>
        </p:nvSpPr>
        <p:spPr>
          <a:xfrm>
            <a:off x="189247" y="927653"/>
            <a:ext cx="8543936" cy="5887028"/>
          </a:xfrm>
        </p:spPr>
        <p:txBody>
          <a:bodyPr>
            <a:normAutofit fontScale="55000" lnSpcReduction="20000"/>
          </a:bodyPr>
          <a:lstStyle/>
          <a:p>
            <a:pPr marL="0" lvl="0" indent="0">
              <a:buNone/>
            </a:pPr>
            <a:r>
              <a:rPr lang="en-GB" sz="2400" b="1" dirty="0"/>
              <a:t>Non exhaustive list!</a:t>
            </a:r>
          </a:p>
          <a:p>
            <a:pPr marL="0" lvl="0" indent="0">
              <a:buNone/>
            </a:pPr>
            <a:r>
              <a:rPr lang="en-GB" sz="2400" b="1" dirty="0"/>
              <a:t>Data repository:</a:t>
            </a:r>
          </a:p>
          <a:p>
            <a:pPr marL="0" lvl="0" indent="0">
              <a:buNone/>
            </a:pPr>
            <a:r>
              <a:rPr lang="en-GB" sz="2400" dirty="0"/>
              <a:t>Dataverse: </a:t>
            </a:r>
            <a:r>
              <a:rPr lang="en-GB" sz="2400" dirty="0">
                <a:hlinkClick r:id="rId5"/>
              </a:rPr>
              <a:t>https://dataverse.harvard.edu/</a:t>
            </a:r>
            <a:r>
              <a:rPr lang="en-GB" sz="2400" dirty="0"/>
              <a:t> </a:t>
            </a:r>
          </a:p>
          <a:p>
            <a:pPr marL="0" lvl="0" indent="0">
              <a:buNone/>
            </a:pPr>
            <a:r>
              <a:rPr lang="en-GB" sz="2400" dirty="0"/>
              <a:t>Dryad: </a:t>
            </a:r>
            <a:r>
              <a:rPr lang="en-GB" sz="2400" dirty="0">
                <a:hlinkClick r:id="rId6"/>
              </a:rPr>
              <a:t>https://datadryad.org/</a:t>
            </a:r>
            <a:r>
              <a:rPr lang="en-GB" sz="2400" dirty="0"/>
              <a:t> </a:t>
            </a:r>
          </a:p>
          <a:p>
            <a:pPr marL="0" lvl="0" indent="0">
              <a:buNone/>
            </a:pPr>
            <a:endParaRPr lang="en-GB" sz="2400" dirty="0"/>
          </a:p>
          <a:p>
            <a:pPr marL="0" lvl="0" indent="0">
              <a:buNone/>
            </a:pPr>
            <a:r>
              <a:rPr lang="en-GB" sz="2400" b="1" dirty="0"/>
              <a:t>Code repository:</a:t>
            </a:r>
          </a:p>
          <a:p>
            <a:pPr marL="0" lvl="0" indent="0">
              <a:buNone/>
            </a:pPr>
            <a:r>
              <a:rPr lang="en-GB" sz="2400" dirty="0"/>
              <a:t>GitHub: </a:t>
            </a:r>
            <a:r>
              <a:rPr lang="en-GB" sz="2400" dirty="0">
                <a:hlinkClick r:id="rId7"/>
              </a:rPr>
              <a:t>https://github.com/</a:t>
            </a:r>
            <a:r>
              <a:rPr lang="en-GB" sz="2400" dirty="0"/>
              <a:t> </a:t>
            </a:r>
          </a:p>
          <a:p>
            <a:pPr marL="0" lvl="0" indent="0">
              <a:buNone/>
            </a:pPr>
            <a:r>
              <a:rPr lang="en-GB" sz="2400" dirty="0" err="1"/>
              <a:t>Figshare</a:t>
            </a:r>
            <a:r>
              <a:rPr lang="en-GB" sz="2400" dirty="0"/>
              <a:t>: </a:t>
            </a:r>
            <a:r>
              <a:rPr lang="en-GB" sz="2400" dirty="0">
                <a:hlinkClick r:id="rId8"/>
              </a:rPr>
              <a:t>https://figshare.com/</a:t>
            </a:r>
            <a:r>
              <a:rPr lang="en-GB" sz="2400" dirty="0"/>
              <a:t> </a:t>
            </a:r>
          </a:p>
          <a:p>
            <a:pPr marL="0" lvl="0" indent="0">
              <a:buNone/>
            </a:pPr>
            <a:endParaRPr lang="en-GB" sz="2400" dirty="0"/>
          </a:p>
          <a:p>
            <a:pPr marL="0" lvl="0" indent="0">
              <a:buNone/>
            </a:pPr>
            <a:r>
              <a:rPr lang="en-GB" sz="2400" b="1" dirty="0"/>
              <a:t>Methods repository:</a:t>
            </a:r>
          </a:p>
          <a:p>
            <a:pPr marL="0" lvl="0" indent="0">
              <a:buNone/>
            </a:pPr>
            <a:r>
              <a:rPr lang="en-GB" sz="2400" dirty="0" err="1"/>
              <a:t>Protocols.io</a:t>
            </a:r>
            <a:r>
              <a:rPr lang="en-GB" sz="2400" dirty="0"/>
              <a:t>: </a:t>
            </a:r>
            <a:r>
              <a:rPr lang="en-GB" sz="2400" dirty="0">
                <a:hlinkClick r:id="rId9"/>
              </a:rPr>
              <a:t>https://www.protocols.io/</a:t>
            </a:r>
            <a:r>
              <a:rPr lang="en-GB" sz="2400" dirty="0"/>
              <a:t> </a:t>
            </a:r>
          </a:p>
          <a:p>
            <a:pPr marL="0" lvl="0" indent="0">
              <a:buNone/>
            </a:pPr>
            <a:endParaRPr lang="en-GB" sz="2400" dirty="0"/>
          </a:p>
          <a:p>
            <a:pPr marL="0" lvl="0" indent="0">
              <a:buNone/>
            </a:pPr>
            <a:r>
              <a:rPr lang="en-GB" sz="2400" b="1" dirty="0"/>
              <a:t>Research outputs: </a:t>
            </a:r>
          </a:p>
          <a:p>
            <a:pPr marL="0" indent="0">
              <a:buNone/>
            </a:pPr>
            <a:r>
              <a:rPr lang="en-GB" sz="2400" dirty="0" err="1"/>
              <a:t>Zenodo</a:t>
            </a:r>
            <a:r>
              <a:rPr lang="en-GB" sz="2400" dirty="0"/>
              <a:t>: </a:t>
            </a:r>
            <a:r>
              <a:rPr lang="en-GB" sz="2400" dirty="0">
                <a:hlinkClick r:id="rId10"/>
              </a:rPr>
              <a:t>https://zenodo.org/</a:t>
            </a:r>
            <a:r>
              <a:rPr lang="en-GB" sz="2400" dirty="0"/>
              <a:t> </a:t>
            </a:r>
          </a:p>
          <a:p>
            <a:pPr marL="0" indent="0">
              <a:buNone/>
            </a:pPr>
            <a:r>
              <a:rPr lang="en-US" sz="2400" dirty="0"/>
              <a:t>If you are at LMU, </a:t>
            </a:r>
            <a:r>
              <a:rPr lang="en-US" sz="2400" dirty="0" err="1"/>
              <a:t>Zenodo</a:t>
            </a:r>
            <a:r>
              <a:rPr lang="en-US" sz="2400" dirty="0"/>
              <a:t> community:</a:t>
            </a:r>
          </a:p>
          <a:p>
            <a:pPr marL="0" indent="0">
              <a:buNone/>
            </a:pPr>
            <a:r>
              <a:rPr lang="en-US" sz="2400" dirty="0">
                <a:hlinkClick r:id="rId11"/>
              </a:rPr>
              <a:t>https://zenodo.org/communities/lmu/about</a:t>
            </a:r>
            <a:r>
              <a:rPr lang="en-US" sz="2400" dirty="0"/>
              <a:t> </a:t>
            </a:r>
            <a:endParaRPr lang="en-GB" sz="2400" dirty="0"/>
          </a:p>
          <a:p>
            <a:pPr marL="0" lvl="0" indent="0">
              <a:buNone/>
            </a:pPr>
            <a:endParaRPr lang="en-GB" sz="2400" dirty="0"/>
          </a:p>
          <a:p>
            <a:pPr marL="0" lvl="0" indent="0">
              <a:buNone/>
            </a:pPr>
            <a:r>
              <a:rPr lang="en-GB" sz="2400" b="1" dirty="0"/>
              <a:t>Blogs to read more:</a:t>
            </a:r>
            <a:endParaRPr lang="en-GB" sz="2400" dirty="0">
              <a:hlinkClick r:id="rId12"/>
            </a:endParaRPr>
          </a:p>
          <a:p>
            <a:pPr lvl="0"/>
            <a:r>
              <a:rPr lang="en-US" sz="2400" dirty="0">
                <a:hlinkClick r:id="rId13"/>
              </a:rPr>
              <a:t>https://www.osc.lmu.de/news/news/2026-09-29-osf-project-functionality.html</a:t>
            </a:r>
            <a:r>
              <a:rPr lang="en-US" sz="2400" dirty="0"/>
              <a:t> </a:t>
            </a:r>
          </a:p>
          <a:p>
            <a:pPr lvl="0"/>
            <a:r>
              <a:rPr lang="en-GB" sz="2400" dirty="0">
                <a:hlinkClick r:id="rId12"/>
              </a:rPr>
              <a:t>https://help.osf.io/article/735-choosing-a-repository</a:t>
            </a:r>
            <a:r>
              <a:rPr lang="en-GB" sz="2400" dirty="0"/>
              <a:t> </a:t>
            </a:r>
          </a:p>
          <a:p>
            <a:pPr lvl="0"/>
            <a:r>
              <a:rPr lang="en-GB" sz="2400" dirty="0">
                <a:hlinkClick r:id="rId14"/>
              </a:rPr>
              <a:t>https://daniellakens.blogspot.com/2026/08/which-data-repository-should-you-use.html</a:t>
            </a:r>
            <a:r>
              <a:rPr lang="en-GB" sz="2400" dirty="0"/>
              <a:t> </a:t>
            </a:r>
          </a:p>
        </p:txBody>
      </p:sp>
    </p:spTree>
    <p:extLst>
      <p:ext uri="{BB962C8B-B14F-4D97-AF65-F5344CB8AC3E}">
        <p14:creationId xmlns:p14="http://schemas.microsoft.com/office/powerpoint/2010/main" val="42364162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21420</TotalTime>
  <Words>5080</Words>
  <Application>Microsoft Macintosh PowerPoint</Application>
  <PresentationFormat>Widescreen</PresentationFormat>
  <Paragraphs>508</Paragraphs>
  <Slides>36</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Aptos Display</vt:lpstr>
      <vt:lpstr>Arial</vt:lpstr>
      <vt:lpstr>Calibri</vt:lpstr>
      <vt:lpstr>Office Theme</vt:lpstr>
      <vt:lpstr>Navigating leadership in Open Science: strategies</vt:lpstr>
      <vt:lpstr>Prerequisites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study series on leadership in Open Science</vt:lpstr>
      <vt:lpstr>PowerPoint Presentation</vt:lpstr>
      <vt:lpstr>PowerPoint Presentation</vt:lpstr>
      <vt:lpstr>Final summary and questions</vt:lpstr>
      <vt:lpstr>Take homes and wrap 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 Middleton</dc:creator>
  <cp:lastModifiedBy>Sara Middleton</cp:lastModifiedBy>
  <cp:revision>42</cp:revision>
  <dcterms:created xsi:type="dcterms:W3CDTF">2026-10-06T14:36:51Z</dcterms:created>
  <dcterms:modified xsi:type="dcterms:W3CDTF">2026-10-21T11:37:30Z</dcterms:modified>
</cp:coreProperties>
</file>