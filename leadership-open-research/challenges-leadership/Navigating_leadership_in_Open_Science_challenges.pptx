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7"/>
  </p:notesMasterIdLst>
  <p:sldIdLst>
    <p:sldId id="257" r:id="rId2"/>
    <p:sldId id="600" r:id="rId3"/>
    <p:sldId id="603" r:id="rId4"/>
    <p:sldId id="258" r:id="rId5"/>
    <p:sldId id="568" r:id="rId6"/>
    <p:sldId id="571" r:id="rId7"/>
    <p:sldId id="259" r:id="rId8"/>
    <p:sldId id="264" r:id="rId9"/>
    <p:sldId id="266" r:id="rId10"/>
    <p:sldId id="268" r:id="rId11"/>
    <p:sldId id="269" r:id="rId12"/>
    <p:sldId id="270" r:id="rId13"/>
    <p:sldId id="271" r:id="rId14"/>
    <p:sldId id="272" r:id="rId15"/>
    <p:sldId id="273" r:id="rId16"/>
    <p:sldId id="274" r:id="rId17"/>
    <p:sldId id="275" r:id="rId18"/>
    <p:sldId id="276" r:id="rId19"/>
    <p:sldId id="277" r:id="rId20"/>
    <p:sldId id="267" r:id="rId21"/>
    <p:sldId id="532" r:id="rId22"/>
    <p:sldId id="261" r:id="rId23"/>
    <p:sldId id="533" r:id="rId24"/>
    <p:sldId id="534" r:id="rId25"/>
    <p:sldId id="523" r:id="rId26"/>
    <p:sldId id="525" r:id="rId27"/>
    <p:sldId id="527" r:id="rId28"/>
    <p:sldId id="521" r:id="rId29"/>
    <p:sldId id="546" r:id="rId30"/>
    <p:sldId id="547" r:id="rId31"/>
    <p:sldId id="548" r:id="rId32"/>
    <p:sldId id="550" r:id="rId33"/>
    <p:sldId id="549" r:id="rId34"/>
    <p:sldId id="551" r:id="rId35"/>
    <p:sldId id="556" r:id="rId36"/>
    <p:sldId id="544" r:id="rId37"/>
    <p:sldId id="552" r:id="rId38"/>
    <p:sldId id="555" r:id="rId39"/>
    <p:sldId id="558" r:id="rId40"/>
    <p:sldId id="567" r:id="rId41"/>
    <p:sldId id="329" r:id="rId42"/>
    <p:sldId id="560" r:id="rId43"/>
    <p:sldId id="569" r:id="rId44"/>
    <p:sldId id="563" r:id="rId45"/>
    <p:sldId id="562" r:id="rId46"/>
    <p:sldId id="602" r:id="rId47"/>
    <p:sldId id="561" r:id="rId48"/>
    <p:sldId id="513" r:id="rId49"/>
    <p:sldId id="553" r:id="rId50"/>
    <p:sldId id="585" r:id="rId51"/>
    <p:sldId id="278" r:id="rId52"/>
    <p:sldId id="280" r:id="rId53"/>
    <p:sldId id="281" r:id="rId54"/>
    <p:sldId id="262" r:id="rId55"/>
    <p:sldId id="283" r:id="rId56"/>
    <p:sldId id="282" r:id="rId57"/>
    <p:sldId id="287" r:id="rId58"/>
    <p:sldId id="573" r:id="rId59"/>
    <p:sldId id="574" r:id="rId60"/>
    <p:sldId id="586" r:id="rId61"/>
    <p:sldId id="605" r:id="rId62"/>
    <p:sldId id="564" r:id="rId63"/>
    <p:sldId id="599" r:id="rId64"/>
    <p:sldId id="598" r:id="rId65"/>
    <p:sldId id="577" r:id="rId6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43560"/>
    <p:restoredTop sz="78095"/>
  </p:normalViewPr>
  <p:slideViewPr>
    <p:cSldViewPr snapToGrid="0">
      <p:cViewPr varScale="1">
        <p:scale>
          <a:sx n="96" d="100"/>
          <a:sy n="96" d="100"/>
        </p:scale>
        <p:origin x="680"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EECD52-3E75-1343-AA3A-BF7C522E5268}" type="datetimeFigureOut">
              <a:rPr lang="en-US" smtClean="0"/>
              <a:t>10/7/26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A22124-394B-1A49-ABEE-11CF5FBB3797}" type="slidenum">
              <a:rPr lang="en-US" smtClean="0"/>
              <a:t>‹#›</a:t>
            </a:fld>
            <a:endParaRPr lang="en-US"/>
          </a:p>
        </p:txBody>
      </p:sp>
    </p:spTree>
    <p:extLst>
      <p:ext uri="{BB962C8B-B14F-4D97-AF65-F5344CB8AC3E}">
        <p14:creationId xmlns:p14="http://schemas.microsoft.com/office/powerpoint/2010/main" val="20297221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Session 2 is all about challenges </a:t>
            </a:r>
          </a:p>
        </p:txBody>
      </p:sp>
      <p:sp>
        <p:nvSpPr>
          <p:cNvPr id="4" name="Slide Number Placeholder 3"/>
          <p:cNvSpPr>
            <a:spLocks noGrp="1"/>
          </p:cNvSpPr>
          <p:nvPr>
            <p:ph type="sldNum" sz="quarter" idx="5"/>
          </p:nvPr>
        </p:nvSpPr>
        <p:spPr/>
        <p:txBody>
          <a:bodyPr/>
          <a:lstStyle/>
          <a:p>
            <a:fld id="{46F3A5F6-A6BC-E543-9B7F-4BD33E1BAA03}" type="slidenum">
              <a:rPr lang="en-US" smtClean="0"/>
              <a:t>1</a:t>
            </a:fld>
            <a:endParaRPr lang="en-US"/>
          </a:p>
        </p:txBody>
      </p:sp>
    </p:spTree>
    <p:extLst>
      <p:ext uri="{BB962C8B-B14F-4D97-AF65-F5344CB8AC3E}">
        <p14:creationId xmlns:p14="http://schemas.microsoft.com/office/powerpoint/2010/main" val="21785223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These are the </a:t>
            </a:r>
            <a:r>
              <a:rPr lang="en-GB" b="1" dirty="0"/>
              <a:t>speaker notes</a:t>
            </a:r>
            <a:r>
              <a:rPr lang="en-GB" dirty="0"/>
              <a:t>. You will find a script for the presenter for every slide. In presentation mode, your audience will not be able to see these speaker notes, they are only visible to the presenter.</a:t>
            </a:r>
            <a:endParaRPr lang="en-US" sz="1200" dirty="0"/>
          </a:p>
          <a:p>
            <a:endParaRPr lang="en-US" dirty="0"/>
          </a:p>
          <a:p>
            <a:r>
              <a:rPr lang="en-GB" b="1" dirty="0"/>
              <a:t>This session</a:t>
            </a:r>
            <a:r>
              <a:rPr lang="en-GB" dirty="0"/>
              <a:t> assumes a basic familiarity with common Open Science concepts and practices. Examples include: replication crisis, R for data analysis and reproducible workflows; Quarto for reproducible documents; Git and GitHub for version control and collaboration, preregistration to document hypotheses and analysis plans in advance, Open Access publishing and broader transparency practices</a:t>
            </a:r>
          </a:p>
          <a:p>
            <a:endParaRPr lang="en-GB" dirty="0"/>
          </a:p>
          <a:p>
            <a:r>
              <a:rPr lang="en-GB" dirty="0"/>
              <a:t>You will need access to the workbook which can be downloaded as a Google Doc template. </a:t>
            </a:r>
          </a:p>
          <a:p>
            <a:endParaRPr lang="en-GB" dirty="0"/>
          </a:p>
          <a:p>
            <a:r>
              <a:rPr lang="en-GB" dirty="0"/>
              <a:t>Completion of session 1: </a:t>
            </a:r>
            <a:r>
              <a:rPr lang="en-US" sz="1200" dirty="0"/>
              <a:t>Leadership in Open Science: Skills, values and culture </a:t>
            </a:r>
            <a:endParaRPr lang="en-GB" dirty="0"/>
          </a:p>
          <a:p>
            <a:endParaRPr lang="en-GB" dirty="0"/>
          </a:p>
          <a:p>
            <a:r>
              <a:rPr lang="en-GB" dirty="0"/>
              <a:t>Today forms the 2</a:t>
            </a:r>
            <a:r>
              <a:rPr lang="en-GB" baseline="30000" dirty="0"/>
              <a:t>nd</a:t>
            </a:r>
            <a:r>
              <a:rPr lang="en-GB" dirty="0"/>
              <a:t> part of 3 sessions on leadership in Open Science.</a:t>
            </a:r>
          </a:p>
          <a:p>
            <a:endParaRPr lang="en-GB" dirty="0"/>
          </a:p>
          <a:p>
            <a:r>
              <a:rPr lang="en-GB" b="1" dirty="0"/>
              <a:t>Instructor notes:</a:t>
            </a:r>
          </a:p>
          <a:p>
            <a:r>
              <a:rPr lang="en-GB" dirty="0"/>
              <a:t>Learners do not need to be an expert, but you should have at least seen or used some of these concepts before. If some of these terms are new, you are encouraged to review the introductory Open Science materials linked on the slide before continuing. The goal is simply to ensure everyone shares a common base vocabulary so the workshop can focus on learning how to teach about Open Science rather than Open Science itself.</a:t>
            </a:r>
            <a:endParaRPr lang="en-US" dirty="0"/>
          </a:p>
          <a:p>
            <a:endParaRPr lang="en-US" dirty="0"/>
          </a:p>
        </p:txBody>
      </p:sp>
      <p:sp>
        <p:nvSpPr>
          <p:cNvPr id="4" name="Slide Number Placeholder 3"/>
          <p:cNvSpPr>
            <a:spLocks noGrp="1"/>
          </p:cNvSpPr>
          <p:nvPr>
            <p:ph type="sldNum" sz="quarter" idx="5"/>
          </p:nvPr>
        </p:nvSpPr>
        <p:spPr/>
        <p:txBody>
          <a:bodyPr/>
          <a:lstStyle/>
          <a:p>
            <a:fld id="{BCA22124-394B-1A49-ABEE-11CF5FBB3797}" type="slidenum">
              <a:rPr lang="en-US" smtClean="0"/>
              <a:t>2</a:t>
            </a:fld>
            <a:endParaRPr lang="en-US"/>
          </a:p>
        </p:txBody>
      </p:sp>
    </p:spTree>
    <p:extLst>
      <p:ext uri="{BB962C8B-B14F-4D97-AF65-F5344CB8AC3E}">
        <p14:creationId xmlns:p14="http://schemas.microsoft.com/office/powerpoint/2010/main" val="13110869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notes:</a:t>
            </a:r>
            <a:endParaRPr lang="en-US" sz="1200" b="1" dirty="0"/>
          </a:p>
          <a:p>
            <a:r>
              <a:rPr lang="en-US" sz="1200" b="0" dirty="0"/>
              <a:t>Let’s start with a survey!</a:t>
            </a:r>
          </a:p>
          <a:p>
            <a:endParaRPr lang="en-US" sz="1200" b="0" dirty="0"/>
          </a:p>
          <a:p>
            <a:endParaRPr lang="en-US" sz="1200" b="0" dirty="0"/>
          </a:p>
          <a:p>
            <a:r>
              <a:rPr lang="en-US" sz="1200" b="1" dirty="0"/>
              <a:t>Instructor notes:</a:t>
            </a:r>
          </a:p>
          <a:p>
            <a:r>
              <a:rPr lang="en-US" sz="1200" b="0" dirty="0"/>
              <a:t>These questions can be shared in an online survey format like https://</a:t>
            </a:r>
            <a:r>
              <a:rPr lang="en-US" sz="1200" b="0" dirty="0" err="1"/>
              <a:t>www.particify.de</a:t>
            </a:r>
            <a:r>
              <a:rPr lang="en-US" sz="1200" b="0" dirty="0"/>
              <a:t>/</a:t>
            </a:r>
            <a:r>
              <a:rPr lang="en-US" sz="1200" b="0" dirty="0" err="1"/>
              <a:t>en</a:t>
            </a:r>
            <a:r>
              <a:rPr lang="en-US" sz="1200" b="0" dirty="0"/>
              <a:t>/ </a:t>
            </a:r>
          </a:p>
          <a:p>
            <a:endParaRPr lang="en-US" dirty="0"/>
          </a:p>
        </p:txBody>
      </p:sp>
      <p:sp>
        <p:nvSpPr>
          <p:cNvPr id="4" name="Slide Number Placeholder 3"/>
          <p:cNvSpPr>
            <a:spLocks noGrp="1"/>
          </p:cNvSpPr>
          <p:nvPr>
            <p:ph type="sldNum" sz="quarter" idx="5"/>
          </p:nvPr>
        </p:nvSpPr>
        <p:spPr/>
        <p:txBody>
          <a:bodyPr/>
          <a:lstStyle/>
          <a:p>
            <a:fld id="{BCA22124-394B-1A49-ABEE-11CF5FBB3797}" type="slidenum">
              <a:rPr lang="en-US" smtClean="0"/>
              <a:t>3</a:t>
            </a:fld>
            <a:endParaRPr lang="en-US"/>
          </a:p>
        </p:txBody>
      </p:sp>
    </p:spTree>
    <p:extLst>
      <p:ext uri="{BB962C8B-B14F-4D97-AF65-F5344CB8AC3E}">
        <p14:creationId xmlns:p14="http://schemas.microsoft.com/office/powerpoint/2010/main" val="35371771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dirty="0"/>
              <a:t>Speaker notes:</a:t>
            </a:r>
          </a:p>
          <a:p>
            <a:pPr rtl="0">
              <a:buNone/>
            </a:pPr>
            <a:r>
              <a:rPr lang="en-GB" sz="1200" b="1" i="0" u="none" strike="noStrike" dirty="0">
                <a:solidFill>
                  <a:srgbClr val="000000"/>
                </a:solidFill>
                <a:effectLst/>
                <a:latin typeface="Calibri" panose="020F0502020204030204" pitchFamily="34" charset="0"/>
              </a:rPr>
              <a:t>Identify </a:t>
            </a:r>
            <a:r>
              <a:rPr lang="en-GB" sz="1200" b="0" i="0" u="none" strike="noStrike" dirty="0">
                <a:solidFill>
                  <a:srgbClr val="000000"/>
                </a:solidFill>
                <a:effectLst/>
                <a:latin typeface="Calibri" panose="020F0502020204030204" pitchFamily="34" charset="0"/>
              </a:rPr>
              <a:t>challenges in adopting Open Science practices and </a:t>
            </a:r>
            <a:r>
              <a:rPr lang="en-GB" sz="1200" b="1" i="0" u="none" strike="noStrike" dirty="0">
                <a:solidFill>
                  <a:srgbClr val="000000"/>
                </a:solidFill>
                <a:effectLst/>
                <a:latin typeface="Calibri" panose="020F0502020204030204" pitchFamily="34" charset="0"/>
              </a:rPr>
              <a:t>examine</a:t>
            </a:r>
            <a:r>
              <a:rPr lang="en-GB" sz="1200" b="0" i="0" u="none" strike="noStrike" dirty="0">
                <a:solidFill>
                  <a:srgbClr val="000000"/>
                </a:solidFill>
                <a:effectLst/>
                <a:latin typeface="Calibri" panose="020F0502020204030204" pitchFamily="34" charset="0"/>
              </a:rPr>
              <a:t> reasons behind them to raise awareness of possible barriers you and others may encounter.</a:t>
            </a:r>
            <a:endParaRPr lang="en-GB" sz="1200" dirty="0">
              <a:effectLst/>
            </a:endParaRPr>
          </a:p>
          <a:p>
            <a:pPr>
              <a:buNone/>
            </a:pPr>
            <a:br>
              <a:rPr lang="en-GB" sz="1200" dirty="0"/>
            </a:br>
            <a:r>
              <a:rPr lang="en-GB" sz="1200" dirty="0"/>
              <a:t>To </a:t>
            </a:r>
            <a:r>
              <a:rPr lang="en-GB" sz="1200" b="1" dirty="0"/>
              <a:t>distinguish </a:t>
            </a:r>
            <a:r>
              <a:rPr lang="en-GB" sz="1200" b="0" i="0" u="none" strike="noStrike" dirty="0">
                <a:solidFill>
                  <a:srgbClr val="000000"/>
                </a:solidFill>
                <a:effectLst/>
                <a:latin typeface="Calibri" panose="020F0502020204030204" pitchFamily="34" charset="0"/>
              </a:rPr>
              <a:t>between challenges according to whether they occur at individual, interpersonal, institutional or systemic levels to practice a key problem-solving leadership skill.</a:t>
            </a:r>
            <a:endParaRPr lang="en-US" sz="1200" dirty="0"/>
          </a:p>
          <a:p>
            <a:endParaRPr lang="en-US" b="1" dirty="0"/>
          </a:p>
          <a:p>
            <a:endParaRPr lang="en-US" dirty="0"/>
          </a:p>
        </p:txBody>
      </p:sp>
      <p:sp>
        <p:nvSpPr>
          <p:cNvPr id="4" name="Slide Number Placeholder 3"/>
          <p:cNvSpPr>
            <a:spLocks noGrp="1"/>
          </p:cNvSpPr>
          <p:nvPr>
            <p:ph type="sldNum" sz="quarter" idx="5"/>
          </p:nvPr>
        </p:nvSpPr>
        <p:spPr/>
        <p:txBody>
          <a:bodyPr/>
          <a:lstStyle/>
          <a:p>
            <a:fld id="{46F3A5F6-A6BC-E543-9B7F-4BD33E1BAA03}" type="slidenum">
              <a:rPr lang="en-US" smtClean="0"/>
              <a:t>4</a:t>
            </a:fld>
            <a:endParaRPr lang="en-US"/>
          </a:p>
        </p:txBody>
      </p:sp>
    </p:spTree>
    <p:extLst>
      <p:ext uri="{BB962C8B-B14F-4D97-AF65-F5344CB8AC3E}">
        <p14:creationId xmlns:p14="http://schemas.microsoft.com/office/powerpoint/2010/main" val="14839217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F1E0D-5EB4-FD43-3311-EDF6DCA036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934E90-5793-D2DD-4618-193C441C338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E6C0222-C1B5-CE50-470F-C2E0B566C8A2}"/>
              </a:ext>
            </a:extLst>
          </p:cNvPr>
          <p:cNvSpPr>
            <a:spLocks noGrp="1"/>
          </p:cNvSpPr>
          <p:nvPr>
            <p:ph type="body" idx="1"/>
          </p:nvPr>
        </p:nvSpPr>
        <p:spPr/>
        <p:txBody>
          <a:bodyPr/>
          <a:lstStyle/>
          <a:p>
            <a:r>
              <a:rPr lang="en-US" b="1" dirty="0"/>
              <a:t>Speaker notes:</a:t>
            </a:r>
          </a:p>
          <a:p>
            <a:r>
              <a:rPr lang="en-US" b="0" dirty="0"/>
              <a:t>We are going to be working through this framework over the two sessions.</a:t>
            </a:r>
          </a:p>
          <a:p>
            <a:r>
              <a:rPr lang="en-US" b="0" dirty="0"/>
              <a:t>The framework outlines 5 key steps for navigating challenges in Open Science</a:t>
            </a:r>
          </a:p>
          <a:p>
            <a:r>
              <a:rPr lang="en-US" b="0" dirty="0"/>
              <a:t>1 awareness: noticing challenges or that something may not quite right and approaching with curiosity and in a non-judgmental way</a:t>
            </a:r>
          </a:p>
          <a:p>
            <a:r>
              <a:rPr lang="en-US" b="0" dirty="0"/>
              <a:t>2 acknowledgement: identify  and name issues, recognizing the context of the challenge and that multiple perspectives in a situation exist </a:t>
            </a:r>
          </a:p>
          <a:p>
            <a:r>
              <a:rPr lang="en-US" b="0" dirty="0"/>
              <a:t>3 agency: this is about recognizing each of us have agency to act and we have a sphere of influence in which we can act </a:t>
            </a:r>
          </a:p>
          <a:p>
            <a:r>
              <a:rPr lang="en-US" b="0" dirty="0"/>
              <a:t>4 action: taking steps towards addressing challenges and approaching others. – a problem shared is a problem halved.</a:t>
            </a:r>
          </a:p>
        </p:txBody>
      </p:sp>
      <p:sp>
        <p:nvSpPr>
          <p:cNvPr id="4" name="Slide Number Placeholder 3">
            <a:extLst>
              <a:ext uri="{FF2B5EF4-FFF2-40B4-BE49-F238E27FC236}">
                <a16:creationId xmlns:a16="http://schemas.microsoft.com/office/drawing/2014/main" id="{882BFBA2-D3B7-6185-7A0B-4DE30AF32A72}"/>
              </a:ext>
            </a:extLst>
          </p:cNvPr>
          <p:cNvSpPr>
            <a:spLocks noGrp="1"/>
          </p:cNvSpPr>
          <p:nvPr>
            <p:ph type="sldNum" sz="quarter" idx="5"/>
          </p:nvPr>
        </p:nvSpPr>
        <p:spPr/>
        <p:txBody>
          <a:bodyPr/>
          <a:lstStyle/>
          <a:p>
            <a:fld id="{46F3A5F6-A6BC-E543-9B7F-4BD33E1BAA03}" type="slidenum">
              <a:rPr lang="en-US" smtClean="0"/>
              <a:t>5</a:t>
            </a:fld>
            <a:endParaRPr lang="en-US"/>
          </a:p>
        </p:txBody>
      </p:sp>
    </p:spTree>
    <p:extLst>
      <p:ext uri="{BB962C8B-B14F-4D97-AF65-F5344CB8AC3E}">
        <p14:creationId xmlns:p14="http://schemas.microsoft.com/office/powerpoint/2010/main" val="20371082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13AE9-226E-8F94-DE60-C6182CF898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CEBF5A-C993-0EB8-1A93-22BF1E1E18E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D12C91A-6449-1705-E89F-78C825C067A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r>
              <a:rPr lang="en-US" dirty="0"/>
              <a:t>Engaging in these steps allows us to practice self-awareness, being knowledgeable, and a problem solver.</a:t>
            </a:r>
          </a:p>
          <a:p>
            <a:endParaRPr lang="en-US" dirty="0"/>
          </a:p>
          <a:p>
            <a:r>
              <a:rPr lang="en-US" dirty="0"/>
              <a:t>Importantly, as we know our work is almost never plain sailing and linear. I designed this framework as a starting place for us to use and that can be adapted to our contexts.</a:t>
            </a:r>
          </a:p>
          <a:p>
            <a:endParaRPr lang="en-US" dirty="0"/>
          </a:p>
          <a:p>
            <a:r>
              <a:rPr lang="en-US" dirty="0"/>
              <a:t>You’ll see the steps in the top right as we go through the two sessions.</a:t>
            </a:r>
          </a:p>
          <a:p>
            <a:endParaRPr lang="en-US" dirty="0"/>
          </a:p>
        </p:txBody>
      </p:sp>
      <p:sp>
        <p:nvSpPr>
          <p:cNvPr id="4" name="Slide Number Placeholder 3">
            <a:extLst>
              <a:ext uri="{FF2B5EF4-FFF2-40B4-BE49-F238E27FC236}">
                <a16:creationId xmlns:a16="http://schemas.microsoft.com/office/drawing/2014/main" id="{47EDA5ED-0F7E-7A88-9C3E-18B850004EDF}"/>
              </a:ext>
            </a:extLst>
          </p:cNvPr>
          <p:cNvSpPr>
            <a:spLocks noGrp="1"/>
          </p:cNvSpPr>
          <p:nvPr>
            <p:ph type="sldNum" sz="quarter" idx="5"/>
          </p:nvPr>
        </p:nvSpPr>
        <p:spPr/>
        <p:txBody>
          <a:bodyPr/>
          <a:lstStyle/>
          <a:p>
            <a:fld id="{46F3A5F6-A6BC-E543-9B7F-4BD33E1BAA03}" type="slidenum">
              <a:rPr lang="en-US" smtClean="0"/>
              <a:t>6</a:t>
            </a:fld>
            <a:endParaRPr lang="en-US"/>
          </a:p>
        </p:txBody>
      </p:sp>
    </p:spTree>
    <p:extLst>
      <p:ext uri="{BB962C8B-B14F-4D97-AF65-F5344CB8AC3E}">
        <p14:creationId xmlns:p14="http://schemas.microsoft.com/office/powerpoint/2010/main" val="41509774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r>
              <a:rPr lang="en-US" dirty="0"/>
              <a:t>Let’s start with step 1 awareness: I would like us to think and then write down issues, barriers and challenges you have in implementing open science practices. We will spend about 10 minutes reflecting, sharing our thoughts and then having a group discussion.</a:t>
            </a:r>
          </a:p>
          <a:p>
            <a:endParaRPr lang="en-US" b="1" dirty="0"/>
          </a:p>
          <a:p>
            <a:r>
              <a:rPr lang="en-US" b="1" dirty="0"/>
              <a:t>Instructor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exercise can be done on a shared whiteboard  (e.g. http://</a:t>
            </a:r>
            <a:r>
              <a:rPr lang="en-US" dirty="0" err="1"/>
              <a:t>scrumblr.ca</a:t>
            </a:r>
            <a:r>
              <a:rPr lang="en-US" dirty="0"/>
              <a:t>/) to gather everyone’s thoughts on the question and then have a short group discussion</a:t>
            </a:r>
          </a:p>
          <a:p>
            <a:r>
              <a:rPr lang="en-US" dirty="0"/>
              <a:t> </a:t>
            </a:r>
          </a:p>
        </p:txBody>
      </p:sp>
      <p:sp>
        <p:nvSpPr>
          <p:cNvPr id="4" name="Slide Number Placeholder 3"/>
          <p:cNvSpPr>
            <a:spLocks noGrp="1"/>
          </p:cNvSpPr>
          <p:nvPr>
            <p:ph type="sldNum" sz="quarter" idx="5"/>
          </p:nvPr>
        </p:nvSpPr>
        <p:spPr/>
        <p:txBody>
          <a:bodyPr/>
          <a:lstStyle/>
          <a:p>
            <a:fld id="{46F3A5F6-A6BC-E543-9B7F-4BD33E1BAA03}" type="slidenum">
              <a:rPr lang="en-US" smtClean="0"/>
              <a:t>7</a:t>
            </a:fld>
            <a:endParaRPr lang="en-US"/>
          </a:p>
        </p:txBody>
      </p:sp>
    </p:spTree>
    <p:extLst>
      <p:ext uri="{BB962C8B-B14F-4D97-AF65-F5344CB8AC3E}">
        <p14:creationId xmlns:p14="http://schemas.microsoft.com/office/powerpoint/2010/main" val="12091902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endParaRPr lang="en-US" dirty="0"/>
          </a:p>
          <a:p>
            <a:r>
              <a:rPr lang="en-US" dirty="0"/>
              <a:t>We will go through some specific examples. </a:t>
            </a:r>
          </a:p>
          <a:p>
            <a:r>
              <a:rPr lang="en-US" dirty="0"/>
              <a:t>Time is a big issue people report with adopting open science practices. It can be linked to things like short time to complete assignments or projects. I would argue quite a few practices like preregistration is a re-allocation of time where it is front loaded. </a:t>
            </a:r>
          </a:p>
          <a:p>
            <a:endParaRPr lang="en-US" dirty="0"/>
          </a:p>
          <a:p>
            <a:endParaRPr lang="en-US" dirty="0"/>
          </a:p>
        </p:txBody>
      </p:sp>
      <p:sp>
        <p:nvSpPr>
          <p:cNvPr id="4" name="Slide Number Placeholder 3"/>
          <p:cNvSpPr>
            <a:spLocks noGrp="1"/>
          </p:cNvSpPr>
          <p:nvPr>
            <p:ph type="sldNum" sz="quarter" idx="5"/>
          </p:nvPr>
        </p:nvSpPr>
        <p:spPr/>
        <p:txBody>
          <a:bodyPr/>
          <a:lstStyle/>
          <a:p>
            <a:fld id="{46F3A5F6-A6BC-E543-9B7F-4BD33E1BAA03}" type="slidenum">
              <a:rPr lang="en-US" smtClean="0"/>
              <a:t>8</a:t>
            </a:fld>
            <a:endParaRPr lang="en-US"/>
          </a:p>
        </p:txBody>
      </p:sp>
    </p:spTree>
    <p:extLst>
      <p:ext uri="{BB962C8B-B14F-4D97-AF65-F5344CB8AC3E}">
        <p14:creationId xmlns:p14="http://schemas.microsoft.com/office/powerpoint/2010/main" val="30197837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endParaRPr lang="en-US" dirty="0"/>
          </a:p>
          <a:p>
            <a:r>
              <a:rPr lang="en-US" dirty="0"/>
              <a:t>Overwhelm is another commonly reported feeling – as there are so many resources, standards some general some discipline specific – which to chose?. Increasingly in academia researchers have many responsibilities to juggle and it can be hard to keep on top of what’s going on in open science as well as discipline specific research.</a:t>
            </a:r>
          </a:p>
        </p:txBody>
      </p:sp>
      <p:sp>
        <p:nvSpPr>
          <p:cNvPr id="4" name="Slide Number Placeholder 3"/>
          <p:cNvSpPr>
            <a:spLocks noGrp="1"/>
          </p:cNvSpPr>
          <p:nvPr>
            <p:ph type="sldNum" sz="quarter" idx="5"/>
          </p:nvPr>
        </p:nvSpPr>
        <p:spPr/>
        <p:txBody>
          <a:bodyPr/>
          <a:lstStyle/>
          <a:p>
            <a:fld id="{46F3A5F6-A6BC-E543-9B7F-4BD33E1BAA03}" type="slidenum">
              <a:rPr lang="en-US" smtClean="0"/>
              <a:t>9</a:t>
            </a:fld>
            <a:endParaRPr lang="en-US"/>
          </a:p>
        </p:txBody>
      </p:sp>
    </p:spTree>
    <p:extLst>
      <p:ext uri="{BB962C8B-B14F-4D97-AF65-F5344CB8AC3E}">
        <p14:creationId xmlns:p14="http://schemas.microsoft.com/office/powerpoint/2010/main" val="15152250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Some of us may feel there is a mis-alignment between trying to do open science and the larger narrow evaluation metrics like H-index in a publish or perish culture.</a:t>
            </a:r>
          </a:p>
        </p:txBody>
      </p:sp>
      <p:sp>
        <p:nvSpPr>
          <p:cNvPr id="4" name="Slide Number Placeholder 3"/>
          <p:cNvSpPr>
            <a:spLocks noGrp="1"/>
          </p:cNvSpPr>
          <p:nvPr>
            <p:ph type="sldNum" sz="quarter" idx="5"/>
          </p:nvPr>
        </p:nvSpPr>
        <p:spPr/>
        <p:txBody>
          <a:bodyPr/>
          <a:lstStyle/>
          <a:p>
            <a:fld id="{46F3A5F6-A6BC-E543-9B7F-4BD33E1BAA03}" type="slidenum">
              <a:rPr lang="en-US" smtClean="0"/>
              <a:t>10</a:t>
            </a:fld>
            <a:endParaRPr lang="en-US"/>
          </a:p>
        </p:txBody>
      </p:sp>
    </p:spTree>
    <p:extLst>
      <p:ext uri="{BB962C8B-B14F-4D97-AF65-F5344CB8AC3E}">
        <p14:creationId xmlns:p14="http://schemas.microsoft.com/office/powerpoint/2010/main" val="9936787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Lack of training and skills is another barrier to be aware and then to develop competency in open science practices.</a:t>
            </a:r>
          </a:p>
        </p:txBody>
      </p:sp>
      <p:sp>
        <p:nvSpPr>
          <p:cNvPr id="4" name="Slide Number Placeholder 3"/>
          <p:cNvSpPr>
            <a:spLocks noGrp="1"/>
          </p:cNvSpPr>
          <p:nvPr>
            <p:ph type="sldNum" sz="quarter" idx="5"/>
          </p:nvPr>
        </p:nvSpPr>
        <p:spPr/>
        <p:txBody>
          <a:bodyPr/>
          <a:lstStyle/>
          <a:p>
            <a:fld id="{46F3A5F6-A6BC-E543-9B7F-4BD33E1BAA03}" type="slidenum">
              <a:rPr lang="en-US" smtClean="0"/>
              <a:t>11</a:t>
            </a:fld>
            <a:endParaRPr lang="en-US"/>
          </a:p>
        </p:txBody>
      </p:sp>
    </p:spTree>
    <p:extLst>
      <p:ext uri="{BB962C8B-B14F-4D97-AF65-F5344CB8AC3E}">
        <p14:creationId xmlns:p14="http://schemas.microsoft.com/office/powerpoint/2010/main" val="22673182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r>
              <a:rPr lang="en-US" dirty="0"/>
              <a:t>A big challenge is the diversity of norms and approaches to research that can make is challenging to develop a common understanding of what open science is and standards.</a:t>
            </a:r>
          </a:p>
          <a:p>
            <a:endParaRPr lang="en-US" dirty="0"/>
          </a:p>
        </p:txBody>
      </p:sp>
      <p:sp>
        <p:nvSpPr>
          <p:cNvPr id="4" name="Slide Number Placeholder 3"/>
          <p:cNvSpPr>
            <a:spLocks noGrp="1"/>
          </p:cNvSpPr>
          <p:nvPr>
            <p:ph type="sldNum" sz="quarter" idx="5"/>
          </p:nvPr>
        </p:nvSpPr>
        <p:spPr/>
        <p:txBody>
          <a:bodyPr/>
          <a:lstStyle/>
          <a:p>
            <a:fld id="{46F3A5F6-A6BC-E543-9B7F-4BD33E1BAA03}" type="slidenum">
              <a:rPr lang="en-US" smtClean="0"/>
              <a:t>12</a:t>
            </a:fld>
            <a:endParaRPr lang="en-US"/>
          </a:p>
        </p:txBody>
      </p:sp>
    </p:spTree>
    <p:extLst>
      <p:ext uri="{BB962C8B-B14F-4D97-AF65-F5344CB8AC3E}">
        <p14:creationId xmlns:p14="http://schemas.microsoft.com/office/powerpoint/2010/main" val="23971793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r>
              <a:rPr lang="en-US" dirty="0"/>
              <a:t>A lack of support from others to adopt open science practices - sometimes it can be discouragement or ambivalence from PIs.</a:t>
            </a:r>
          </a:p>
        </p:txBody>
      </p:sp>
      <p:sp>
        <p:nvSpPr>
          <p:cNvPr id="4" name="Slide Number Placeholder 3"/>
          <p:cNvSpPr>
            <a:spLocks noGrp="1"/>
          </p:cNvSpPr>
          <p:nvPr>
            <p:ph type="sldNum" sz="quarter" idx="5"/>
          </p:nvPr>
        </p:nvSpPr>
        <p:spPr/>
        <p:txBody>
          <a:bodyPr/>
          <a:lstStyle/>
          <a:p>
            <a:fld id="{46F3A5F6-A6BC-E543-9B7F-4BD33E1BAA03}" type="slidenum">
              <a:rPr lang="en-US" smtClean="0"/>
              <a:t>13</a:t>
            </a:fld>
            <a:endParaRPr lang="en-US"/>
          </a:p>
        </p:txBody>
      </p:sp>
    </p:spTree>
    <p:extLst>
      <p:ext uri="{BB962C8B-B14F-4D97-AF65-F5344CB8AC3E}">
        <p14:creationId xmlns:p14="http://schemas.microsoft.com/office/powerpoint/2010/main" val="31161597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r>
              <a:rPr lang="en-US" dirty="0"/>
              <a:t>Challenges in how to navigate situations where being open is not possible for example when dealing with human data in medicine or with in conservation with the geographical location of protected species, dual use research</a:t>
            </a:r>
          </a:p>
        </p:txBody>
      </p:sp>
      <p:sp>
        <p:nvSpPr>
          <p:cNvPr id="4" name="Slide Number Placeholder 3"/>
          <p:cNvSpPr>
            <a:spLocks noGrp="1"/>
          </p:cNvSpPr>
          <p:nvPr>
            <p:ph type="sldNum" sz="quarter" idx="5"/>
          </p:nvPr>
        </p:nvSpPr>
        <p:spPr/>
        <p:txBody>
          <a:bodyPr/>
          <a:lstStyle/>
          <a:p>
            <a:fld id="{46F3A5F6-A6BC-E543-9B7F-4BD33E1BAA03}" type="slidenum">
              <a:rPr lang="en-US" smtClean="0"/>
              <a:t>14</a:t>
            </a:fld>
            <a:endParaRPr lang="en-US"/>
          </a:p>
        </p:txBody>
      </p:sp>
    </p:spTree>
    <p:extLst>
      <p:ext uri="{BB962C8B-B14F-4D97-AF65-F5344CB8AC3E}">
        <p14:creationId xmlns:p14="http://schemas.microsoft.com/office/powerpoint/2010/main" val="36151848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r>
              <a:rPr lang="en-US" dirty="0"/>
              <a:t>Resources are another big limitation to adoption of open science practices, for example paying article processing charges to make outputs open access. </a:t>
            </a:r>
          </a:p>
          <a:p>
            <a:endParaRPr lang="en-US" dirty="0"/>
          </a:p>
        </p:txBody>
      </p:sp>
      <p:sp>
        <p:nvSpPr>
          <p:cNvPr id="4" name="Slide Number Placeholder 3"/>
          <p:cNvSpPr>
            <a:spLocks noGrp="1"/>
          </p:cNvSpPr>
          <p:nvPr>
            <p:ph type="sldNum" sz="quarter" idx="5"/>
          </p:nvPr>
        </p:nvSpPr>
        <p:spPr/>
        <p:txBody>
          <a:bodyPr/>
          <a:lstStyle/>
          <a:p>
            <a:fld id="{46F3A5F6-A6BC-E543-9B7F-4BD33E1BAA03}" type="slidenum">
              <a:rPr lang="en-US" smtClean="0"/>
              <a:t>15</a:t>
            </a:fld>
            <a:endParaRPr lang="en-US"/>
          </a:p>
        </p:txBody>
      </p:sp>
    </p:spTree>
    <p:extLst>
      <p:ext uri="{BB962C8B-B14F-4D97-AF65-F5344CB8AC3E}">
        <p14:creationId xmlns:p14="http://schemas.microsoft.com/office/powerpoint/2010/main" val="22103563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r>
              <a:rPr lang="en-US" dirty="0"/>
              <a:t>It can sometimes feel there is a lot of extra things to do in order to comply with open science practices like with making research FAIR. Or when working in a large-scale collaboration the admin associated with coordinating a large group of people.</a:t>
            </a:r>
          </a:p>
        </p:txBody>
      </p:sp>
      <p:sp>
        <p:nvSpPr>
          <p:cNvPr id="4" name="Slide Number Placeholder 3"/>
          <p:cNvSpPr>
            <a:spLocks noGrp="1"/>
          </p:cNvSpPr>
          <p:nvPr>
            <p:ph type="sldNum" sz="quarter" idx="5"/>
          </p:nvPr>
        </p:nvSpPr>
        <p:spPr/>
        <p:txBody>
          <a:bodyPr/>
          <a:lstStyle/>
          <a:p>
            <a:fld id="{46F3A5F6-A6BC-E543-9B7F-4BD33E1BAA03}" type="slidenum">
              <a:rPr lang="en-US" smtClean="0"/>
              <a:t>16</a:t>
            </a:fld>
            <a:endParaRPr lang="en-US"/>
          </a:p>
        </p:txBody>
      </p:sp>
    </p:spTree>
    <p:extLst>
      <p:ext uri="{BB962C8B-B14F-4D97-AF65-F5344CB8AC3E}">
        <p14:creationId xmlns:p14="http://schemas.microsoft.com/office/powerpoint/2010/main" val="41460456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endParaRPr lang="en-US" dirty="0"/>
          </a:p>
          <a:p>
            <a:r>
              <a:rPr lang="en-US" dirty="0"/>
              <a:t>Mirroring the incentive structure sometimes there isn’t always established methods to appropriately credit contributions to open science infrastructure  (people who make software packages)</a:t>
            </a:r>
          </a:p>
        </p:txBody>
      </p:sp>
      <p:sp>
        <p:nvSpPr>
          <p:cNvPr id="4" name="Slide Number Placeholder 3"/>
          <p:cNvSpPr>
            <a:spLocks noGrp="1"/>
          </p:cNvSpPr>
          <p:nvPr>
            <p:ph type="sldNum" sz="quarter" idx="5"/>
          </p:nvPr>
        </p:nvSpPr>
        <p:spPr/>
        <p:txBody>
          <a:bodyPr/>
          <a:lstStyle/>
          <a:p>
            <a:fld id="{46F3A5F6-A6BC-E543-9B7F-4BD33E1BAA03}" type="slidenum">
              <a:rPr lang="en-US" smtClean="0"/>
              <a:t>17</a:t>
            </a:fld>
            <a:endParaRPr lang="en-US"/>
          </a:p>
        </p:txBody>
      </p:sp>
    </p:spTree>
    <p:extLst>
      <p:ext uri="{BB962C8B-B14F-4D97-AF65-F5344CB8AC3E}">
        <p14:creationId xmlns:p14="http://schemas.microsoft.com/office/powerpoint/2010/main" val="15699824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r>
              <a:rPr lang="en-US" dirty="0"/>
              <a:t>Equity and ethical challenges we can be faced with such as thinking about CARE principles. </a:t>
            </a:r>
          </a:p>
        </p:txBody>
      </p:sp>
      <p:sp>
        <p:nvSpPr>
          <p:cNvPr id="4" name="Slide Number Placeholder 3"/>
          <p:cNvSpPr>
            <a:spLocks noGrp="1"/>
          </p:cNvSpPr>
          <p:nvPr>
            <p:ph type="sldNum" sz="quarter" idx="5"/>
          </p:nvPr>
        </p:nvSpPr>
        <p:spPr/>
        <p:txBody>
          <a:bodyPr/>
          <a:lstStyle/>
          <a:p>
            <a:fld id="{46F3A5F6-A6BC-E543-9B7F-4BD33E1BAA03}" type="slidenum">
              <a:rPr lang="en-US" smtClean="0"/>
              <a:t>18</a:t>
            </a:fld>
            <a:endParaRPr lang="en-US"/>
          </a:p>
        </p:txBody>
      </p:sp>
    </p:spTree>
    <p:extLst>
      <p:ext uri="{BB962C8B-B14F-4D97-AF65-F5344CB8AC3E}">
        <p14:creationId xmlns:p14="http://schemas.microsoft.com/office/powerpoint/2010/main" val="30362827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r>
              <a:rPr lang="en-US" dirty="0"/>
              <a:t>Increasingly AI technologies are cause issues in the research landscape from publications with hallucinated references or AI slop papers. </a:t>
            </a:r>
          </a:p>
        </p:txBody>
      </p:sp>
      <p:sp>
        <p:nvSpPr>
          <p:cNvPr id="4" name="Slide Number Placeholder 3"/>
          <p:cNvSpPr>
            <a:spLocks noGrp="1"/>
          </p:cNvSpPr>
          <p:nvPr>
            <p:ph type="sldNum" sz="quarter" idx="5"/>
          </p:nvPr>
        </p:nvSpPr>
        <p:spPr/>
        <p:txBody>
          <a:bodyPr/>
          <a:lstStyle/>
          <a:p>
            <a:fld id="{46F3A5F6-A6BC-E543-9B7F-4BD33E1BAA03}" type="slidenum">
              <a:rPr lang="en-US" smtClean="0"/>
              <a:t>19</a:t>
            </a:fld>
            <a:endParaRPr lang="en-US"/>
          </a:p>
        </p:txBody>
      </p:sp>
    </p:spTree>
    <p:extLst>
      <p:ext uri="{BB962C8B-B14F-4D97-AF65-F5344CB8AC3E}">
        <p14:creationId xmlns:p14="http://schemas.microsoft.com/office/powerpoint/2010/main" val="38766587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 recommend taking a look at this paper  by Gownaris and colleagues which focuses on </a:t>
            </a:r>
            <a:r>
              <a:rPr lang="en-GB" b="0" dirty="0"/>
              <a:t>barriers to Full Participation in the Open Science Life Cycle among Early Career Researchers</a:t>
            </a:r>
          </a:p>
          <a:p>
            <a:endParaRPr lang="en-US" dirty="0"/>
          </a:p>
        </p:txBody>
      </p:sp>
      <p:sp>
        <p:nvSpPr>
          <p:cNvPr id="4" name="Slide Number Placeholder 3"/>
          <p:cNvSpPr>
            <a:spLocks noGrp="1"/>
          </p:cNvSpPr>
          <p:nvPr>
            <p:ph type="sldNum" sz="quarter" idx="5"/>
          </p:nvPr>
        </p:nvSpPr>
        <p:spPr/>
        <p:txBody>
          <a:bodyPr/>
          <a:lstStyle/>
          <a:p>
            <a:fld id="{46F3A5F6-A6BC-E543-9B7F-4BD33E1BAA03}" type="slidenum">
              <a:rPr lang="en-US" smtClean="0"/>
              <a:t>20</a:t>
            </a:fld>
            <a:endParaRPr lang="en-US"/>
          </a:p>
        </p:txBody>
      </p:sp>
    </p:spTree>
    <p:extLst>
      <p:ext uri="{BB962C8B-B14F-4D97-AF65-F5344CB8AC3E}">
        <p14:creationId xmlns:p14="http://schemas.microsoft.com/office/powerpoint/2010/main" val="38248481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56A44-9EEF-2A0B-4866-E4F5E0715C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8DD79A-292F-3393-CF1E-EA52714AF99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11BB1AD-48A0-71A1-3162-9867F8C8DD2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r>
              <a:rPr lang="en-US" dirty="0"/>
              <a:t>Here are a selection of papers published on some of the challenges we have discussed.</a:t>
            </a:r>
          </a:p>
          <a:p>
            <a:r>
              <a:rPr lang="en-US" dirty="0"/>
              <a:t>Ok now we have some awareness of these different challenges, let’s dissect the challenges? What type of challenges are they?</a:t>
            </a:r>
          </a:p>
        </p:txBody>
      </p:sp>
      <p:sp>
        <p:nvSpPr>
          <p:cNvPr id="4" name="Slide Number Placeholder 3">
            <a:extLst>
              <a:ext uri="{FF2B5EF4-FFF2-40B4-BE49-F238E27FC236}">
                <a16:creationId xmlns:a16="http://schemas.microsoft.com/office/drawing/2014/main" id="{E201CD3F-B32D-7336-E69A-1A0B6244EE56}"/>
              </a:ext>
            </a:extLst>
          </p:cNvPr>
          <p:cNvSpPr>
            <a:spLocks noGrp="1"/>
          </p:cNvSpPr>
          <p:nvPr>
            <p:ph type="sldNum" sz="quarter" idx="5"/>
          </p:nvPr>
        </p:nvSpPr>
        <p:spPr/>
        <p:txBody>
          <a:bodyPr/>
          <a:lstStyle/>
          <a:p>
            <a:fld id="{46F3A5F6-A6BC-E543-9B7F-4BD33E1BAA03}" type="slidenum">
              <a:rPr lang="en-US" smtClean="0"/>
              <a:t>21</a:t>
            </a:fld>
            <a:endParaRPr lang="en-US"/>
          </a:p>
        </p:txBody>
      </p:sp>
    </p:spTree>
    <p:extLst>
      <p:ext uri="{BB962C8B-B14F-4D97-AF65-F5344CB8AC3E}">
        <p14:creationId xmlns:p14="http://schemas.microsoft.com/office/powerpoint/2010/main" val="6493328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r>
              <a:rPr lang="en-US" dirty="0"/>
              <a:t>Our pathways to open science varies, which brings about conceptual, practical and equity challenges.</a:t>
            </a:r>
          </a:p>
          <a:p>
            <a:endParaRPr lang="en-US" dirty="0"/>
          </a:p>
          <a:p>
            <a:r>
              <a:rPr lang="en-US" b="1" dirty="0"/>
              <a:t>Instructor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is designed to set the scene to help learners dig a bit deeper into the why of the challenges. (step 2 of framework – acknowledgment)</a:t>
            </a:r>
          </a:p>
          <a:p>
            <a:endParaRPr lang="en-US" dirty="0"/>
          </a:p>
        </p:txBody>
      </p:sp>
      <p:sp>
        <p:nvSpPr>
          <p:cNvPr id="4" name="Slide Number Placeholder 3"/>
          <p:cNvSpPr>
            <a:spLocks noGrp="1"/>
          </p:cNvSpPr>
          <p:nvPr>
            <p:ph type="sldNum" sz="quarter" idx="5"/>
          </p:nvPr>
        </p:nvSpPr>
        <p:spPr/>
        <p:txBody>
          <a:bodyPr/>
          <a:lstStyle/>
          <a:p>
            <a:fld id="{46F3A5F6-A6BC-E543-9B7F-4BD33E1BAA03}" type="slidenum">
              <a:rPr lang="en-US" smtClean="0"/>
              <a:t>22</a:t>
            </a:fld>
            <a:endParaRPr lang="en-US"/>
          </a:p>
        </p:txBody>
      </p:sp>
    </p:spTree>
    <p:extLst>
      <p:ext uri="{BB962C8B-B14F-4D97-AF65-F5344CB8AC3E}">
        <p14:creationId xmlns:p14="http://schemas.microsoft.com/office/powerpoint/2010/main" val="4849006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1F161-F9B6-26F8-3BCB-38233AFC42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744BD9-18EA-319E-E2AB-02985A68FA5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4DA929D-7742-344F-E9E1-132706F55B5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endParaRPr lang="en-US" dirty="0"/>
          </a:p>
          <a:p>
            <a:r>
              <a:rPr lang="en-US" dirty="0"/>
              <a:t>Let’s imagine you as a student, post doc, PI compared to policy sphere such as UNESCO.</a:t>
            </a:r>
          </a:p>
        </p:txBody>
      </p:sp>
      <p:sp>
        <p:nvSpPr>
          <p:cNvPr id="4" name="Slide Number Placeholder 3">
            <a:extLst>
              <a:ext uri="{FF2B5EF4-FFF2-40B4-BE49-F238E27FC236}">
                <a16:creationId xmlns:a16="http://schemas.microsoft.com/office/drawing/2014/main" id="{B70CEDA9-D6D2-C2D9-FEA0-9A8A33D6B5D8}"/>
              </a:ext>
            </a:extLst>
          </p:cNvPr>
          <p:cNvSpPr>
            <a:spLocks noGrp="1"/>
          </p:cNvSpPr>
          <p:nvPr>
            <p:ph type="sldNum" sz="quarter" idx="5"/>
          </p:nvPr>
        </p:nvSpPr>
        <p:spPr/>
        <p:txBody>
          <a:bodyPr/>
          <a:lstStyle/>
          <a:p>
            <a:fld id="{46F3A5F6-A6BC-E543-9B7F-4BD33E1BAA03}" type="slidenum">
              <a:rPr lang="en-US" smtClean="0"/>
              <a:t>23</a:t>
            </a:fld>
            <a:endParaRPr lang="en-US"/>
          </a:p>
        </p:txBody>
      </p:sp>
    </p:spTree>
    <p:extLst>
      <p:ext uri="{BB962C8B-B14F-4D97-AF65-F5344CB8AC3E}">
        <p14:creationId xmlns:p14="http://schemas.microsoft.com/office/powerpoint/2010/main" val="634844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7017C-1167-5FAF-FEA9-53E342AF44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3E249D-3057-9659-523B-184B65AEDDF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68F453D-0B10-184E-684C-BAE6FAF93844}"/>
              </a:ext>
            </a:extLst>
          </p:cNvPr>
          <p:cNvSpPr>
            <a:spLocks noGrp="1"/>
          </p:cNvSpPr>
          <p:nvPr>
            <p:ph type="body" idx="1"/>
          </p:nvPr>
        </p:nvSpPr>
        <p:spPr/>
        <p:txBody>
          <a:bodyPr/>
          <a:lstStyle/>
          <a:p>
            <a:r>
              <a:rPr lang="en-US" b="1" dirty="0"/>
              <a:t>Speaker notes:</a:t>
            </a:r>
          </a:p>
          <a:p>
            <a:r>
              <a:rPr lang="en-US" dirty="0"/>
              <a:t>There will be different ideological and practical circumstances influence how we value open science and the goals and priorities we set and the standards</a:t>
            </a:r>
          </a:p>
          <a:p>
            <a:endParaRPr lang="en-US" dirty="0"/>
          </a:p>
          <a:p>
            <a:r>
              <a:rPr lang="en-US" dirty="0"/>
              <a:t>This influences how we understand what open science means and is practiced </a:t>
            </a:r>
          </a:p>
        </p:txBody>
      </p:sp>
      <p:sp>
        <p:nvSpPr>
          <p:cNvPr id="4" name="Slide Number Placeholder 3">
            <a:extLst>
              <a:ext uri="{FF2B5EF4-FFF2-40B4-BE49-F238E27FC236}">
                <a16:creationId xmlns:a16="http://schemas.microsoft.com/office/drawing/2014/main" id="{0A99CB3D-D537-8987-2574-589F019A80A3}"/>
              </a:ext>
            </a:extLst>
          </p:cNvPr>
          <p:cNvSpPr>
            <a:spLocks noGrp="1"/>
          </p:cNvSpPr>
          <p:nvPr>
            <p:ph type="sldNum" sz="quarter" idx="5"/>
          </p:nvPr>
        </p:nvSpPr>
        <p:spPr/>
        <p:txBody>
          <a:bodyPr/>
          <a:lstStyle/>
          <a:p>
            <a:fld id="{46F3A5F6-A6BC-E543-9B7F-4BD33E1BAA03}" type="slidenum">
              <a:rPr lang="en-US" smtClean="0"/>
              <a:t>24</a:t>
            </a:fld>
            <a:endParaRPr lang="en-US"/>
          </a:p>
        </p:txBody>
      </p:sp>
    </p:spTree>
    <p:extLst>
      <p:ext uri="{BB962C8B-B14F-4D97-AF65-F5344CB8AC3E}">
        <p14:creationId xmlns:p14="http://schemas.microsoft.com/office/powerpoint/2010/main" val="40904382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77B4F-1C71-14E7-F5A9-EA8A4A47CA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A92E9B-C804-D71F-0F97-91FBBFED450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5DA045E-C062-497D-CC5C-406BC3DB987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Now we will explore the diversity of domains where Open Science is happening.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A large domain is academic research and journals: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includes examples such as </a:t>
            </a:r>
            <a:r>
              <a:rPr lang="en-US" b="0" dirty="0" err="1"/>
              <a:t>zenodo</a:t>
            </a:r>
            <a:r>
              <a:rPr lang="en-US" b="0" dirty="0"/>
              <a:t>: an open repository launched in 2023 that accepts a wide range of outputs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Another example Morphs project (the logo in black) </a:t>
            </a:r>
            <a:r>
              <a:rPr lang="en-GB" b="0" dirty="0">
                <a:effectLst/>
              </a:rPr>
              <a:t>Materialising Open Research Practices in the Humanities and Social Sciences which looks at open research from the humanities and social science perspective</a:t>
            </a:r>
          </a:p>
          <a:p>
            <a:endParaRPr lang="en-US" dirty="0"/>
          </a:p>
          <a:p>
            <a:endParaRPr lang="en-US" dirty="0"/>
          </a:p>
        </p:txBody>
      </p:sp>
      <p:sp>
        <p:nvSpPr>
          <p:cNvPr id="4" name="Slide Number Placeholder 3">
            <a:extLst>
              <a:ext uri="{FF2B5EF4-FFF2-40B4-BE49-F238E27FC236}">
                <a16:creationId xmlns:a16="http://schemas.microsoft.com/office/drawing/2014/main" id="{A0B2443F-9180-6A3E-2B7D-CC829244E4F9}"/>
              </a:ext>
            </a:extLst>
          </p:cNvPr>
          <p:cNvSpPr>
            <a:spLocks noGrp="1"/>
          </p:cNvSpPr>
          <p:nvPr>
            <p:ph type="sldNum" sz="quarter" idx="5"/>
          </p:nvPr>
        </p:nvSpPr>
        <p:spPr/>
        <p:txBody>
          <a:bodyPr/>
          <a:lstStyle/>
          <a:p>
            <a:fld id="{46F3A5F6-A6BC-E543-9B7F-4BD33E1BAA03}" type="slidenum">
              <a:rPr lang="en-US" smtClean="0"/>
              <a:t>25</a:t>
            </a:fld>
            <a:endParaRPr lang="en-US"/>
          </a:p>
        </p:txBody>
      </p:sp>
    </p:spTree>
    <p:extLst>
      <p:ext uri="{BB962C8B-B14F-4D97-AF65-F5344CB8AC3E}">
        <p14:creationId xmlns:p14="http://schemas.microsoft.com/office/powerpoint/2010/main" val="37033475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B850C-EA7E-7C8E-EC88-C29A595011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887A4B-81C9-B69B-FB67-81055FF50CD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EDA09BB-46EF-439C-4166-229186796FD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endParaRPr lang="en-US" dirty="0"/>
          </a:p>
          <a:p>
            <a:r>
              <a:rPr lang="en-US" dirty="0"/>
              <a:t>Within the domain of education and training – the LMU Open Science Center falls within this sphere. </a:t>
            </a:r>
          </a:p>
          <a:p>
            <a:r>
              <a:rPr lang="en-US" dirty="0"/>
              <a:t>Training is happening at the lab team or department level in educational institutions too.</a:t>
            </a:r>
          </a:p>
          <a:p>
            <a:endParaRPr lang="en-US" dirty="0"/>
          </a:p>
        </p:txBody>
      </p:sp>
      <p:sp>
        <p:nvSpPr>
          <p:cNvPr id="4" name="Slide Number Placeholder 3">
            <a:extLst>
              <a:ext uri="{FF2B5EF4-FFF2-40B4-BE49-F238E27FC236}">
                <a16:creationId xmlns:a16="http://schemas.microsoft.com/office/drawing/2014/main" id="{A434108F-7413-5CB8-9AF1-0655507AB3AA}"/>
              </a:ext>
            </a:extLst>
          </p:cNvPr>
          <p:cNvSpPr>
            <a:spLocks noGrp="1"/>
          </p:cNvSpPr>
          <p:nvPr>
            <p:ph type="sldNum" sz="quarter" idx="5"/>
          </p:nvPr>
        </p:nvSpPr>
        <p:spPr/>
        <p:txBody>
          <a:bodyPr/>
          <a:lstStyle/>
          <a:p>
            <a:fld id="{46F3A5F6-A6BC-E543-9B7F-4BD33E1BAA03}" type="slidenum">
              <a:rPr lang="en-US" smtClean="0"/>
              <a:t>26</a:t>
            </a:fld>
            <a:endParaRPr lang="en-US"/>
          </a:p>
        </p:txBody>
      </p:sp>
    </p:spTree>
    <p:extLst>
      <p:ext uri="{BB962C8B-B14F-4D97-AF65-F5344CB8AC3E}">
        <p14:creationId xmlns:p14="http://schemas.microsoft.com/office/powerpoint/2010/main" val="18160200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D24EE-34A8-C693-E2D7-136EAE23AE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1EE778-41DD-BFC1-08AD-032FED66B39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8F0AB3D-6CCF-B315-DF27-47A2E8DA28B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endParaRPr lang="en-US" dirty="0"/>
          </a:p>
          <a:p>
            <a:r>
              <a:rPr lang="en-US" dirty="0"/>
              <a:t>In the policy and infrastructure sphere we have examples like open-source software like R which you used last week, Zotero – citation manger software to policy groups like COARA that focus on systematic reform of research assessment mostly at the European level</a:t>
            </a:r>
          </a:p>
        </p:txBody>
      </p:sp>
      <p:sp>
        <p:nvSpPr>
          <p:cNvPr id="4" name="Slide Number Placeholder 3">
            <a:extLst>
              <a:ext uri="{FF2B5EF4-FFF2-40B4-BE49-F238E27FC236}">
                <a16:creationId xmlns:a16="http://schemas.microsoft.com/office/drawing/2014/main" id="{6EC5E6E9-9EB9-F3CE-7A7B-EE39444311E6}"/>
              </a:ext>
            </a:extLst>
          </p:cNvPr>
          <p:cNvSpPr>
            <a:spLocks noGrp="1"/>
          </p:cNvSpPr>
          <p:nvPr>
            <p:ph type="sldNum" sz="quarter" idx="5"/>
          </p:nvPr>
        </p:nvSpPr>
        <p:spPr/>
        <p:txBody>
          <a:bodyPr/>
          <a:lstStyle/>
          <a:p>
            <a:fld id="{46F3A5F6-A6BC-E543-9B7F-4BD33E1BAA03}" type="slidenum">
              <a:rPr lang="en-US" smtClean="0"/>
              <a:t>27</a:t>
            </a:fld>
            <a:endParaRPr lang="en-US"/>
          </a:p>
        </p:txBody>
      </p:sp>
    </p:spTree>
    <p:extLst>
      <p:ext uri="{BB962C8B-B14F-4D97-AF65-F5344CB8AC3E}">
        <p14:creationId xmlns:p14="http://schemas.microsoft.com/office/powerpoint/2010/main" val="17542961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7385A-2452-6834-CA36-1352D1ED4A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A2D7A9-D9E7-7B90-D1A9-3CDAA3D29A8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9396541-96F4-B364-C078-456EFF97A4A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endParaRPr lang="en-GB" dirty="0"/>
          </a:p>
          <a:p>
            <a:r>
              <a:rPr lang="en-GB" dirty="0"/>
              <a:t>Community and networks sphere have many local to global networks sometimes focussing on a particular open science practice (Quala lab qualitative methods) or research area (SORTEE – ecology and evolution)</a:t>
            </a:r>
          </a:p>
          <a:p>
            <a:endParaRPr lang="en-GB" dirty="0"/>
          </a:p>
          <a:p>
            <a:r>
              <a:rPr lang="en-GB" dirty="0"/>
              <a:t>Make you aware of another sphere, which we won't explore is business and industry: Open UK - the UK body for the business of Open Technology is an example.</a:t>
            </a:r>
          </a:p>
          <a:p>
            <a:endParaRPr lang="en-US" dirty="0"/>
          </a:p>
          <a:p>
            <a:r>
              <a:rPr lang="en-US" dirty="0"/>
              <a:t>The take away – is the diversity of initiative and how they fit across domains </a:t>
            </a:r>
          </a:p>
        </p:txBody>
      </p:sp>
      <p:sp>
        <p:nvSpPr>
          <p:cNvPr id="4" name="Slide Number Placeholder 3">
            <a:extLst>
              <a:ext uri="{FF2B5EF4-FFF2-40B4-BE49-F238E27FC236}">
                <a16:creationId xmlns:a16="http://schemas.microsoft.com/office/drawing/2014/main" id="{E429069E-44A6-0128-8EB4-8766087A8BB1}"/>
              </a:ext>
            </a:extLst>
          </p:cNvPr>
          <p:cNvSpPr>
            <a:spLocks noGrp="1"/>
          </p:cNvSpPr>
          <p:nvPr>
            <p:ph type="sldNum" sz="quarter" idx="5"/>
          </p:nvPr>
        </p:nvSpPr>
        <p:spPr/>
        <p:txBody>
          <a:bodyPr/>
          <a:lstStyle/>
          <a:p>
            <a:fld id="{46F3A5F6-A6BC-E543-9B7F-4BD33E1BAA03}" type="slidenum">
              <a:rPr lang="en-US" smtClean="0"/>
              <a:t>28</a:t>
            </a:fld>
            <a:endParaRPr lang="en-US"/>
          </a:p>
        </p:txBody>
      </p:sp>
    </p:spTree>
    <p:extLst>
      <p:ext uri="{BB962C8B-B14F-4D97-AF65-F5344CB8AC3E}">
        <p14:creationId xmlns:p14="http://schemas.microsoft.com/office/powerpoint/2010/main" val="10669802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13F46-8571-1DE6-4AB4-31B2EAE5D1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BAF80F-4F2E-BA37-AE5A-3F8AB675046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2A2E6B4-789A-5139-A030-D3F903C5B6C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Let’s walk through some of the conceptual challenges: terminology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The term open science means different things to people and this paper by </a:t>
            </a:r>
            <a:r>
              <a:rPr lang="en-US" b="0" dirty="0" err="1"/>
              <a:t>Fescher</a:t>
            </a:r>
            <a:r>
              <a:rPr lang="en-US" b="0" dirty="0"/>
              <a:t> and </a:t>
            </a:r>
            <a:r>
              <a:rPr lang="en-US" b="0" dirty="0" err="1"/>
              <a:t>Frieske</a:t>
            </a:r>
            <a:r>
              <a:rPr lang="en-US" b="0" dirty="0"/>
              <a:t> captures this well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One way to view open science is through the democratic lens: focus is on making knowledge freely available widely – e.g. with open workflows and data </a:t>
            </a:r>
          </a:p>
        </p:txBody>
      </p:sp>
      <p:sp>
        <p:nvSpPr>
          <p:cNvPr id="4" name="Slide Number Placeholder 3">
            <a:extLst>
              <a:ext uri="{FF2B5EF4-FFF2-40B4-BE49-F238E27FC236}">
                <a16:creationId xmlns:a16="http://schemas.microsoft.com/office/drawing/2014/main" id="{B6AF0566-0E61-7BE5-3877-C9010E13B420}"/>
              </a:ext>
            </a:extLst>
          </p:cNvPr>
          <p:cNvSpPr>
            <a:spLocks noGrp="1"/>
          </p:cNvSpPr>
          <p:nvPr>
            <p:ph type="sldNum" sz="quarter" idx="5"/>
          </p:nvPr>
        </p:nvSpPr>
        <p:spPr/>
        <p:txBody>
          <a:bodyPr/>
          <a:lstStyle/>
          <a:p>
            <a:fld id="{46F3A5F6-A6BC-E543-9B7F-4BD33E1BAA03}" type="slidenum">
              <a:rPr lang="en-US" smtClean="0"/>
              <a:t>29</a:t>
            </a:fld>
            <a:endParaRPr lang="en-US"/>
          </a:p>
        </p:txBody>
      </p:sp>
    </p:spTree>
    <p:extLst>
      <p:ext uri="{BB962C8B-B14F-4D97-AF65-F5344CB8AC3E}">
        <p14:creationId xmlns:p14="http://schemas.microsoft.com/office/powerpoint/2010/main" val="4115480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7DCAA-B01B-9CAB-107C-2CF6EB2016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6B3A9F-A8E3-627D-DAE1-F7D55E97F9B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CB8F094-95BE-8912-0236-3DBE721D090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Those who subscribe to the pragmatic school focus more on the process of knowledge creation – e.g. big team science and open code</a:t>
            </a:r>
          </a:p>
        </p:txBody>
      </p:sp>
      <p:sp>
        <p:nvSpPr>
          <p:cNvPr id="4" name="Slide Number Placeholder 3">
            <a:extLst>
              <a:ext uri="{FF2B5EF4-FFF2-40B4-BE49-F238E27FC236}">
                <a16:creationId xmlns:a16="http://schemas.microsoft.com/office/drawing/2014/main" id="{421C2527-5CDA-1950-92A6-3739C6E07C06}"/>
              </a:ext>
            </a:extLst>
          </p:cNvPr>
          <p:cNvSpPr>
            <a:spLocks noGrp="1"/>
          </p:cNvSpPr>
          <p:nvPr>
            <p:ph type="sldNum" sz="quarter" idx="5"/>
          </p:nvPr>
        </p:nvSpPr>
        <p:spPr/>
        <p:txBody>
          <a:bodyPr/>
          <a:lstStyle/>
          <a:p>
            <a:fld id="{46F3A5F6-A6BC-E543-9B7F-4BD33E1BAA03}" type="slidenum">
              <a:rPr lang="en-US" smtClean="0"/>
              <a:t>30</a:t>
            </a:fld>
            <a:endParaRPr lang="en-US"/>
          </a:p>
        </p:txBody>
      </p:sp>
    </p:spTree>
    <p:extLst>
      <p:ext uri="{BB962C8B-B14F-4D97-AF65-F5344CB8AC3E}">
        <p14:creationId xmlns:p14="http://schemas.microsoft.com/office/powerpoint/2010/main" val="83016715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DD24B-0ACE-675F-F189-D528105E36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D757F1-3B29-DAE2-228F-3AA03D2F4BF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7C9754E-AC69-15E7-FCE9-DBE7A44AE93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Infrastructure lens focuses on the developing the tools, platforms and services that are open-source researchers use in their work and to collaborate. </a:t>
            </a:r>
          </a:p>
        </p:txBody>
      </p:sp>
      <p:sp>
        <p:nvSpPr>
          <p:cNvPr id="4" name="Slide Number Placeholder 3">
            <a:extLst>
              <a:ext uri="{FF2B5EF4-FFF2-40B4-BE49-F238E27FC236}">
                <a16:creationId xmlns:a16="http://schemas.microsoft.com/office/drawing/2014/main" id="{823DE17A-D88B-6D85-77E8-E17898DF17A0}"/>
              </a:ext>
            </a:extLst>
          </p:cNvPr>
          <p:cNvSpPr>
            <a:spLocks noGrp="1"/>
          </p:cNvSpPr>
          <p:nvPr>
            <p:ph type="sldNum" sz="quarter" idx="5"/>
          </p:nvPr>
        </p:nvSpPr>
        <p:spPr/>
        <p:txBody>
          <a:bodyPr/>
          <a:lstStyle/>
          <a:p>
            <a:fld id="{46F3A5F6-A6BC-E543-9B7F-4BD33E1BAA03}" type="slidenum">
              <a:rPr lang="en-US" smtClean="0"/>
              <a:t>31</a:t>
            </a:fld>
            <a:endParaRPr lang="en-US"/>
          </a:p>
        </p:txBody>
      </p:sp>
    </p:spTree>
    <p:extLst>
      <p:ext uri="{BB962C8B-B14F-4D97-AF65-F5344CB8AC3E}">
        <p14:creationId xmlns:p14="http://schemas.microsoft.com/office/powerpoint/2010/main" val="12727490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0943A-1A26-5E19-C6F4-CE39985821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2DBD06-9401-AFE2-FFBA-A8EBC39437B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6ABBDC0-6A41-C24C-0D7F-190D5047776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Public school is about opening up the knowledge creation process to non-academics (for example science communication and outreach and community/citizen science)</a:t>
            </a:r>
          </a:p>
        </p:txBody>
      </p:sp>
      <p:sp>
        <p:nvSpPr>
          <p:cNvPr id="4" name="Slide Number Placeholder 3">
            <a:extLst>
              <a:ext uri="{FF2B5EF4-FFF2-40B4-BE49-F238E27FC236}">
                <a16:creationId xmlns:a16="http://schemas.microsoft.com/office/drawing/2014/main" id="{D46691C2-F003-705A-3576-CB3D92D330CE}"/>
              </a:ext>
            </a:extLst>
          </p:cNvPr>
          <p:cNvSpPr>
            <a:spLocks noGrp="1"/>
          </p:cNvSpPr>
          <p:nvPr>
            <p:ph type="sldNum" sz="quarter" idx="5"/>
          </p:nvPr>
        </p:nvSpPr>
        <p:spPr/>
        <p:txBody>
          <a:bodyPr/>
          <a:lstStyle/>
          <a:p>
            <a:fld id="{46F3A5F6-A6BC-E543-9B7F-4BD33E1BAA03}" type="slidenum">
              <a:rPr lang="en-US" smtClean="0"/>
              <a:t>32</a:t>
            </a:fld>
            <a:endParaRPr lang="en-US"/>
          </a:p>
        </p:txBody>
      </p:sp>
    </p:spTree>
    <p:extLst>
      <p:ext uri="{BB962C8B-B14F-4D97-AF65-F5344CB8AC3E}">
        <p14:creationId xmlns:p14="http://schemas.microsoft.com/office/powerpoint/2010/main" val="153999628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C5850-272D-8D43-C5B2-195AD31823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B11C4F-ED26-9E1E-B84E-4C857A75655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9DBB45E-D7C1-E483-F49C-27506851E08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The 5</a:t>
            </a:r>
            <a:r>
              <a:rPr lang="en-US" b="0" baseline="30000" dirty="0"/>
              <a:t>th</a:t>
            </a:r>
            <a:r>
              <a:rPr lang="en-US" b="0" dirty="0"/>
              <a:t> school of thought is measurement: this focusses on success metrics and impact and developing wider metrics (</a:t>
            </a:r>
            <a:r>
              <a:rPr lang="en-US" b="0" dirty="0" err="1"/>
              <a:t>altmetrics</a:t>
            </a:r>
            <a:r>
              <a:rPr lang="en-US" b="0" dirty="0"/>
              <a:t> in journal publications, authorship criteria)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Having heard all five you may gravitate to one or two.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Instructor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Pause here and ask learners if they relate to a particular school.</a:t>
            </a:r>
            <a:endParaRPr lang="en-US" dirty="0"/>
          </a:p>
        </p:txBody>
      </p:sp>
      <p:sp>
        <p:nvSpPr>
          <p:cNvPr id="4" name="Slide Number Placeholder 3">
            <a:extLst>
              <a:ext uri="{FF2B5EF4-FFF2-40B4-BE49-F238E27FC236}">
                <a16:creationId xmlns:a16="http://schemas.microsoft.com/office/drawing/2014/main" id="{5BFDA933-A9EA-994B-CC85-6FD0B49F3DF3}"/>
              </a:ext>
            </a:extLst>
          </p:cNvPr>
          <p:cNvSpPr>
            <a:spLocks noGrp="1"/>
          </p:cNvSpPr>
          <p:nvPr>
            <p:ph type="sldNum" sz="quarter" idx="5"/>
          </p:nvPr>
        </p:nvSpPr>
        <p:spPr/>
        <p:txBody>
          <a:bodyPr/>
          <a:lstStyle/>
          <a:p>
            <a:fld id="{46F3A5F6-A6BC-E543-9B7F-4BD33E1BAA03}" type="slidenum">
              <a:rPr lang="en-US" smtClean="0"/>
              <a:t>33</a:t>
            </a:fld>
            <a:endParaRPr lang="en-US"/>
          </a:p>
        </p:txBody>
      </p:sp>
    </p:spTree>
    <p:extLst>
      <p:ext uri="{BB962C8B-B14F-4D97-AF65-F5344CB8AC3E}">
        <p14:creationId xmlns:p14="http://schemas.microsoft.com/office/powerpoint/2010/main" val="147956272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A8B90-89DA-7318-B7DE-331923CA07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193EAD-8E97-F34E-01B3-23604406EA4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7BDD085-64A9-04C4-A87F-53481A6DB89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Thinking about terminology within open science, there can be some confusion which can create barriers for </a:t>
            </a:r>
            <a:r>
              <a:rPr lang="en-US" sz="1200" dirty="0"/>
              <a:t>non-native speakers, knowledge transfer and interdisciplinary collaborations</a:t>
            </a: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Next, we will go over some concrete examples</a:t>
            </a:r>
          </a:p>
        </p:txBody>
      </p:sp>
      <p:sp>
        <p:nvSpPr>
          <p:cNvPr id="4" name="Slide Number Placeholder 3">
            <a:extLst>
              <a:ext uri="{FF2B5EF4-FFF2-40B4-BE49-F238E27FC236}">
                <a16:creationId xmlns:a16="http://schemas.microsoft.com/office/drawing/2014/main" id="{22F318B2-0510-3E64-8FFD-A8A50958744F}"/>
              </a:ext>
            </a:extLst>
          </p:cNvPr>
          <p:cNvSpPr>
            <a:spLocks noGrp="1"/>
          </p:cNvSpPr>
          <p:nvPr>
            <p:ph type="sldNum" sz="quarter" idx="5"/>
          </p:nvPr>
        </p:nvSpPr>
        <p:spPr/>
        <p:txBody>
          <a:bodyPr/>
          <a:lstStyle/>
          <a:p>
            <a:fld id="{46F3A5F6-A6BC-E543-9B7F-4BD33E1BAA03}" type="slidenum">
              <a:rPr lang="en-US" smtClean="0"/>
              <a:t>34</a:t>
            </a:fld>
            <a:endParaRPr lang="en-US"/>
          </a:p>
        </p:txBody>
      </p:sp>
    </p:spTree>
    <p:extLst>
      <p:ext uri="{BB962C8B-B14F-4D97-AF65-F5344CB8AC3E}">
        <p14:creationId xmlns:p14="http://schemas.microsoft.com/office/powerpoint/2010/main" val="389725393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F7371-95A3-6BC6-DA69-1E6583204C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008127-C303-A761-F2E7-C247F949F03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E0D17BF-532F-9650-CC33-453AE7E6B82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Acronyms! </a:t>
            </a:r>
            <a:r>
              <a:rPr lang="en-US" b="0" dirty="0" err="1"/>
              <a:t>Orcid</a:t>
            </a:r>
            <a:r>
              <a:rPr lang="en-US" b="0" dirty="0"/>
              <a:t> is not a flower but stands for </a:t>
            </a:r>
            <a:r>
              <a:rPr lang="en-GB" sz="1200" dirty="0"/>
              <a:t>Open Researcher and Contributor ID</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dirty="0"/>
              <a:t>Metaphors – lots of terms use metaphors like salami slicing which is the questionable research practice that increases the number of publications from slicing up the data from a single study.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dirty="0"/>
              <a:t>Or garden of forking paths – which is relevant to preregistration – is the many alternative paths researchers can take when analysing data</a:t>
            </a:r>
            <a:endParaRPr lang="en-US" b="0" dirty="0"/>
          </a:p>
        </p:txBody>
      </p:sp>
      <p:sp>
        <p:nvSpPr>
          <p:cNvPr id="4" name="Slide Number Placeholder 3">
            <a:extLst>
              <a:ext uri="{FF2B5EF4-FFF2-40B4-BE49-F238E27FC236}">
                <a16:creationId xmlns:a16="http://schemas.microsoft.com/office/drawing/2014/main" id="{E6BB48FE-BCC5-98CE-B5CC-2A9872F49848}"/>
              </a:ext>
            </a:extLst>
          </p:cNvPr>
          <p:cNvSpPr>
            <a:spLocks noGrp="1"/>
          </p:cNvSpPr>
          <p:nvPr>
            <p:ph type="sldNum" sz="quarter" idx="5"/>
          </p:nvPr>
        </p:nvSpPr>
        <p:spPr/>
        <p:txBody>
          <a:bodyPr/>
          <a:lstStyle/>
          <a:p>
            <a:fld id="{46F3A5F6-A6BC-E543-9B7F-4BD33E1BAA03}" type="slidenum">
              <a:rPr lang="en-US" smtClean="0"/>
              <a:t>35</a:t>
            </a:fld>
            <a:endParaRPr lang="en-US"/>
          </a:p>
        </p:txBody>
      </p:sp>
    </p:spTree>
    <p:extLst>
      <p:ext uri="{BB962C8B-B14F-4D97-AF65-F5344CB8AC3E}">
        <p14:creationId xmlns:p14="http://schemas.microsoft.com/office/powerpoint/2010/main" val="380288905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7381E-E20C-9D88-F11D-529F7768BA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072A01-B3EC-D398-3F64-9A95A36A6ED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FB26821-342B-AC05-31C9-88DC0A519B9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Some terms have additional meanings like paper mills – it means a factory that makes paper but also to describe </a:t>
            </a:r>
            <a:r>
              <a:rPr lang="en-US" sz="1200" b="0" dirty="0"/>
              <a:t>o</a:t>
            </a:r>
            <a:r>
              <a:rPr lang="en-US" sz="1200" dirty="0"/>
              <a:t>rganizations involved in science misconduct producing papers with falsified or fabricated data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Some terms can have different usage: preregistration – as a process of project planning and and output – uploading onto a repository.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Creating new terms like “</a:t>
            </a:r>
            <a:r>
              <a:rPr lang="en-US" sz="1200" dirty="0" err="1"/>
              <a:t>Bropenscience</a:t>
            </a:r>
            <a:r>
              <a:rPr lang="en-US" sz="1200" dirty="0"/>
              <a:t>” a lighthearted way to describe issues around lack of diversity in science</a:t>
            </a:r>
            <a:endParaRPr lang="en-US" b="0" dirty="0"/>
          </a:p>
        </p:txBody>
      </p:sp>
      <p:sp>
        <p:nvSpPr>
          <p:cNvPr id="4" name="Slide Number Placeholder 3">
            <a:extLst>
              <a:ext uri="{FF2B5EF4-FFF2-40B4-BE49-F238E27FC236}">
                <a16:creationId xmlns:a16="http://schemas.microsoft.com/office/drawing/2014/main" id="{FE244BF4-3068-BBB2-5CC6-6F7ADD1BB7A5}"/>
              </a:ext>
            </a:extLst>
          </p:cNvPr>
          <p:cNvSpPr>
            <a:spLocks noGrp="1"/>
          </p:cNvSpPr>
          <p:nvPr>
            <p:ph type="sldNum" sz="quarter" idx="5"/>
          </p:nvPr>
        </p:nvSpPr>
        <p:spPr/>
        <p:txBody>
          <a:bodyPr/>
          <a:lstStyle/>
          <a:p>
            <a:fld id="{46F3A5F6-A6BC-E543-9B7F-4BD33E1BAA03}" type="slidenum">
              <a:rPr lang="en-US" smtClean="0"/>
              <a:t>36</a:t>
            </a:fld>
            <a:endParaRPr lang="en-US"/>
          </a:p>
        </p:txBody>
      </p:sp>
    </p:spTree>
    <p:extLst>
      <p:ext uri="{BB962C8B-B14F-4D97-AF65-F5344CB8AC3E}">
        <p14:creationId xmlns:p14="http://schemas.microsoft.com/office/powerpoint/2010/main" val="406047440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91634-57CF-126D-D9F7-7BFEB94010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3D4319-2EA2-EA18-5C50-2A436C76327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4B9A130-4CCF-8644-F2DD-2DDFBDD56BC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Links to infrastructure school we discussed earlier. This practical challenge relates to how to operationalize things across the research cycle</a:t>
            </a:r>
          </a:p>
          <a:p>
            <a:endParaRPr lang="en-US" dirty="0"/>
          </a:p>
        </p:txBody>
      </p:sp>
      <p:sp>
        <p:nvSpPr>
          <p:cNvPr id="4" name="Slide Number Placeholder 3">
            <a:extLst>
              <a:ext uri="{FF2B5EF4-FFF2-40B4-BE49-F238E27FC236}">
                <a16:creationId xmlns:a16="http://schemas.microsoft.com/office/drawing/2014/main" id="{62235C08-2B15-0CEF-B890-947F1E346E83}"/>
              </a:ext>
            </a:extLst>
          </p:cNvPr>
          <p:cNvSpPr>
            <a:spLocks noGrp="1"/>
          </p:cNvSpPr>
          <p:nvPr>
            <p:ph type="sldNum" sz="quarter" idx="5"/>
          </p:nvPr>
        </p:nvSpPr>
        <p:spPr/>
        <p:txBody>
          <a:bodyPr/>
          <a:lstStyle/>
          <a:p>
            <a:fld id="{526029D5-72E6-204B-95C8-168152D4D850}" type="slidenum">
              <a:rPr lang="en-US" smtClean="0"/>
              <a:t>37</a:t>
            </a:fld>
            <a:endParaRPr lang="en-US"/>
          </a:p>
        </p:txBody>
      </p:sp>
    </p:spTree>
    <p:extLst>
      <p:ext uri="{BB962C8B-B14F-4D97-AF65-F5344CB8AC3E}">
        <p14:creationId xmlns:p14="http://schemas.microsoft.com/office/powerpoint/2010/main" val="203648601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F6510-B88F-1C0D-8DE5-10E099D727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A7D29F-BA10-E60D-7D26-6D7F857E316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DE61816-BCB6-CB8C-85EE-5B17AAF7C03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How to operationalize things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Platforms for collaboration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funding to develop the tool or software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FAIR particularly Interoperability (ability to integrate and work across workflows)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How does geopolitics affect the maintenance of infrastructure?</a:t>
            </a:r>
          </a:p>
          <a:p>
            <a:endParaRPr lang="en-US" dirty="0"/>
          </a:p>
        </p:txBody>
      </p:sp>
      <p:sp>
        <p:nvSpPr>
          <p:cNvPr id="4" name="Slide Number Placeholder 3">
            <a:extLst>
              <a:ext uri="{FF2B5EF4-FFF2-40B4-BE49-F238E27FC236}">
                <a16:creationId xmlns:a16="http://schemas.microsoft.com/office/drawing/2014/main" id="{E00E7405-58CA-720E-2BB6-2F39929A4C7F}"/>
              </a:ext>
            </a:extLst>
          </p:cNvPr>
          <p:cNvSpPr>
            <a:spLocks noGrp="1"/>
          </p:cNvSpPr>
          <p:nvPr>
            <p:ph type="sldNum" sz="quarter" idx="5"/>
          </p:nvPr>
        </p:nvSpPr>
        <p:spPr/>
        <p:txBody>
          <a:bodyPr/>
          <a:lstStyle/>
          <a:p>
            <a:fld id="{526029D5-72E6-204B-95C8-168152D4D850}" type="slidenum">
              <a:rPr lang="en-US" smtClean="0"/>
              <a:t>38</a:t>
            </a:fld>
            <a:endParaRPr lang="en-US"/>
          </a:p>
        </p:txBody>
      </p:sp>
    </p:spTree>
    <p:extLst>
      <p:ext uri="{BB962C8B-B14F-4D97-AF65-F5344CB8AC3E}">
        <p14:creationId xmlns:p14="http://schemas.microsoft.com/office/powerpoint/2010/main" val="47963442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0515F-64FC-5FCC-1AC8-C3ECDAD630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57CDF5-A31D-726E-9A23-05FC2931881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4CE639A-D50B-29C3-A68E-4056C8B81BB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endParaRPr lang="en-US" dirty="0"/>
          </a:p>
          <a:p>
            <a:r>
              <a:rPr lang="en-US" dirty="0"/>
              <a:t>Illustrated nicely here with Brian Nosek’s culture change pyramid which shows the steps towards an open research culture. </a:t>
            </a:r>
          </a:p>
          <a:p>
            <a:r>
              <a:rPr lang="en-US" dirty="0"/>
              <a:t>Infrastructure forms the basis and makes things possible then you move up the levels towards policy.</a:t>
            </a:r>
          </a:p>
        </p:txBody>
      </p:sp>
      <p:sp>
        <p:nvSpPr>
          <p:cNvPr id="4" name="Slide Number Placeholder 3">
            <a:extLst>
              <a:ext uri="{FF2B5EF4-FFF2-40B4-BE49-F238E27FC236}">
                <a16:creationId xmlns:a16="http://schemas.microsoft.com/office/drawing/2014/main" id="{6C565D95-090B-9C1B-9872-CFCA57E11F78}"/>
              </a:ext>
            </a:extLst>
          </p:cNvPr>
          <p:cNvSpPr>
            <a:spLocks noGrp="1"/>
          </p:cNvSpPr>
          <p:nvPr>
            <p:ph type="sldNum" sz="quarter" idx="5"/>
          </p:nvPr>
        </p:nvSpPr>
        <p:spPr/>
        <p:txBody>
          <a:bodyPr/>
          <a:lstStyle/>
          <a:p>
            <a:fld id="{526029D5-72E6-204B-95C8-168152D4D850}" type="slidenum">
              <a:rPr lang="en-US" smtClean="0"/>
              <a:t>39</a:t>
            </a:fld>
            <a:endParaRPr lang="en-US"/>
          </a:p>
        </p:txBody>
      </p:sp>
    </p:spTree>
    <p:extLst>
      <p:ext uri="{BB962C8B-B14F-4D97-AF65-F5344CB8AC3E}">
        <p14:creationId xmlns:p14="http://schemas.microsoft.com/office/powerpoint/2010/main" val="118364532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36974-7E84-90EE-E285-44F9A6924F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941463-E21A-8C2A-B275-5E9D8D7853A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44C6155-4F04-80CA-AEB9-668D1BB6E04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endParaRPr lang="en-US" dirty="0"/>
          </a:p>
          <a:p>
            <a:r>
              <a:rPr lang="en-US" dirty="0"/>
              <a:t>Some critiques say it overemphasis open science as a technical issue. Non the less it is an important part of the fabric of research. </a:t>
            </a:r>
          </a:p>
        </p:txBody>
      </p:sp>
      <p:sp>
        <p:nvSpPr>
          <p:cNvPr id="4" name="Slide Number Placeholder 3">
            <a:extLst>
              <a:ext uri="{FF2B5EF4-FFF2-40B4-BE49-F238E27FC236}">
                <a16:creationId xmlns:a16="http://schemas.microsoft.com/office/drawing/2014/main" id="{284F81DF-47B2-B533-31FA-9187A1B65B9D}"/>
              </a:ext>
            </a:extLst>
          </p:cNvPr>
          <p:cNvSpPr>
            <a:spLocks noGrp="1"/>
          </p:cNvSpPr>
          <p:nvPr>
            <p:ph type="sldNum" sz="quarter" idx="5"/>
          </p:nvPr>
        </p:nvSpPr>
        <p:spPr/>
        <p:txBody>
          <a:bodyPr/>
          <a:lstStyle/>
          <a:p>
            <a:fld id="{526029D5-72E6-204B-95C8-168152D4D850}" type="slidenum">
              <a:rPr lang="en-US" smtClean="0"/>
              <a:t>40</a:t>
            </a:fld>
            <a:endParaRPr lang="en-US"/>
          </a:p>
        </p:txBody>
      </p:sp>
    </p:spTree>
    <p:extLst>
      <p:ext uri="{BB962C8B-B14F-4D97-AF65-F5344CB8AC3E}">
        <p14:creationId xmlns:p14="http://schemas.microsoft.com/office/powerpoint/2010/main" val="232566931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BBC7A-14BA-E911-9F60-21DC374006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4B34CB-3BF8-5128-7782-ED5E4218112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2C8CA6C-9771-C57D-A844-38F7E78A0C3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endParaRPr lang="en-US" sz="1200" dirty="0"/>
          </a:p>
          <a:p>
            <a:r>
              <a:rPr lang="en-US" sz="1200" dirty="0"/>
              <a:t>Thinking about organizational infrastructure – that is the workflows, team structure symposiums, fora etc. </a:t>
            </a:r>
          </a:p>
          <a:p>
            <a:r>
              <a:rPr lang="en-US" sz="1200" dirty="0"/>
              <a:t>Connecting along this pyramid </a:t>
            </a:r>
          </a:p>
        </p:txBody>
      </p:sp>
      <p:sp>
        <p:nvSpPr>
          <p:cNvPr id="4" name="Slide Number Placeholder 3">
            <a:extLst>
              <a:ext uri="{FF2B5EF4-FFF2-40B4-BE49-F238E27FC236}">
                <a16:creationId xmlns:a16="http://schemas.microsoft.com/office/drawing/2014/main" id="{3B57C6D6-FC5C-BF9D-7426-D33C77861F58}"/>
              </a:ext>
            </a:extLst>
          </p:cNvPr>
          <p:cNvSpPr>
            <a:spLocks noGrp="1"/>
          </p:cNvSpPr>
          <p:nvPr>
            <p:ph type="sldNum" sz="quarter" idx="5"/>
          </p:nvPr>
        </p:nvSpPr>
        <p:spPr/>
        <p:txBody>
          <a:bodyPr/>
          <a:lstStyle/>
          <a:p>
            <a:fld id="{526029D5-72E6-204B-95C8-168152D4D850}" type="slidenum">
              <a:rPr lang="en-US" smtClean="0"/>
              <a:t>41</a:t>
            </a:fld>
            <a:endParaRPr lang="en-US"/>
          </a:p>
        </p:txBody>
      </p:sp>
    </p:spTree>
    <p:extLst>
      <p:ext uri="{BB962C8B-B14F-4D97-AF65-F5344CB8AC3E}">
        <p14:creationId xmlns:p14="http://schemas.microsoft.com/office/powerpoint/2010/main" val="99118978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DF7AF-5F10-3669-AD1F-93E7A12780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DBD4AB-5FE4-2C61-6949-17BF6184682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481D2D5-36BC-5E77-4EE0-6301DA46949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Practical issues:</a:t>
            </a:r>
          </a:p>
          <a:p>
            <a:r>
              <a:rPr lang="en-US" sz="1200" b="0" dirty="0"/>
              <a:t>grassroot initiatives and top-down policy actions.</a:t>
            </a:r>
          </a:p>
          <a:p>
            <a:r>
              <a:rPr lang="en-US" b="0" dirty="0"/>
              <a:t>bridging differences in agendas, attitudes and adoption</a:t>
            </a:r>
          </a:p>
          <a:p>
            <a:endParaRPr lang="en-US" b="0" dirty="0"/>
          </a:p>
          <a:p>
            <a:r>
              <a:rPr lang="en-US" b="1" dirty="0"/>
              <a:t>Instructor notes:</a:t>
            </a:r>
          </a:p>
          <a:p>
            <a:r>
              <a:rPr lang="en-US" b="0" dirty="0"/>
              <a:t>Optional: a small discussion listing all the technical tools or services the group uses on a regular basis. This can raise awareness of the tools we use regularly and how much we rely on them to research, learn and teach.</a:t>
            </a:r>
          </a:p>
        </p:txBody>
      </p:sp>
      <p:sp>
        <p:nvSpPr>
          <p:cNvPr id="4" name="Slide Number Placeholder 3">
            <a:extLst>
              <a:ext uri="{FF2B5EF4-FFF2-40B4-BE49-F238E27FC236}">
                <a16:creationId xmlns:a16="http://schemas.microsoft.com/office/drawing/2014/main" id="{77DFBFB9-6188-D5F1-2F71-FF04CB8E516B}"/>
              </a:ext>
            </a:extLst>
          </p:cNvPr>
          <p:cNvSpPr>
            <a:spLocks noGrp="1"/>
          </p:cNvSpPr>
          <p:nvPr>
            <p:ph type="sldNum" sz="quarter" idx="5"/>
          </p:nvPr>
        </p:nvSpPr>
        <p:spPr/>
        <p:txBody>
          <a:bodyPr/>
          <a:lstStyle/>
          <a:p>
            <a:fld id="{526029D5-72E6-204B-95C8-168152D4D850}" type="slidenum">
              <a:rPr lang="en-US" smtClean="0"/>
              <a:t>42</a:t>
            </a:fld>
            <a:endParaRPr lang="en-US"/>
          </a:p>
        </p:txBody>
      </p:sp>
    </p:spTree>
    <p:extLst>
      <p:ext uri="{BB962C8B-B14F-4D97-AF65-F5344CB8AC3E}">
        <p14:creationId xmlns:p14="http://schemas.microsoft.com/office/powerpoint/2010/main" val="102498736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929E1-A95E-F170-9BA0-D839B9C68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C89726-BBB1-5A5D-FE76-AAC6BCC74A4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C950FDF-ED6A-4180-CF13-2F2F53E93D6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endParaRPr lang="en-US" dirty="0"/>
          </a:p>
          <a:p>
            <a:r>
              <a:rPr lang="en-US" dirty="0"/>
              <a:t>A very topical example is the winding down of OSF projects. </a:t>
            </a:r>
          </a:p>
          <a:p>
            <a:r>
              <a:rPr lang="en-US" dirty="0"/>
              <a:t>A bit of background: has been going for 14 years and has 1 million registered users</a:t>
            </a:r>
          </a:p>
          <a:p>
            <a:r>
              <a:rPr lang="en-US" sz="1200" b="0" dirty="0"/>
              <a:t>A centralized repository and research workflow platform – indeed the track 2 slide decks are currently hosted there</a:t>
            </a:r>
          </a:p>
          <a:p>
            <a:r>
              <a:rPr lang="en-US" sz="1200" b="0" dirty="0"/>
              <a:t>From November this year they are to be phased out. The cost is 4-5 million us dollars!</a:t>
            </a:r>
          </a:p>
          <a:p>
            <a:endParaRPr lang="en-US" sz="1200" b="0" dirty="0"/>
          </a:p>
          <a:p>
            <a:r>
              <a:rPr lang="en-US" sz="1200" b="0" dirty="0"/>
              <a:t>This will cause a change to workflows </a:t>
            </a:r>
            <a:endParaRPr lang="en-US" b="0" dirty="0"/>
          </a:p>
        </p:txBody>
      </p:sp>
      <p:sp>
        <p:nvSpPr>
          <p:cNvPr id="4" name="Slide Number Placeholder 3">
            <a:extLst>
              <a:ext uri="{FF2B5EF4-FFF2-40B4-BE49-F238E27FC236}">
                <a16:creationId xmlns:a16="http://schemas.microsoft.com/office/drawing/2014/main" id="{D73A015D-98C6-FF40-E225-5531BF1CA8E6}"/>
              </a:ext>
            </a:extLst>
          </p:cNvPr>
          <p:cNvSpPr>
            <a:spLocks noGrp="1"/>
          </p:cNvSpPr>
          <p:nvPr>
            <p:ph type="sldNum" sz="quarter" idx="5"/>
          </p:nvPr>
        </p:nvSpPr>
        <p:spPr/>
        <p:txBody>
          <a:bodyPr/>
          <a:lstStyle/>
          <a:p>
            <a:fld id="{526029D5-72E6-204B-95C8-168152D4D850}" type="slidenum">
              <a:rPr lang="en-US" smtClean="0"/>
              <a:t>43</a:t>
            </a:fld>
            <a:endParaRPr lang="en-US"/>
          </a:p>
        </p:txBody>
      </p:sp>
    </p:spTree>
    <p:extLst>
      <p:ext uri="{BB962C8B-B14F-4D97-AF65-F5344CB8AC3E}">
        <p14:creationId xmlns:p14="http://schemas.microsoft.com/office/powerpoint/2010/main" val="217911374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72DDF-5F05-AF4F-1BB6-32DC2476BB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10DBF7-17C1-3DCA-BA6F-F277AD017B8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2CFE8D8-7142-7A93-5359-4F4AFE2EF58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Now moving on to thinking about equity in open science  Which links well to what we discussed in session 1 and also will be relevant to some of the case studies that are part of session 3 strategies.</a:t>
            </a:r>
          </a:p>
          <a:p>
            <a:endParaRPr lang="en-US" dirty="0"/>
          </a:p>
          <a:p>
            <a:r>
              <a:rPr lang="en-US" dirty="0"/>
              <a:t>In short by equity, we mean fairness based on need and justice – removing cause of the inequity </a:t>
            </a:r>
          </a:p>
        </p:txBody>
      </p:sp>
      <p:sp>
        <p:nvSpPr>
          <p:cNvPr id="4" name="Slide Number Placeholder 3">
            <a:extLst>
              <a:ext uri="{FF2B5EF4-FFF2-40B4-BE49-F238E27FC236}">
                <a16:creationId xmlns:a16="http://schemas.microsoft.com/office/drawing/2014/main" id="{21D86549-1F6C-1363-0A38-7734EBFBAB83}"/>
              </a:ext>
            </a:extLst>
          </p:cNvPr>
          <p:cNvSpPr>
            <a:spLocks noGrp="1"/>
          </p:cNvSpPr>
          <p:nvPr>
            <p:ph type="sldNum" sz="quarter" idx="5"/>
          </p:nvPr>
        </p:nvSpPr>
        <p:spPr/>
        <p:txBody>
          <a:bodyPr/>
          <a:lstStyle/>
          <a:p>
            <a:fld id="{46F3A5F6-A6BC-E543-9B7F-4BD33E1BAA03}" type="slidenum">
              <a:rPr lang="en-US" smtClean="0"/>
              <a:t>44</a:t>
            </a:fld>
            <a:endParaRPr lang="en-US"/>
          </a:p>
        </p:txBody>
      </p:sp>
    </p:spTree>
    <p:extLst>
      <p:ext uri="{BB962C8B-B14F-4D97-AF65-F5344CB8AC3E}">
        <p14:creationId xmlns:p14="http://schemas.microsoft.com/office/powerpoint/2010/main" val="272477691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EE0FF-503D-777F-2AB9-2186702AC6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BC4F7D-FD43-6A6D-6C85-56B66B112B6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9E23DE9-592B-A9AC-D57B-A34123B6DAB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Personal biases - </a:t>
            </a:r>
          </a:p>
          <a:p>
            <a:r>
              <a:rPr lang="en-US" dirty="0"/>
              <a:t>Who sets the standards? </a:t>
            </a:r>
          </a:p>
          <a:p>
            <a:r>
              <a:rPr lang="en-US" dirty="0"/>
              <a:t>Whose knowledge do we value – thinking about authorship, and credit. How are contributions recognized</a:t>
            </a:r>
          </a:p>
          <a:p>
            <a:r>
              <a:rPr lang="en-US" dirty="0"/>
              <a:t>How does our ways of working and research impact communities that are under-represented in academia?</a:t>
            </a:r>
          </a:p>
        </p:txBody>
      </p:sp>
      <p:sp>
        <p:nvSpPr>
          <p:cNvPr id="4" name="Slide Number Placeholder 3">
            <a:extLst>
              <a:ext uri="{FF2B5EF4-FFF2-40B4-BE49-F238E27FC236}">
                <a16:creationId xmlns:a16="http://schemas.microsoft.com/office/drawing/2014/main" id="{79901980-8037-CC36-C716-C3A78B4AA575}"/>
              </a:ext>
            </a:extLst>
          </p:cNvPr>
          <p:cNvSpPr>
            <a:spLocks noGrp="1"/>
          </p:cNvSpPr>
          <p:nvPr>
            <p:ph type="sldNum" sz="quarter" idx="5"/>
          </p:nvPr>
        </p:nvSpPr>
        <p:spPr/>
        <p:txBody>
          <a:bodyPr/>
          <a:lstStyle/>
          <a:p>
            <a:fld id="{46F3A5F6-A6BC-E543-9B7F-4BD33E1BAA03}" type="slidenum">
              <a:rPr lang="en-US" smtClean="0"/>
              <a:t>45</a:t>
            </a:fld>
            <a:endParaRPr lang="en-US"/>
          </a:p>
        </p:txBody>
      </p:sp>
    </p:spTree>
    <p:extLst>
      <p:ext uri="{BB962C8B-B14F-4D97-AF65-F5344CB8AC3E}">
        <p14:creationId xmlns:p14="http://schemas.microsoft.com/office/powerpoint/2010/main" val="237232659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 the last point about impact on communities is the CARE principles  developed for research involving Indigenous communities which stands for </a:t>
            </a:r>
            <a:r>
              <a:rPr lang="en-GB" dirty="0"/>
              <a:t>Collective Benefit, Authority to Control, Responsibility, and Ethics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FAIR focuses on technical infrastructure and asks questions like: </a:t>
            </a:r>
            <a:r>
              <a:rPr lang="en-US" sz="1200" dirty="0"/>
              <a:t>Are people able to access and reuse these data?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With an equity, ethics and social justice lens: CARE asks: Should these data be accessible and to whom? Who decides?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CARE principles are good to consider when working with indigenous communities and vulnerable or marginalized groups to minimize harm.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Just because you can, does not always mean you should!</a:t>
            </a:r>
          </a:p>
          <a:p>
            <a:endParaRPr lang="en-US" dirty="0"/>
          </a:p>
        </p:txBody>
      </p:sp>
      <p:sp>
        <p:nvSpPr>
          <p:cNvPr id="4" name="Slide Number Placeholder 3"/>
          <p:cNvSpPr>
            <a:spLocks noGrp="1"/>
          </p:cNvSpPr>
          <p:nvPr>
            <p:ph type="sldNum" sz="quarter" idx="5"/>
          </p:nvPr>
        </p:nvSpPr>
        <p:spPr/>
        <p:txBody>
          <a:bodyPr/>
          <a:lstStyle/>
          <a:p>
            <a:fld id="{46F3A5F6-A6BC-E543-9B7F-4BD33E1BAA03}" type="slidenum">
              <a:rPr lang="en-US" smtClean="0"/>
              <a:t>46</a:t>
            </a:fld>
            <a:endParaRPr lang="en-US"/>
          </a:p>
        </p:txBody>
      </p:sp>
    </p:spTree>
    <p:extLst>
      <p:ext uri="{BB962C8B-B14F-4D97-AF65-F5344CB8AC3E}">
        <p14:creationId xmlns:p14="http://schemas.microsoft.com/office/powerpoint/2010/main" val="77558594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4C721-1E39-13B3-98FD-D479EC2149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FE5468-5BE4-5326-B783-1B06A80BBC8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BB4D7F0-22EA-B642-A5C7-E912B962A20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endParaRPr lang="en-US" dirty="0"/>
          </a:p>
          <a:p>
            <a:r>
              <a:rPr lang="en-US" dirty="0"/>
              <a:t>Here are a selection of papers that discuss equity and social justice challenges in an open science context. </a:t>
            </a:r>
          </a:p>
        </p:txBody>
      </p:sp>
      <p:sp>
        <p:nvSpPr>
          <p:cNvPr id="4" name="Slide Number Placeholder 3">
            <a:extLst>
              <a:ext uri="{FF2B5EF4-FFF2-40B4-BE49-F238E27FC236}">
                <a16:creationId xmlns:a16="http://schemas.microsoft.com/office/drawing/2014/main" id="{CEC2E730-B006-C102-5478-B0500410DFAB}"/>
              </a:ext>
            </a:extLst>
          </p:cNvPr>
          <p:cNvSpPr>
            <a:spLocks noGrp="1"/>
          </p:cNvSpPr>
          <p:nvPr>
            <p:ph type="sldNum" sz="quarter" idx="5"/>
          </p:nvPr>
        </p:nvSpPr>
        <p:spPr/>
        <p:txBody>
          <a:bodyPr/>
          <a:lstStyle/>
          <a:p>
            <a:fld id="{46F3A5F6-A6BC-E543-9B7F-4BD33E1BAA03}" type="slidenum">
              <a:rPr lang="en-US" smtClean="0"/>
              <a:t>47</a:t>
            </a:fld>
            <a:endParaRPr lang="en-US"/>
          </a:p>
        </p:txBody>
      </p:sp>
    </p:spTree>
    <p:extLst>
      <p:ext uri="{BB962C8B-B14F-4D97-AF65-F5344CB8AC3E}">
        <p14:creationId xmlns:p14="http://schemas.microsoft.com/office/powerpoint/2010/main" val="167428305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7BB87-9E5C-47E6-3E5A-611F62D817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413963-140B-05A0-48A5-68481C26133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53705EC-8E75-1BA5-5612-AD0C21384BC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It is important to briefly mention a challenge of AI technologies and how this connects the three types of challenges (conceptual, practical and equitable)</a:t>
            </a:r>
          </a:p>
          <a:p>
            <a:endParaRPr lang="en-US" sz="1200" dirty="0"/>
          </a:p>
          <a:p>
            <a:r>
              <a:rPr lang="en-US" sz="1200" dirty="0"/>
              <a:t>Conceptually there is confusion about the different types of AI technologies</a:t>
            </a:r>
          </a:p>
          <a:p>
            <a:r>
              <a:rPr lang="en-US" sz="1200" dirty="0"/>
              <a:t>e.g. what is a Chatbot:</a:t>
            </a:r>
          </a:p>
          <a:p>
            <a:r>
              <a:rPr lang="en-US" sz="1200" dirty="0"/>
              <a:t>An engineered system that appears to converse with</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the user using text or voice.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Then practically how does use of AI affect how we evaluate research outputs (and educational assessments)?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and the equity perspective, how does AI impact team dynamics?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Instructor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This slide is designed to prompt reflection and can be extended to a group discussion activity or short essay writing exercise.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 </a:t>
            </a:r>
          </a:p>
        </p:txBody>
      </p:sp>
      <p:sp>
        <p:nvSpPr>
          <p:cNvPr id="4" name="Slide Number Placeholder 3">
            <a:extLst>
              <a:ext uri="{FF2B5EF4-FFF2-40B4-BE49-F238E27FC236}">
                <a16:creationId xmlns:a16="http://schemas.microsoft.com/office/drawing/2014/main" id="{D37862A4-21BF-0E3F-3982-7A7DF505C826}"/>
              </a:ext>
            </a:extLst>
          </p:cNvPr>
          <p:cNvSpPr>
            <a:spLocks noGrp="1"/>
          </p:cNvSpPr>
          <p:nvPr>
            <p:ph type="sldNum" sz="quarter" idx="5"/>
          </p:nvPr>
        </p:nvSpPr>
        <p:spPr/>
        <p:txBody>
          <a:bodyPr/>
          <a:lstStyle/>
          <a:p>
            <a:fld id="{46F3A5F6-A6BC-E543-9B7F-4BD33E1BAA03}" type="slidenum">
              <a:rPr lang="en-US" smtClean="0"/>
              <a:t>48</a:t>
            </a:fld>
            <a:endParaRPr lang="en-US"/>
          </a:p>
        </p:txBody>
      </p:sp>
    </p:spTree>
    <p:extLst>
      <p:ext uri="{BB962C8B-B14F-4D97-AF65-F5344CB8AC3E}">
        <p14:creationId xmlns:p14="http://schemas.microsoft.com/office/powerpoint/2010/main" val="133332095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93FE7-FD34-FA71-61C2-86F2458CB8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255731-EB4E-C76D-582B-DB973CA566E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064E12F-6574-7760-8BF2-A443E18D19E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endParaRPr lang="en-US" dirty="0"/>
          </a:p>
          <a:p>
            <a:r>
              <a:rPr lang="en-US" dirty="0"/>
              <a:t>A quick recap before we pivot</a:t>
            </a:r>
          </a:p>
          <a:p>
            <a:r>
              <a:rPr lang="en-US" dirty="0"/>
              <a:t>We dissected the challenges? What type of challenges are they?</a:t>
            </a:r>
          </a:p>
          <a:p>
            <a:r>
              <a:rPr lang="en-US" dirty="0"/>
              <a:t>We’ve looked at the big picture – let’s relate to our challenges</a:t>
            </a:r>
          </a:p>
        </p:txBody>
      </p:sp>
      <p:sp>
        <p:nvSpPr>
          <p:cNvPr id="4" name="Slide Number Placeholder 3">
            <a:extLst>
              <a:ext uri="{FF2B5EF4-FFF2-40B4-BE49-F238E27FC236}">
                <a16:creationId xmlns:a16="http://schemas.microsoft.com/office/drawing/2014/main" id="{9AE61FC9-D82B-B4F5-2130-38B50029ECAA}"/>
              </a:ext>
            </a:extLst>
          </p:cNvPr>
          <p:cNvSpPr>
            <a:spLocks noGrp="1"/>
          </p:cNvSpPr>
          <p:nvPr>
            <p:ph type="sldNum" sz="quarter" idx="5"/>
          </p:nvPr>
        </p:nvSpPr>
        <p:spPr/>
        <p:txBody>
          <a:bodyPr/>
          <a:lstStyle/>
          <a:p>
            <a:fld id="{46F3A5F6-A6BC-E543-9B7F-4BD33E1BAA03}" type="slidenum">
              <a:rPr lang="en-US" smtClean="0"/>
              <a:t>49</a:t>
            </a:fld>
            <a:endParaRPr lang="en-US"/>
          </a:p>
        </p:txBody>
      </p:sp>
    </p:spTree>
    <p:extLst>
      <p:ext uri="{BB962C8B-B14F-4D97-AF65-F5344CB8AC3E}">
        <p14:creationId xmlns:p14="http://schemas.microsoft.com/office/powerpoint/2010/main" val="210336242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endParaRPr lang="en-US" dirty="0"/>
          </a:p>
          <a:p>
            <a:r>
              <a:rPr lang="en-US" dirty="0"/>
              <a:t>Another perspective on leadership in open science by a Richard </a:t>
            </a:r>
            <a:r>
              <a:rPr lang="en-US" dirty="0" err="1"/>
              <a:t>Dushime</a:t>
            </a:r>
            <a:r>
              <a:rPr lang="en-US" dirty="0"/>
              <a:t> who is a data scientist and website leader at FORRT.</a:t>
            </a:r>
          </a:p>
          <a:p>
            <a:endParaRPr lang="en-US" dirty="0"/>
          </a:p>
          <a:p>
            <a:r>
              <a:rPr lang="en-US" dirty="0"/>
              <a:t> </a:t>
            </a:r>
            <a:r>
              <a:rPr lang="en-GB" sz="1200" b="0" i="0" kern="1200" dirty="0">
                <a:solidFill>
                  <a:schemeClr val="tx1"/>
                </a:solidFill>
                <a:effectLst/>
                <a:latin typeface="+mn-lt"/>
                <a:ea typeface="+mn-ea"/>
                <a:cs typeface="+mn-cs"/>
              </a:rPr>
              <a:t>“Leadership in Open Science means </a:t>
            </a:r>
            <a:r>
              <a:rPr lang="en-GB" sz="1200" b="1" i="0" kern="1200" dirty="0">
                <a:solidFill>
                  <a:schemeClr val="tx1"/>
                </a:solidFill>
                <a:effectLst/>
                <a:latin typeface="+mn-lt"/>
                <a:ea typeface="+mn-ea"/>
                <a:cs typeface="+mn-cs"/>
              </a:rPr>
              <a:t>building</a:t>
            </a:r>
            <a:r>
              <a:rPr lang="en-GB" sz="1200" b="0" i="0" kern="1200" dirty="0">
                <a:solidFill>
                  <a:schemeClr val="tx1"/>
                </a:solidFill>
                <a:effectLst/>
                <a:latin typeface="+mn-lt"/>
                <a:ea typeface="+mn-ea"/>
                <a:cs typeface="+mn-cs"/>
              </a:rPr>
              <a:t> the roads others can travel and ensuring those roads remain open.</a:t>
            </a:r>
            <a:endParaRPr lang="en-GB" sz="120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It means </a:t>
            </a:r>
            <a:r>
              <a:rPr lang="en-GB" sz="1200" b="1" i="0" kern="1200" dirty="0">
                <a:solidFill>
                  <a:schemeClr val="tx1"/>
                </a:solidFill>
                <a:effectLst/>
                <a:latin typeface="+mn-lt"/>
                <a:ea typeface="+mn-ea"/>
                <a:cs typeface="+mn-cs"/>
              </a:rPr>
              <a:t>creating transparent</a:t>
            </a:r>
            <a:r>
              <a:rPr lang="en-GB" sz="1200" b="0" i="0" kern="1200" dirty="0">
                <a:solidFill>
                  <a:schemeClr val="tx1"/>
                </a:solidFill>
                <a:effectLst/>
                <a:latin typeface="+mn-lt"/>
                <a:ea typeface="+mn-ea"/>
                <a:cs typeface="+mn-cs"/>
              </a:rPr>
              <a:t>, </a:t>
            </a:r>
            <a:r>
              <a:rPr lang="en-GB" sz="1200" b="1" i="0" kern="1200" dirty="0">
                <a:solidFill>
                  <a:schemeClr val="tx1"/>
                </a:solidFill>
                <a:effectLst/>
                <a:latin typeface="+mn-lt"/>
                <a:ea typeface="+mn-ea"/>
                <a:cs typeface="+mn-cs"/>
              </a:rPr>
              <a:t>community-owned</a:t>
            </a:r>
            <a:r>
              <a:rPr lang="en-GB" sz="1200" b="0" i="0" kern="1200" dirty="0">
                <a:solidFill>
                  <a:schemeClr val="tx1"/>
                </a:solidFill>
                <a:effectLst/>
                <a:latin typeface="+mn-lt"/>
                <a:ea typeface="+mn-ea"/>
                <a:cs typeface="+mn-cs"/>
              </a:rPr>
              <a:t> infrastructure that makes sharing data, reproducing results, and collaborating across institutions </a:t>
            </a:r>
            <a:r>
              <a:rPr lang="en-GB" sz="1200" b="1" i="0" kern="1200" dirty="0">
                <a:solidFill>
                  <a:schemeClr val="tx1"/>
                </a:solidFill>
                <a:effectLst/>
                <a:latin typeface="+mn-lt"/>
                <a:ea typeface="+mn-ea"/>
                <a:cs typeface="+mn-cs"/>
              </a:rPr>
              <a:t>accessible</a:t>
            </a:r>
            <a:r>
              <a:rPr lang="en-GB" sz="1200" b="0" i="0" kern="1200" dirty="0">
                <a:solidFill>
                  <a:schemeClr val="tx1"/>
                </a:solidFill>
                <a:effectLst/>
                <a:latin typeface="+mn-lt"/>
                <a:ea typeface="+mn-ea"/>
                <a:cs typeface="+mn-cs"/>
              </a:rPr>
              <a:t> and </a:t>
            </a:r>
            <a:r>
              <a:rPr lang="en-GB" sz="1200" b="1" i="0" kern="1200" dirty="0">
                <a:solidFill>
                  <a:schemeClr val="tx1"/>
                </a:solidFill>
                <a:effectLst/>
                <a:latin typeface="+mn-lt"/>
                <a:ea typeface="+mn-ea"/>
                <a:cs typeface="+mn-cs"/>
              </a:rPr>
              <a:t>sustainable</a:t>
            </a:r>
            <a:r>
              <a:rPr lang="en-GB" sz="1200" b="0" i="0"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True leadership is </a:t>
            </a:r>
            <a:r>
              <a:rPr lang="en-GB" sz="1200" b="1" i="0" kern="1200" dirty="0">
                <a:solidFill>
                  <a:schemeClr val="tx1"/>
                </a:solidFill>
                <a:effectLst/>
                <a:latin typeface="+mn-lt"/>
                <a:ea typeface="+mn-ea"/>
                <a:cs typeface="+mn-cs"/>
              </a:rPr>
              <a:t>not about visibility</a:t>
            </a:r>
            <a:r>
              <a:rPr lang="en-GB" sz="1200" b="0" i="0" kern="1200" dirty="0">
                <a:solidFill>
                  <a:schemeClr val="tx1"/>
                </a:solidFill>
                <a:effectLst/>
                <a:latin typeface="+mn-lt"/>
                <a:ea typeface="+mn-ea"/>
                <a:cs typeface="+mn-cs"/>
              </a:rPr>
              <a:t>; it is about </a:t>
            </a:r>
            <a:r>
              <a:rPr lang="en-GB" sz="1200" b="1" i="0" kern="1200" dirty="0">
                <a:solidFill>
                  <a:schemeClr val="tx1"/>
                </a:solidFill>
                <a:effectLst/>
                <a:latin typeface="+mn-lt"/>
                <a:ea typeface="+mn-ea"/>
                <a:cs typeface="+mn-cs"/>
              </a:rPr>
              <a:t>creating</a:t>
            </a:r>
            <a:r>
              <a:rPr lang="en-GB" sz="1200" b="0" i="0" kern="1200" dirty="0">
                <a:solidFill>
                  <a:schemeClr val="tx1"/>
                </a:solidFill>
                <a:effectLst/>
                <a:latin typeface="+mn-lt"/>
                <a:ea typeface="+mn-ea"/>
                <a:cs typeface="+mn-cs"/>
              </a:rPr>
              <a:t> the </a:t>
            </a:r>
            <a:r>
              <a:rPr lang="en-GB" sz="1200" b="1" i="0" kern="1200" dirty="0">
                <a:solidFill>
                  <a:schemeClr val="tx1"/>
                </a:solidFill>
                <a:effectLst/>
                <a:latin typeface="+mn-lt"/>
                <a:ea typeface="+mn-ea"/>
                <a:cs typeface="+mn-cs"/>
              </a:rPr>
              <a:t>conditions</a:t>
            </a:r>
            <a:r>
              <a:rPr lang="en-GB" sz="1200" b="0" i="0" kern="1200" dirty="0">
                <a:solidFill>
                  <a:schemeClr val="tx1"/>
                </a:solidFill>
                <a:effectLst/>
                <a:latin typeface="+mn-lt"/>
                <a:ea typeface="+mn-ea"/>
                <a:cs typeface="+mn-cs"/>
              </a:rPr>
              <a:t> where </a:t>
            </a:r>
            <a:r>
              <a:rPr lang="en-GB" sz="1200" b="1" i="0" kern="1200" dirty="0">
                <a:solidFill>
                  <a:schemeClr val="tx1"/>
                </a:solidFill>
                <a:effectLst/>
                <a:latin typeface="+mn-lt"/>
                <a:ea typeface="+mn-ea"/>
                <a:cs typeface="+mn-cs"/>
              </a:rPr>
              <a:t>openness</a:t>
            </a:r>
            <a:r>
              <a:rPr lang="en-GB" sz="1200" b="0" i="0" kern="1200" dirty="0">
                <a:solidFill>
                  <a:schemeClr val="tx1"/>
                </a:solidFill>
                <a:effectLst/>
                <a:latin typeface="+mn-lt"/>
                <a:ea typeface="+mn-ea"/>
                <a:cs typeface="+mn-cs"/>
              </a:rPr>
              <a:t> becomes the default from Day 1.”</a:t>
            </a:r>
            <a:endParaRPr lang="en-GB"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46F3A5F6-A6BC-E543-9B7F-4BD33E1BAA03}" type="slidenum">
              <a:rPr lang="en-US" smtClean="0"/>
              <a:t>50</a:t>
            </a:fld>
            <a:endParaRPr lang="en-US"/>
          </a:p>
        </p:txBody>
      </p:sp>
    </p:spTree>
    <p:extLst>
      <p:ext uri="{BB962C8B-B14F-4D97-AF65-F5344CB8AC3E}">
        <p14:creationId xmlns:p14="http://schemas.microsoft.com/office/powerpoint/2010/main" val="209976596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3431C-C705-1CC6-9A95-E7F7BE0282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8B9541-6DC0-2FD3-F325-E3ED47862A3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5E71DD4-5FD0-1340-85D7-260333375456}"/>
              </a:ext>
            </a:extLst>
          </p:cNvPr>
          <p:cNvSpPr>
            <a:spLocks noGrp="1"/>
          </p:cNvSpPr>
          <p:nvPr>
            <p:ph type="body" idx="1"/>
          </p:nvPr>
        </p:nvSpPr>
        <p:spPr/>
        <p:txBody>
          <a:bodyPr/>
          <a:lstStyle/>
          <a:p>
            <a:r>
              <a:rPr lang="en-US" b="1" dirty="0"/>
              <a:t>Speaker notes:</a:t>
            </a:r>
          </a:p>
          <a:p>
            <a:r>
              <a:rPr lang="en-US" dirty="0"/>
              <a:t>Let’s talk about scale! </a:t>
            </a:r>
          </a:p>
          <a:p>
            <a:r>
              <a:rPr lang="en-US" dirty="0"/>
              <a:t>We can map these challenges based on where they occur:</a:t>
            </a:r>
          </a:p>
          <a:p>
            <a:r>
              <a:rPr lang="en-US" dirty="0"/>
              <a:t>Starting from large scale: whole systems – like academia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Then institutional or organizational (mezzo scale) is where </a:t>
            </a:r>
            <a:r>
              <a:rPr lang="en-GB" sz="1200" dirty="0"/>
              <a:t>embedded policies/practices that provide scaffolding of systems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Then on smaller scale of teams – this covers interactions and </a:t>
            </a:r>
            <a:r>
              <a:rPr lang="en-GB" sz="1200" dirty="0" err="1"/>
              <a:t>behaviors</a:t>
            </a:r>
            <a:r>
              <a:rPr lang="en-GB" sz="1200" dirty="0"/>
              <a:t> between people and teams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Finally at the individual scale it is about personal </a:t>
            </a:r>
            <a:r>
              <a:rPr lang="en-GB" sz="1200" dirty="0" err="1"/>
              <a:t>behaviors</a:t>
            </a:r>
            <a:r>
              <a:rPr lang="en-GB" sz="1200" dirty="0"/>
              <a:t> </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endParaRPr lang="en-US" dirty="0"/>
          </a:p>
        </p:txBody>
      </p:sp>
      <p:sp>
        <p:nvSpPr>
          <p:cNvPr id="4" name="Slide Number Placeholder 3">
            <a:extLst>
              <a:ext uri="{FF2B5EF4-FFF2-40B4-BE49-F238E27FC236}">
                <a16:creationId xmlns:a16="http://schemas.microsoft.com/office/drawing/2014/main" id="{3ED0D445-1F50-0226-8C7D-2BEE4B4583D5}"/>
              </a:ext>
            </a:extLst>
          </p:cNvPr>
          <p:cNvSpPr>
            <a:spLocks noGrp="1"/>
          </p:cNvSpPr>
          <p:nvPr>
            <p:ph type="sldNum" sz="quarter" idx="5"/>
          </p:nvPr>
        </p:nvSpPr>
        <p:spPr/>
        <p:txBody>
          <a:bodyPr/>
          <a:lstStyle/>
          <a:p>
            <a:fld id="{46F3A5F6-A6BC-E543-9B7F-4BD33E1BAA03}" type="slidenum">
              <a:rPr lang="en-US" smtClean="0"/>
              <a:t>51</a:t>
            </a:fld>
            <a:endParaRPr lang="en-US"/>
          </a:p>
        </p:txBody>
      </p:sp>
    </p:spTree>
    <p:extLst>
      <p:ext uri="{BB962C8B-B14F-4D97-AF65-F5344CB8AC3E}">
        <p14:creationId xmlns:p14="http://schemas.microsoft.com/office/powerpoint/2010/main" val="171976500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3B4C6-8788-BC07-1DF3-2CF516C27B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E4EBEC-5F60-9347-53B7-41625313E33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144E6E1-B89E-FAA9-48BA-9ED8EE9CFA65}"/>
              </a:ext>
            </a:extLst>
          </p:cNvPr>
          <p:cNvSpPr>
            <a:spLocks noGrp="1"/>
          </p:cNvSpPr>
          <p:nvPr>
            <p:ph type="body" idx="1"/>
          </p:nvPr>
        </p:nvSpPr>
        <p:spPr/>
        <p:txBody>
          <a:bodyPr/>
          <a:lstStyle/>
          <a:p>
            <a:r>
              <a:rPr lang="en-US" b="1" dirty="0"/>
              <a:t>Speaker notes:</a:t>
            </a:r>
          </a:p>
          <a:p>
            <a:r>
              <a:rPr lang="en-US" dirty="0"/>
              <a:t>Some of the challenges we saw earlier can be mapped on like this. </a:t>
            </a:r>
          </a:p>
          <a:p>
            <a:r>
              <a:rPr lang="en-US" dirty="0"/>
              <a:t>Incentive structures are dictated at the academic system at national or regional policy decisions</a:t>
            </a:r>
          </a:p>
          <a:p>
            <a:r>
              <a:rPr lang="en-US" dirty="0"/>
              <a:t>Lack of support is a challenge at the scale of institutions and teams </a:t>
            </a:r>
          </a:p>
          <a:p>
            <a:endParaRPr lang="en-US" dirty="0"/>
          </a:p>
          <a:p>
            <a:r>
              <a:rPr lang="en-US" dirty="0"/>
              <a:t>There may be an aspect of a challenges that is within your sphere of influence</a:t>
            </a:r>
          </a:p>
        </p:txBody>
      </p:sp>
      <p:sp>
        <p:nvSpPr>
          <p:cNvPr id="4" name="Slide Number Placeholder 3">
            <a:extLst>
              <a:ext uri="{FF2B5EF4-FFF2-40B4-BE49-F238E27FC236}">
                <a16:creationId xmlns:a16="http://schemas.microsoft.com/office/drawing/2014/main" id="{A20D6E39-20D2-2150-61ED-E36577AD447A}"/>
              </a:ext>
            </a:extLst>
          </p:cNvPr>
          <p:cNvSpPr>
            <a:spLocks noGrp="1"/>
          </p:cNvSpPr>
          <p:nvPr>
            <p:ph type="sldNum" sz="quarter" idx="5"/>
          </p:nvPr>
        </p:nvSpPr>
        <p:spPr/>
        <p:txBody>
          <a:bodyPr/>
          <a:lstStyle/>
          <a:p>
            <a:fld id="{46F3A5F6-A6BC-E543-9B7F-4BD33E1BAA03}" type="slidenum">
              <a:rPr lang="en-US" smtClean="0"/>
              <a:t>52</a:t>
            </a:fld>
            <a:endParaRPr lang="en-US"/>
          </a:p>
        </p:txBody>
      </p:sp>
    </p:spTree>
    <p:extLst>
      <p:ext uri="{BB962C8B-B14F-4D97-AF65-F5344CB8AC3E}">
        <p14:creationId xmlns:p14="http://schemas.microsoft.com/office/powerpoint/2010/main" val="16903564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dirty="0"/>
              <a:t>Speaker notes:</a:t>
            </a:r>
            <a:endParaRPr lang="en-US" sz="1200" b="1" dirty="0"/>
          </a:p>
          <a:p>
            <a:r>
              <a:rPr lang="en-US" dirty="0"/>
              <a:t>Now we are thinking about step 3 – agency, now that we have acknowledged the challenges we can begin to think about which ones we have control or influence over to address</a:t>
            </a:r>
          </a:p>
          <a:p>
            <a:endParaRPr lang="en-US" dirty="0"/>
          </a:p>
          <a:p>
            <a:endParaRPr lang="en-US" dirty="0"/>
          </a:p>
        </p:txBody>
      </p:sp>
      <p:sp>
        <p:nvSpPr>
          <p:cNvPr id="4" name="Slide Number Placeholder 3"/>
          <p:cNvSpPr>
            <a:spLocks noGrp="1"/>
          </p:cNvSpPr>
          <p:nvPr>
            <p:ph type="sldNum" sz="quarter" idx="5"/>
          </p:nvPr>
        </p:nvSpPr>
        <p:spPr/>
        <p:txBody>
          <a:bodyPr/>
          <a:lstStyle/>
          <a:p>
            <a:fld id="{46F3A5F6-A6BC-E543-9B7F-4BD33E1BAA03}" type="slidenum">
              <a:rPr lang="en-US" smtClean="0"/>
              <a:t>53</a:t>
            </a:fld>
            <a:endParaRPr lang="en-US"/>
          </a:p>
        </p:txBody>
      </p:sp>
    </p:spTree>
    <p:extLst>
      <p:ext uri="{BB962C8B-B14F-4D97-AF65-F5344CB8AC3E}">
        <p14:creationId xmlns:p14="http://schemas.microsoft.com/office/powerpoint/2010/main" val="27152266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dirty="0"/>
              <a:t>Speaker notes:</a:t>
            </a:r>
          </a:p>
          <a:p>
            <a:endParaRPr lang="en-US" b="1" dirty="0"/>
          </a:p>
          <a:p>
            <a:r>
              <a:rPr lang="en-US" sz="1200" dirty="0"/>
              <a:t>We generally have more control and influence for challenges at the inter-personal and individual level)</a:t>
            </a:r>
          </a:p>
          <a:p>
            <a:endParaRPr lang="en-US" dirty="0"/>
          </a:p>
          <a:p>
            <a:r>
              <a:rPr lang="en-US" dirty="0"/>
              <a:t>Links back to slide on open science happening on different scales (practical issues), each of us has different sphere of influence</a:t>
            </a:r>
          </a:p>
          <a:p>
            <a:endParaRPr lang="en-US" dirty="0"/>
          </a:p>
        </p:txBody>
      </p:sp>
      <p:sp>
        <p:nvSpPr>
          <p:cNvPr id="4" name="Slide Number Placeholder 3"/>
          <p:cNvSpPr>
            <a:spLocks noGrp="1"/>
          </p:cNvSpPr>
          <p:nvPr>
            <p:ph type="sldNum" sz="quarter" idx="5"/>
          </p:nvPr>
        </p:nvSpPr>
        <p:spPr/>
        <p:txBody>
          <a:bodyPr/>
          <a:lstStyle/>
          <a:p>
            <a:fld id="{46F3A5F6-A6BC-E543-9B7F-4BD33E1BAA03}" type="slidenum">
              <a:rPr lang="en-US" smtClean="0"/>
              <a:t>54</a:t>
            </a:fld>
            <a:endParaRPr lang="en-US"/>
          </a:p>
        </p:txBody>
      </p:sp>
    </p:spTree>
    <p:extLst>
      <p:ext uri="{BB962C8B-B14F-4D97-AF65-F5344CB8AC3E}">
        <p14:creationId xmlns:p14="http://schemas.microsoft.com/office/powerpoint/2010/main" val="243132046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endParaRPr lang="en-US" dirty="0"/>
          </a:p>
          <a:p>
            <a:r>
              <a:rPr lang="en-US" dirty="0"/>
              <a:t>How do we go from brain dump of challenges to deciding which challenges to address?</a:t>
            </a:r>
          </a:p>
          <a:p>
            <a:endParaRPr lang="en-US" dirty="0"/>
          </a:p>
          <a:p>
            <a:r>
              <a:rPr lang="en-US" dirty="0"/>
              <a:t>This table can help us. We have the scale of the challenge on the left-hand side in grey and then 4 boxes with varying level of control or influence over the challenge.</a:t>
            </a:r>
          </a:p>
          <a:p>
            <a:r>
              <a:rPr lang="en-US" dirty="0"/>
              <a:t>Top left we have challenges that are partly within in our control and we can stay aware</a:t>
            </a:r>
          </a:p>
          <a:p>
            <a:r>
              <a:rPr lang="en-US" dirty="0"/>
              <a:t>Top right are challenges outside our control – we acknowledge them and then try and let go to reduce the mental space they are occupying in our brain</a:t>
            </a:r>
          </a:p>
          <a:p>
            <a:r>
              <a:rPr lang="en-US" dirty="0"/>
              <a:t>Then bottom left we have the green zone of challenges that are within our control/influence and we can then look at how to act to address them</a:t>
            </a:r>
          </a:p>
          <a:p>
            <a:r>
              <a:rPr lang="en-US" dirty="0"/>
              <a:t>Lastly in the bottom right we have outside our control which we will accept for now but can assess at a later date if our sphere of influence has shifted or not.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u="none" strike="noStrike" kern="1200" dirty="0">
                <a:solidFill>
                  <a:schemeClr val="tx1"/>
                </a:solidFill>
                <a:effectLst/>
                <a:latin typeface="+mn-lt"/>
                <a:ea typeface="+mn-ea"/>
                <a:cs typeface="+mn-cs"/>
              </a:rPr>
              <a:t>Our sphere of influence is dynamic and as we accumulate more lived and work experience and make more connections our capacity to address challenges changes. Barriers that are currently outside our control/influence to address may be possible to act upon in a few months time.</a:t>
            </a:r>
            <a:endParaRPr lang="en-GB" dirty="0">
              <a:effectLst/>
            </a:endParaRPr>
          </a:p>
          <a:p>
            <a:endParaRPr lang="en-US" dirty="0"/>
          </a:p>
        </p:txBody>
      </p:sp>
      <p:sp>
        <p:nvSpPr>
          <p:cNvPr id="4" name="Slide Number Placeholder 3"/>
          <p:cNvSpPr>
            <a:spLocks noGrp="1"/>
          </p:cNvSpPr>
          <p:nvPr>
            <p:ph type="sldNum" sz="quarter" idx="5"/>
          </p:nvPr>
        </p:nvSpPr>
        <p:spPr/>
        <p:txBody>
          <a:bodyPr/>
          <a:lstStyle/>
          <a:p>
            <a:fld id="{46F3A5F6-A6BC-E543-9B7F-4BD33E1BAA03}" type="slidenum">
              <a:rPr lang="en-US" smtClean="0"/>
              <a:t>55</a:t>
            </a:fld>
            <a:endParaRPr lang="en-US"/>
          </a:p>
        </p:txBody>
      </p:sp>
    </p:spTree>
    <p:extLst>
      <p:ext uri="{BB962C8B-B14F-4D97-AF65-F5344CB8AC3E}">
        <p14:creationId xmlns:p14="http://schemas.microsoft.com/office/powerpoint/2010/main" val="152645082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r>
              <a:rPr lang="en-US" dirty="0"/>
              <a:t>Now is time for you to write down your challenges and begin to categorize them in your workbooks</a:t>
            </a:r>
          </a:p>
          <a:p>
            <a:r>
              <a:rPr lang="en-US" dirty="0"/>
              <a:t>Fell free to use challenges we’ve crowd sourced earlier in the session.</a:t>
            </a:r>
          </a:p>
          <a:p>
            <a:endParaRPr lang="en-US" dirty="0"/>
          </a:p>
        </p:txBody>
      </p:sp>
      <p:sp>
        <p:nvSpPr>
          <p:cNvPr id="4" name="Slide Number Placeholder 3"/>
          <p:cNvSpPr>
            <a:spLocks noGrp="1"/>
          </p:cNvSpPr>
          <p:nvPr>
            <p:ph type="sldNum" sz="quarter" idx="5"/>
          </p:nvPr>
        </p:nvSpPr>
        <p:spPr/>
        <p:txBody>
          <a:bodyPr/>
          <a:lstStyle/>
          <a:p>
            <a:fld id="{46F3A5F6-A6BC-E543-9B7F-4BD33E1BAA03}" type="slidenum">
              <a:rPr lang="en-US" smtClean="0"/>
              <a:t>56</a:t>
            </a:fld>
            <a:endParaRPr lang="en-US"/>
          </a:p>
        </p:txBody>
      </p:sp>
    </p:spTree>
    <p:extLst>
      <p:ext uri="{BB962C8B-B14F-4D97-AF65-F5344CB8AC3E}">
        <p14:creationId xmlns:p14="http://schemas.microsoft.com/office/powerpoint/2010/main" val="407946355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1C2AC-1BCF-F32E-B4E2-C97FC27F57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5389B0-9CD2-069B-EEDF-9E83FE5A136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A23F18D-6BDF-17EC-5635-C874BA0FEBFC}"/>
              </a:ext>
            </a:extLst>
          </p:cNvPr>
          <p:cNvSpPr>
            <a:spLocks noGrp="1"/>
          </p:cNvSpPr>
          <p:nvPr>
            <p:ph type="body" idx="1"/>
          </p:nvPr>
        </p:nvSpPr>
        <p:spPr/>
        <p:txBody>
          <a:bodyPr/>
          <a:lstStyle/>
          <a:p>
            <a:r>
              <a:rPr lang="en-US" b="1" dirty="0"/>
              <a:t>Speaker notes:</a:t>
            </a:r>
          </a:p>
          <a:p>
            <a:r>
              <a:rPr lang="en-US" b="0" dirty="0"/>
              <a:t>There are many actors in the open science space, in education, research, policy, infrastructure and this brings about a number of challenges. We discussed some conceptual, practical and equity challenges.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examined what our challenges are and went into depth in 3 key challenge areas (conceptual, practical and equity challenges)</a:t>
            </a:r>
          </a:p>
          <a:p>
            <a:endParaRPr lang="en-US" dirty="0"/>
          </a:p>
          <a:p>
            <a:r>
              <a:rPr lang="en-US" dirty="0"/>
              <a:t>Here is what I want you to remember</a:t>
            </a:r>
          </a:p>
          <a:p>
            <a:r>
              <a:rPr lang="en-US" dirty="0"/>
              <a:t>There are multiple entry points into Open Science activities and things are happening across scale and we have agency to address issues!</a:t>
            </a:r>
          </a:p>
        </p:txBody>
      </p:sp>
      <p:sp>
        <p:nvSpPr>
          <p:cNvPr id="4" name="Slide Number Placeholder 3">
            <a:extLst>
              <a:ext uri="{FF2B5EF4-FFF2-40B4-BE49-F238E27FC236}">
                <a16:creationId xmlns:a16="http://schemas.microsoft.com/office/drawing/2014/main" id="{A9284524-8017-46BE-E9FD-03E923C65788}"/>
              </a:ext>
            </a:extLst>
          </p:cNvPr>
          <p:cNvSpPr>
            <a:spLocks noGrp="1"/>
          </p:cNvSpPr>
          <p:nvPr>
            <p:ph type="sldNum" sz="quarter" idx="5"/>
          </p:nvPr>
        </p:nvSpPr>
        <p:spPr/>
        <p:txBody>
          <a:bodyPr/>
          <a:lstStyle/>
          <a:p>
            <a:fld id="{46F3A5F6-A6BC-E543-9B7F-4BD33E1BAA03}" type="slidenum">
              <a:rPr lang="en-US" smtClean="0"/>
              <a:t>57</a:t>
            </a:fld>
            <a:endParaRPr lang="en-US"/>
          </a:p>
        </p:txBody>
      </p:sp>
    </p:spTree>
    <p:extLst>
      <p:ext uri="{BB962C8B-B14F-4D97-AF65-F5344CB8AC3E}">
        <p14:creationId xmlns:p14="http://schemas.microsoft.com/office/powerpoint/2010/main" val="101430229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779FB-EB02-2E53-FBBE-0CACED964A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D4C16C-EF8A-0E24-7771-8403B8F29A9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3A75B22-3014-81BA-2DDA-B72728EBDF55}"/>
              </a:ext>
            </a:extLst>
          </p:cNvPr>
          <p:cNvSpPr>
            <a:spLocks noGrp="1"/>
          </p:cNvSpPr>
          <p:nvPr>
            <p:ph type="body" idx="1"/>
          </p:nvPr>
        </p:nvSpPr>
        <p:spPr/>
        <p:txBody>
          <a:bodyPr/>
          <a:lstStyle/>
          <a:p>
            <a:r>
              <a:rPr lang="en-US" b="1" dirty="0"/>
              <a:t>Speaker notes:</a:t>
            </a:r>
          </a:p>
          <a:p>
            <a:r>
              <a:rPr lang="en-US" b="0" dirty="0"/>
              <a:t>A reminder of the leadership qualities we practiced: self awareness and gaining knowledge about open science challenges</a:t>
            </a:r>
          </a:p>
          <a:p>
            <a:endParaRPr lang="en-US" b="0" dirty="0"/>
          </a:p>
        </p:txBody>
      </p:sp>
      <p:sp>
        <p:nvSpPr>
          <p:cNvPr id="4" name="Slide Number Placeholder 3">
            <a:extLst>
              <a:ext uri="{FF2B5EF4-FFF2-40B4-BE49-F238E27FC236}">
                <a16:creationId xmlns:a16="http://schemas.microsoft.com/office/drawing/2014/main" id="{BECDD85F-CA48-60AD-C8D7-A9D938AFE257}"/>
              </a:ext>
            </a:extLst>
          </p:cNvPr>
          <p:cNvSpPr>
            <a:spLocks noGrp="1"/>
          </p:cNvSpPr>
          <p:nvPr>
            <p:ph type="sldNum" sz="quarter" idx="5"/>
          </p:nvPr>
        </p:nvSpPr>
        <p:spPr/>
        <p:txBody>
          <a:bodyPr/>
          <a:lstStyle/>
          <a:p>
            <a:fld id="{46F3A5F6-A6BC-E543-9B7F-4BD33E1BAA03}" type="slidenum">
              <a:rPr lang="en-US" smtClean="0"/>
              <a:t>58</a:t>
            </a:fld>
            <a:endParaRPr lang="en-US"/>
          </a:p>
        </p:txBody>
      </p:sp>
    </p:spTree>
    <p:extLst>
      <p:ext uri="{BB962C8B-B14F-4D97-AF65-F5344CB8AC3E}">
        <p14:creationId xmlns:p14="http://schemas.microsoft.com/office/powerpoint/2010/main" val="409826610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BAD52-C024-B3FC-AE28-A025D70E68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E2785C-B3A2-F10E-F68D-4A31A1F3808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8FA500E-0870-098C-C512-B1F8FFF748C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r>
              <a:rPr lang="en-US" dirty="0"/>
              <a:t>Next, we will work on problem solving and collaboration. </a:t>
            </a:r>
          </a:p>
        </p:txBody>
      </p:sp>
      <p:sp>
        <p:nvSpPr>
          <p:cNvPr id="4" name="Slide Number Placeholder 3">
            <a:extLst>
              <a:ext uri="{FF2B5EF4-FFF2-40B4-BE49-F238E27FC236}">
                <a16:creationId xmlns:a16="http://schemas.microsoft.com/office/drawing/2014/main" id="{27DFBD76-1A48-35D5-A398-99907AF38DBA}"/>
              </a:ext>
            </a:extLst>
          </p:cNvPr>
          <p:cNvSpPr>
            <a:spLocks noGrp="1"/>
          </p:cNvSpPr>
          <p:nvPr>
            <p:ph type="sldNum" sz="quarter" idx="5"/>
          </p:nvPr>
        </p:nvSpPr>
        <p:spPr/>
        <p:txBody>
          <a:bodyPr/>
          <a:lstStyle/>
          <a:p>
            <a:fld id="{46F3A5F6-A6BC-E543-9B7F-4BD33E1BAA03}" type="slidenum">
              <a:rPr lang="en-US" smtClean="0"/>
              <a:t>59</a:t>
            </a:fld>
            <a:endParaRPr lang="en-US"/>
          </a:p>
        </p:txBody>
      </p:sp>
    </p:spTree>
    <p:extLst>
      <p:ext uri="{BB962C8B-B14F-4D97-AF65-F5344CB8AC3E}">
        <p14:creationId xmlns:p14="http://schemas.microsoft.com/office/powerpoint/2010/main" val="245247312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r>
              <a:rPr lang="en-US" dirty="0"/>
              <a:t>Here we have Brian Nosek’s, cofounder of center for open science perspective on leadership:</a:t>
            </a:r>
          </a:p>
          <a:p>
            <a:r>
              <a:rPr lang="en-GB" sz="1200" b="0" i="0" kern="1200" dirty="0">
                <a:solidFill>
                  <a:schemeClr val="tx1"/>
                </a:solidFill>
                <a:effectLst/>
                <a:latin typeface="+mn-lt"/>
                <a:ea typeface="+mn-ea"/>
                <a:cs typeface="+mn-cs"/>
              </a:rPr>
              <a:t>“Leadership in Open Scholarship means adopting </a:t>
            </a:r>
            <a:r>
              <a:rPr lang="en-GB" sz="1200" b="0" i="0" kern="1200" dirty="0" err="1">
                <a:solidFill>
                  <a:schemeClr val="tx1"/>
                </a:solidFill>
                <a:effectLst/>
                <a:latin typeface="+mn-lt"/>
                <a:ea typeface="+mn-ea"/>
                <a:cs typeface="+mn-cs"/>
              </a:rPr>
              <a:t>behaviors</a:t>
            </a:r>
            <a:r>
              <a:rPr lang="en-GB" sz="1200" b="0" i="0" kern="1200" dirty="0">
                <a:solidFill>
                  <a:schemeClr val="tx1"/>
                </a:solidFill>
                <a:effectLst/>
                <a:latin typeface="+mn-lt"/>
                <a:ea typeface="+mn-ea"/>
                <a:cs typeface="+mn-cs"/>
              </a:rPr>
              <a:t> that </a:t>
            </a:r>
            <a:r>
              <a:rPr lang="en-GB" sz="1200" b="1" i="0" kern="1200" dirty="0">
                <a:solidFill>
                  <a:schemeClr val="tx1"/>
                </a:solidFill>
                <a:effectLst/>
                <a:latin typeface="+mn-lt"/>
                <a:ea typeface="+mn-ea"/>
                <a:cs typeface="+mn-cs"/>
              </a:rPr>
              <a:t>prioritize "getting it right"</a:t>
            </a:r>
            <a:r>
              <a:rPr lang="en-GB" sz="1200" b="0" i="0" kern="1200" dirty="0">
                <a:solidFill>
                  <a:schemeClr val="tx1"/>
                </a:solidFill>
                <a:effectLst/>
                <a:latin typeface="+mn-lt"/>
                <a:ea typeface="+mn-ea"/>
                <a:cs typeface="+mn-cs"/>
              </a:rPr>
              <a:t> over "being right.</a:t>
            </a:r>
            <a:endParaRPr lang="en-GB" sz="120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Leadership in Open Scholarship means </a:t>
            </a:r>
            <a:r>
              <a:rPr lang="en-GB" sz="1200" b="1" i="0" kern="1200" dirty="0">
                <a:solidFill>
                  <a:schemeClr val="tx1"/>
                </a:solidFill>
                <a:effectLst/>
                <a:latin typeface="+mn-lt"/>
                <a:ea typeface="+mn-ea"/>
                <a:cs typeface="+mn-cs"/>
              </a:rPr>
              <a:t>pursuing transparency</a:t>
            </a:r>
            <a:r>
              <a:rPr lang="en-GB" sz="1200" b="0" i="0" kern="1200" dirty="0">
                <a:solidFill>
                  <a:schemeClr val="tx1"/>
                </a:solidFill>
                <a:effectLst/>
                <a:latin typeface="+mn-lt"/>
                <a:ea typeface="+mn-ea"/>
                <a:cs typeface="+mn-cs"/>
              </a:rPr>
              <a:t> to open </a:t>
            </a:r>
            <a:r>
              <a:rPr lang="en-GB" sz="1200" b="1" i="0" kern="1200" dirty="0">
                <a:solidFill>
                  <a:schemeClr val="tx1"/>
                </a:solidFill>
                <a:effectLst/>
                <a:latin typeface="+mn-lt"/>
                <a:ea typeface="+mn-ea"/>
                <a:cs typeface="+mn-cs"/>
              </a:rPr>
              <a:t>oneself</a:t>
            </a:r>
            <a:r>
              <a:rPr lang="en-GB" sz="1200" b="0" i="0" kern="1200" dirty="0">
                <a:solidFill>
                  <a:schemeClr val="tx1"/>
                </a:solidFill>
                <a:effectLst/>
                <a:latin typeface="+mn-lt"/>
                <a:ea typeface="+mn-ea"/>
                <a:cs typeface="+mn-cs"/>
              </a:rPr>
              <a:t> to scrutiny, foster </a:t>
            </a:r>
            <a:r>
              <a:rPr lang="en-GB" sz="1200" b="1" i="0" kern="1200" dirty="0">
                <a:solidFill>
                  <a:schemeClr val="tx1"/>
                </a:solidFill>
                <a:effectLst/>
                <a:latin typeface="+mn-lt"/>
                <a:ea typeface="+mn-ea"/>
                <a:cs typeface="+mn-cs"/>
              </a:rPr>
              <a:t>reuse</a:t>
            </a:r>
            <a:r>
              <a:rPr lang="en-GB" sz="1200" b="0" i="0" kern="1200" dirty="0">
                <a:solidFill>
                  <a:schemeClr val="tx1"/>
                </a:solidFill>
                <a:effectLst/>
                <a:latin typeface="+mn-lt"/>
                <a:ea typeface="+mn-ea"/>
                <a:cs typeface="+mn-cs"/>
              </a:rPr>
              <a:t>, and </a:t>
            </a:r>
            <a:r>
              <a:rPr lang="en-GB" sz="1200" b="1" i="0" kern="1200" dirty="0">
                <a:solidFill>
                  <a:schemeClr val="tx1"/>
                </a:solidFill>
                <a:effectLst/>
                <a:latin typeface="+mn-lt"/>
                <a:ea typeface="+mn-ea"/>
                <a:cs typeface="+mn-cs"/>
              </a:rPr>
              <a:t>promote public knowledge</a:t>
            </a:r>
            <a:r>
              <a:rPr lang="en-GB" sz="1200" b="0" i="0"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Leadership in Open Scholarship means trying to live the </a:t>
            </a:r>
            <a:r>
              <a:rPr lang="en-GB" sz="1200" b="1" i="0" kern="1200" dirty="0">
                <a:solidFill>
                  <a:schemeClr val="tx1"/>
                </a:solidFill>
                <a:effectLst/>
                <a:latin typeface="+mn-lt"/>
                <a:ea typeface="+mn-ea"/>
                <a:cs typeface="+mn-cs"/>
              </a:rPr>
              <a:t>ideals</a:t>
            </a:r>
            <a:r>
              <a:rPr lang="en-GB" sz="1200" b="0" i="0" kern="1200" dirty="0">
                <a:solidFill>
                  <a:schemeClr val="tx1"/>
                </a:solidFill>
                <a:effectLst/>
                <a:latin typeface="+mn-lt"/>
                <a:ea typeface="+mn-ea"/>
                <a:cs typeface="+mn-cs"/>
              </a:rPr>
              <a:t> of scholarly research in </a:t>
            </a:r>
            <a:r>
              <a:rPr lang="en-GB" sz="1200" b="1" i="0" kern="1200" dirty="0">
                <a:solidFill>
                  <a:schemeClr val="tx1"/>
                </a:solidFill>
                <a:effectLst/>
                <a:latin typeface="+mn-lt"/>
                <a:ea typeface="+mn-ea"/>
                <a:cs typeface="+mn-cs"/>
              </a:rPr>
              <a:t>one's daily practice</a:t>
            </a:r>
            <a:r>
              <a:rPr lang="en-GB" sz="1200" b="0" i="0"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46F3A5F6-A6BC-E543-9B7F-4BD33E1BAA03}" type="slidenum">
              <a:rPr lang="en-US" smtClean="0"/>
              <a:t>60</a:t>
            </a:fld>
            <a:endParaRPr lang="en-US"/>
          </a:p>
        </p:txBody>
      </p:sp>
    </p:spTree>
    <p:extLst>
      <p:ext uri="{BB962C8B-B14F-4D97-AF65-F5344CB8AC3E}">
        <p14:creationId xmlns:p14="http://schemas.microsoft.com/office/powerpoint/2010/main" val="26156654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notes:</a:t>
            </a:r>
            <a:endParaRPr lang="en-US" sz="1200" b="1" dirty="0"/>
          </a:p>
          <a:p>
            <a:r>
              <a:rPr lang="en-US" sz="1200" b="0" dirty="0"/>
              <a:t>Now to revisit the survey we began with</a:t>
            </a:r>
          </a:p>
          <a:p>
            <a:endParaRPr lang="en-US" dirty="0"/>
          </a:p>
        </p:txBody>
      </p:sp>
      <p:sp>
        <p:nvSpPr>
          <p:cNvPr id="4" name="Slide Number Placeholder 3"/>
          <p:cNvSpPr>
            <a:spLocks noGrp="1"/>
          </p:cNvSpPr>
          <p:nvPr>
            <p:ph type="sldNum" sz="quarter" idx="5"/>
          </p:nvPr>
        </p:nvSpPr>
        <p:spPr/>
        <p:txBody>
          <a:bodyPr/>
          <a:lstStyle/>
          <a:p>
            <a:fld id="{BCA22124-394B-1A49-ABEE-11CF5FBB3797}" type="slidenum">
              <a:rPr lang="en-US" smtClean="0"/>
              <a:t>61</a:t>
            </a:fld>
            <a:endParaRPr lang="en-US"/>
          </a:p>
        </p:txBody>
      </p:sp>
    </p:spTree>
    <p:extLst>
      <p:ext uri="{BB962C8B-B14F-4D97-AF65-F5344CB8AC3E}">
        <p14:creationId xmlns:p14="http://schemas.microsoft.com/office/powerpoint/2010/main" val="188412212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endParaRPr lang="en-US" sz="1200" b="1" dirty="0"/>
          </a:p>
          <a:p>
            <a:r>
              <a:rPr lang="en-US" dirty="0"/>
              <a:t>We now have time for questions, thoughts and comments from the session.</a:t>
            </a:r>
          </a:p>
        </p:txBody>
      </p:sp>
      <p:sp>
        <p:nvSpPr>
          <p:cNvPr id="4" name="Slide Number Placeholder 3"/>
          <p:cNvSpPr>
            <a:spLocks noGrp="1"/>
          </p:cNvSpPr>
          <p:nvPr>
            <p:ph type="sldNum" sz="quarter" idx="5"/>
          </p:nvPr>
        </p:nvSpPr>
        <p:spPr/>
        <p:txBody>
          <a:bodyPr/>
          <a:lstStyle/>
          <a:p>
            <a:fld id="{46F3A5F6-A6BC-E543-9B7F-4BD33E1BAA03}" type="slidenum">
              <a:rPr lang="en-US" smtClean="0"/>
              <a:t>62</a:t>
            </a:fld>
            <a:endParaRPr lang="en-US"/>
          </a:p>
        </p:txBody>
      </p:sp>
    </p:spTree>
    <p:extLst>
      <p:ext uri="{BB962C8B-B14F-4D97-AF65-F5344CB8AC3E}">
        <p14:creationId xmlns:p14="http://schemas.microsoft.com/office/powerpoint/2010/main" val="194124861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9E302-57D2-70C3-0895-C4E8710937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32F694-B7F7-CC5E-8582-222C913EAA7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69E8912-CECE-1ECF-6CB5-0943EC0936C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39B0B58-97CA-FCE5-23DA-F403257012B9}"/>
              </a:ext>
            </a:extLst>
          </p:cNvPr>
          <p:cNvSpPr>
            <a:spLocks noGrp="1"/>
          </p:cNvSpPr>
          <p:nvPr>
            <p:ph type="sldNum" sz="quarter" idx="5"/>
          </p:nvPr>
        </p:nvSpPr>
        <p:spPr/>
        <p:txBody>
          <a:bodyPr/>
          <a:lstStyle/>
          <a:p>
            <a:fld id="{46F3A5F6-A6BC-E543-9B7F-4BD33E1BAA03}" type="slidenum">
              <a:rPr lang="en-US" smtClean="0"/>
              <a:t>63</a:t>
            </a:fld>
            <a:endParaRPr lang="en-US"/>
          </a:p>
        </p:txBody>
      </p:sp>
    </p:spTree>
    <p:extLst>
      <p:ext uri="{BB962C8B-B14F-4D97-AF65-F5344CB8AC3E}">
        <p14:creationId xmlns:p14="http://schemas.microsoft.com/office/powerpoint/2010/main" val="200732728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E0204-B622-42C0-1DDB-BC6454046C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A9FE86-AB4B-C964-CBAD-910C670FA57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7F1050E-B794-BE4A-B8A4-8DF566764CB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4CD9537-7889-3DD2-A270-D691BF1216EC}"/>
              </a:ext>
            </a:extLst>
          </p:cNvPr>
          <p:cNvSpPr>
            <a:spLocks noGrp="1"/>
          </p:cNvSpPr>
          <p:nvPr>
            <p:ph type="sldNum" sz="quarter" idx="5"/>
          </p:nvPr>
        </p:nvSpPr>
        <p:spPr/>
        <p:txBody>
          <a:bodyPr/>
          <a:lstStyle/>
          <a:p>
            <a:fld id="{46F3A5F6-A6BC-E543-9B7F-4BD33E1BAA03}" type="slidenum">
              <a:rPr lang="en-US" smtClean="0"/>
              <a:t>64</a:t>
            </a:fld>
            <a:endParaRPr lang="en-US"/>
          </a:p>
        </p:txBody>
      </p:sp>
    </p:spTree>
    <p:extLst>
      <p:ext uri="{BB962C8B-B14F-4D97-AF65-F5344CB8AC3E}">
        <p14:creationId xmlns:p14="http://schemas.microsoft.com/office/powerpoint/2010/main" val="420339130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2911B-A66D-ED96-1A38-D6AA021F8E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EC6CB9-2C88-2288-DD47-E682C6EBBFC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9FEB682-3272-45EC-EB37-B8FD940106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8DBB29-AA23-9B59-F8CF-03EBEFA1E293}"/>
              </a:ext>
            </a:extLst>
          </p:cNvPr>
          <p:cNvSpPr>
            <a:spLocks noGrp="1"/>
          </p:cNvSpPr>
          <p:nvPr>
            <p:ph type="sldNum" sz="quarter" idx="5"/>
          </p:nvPr>
        </p:nvSpPr>
        <p:spPr/>
        <p:txBody>
          <a:bodyPr/>
          <a:lstStyle/>
          <a:p>
            <a:fld id="{46F3A5F6-A6BC-E543-9B7F-4BD33E1BAA03}" type="slidenum">
              <a:rPr lang="en-US" smtClean="0"/>
              <a:t>65</a:t>
            </a:fld>
            <a:endParaRPr lang="en-US"/>
          </a:p>
        </p:txBody>
      </p:sp>
    </p:spTree>
    <p:extLst>
      <p:ext uri="{BB962C8B-B14F-4D97-AF65-F5344CB8AC3E}">
        <p14:creationId xmlns:p14="http://schemas.microsoft.com/office/powerpoint/2010/main" val="15621485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CDFFD-DA77-64A5-4833-6EEA97237E1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83FDD6F0-AFC0-526B-314F-FCC2C0762D9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385B0299-8EEB-E1DD-740B-FDBCE664315D}"/>
              </a:ext>
            </a:extLst>
          </p:cNvPr>
          <p:cNvSpPr>
            <a:spLocks noGrp="1"/>
          </p:cNvSpPr>
          <p:nvPr>
            <p:ph type="dt" sz="half" idx="10"/>
          </p:nvPr>
        </p:nvSpPr>
        <p:spPr/>
        <p:txBody>
          <a:bodyPr/>
          <a:lstStyle/>
          <a:p>
            <a:fld id="{EB033687-0C6A-5546-B611-26DC64545A06}" type="datetimeFigureOut">
              <a:rPr lang="en-US" smtClean="0"/>
              <a:t>10/7/26</a:t>
            </a:fld>
            <a:endParaRPr lang="en-US"/>
          </a:p>
        </p:txBody>
      </p:sp>
      <p:sp>
        <p:nvSpPr>
          <p:cNvPr id="5" name="Footer Placeholder 4">
            <a:extLst>
              <a:ext uri="{FF2B5EF4-FFF2-40B4-BE49-F238E27FC236}">
                <a16:creationId xmlns:a16="http://schemas.microsoft.com/office/drawing/2014/main" id="{029FE619-41DD-F197-975A-693100697E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3D0A3A-3CC7-5407-F2BF-82E6478F63C4}"/>
              </a:ext>
            </a:extLst>
          </p:cNvPr>
          <p:cNvSpPr>
            <a:spLocks noGrp="1"/>
          </p:cNvSpPr>
          <p:nvPr>
            <p:ph type="sldNum" sz="quarter" idx="12"/>
          </p:nvPr>
        </p:nvSpPr>
        <p:spPr/>
        <p:txBody>
          <a:bodyPr/>
          <a:lstStyle/>
          <a:p>
            <a:fld id="{08F6C5C0-455F-C14C-A07F-86B81F7E4D93}" type="slidenum">
              <a:rPr lang="en-US" smtClean="0"/>
              <a:t>‹#›</a:t>
            </a:fld>
            <a:endParaRPr lang="en-US"/>
          </a:p>
        </p:txBody>
      </p:sp>
    </p:spTree>
    <p:extLst>
      <p:ext uri="{BB962C8B-B14F-4D97-AF65-F5344CB8AC3E}">
        <p14:creationId xmlns:p14="http://schemas.microsoft.com/office/powerpoint/2010/main" val="238948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E3E53-22AA-35E2-C81F-F6745DD9CDD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9E7674E-1A04-A7AA-9311-3358311518D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DA0377C-4031-2B74-3816-1C1DAFE8B16D}"/>
              </a:ext>
            </a:extLst>
          </p:cNvPr>
          <p:cNvSpPr>
            <a:spLocks noGrp="1"/>
          </p:cNvSpPr>
          <p:nvPr>
            <p:ph type="dt" sz="half" idx="10"/>
          </p:nvPr>
        </p:nvSpPr>
        <p:spPr/>
        <p:txBody>
          <a:bodyPr/>
          <a:lstStyle/>
          <a:p>
            <a:fld id="{EB033687-0C6A-5546-B611-26DC64545A06}" type="datetimeFigureOut">
              <a:rPr lang="en-US" smtClean="0"/>
              <a:t>10/7/26</a:t>
            </a:fld>
            <a:endParaRPr lang="en-US"/>
          </a:p>
        </p:txBody>
      </p:sp>
      <p:sp>
        <p:nvSpPr>
          <p:cNvPr id="5" name="Footer Placeholder 4">
            <a:extLst>
              <a:ext uri="{FF2B5EF4-FFF2-40B4-BE49-F238E27FC236}">
                <a16:creationId xmlns:a16="http://schemas.microsoft.com/office/drawing/2014/main" id="{9B1B4318-A5F7-7BB1-6D81-D9424695F4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029837-5444-ACED-80AA-D555D432ACF5}"/>
              </a:ext>
            </a:extLst>
          </p:cNvPr>
          <p:cNvSpPr>
            <a:spLocks noGrp="1"/>
          </p:cNvSpPr>
          <p:nvPr>
            <p:ph type="sldNum" sz="quarter" idx="12"/>
          </p:nvPr>
        </p:nvSpPr>
        <p:spPr/>
        <p:txBody>
          <a:bodyPr/>
          <a:lstStyle/>
          <a:p>
            <a:fld id="{08F6C5C0-455F-C14C-A07F-86B81F7E4D93}" type="slidenum">
              <a:rPr lang="en-US" smtClean="0"/>
              <a:t>‹#›</a:t>
            </a:fld>
            <a:endParaRPr lang="en-US"/>
          </a:p>
        </p:txBody>
      </p:sp>
    </p:spTree>
    <p:extLst>
      <p:ext uri="{BB962C8B-B14F-4D97-AF65-F5344CB8AC3E}">
        <p14:creationId xmlns:p14="http://schemas.microsoft.com/office/powerpoint/2010/main" val="480214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10754-42FE-96E6-7792-4A3308F11A8D}"/>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AF9DF3FF-781F-4D70-5B58-3511FDCCA7A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E043947-5420-0173-E0F7-C0090C180C86}"/>
              </a:ext>
            </a:extLst>
          </p:cNvPr>
          <p:cNvSpPr>
            <a:spLocks noGrp="1"/>
          </p:cNvSpPr>
          <p:nvPr>
            <p:ph type="dt" sz="half" idx="10"/>
          </p:nvPr>
        </p:nvSpPr>
        <p:spPr/>
        <p:txBody>
          <a:bodyPr/>
          <a:lstStyle/>
          <a:p>
            <a:fld id="{EB033687-0C6A-5546-B611-26DC64545A06}" type="datetimeFigureOut">
              <a:rPr lang="en-US" smtClean="0"/>
              <a:t>10/7/26</a:t>
            </a:fld>
            <a:endParaRPr lang="en-US"/>
          </a:p>
        </p:txBody>
      </p:sp>
      <p:sp>
        <p:nvSpPr>
          <p:cNvPr id="5" name="Footer Placeholder 4">
            <a:extLst>
              <a:ext uri="{FF2B5EF4-FFF2-40B4-BE49-F238E27FC236}">
                <a16:creationId xmlns:a16="http://schemas.microsoft.com/office/drawing/2014/main" id="{D719793E-70AF-6150-C6EF-8E79E2D033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CCA902-9C0A-432F-F30D-82F70144DCF8}"/>
              </a:ext>
            </a:extLst>
          </p:cNvPr>
          <p:cNvSpPr>
            <a:spLocks noGrp="1"/>
          </p:cNvSpPr>
          <p:nvPr>
            <p:ph type="sldNum" sz="quarter" idx="12"/>
          </p:nvPr>
        </p:nvSpPr>
        <p:spPr/>
        <p:txBody>
          <a:bodyPr/>
          <a:lstStyle/>
          <a:p>
            <a:fld id="{08F6C5C0-455F-C14C-A07F-86B81F7E4D93}" type="slidenum">
              <a:rPr lang="en-US" smtClean="0"/>
              <a:t>‹#›</a:t>
            </a:fld>
            <a:endParaRPr lang="en-US"/>
          </a:p>
        </p:txBody>
      </p:sp>
    </p:spTree>
    <p:extLst>
      <p:ext uri="{BB962C8B-B14F-4D97-AF65-F5344CB8AC3E}">
        <p14:creationId xmlns:p14="http://schemas.microsoft.com/office/powerpoint/2010/main" val="169095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F4938-AEA8-214E-7BAD-12BF6126D20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C3B4535-E7EB-4A7D-8E99-A84993A6640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E8A3DD9-D041-00B2-35F9-A1F4B9CAAB3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A43C6817-E374-1BC4-0879-332874C69005}"/>
              </a:ext>
            </a:extLst>
          </p:cNvPr>
          <p:cNvSpPr>
            <a:spLocks noGrp="1"/>
          </p:cNvSpPr>
          <p:nvPr>
            <p:ph type="dt" sz="half" idx="10"/>
          </p:nvPr>
        </p:nvSpPr>
        <p:spPr/>
        <p:txBody>
          <a:bodyPr/>
          <a:lstStyle/>
          <a:p>
            <a:fld id="{EB033687-0C6A-5546-B611-26DC64545A06}" type="datetimeFigureOut">
              <a:rPr lang="en-US" smtClean="0"/>
              <a:t>10/7/26</a:t>
            </a:fld>
            <a:endParaRPr lang="en-US"/>
          </a:p>
        </p:txBody>
      </p:sp>
      <p:sp>
        <p:nvSpPr>
          <p:cNvPr id="6" name="Footer Placeholder 5">
            <a:extLst>
              <a:ext uri="{FF2B5EF4-FFF2-40B4-BE49-F238E27FC236}">
                <a16:creationId xmlns:a16="http://schemas.microsoft.com/office/drawing/2014/main" id="{FB7C7BF6-B238-BF57-6596-570C59BB95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F223F5-F133-A368-6FBD-ECD5977BAFA3}"/>
              </a:ext>
            </a:extLst>
          </p:cNvPr>
          <p:cNvSpPr>
            <a:spLocks noGrp="1"/>
          </p:cNvSpPr>
          <p:nvPr>
            <p:ph type="sldNum" sz="quarter" idx="12"/>
          </p:nvPr>
        </p:nvSpPr>
        <p:spPr/>
        <p:txBody>
          <a:bodyPr/>
          <a:lstStyle/>
          <a:p>
            <a:fld id="{08F6C5C0-455F-C14C-A07F-86B81F7E4D93}" type="slidenum">
              <a:rPr lang="en-US" smtClean="0"/>
              <a:t>‹#›</a:t>
            </a:fld>
            <a:endParaRPr lang="en-US"/>
          </a:p>
        </p:txBody>
      </p:sp>
    </p:spTree>
    <p:extLst>
      <p:ext uri="{BB962C8B-B14F-4D97-AF65-F5344CB8AC3E}">
        <p14:creationId xmlns:p14="http://schemas.microsoft.com/office/powerpoint/2010/main" val="3051190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66EC9-5F6C-FFD0-8E30-4B65EE178406}"/>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359702D-3809-E1E4-A03D-AAE1A6E04C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AA2E274C-3994-A271-9910-94C69F3FCDE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BABA8ED-98C6-4A2A-D9A3-5C6DCEBDE4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E23939D-FC14-6092-CBF4-3AD42FC148A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F751E09C-2E6D-9C76-AFB6-7D0A8A857F66}"/>
              </a:ext>
            </a:extLst>
          </p:cNvPr>
          <p:cNvSpPr>
            <a:spLocks noGrp="1"/>
          </p:cNvSpPr>
          <p:nvPr>
            <p:ph type="dt" sz="half" idx="10"/>
          </p:nvPr>
        </p:nvSpPr>
        <p:spPr/>
        <p:txBody>
          <a:bodyPr/>
          <a:lstStyle/>
          <a:p>
            <a:fld id="{EB033687-0C6A-5546-B611-26DC64545A06}" type="datetimeFigureOut">
              <a:rPr lang="en-US" smtClean="0"/>
              <a:t>10/7/26</a:t>
            </a:fld>
            <a:endParaRPr lang="en-US"/>
          </a:p>
        </p:txBody>
      </p:sp>
      <p:sp>
        <p:nvSpPr>
          <p:cNvPr id="8" name="Footer Placeholder 7">
            <a:extLst>
              <a:ext uri="{FF2B5EF4-FFF2-40B4-BE49-F238E27FC236}">
                <a16:creationId xmlns:a16="http://schemas.microsoft.com/office/drawing/2014/main" id="{C7471F24-F0E5-A799-7A19-2945DB497D0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BFD6E3D-D3C8-999A-087F-E28E2BD710E7}"/>
              </a:ext>
            </a:extLst>
          </p:cNvPr>
          <p:cNvSpPr>
            <a:spLocks noGrp="1"/>
          </p:cNvSpPr>
          <p:nvPr>
            <p:ph type="sldNum" sz="quarter" idx="12"/>
          </p:nvPr>
        </p:nvSpPr>
        <p:spPr/>
        <p:txBody>
          <a:bodyPr/>
          <a:lstStyle/>
          <a:p>
            <a:fld id="{08F6C5C0-455F-C14C-A07F-86B81F7E4D93}" type="slidenum">
              <a:rPr lang="en-US" smtClean="0"/>
              <a:t>‹#›</a:t>
            </a:fld>
            <a:endParaRPr lang="en-US"/>
          </a:p>
        </p:txBody>
      </p:sp>
    </p:spTree>
    <p:extLst>
      <p:ext uri="{BB962C8B-B14F-4D97-AF65-F5344CB8AC3E}">
        <p14:creationId xmlns:p14="http://schemas.microsoft.com/office/powerpoint/2010/main" val="3569791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00A71-6714-15C0-5744-7F1938611D8C}"/>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17166147-1A31-1B62-0DAA-1C1DD80527F6}"/>
              </a:ext>
            </a:extLst>
          </p:cNvPr>
          <p:cNvSpPr>
            <a:spLocks noGrp="1"/>
          </p:cNvSpPr>
          <p:nvPr>
            <p:ph type="dt" sz="half" idx="10"/>
          </p:nvPr>
        </p:nvSpPr>
        <p:spPr/>
        <p:txBody>
          <a:bodyPr/>
          <a:lstStyle/>
          <a:p>
            <a:fld id="{EB033687-0C6A-5546-B611-26DC64545A06}" type="datetimeFigureOut">
              <a:rPr lang="en-US" smtClean="0"/>
              <a:t>10/7/26</a:t>
            </a:fld>
            <a:endParaRPr lang="en-US"/>
          </a:p>
        </p:txBody>
      </p:sp>
      <p:sp>
        <p:nvSpPr>
          <p:cNvPr id="4" name="Footer Placeholder 3">
            <a:extLst>
              <a:ext uri="{FF2B5EF4-FFF2-40B4-BE49-F238E27FC236}">
                <a16:creationId xmlns:a16="http://schemas.microsoft.com/office/drawing/2014/main" id="{5D1EC8F0-BB59-5CA3-9C2A-15BF6905DE6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86F60A0-A89E-E8DA-97E2-9E371F53469F}"/>
              </a:ext>
            </a:extLst>
          </p:cNvPr>
          <p:cNvSpPr>
            <a:spLocks noGrp="1"/>
          </p:cNvSpPr>
          <p:nvPr>
            <p:ph type="sldNum" sz="quarter" idx="12"/>
          </p:nvPr>
        </p:nvSpPr>
        <p:spPr/>
        <p:txBody>
          <a:bodyPr/>
          <a:lstStyle/>
          <a:p>
            <a:fld id="{08F6C5C0-455F-C14C-A07F-86B81F7E4D93}" type="slidenum">
              <a:rPr lang="en-US" smtClean="0"/>
              <a:t>‹#›</a:t>
            </a:fld>
            <a:endParaRPr lang="en-US"/>
          </a:p>
        </p:txBody>
      </p:sp>
    </p:spTree>
    <p:extLst>
      <p:ext uri="{BB962C8B-B14F-4D97-AF65-F5344CB8AC3E}">
        <p14:creationId xmlns:p14="http://schemas.microsoft.com/office/powerpoint/2010/main" val="16224212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B3A17A-F38A-CDB8-48DE-4D81F7295F0C}"/>
              </a:ext>
            </a:extLst>
          </p:cNvPr>
          <p:cNvSpPr>
            <a:spLocks noGrp="1"/>
          </p:cNvSpPr>
          <p:nvPr>
            <p:ph type="dt" sz="half" idx="10"/>
          </p:nvPr>
        </p:nvSpPr>
        <p:spPr/>
        <p:txBody>
          <a:bodyPr/>
          <a:lstStyle/>
          <a:p>
            <a:fld id="{EB033687-0C6A-5546-B611-26DC64545A06}" type="datetimeFigureOut">
              <a:rPr lang="en-US" smtClean="0"/>
              <a:t>10/7/26</a:t>
            </a:fld>
            <a:endParaRPr lang="en-US"/>
          </a:p>
        </p:txBody>
      </p:sp>
      <p:sp>
        <p:nvSpPr>
          <p:cNvPr id="3" name="Footer Placeholder 2">
            <a:extLst>
              <a:ext uri="{FF2B5EF4-FFF2-40B4-BE49-F238E27FC236}">
                <a16:creationId xmlns:a16="http://schemas.microsoft.com/office/drawing/2014/main" id="{1EEE1EA1-AB12-9693-EFE3-A583BD37F86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6EBFE2D-C538-4EA3-2A4C-FC695B254877}"/>
              </a:ext>
            </a:extLst>
          </p:cNvPr>
          <p:cNvSpPr>
            <a:spLocks noGrp="1"/>
          </p:cNvSpPr>
          <p:nvPr>
            <p:ph type="sldNum" sz="quarter" idx="12"/>
          </p:nvPr>
        </p:nvSpPr>
        <p:spPr/>
        <p:txBody>
          <a:bodyPr/>
          <a:lstStyle/>
          <a:p>
            <a:fld id="{08F6C5C0-455F-C14C-A07F-86B81F7E4D93}" type="slidenum">
              <a:rPr lang="en-US" smtClean="0"/>
              <a:t>‹#›</a:t>
            </a:fld>
            <a:endParaRPr lang="en-US"/>
          </a:p>
        </p:txBody>
      </p:sp>
    </p:spTree>
    <p:extLst>
      <p:ext uri="{BB962C8B-B14F-4D97-AF65-F5344CB8AC3E}">
        <p14:creationId xmlns:p14="http://schemas.microsoft.com/office/powerpoint/2010/main" val="39425243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C035E-0344-9452-8CA2-1F344A13D03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239CBB64-7499-89EC-D191-1AC2D8AAB4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432916FA-4137-3C75-F62C-9118EC6824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18502F1-8B1C-198F-DD08-C7F84F395316}"/>
              </a:ext>
            </a:extLst>
          </p:cNvPr>
          <p:cNvSpPr>
            <a:spLocks noGrp="1"/>
          </p:cNvSpPr>
          <p:nvPr>
            <p:ph type="dt" sz="half" idx="10"/>
          </p:nvPr>
        </p:nvSpPr>
        <p:spPr/>
        <p:txBody>
          <a:bodyPr/>
          <a:lstStyle/>
          <a:p>
            <a:fld id="{EB033687-0C6A-5546-B611-26DC64545A06}" type="datetimeFigureOut">
              <a:rPr lang="en-US" smtClean="0"/>
              <a:t>10/7/26</a:t>
            </a:fld>
            <a:endParaRPr lang="en-US"/>
          </a:p>
        </p:txBody>
      </p:sp>
      <p:sp>
        <p:nvSpPr>
          <p:cNvPr id="6" name="Footer Placeholder 5">
            <a:extLst>
              <a:ext uri="{FF2B5EF4-FFF2-40B4-BE49-F238E27FC236}">
                <a16:creationId xmlns:a16="http://schemas.microsoft.com/office/drawing/2014/main" id="{7797D4C7-86B2-4E18-B5F5-511D3718DC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93D7EF-D816-026C-404E-CAC2F3BF3E83}"/>
              </a:ext>
            </a:extLst>
          </p:cNvPr>
          <p:cNvSpPr>
            <a:spLocks noGrp="1"/>
          </p:cNvSpPr>
          <p:nvPr>
            <p:ph type="sldNum" sz="quarter" idx="12"/>
          </p:nvPr>
        </p:nvSpPr>
        <p:spPr/>
        <p:txBody>
          <a:bodyPr/>
          <a:lstStyle/>
          <a:p>
            <a:fld id="{08F6C5C0-455F-C14C-A07F-86B81F7E4D93}" type="slidenum">
              <a:rPr lang="en-US" smtClean="0"/>
              <a:t>‹#›</a:t>
            </a:fld>
            <a:endParaRPr lang="en-US"/>
          </a:p>
        </p:txBody>
      </p:sp>
    </p:spTree>
    <p:extLst>
      <p:ext uri="{BB962C8B-B14F-4D97-AF65-F5344CB8AC3E}">
        <p14:creationId xmlns:p14="http://schemas.microsoft.com/office/powerpoint/2010/main" val="14961347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CBBE6-6132-30BE-42D6-0C78CAF4F3E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2556576F-CBF4-B4CA-6587-6B1060CFE6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76FD6F1-9770-34B8-451A-3D03064E9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9463247-5A2C-477F-EE5A-0E72A8BA6FC4}"/>
              </a:ext>
            </a:extLst>
          </p:cNvPr>
          <p:cNvSpPr>
            <a:spLocks noGrp="1"/>
          </p:cNvSpPr>
          <p:nvPr>
            <p:ph type="dt" sz="half" idx="10"/>
          </p:nvPr>
        </p:nvSpPr>
        <p:spPr/>
        <p:txBody>
          <a:bodyPr/>
          <a:lstStyle/>
          <a:p>
            <a:fld id="{EB033687-0C6A-5546-B611-26DC64545A06}" type="datetimeFigureOut">
              <a:rPr lang="en-US" smtClean="0"/>
              <a:t>10/7/26</a:t>
            </a:fld>
            <a:endParaRPr lang="en-US"/>
          </a:p>
        </p:txBody>
      </p:sp>
      <p:sp>
        <p:nvSpPr>
          <p:cNvPr id="6" name="Footer Placeholder 5">
            <a:extLst>
              <a:ext uri="{FF2B5EF4-FFF2-40B4-BE49-F238E27FC236}">
                <a16:creationId xmlns:a16="http://schemas.microsoft.com/office/drawing/2014/main" id="{6C834C56-90C0-21C9-B01D-FA1905125B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F4CC7E-4343-3EAE-E189-2308AC1BDB67}"/>
              </a:ext>
            </a:extLst>
          </p:cNvPr>
          <p:cNvSpPr>
            <a:spLocks noGrp="1"/>
          </p:cNvSpPr>
          <p:nvPr>
            <p:ph type="sldNum" sz="quarter" idx="12"/>
          </p:nvPr>
        </p:nvSpPr>
        <p:spPr/>
        <p:txBody>
          <a:bodyPr/>
          <a:lstStyle/>
          <a:p>
            <a:fld id="{08F6C5C0-455F-C14C-A07F-86B81F7E4D93}" type="slidenum">
              <a:rPr lang="en-US" smtClean="0"/>
              <a:t>‹#›</a:t>
            </a:fld>
            <a:endParaRPr lang="en-US"/>
          </a:p>
        </p:txBody>
      </p:sp>
    </p:spTree>
    <p:extLst>
      <p:ext uri="{BB962C8B-B14F-4D97-AF65-F5344CB8AC3E}">
        <p14:creationId xmlns:p14="http://schemas.microsoft.com/office/powerpoint/2010/main" val="11021858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E2B5B-21F4-E34C-3332-145624CECCFC}"/>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B10AB88-B25A-4267-2A9D-F6B3EE5615E8}"/>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91270A0-E7EC-D219-CF1D-C7164333AF36}"/>
              </a:ext>
            </a:extLst>
          </p:cNvPr>
          <p:cNvSpPr>
            <a:spLocks noGrp="1"/>
          </p:cNvSpPr>
          <p:nvPr>
            <p:ph type="dt" sz="half" idx="10"/>
          </p:nvPr>
        </p:nvSpPr>
        <p:spPr/>
        <p:txBody>
          <a:bodyPr/>
          <a:lstStyle/>
          <a:p>
            <a:fld id="{EB033687-0C6A-5546-B611-26DC64545A06}" type="datetimeFigureOut">
              <a:rPr lang="en-US" smtClean="0"/>
              <a:t>10/7/26</a:t>
            </a:fld>
            <a:endParaRPr lang="en-US"/>
          </a:p>
        </p:txBody>
      </p:sp>
      <p:sp>
        <p:nvSpPr>
          <p:cNvPr id="5" name="Footer Placeholder 4">
            <a:extLst>
              <a:ext uri="{FF2B5EF4-FFF2-40B4-BE49-F238E27FC236}">
                <a16:creationId xmlns:a16="http://schemas.microsoft.com/office/drawing/2014/main" id="{4E16C3C6-64B2-5C6F-3440-08DD26031A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732019-FE67-4395-3699-C17D16242A9D}"/>
              </a:ext>
            </a:extLst>
          </p:cNvPr>
          <p:cNvSpPr>
            <a:spLocks noGrp="1"/>
          </p:cNvSpPr>
          <p:nvPr>
            <p:ph type="sldNum" sz="quarter" idx="12"/>
          </p:nvPr>
        </p:nvSpPr>
        <p:spPr/>
        <p:txBody>
          <a:bodyPr/>
          <a:lstStyle/>
          <a:p>
            <a:fld id="{08F6C5C0-455F-C14C-A07F-86B81F7E4D93}" type="slidenum">
              <a:rPr lang="en-US" smtClean="0"/>
              <a:t>‹#›</a:t>
            </a:fld>
            <a:endParaRPr lang="en-US"/>
          </a:p>
        </p:txBody>
      </p:sp>
    </p:spTree>
    <p:extLst>
      <p:ext uri="{BB962C8B-B14F-4D97-AF65-F5344CB8AC3E}">
        <p14:creationId xmlns:p14="http://schemas.microsoft.com/office/powerpoint/2010/main" val="8994661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631C39-505E-AFE1-169A-FF51379299F2}"/>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BB867F0-09E7-0D1E-E1F0-39F76DF2C8F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F62728E-2264-121A-7086-91509E2C05F3}"/>
              </a:ext>
            </a:extLst>
          </p:cNvPr>
          <p:cNvSpPr>
            <a:spLocks noGrp="1"/>
          </p:cNvSpPr>
          <p:nvPr>
            <p:ph type="dt" sz="half" idx="10"/>
          </p:nvPr>
        </p:nvSpPr>
        <p:spPr/>
        <p:txBody>
          <a:bodyPr/>
          <a:lstStyle/>
          <a:p>
            <a:fld id="{EB033687-0C6A-5546-B611-26DC64545A06}" type="datetimeFigureOut">
              <a:rPr lang="en-US" smtClean="0"/>
              <a:t>10/7/26</a:t>
            </a:fld>
            <a:endParaRPr lang="en-US"/>
          </a:p>
        </p:txBody>
      </p:sp>
      <p:sp>
        <p:nvSpPr>
          <p:cNvPr id="5" name="Footer Placeholder 4">
            <a:extLst>
              <a:ext uri="{FF2B5EF4-FFF2-40B4-BE49-F238E27FC236}">
                <a16:creationId xmlns:a16="http://schemas.microsoft.com/office/drawing/2014/main" id="{71054374-07EB-3B7F-7D1E-3ABA812A2F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6B61BC-7E89-C092-C116-778AE4A7CFA0}"/>
              </a:ext>
            </a:extLst>
          </p:cNvPr>
          <p:cNvSpPr>
            <a:spLocks noGrp="1"/>
          </p:cNvSpPr>
          <p:nvPr>
            <p:ph type="sldNum" sz="quarter" idx="12"/>
          </p:nvPr>
        </p:nvSpPr>
        <p:spPr/>
        <p:txBody>
          <a:bodyPr/>
          <a:lstStyle/>
          <a:p>
            <a:fld id="{08F6C5C0-455F-C14C-A07F-86B81F7E4D93}" type="slidenum">
              <a:rPr lang="en-US" smtClean="0"/>
              <a:t>‹#›</a:t>
            </a:fld>
            <a:endParaRPr lang="en-US"/>
          </a:p>
        </p:txBody>
      </p:sp>
    </p:spTree>
    <p:extLst>
      <p:ext uri="{BB962C8B-B14F-4D97-AF65-F5344CB8AC3E}">
        <p14:creationId xmlns:p14="http://schemas.microsoft.com/office/powerpoint/2010/main" val="7722310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68334D8-EC3B-67E5-C800-0EC111CF5A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C03F60A-3B0C-B995-1672-213CF4D270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4330057-78B3-77E9-9649-AB6DF5D04A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B033687-0C6A-5546-B611-26DC64545A06}" type="datetimeFigureOut">
              <a:rPr lang="en-US" smtClean="0"/>
              <a:t>10/7/26</a:t>
            </a:fld>
            <a:endParaRPr lang="en-US"/>
          </a:p>
        </p:txBody>
      </p:sp>
      <p:sp>
        <p:nvSpPr>
          <p:cNvPr id="5" name="Footer Placeholder 4">
            <a:extLst>
              <a:ext uri="{FF2B5EF4-FFF2-40B4-BE49-F238E27FC236}">
                <a16:creationId xmlns:a16="http://schemas.microsoft.com/office/drawing/2014/main" id="{3D4F8FE1-6022-653E-23A2-7211601825B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8AA056B-D9FD-1AEE-B3B3-D975FE19072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8F6C5C0-455F-C14C-A07F-86B81F7E4D93}" type="slidenum">
              <a:rPr lang="en-US" smtClean="0"/>
              <a:t>‹#›</a:t>
            </a:fld>
            <a:endParaRPr lang="en-US"/>
          </a:p>
        </p:txBody>
      </p:sp>
    </p:spTree>
    <p:extLst>
      <p:ext uri="{BB962C8B-B14F-4D97-AF65-F5344CB8AC3E}">
        <p14:creationId xmlns:p14="http://schemas.microsoft.com/office/powerpoint/2010/main" val="33156632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hyperlink" Target="https://lmu-osc.github.io/train-the-trainer-open-research/leadership-open-research/strategies-leadership/" TargetMode="External"/><Relationship Id="rId3" Type="http://schemas.openxmlformats.org/officeDocument/2006/relationships/hyperlink" Target="https://www.osc.lmu.de/training/" TargetMode="External"/><Relationship Id="rId7"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jpeg"/><Relationship Id="rId5" Type="http://schemas.openxmlformats.org/officeDocument/2006/relationships/hyperlink" Target="https://lmu-osc.github.io/train-the-trainer-open-research/workshop-design-workbook/" TargetMode="External"/><Relationship Id="rId4" Type="http://schemas.openxmlformats.org/officeDocument/2006/relationships/hyperlink" Target="https://lmu-osc.github.io/train-the-trainer-open-research/leadership-open-research/leadership-skills-culture/"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1.jpeg"/><Relationship Id="rId7" Type="http://schemas.openxmlformats.org/officeDocument/2006/relationships/image" Target="../media/image7.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2.png"/><Relationship Id="rId9" Type="http://schemas.openxmlformats.org/officeDocument/2006/relationships/image" Target="../media/image9.svg"/></Relationships>
</file>

<file path=ppt/slides/_rels/slide6.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1.jpeg"/><Relationship Id="rId7" Type="http://schemas.openxmlformats.org/officeDocument/2006/relationships/image" Target="../media/image7.sv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2.png"/><Relationship Id="rId9" Type="http://schemas.openxmlformats.org/officeDocument/2006/relationships/image" Target="../media/image9.sv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8.sv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0.sv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3.sv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2.svg"/><Relationship Id="rId5" Type="http://schemas.openxmlformats.org/officeDocument/2006/relationships/image" Target="../media/image10.sv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1.jpeg"/><Relationship Id="rId7" Type="http://schemas.openxmlformats.org/officeDocument/2006/relationships/image" Target="../media/image13.sv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2.svg"/><Relationship Id="rId5" Type="http://schemas.openxmlformats.org/officeDocument/2006/relationships/image" Target="../media/image10.sv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jpeg"/><Relationship Id="rId7" Type="http://schemas.openxmlformats.org/officeDocument/2006/relationships/image" Target="../media/image13.sv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2.svg"/><Relationship Id="rId5" Type="http://schemas.openxmlformats.org/officeDocument/2006/relationships/image" Target="../media/image10.svg"/><Relationship Id="rId4" Type="http://schemas.openxmlformats.org/officeDocument/2006/relationships/image" Target="../media/image2.png"/><Relationship Id="rId9" Type="http://schemas.openxmlformats.org/officeDocument/2006/relationships/image" Target="../media/image14.svg"/></Relationships>
</file>

<file path=ppt/slides/_rels/slide13.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jpeg"/><Relationship Id="rId7" Type="http://schemas.openxmlformats.org/officeDocument/2006/relationships/image" Target="../media/image13.sv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2.svg"/><Relationship Id="rId5" Type="http://schemas.openxmlformats.org/officeDocument/2006/relationships/image" Target="../media/image10.svg"/><Relationship Id="rId10" Type="http://schemas.openxmlformats.org/officeDocument/2006/relationships/image" Target="../media/image16.svg"/><Relationship Id="rId4" Type="http://schemas.openxmlformats.org/officeDocument/2006/relationships/image" Target="../media/image2.png"/><Relationship Id="rId9" Type="http://schemas.openxmlformats.org/officeDocument/2006/relationships/image" Target="../media/image14.svg"/></Relationships>
</file>

<file path=ppt/slides/_rels/slide14.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jpeg"/><Relationship Id="rId7" Type="http://schemas.openxmlformats.org/officeDocument/2006/relationships/image" Target="../media/image13.sv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2.svg"/><Relationship Id="rId11" Type="http://schemas.openxmlformats.org/officeDocument/2006/relationships/image" Target="../media/image16.svg"/><Relationship Id="rId5" Type="http://schemas.openxmlformats.org/officeDocument/2006/relationships/image" Target="../media/image10.svg"/><Relationship Id="rId10" Type="http://schemas.openxmlformats.org/officeDocument/2006/relationships/image" Target="../media/image14.svg"/><Relationship Id="rId4" Type="http://schemas.openxmlformats.org/officeDocument/2006/relationships/image" Target="../media/image2.png"/><Relationship Id="rId9" Type="http://schemas.openxmlformats.org/officeDocument/2006/relationships/image" Target="../media/image15.svg"/></Relationships>
</file>

<file path=ppt/slides/_rels/slide15.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jpeg"/><Relationship Id="rId7" Type="http://schemas.openxmlformats.org/officeDocument/2006/relationships/image" Target="../media/image13.svg"/><Relationship Id="rId12" Type="http://schemas.openxmlformats.org/officeDocument/2006/relationships/image" Target="../media/image18.sv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2.svg"/><Relationship Id="rId11" Type="http://schemas.openxmlformats.org/officeDocument/2006/relationships/image" Target="../media/image16.svg"/><Relationship Id="rId5" Type="http://schemas.openxmlformats.org/officeDocument/2006/relationships/image" Target="../media/image10.svg"/><Relationship Id="rId10" Type="http://schemas.openxmlformats.org/officeDocument/2006/relationships/image" Target="../media/image14.svg"/><Relationship Id="rId4" Type="http://schemas.openxmlformats.org/officeDocument/2006/relationships/image" Target="../media/image2.png"/><Relationship Id="rId9" Type="http://schemas.openxmlformats.org/officeDocument/2006/relationships/image" Target="../media/image15.svg"/></Relationships>
</file>

<file path=ppt/slides/_rels/slide16.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18.svg"/><Relationship Id="rId3" Type="http://schemas.openxmlformats.org/officeDocument/2006/relationships/image" Target="../media/image1.jpeg"/><Relationship Id="rId7" Type="http://schemas.openxmlformats.org/officeDocument/2006/relationships/image" Target="../media/image13.svg"/><Relationship Id="rId12" Type="http://schemas.openxmlformats.org/officeDocument/2006/relationships/image" Target="../media/image19.sv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2.svg"/><Relationship Id="rId11" Type="http://schemas.openxmlformats.org/officeDocument/2006/relationships/image" Target="../media/image16.svg"/><Relationship Id="rId5" Type="http://schemas.openxmlformats.org/officeDocument/2006/relationships/image" Target="../media/image10.svg"/><Relationship Id="rId10" Type="http://schemas.openxmlformats.org/officeDocument/2006/relationships/image" Target="../media/image14.svg"/><Relationship Id="rId4" Type="http://schemas.openxmlformats.org/officeDocument/2006/relationships/image" Target="../media/image2.png"/><Relationship Id="rId9" Type="http://schemas.openxmlformats.org/officeDocument/2006/relationships/image" Target="../media/image15.svg"/></Relationships>
</file>

<file path=ppt/slides/_rels/slide17.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0.svg"/><Relationship Id="rId3" Type="http://schemas.openxmlformats.org/officeDocument/2006/relationships/image" Target="../media/image1.jpeg"/><Relationship Id="rId7" Type="http://schemas.openxmlformats.org/officeDocument/2006/relationships/image" Target="../media/image13.svg"/><Relationship Id="rId12" Type="http://schemas.openxmlformats.org/officeDocument/2006/relationships/image" Target="../media/image19.sv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2.svg"/><Relationship Id="rId11" Type="http://schemas.openxmlformats.org/officeDocument/2006/relationships/image" Target="../media/image16.svg"/><Relationship Id="rId5" Type="http://schemas.openxmlformats.org/officeDocument/2006/relationships/image" Target="../media/image10.svg"/><Relationship Id="rId10" Type="http://schemas.openxmlformats.org/officeDocument/2006/relationships/image" Target="../media/image14.svg"/><Relationship Id="rId4" Type="http://schemas.openxmlformats.org/officeDocument/2006/relationships/image" Target="../media/image2.png"/><Relationship Id="rId9" Type="http://schemas.openxmlformats.org/officeDocument/2006/relationships/image" Target="../media/image15.svg"/><Relationship Id="rId14" Type="http://schemas.openxmlformats.org/officeDocument/2006/relationships/image" Target="../media/image18.svg"/></Relationships>
</file>

<file path=ppt/slides/_rels/slide18.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0.svg"/><Relationship Id="rId3" Type="http://schemas.openxmlformats.org/officeDocument/2006/relationships/image" Target="../media/image1.jpeg"/><Relationship Id="rId7" Type="http://schemas.openxmlformats.org/officeDocument/2006/relationships/image" Target="../media/image13.svg"/><Relationship Id="rId12" Type="http://schemas.openxmlformats.org/officeDocument/2006/relationships/image" Target="../media/image19.sv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2.svg"/><Relationship Id="rId11" Type="http://schemas.openxmlformats.org/officeDocument/2006/relationships/image" Target="../media/image16.svg"/><Relationship Id="rId5" Type="http://schemas.openxmlformats.org/officeDocument/2006/relationships/image" Target="../media/image10.svg"/><Relationship Id="rId15" Type="http://schemas.openxmlformats.org/officeDocument/2006/relationships/image" Target="../media/image21.svg"/><Relationship Id="rId10" Type="http://schemas.openxmlformats.org/officeDocument/2006/relationships/image" Target="../media/image14.svg"/><Relationship Id="rId4" Type="http://schemas.openxmlformats.org/officeDocument/2006/relationships/image" Target="../media/image2.png"/><Relationship Id="rId9" Type="http://schemas.openxmlformats.org/officeDocument/2006/relationships/image" Target="../media/image15.svg"/><Relationship Id="rId14" Type="http://schemas.openxmlformats.org/officeDocument/2006/relationships/image" Target="../media/image18.svg"/></Relationships>
</file>

<file path=ppt/slides/_rels/slide19.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0.svg"/><Relationship Id="rId3" Type="http://schemas.openxmlformats.org/officeDocument/2006/relationships/image" Target="../media/image1.jpeg"/><Relationship Id="rId7" Type="http://schemas.openxmlformats.org/officeDocument/2006/relationships/image" Target="../media/image13.svg"/><Relationship Id="rId12" Type="http://schemas.openxmlformats.org/officeDocument/2006/relationships/image" Target="../media/image19.svg"/><Relationship Id="rId2" Type="http://schemas.openxmlformats.org/officeDocument/2006/relationships/notesSlide" Target="../notesSlides/notesSlide19.xml"/><Relationship Id="rId16" Type="http://schemas.openxmlformats.org/officeDocument/2006/relationships/image" Target="../media/image22.svg"/><Relationship Id="rId1" Type="http://schemas.openxmlformats.org/officeDocument/2006/relationships/slideLayout" Target="../slideLayouts/slideLayout2.xml"/><Relationship Id="rId6" Type="http://schemas.openxmlformats.org/officeDocument/2006/relationships/image" Target="../media/image12.svg"/><Relationship Id="rId11" Type="http://schemas.openxmlformats.org/officeDocument/2006/relationships/image" Target="../media/image16.svg"/><Relationship Id="rId5" Type="http://schemas.openxmlformats.org/officeDocument/2006/relationships/image" Target="../media/image10.svg"/><Relationship Id="rId15" Type="http://schemas.openxmlformats.org/officeDocument/2006/relationships/image" Target="../media/image21.svg"/><Relationship Id="rId10" Type="http://schemas.openxmlformats.org/officeDocument/2006/relationships/image" Target="../media/image14.svg"/><Relationship Id="rId4" Type="http://schemas.openxmlformats.org/officeDocument/2006/relationships/image" Target="../media/image2.png"/><Relationship Id="rId9" Type="http://schemas.openxmlformats.org/officeDocument/2006/relationships/image" Target="../media/image15.svg"/><Relationship Id="rId14" Type="http://schemas.openxmlformats.org/officeDocument/2006/relationships/image" Target="../media/image18.svg"/></Relationships>
</file>

<file path=ppt/slides/_rels/slide20.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18.svg"/><Relationship Id="rId3" Type="http://schemas.openxmlformats.org/officeDocument/2006/relationships/image" Target="../media/image1.jpeg"/><Relationship Id="rId7" Type="http://schemas.openxmlformats.org/officeDocument/2006/relationships/image" Target="../media/image13.svg"/><Relationship Id="rId12" Type="http://schemas.openxmlformats.org/officeDocument/2006/relationships/image" Target="../media/image19.svg"/><Relationship Id="rId17" Type="http://schemas.openxmlformats.org/officeDocument/2006/relationships/hyperlink" Target="https://doi.org/10.5334/dsj-2022-002" TargetMode="External"/><Relationship Id="rId2" Type="http://schemas.openxmlformats.org/officeDocument/2006/relationships/notesSlide" Target="../notesSlides/notesSlide20.xml"/><Relationship Id="rId16" Type="http://schemas.openxmlformats.org/officeDocument/2006/relationships/image" Target="../media/image20.svg"/><Relationship Id="rId1" Type="http://schemas.openxmlformats.org/officeDocument/2006/relationships/slideLayout" Target="../slideLayouts/slideLayout2.xml"/><Relationship Id="rId6" Type="http://schemas.openxmlformats.org/officeDocument/2006/relationships/image" Target="../media/image12.svg"/><Relationship Id="rId11" Type="http://schemas.openxmlformats.org/officeDocument/2006/relationships/image" Target="../media/image16.svg"/><Relationship Id="rId5" Type="http://schemas.openxmlformats.org/officeDocument/2006/relationships/image" Target="../media/image10.svg"/><Relationship Id="rId15" Type="http://schemas.openxmlformats.org/officeDocument/2006/relationships/image" Target="../media/image21.svg"/><Relationship Id="rId10" Type="http://schemas.openxmlformats.org/officeDocument/2006/relationships/image" Target="../media/image14.svg"/><Relationship Id="rId4" Type="http://schemas.openxmlformats.org/officeDocument/2006/relationships/image" Target="../media/image2.png"/><Relationship Id="rId9" Type="http://schemas.openxmlformats.org/officeDocument/2006/relationships/image" Target="../media/image15.svg"/><Relationship Id="rId14" Type="http://schemas.openxmlformats.org/officeDocument/2006/relationships/image" Target="../media/image23.svg"/></Relationships>
</file>

<file path=ppt/slides/_rels/slide21.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png"/><Relationship Id="rId3" Type="http://schemas.openxmlformats.org/officeDocument/2006/relationships/image" Target="../media/image24.png"/><Relationship Id="rId7" Type="http://schemas.openxmlformats.org/officeDocument/2006/relationships/image" Target="../media/image26.png"/><Relationship Id="rId12"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png"/><Relationship Id="rId10" Type="http://schemas.openxmlformats.org/officeDocument/2006/relationships/image" Target="../media/image29.png"/><Relationship Id="rId4" Type="http://schemas.openxmlformats.org/officeDocument/2006/relationships/image" Target="../media/image1.jpeg"/><Relationship Id="rId9" Type="http://schemas.openxmlformats.org/officeDocument/2006/relationships/image" Target="../media/image28.png"/></Relationships>
</file>

<file path=ppt/slides/_rels/slide22.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2.png"/><Relationship Id="rId7" Type="http://schemas.openxmlformats.org/officeDocument/2006/relationships/image" Target="../media/image35.sv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34.svg"/><Relationship Id="rId5" Type="http://schemas.openxmlformats.org/officeDocument/2006/relationships/image" Target="../media/image33.svg"/><Relationship Id="rId10" Type="http://schemas.openxmlformats.org/officeDocument/2006/relationships/image" Target="../media/image9.svg"/><Relationship Id="rId4" Type="http://schemas.openxmlformats.org/officeDocument/2006/relationships/image" Target="../media/image1.jpeg"/><Relationship Id="rId9" Type="http://schemas.openxmlformats.org/officeDocument/2006/relationships/image" Target="../media/image37.svg"/></Relationships>
</file>

<file path=ppt/slides/_rels/slide23.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2.png"/><Relationship Id="rId7" Type="http://schemas.openxmlformats.org/officeDocument/2006/relationships/image" Target="../media/image35.sv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34.svg"/><Relationship Id="rId11" Type="http://schemas.openxmlformats.org/officeDocument/2006/relationships/image" Target="../media/image39.svg"/><Relationship Id="rId5" Type="http://schemas.openxmlformats.org/officeDocument/2006/relationships/image" Target="../media/image33.svg"/><Relationship Id="rId10" Type="http://schemas.openxmlformats.org/officeDocument/2006/relationships/image" Target="../media/image38.png"/><Relationship Id="rId4" Type="http://schemas.openxmlformats.org/officeDocument/2006/relationships/image" Target="../media/image1.jpeg"/><Relationship Id="rId9" Type="http://schemas.openxmlformats.org/officeDocument/2006/relationships/image" Target="../media/image37.svg"/></Relationships>
</file>

<file path=ppt/slides/_rels/slide24.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2.png"/><Relationship Id="rId7" Type="http://schemas.openxmlformats.org/officeDocument/2006/relationships/image" Target="../media/image35.sv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34.svg"/><Relationship Id="rId11" Type="http://schemas.openxmlformats.org/officeDocument/2006/relationships/image" Target="../media/image39.svg"/><Relationship Id="rId5" Type="http://schemas.openxmlformats.org/officeDocument/2006/relationships/image" Target="../media/image33.svg"/><Relationship Id="rId10" Type="http://schemas.openxmlformats.org/officeDocument/2006/relationships/image" Target="../media/image38.png"/><Relationship Id="rId4" Type="http://schemas.openxmlformats.org/officeDocument/2006/relationships/image" Target="../media/image1.jpeg"/><Relationship Id="rId9" Type="http://schemas.openxmlformats.org/officeDocument/2006/relationships/image" Target="../media/image37.svg"/></Relationships>
</file>

<file path=ppt/slides/_rels/slide25.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1.jpeg"/><Relationship Id="rId7" Type="http://schemas.openxmlformats.org/officeDocument/2006/relationships/image" Target="../media/image42.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40.svg"/><Relationship Id="rId10" Type="http://schemas.openxmlformats.org/officeDocument/2006/relationships/image" Target="../media/image45.png"/><Relationship Id="rId4" Type="http://schemas.openxmlformats.org/officeDocument/2006/relationships/image" Target="../media/image2.png"/><Relationship Id="rId9" Type="http://schemas.openxmlformats.org/officeDocument/2006/relationships/image" Target="../media/image44.png"/></Relationships>
</file>

<file path=ppt/slides/_rels/slide26.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9.jpeg"/><Relationship Id="rId18" Type="http://schemas.openxmlformats.org/officeDocument/2006/relationships/image" Target="../media/image54.svg"/><Relationship Id="rId3" Type="http://schemas.openxmlformats.org/officeDocument/2006/relationships/image" Target="../media/image1.jpeg"/><Relationship Id="rId7" Type="http://schemas.openxmlformats.org/officeDocument/2006/relationships/image" Target="../media/image41.png"/><Relationship Id="rId12" Type="http://schemas.openxmlformats.org/officeDocument/2006/relationships/image" Target="../media/image48.png"/><Relationship Id="rId17" Type="http://schemas.openxmlformats.org/officeDocument/2006/relationships/image" Target="../media/image53.png"/><Relationship Id="rId2" Type="http://schemas.openxmlformats.org/officeDocument/2006/relationships/notesSlide" Target="../notesSlides/notesSlide26.xml"/><Relationship Id="rId16" Type="http://schemas.openxmlformats.org/officeDocument/2006/relationships/image" Target="../media/image52.png"/><Relationship Id="rId1" Type="http://schemas.openxmlformats.org/officeDocument/2006/relationships/slideLayout" Target="../slideLayouts/slideLayout2.xml"/><Relationship Id="rId6" Type="http://schemas.openxmlformats.org/officeDocument/2006/relationships/image" Target="../media/image40.svg"/><Relationship Id="rId11" Type="http://schemas.openxmlformats.org/officeDocument/2006/relationships/image" Target="../media/image45.png"/><Relationship Id="rId5" Type="http://schemas.openxmlformats.org/officeDocument/2006/relationships/image" Target="../media/image47.svg"/><Relationship Id="rId15" Type="http://schemas.openxmlformats.org/officeDocument/2006/relationships/image" Target="../media/image51.png"/><Relationship Id="rId10" Type="http://schemas.openxmlformats.org/officeDocument/2006/relationships/image" Target="../media/image44.png"/><Relationship Id="rId19" Type="http://schemas.openxmlformats.org/officeDocument/2006/relationships/image" Target="../media/image46.png"/><Relationship Id="rId4" Type="http://schemas.openxmlformats.org/officeDocument/2006/relationships/image" Target="../media/image2.png"/><Relationship Id="rId9" Type="http://schemas.openxmlformats.org/officeDocument/2006/relationships/image" Target="../media/image43.png"/><Relationship Id="rId14" Type="http://schemas.openxmlformats.org/officeDocument/2006/relationships/image" Target="../media/image50.png"/></Relationships>
</file>

<file path=ppt/slides/_rels/slide27.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43.png"/><Relationship Id="rId18" Type="http://schemas.openxmlformats.org/officeDocument/2006/relationships/image" Target="../media/image61.png"/><Relationship Id="rId26" Type="http://schemas.openxmlformats.org/officeDocument/2006/relationships/image" Target="../media/image63.svg"/><Relationship Id="rId3" Type="http://schemas.openxmlformats.org/officeDocument/2006/relationships/image" Target="../media/image1.jpeg"/><Relationship Id="rId21" Type="http://schemas.openxmlformats.org/officeDocument/2006/relationships/image" Target="../media/image52.png"/><Relationship Id="rId7" Type="http://schemas.openxmlformats.org/officeDocument/2006/relationships/image" Target="../media/image56.png"/><Relationship Id="rId12" Type="http://schemas.openxmlformats.org/officeDocument/2006/relationships/image" Target="../media/image42.png"/><Relationship Id="rId17" Type="http://schemas.openxmlformats.org/officeDocument/2006/relationships/image" Target="../media/image51.png"/><Relationship Id="rId25" Type="http://schemas.openxmlformats.org/officeDocument/2006/relationships/image" Target="../media/image62.png"/><Relationship Id="rId2" Type="http://schemas.openxmlformats.org/officeDocument/2006/relationships/notesSlide" Target="../notesSlides/notesSlide27.xml"/><Relationship Id="rId16" Type="http://schemas.openxmlformats.org/officeDocument/2006/relationships/image" Target="../media/image50.png"/><Relationship Id="rId20" Type="http://schemas.openxmlformats.org/officeDocument/2006/relationships/image" Target="../media/image45.png"/><Relationship Id="rId29" Type="http://schemas.openxmlformats.org/officeDocument/2006/relationships/image" Target="../media/image64.png"/><Relationship Id="rId1" Type="http://schemas.openxmlformats.org/officeDocument/2006/relationships/slideLayout" Target="../slideLayouts/slideLayout2.xml"/><Relationship Id="rId6" Type="http://schemas.openxmlformats.org/officeDocument/2006/relationships/image" Target="../media/image55.png"/><Relationship Id="rId11" Type="http://schemas.openxmlformats.org/officeDocument/2006/relationships/image" Target="../media/image48.png"/><Relationship Id="rId24" Type="http://schemas.openxmlformats.org/officeDocument/2006/relationships/image" Target="../media/image54.svg"/><Relationship Id="rId5" Type="http://schemas.openxmlformats.org/officeDocument/2006/relationships/image" Target="../media/image47.svg"/><Relationship Id="rId15" Type="http://schemas.openxmlformats.org/officeDocument/2006/relationships/image" Target="../media/image60.png"/><Relationship Id="rId23" Type="http://schemas.openxmlformats.org/officeDocument/2006/relationships/image" Target="../media/image53.png"/><Relationship Id="rId28" Type="http://schemas.openxmlformats.org/officeDocument/2006/relationships/image" Target="../media/image46.png"/><Relationship Id="rId10" Type="http://schemas.openxmlformats.org/officeDocument/2006/relationships/image" Target="../media/image58.png"/><Relationship Id="rId19" Type="http://schemas.openxmlformats.org/officeDocument/2006/relationships/image" Target="../media/image44.png"/><Relationship Id="rId4" Type="http://schemas.openxmlformats.org/officeDocument/2006/relationships/image" Target="../media/image2.png"/><Relationship Id="rId9" Type="http://schemas.openxmlformats.org/officeDocument/2006/relationships/image" Target="../media/image41.png"/><Relationship Id="rId14" Type="http://schemas.openxmlformats.org/officeDocument/2006/relationships/image" Target="../media/image59.png"/><Relationship Id="rId22" Type="http://schemas.openxmlformats.org/officeDocument/2006/relationships/image" Target="../media/image49.jpeg"/><Relationship Id="rId27" Type="http://schemas.openxmlformats.org/officeDocument/2006/relationships/image" Target="../media/image40.svg"/></Relationships>
</file>

<file path=ppt/slides/_rels/slide28.xml.rels><?xml version="1.0" encoding="UTF-8" standalone="yes"?>
<Relationships xmlns="http://schemas.openxmlformats.org/package/2006/relationships"><Relationship Id="rId13" Type="http://schemas.openxmlformats.org/officeDocument/2006/relationships/image" Target="../media/image68.png"/><Relationship Id="rId18" Type="http://schemas.openxmlformats.org/officeDocument/2006/relationships/image" Target="../media/image60.png"/><Relationship Id="rId26" Type="http://schemas.openxmlformats.org/officeDocument/2006/relationships/image" Target="../media/image52.png"/><Relationship Id="rId39" Type="http://schemas.openxmlformats.org/officeDocument/2006/relationships/image" Target="../media/image75.png"/><Relationship Id="rId21" Type="http://schemas.openxmlformats.org/officeDocument/2006/relationships/image" Target="../media/image69.png"/><Relationship Id="rId34" Type="http://schemas.openxmlformats.org/officeDocument/2006/relationships/image" Target="../media/image63.svg"/><Relationship Id="rId42" Type="http://schemas.openxmlformats.org/officeDocument/2006/relationships/image" Target="../media/image64.png"/><Relationship Id="rId7" Type="http://schemas.openxmlformats.org/officeDocument/2006/relationships/image" Target="../media/image66.jpeg"/><Relationship Id="rId2" Type="http://schemas.openxmlformats.org/officeDocument/2006/relationships/notesSlide" Target="../notesSlides/notesSlide28.xml"/><Relationship Id="rId16" Type="http://schemas.openxmlformats.org/officeDocument/2006/relationships/image" Target="../media/image43.png"/><Relationship Id="rId20" Type="http://schemas.openxmlformats.org/officeDocument/2006/relationships/image" Target="../media/image51.png"/><Relationship Id="rId29" Type="http://schemas.openxmlformats.org/officeDocument/2006/relationships/image" Target="../media/image49.jpeg"/><Relationship Id="rId41" Type="http://schemas.openxmlformats.org/officeDocument/2006/relationships/image" Target="../media/image58.png"/><Relationship Id="rId1" Type="http://schemas.openxmlformats.org/officeDocument/2006/relationships/slideLayout" Target="../slideLayouts/slideLayout2.xml"/><Relationship Id="rId6" Type="http://schemas.openxmlformats.org/officeDocument/2006/relationships/image" Target="../media/image65.jpeg"/><Relationship Id="rId11" Type="http://schemas.openxmlformats.org/officeDocument/2006/relationships/image" Target="../media/image57.png"/><Relationship Id="rId24" Type="http://schemas.openxmlformats.org/officeDocument/2006/relationships/image" Target="../media/image44.png"/><Relationship Id="rId32" Type="http://schemas.openxmlformats.org/officeDocument/2006/relationships/image" Target="../media/image54.svg"/><Relationship Id="rId37" Type="http://schemas.openxmlformats.org/officeDocument/2006/relationships/image" Target="../media/image46.png"/><Relationship Id="rId40" Type="http://schemas.openxmlformats.org/officeDocument/2006/relationships/image" Target="../media/image76.svg"/><Relationship Id="rId5" Type="http://schemas.openxmlformats.org/officeDocument/2006/relationships/image" Target="../media/image47.svg"/><Relationship Id="rId15" Type="http://schemas.openxmlformats.org/officeDocument/2006/relationships/image" Target="../media/image42.png"/><Relationship Id="rId23" Type="http://schemas.openxmlformats.org/officeDocument/2006/relationships/image" Target="../media/image70.png"/><Relationship Id="rId28" Type="http://schemas.openxmlformats.org/officeDocument/2006/relationships/image" Target="../media/image72.png"/><Relationship Id="rId36" Type="http://schemas.openxmlformats.org/officeDocument/2006/relationships/image" Target="../media/image40.svg"/><Relationship Id="rId10" Type="http://schemas.openxmlformats.org/officeDocument/2006/relationships/image" Target="../media/image67.png"/><Relationship Id="rId19" Type="http://schemas.openxmlformats.org/officeDocument/2006/relationships/image" Target="../media/image50.png"/><Relationship Id="rId31" Type="http://schemas.openxmlformats.org/officeDocument/2006/relationships/image" Target="../media/image53.png"/><Relationship Id="rId4" Type="http://schemas.openxmlformats.org/officeDocument/2006/relationships/image" Target="../media/image2.png"/><Relationship Id="rId9" Type="http://schemas.openxmlformats.org/officeDocument/2006/relationships/image" Target="../media/image56.png"/><Relationship Id="rId14" Type="http://schemas.openxmlformats.org/officeDocument/2006/relationships/image" Target="../media/image48.png"/><Relationship Id="rId22" Type="http://schemas.openxmlformats.org/officeDocument/2006/relationships/image" Target="../media/image61.png"/><Relationship Id="rId27" Type="http://schemas.openxmlformats.org/officeDocument/2006/relationships/image" Target="../media/image71.jpeg"/><Relationship Id="rId30" Type="http://schemas.openxmlformats.org/officeDocument/2006/relationships/image" Target="../media/image73.png"/><Relationship Id="rId35" Type="http://schemas.openxmlformats.org/officeDocument/2006/relationships/image" Target="../media/image74.svg"/><Relationship Id="rId8" Type="http://schemas.openxmlformats.org/officeDocument/2006/relationships/image" Target="../media/image55.png"/><Relationship Id="rId3" Type="http://schemas.openxmlformats.org/officeDocument/2006/relationships/image" Target="../media/image1.jpeg"/><Relationship Id="rId12" Type="http://schemas.openxmlformats.org/officeDocument/2006/relationships/image" Target="../media/image41.png"/><Relationship Id="rId17" Type="http://schemas.openxmlformats.org/officeDocument/2006/relationships/image" Target="../media/image59.png"/><Relationship Id="rId25" Type="http://schemas.openxmlformats.org/officeDocument/2006/relationships/image" Target="../media/image45.png"/><Relationship Id="rId33" Type="http://schemas.openxmlformats.org/officeDocument/2006/relationships/image" Target="../media/image62.png"/><Relationship Id="rId38" Type="http://schemas.openxmlformats.org/officeDocument/2006/relationships/hyperlink" Target="https://amcm.shinyapps.io/openit/"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78.sv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77.svg"/><Relationship Id="rId5" Type="http://schemas.openxmlformats.org/officeDocument/2006/relationships/hyperlink" Target="https://doi.org/10.1007/978-3-319-00026-8_2" TargetMode="Externa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8" Type="http://schemas.openxmlformats.org/officeDocument/2006/relationships/hyperlink" Target="https://doi.org/10.1007/978-3-319-00026-8_2" TargetMode="External"/><Relationship Id="rId3" Type="http://schemas.openxmlformats.org/officeDocument/2006/relationships/image" Target="../media/image1.jpeg"/><Relationship Id="rId7" Type="http://schemas.openxmlformats.org/officeDocument/2006/relationships/image" Target="../media/image78.sv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79.svg"/><Relationship Id="rId5" Type="http://schemas.openxmlformats.org/officeDocument/2006/relationships/image" Target="../media/image77.sv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8" Type="http://schemas.openxmlformats.org/officeDocument/2006/relationships/image" Target="../media/image78.svg"/><Relationship Id="rId3" Type="http://schemas.openxmlformats.org/officeDocument/2006/relationships/image" Target="../media/image1.jpeg"/><Relationship Id="rId7" Type="http://schemas.openxmlformats.org/officeDocument/2006/relationships/image" Target="../media/image79.sv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77.svg"/><Relationship Id="rId5" Type="http://schemas.openxmlformats.org/officeDocument/2006/relationships/image" Target="../media/image80.svg"/><Relationship Id="rId4" Type="http://schemas.openxmlformats.org/officeDocument/2006/relationships/image" Target="../media/image2.png"/><Relationship Id="rId9" Type="http://schemas.openxmlformats.org/officeDocument/2006/relationships/hyperlink" Target="https://doi.org/10.1007/978-3-319-00026-8_2" TargetMode="External"/></Relationships>
</file>

<file path=ppt/slides/_rels/slide32.xml.rels><?xml version="1.0" encoding="UTF-8" standalone="yes"?>
<Relationships xmlns="http://schemas.openxmlformats.org/package/2006/relationships"><Relationship Id="rId8" Type="http://schemas.openxmlformats.org/officeDocument/2006/relationships/image" Target="../media/image81.svg"/><Relationship Id="rId3" Type="http://schemas.openxmlformats.org/officeDocument/2006/relationships/image" Target="../media/image1.jpeg"/><Relationship Id="rId7" Type="http://schemas.openxmlformats.org/officeDocument/2006/relationships/image" Target="../media/image79.sv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77.svg"/><Relationship Id="rId5" Type="http://schemas.openxmlformats.org/officeDocument/2006/relationships/image" Target="../media/image80.svg"/><Relationship Id="rId10" Type="http://schemas.openxmlformats.org/officeDocument/2006/relationships/hyperlink" Target="https://doi.org/10.1007/978-3-319-00026-8_2" TargetMode="External"/><Relationship Id="rId4" Type="http://schemas.openxmlformats.org/officeDocument/2006/relationships/image" Target="../media/image2.png"/><Relationship Id="rId9" Type="http://schemas.openxmlformats.org/officeDocument/2006/relationships/image" Target="../media/image78.svg"/></Relationships>
</file>

<file path=ppt/slides/_rels/slide33.xml.rels><?xml version="1.0" encoding="UTF-8" standalone="yes"?>
<Relationships xmlns="http://schemas.openxmlformats.org/package/2006/relationships"><Relationship Id="rId8" Type="http://schemas.openxmlformats.org/officeDocument/2006/relationships/image" Target="../media/image79.svg"/><Relationship Id="rId3" Type="http://schemas.openxmlformats.org/officeDocument/2006/relationships/image" Target="../media/image1.jpeg"/><Relationship Id="rId7" Type="http://schemas.openxmlformats.org/officeDocument/2006/relationships/image" Target="../media/image77.sv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82.svg"/><Relationship Id="rId11" Type="http://schemas.openxmlformats.org/officeDocument/2006/relationships/hyperlink" Target="https://doi.org/10.1007/978-3-319-00026-8_2" TargetMode="External"/><Relationship Id="rId5" Type="http://schemas.openxmlformats.org/officeDocument/2006/relationships/image" Target="../media/image80.svg"/><Relationship Id="rId10" Type="http://schemas.openxmlformats.org/officeDocument/2006/relationships/image" Target="../media/image78.svg"/><Relationship Id="rId4" Type="http://schemas.openxmlformats.org/officeDocument/2006/relationships/image" Target="../media/image2.png"/><Relationship Id="rId9" Type="http://schemas.openxmlformats.org/officeDocument/2006/relationships/image" Target="../media/image81.svg"/></Relationships>
</file>

<file path=ppt/slides/_rels/slide3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hyperlink" Target="https://doi.org/10.1038/s41562-021-01269-4" TargetMode="External"/><Relationship Id="rId5" Type="http://schemas.openxmlformats.org/officeDocument/2006/relationships/image" Target="../media/image78.svg"/><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8" Type="http://schemas.openxmlformats.org/officeDocument/2006/relationships/hyperlink" Target="https://doi.org/10.1038/s41562-021-01269-4" TargetMode="External"/><Relationship Id="rId3" Type="http://schemas.openxmlformats.org/officeDocument/2006/relationships/image" Target="../media/image1.jpeg"/><Relationship Id="rId7" Type="http://schemas.openxmlformats.org/officeDocument/2006/relationships/image" Target="../media/image78.sv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84.svg"/><Relationship Id="rId5" Type="http://schemas.openxmlformats.org/officeDocument/2006/relationships/image" Target="../media/image83.svg"/><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8" Type="http://schemas.openxmlformats.org/officeDocument/2006/relationships/image" Target="../media/image84.svg"/><Relationship Id="rId13" Type="http://schemas.openxmlformats.org/officeDocument/2006/relationships/image" Target="../media/image78.svg"/><Relationship Id="rId3" Type="http://schemas.openxmlformats.org/officeDocument/2006/relationships/image" Target="../media/image1.jpeg"/><Relationship Id="rId7" Type="http://schemas.openxmlformats.org/officeDocument/2006/relationships/image" Target="../media/image83.svg"/><Relationship Id="rId12" Type="http://schemas.openxmlformats.org/officeDocument/2006/relationships/hyperlink" Target="https://doi.org/10.1038/s41562-021-01269-4" TargetMode="External"/><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86.svg"/><Relationship Id="rId11" Type="http://schemas.openxmlformats.org/officeDocument/2006/relationships/image" Target="../media/image87.svg"/><Relationship Id="rId5" Type="http://schemas.openxmlformats.org/officeDocument/2006/relationships/image" Target="../media/image85.svg"/><Relationship Id="rId10" Type="http://schemas.openxmlformats.org/officeDocument/2006/relationships/hyperlink" Target="https://thepsychologist.bps.org.uk/volume-33/november-2020/bropenscience-broken-science" TargetMode="External"/><Relationship Id="rId4" Type="http://schemas.openxmlformats.org/officeDocument/2006/relationships/image" Target="../media/image2.png"/><Relationship Id="rId9" Type="http://schemas.openxmlformats.org/officeDocument/2006/relationships/hyperlink" Target="https://doi.org/10.1177/25152459251375445" TargetMode="External"/></Relationships>
</file>

<file path=ppt/slides/_rels/slide37.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hyperlink" Target="https://lmu-osc.github.io/training/research-cycle-handbook.html" TargetMode="External"/><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89.png"/><Relationship Id="rId5" Type="http://schemas.openxmlformats.org/officeDocument/2006/relationships/image" Target="../media/image88.svg"/><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8" Type="http://schemas.openxmlformats.org/officeDocument/2006/relationships/hyperlink" Target="https://lmu-osc.github.io/training/research-cycle-handbook.html" TargetMode="External"/><Relationship Id="rId3" Type="http://schemas.openxmlformats.org/officeDocument/2006/relationships/image" Target="../media/image1.jpeg"/><Relationship Id="rId7" Type="http://schemas.openxmlformats.org/officeDocument/2006/relationships/image" Target="../media/image89.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hyperlink" Target="https://doi.org/10.1007/978-3-319-00026-8_2" TargetMode="External"/><Relationship Id="rId5" Type="http://schemas.openxmlformats.org/officeDocument/2006/relationships/image" Target="../media/image88.svg"/><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8" Type="http://schemas.openxmlformats.org/officeDocument/2006/relationships/hyperlink" Target="ttps://www.cos.io/blog/strategy-for-culture-change" TargetMode="External"/><Relationship Id="rId3" Type="http://schemas.openxmlformats.org/officeDocument/2006/relationships/image" Target="../media/image1.jpeg"/><Relationship Id="rId7" Type="http://schemas.openxmlformats.org/officeDocument/2006/relationships/image" Target="../media/image91.sv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image" Target="../media/image88.svg"/><Relationship Id="rId4" Type="http://schemas.openxmlformats.org/officeDocument/2006/relationships/image" Target="../media/image2.png"/><Relationship Id="rId9" Type="http://schemas.openxmlformats.org/officeDocument/2006/relationships/hyperlink" Target="https://doi.org/10.1007/978-3-319-00026-8_2" TargetMode="External"/></Relationships>
</file>

<file path=ppt/slides/_rels/slide40.xml.rels><?xml version="1.0" encoding="UTF-8" standalone="yes"?>
<Relationships xmlns="http://schemas.openxmlformats.org/package/2006/relationships"><Relationship Id="rId8" Type="http://schemas.openxmlformats.org/officeDocument/2006/relationships/image" Target="../media/image91.svg"/><Relationship Id="rId3" Type="http://schemas.openxmlformats.org/officeDocument/2006/relationships/image" Target="../media/image1.jpeg"/><Relationship Id="rId7" Type="http://schemas.openxmlformats.org/officeDocument/2006/relationships/image" Target="../media/image90.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hyperlink" Target="https://openscholarlyinfrastructure.org/" TargetMode="External"/><Relationship Id="rId5" Type="http://schemas.openxmlformats.org/officeDocument/2006/relationships/image" Target="../media/image88.svg"/><Relationship Id="rId10" Type="http://schemas.openxmlformats.org/officeDocument/2006/relationships/hyperlink" Target="ttps://www.cos.io/blog/strategy-for-culture-change" TargetMode="External"/><Relationship Id="rId4" Type="http://schemas.openxmlformats.org/officeDocument/2006/relationships/image" Target="../media/image2.png"/><Relationship Id="rId9" Type="http://schemas.openxmlformats.org/officeDocument/2006/relationships/hyperlink" Target="https://doi.org/10.1007/978-3-319-00026-8_2" TargetMode="External"/></Relationships>
</file>

<file path=ppt/slides/_rels/slide41.xml.rels><?xml version="1.0" encoding="UTF-8" standalone="yes"?>
<Relationships xmlns="http://schemas.openxmlformats.org/package/2006/relationships"><Relationship Id="rId8" Type="http://schemas.openxmlformats.org/officeDocument/2006/relationships/hyperlink" Target="ttps://www.cos.io/blog/strategy-for-culture-change" TargetMode="External"/><Relationship Id="rId3" Type="http://schemas.openxmlformats.org/officeDocument/2006/relationships/image" Target="../media/image90.png"/><Relationship Id="rId7" Type="http://schemas.openxmlformats.org/officeDocument/2006/relationships/image" Target="../media/image88.sv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92.svg"/><Relationship Id="rId5" Type="http://schemas.openxmlformats.org/officeDocument/2006/relationships/image" Target="../media/image2.png"/><Relationship Id="rId4" Type="http://schemas.openxmlformats.org/officeDocument/2006/relationships/image" Target="../media/image1.jpeg"/></Relationships>
</file>

<file path=ppt/slides/_rels/slide42.xml.rels><?xml version="1.0" encoding="UTF-8" standalone="yes"?>
<Relationships xmlns="http://schemas.openxmlformats.org/package/2006/relationships"><Relationship Id="rId8" Type="http://schemas.openxmlformats.org/officeDocument/2006/relationships/image" Target="../media/image91.svg"/><Relationship Id="rId3" Type="http://schemas.openxmlformats.org/officeDocument/2006/relationships/image" Target="../media/image90.png"/><Relationship Id="rId7" Type="http://schemas.openxmlformats.org/officeDocument/2006/relationships/image" Target="../media/image88.sv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92.svg"/><Relationship Id="rId5" Type="http://schemas.openxmlformats.org/officeDocument/2006/relationships/image" Target="../media/image2.png"/><Relationship Id="rId4" Type="http://schemas.openxmlformats.org/officeDocument/2006/relationships/image" Target="../media/image1.jpeg"/><Relationship Id="rId9" Type="http://schemas.openxmlformats.org/officeDocument/2006/relationships/hyperlink" Target="ttps://www.cos.io/blog/strategy-for-culture-change" TargetMode="External"/></Relationships>
</file>

<file path=ppt/slides/_rels/slide43.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88.sv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93.png"/><Relationship Id="rId5" Type="http://schemas.openxmlformats.org/officeDocument/2006/relationships/hyperlink" Target="https://www.cos.io/blog/osf-changes-a-note-to-users" TargetMode="External"/><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3" Type="http://schemas.openxmlformats.org/officeDocument/2006/relationships/image" Target="../media/image94.png"/><Relationship Id="rId7" Type="http://schemas.openxmlformats.org/officeDocument/2006/relationships/hyperlink" Target="https://doi.org/10.31222/osf.io/af4nk_v2" TargetMode="External"/><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21.svg"/><Relationship Id="rId5" Type="http://schemas.openxmlformats.org/officeDocument/2006/relationships/image" Target="../media/image2.png"/><Relationship Id="rId4" Type="http://schemas.openxmlformats.org/officeDocument/2006/relationships/image" Target="../media/image1.jpeg"/></Relationships>
</file>

<file path=ppt/slides/_rels/slide45.xml.rels><?xml version="1.0" encoding="UTF-8" standalone="yes"?>
<Relationships xmlns="http://schemas.openxmlformats.org/package/2006/relationships"><Relationship Id="rId3" Type="http://schemas.openxmlformats.org/officeDocument/2006/relationships/image" Target="../media/image94.png"/><Relationship Id="rId7" Type="http://schemas.openxmlformats.org/officeDocument/2006/relationships/hyperlink" Target="https://doi.org/10.31222/osf.io/af4nk_v2" TargetMode="External"/><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21.svg"/><Relationship Id="rId5" Type="http://schemas.openxmlformats.org/officeDocument/2006/relationships/image" Target="../media/image2.png"/><Relationship Id="rId4" Type="http://schemas.openxmlformats.org/officeDocument/2006/relationships/image" Target="../media/image1.jpeg"/></Relationships>
</file>

<file path=ppt/slides/_rels/slide46.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hyperlink" Target="https://doi.org/10.5334/dsj-2020-043" TargetMode="External"/><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21.svg"/><Relationship Id="rId5" Type="http://schemas.openxmlformats.org/officeDocument/2006/relationships/image" Target="../media/image95.png"/><Relationship Id="rId4" Type="http://schemas.openxmlformats.org/officeDocument/2006/relationships/image" Target="../media/image2.png"/></Relationships>
</file>

<file path=ppt/slides/_rels/slide47.xml.rels><?xml version="1.0" encoding="UTF-8" standalone="yes"?>
<Relationships xmlns="http://schemas.openxmlformats.org/package/2006/relationships"><Relationship Id="rId8" Type="http://schemas.openxmlformats.org/officeDocument/2006/relationships/image" Target="../media/image98.png"/><Relationship Id="rId3" Type="http://schemas.openxmlformats.org/officeDocument/2006/relationships/image" Target="../media/image96.png"/><Relationship Id="rId7" Type="http://schemas.openxmlformats.org/officeDocument/2006/relationships/hyperlink" Target="https://lmu-osc.github.io/train-the-trainer-student-track-pedagogy/materials/PMM-M4/PMM-M4-S3-Citation-Politics/PMM-M4-S3-Citation-Politics.html" TargetMode="External"/><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97.png"/><Relationship Id="rId5" Type="http://schemas.openxmlformats.org/officeDocument/2006/relationships/image" Target="../media/image2.png"/><Relationship Id="rId4" Type="http://schemas.openxmlformats.org/officeDocument/2006/relationships/image" Target="../media/image1.jpeg"/><Relationship Id="rId9" Type="http://schemas.openxmlformats.org/officeDocument/2006/relationships/image" Target="../media/image99.png"/></Relationships>
</file>

<file path=ppt/slides/_rels/slide48.xml.rels><?xml version="1.0" encoding="UTF-8" standalone="yes"?>
<Relationships xmlns="http://schemas.openxmlformats.org/package/2006/relationships"><Relationship Id="rId8" Type="http://schemas.openxmlformats.org/officeDocument/2006/relationships/hyperlink" Target="https://doi.org/10.5281/ZENODO.17065098to-open-science/" TargetMode="External"/><Relationship Id="rId3" Type="http://schemas.openxmlformats.org/officeDocument/2006/relationships/image" Target="../media/image1.jpeg"/><Relationship Id="rId7" Type="http://schemas.openxmlformats.org/officeDocument/2006/relationships/image" Target="../media/image21.svg"/><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88.svg"/><Relationship Id="rId5" Type="http://schemas.openxmlformats.org/officeDocument/2006/relationships/image" Target="../media/image78.svg"/><Relationship Id="rId4" Type="http://schemas.openxmlformats.org/officeDocument/2006/relationships/image" Target="../media/image2.png"/><Relationship Id="rId9" Type="http://schemas.openxmlformats.org/officeDocument/2006/relationships/hyperlink" Target="https://doi.org/10.1038/s41586-025-09922-y" TargetMode="External"/></Relationships>
</file>

<file path=ppt/slides/_rels/slide49.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14.svg"/><Relationship Id="rId18" Type="http://schemas.openxmlformats.org/officeDocument/2006/relationships/image" Target="../media/image20.svg"/><Relationship Id="rId3" Type="http://schemas.openxmlformats.org/officeDocument/2006/relationships/image" Target="../media/image1.jpeg"/><Relationship Id="rId7" Type="http://schemas.openxmlformats.org/officeDocument/2006/relationships/image" Target="../media/image21.svg"/><Relationship Id="rId12" Type="http://schemas.openxmlformats.org/officeDocument/2006/relationships/image" Target="../media/image15.svg"/><Relationship Id="rId17" Type="http://schemas.openxmlformats.org/officeDocument/2006/relationships/image" Target="../media/image22.svg"/><Relationship Id="rId2" Type="http://schemas.openxmlformats.org/officeDocument/2006/relationships/notesSlide" Target="../notesSlides/notesSlide49.xml"/><Relationship Id="rId16" Type="http://schemas.openxmlformats.org/officeDocument/2006/relationships/image" Target="../media/image18.svg"/><Relationship Id="rId1" Type="http://schemas.openxmlformats.org/officeDocument/2006/relationships/slideLayout" Target="../slideLayouts/slideLayout2.xml"/><Relationship Id="rId6" Type="http://schemas.openxmlformats.org/officeDocument/2006/relationships/image" Target="../media/image88.svg"/><Relationship Id="rId11" Type="http://schemas.openxmlformats.org/officeDocument/2006/relationships/image" Target="../media/image17.svg"/><Relationship Id="rId5" Type="http://schemas.openxmlformats.org/officeDocument/2006/relationships/image" Target="../media/image78.svg"/><Relationship Id="rId15" Type="http://schemas.openxmlformats.org/officeDocument/2006/relationships/image" Target="../media/image101.svg"/><Relationship Id="rId10" Type="http://schemas.openxmlformats.org/officeDocument/2006/relationships/image" Target="../media/image11.svg"/><Relationship Id="rId4" Type="http://schemas.openxmlformats.org/officeDocument/2006/relationships/image" Target="../media/image2.png"/><Relationship Id="rId9" Type="http://schemas.openxmlformats.org/officeDocument/2006/relationships/image" Target="../media/image12.svg"/><Relationship Id="rId14" Type="http://schemas.openxmlformats.org/officeDocument/2006/relationships/image" Target="../media/image100.svg"/></Relationships>
</file>

<file path=ppt/slides/_rels/slide5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0.xml"/><Relationship Id="rId1" Type="http://schemas.openxmlformats.org/officeDocument/2006/relationships/slideLayout" Target="../slideLayouts/slideLayout2.xml"/><Relationship Id="rId5" Type="http://schemas.openxmlformats.org/officeDocument/2006/relationships/image" Target="../media/image102.png"/><Relationship Id="rId4" Type="http://schemas.openxmlformats.org/officeDocument/2006/relationships/image" Target="../media/image2.png"/></Relationships>
</file>

<file path=ppt/slides/_rels/slide51.xml.rels><?xml version="1.0" encoding="UTF-8" standalone="yes"?>
<Relationships xmlns="http://schemas.openxmlformats.org/package/2006/relationships"><Relationship Id="rId8" Type="http://schemas.openxmlformats.org/officeDocument/2006/relationships/image" Target="../media/image104.svg"/><Relationship Id="rId3" Type="http://schemas.openxmlformats.org/officeDocument/2006/relationships/image" Target="../media/image1.jpeg"/><Relationship Id="rId7" Type="http://schemas.openxmlformats.org/officeDocument/2006/relationships/image" Target="../media/image34.svg"/><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33.svg"/><Relationship Id="rId5" Type="http://schemas.openxmlformats.org/officeDocument/2006/relationships/image" Target="../media/image103.svg"/><Relationship Id="rId4" Type="http://schemas.openxmlformats.org/officeDocument/2006/relationships/image" Target="../media/image2.png"/></Relationships>
</file>

<file path=ppt/slides/_rels/slide52.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1.jpeg"/><Relationship Id="rId7" Type="http://schemas.openxmlformats.org/officeDocument/2006/relationships/image" Target="../media/image10.svg"/><Relationship Id="rId12" Type="http://schemas.openxmlformats.org/officeDocument/2006/relationships/image" Target="../media/image104.svg"/><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12.svg"/><Relationship Id="rId11" Type="http://schemas.openxmlformats.org/officeDocument/2006/relationships/image" Target="../media/image103.svg"/><Relationship Id="rId5" Type="http://schemas.openxmlformats.org/officeDocument/2006/relationships/image" Target="../media/image105.svg"/><Relationship Id="rId10" Type="http://schemas.openxmlformats.org/officeDocument/2006/relationships/image" Target="../media/image106.svg"/><Relationship Id="rId4" Type="http://schemas.openxmlformats.org/officeDocument/2006/relationships/image" Target="../media/image2.png"/><Relationship Id="rId9" Type="http://schemas.openxmlformats.org/officeDocument/2006/relationships/image" Target="../media/image100.svg"/></Relationships>
</file>

<file path=ppt/slides/_rels/slide5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107.svg"/><Relationship Id="rId5" Type="http://schemas.openxmlformats.org/officeDocument/2006/relationships/image" Target="../media/image7.svg"/><Relationship Id="rId4" Type="http://schemas.openxmlformats.org/officeDocument/2006/relationships/image" Target="../media/image2.png"/></Relationships>
</file>

<file path=ppt/slides/_rels/slide54.xml.rels><?xml version="1.0" encoding="UTF-8" standalone="yes"?>
<Relationships xmlns="http://schemas.openxmlformats.org/package/2006/relationships"><Relationship Id="rId8" Type="http://schemas.openxmlformats.org/officeDocument/2006/relationships/image" Target="../media/image106.svg"/><Relationship Id="rId3" Type="http://schemas.openxmlformats.org/officeDocument/2006/relationships/image" Target="../media/image1.jpeg"/><Relationship Id="rId7" Type="http://schemas.openxmlformats.org/officeDocument/2006/relationships/image" Target="../media/image34.svg"/><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image" Target="../media/image33.svg"/><Relationship Id="rId5" Type="http://schemas.openxmlformats.org/officeDocument/2006/relationships/image" Target="../media/image103.svg"/><Relationship Id="rId10" Type="http://schemas.openxmlformats.org/officeDocument/2006/relationships/image" Target="../media/image108.png"/><Relationship Id="rId4" Type="http://schemas.openxmlformats.org/officeDocument/2006/relationships/image" Target="../media/image2.png"/><Relationship Id="rId9" Type="http://schemas.openxmlformats.org/officeDocument/2006/relationships/image" Target="../media/image107.svg"/></Relationships>
</file>

<file path=ppt/slides/_rels/slide55.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18.svg"/><Relationship Id="rId3" Type="http://schemas.openxmlformats.org/officeDocument/2006/relationships/image" Target="../media/image1.jpeg"/><Relationship Id="rId7" Type="http://schemas.openxmlformats.org/officeDocument/2006/relationships/image" Target="../media/image11.svg"/><Relationship Id="rId12" Type="http://schemas.openxmlformats.org/officeDocument/2006/relationships/image" Target="../media/image101.svg"/><Relationship Id="rId17" Type="http://schemas.openxmlformats.org/officeDocument/2006/relationships/image" Target="../media/image109.png"/><Relationship Id="rId2" Type="http://schemas.openxmlformats.org/officeDocument/2006/relationships/notesSlide" Target="../notesSlides/notesSlide55.xml"/><Relationship Id="rId16" Type="http://schemas.openxmlformats.org/officeDocument/2006/relationships/image" Target="../media/image20.svg"/><Relationship Id="rId1" Type="http://schemas.openxmlformats.org/officeDocument/2006/relationships/slideLayout" Target="../slideLayouts/slideLayout2.xml"/><Relationship Id="rId6" Type="http://schemas.openxmlformats.org/officeDocument/2006/relationships/image" Target="../media/image12.svg"/><Relationship Id="rId11" Type="http://schemas.openxmlformats.org/officeDocument/2006/relationships/image" Target="../media/image100.svg"/><Relationship Id="rId5" Type="http://schemas.openxmlformats.org/officeDocument/2006/relationships/image" Target="../media/image10.svg"/><Relationship Id="rId15" Type="http://schemas.openxmlformats.org/officeDocument/2006/relationships/image" Target="../media/image21.svg"/><Relationship Id="rId10" Type="http://schemas.openxmlformats.org/officeDocument/2006/relationships/image" Target="../media/image14.svg"/><Relationship Id="rId4" Type="http://schemas.openxmlformats.org/officeDocument/2006/relationships/image" Target="../media/image2.png"/><Relationship Id="rId9" Type="http://schemas.openxmlformats.org/officeDocument/2006/relationships/image" Target="../media/image15.svg"/><Relationship Id="rId14" Type="http://schemas.openxmlformats.org/officeDocument/2006/relationships/image" Target="../media/image22.svg"/></Relationships>
</file>

<file path=ppt/slides/_rels/slide5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image" Target="../media/image109.png"/><Relationship Id="rId5" Type="http://schemas.openxmlformats.org/officeDocument/2006/relationships/hyperlink" Target="https://lmu-osc.github.io/train-the-trainer-open-research/workshop-design-workbook/" TargetMode="External"/><Relationship Id="rId4" Type="http://schemas.openxmlformats.org/officeDocument/2006/relationships/image" Target="../media/image2.png"/></Relationships>
</file>

<file path=ppt/slides/_rels/slide57.xml.rels><?xml version="1.0" encoding="UTF-8" standalone="yes"?>
<Relationships xmlns="http://schemas.openxmlformats.org/package/2006/relationships"><Relationship Id="rId8" Type="http://schemas.openxmlformats.org/officeDocument/2006/relationships/image" Target="../media/image107.svg"/><Relationship Id="rId3" Type="http://schemas.openxmlformats.org/officeDocument/2006/relationships/image" Target="../media/image1.jpeg"/><Relationship Id="rId7" Type="http://schemas.openxmlformats.org/officeDocument/2006/relationships/image" Target="../media/image21.svg"/><Relationship Id="rId2" Type="http://schemas.openxmlformats.org/officeDocument/2006/relationships/notesSlide" Target="../notesSlides/notesSlide57.xml"/><Relationship Id="rId1" Type="http://schemas.openxmlformats.org/officeDocument/2006/relationships/slideLayout" Target="../slideLayouts/slideLayout2.xml"/><Relationship Id="rId6" Type="http://schemas.openxmlformats.org/officeDocument/2006/relationships/image" Target="../media/image88.svg"/><Relationship Id="rId5" Type="http://schemas.openxmlformats.org/officeDocument/2006/relationships/image" Target="../media/image78.svg"/><Relationship Id="rId4" Type="http://schemas.openxmlformats.org/officeDocument/2006/relationships/image" Target="../media/image2.png"/></Relationships>
</file>

<file path=ppt/slides/_rels/slide58.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1.jpeg"/><Relationship Id="rId7" Type="http://schemas.openxmlformats.org/officeDocument/2006/relationships/image" Target="../media/image7.svg"/><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image" Target="../media/image6.svg"/><Relationship Id="rId11" Type="http://schemas.openxmlformats.org/officeDocument/2006/relationships/image" Target="../media/image111.svg"/><Relationship Id="rId5" Type="http://schemas.openxmlformats.org/officeDocument/2006/relationships/image" Target="../media/image5.svg"/><Relationship Id="rId10" Type="http://schemas.openxmlformats.org/officeDocument/2006/relationships/image" Target="../media/image110.svg"/><Relationship Id="rId4" Type="http://schemas.openxmlformats.org/officeDocument/2006/relationships/image" Target="../media/image2.png"/><Relationship Id="rId9" Type="http://schemas.openxmlformats.org/officeDocument/2006/relationships/image" Target="../media/image9.svg"/></Relationships>
</file>

<file path=ppt/slides/_rels/slide59.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13.svg"/><Relationship Id="rId3" Type="http://schemas.openxmlformats.org/officeDocument/2006/relationships/image" Target="../media/image1.jpeg"/><Relationship Id="rId7" Type="http://schemas.openxmlformats.org/officeDocument/2006/relationships/image" Target="../media/image7.svg"/><Relationship Id="rId12" Type="http://schemas.openxmlformats.org/officeDocument/2006/relationships/image" Target="../media/image111.svg"/><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openxmlformats.org/officeDocument/2006/relationships/image" Target="../media/image6.svg"/><Relationship Id="rId11" Type="http://schemas.openxmlformats.org/officeDocument/2006/relationships/image" Target="../media/image112.svg"/><Relationship Id="rId5" Type="http://schemas.openxmlformats.org/officeDocument/2006/relationships/image" Target="../media/image5.svg"/><Relationship Id="rId15" Type="http://schemas.openxmlformats.org/officeDocument/2006/relationships/hyperlink" Target="https://lmu-osc.github.io/train-the-trainer-open-research/leadership-open-research/strategies-leadership/" TargetMode="External"/><Relationship Id="rId10" Type="http://schemas.openxmlformats.org/officeDocument/2006/relationships/image" Target="../media/image110.svg"/><Relationship Id="rId4" Type="http://schemas.openxmlformats.org/officeDocument/2006/relationships/image" Target="../media/image2.png"/><Relationship Id="rId9" Type="http://schemas.openxmlformats.org/officeDocument/2006/relationships/image" Target="../media/image9.svg"/><Relationship Id="rId14" Type="http://schemas.openxmlformats.org/officeDocument/2006/relationships/image" Target="../media/image114.svg"/></Relationships>
</file>

<file path=ppt/slides/_rels/slide6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0.xml"/><Relationship Id="rId1" Type="http://schemas.openxmlformats.org/officeDocument/2006/relationships/slideLayout" Target="../slideLayouts/slideLayout2.xml"/><Relationship Id="rId5" Type="http://schemas.openxmlformats.org/officeDocument/2006/relationships/image" Target="../media/image115.png"/><Relationship Id="rId4" Type="http://schemas.openxmlformats.org/officeDocument/2006/relationships/image" Target="../media/image2.png"/></Relationships>
</file>

<file path=ppt/slides/_rels/slide6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3.xml.rels><?xml version="1.0" encoding="UTF-8" standalone="yes"?>
<Relationships xmlns="http://schemas.openxmlformats.org/package/2006/relationships"><Relationship Id="rId8" Type="http://schemas.openxmlformats.org/officeDocument/2006/relationships/image" Target="../media/image116.png"/><Relationship Id="rId3" Type="http://schemas.openxmlformats.org/officeDocument/2006/relationships/image" Target="../media/image1.jpeg"/><Relationship Id="rId7" Type="http://schemas.openxmlformats.org/officeDocument/2006/relationships/hyperlink" Target="https://orcid.org/0000-0002-6413-3895" TargetMode="External"/><Relationship Id="rId2" Type="http://schemas.openxmlformats.org/officeDocument/2006/relationships/notesSlide" Target="../notesSlides/notesSlide63.xml"/><Relationship Id="rId1" Type="http://schemas.openxmlformats.org/officeDocument/2006/relationships/slideLayout" Target="../slideLayouts/slideLayout2.xml"/><Relationship Id="rId6" Type="http://schemas.openxmlformats.org/officeDocument/2006/relationships/hyperlink" Target="https://orcid.org/0000-0002-6778-6744" TargetMode="External"/><Relationship Id="rId5" Type="http://schemas.openxmlformats.org/officeDocument/2006/relationships/hyperlink" Target="https://orcid.org/0000-0001-5307-8029" TargetMode="External"/><Relationship Id="rId4" Type="http://schemas.openxmlformats.org/officeDocument/2006/relationships/image" Target="../media/image2.png"/></Relationships>
</file>

<file path=ppt/slides/_rels/slide64.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17.png"/><Relationship Id="rId2" Type="http://schemas.openxmlformats.org/officeDocument/2006/relationships/notesSlide" Target="../notesSlides/notesSlide64.xml"/><Relationship Id="rId1" Type="http://schemas.openxmlformats.org/officeDocument/2006/relationships/slideLayout" Target="../slideLayouts/slideLayout2.xml"/><Relationship Id="rId6" Type="http://schemas.openxmlformats.org/officeDocument/2006/relationships/hyperlink" Target="https://lmu-osc.github.io/train-the-trainer-open-research/leadership-open-research/challenges-leadership/" TargetMode="External"/><Relationship Id="rId5" Type="http://schemas.openxmlformats.org/officeDocument/2006/relationships/hyperlink" Target="https://creativecommons.org/licenses/by-sa/4.0/deed.en" TargetMode="External"/><Relationship Id="rId4" Type="http://schemas.openxmlformats.org/officeDocument/2006/relationships/image" Target="../media/image2.png"/></Relationships>
</file>

<file path=ppt/slides/_rels/slide65.xml.rels><?xml version="1.0" encoding="UTF-8" standalone="yes"?>
<Relationships xmlns="http://schemas.openxmlformats.org/package/2006/relationships"><Relationship Id="rId8" Type="http://schemas.openxmlformats.org/officeDocument/2006/relationships/hyperlink" Target="https://doi.org/10.5281/ZENODO.17065098to-open-science/" TargetMode="External"/><Relationship Id="rId13" Type="http://schemas.openxmlformats.org/officeDocument/2006/relationships/hyperlink" Target="https://www.cos.io/blog/strategy-for-culture-change" TargetMode="External"/><Relationship Id="rId3" Type="http://schemas.openxmlformats.org/officeDocument/2006/relationships/image" Target="../media/image1.jpeg"/><Relationship Id="rId7" Type="http://schemas.openxmlformats.org/officeDocument/2006/relationships/hyperlink" Target="https://doi.org/10.5334/dsj-2022-002" TargetMode="External"/><Relationship Id="rId12" Type="http://schemas.openxmlformats.org/officeDocument/2006/relationships/hyperlink" Target="https://doi.org/10.31222/osf.io/af4nk_v2" TargetMode="External"/><Relationship Id="rId2" Type="http://schemas.openxmlformats.org/officeDocument/2006/relationships/notesSlide" Target="../notesSlides/notesSlide65.xml"/><Relationship Id="rId16" Type="http://schemas.openxmlformats.org/officeDocument/2006/relationships/hyperlink" Target="https://thepsychologist.bps.org.uk/volume-33/november-2020/bropenscience-broken-science" TargetMode="External"/><Relationship Id="rId1" Type="http://schemas.openxmlformats.org/officeDocument/2006/relationships/slideLayout" Target="../slideLayouts/slideLayout2.xml"/><Relationship Id="rId6" Type="http://schemas.openxmlformats.org/officeDocument/2006/relationships/hyperlink" Target="https://doi.org/10.1007/978-3-319-00026-8_2" TargetMode="External"/><Relationship Id="rId11" Type="http://schemas.openxmlformats.org/officeDocument/2006/relationships/hyperlink" Target="https://doi.org/10.1177/25152459251375445" TargetMode="External"/><Relationship Id="rId5" Type="http://schemas.openxmlformats.org/officeDocument/2006/relationships/hyperlink" Target="https://doi.org/10.5334/dsj-2020-043" TargetMode="External"/><Relationship Id="rId15" Type="http://schemas.openxmlformats.org/officeDocument/2006/relationships/hyperlink" Target="https://doi.org/10.1038/s41562-021-01269-4" TargetMode="External"/><Relationship Id="rId10" Type="http://schemas.openxmlformats.org/officeDocument/2006/relationships/hyperlink" Target="https://lmu-osc.github.io/training/research-cycle-handbook.html" TargetMode="External"/><Relationship Id="rId4" Type="http://schemas.openxmlformats.org/officeDocument/2006/relationships/image" Target="../media/image2.png"/><Relationship Id="rId9" Type="http://schemas.openxmlformats.org/officeDocument/2006/relationships/hyperlink" Target="https://doi.org/10.1038/s41586-025-09922-y" TargetMode="External"/><Relationship Id="rId14" Type="http://schemas.openxmlformats.org/officeDocument/2006/relationships/hyperlink" Target="https://www.cos.io/blog/osf-changes-a-note-to-user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42298-DB19-DB2D-91E6-A98D85B163D8}"/>
              </a:ext>
            </a:extLst>
          </p:cNvPr>
          <p:cNvSpPr>
            <a:spLocks noGrp="1"/>
          </p:cNvSpPr>
          <p:nvPr>
            <p:ph type="ctrTitle"/>
          </p:nvPr>
        </p:nvSpPr>
        <p:spPr>
          <a:xfrm>
            <a:off x="87320" y="1706659"/>
            <a:ext cx="9951194" cy="2387600"/>
          </a:xfrm>
        </p:spPr>
        <p:txBody>
          <a:bodyPr>
            <a:normAutofit/>
          </a:bodyPr>
          <a:lstStyle/>
          <a:p>
            <a:pPr algn="l"/>
            <a:r>
              <a:rPr lang="en-GB" dirty="0"/>
              <a:t>Navigating leadership in Open Science: challenges</a:t>
            </a:r>
          </a:p>
        </p:txBody>
      </p:sp>
      <p:grpSp>
        <p:nvGrpSpPr>
          <p:cNvPr id="5" name="Group 4">
            <a:extLst>
              <a:ext uri="{FF2B5EF4-FFF2-40B4-BE49-F238E27FC236}">
                <a16:creationId xmlns:a16="http://schemas.microsoft.com/office/drawing/2014/main" id="{B1971B36-1F16-8C0E-8B94-7F183F9A454E}"/>
              </a:ext>
            </a:extLst>
          </p:cNvPr>
          <p:cNvGrpSpPr/>
          <p:nvPr/>
        </p:nvGrpSpPr>
        <p:grpSpPr>
          <a:xfrm>
            <a:off x="9124114" y="5997738"/>
            <a:ext cx="2804651" cy="513745"/>
            <a:chOff x="19317" y="2690018"/>
            <a:chExt cx="11784755" cy="2025180"/>
          </a:xfrm>
        </p:grpSpPr>
        <p:pic>
          <p:nvPicPr>
            <p:cNvPr id="6" name="Picture 2">
              <a:extLst>
                <a:ext uri="{FF2B5EF4-FFF2-40B4-BE49-F238E27FC236}">
                  <a16:creationId xmlns:a16="http://schemas.microsoft.com/office/drawing/2014/main" id="{8A2A45B9-E17B-25A0-5A7F-8AB427A675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E3E84444-DCD7-35C4-D84D-952F4860EC36}"/>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9" name="TextBox 8">
            <a:extLst>
              <a:ext uri="{FF2B5EF4-FFF2-40B4-BE49-F238E27FC236}">
                <a16:creationId xmlns:a16="http://schemas.microsoft.com/office/drawing/2014/main" id="{3370522F-7F04-C35D-DBC5-1C96543077D4}"/>
              </a:ext>
            </a:extLst>
          </p:cNvPr>
          <p:cNvSpPr txBox="1"/>
          <p:nvPr/>
        </p:nvSpPr>
        <p:spPr>
          <a:xfrm>
            <a:off x="3056811" y="4889731"/>
            <a:ext cx="7426037" cy="523220"/>
          </a:xfrm>
          <a:prstGeom prst="rect">
            <a:avLst/>
          </a:prstGeom>
          <a:noFill/>
        </p:spPr>
        <p:txBody>
          <a:bodyPr wrap="square">
            <a:spAutoFit/>
          </a:bodyPr>
          <a:lstStyle/>
          <a:p>
            <a:r>
              <a:rPr lang="en-US" sz="2800" dirty="0"/>
              <a:t>Dr Sara Lil Middleton (she/her)</a:t>
            </a:r>
          </a:p>
        </p:txBody>
      </p:sp>
      <p:sp>
        <p:nvSpPr>
          <p:cNvPr id="12" name="Title 1">
            <a:extLst>
              <a:ext uri="{FF2B5EF4-FFF2-40B4-BE49-F238E27FC236}">
                <a16:creationId xmlns:a16="http://schemas.microsoft.com/office/drawing/2014/main" id="{7CDF67A8-44A8-F340-0FFC-2AF1EFAAB6BA}"/>
              </a:ext>
            </a:extLst>
          </p:cNvPr>
          <p:cNvSpPr txBox="1">
            <a:spLocks/>
          </p:cNvSpPr>
          <p:nvPr/>
        </p:nvSpPr>
        <p:spPr>
          <a:xfrm>
            <a:off x="0" y="-2796"/>
            <a:ext cx="12192000" cy="1325563"/>
          </a:xfrm>
          <a:prstGeom prst="rect">
            <a:avLst/>
          </a:prstGeom>
          <a:solidFill>
            <a:srgbClr val="FFC000">
              <a:alpha val="46955"/>
            </a:srgbClr>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US" b="1" dirty="0"/>
          </a:p>
        </p:txBody>
      </p:sp>
      <p:pic>
        <p:nvPicPr>
          <p:cNvPr id="13" name="Graphic 12" descr="Construction Barricade with solid fill">
            <a:extLst>
              <a:ext uri="{FF2B5EF4-FFF2-40B4-BE49-F238E27FC236}">
                <a16:creationId xmlns:a16="http://schemas.microsoft.com/office/drawing/2014/main" id="{33925D14-50AA-1A65-420F-18BEC564CE3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12690" y="2648821"/>
            <a:ext cx="1193510" cy="1193510"/>
          </a:xfrm>
          <a:prstGeom prst="rect">
            <a:avLst/>
          </a:prstGeom>
        </p:spPr>
      </p:pic>
    </p:spTree>
    <p:extLst>
      <p:ext uri="{BB962C8B-B14F-4D97-AF65-F5344CB8AC3E}">
        <p14:creationId xmlns:p14="http://schemas.microsoft.com/office/powerpoint/2010/main" val="2162396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0B65F-6723-8456-D62A-85E974A3B216}"/>
              </a:ext>
            </a:extLst>
          </p:cNvPr>
          <p:cNvSpPr>
            <a:spLocks noGrp="1"/>
          </p:cNvSpPr>
          <p:nvPr>
            <p:ph type="title"/>
          </p:nvPr>
        </p:nvSpPr>
        <p:spPr>
          <a:xfrm>
            <a:off x="0" y="1"/>
            <a:ext cx="12192000" cy="925286"/>
          </a:xfrm>
        </p:spPr>
        <p:txBody>
          <a:bodyPr/>
          <a:lstStyle/>
          <a:p>
            <a:r>
              <a:rPr lang="en-US" b="1" dirty="0"/>
              <a:t>Prerequisites</a:t>
            </a:r>
            <a:r>
              <a:rPr lang="en-US" dirty="0"/>
              <a:t> </a:t>
            </a:r>
          </a:p>
        </p:txBody>
      </p:sp>
      <p:sp>
        <p:nvSpPr>
          <p:cNvPr id="3" name="Content Placeholder 2">
            <a:extLst>
              <a:ext uri="{FF2B5EF4-FFF2-40B4-BE49-F238E27FC236}">
                <a16:creationId xmlns:a16="http://schemas.microsoft.com/office/drawing/2014/main" id="{D19DD0AB-67AC-4A27-5D6D-C6B1F8990242}"/>
              </a:ext>
            </a:extLst>
          </p:cNvPr>
          <p:cNvSpPr>
            <a:spLocks noGrp="1"/>
          </p:cNvSpPr>
          <p:nvPr>
            <p:ph idx="1"/>
          </p:nvPr>
        </p:nvSpPr>
        <p:spPr>
          <a:xfrm>
            <a:off x="410817" y="1341351"/>
            <a:ext cx="10940196" cy="2243879"/>
          </a:xfrm>
        </p:spPr>
        <p:txBody>
          <a:bodyPr>
            <a:normAutofit fontScale="92500" lnSpcReduction="10000"/>
          </a:bodyPr>
          <a:lstStyle/>
          <a:p>
            <a:r>
              <a:rPr lang="en-US" sz="2600" dirty="0"/>
              <a:t>A foundational understanding of Open Science practices such as open access, preregistration, where training materials can be found here: </a:t>
            </a:r>
            <a:r>
              <a:rPr lang="en-US" sz="2600" dirty="0">
                <a:hlinkClick r:id="rId3"/>
              </a:rPr>
              <a:t>https://www.osc.lmu.de/training/</a:t>
            </a:r>
            <a:r>
              <a:rPr lang="en-US" sz="2600" dirty="0"/>
              <a:t> </a:t>
            </a:r>
          </a:p>
          <a:p>
            <a:r>
              <a:rPr lang="en-US" sz="2600" dirty="0"/>
              <a:t>Leadership in Open Science: Skills, values and culture (access </a:t>
            </a:r>
            <a:r>
              <a:rPr lang="en-US" sz="2600" dirty="0">
                <a:hlinkClick r:id="rId4"/>
              </a:rPr>
              <a:t>here</a:t>
            </a:r>
            <a:r>
              <a:rPr lang="en-US" sz="2600" dirty="0"/>
              <a:t>)</a:t>
            </a:r>
          </a:p>
          <a:p>
            <a:r>
              <a:rPr lang="en-US" sz="2600" dirty="0"/>
              <a:t>Access to the </a:t>
            </a:r>
            <a:r>
              <a:rPr lang="en-GB" sz="2600" dirty="0"/>
              <a:t>Open Research Workshop Design Workbook: </a:t>
            </a:r>
            <a:r>
              <a:rPr lang="en-GB" sz="2600" dirty="0">
                <a:hlinkClick r:id="rId5"/>
              </a:rPr>
              <a:t>https://lmu-osc.github.io/train-the-trainer-open-research/workshop-design-workbook/</a:t>
            </a:r>
            <a:r>
              <a:rPr lang="en-GB" sz="2600" dirty="0"/>
              <a:t> </a:t>
            </a:r>
          </a:p>
          <a:p>
            <a:endParaRPr lang="en-US" dirty="0"/>
          </a:p>
          <a:p>
            <a:endParaRPr lang="en-US" dirty="0"/>
          </a:p>
        </p:txBody>
      </p:sp>
      <p:grpSp>
        <p:nvGrpSpPr>
          <p:cNvPr id="4" name="Group 3">
            <a:extLst>
              <a:ext uri="{FF2B5EF4-FFF2-40B4-BE49-F238E27FC236}">
                <a16:creationId xmlns:a16="http://schemas.microsoft.com/office/drawing/2014/main" id="{51C9200B-9EF4-1187-0368-8E9FC90CC602}"/>
              </a:ext>
            </a:extLst>
          </p:cNvPr>
          <p:cNvGrpSpPr/>
          <p:nvPr/>
        </p:nvGrpSpPr>
        <p:grpSpPr>
          <a:xfrm>
            <a:off x="10704849" y="6564312"/>
            <a:ext cx="1362075" cy="273690"/>
            <a:chOff x="19317" y="2690018"/>
            <a:chExt cx="11784755" cy="2025180"/>
          </a:xfrm>
        </p:grpSpPr>
        <p:pic>
          <p:nvPicPr>
            <p:cNvPr id="5" name="Picture 2">
              <a:extLst>
                <a:ext uri="{FF2B5EF4-FFF2-40B4-BE49-F238E27FC236}">
                  <a16:creationId xmlns:a16="http://schemas.microsoft.com/office/drawing/2014/main" id="{A972B7B0-B031-94C4-898F-43E364E32FC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446A4E0F-9FB8-74B0-79F3-D1FD98812595}"/>
                </a:ext>
              </a:extLst>
            </p:cNvPr>
            <p:cNvPicPr>
              <a:picLocks noChangeAspect="1"/>
            </p:cNvPicPr>
            <p:nvPr/>
          </p:nvPicPr>
          <p:blipFill>
            <a:blip r:embed="rId7"/>
            <a:stretch>
              <a:fillRect/>
            </a:stretch>
          </p:blipFill>
          <p:spPr>
            <a:xfrm>
              <a:off x="5728531" y="2690018"/>
              <a:ext cx="6075541" cy="2025180"/>
            </a:xfrm>
            <a:prstGeom prst="rect">
              <a:avLst/>
            </a:prstGeom>
          </p:spPr>
        </p:pic>
      </p:grpSp>
      <p:sp>
        <p:nvSpPr>
          <p:cNvPr id="7" name="Slide Number Placeholder 1">
            <a:extLst>
              <a:ext uri="{FF2B5EF4-FFF2-40B4-BE49-F238E27FC236}">
                <a16:creationId xmlns:a16="http://schemas.microsoft.com/office/drawing/2014/main" id="{7ED380A9-88EA-4221-B3D2-E4C927A758B9}"/>
              </a:ext>
            </a:extLst>
          </p:cNvPr>
          <p:cNvSpPr>
            <a:spLocks noGrp="1"/>
          </p:cNvSpPr>
          <p:nvPr>
            <p:ph type="sldNum" sz="quarter" idx="12"/>
          </p:nvPr>
        </p:nvSpPr>
        <p:spPr>
          <a:xfrm>
            <a:off x="8610600" y="6356350"/>
            <a:ext cx="2743200" cy="365125"/>
          </a:xfrm>
        </p:spPr>
        <p:txBody>
          <a:bodyPr/>
          <a:lstStyle/>
          <a:p>
            <a:fld id="{D292B180-B274-DE43-B36F-C827C7616C05}" type="slidenum">
              <a:rPr lang="en-US" smtClean="0"/>
              <a:t>2</a:t>
            </a:fld>
            <a:endParaRPr lang="en-US"/>
          </a:p>
        </p:txBody>
      </p:sp>
      <p:sp>
        <p:nvSpPr>
          <p:cNvPr id="8" name="TextBox 7">
            <a:extLst>
              <a:ext uri="{FF2B5EF4-FFF2-40B4-BE49-F238E27FC236}">
                <a16:creationId xmlns:a16="http://schemas.microsoft.com/office/drawing/2014/main" id="{A54600BD-0FEA-B71C-27FC-DF04CA3163CD}"/>
              </a:ext>
            </a:extLst>
          </p:cNvPr>
          <p:cNvSpPr txBox="1"/>
          <p:nvPr/>
        </p:nvSpPr>
        <p:spPr>
          <a:xfrm>
            <a:off x="559334" y="4001294"/>
            <a:ext cx="11073331" cy="1938992"/>
          </a:xfrm>
          <a:prstGeom prst="rect">
            <a:avLst/>
          </a:prstGeom>
          <a:solidFill>
            <a:schemeClr val="bg1">
              <a:lumMod val="65000"/>
              <a:alpha val="52000"/>
            </a:schemeClr>
          </a:solidFill>
        </p:spPr>
        <p:txBody>
          <a:bodyPr wrap="square">
            <a:spAutoFit/>
          </a:bodyPr>
          <a:lstStyle/>
          <a:p>
            <a:r>
              <a:rPr lang="en-US" sz="2400" b="1" dirty="0"/>
              <a:t>Note:</a:t>
            </a:r>
          </a:p>
          <a:p>
            <a:r>
              <a:rPr lang="en-US" sz="2400" dirty="0"/>
              <a:t>These training materials form part of three sessions on leadership in Open Science:</a:t>
            </a:r>
          </a:p>
          <a:p>
            <a:pPr marL="457200" indent="-457200">
              <a:buFont typeface="+mj-lt"/>
              <a:buAutoNum type="arabicPeriod"/>
            </a:pPr>
            <a:r>
              <a:rPr lang="en-US" sz="2400" dirty="0"/>
              <a:t>Skills, values and culture (access </a:t>
            </a:r>
            <a:r>
              <a:rPr lang="en-US" sz="2400" dirty="0">
                <a:hlinkClick r:id="rId4"/>
              </a:rPr>
              <a:t>here</a:t>
            </a:r>
            <a:r>
              <a:rPr lang="en-US" sz="2400" dirty="0"/>
              <a:t>)</a:t>
            </a:r>
          </a:p>
          <a:p>
            <a:pPr marL="457200" indent="-457200">
              <a:buFont typeface="+mj-lt"/>
              <a:buAutoNum type="arabicPeriod"/>
            </a:pPr>
            <a:r>
              <a:rPr lang="en-US" sz="2400" dirty="0"/>
              <a:t>Challenges (current session)</a:t>
            </a:r>
          </a:p>
          <a:p>
            <a:pPr marL="457200" indent="-457200">
              <a:buFont typeface="+mj-lt"/>
              <a:buAutoNum type="arabicPeriod"/>
            </a:pPr>
            <a:r>
              <a:rPr lang="en-US" sz="2400" dirty="0"/>
              <a:t>Strategies (access </a:t>
            </a:r>
            <a:r>
              <a:rPr lang="en-US" sz="2400" dirty="0">
                <a:hlinkClick r:id="rId8"/>
              </a:rPr>
              <a:t>here</a:t>
            </a:r>
            <a:r>
              <a:rPr lang="en-US" sz="2400" dirty="0"/>
              <a:t>)</a:t>
            </a:r>
          </a:p>
        </p:txBody>
      </p:sp>
    </p:spTree>
    <p:extLst>
      <p:ext uri="{BB962C8B-B14F-4D97-AF65-F5344CB8AC3E}">
        <p14:creationId xmlns:p14="http://schemas.microsoft.com/office/powerpoint/2010/main" val="24684476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8637FEFE-04C4-ECAC-9D3C-096FDC59B190}"/>
              </a:ext>
            </a:extLst>
          </p:cNvPr>
          <p:cNvGrpSpPr/>
          <p:nvPr/>
        </p:nvGrpSpPr>
        <p:grpSpPr>
          <a:xfrm>
            <a:off x="10704849" y="6564312"/>
            <a:ext cx="1362075" cy="273690"/>
            <a:chOff x="19317" y="2690018"/>
            <a:chExt cx="11784755" cy="2025180"/>
          </a:xfrm>
        </p:grpSpPr>
        <p:pic>
          <p:nvPicPr>
            <p:cNvPr id="6" name="Picture 2">
              <a:extLst>
                <a:ext uri="{FF2B5EF4-FFF2-40B4-BE49-F238E27FC236}">
                  <a16:creationId xmlns:a16="http://schemas.microsoft.com/office/drawing/2014/main" id="{C509C9E0-88EF-7F0C-CBB2-64C10408C4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662AC32C-B129-7169-D328-B961D18507BB}"/>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8" name="Title 1">
            <a:extLst>
              <a:ext uri="{FF2B5EF4-FFF2-40B4-BE49-F238E27FC236}">
                <a16:creationId xmlns:a16="http://schemas.microsoft.com/office/drawing/2014/main" id="{0196EB6B-8D3C-3153-FFFD-87E6AF0B5DD8}"/>
              </a:ext>
            </a:extLst>
          </p:cNvPr>
          <p:cNvSpPr txBox="1">
            <a:spLocks/>
          </p:cNvSpPr>
          <p:nvPr/>
        </p:nvSpPr>
        <p:spPr>
          <a:xfrm>
            <a:off x="0" y="1"/>
            <a:ext cx="12192000" cy="830998"/>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Survey</a:t>
            </a:r>
          </a:p>
        </p:txBody>
      </p:sp>
      <p:sp>
        <p:nvSpPr>
          <p:cNvPr id="9" name="Slide Number Placeholder 1">
            <a:extLst>
              <a:ext uri="{FF2B5EF4-FFF2-40B4-BE49-F238E27FC236}">
                <a16:creationId xmlns:a16="http://schemas.microsoft.com/office/drawing/2014/main" id="{041410D0-0F40-DAF3-5DB4-EA7FC2878EBF}"/>
              </a:ext>
            </a:extLst>
          </p:cNvPr>
          <p:cNvSpPr>
            <a:spLocks noGrp="1"/>
          </p:cNvSpPr>
          <p:nvPr>
            <p:ph type="sldNum" sz="quarter" idx="12"/>
          </p:nvPr>
        </p:nvSpPr>
        <p:spPr>
          <a:xfrm>
            <a:off x="8610600" y="6356350"/>
            <a:ext cx="2743200" cy="365125"/>
          </a:xfrm>
        </p:spPr>
        <p:txBody>
          <a:bodyPr/>
          <a:lstStyle/>
          <a:p>
            <a:fld id="{D292B180-B274-DE43-B36F-C827C7616C05}" type="slidenum">
              <a:rPr lang="en-US" smtClean="0"/>
              <a:t>3</a:t>
            </a:fld>
            <a:endParaRPr lang="en-US"/>
          </a:p>
        </p:txBody>
      </p:sp>
      <p:sp>
        <p:nvSpPr>
          <p:cNvPr id="11" name="TextBox 10">
            <a:extLst>
              <a:ext uri="{FF2B5EF4-FFF2-40B4-BE49-F238E27FC236}">
                <a16:creationId xmlns:a16="http://schemas.microsoft.com/office/drawing/2014/main" id="{FDA2069D-EDA6-1F08-727C-B1F7F4785FCC}"/>
              </a:ext>
            </a:extLst>
          </p:cNvPr>
          <p:cNvSpPr txBox="1"/>
          <p:nvPr/>
        </p:nvSpPr>
        <p:spPr>
          <a:xfrm>
            <a:off x="699053" y="3546074"/>
            <a:ext cx="10459279" cy="830997"/>
          </a:xfrm>
          <a:prstGeom prst="rect">
            <a:avLst/>
          </a:prstGeom>
          <a:noFill/>
        </p:spPr>
        <p:txBody>
          <a:bodyPr wrap="square">
            <a:spAutoFit/>
          </a:bodyPr>
          <a:lstStyle/>
          <a:p>
            <a:r>
              <a:rPr lang="en-US" sz="2400" dirty="0"/>
              <a:t>2. identify which Open Science challenges are within my sphere of influence/control to address? </a:t>
            </a:r>
          </a:p>
        </p:txBody>
      </p:sp>
      <p:sp>
        <p:nvSpPr>
          <p:cNvPr id="12" name="TextBox 11">
            <a:extLst>
              <a:ext uri="{FF2B5EF4-FFF2-40B4-BE49-F238E27FC236}">
                <a16:creationId xmlns:a16="http://schemas.microsoft.com/office/drawing/2014/main" id="{A33BF3B8-C1AE-9375-C348-D09283DBF2D3}"/>
              </a:ext>
            </a:extLst>
          </p:cNvPr>
          <p:cNvSpPr txBox="1"/>
          <p:nvPr/>
        </p:nvSpPr>
        <p:spPr>
          <a:xfrm>
            <a:off x="699053" y="2441736"/>
            <a:ext cx="5386090" cy="830997"/>
          </a:xfrm>
          <a:prstGeom prst="rect">
            <a:avLst/>
          </a:prstGeom>
          <a:noFill/>
        </p:spPr>
        <p:txBody>
          <a:bodyPr wrap="none" rtlCol="0">
            <a:spAutoFit/>
          </a:bodyPr>
          <a:lstStyle/>
          <a:p>
            <a:r>
              <a:rPr lang="en-US" sz="2400" dirty="0"/>
              <a:t>How confident are you in your ability to:</a:t>
            </a:r>
          </a:p>
          <a:p>
            <a:r>
              <a:rPr lang="en-US" sz="2400" dirty="0"/>
              <a:t> </a:t>
            </a:r>
          </a:p>
        </p:txBody>
      </p:sp>
      <p:sp>
        <p:nvSpPr>
          <p:cNvPr id="13" name="TextBox 12">
            <a:extLst>
              <a:ext uri="{FF2B5EF4-FFF2-40B4-BE49-F238E27FC236}">
                <a16:creationId xmlns:a16="http://schemas.microsoft.com/office/drawing/2014/main" id="{40EF30D9-3550-AF07-6AC6-808C9070F28A}"/>
              </a:ext>
            </a:extLst>
          </p:cNvPr>
          <p:cNvSpPr txBox="1"/>
          <p:nvPr/>
        </p:nvSpPr>
        <p:spPr>
          <a:xfrm>
            <a:off x="699053" y="2903401"/>
            <a:ext cx="9165009" cy="369332"/>
          </a:xfrm>
          <a:prstGeom prst="rect">
            <a:avLst/>
          </a:prstGeom>
          <a:noFill/>
        </p:spPr>
        <p:txBody>
          <a:bodyPr wrap="none" rtlCol="0">
            <a:spAutoFit/>
          </a:bodyPr>
          <a:lstStyle/>
          <a:p>
            <a:r>
              <a:rPr lang="en-US" i="1" dirty="0"/>
              <a:t>0 = not confident at all, 1 = mostly not confident, 2 = somewhat confident, 3 = very confident</a:t>
            </a:r>
          </a:p>
        </p:txBody>
      </p:sp>
      <p:sp>
        <p:nvSpPr>
          <p:cNvPr id="15" name="TextBox 14">
            <a:extLst>
              <a:ext uri="{FF2B5EF4-FFF2-40B4-BE49-F238E27FC236}">
                <a16:creationId xmlns:a16="http://schemas.microsoft.com/office/drawing/2014/main" id="{146990E4-75B7-46FA-7806-C5A63C66F1AD}"/>
              </a:ext>
            </a:extLst>
          </p:cNvPr>
          <p:cNvSpPr txBox="1"/>
          <p:nvPr/>
        </p:nvSpPr>
        <p:spPr>
          <a:xfrm>
            <a:off x="699053" y="1104340"/>
            <a:ext cx="8564217" cy="830997"/>
          </a:xfrm>
          <a:prstGeom prst="rect">
            <a:avLst/>
          </a:prstGeom>
          <a:noFill/>
        </p:spPr>
        <p:txBody>
          <a:bodyPr wrap="square">
            <a:spAutoFit/>
          </a:bodyPr>
          <a:lstStyle/>
          <a:p>
            <a:r>
              <a:rPr lang="en-GB" sz="2400" i="0" u="none" strike="noStrike" dirty="0">
                <a:solidFill>
                  <a:schemeClr val="tx1"/>
                </a:solidFill>
                <a:effectLst/>
                <a:latin typeface="+mn-lt"/>
              </a:rPr>
              <a:t>1. What is a particular challenge you have when it comes to adopting Open Science practices?</a:t>
            </a:r>
            <a:endParaRPr lang="en-US" sz="2400" dirty="0"/>
          </a:p>
        </p:txBody>
      </p:sp>
    </p:spTree>
    <p:extLst>
      <p:ext uri="{BB962C8B-B14F-4D97-AF65-F5344CB8AC3E}">
        <p14:creationId xmlns:p14="http://schemas.microsoft.com/office/powerpoint/2010/main" val="2907380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B9EADB94-F1D0-02EE-9868-23E8E35296EC}"/>
              </a:ext>
            </a:extLst>
          </p:cNvPr>
          <p:cNvGrpSpPr/>
          <p:nvPr/>
        </p:nvGrpSpPr>
        <p:grpSpPr>
          <a:xfrm>
            <a:off x="10704849" y="6564312"/>
            <a:ext cx="1362075" cy="273690"/>
            <a:chOff x="19317" y="2690018"/>
            <a:chExt cx="11784755" cy="2025180"/>
          </a:xfrm>
        </p:grpSpPr>
        <p:pic>
          <p:nvPicPr>
            <p:cNvPr id="7" name="Picture 2">
              <a:extLst>
                <a:ext uri="{FF2B5EF4-FFF2-40B4-BE49-F238E27FC236}">
                  <a16:creationId xmlns:a16="http://schemas.microsoft.com/office/drawing/2014/main" id="{65C0DAAA-F911-ED59-0F38-E7CB11B0DD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BC7DF67A-4587-20CB-18C4-4545BA4C428A}"/>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15" name="Title 1">
            <a:extLst>
              <a:ext uri="{FF2B5EF4-FFF2-40B4-BE49-F238E27FC236}">
                <a16:creationId xmlns:a16="http://schemas.microsoft.com/office/drawing/2014/main" id="{152F3F46-951B-A4A0-51E6-B2A16DFDF484}"/>
              </a:ext>
            </a:extLst>
          </p:cNvPr>
          <p:cNvSpPr txBox="1">
            <a:spLocks/>
          </p:cNvSpPr>
          <p:nvPr/>
        </p:nvSpPr>
        <p:spPr>
          <a:xfrm>
            <a:off x="0" y="0"/>
            <a:ext cx="121920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Session goals</a:t>
            </a:r>
          </a:p>
        </p:txBody>
      </p:sp>
      <p:sp>
        <p:nvSpPr>
          <p:cNvPr id="2" name="Slide Number Placeholder 1">
            <a:extLst>
              <a:ext uri="{FF2B5EF4-FFF2-40B4-BE49-F238E27FC236}">
                <a16:creationId xmlns:a16="http://schemas.microsoft.com/office/drawing/2014/main" id="{20A4D26E-D762-A915-CB05-8AF0B95CA6AB}"/>
              </a:ext>
            </a:extLst>
          </p:cNvPr>
          <p:cNvSpPr>
            <a:spLocks noGrp="1"/>
          </p:cNvSpPr>
          <p:nvPr>
            <p:ph type="sldNum" sz="quarter" idx="12"/>
          </p:nvPr>
        </p:nvSpPr>
        <p:spPr/>
        <p:txBody>
          <a:bodyPr/>
          <a:lstStyle/>
          <a:p>
            <a:fld id="{D292B180-B274-DE43-B36F-C827C7616C05}" type="slidenum">
              <a:rPr lang="en-US" smtClean="0"/>
              <a:t>4</a:t>
            </a:fld>
            <a:endParaRPr lang="en-US"/>
          </a:p>
        </p:txBody>
      </p:sp>
      <p:sp>
        <p:nvSpPr>
          <p:cNvPr id="5" name="TextBox 4">
            <a:extLst>
              <a:ext uri="{FF2B5EF4-FFF2-40B4-BE49-F238E27FC236}">
                <a16:creationId xmlns:a16="http://schemas.microsoft.com/office/drawing/2014/main" id="{4D5B8E85-6F6B-223B-E2C7-488E7B9668EE}"/>
              </a:ext>
            </a:extLst>
          </p:cNvPr>
          <p:cNvSpPr txBox="1"/>
          <p:nvPr/>
        </p:nvSpPr>
        <p:spPr>
          <a:xfrm>
            <a:off x="190460" y="1859340"/>
            <a:ext cx="8081343" cy="2677656"/>
          </a:xfrm>
          <a:prstGeom prst="rect">
            <a:avLst/>
          </a:prstGeom>
          <a:noFill/>
        </p:spPr>
        <p:txBody>
          <a:bodyPr wrap="square">
            <a:spAutoFit/>
          </a:bodyPr>
          <a:lstStyle/>
          <a:p>
            <a:pPr rtl="0">
              <a:buNone/>
            </a:pPr>
            <a:r>
              <a:rPr lang="en-GB" sz="2400" b="1" i="0" u="none" strike="noStrike" dirty="0">
                <a:solidFill>
                  <a:srgbClr val="000000"/>
                </a:solidFill>
                <a:effectLst/>
                <a:latin typeface="Calibri" panose="020F0502020204030204" pitchFamily="34" charset="0"/>
              </a:rPr>
              <a:t>Identify </a:t>
            </a:r>
            <a:r>
              <a:rPr lang="en-GB" sz="2400" b="0" i="0" u="none" strike="noStrike" dirty="0">
                <a:solidFill>
                  <a:srgbClr val="000000"/>
                </a:solidFill>
                <a:effectLst/>
                <a:latin typeface="Calibri" panose="020F0502020204030204" pitchFamily="34" charset="0"/>
              </a:rPr>
              <a:t>challenges in adopting Open Science practices and </a:t>
            </a:r>
            <a:r>
              <a:rPr lang="en-GB" sz="2400" b="1" i="0" u="none" strike="noStrike" dirty="0">
                <a:solidFill>
                  <a:srgbClr val="000000"/>
                </a:solidFill>
                <a:effectLst/>
                <a:latin typeface="Calibri" panose="020F0502020204030204" pitchFamily="34" charset="0"/>
              </a:rPr>
              <a:t>examine</a:t>
            </a:r>
            <a:r>
              <a:rPr lang="en-GB" sz="2400" b="0" i="0" u="none" strike="noStrike" dirty="0">
                <a:solidFill>
                  <a:srgbClr val="000000"/>
                </a:solidFill>
                <a:effectLst/>
                <a:latin typeface="Calibri" panose="020F0502020204030204" pitchFamily="34" charset="0"/>
              </a:rPr>
              <a:t> reasons behind them to raise awareness of possible barriers you and others may encounter.</a:t>
            </a:r>
            <a:endParaRPr lang="en-GB" sz="2400" dirty="0">
              <a:effectLst/>
            </a:endParaRPr>
          </a:p>
          <a:p>
            <a:pPr>
              <a:buNone/>
            </a:pPr>
            <a:br>
              <a:rPr lang="en-GB" sz="2400" dirty="0"/>
            </a:br>
            <a:r>
              <a:rPr lang="en-GB" sz="2400" dirty="0"/>
              <a:t>To </a:t>
            </a:r>
            <a:r>
              <a:rPr lang="en-GB" sz="2400" b="1" dirty="0"/>
              <a:t>distinguish </a:t>
            </a:r>
            <a:r>
              <a:rPr lang="en-GB" sz="2400" b="0" i="0" u="none" strike="noStrike" dirty="0">
                <a:solidFill>
                  <a:srgbClr val="000000"/>
                </a:solidFill>
                <a:effectLst/>
                <a:latin typeface="Calibri" panose="020F0502020204030204" pitchFamily="34" charset="0"/>
              </a:rPr>
              <a:t>between challenges according to whether they occur at individual, interpersonal, institutional or systemic levels to practice a key problem-solving leadership skill.</a:t>
            </a:r>
            <a:endParaRPr lang="en-US" sz="2400" dirty="0"/>
          </a:p>
        </p:txBody>
      </p:sp>
      <p:pic>
        <p:nvPicPr>
          <p:cNvPr id="8" name="Graphic 7" descr="Bullseye with solid fill">
            <a:extLst>
              <a:ext uri="{FF2B5EF4-FFF2-40B4-BE49-F238E27FC236}">
                <a16:creationId xmlns:a16="http://schemas.microsoft.com/office/drawing/2014/main" id="{0BE33FA1-32C9-733A-2497-1DF9A7E6E2E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433460" y="1909189"/>
            <a:ext cx="2743200" cy="2743200"/>
          </a:xfrm>
          <a:prstGeom prst="rect">
            <a:avLst/>
          </a:prstGeom>
        </p:spPr>
      </p:pic>
    </p:spTree>
    <p:extLst>
      <p:ext uri="{BB962C8B-B14F-4D97-AF65-F5344CB8AC3E}">
        <p14:creationId xmlns:p14="http://schemas.microsoft.com/office/powerpoint/2010/main" val="42806966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04842-B246-4D83-0C89-D4E0F30B44B7}"/>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83A7F3AE-4791-1F2A-DF13-CE633EE946C5}"/>
              </a:ext>
            </a:extLst>
          </p:cNvPr>
          <p:cNvGrpSpPr/>
          <p:nvPr/>
        </p:nvGrpSpPr>
        <p:grpSpPr>
          <a:xfrm>
            <a:off x="10704849" y="6564312"/>
            <a:ext cx="1362075" cy="273690"/>
            <a:chOff x="19317" y="2690018"/>
            <a:chExt cx="11784755" cy="2025180"/>
          </a:xfrm>
        </p:grpSpPr>
        <p:pic>
          <p:nvPicPr>
            <p:cNvPr id="7" name="Picture 2">
              <a:extLst>
                <a:ext uri="{FF2B5EF4-FFF2-40B4-BE49-F238E27FC236}">
                  <a16:creationId xmlns:a16="http://schemas.microsoft.com/office/drawing/2014/main" id="{479B9B46-7F73-4DCB-270A-99D602A1EF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0744BF68-08FF-61D5-2A18-C33A412F47D9}"/>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15" name="Title 1">
            <a:extLst>
              <a:ext uri="{FF2B5EF4-FFF2-40B4-BE49-F238E27FC236}">
                <a16:creationId xmlns:a16="http://schemas.microsoft.com/office/drawing/2014/main" id="{19F7030E-B08F-083E-DE32-8848E8B4C3CB}"/>
              </a:ext>
            </a:extLst>
          </p:cNvPr>
          <p:cNvSpPr txBox="1">
            <a:spLocks/>
          </p:cNvSpPr>
          <p:nvPr/>
        </p:nvSpPr>
        <p:spPr>
          <a:xfrm>
            <a:off x="0" y="0"/>
            <a:ext cx="12192000" cy="899067"/>
          </a:xfrm>
          <a:prstGeom prst="rect">
            <a:avLst/>
          </a:prstGeom>
          <a:noFill/>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Working through the 5A framework for navigating challenges  </a:t>
            </a:r>
          </a:p>
        </p:txBody>
      </p:sp>
      <p:sp>
        <p:nvSpPr>
          <p:cNvPr id="2" name="Slide Number Placeholder 1">
            <a:extLst>
              <a:ext uri="{FF2B5EF4-FFF2-40B4-BE49-F238E27FC236}">
                <a16:creationId xmlns:a16="http://schemas.microsoft.com/office/drawing/2014/main" id="{9E2929C7-CE8E-63D0-80B0-11AA81D308B1}"/>
              </a:ext>
            </a:extLst>
          </p:cNvPr>
          <p:cNvSpPr>
            <a:spLocks noGrp="1"/>
          </p:cNvSpPr>
          <p:nvPr>
            <p:ph type="sldNum" sz="quarter" idx="12"/>
          </p:nvPr>
        </p:nvSpPr>
        <p:spPr/>
        <p:txBody>
          <a:bodyPr/>
          <a:lstStyle/>
          <a:p>
            <a:fld id="{D292B180-B274-DE43-B36F-C827C7616C05}" type="slidenum">
              <a:rPr lang="en-US" smtClean="0"/>
              <a:t>5</a:t>
            </a:fld>
            <a:endParaRPr lang="en-US"/>
          </a:p>
        </p:txBody>
      </p:sp>
      <p:sp>
        <p:nvSpPr>
          <p:cNvPr id="20" name="TextBox 19">
            <a:extLst>
              <a:ext uri="{FF2B5EF4-FFF2-40B4-BE49-F238E27FC236}">
                <a16:creationId xmlns:a16="http://schemas.microsoft.com/office/drawing/2014/main" id="{0EAF69E1-10C2-48FD-0574-1963D94D3117}"/>
              </a:ext>
            </a:extLst>
          </p:cNvPr>
          <p:cNvSpPr txBox="1"/>
          <p:nvPr/>
        </p:nvSpPr>
        <p:spPr>
          <a:xfrm>
            <a:off x="274533" y="4334160"/>
            <a:ext cx="1943100" cy="461665"/>
          </a:xfrm>
          <a:prstGeom prst="rect">
            <a:avLst/>
          </a:prstGeom>
          <a:solidFill>
            <a:srgbClr val="FFC000">
              <a:alpha val="52208"/>
            </a:srgbClr>
          </a:solidFill>
        </p:spPr>
        <p:txBody>
          <a:bodyPr wrap="square">
            <a:spAutoFit/>
          </a:bodyPr>
          <a:lstStyle/>
          <a:p>
            <a:pPr algn="ctr"/>
            <a:r>
              <a:rPr lang="en-GB" sz="2400" b="1" i="0" u="none" strike="noStrike" dirty="0">
                <a:solidFill>
                  <a:srgbClr val="000000"/>
                </a:solidFill>
                <a:effectLst/>
                <a:latin typeface="Calibri" panose="020F0502020204030204" pitchFamily="34" charset="0"/>
              </a:rPr>
              <a:t>Awareness</a:t>
            </a:r>
            <a:endParaRPr lang="en-US" sz="2400" dirty="0"/>
          </a:p>
        </p:txBody>
      </p:sp>
      <p:sp>
        <p:nvSpPr>
          <p:cNvPr id="22" name="TextBox 21">
            <a:extLst>
              <a:ext uri="{FF2B5EF4-FFF2-40B4-BE49-F238E27FC236}">
                <a16:creationId xmlns:a16="http://schemas.microsoft.com/office/drawing/2014/main" id="{8A869D80-1066-D8B0-C6C3-1AF28F095D3B}"/>
              </a:ext>
            </a:extLst>
          </p:cNvPr>
          <p:cNvSpPr txBox="1"/>
          <p:nvPr/>
        </p:nvSpPr>
        <p:spPr>
          <a:xfrm>
            <a:off x="2403221" y="4318937"/>
            <a:ext cx="2062459" cy="461665"/>
          </a:xfrm>
          <a:prstGeom prst="rect">
            <a:avLst/>
          </a:prstGeom>
          <a:solidFill>
            <a:srgbClr val="FFC000">
              <a:alpha val="52230"/>
            </a:srgbClr>
          </a:solidFill>
        </p:spPr>
        <p:txBody>
          <a:bodyPr wrap="square">
            <a:spAutoFit/>
          </a:bodyPr>
          <a:lstStyle/>
          <a:p>
            <a:pPr algn="ctr"/>
            <a:r>
              <a:rPr lang="en-GB" sz="2400" b="1" dirty="0">
                <a:solidFill>
                  <a:srgbClr val="000000"/>
                </a:solidFill>
                <a:latin typeface="Calibri" panose="020F0502020204030204" pitchFamily="34" charset="0"/>
              </a:rPr>
              <a:t>Acknowledge</a:t>
            </a:r>
          </a:p>
        </p:txBody>
      </p:sp>
      <p:sp>
        <p:nvSpPr>
          <p:cNvPr id="26" name="TextBox 25">
            <a:extLst>
              <a:ext uri="{FF2B5EF4-FFF2-40B4-BE49-F238E27FC236}">
                <a16:creationId xmlns:a16="http://schemas.microsoft.com/office/drawing/2014/main" id="{BC61ED87-A4A4-F5E4-2EAA-43DF2F0D3410}"/>
              </a:ext>
            </a:extLst>
          </p:cNvPr>
          <p:cNvSpPr txBox="1"/>
          <p:nvPr/>
        </p:nvSpPr>
        <p:spPr>
          <a:xfrm>
            <a:off x="4632555" y="4309244"/>
            <a:ext cx="2219349" cy="461665"/>
          </a:xfrm>
          <a:prstGeom prst="rect">
            <a:avLst/>
          </a:prstGeom>
          <a:solidFill>
            <a:srgbClr val="FFC000">
              <a:alpha val="52230"/>
            </a:srgbClr>
          </a:solidFill>
        </p:spPr>
        <p:txBody>
          <a:bodyPr wrap="square">
            <a:spAutoFit/>
          </a:bodyPr>
          <a:lstStyle/>
          <a:p>
            <a:pPr algn="ctr"/>
            <a:r>
              <a:rPr lang="en-GB" sz="2400" b="1" dirty="0">
                <a:solidFill>
                  <a:srgbClr val="000000"/>
                </a:solidFill>
                <a:latin typeface="Calibri" panose="020F0502020204030204" pitchFamily="34" charset="0"/>
              </a:rPr>
              <a:t>Agency</a:t>
            </a:r>
            <a:endParaRPr lang="en-US" sz="2400" dirty="0"/>
          </a:p>
        </p:txBody>
      </p:sp>
      <p:sp>
        <p:nvSpPr>
          <p:cNvPr id="28" name="TextBox 27">
            <a:extLst>
              <a:ext uri="{FF2B5EF4-FFF2-40B4-BE49-F238E27FC236}">
                <a16:creationId xmlns:a16="http://schemas.microsoft.com/office/drawing/2014/main" id="{F383B609-FA2C-CFC7-F1F2-297C7199D874}"/>
              </a:ext>
            </a:extLst>
          </p:cNvPr>
          <p:cNvSpPr txBox="1"/>
          <p:nvPr/>
        </p:nvSpPr>
        <p:spPr>
          <a:xfrm>
            <a:off x="7018779" y="4309244"/>
            <a:ext cx="2641744" cy="1200329"/>
          </a:xfrm>
          <a:prstGeom prst="rect">
            <a:avLst/>
          </a:prstGeom>
          <a:solidFill>
            <a:srgbClr val="FFC000">
              <a:alpha val="52230"/>
            </a:srgbClr>
          </a:solidFill>
        </p:spPr>
        <p:txBody>
          <a:bodyPr wrap="square">
            <a:spAutoFit/>
          </a:bodyPr>
          <a:lstStyle/>
          <a:p>
            <a:pPr algn="ctr"/>
            <a:r>
              <a:rPr lang="en-GB" sz="2400" b="1" dirty="0">
                <a:solidFill>
                  <a:srgbClr val="000000"/>
                </a:solidFill>
                <a:latin typeface="Calibri" panose="020F0502020204030204" pitchFamily="34" charset="0"/>
              </a:rPr>
              <a:t>Action (address, advocate, approach others)</a:t>
            </a:r>
            <a:endParaRPr lang="en-US" sz="2400" dirty="0"/>
          </a:p>
        </p:txBody>
      </p:sp>
      <p:sp>
        <p:nvSpPr>
          <p:cNvPr id="30" name="TextBox 29">
            <a:extLst>
              <a:ext uri="{FF2B5EF4-FFF2-40B4-BE49-F238E27FC236}">
                <a16:creationId xmlns:a16="http://schemas.microsoft.com/office/drawing/2014/main" id="{C09EF1E4-00F6-D004-1C1C-F6B034AA7CC8}"/>
              </a:ext>
            </a:extLst>
          </p:cNvPr>
          <p:cNvSpPr txBox="1"/>
          <p:nvPr/>
        </p:nvSpPr>
        <p:spPr>
          <a:xfrm>
            <a:off x="9769863" y="4310265"/>
            <a:ext cx="2297061" cy="461665"/>
          </a:xfrm>
          <a:prstGeom prst="rect">
            <a:avLst/>
          </a:prstGeom>
          <a:solidFill>
            <a:srgbClr val="FFC000">
              <a:alpha val="52230"/>
            </a:srgbClr>
          </a:solidFill>
        </p:spPr>
        <p:txBody>
          <a:bodyPr wrap="square">
            <a:spAutoFit/>
          </a:bodyPr>
          <a:lstStyle/>
          <a:p>
            <a:pPr algn="ctr"/>
            <a:r>
              <a:rPr lang="en-GB" sz="2400" b="1" dirty="0">
                <a:solidFill>
                  <a:srgbClr val="000000"/>
                </a:solidFill>
                <a:latin typeface="Calibri" panose="020F0502020204030204" pitchFamily="34" charset="0"/>
              </a:rPr>
              <a:t>Assess</a:t>
            </a:r>
            <a:endParaRPr lang="en-US" sz="2400" dirty="0"/>
          </a:p>
        </p:txBody>
      </p:sp>
      <p:grpSp>
        <p:nvGrpSpPr>
          <p:cNvPr id="39" name="Group 38">
            <a:extLst>
              <a:ext uri="{FF2B5EF4-FFF2-40B4-BE49-F238E27FC236}">
                <a16:creationId xmlns:a16="http://schemas.microsoft.com/office/drawing/2014/main" id="{8654B697-8586-EFCA-0A97-8690E00A0924}"/>
              </a:ext>
            </a:extLst>
          </p:cNvPr>
          <p:cNvGrpSpPr/>
          <p:nvPr/>
        </p:nvGrpSpPr>
        <p:grpSpPr>
          <a:xfrm>
            <a:off x="10021581" y="2333114"/>
            <a:ext cx="1646013" cy="1666134"/>
            <a:chOff x="9256513" y="1773566"/>
            <a:chExt cx="1646013" cy="1666134"/>
          </a:xfrm>
        </p:grpSpPr>
        <p:sp>
          <p:nvSpPr>
            <p:cNvPr id="18" name="Oval 17">
              <a:extLst>
                <a:ext uri="{FF2B5EF4-FFF2-40B4-BE49-F238E27FC236}">
                  <a16:creationId xmlns:a16="http://schemas.microsoft.com/office/drawing/2014/main" id="{0D394F7F-A99B-CA23-FD9F-AEA578AC35B9}"/>
                </a:ext>
              </a:extLst>
            </p:cNvPr>
            <p:cNvSpPr/>
            <p:nvPr/>
          </p:nvSpPr>
          <p:spPr>
            <a:xfrm>
              <a:off x="9256514" y="1773566"/>
              <a:ext cx="1646012" cy="1666134"/>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4" name="Graphic 33" descr="Checkbox Ticked with solid fill">
              <a:extLst>
                <a:ext uri="{FF2B5EF4-FFF2-40B4-BE49-F238E27FC236}">
                  <a16:creationId xmlns:a16="http://schemas.microsoft.com/office/drawing/2014/main" id="{0C4389BD-5C28-E29B-0172-27E154D9450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256513" y="1787012"/>
              <a:ext cx="1641987" cy="1641987"/>
            </a:xfrm>
            <a:prstGeom prst="rect">
              <a:avLst/>
            </a:prstGeom>
          </p:spPr>
        </p:pic>
      </p:grpSp>
      <p:grpSp>
        <p:nvGrpSpPr>
          <p:cNvPr id="40" name="Group 39">
            <a:extLst>
              <a:ext uri="{FF2B5EF4-FFF2-40B4-BE49-F238E27FC236}">
                <a16:creationId xmlns:a16="http://schemas.microsoft.com/office/drawing/2014/main" id="{24D87D8E-A8CD-44F8-377F-E0BFC12B5403}"/>
              </a:ext>
            </a:extLst>
          </p:cNvPr>
          <p:cNvGrpSpPr/>
          <p:nvPr/>
        </p:nvGrpSpPr>
        <p:grpSpPr>
          <a:xfrm>
            <a:off x="7503146" y="2276569"/>
            <a:ext cx="1641987" cy="1666134"/>
            <a:chOff x="6606024" y="1721448"/>
            <a:chExt cx="1641987" cy="1666134"/>
          </a:xfrm>
        </p:grpSpPr>
        <p:sp>
          <p:nvSpPr>
            <p:cNvPr id="16" name="Oval 15">
              <a:extLst>
                <a:ext uri="{FF2B5EF4-FFF2-40B4-BE49-F238E27FC236}">
                  <a16:creationId xmlns:a16="http://schemas.microsoft.com/office/drawing/2014/main" id="{39A269E5-ED21-7F14-81E9-55F1F0F781C3}"/>
                </a:ext>
              </a:extLst>
            </p:cNvPr>
            <p:cNvSpPr/>
            <p:nvPr/>
          </p:nvSpPr>
          <p:spPr>
            <a:xfrm>
              <a:off x="6606024" y="1721448"/>
              <a:ext cx="1641987" cy="1666134"/>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6" name="Graphic 35" descr="Clapper board with solid fill">
              <a:extLst>
                <a:ext uri="{FF2B5EF4-FFF2-40B4-BE49-F238E27FC236}">
                  <a16:creationId xmlns:a16="http://schemas.microsoft.com/office/drawing/2014/main" id="{49DA0C14-6547-B576-A75C-DBA73BF267F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824209" y="1910345"/>
              <a:ext cx="1151526" cy="1151526"/>
            </a:xfrm>
            <a:prstGeom prst="rect">
              <a:avLst/>
            </a:prstGeom>
          </p:spPr>
        </p:pic>
      </p:grpSp>
      <p:grpSp>
        <p:nvGrpSpPr>
          <p:cNvPr id="41" name="Group 40">
            <a:extLst>
              <a:ext uri="{FF2B5EF4-FFF2-40B4-BE49-F238E27FC236}">
                <a16:creationId xmlns:a16="http://schemas.microsoft.com/office/drawing/2014/main" id="{6DF11B79-9008-0614-AFC0-6124028988A4}"/>
              </a:ext>
            </a:extLst>
          </p:cNvPr>
          <p:cNvGrpSpPr/>
          <p:nvPr/>
        </p:nvGrpSpPr>
        <p:grpSpPr>
          <a:xfrm>
            <a:off x="4984711" y="2284883"/>
            <a:ext cx="1641987" cy="1614426"/>
            <a:chOff x="4435504" y="1964618"/>
            <a:chExt cx="1641987" cy="1614426"/>
          </a:xfrm>
        </p:grpSpPr>
        <p:sp>
          <p:nvSpPr>
            <p:cNvPr id="14" name="Oval 13">
              <a:extLst>
                <a:ext uri="{FF2B5EF4-FFF2-40B4-BE49-F238E27FC236}">
                  <a16:creationId xmlns:a16="http://schemas.microsoft.com/office/drawing/2014/main" id="{F402F351-BBEC-4B27-4F50-27B1DA859329}"/>
                </a:ext>
              </a:extLst>
            </p:cNvPr>
            <p:cNvSpPr/>
            <p:nvPr/>
          </p:nvSpPr>
          <p:spPr>
            <a:xfrm>
              <a:off x="4435504" y="1964618"/>
              <a:ext cx="1641987" cy="161442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Graphic 37" descr="User with solid fill">
              <a:extLst>
                <a:ext uri="{FF2B5EF4-FFF2-40B4-BE49-F238E27FC236}">
                  <a16:creationId xmlns:a16="http://schemas.microsoft.com/office/drawing/2014/main" id="{E23620C7-A91E-91B8-1D5A-6EF8D30AF5B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645029" y="2134541"/>
              <a:ext cx="1196343" cy="1196343"/>
            </a:xfrm>
            <a:prstGeom prst="rect">
              <a:avLst/>
            </a:prstGeom>
          </p:spPr>
        </p:pic>
      </p:grpSp>
      <p:grpSp>
        <p:nvGrpSpPr>
          <p:cNvPr id="48" name="Group 47">
            <a:extLst>
              <a:ext uri="{FF2B5EF4-FFF2-40B4-BE49-F238E27FC236}">
                <a16:creationId xmlns:a16="http://schemas.microsoft.com/office/drawing/2014/main" id="{36949AD0-9708-C332-5086-B9F225116FFA}"/>
              </a:ext>
            </a:extLst>
          </p:cNvPr>
          <p:cNvGrpSpPr/>
          <p:nvPr/>
        </p:nvGrpSpPr>
        <p:grpSpPr>
          <a:xfrm>
            <a:off x="379245" y="2259289"/>
            <a:ext cx="1641987" cy="1614426"/>
            <a:chOff x="316947" y="2007971"/>
            <a:chExt cx="1641987" cy="1614426"/>
          </a:xfrm>
        </p:grpSpPr>
        <p:sp>
          <p:nvSpPr>
            <p:cNvPr id="42" name="Oval 41">
              <a:extLst>
                <a:ext uri="{FF2B5EF4-FFF2-40B4-BE49-F238E27FC236}">
                  <a16:creationId xmlns:a16="http://schemas.microsoft.com/office/drawing/2014/main" id="{8DB83884-3284-3BCE-A91C-AD2170F68D31}"/>
                </a:ext>
              </a:extLst>
            </p:cNvPr>
            <p:cNvSpPr/>
            <p:nvPr/>
          </p:nvSpPr>
          <p:spPr>
            <a:xfrm>
              <a:off x="316947" y="2007971"/>
              <a:ext cx="1641987" cy="161442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4" name="Graphic 43" descr="Magnifying glass with solid fill">
              <a:extLst>
                <a:ext uri="{FF2B5EF4-FFF2-40B4-BE49-F238E27FC236}">
                  <a16:creationId xmlns:a16="http://schemas.microsoft.com/office/drawing/2014/main" id="{1928CA0F-FD72-9076-99BC-B93A424FEE2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37761" y="2261216"/>
              <a:ext cx="1080886" cy="1080886"/>
            </a:xfrm>
            <a:prstGeom prst="rect">
              <a:avLst/>
            </a:prstGeom>
          </p:spPr>
        </p:pic>
      </p:grpSp>
      <p:grpSp>
        <p:nvGrpSpPr>
          <p:cNvPr id="47" name="Group 46">
            <a:extLst>
              <a:ext uri="{FF2B5EF4-FFF2-40B4-BE49-F238E27FC236}">
                <a16:creationId xmlns:a16="http://schemas.microsoft.com/office/drawing/2014/main" id="{557214DD-A722-53A1-0C30-28D304F517BB}"/>
              </a:ext>
            </a:extLst>
          </p:cNvPr>
          <p:cNvGrpSpPr/>
          <p:nvPr/>
        </p:nvGrpSpPr>
        <p:grpSpPr>
          <a:xfrm>
            <a:off x="2578276" y="2290688"/>
            <a:ext cx="1641987" cy="1614426"/>
            <a:chOff x="2627760" y="2015531"/>
            <a:chExt cx="1641987" cy="1614426"/>
          </a:xfrm>
        </p:grpSpPr>
        <p:sp>
          <p:nvSpPr>
            <p:cNvPr id="13" name="Oval 12">
              <a:extLst>
                <a:ext uri="{FF2B5EF4-FFF2-40B4-BE49-F238E27FC236}">
                  <a16:creationId xmlns:a16="http://schemas.microsoft.com/office/drawing/2014/main" id="{40C86EBC-6E6E-2AED-EF2D-5935BBA8C78E}"/>
                </a:ext>
              </a:extLst>
            </p:cNvPr>
            <p:cNvSpPr/>
            <p:nvPr/>
          </p:nvSpPr>
          <p:spPr>
            <a:xfrm>
              <a:off x="2627760" y="2015531"/>
              <a:ext cx="1641987" cy="161442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6" name="Graphic 45" descr="Thumbs up sign with solid fill">
              <a:extLst>
                <a:ext uri="{FF2B5EF4-FFF2-40B4-BE49-F238E27FC236}">
                  <a16:creationId xmlns:a16="http://schemas.microsoft.com/office/drawing/2014/main" id="{2289487F-F41A-29ED-6617-CC8AB99D2B6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949859" y="2357984"/>
              <a:ext cx="914400" cy="914400"/>
            </a:xfrm>
            <a:prstGeom prst="rect">
              <a:avLst/>
            </a:prstGeom>
          </p:spPr>
        </p:pic>
      </p:grpSp>
      <p:sp>
        <p:nvSpPr>
          <p:cNvPr id="49" name="TextBox 48">
            <a:extLst>
              <a:ext uri="{FF2B5EF4-FFF2-40B4-BE49-F238E27FC236}">
                <a16:creationId xmlns:a16="http://schemas.microsoft.com/office/drawing/2014/main" id="{E216DDE9-D09D-442F-2A93-8C3DBD7460F6}"/>
              </a:ext>
            </a:extLst>
          </p:cNvPr>
          <p:cNvSpPr txBox="1"/>
          <p:nvPr/>
        </p:nvSpPr>
        <p:spPr>
          <a:xfrm>
            <a:off x="274533" y="4785917"/>
            <a:ext cx="1943100" cy="1200329"/>
          </a:xfrm>
          <a:prstGeom prst="rect">
            <a:avLst/>
          </a:prstGeom>
          <a:solidFill>
            <a:srgbClr val="FFC000">
              <a:alpha val="16936"/>
            </a:srgbClr>
          </a:solidFill>
        </p:spPr>
        <p:txBody>
          <a:bodyPr wrap="square" rtlCol="0">
            <a:spAutoFit/>
          </a:bodyPr>
          <a:lstStyle/>
          <a:p>
            <a:r>
              <a:rPr lang="en-US" dirty="0"/>
              <a:t>Noticing challenges in non-judgmental way</a:t>
            </a:r>
          </a:p>
        </p:txBody>
      </p:sp>
      <p:sp>
        <p:nvSpPr>
          <p:cNvPr id="50" name="TextBox 49">
            <a:extLst>
              <a:ext uri="{FF2B5EF4-FFF2-40B4-BE49-F238E27FC236}">
                <a16:creationId xmlns:a16="http://schemas.microsoft.com/office/drawing/2014/main" id="{0985FB09-0386-EED6-5117-8169A4A1453C}"/>
              </a:ext>
            </a:extLst>
          </p:cNvPr>
          <p:cNvSpPr txBox="1"/>
          <p:nvPr/>
        </p:nvSpPr>
        <p:spPr>
          <a:xfrm>
            <a:off x="2403221" y="4785816"/>
            <a:ext cx="2062459" cy="1754326"/>
          </a:xfrm>
          <a:prstGeom prst="rect">
            <a:avLst/>
          </a:prstGeom>
          <a:solidFill>
            <a:srgbClr val="FFC000">
              <a:alpha val="17000"/>
            </a:srgbClr>
          </a:solidFill>
        </p:spPr>
        <p:txBody>
          <a:bodyPr wrap="square" rtlCol="0">
            <a:spAutoFit/>
          </a:bodyPr>
          <a:lstStyle/>
          <a:p>
            <a:r>
              <a:rPr lang="en-US" dirty="0"/>
              <a:t>Naming challenges, recognizing context, multiple perspectives can co-exist</a:t>
            </a:r>
          </a:p>
        </p:txBody>
      </p:sp>
      <p:sp>
        <p:nvSpPr>
          <p:cNvPr id="51" name="TextBox 50">
            <a:extLst>
              <a:ext uri="{FF2B5EF4-FFF2-40B4-BE49-F238E27FC236}">
                <a16:creationId xmlns:a16="http://schemas.microsoft.com/office/drawing/2014/main" id="{8F1AB430-D5BA-6BE9-03B5-C9B962CC78F4}"/>
              </a:ext>
            </a:extLst>
          </p:cNvPr>
          <p:cNvSpPr txBox="1"/>
          <p:nvPr/>
        </p:nvSpPr>
        <p:spPr>
          <a:xfrm>
            <a:off x="4628231" y="4785420"/>
            <a:ext cx="2219349" cy="923330"/>
          </a:xfrm>
          <a:prstGeom prst="rect">
            <a:avLst/>
          </a:prstGeom>
          <a:solidFill>
            <a:srgbClr val="FFC000">
              <a:alpha val="17000"/>
            </a:srgbClr>
          </a:solidFill>
        </p:spPr>
        <p:txBody>
          <a:bodyPr wrap="square" rtlCol="0">
            <a:spAutoFit/>
          </a:bodyPr>
          <a:lstStyle/>
          <a:p>
            <a:r>
              <a:rPr lang="en-US" dirty="0"/>
              <a:t>Identifying where you have influence to act</a:t>
            </a:r>
          </a:p>
        </p:txBody>
      </p:sp>
      <p:sp>
        <p:nvSpPr>
          <p:cNvPr id="52" name="TextBox 51">
            <a:extLst>
              <a:ext uri="{FF2B5EF4-FFF2-40B4-BE49-F238E27FC236}">
                <a16:creationId xmlns:a16="http://schemas.microsoft.com/office/drawing/2014/main" id="{BBB3354C-D693-0C97-3F70-D68351DBDE3F}"/>
              </a:ext>
            </a:extLst>
          </p:cNvPr>
          <p:cNvSpPr txBox="1"/>
          <p:nvPr/>
        </p:nvSpPr>
        <p:spPr>
          <a:xfrm>
            <a:off x="7005075" y="5488739"/>
            <a:ext cx="2650496" cy="1200329"/>
          </a:xfrm>
          <a:prstGeom prst="rect">
            <a:avLst/>
          </a:prstGeom>
          <a:solidFill>
            <a:srgbClr val="FFC000">
              <a:alpha val="17000"/>
            </a:srgbClr>
          </a:solidFill>
        </p:spPr>
        <p:txBody>
          <a:bodyPr wrap="square" rtlCol="0">
            <a:spAutoFit/>
          </a:bodyPr>
          <a:lstStyle/>
          <a:p>
            <a:r>
              <a:rPr lang="en-US" dirty="0"/>
              <a:t>Taking concrete steps towards addressing challenges, connecting with others</a:t>
            </a:r>
          </a:p>
        </p:txBody>
      </p:sp>
      <p:sp>
        <p:nvSpPr>
          <p:cNvPr id="53" name="TextBox 52">
            <a:extLst>
              <a:ext uri="{FF2B5EF4-FFF2-40B4-BE49-F238E27FC236}">
                <a16:creationId xmlns:a16="http://schemas.microsoft.com/office/drawing/2014/main" id="{918D36A1-B8AB-235A-2FC3-68B2CD30AE3F}"/>
              </a:ext>
            </a:extLst>
          </p:cNvPr>
          <p:cNvSpPr txBox="1"/>
          <p:nvPr/>
        </p:nvSpPr>
        <p:spPr>
          <a:xfrm>
            <a:off x="9765971" y="4764826"/>
            <a:ext cx="2297061" cy="1477328"/>
          </a:xfrm>
          <a:prstGeom prst="rect">
            <a:avLst/>
          </a:prstGeom>
          <a:solidFill>
            <a:srgbClr val="FFC000">
              <a:alpha val="17000"/>
            </a:srgbClr>
          </a:solidFill>
        </p:spPr>
        <p:txBody>
          <a:bodyPr wrap="square" rtlCol="0">
            <a:spAutoFit/>
          </a:bodyPr>
          <a:lstStyle/>
          <a:p>
            <a:r>
              <a:rPr lang="en-US" dirty="0"/>
              <a:t>Reflecting on actions taken: were they effective? Has my sphere of influence changed?</a:t>
            </a:r>
          </a:p>
        </p:txBody>
      </p:sp>
      <p:sp>
        <p:nvSpPr>
          <p:cNvPr id="54" name="Right Brace 53">
            <a:extLst>
              <a:ext uri="{FF2B5EF4-FFF2-40B4-BE49-F238E27FC236}">
                <a16:creationId xmlns:a16="http://schemas.microsoft.com/office/drawing/2014/main" id="{CA62BD3B-BCFF-76C0-B08A-0BF2DDA971CF}"/>
              </a:ext>
            </a:extLst>
          </p:cNvPr>
          <p:cNvSpPr/>
          <p:nvPr/>
        </p:nvSpPr>
        <p:spPr>
          <a:xfrm rot="16200000">
            <a:off x="3097758" y="-1015467"/>
            <a:ext cx="560296" cy="5555693"/>
          </a:xfrm>
          <a:prstGeom prst="rightBrace">
            <a:avLst>
              <a:gd name="adj1" fmla="val 15229"/>
              <a:gd name="adj2" fmla="val 48553"/>
            </a:avLst>
          </a:prstGeom>
          <a:ln w="50800">
            <a:solidFill>
              <a:schemeClr val="tx1">
                <a:alpha val="47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55" name="Right Brace 54">
            <a:extLst>
              <a:ext uri="{FF2B5EF4-FFF2-40B4-BE49-F238E27FC236}">
                <a16:creationId xmlns:a16="http://schemas.microsoft.com/office/drawing/2014/main" id="{F0680B5D-44A8-F7AC-0FF2-644B2AF24512}"/>
              </a:ext>
            </a:extLst>
          </p:cNvPr>
          <p:cNvSpPr/>
          <p:nvPr/>
        </p:nvSpPr>
        <p:spPr>
          <a:xfrm rot="16200000">
            <a:off x="7963700" y="731149"/>
            <a:ext cx="560296" cy="2062461"/>
          </a:xfrm>
          <a:prstGeom prst="rightBrace">
            <a:avLst>
              <a:gd name="adj1" fmla="val 15229"/>
              <a:gd name="adj2" fmla="val 48553"/>
            </a:avLst>
          </a:prstGeom>
          <a:ln w="50800">
            <a:solidFill>
              <a:schemeClr val="tx1">
                <a:alpha val="47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57" name="TextBox 56">
            <a:extLst>
              <a:ext uri="{FF2B5EF4-FFF2-40B4-BE49-F238E27FC236}">
                <a16:creationId xmlns:a16="http://schemas.microsoft.com/office/drawing/2014/main" id="{7ABCD029-89F7-4D64-A20B-D5079F29A3AD}"/>
              </a:ext>
            </a:extLst>
          </p:cNvPr>
          <p:cNvSpPr txBox="1"/>
          <p:nvPr/>
        </p:nvSpPr>
        <p:spPr>
          <a:xfrm>
            <a:off x="2578276" y="940432"/>
            <a:ext cx="1810111" cy="461665"/>
          </a:xfrm>
          <a:prstGeom prst="rect">
            <a:avLst/>
          </a:prstGeom>
          <a:noFill/>
        </p:spPr>
        <p:txBody>
          <a:bodyPr wrap="none" rtlCol="0">
            <a:spAutoFit/>
          </a:bodyPr>
          <a:lstStyle/>
          <a:p>
            <a:r>
              <a:rPr lang="en-US" sz="2400" dirty="0"/>
              <a:t>This session</a:t>
            </a:r>
          </a:p>
        </p:txBody>
      </p:sp>
      <p:sp>
        <p:nvSpPr>
          <p:cNvPr id="58" name="TextBox 57">
            <a:extLst>
              <a:ext uri="{FF2B5EF4-FFF2-40B4-BE49-F238E27FC236}">
                <a16:creationId xmlns:a16="http://schemas.microsoft.com/office/drawing/2014/main" id="{6AEDA7CD-D527-1684-AE75-4E442450671E}"/>
              </a:ext>
            </a:extLst>
          </p:cNvPr>
          <p:cNvSpPr txBox="1"/>
          <p:nvPr/>
        </p:nvSpPr>
        <p:spPr>
          <a:xfrm>
            <a:off x="7471468" y="912379"/>
            <a:ext cx="1880771" cy="461665"/>
          </a:xfrm>
          <a:prstGeom prst="rect">
            <a:avLst/>
          </a:prstGeom>
          <a:noFill/>
        </p:spPr>
        <p:txBody>
          <a:bodyPr wrap="none" rtlCol="0">
            <a:spAutoFit/>
          </a:bodyPr>
          <a:lstStyle/>
          <a:p>
            <a:r>
              <a:rPr lang="en-US" sz="2400" dirty="0"/>
              <a:t>Next session</a:t>
            </a:r>
          </a:p>
        </p:txBody>
      </p:sp>
      <p:sp>
        <p:nvSpPr>
          <p:cNvPr id="59" name="Right Brace 58">
            <a:extLst>
              <a:ext uri="{FF2B5EF4-FFF2-40B4-BE49-F238E27FC236}">
                <a16:creationId xmlns:a16="http://schemas.microsoft.com/office/drawing/2014/main" id="{CE1C9183-436C-6E9A-5AE2-52BEA6DD2F74}"/>
              </a:ext>
            </a:extLst>
          </p:cNvPr>
          <p:cNvSpPr/>
          <p:nvPr/>
        </p:nvSpPr>
        <p:spPr>
          <a:xfrm rot="16200000">
            <a:off x="10604445" y="748310"/>
            <a:ext cx="560296" cy="2062461"/>
          </a:xfrm>
          <a:prstGeom prst="rightBrace">
            <a:avLst>
              <a:gd name="adj1" fmla="val 15229"/>
              <a:gd name="adj2" fmla="val 48553"/>
            </a:avLst>
          </a:prstGeom>
          <a:ln w="50800">
            <a:solidFill>
              <a:schemeClr val="tx1">
                <a:alpha val="47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0" name="TextBox 59">
            <a:extLst>
              <a:ext uri="{FF2B5EF4-FFF2-40B4-BE49-F238E27FC236}">
                <a16:creationId xmlns:a16="http://schemas.microsoft.com/office/drawing/2014/main" id="{530938AE-E29A-265C-7520-06D0BBC87F88}"/>
              </a:ext>
            </a:extLst>
          </p:cNvPr>
          <p:cNvSpPr txBox="1"/>
          <p:nvPr/>
        </p:nvSpPr>
        <p:spPr>
          <a:xfrm>
            <a:off x="9760327" y="834463"/>
            <a:ext cx="2674993" cy="461665"/>
          </a:xfrm>
          <a:prstGeom prst="rect">
            <a:avLst/>
          </a:prstGeom>
          <a:noFill/>
        </p:spPr>
        <p:txBody>
          <a:bodyPr wrap="square" rtlCol="0">
            <a:spAutoFit/>
          </a:bodyPr>
          <a:lstStyle/>
          <a:p>
            <a:r>
              <a:rPr lang="en-US" sz="2400" dirty="0"/>
              <a:t>See resources</a:t>
            </a:r>
          </a:p>
        </p:txBody>
      </p:sp>
    </p:spTree>
    <p:extLst>
      <p:ext uri="{BB962C8B-B14F-4D97-AF65-F5344CB8AC3E}">
        <p14:creationId xmlns:p14="http://schemas.microsoft.com/office/powerpoint/2010/main" val="34877574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2705F-C33D-829F-5C87-8CCE6F36D8E5}"/>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AC17CD4A-B867-C0F1-D5B0-79435A8B7452}"/>
              </a:ext>
            </a:extLst>
          </p:cNvPr>
          <p:cNvGrpSpPr/>
          <p:nvPr/>
        </p:nvGrpSpPr>
        <p:grpSpPr>
          <a:xfrm>
            <a:off x="10704849" y="6564312"/>
            <a:ext cx="1362075" cy="273690"/>
            <a:chOff x="19317" y="2690018"/>
            <a:chExt cx="11784755" cy="2025180"/>
          </a:xfrm>
        </p:grpSpPr>
        <p:pic>
          <p:nvPicPr>
            <p:cNvPr id="7" name="Picture 2">
              <a:extLst>
                <a:ext uri="{FF2B5EF4-FFF2-40B4-BE49-F238E27FC236}">
                  <a16:creationId xmlns:a16="http://schemas.microsoft.com/office/drawing/2014/main" id="{535740A5-21C1-DA32-367E-9D2D6FD3A3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2321B47A-E40E-5475-3C44-90C775D33ADB}"/>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15" name="Title 1">
            <a:extLst>
              <a:ext uri="{FF2B5EF4-FFF2-40B4-BE49-F238E27FC236}">
                <a16:creationId xmlns:a16="http://schemas.microsoft.com/office/drawing/2014/main" id="{FFE9B24B-C574-2C03-D57F-41AD9E18DE6A}"/>
              </a:ext>
            </a:extLst>
          </p:cNvPr>
          <p:cNvSpPr txBox="1">
            <a:spLocks/>
          </p:cNvSpPr>
          <p:nvPr/>
        </p:nvSpPr>
        <p:spPr>
          <a:xfrm>
            <a:off x="0" y="0"/>
            <a:ext cx="12192000" cy="899067"/>
          </a:xfrm>
          <a:prstGeom prst="rect">
            <a:avLst/>
          </a:prstGeom>
          <a:noFill/>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Working through the 5A framework for navigating challenges  </a:t>
            </a:r>
          </a:p>
        </p:txBody>
      </p:sp>
      <p:sp>
        <p:nvSpPr>
          <p:cNvPr id="2" name="Slide Number Placeholder 1">
            <a:extLst>
              <a:ext uri="{FF2B5EF4-FFF2-40B4-BE49-F238E27FC236}">
                <a16:creationId xmlns:a16="http://schemas.microsoft.com/office/drawing/2014/main" id="{6A5EE82A-6D40-7DC0-E550-29EC02AA910F}"/>
              </a:ext>
            </a:extLst>
          </p:cNvPr>
          <p:cNvSpPr>
            <a:spLocks noGrp="1"/>
          </p:cNvSpPr>
          <p:nvPr>
            <p:ph type="sldNum" sz="quarter" idx="12"/>
          </p:nvPr>
        </p:nvSpPr>
        <p:spPr/>
        <p:txBody>
          <a:bodyPr/>
          <a:lstStyle/>
          <a:p>
            <a:fld id="{D292B180-B274-DE43-B36F-C827C7616C05}" type="slidenum">
              <a:rPr lang="en-US" smtClean="0"/>
              <a:t>6</a:t>
            </a:fld>
            <a:endParaRPr lang="en-US"/>
          </a:p>
        </p:txBody>
      </p:sp>
      <p:sp>
        <p:nvSpPr>
          <p:cNvPr id="20" name="TextBox 19">
            <a:extLst>
              <a:ext uri="{FF2B5EF4-FFF2-40B4-BE49-F238E27FC236}">
                <a16:creationId xmlns:a16="http://schemas.microsoft.com/office/drawing/2014/main" id="{E07447EA-5F61-4E79-23DE-21268AC1CC93}"/>
              </a:ext>
            </a:extLst>
          </p:cNvPr>
          <p:cNvSpPr txBox="1"/>
          <p:nvPr/>
        </p:nvSpPr>
        <p:spPr>
          <a:xfrm>
            <a:off x="274533" y="4334160"/>
            <a:ext cx="1943100" cy="461665"/>
          </a:xfrm>
          <a:prstGeom prst="rect">
            <a:avLst/>
          </a:prstGeom>
          <a:solidFill>
            <a:srgbClr val="FFC000">
              <a:alpha val="52208"/>
            </a:srgbClr>
          </a:solidFill>
        </p:spPr>
        <p:txBody>
          <a:bodyPr wrap="square">
            <a:spAutoFit/>
          </a:bodyPr>
          <a:lstStyle/>
          <a:p>
            <a:pPr algn="ctr"/>
            <a:r>
              <a:rPr lang="en-GB" sz="2400" b="1" i="0" u="none" strike="noStrike" dirty="0">
                <a:solidFill>
                  <a:srgbClr val="000000"/>
                </a:solidFill>
                <a:effectLst/>
                <a:latin typeface="Calibri" panose="020F0502020204030204" pitchFamily="34" charset="0"/>
              </a:rPr>
              <a:t>Awareness</a:t>
            </a:r>
            <a:endParaRPr lang="en-US" sz="2400" dirty="0"/>
          </a:p>
        </p:txBody>
      </p:sp>
      <p:sp>
        <p:nvSpPr>
          <p:cNvPr id="22" name="TextBox 21">
            <a:extLst>
              <a:ext uri="{FF2B5EF4-FFF2-40B4-BE49-F238E27FC236}">
                <a16:creationId xmlns:a16="http://schemas.microsoft.com/office/drawing/2014/main" id="{EA3D66C1-1BF5-4F68-7AF1-67670C4F2E7D}"/>
              </a:ext>
            </a:extLst>
          </p:cNvPr>
          <p:cNvSpPr txBox="1"/>
          <p:nvPr/>
        </p:nvSpPr>
        <p:spPr>
          <a:xfrm>
            <a:off x="2403221" y="4318937"/>
            <a:ext cx="2062459" cy="461665"/>
          </a:xfrm>
          <a:prstGeom prst="rect">
            <a:avLst/>
          </a:prstGeom>
          <a:solidFill>
            <a:srgbClr val="FFC000">
              <a:alpha val="52230"/>
            </a:srgbClr>
          </a:solidFill>
        </p:spPr>
        <p:txBody>
          <a:bodyPr wrap="square">
            <a:spAutoFit/>
          </a:bodyPr>
          <a:lstStyle/>
          <a:p>
            <a:pPr algn="ctr"/>
            <a:r>
              <a:rPr lang="en-GB" sz="2400" b="1" dirty="0">
                <a:solidFill>
                  <a:srgbClr val="000000"/>
                </a:solidFill>
                <a:latin typeface="Calibri" panose="020F0502020204030204" pitchFamily="34" charset="0"/>
              </a:rPr>
              <a:t>Acknowledge</a:t>
            </a:r>
          </a:p>
        </p:txBody>
      </p:sp>
      <p:sp>
        <p:nvSpPr>
          <p:cNvPr id="30" name="TextBox 29">
            <a:extLst>
              <a:ext uri="{FF2B5EF4-FFF2-40B4-BE49-F238E27FC236}">
                <a16:creationId xmlns:a16="http://schemas.microsoft.com/office/drawing/2014/main" id="{8730B548-CC31-7E72-681A-D61679BE01EA}"/>
              </a:ext>
            </a:extLst>
          </p:cNvPr>
          <p:cNvSpPr txBox="1"/>
          <p:nvPr/>
        </p:nvSpPr>
        <p:spPr>
          <a:xfrm>
            <a:off x="9769863" y="4310265"/>
            <a:ext cx="2297061" cy="461665"/>
          </a:xfrm>
          <a:prstGeom prst="rect">
            <a:avLst/>
          </a:prstGeom>
          <a:solidFill>
            <a:srgbClr val="FFC000">
              <a:alpha val="52230"/>
            </a:srgbClr>
          </a:solidFill>
        </p:spPr>
        <p:txBody>
          <a:bodyPr wrap="square">
            <a:spAutoFit/>
          </a:bodyPr>
          <a:lstStyle/>
          <a:p>
            <a:pPr algn="ctr"/>
            <a:r>
              <a:rPr lang="en-GB" sz="2400" b="1" dirty="0">
                <a:solidFill>
                  <a:srgbClr val="000000"/>
                </a:solidFill>
                <a:latin typeface="Calibri" panose="020F0502020204030204" pitchFamily="34" charset="0"/>
              </a:rPr>
              <a:t>Assess</a:t>
            </a:r>
            <a:endParaRPr lang="en-US" sz="2400" dirty="0"/>
          </a:p>
        </p:txBody>
      </p:sp>
      <p:grpSp>
        <p:nvGrpSpPr>
          <p:cNvPr id="39" name="Group 38">
            <a:extLst>
              <a:ext uri="{FF2B5EF4-FFF2-40B4-BE49-F238E27FC236}">
                <a16:creationId xmlns:a16="http://schemas.microsoft.com/office/drawing/2014/main" id="{9590064D-F0B2-DDE0-1DC6-EE5C090FD8E0}"/>
              </a:ext>
            </a:extLst>
          </p:cNvPr>
          <p:cNvGrpSpPr/>
          <p:nvPr/>
        </p:nvGrpSpPr>
        <p:grpSpPr>
          <a:xfrm>
            <a:off x="10021581" y="2333114"/>
            <a:ext cx="1646013" cy="1666134"/>
            <a:chOff x="9256513" y="1773566"/>
            <a:chExt cx="1646013" cy="1666134"/>
          </a:xfrm>
        </p:grpSpPr>
        <p:sp>
          <p:nvSpPr>
            <p:cNvPr id="18" name="Oval 17">
              <a:extLst>
                <a:ext uri="{FF2B5EF4-FFF2-40B4-BE49-F238E27FC236}">
                  <a16:creationId xmlns:a16="http://schemas.microsoft.com/office/drawing/2014/main" id="{D232ABF8-BC9F-DE6C-990F-2568257C02EF}"/>
                </a:ext>
              </a:extLst>
            </p:cNvPr>
            <p:cNvSpPr/>
            <p:nvPr/>
          </p:nvSpPr>
          <p:spPr>
            <a:xfrm>
              <a:off x="9256514" y="1773566"/>
              <a:ext cx="1646012" cy="1666134"/>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4" name="Graphic 33" descr="Checkbox Ticked with solid fill">
              <a:extLst>
                <a:ext uri="{FF2B5EF4-FFF2-40B4-BE49-F238E27FC236}">
                  <a16:creationId xmlns:a16="http://schemas.microsoft.com/office/drawing/2014/main" id="{B6A25691-65B4-8D25-459C-17E7C9BA9D1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256513" y="1787012"/>
              <a:ext cx="1641987" cy="1641987"/>
            </a:xfrm>
            <a:prstGeom prst="rect">
              <a:avLst/>
            </a:prstGeom>
          </p:spPr>
        </p:pic>
      </p:grpSp>
      <p:grpSp>
        <p:nvGrpSpPr>
          <p:cNvPr id="40" name="Group 39">
            <a:extLst>
              <a:ext uri="{FF2B5EF4-FFF2-40B4-BE49-F238E27FC236}">
                <a16:creationId xmlns:a16="http://schemas.microsoft.com/office/drawing/2014/main" id="{600BD5CF-3E29-ECAC-D412-8FE5634D3F80}"/>
              </a:ext>
            </a:extLst>
          </p:cNvPr>
          <p:cNvGrpSpPr/>
          <p:nvPr/>
        </p:nvGrpSpPr>
        <p:grpSpPr>
          <a:xfrm>
            <a:off x="7503146" y="2276569"/>
            <a:ext cx="1641987" cy="1666134"/>
            <a:chOff x="6606024" y="1721448"/>
            <a:chExt cx="1641987" cy="1666134"/>
          </a:xfrm>
        </p:grpSpPr>
        <p:sp>
          <p:nvSpPr>
            <p:cNvPr id="16" name="Oval 15">
              <a:extLst>
                <a:ext uri="{FF2B5EF4-FFF2-40B4-BE49-F238E27FC236}">
                  <a16:creationId xmlns:a16="http://schemas.microsoft.com/office/drawing/2014/main" id="{004A73C2-D04C-C5D9-8768-604FF91CBFD9}"/>
                </a:ext>
              </a:extLst>
            </p:cNvPr>
            <p:cNvSpPr/>
            <p:nvPr/>
          </p:nvSpPr>
          <p:spPr>
            <a:xfrm>
              <a:off x="6606024" y="1721448"/>
              <a:ext cx="1641987" cy="1666134"/>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6" name="Graphic 35" descr="Clapper board with solid fill">
              <a:extLst>
                <a:ext uri="{FF2B5EF4-FFF2-40B4-BE49-F238E27FC236}">
                  <a16:creationId xmlns:a16="http://schemas.microsoft.com/office/drawing/2014/main" id="{0F0B5F2D-C38A-D35B-8FEC-B931DDB2543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824209" y="1910345"/>
              <a:ext cx="1151526" cy="1151526"/>
            </a:xfrm>
            <a:prstGeom prst="rect">
              <a:avLst/>
            </a:prstGeom>
          </p:spPr>
        </p:pic>
      </p:grpSp>
      <p:grpSp>
        <p:nvGrpSpPr>
          <p:cNvPr id="41" name="Group 40">
            <a:extLst>
              <a:ext uri="{FF2B5EF4-FFF2-40B4-BE49-F238E27FC236}">
                <a16:creationId xmlns:a16="http://schemas.microsoft.com/office/drawing/2014/main" id="{F0A69A71-F212-979F-3211-83EA8790FEF9}"/>
              </a:ext>
            </a:extLst>
          </p:cNvPr>
          <p:cNvGrpSpPr/>
          <p:nvPr/>
        </p:nvGrpSpPr>
        <p:grpSpPr>
          <a:xfrm>
            <a:off x="4984711" y="2284883"/>
            <a:ext cx="1641987" cy="1614426"/>
            <a:chOff x="4435504" y="1964618"/>
            <a:chExt cx="1641987" cy="1614426"/>
          </a:xfrm>
        </p:grpSpPr>
        <p:sp>
          <p:nvSpPr>
            <p:cNvPr id="14" name="Oval 13">
              <a:extLst>
                <a:ext uri="{FF2B5EF4-FFF2-40B4-BE49-F238E27FC236}">
                  <a16:creationId xmlns:a16="http://schemas.microsoft.com/office/drawing/2014/main" id="{84B04324-4CCC-D2F0-2DE7-958A93CA8BFF}"/>
                </a:ext>
              </a:extLst>
            </p:cNvPr>
            <p:cNvSpPr/>
            <p:nvPr/>
          </p:nvSpPr>
          <p:spPr>
            <a:xfrm>
              <a:off x="4435504" y="1964618"/>
              <a:ext cx="1641987" cy="161442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Graphic 37" descr="User with solid fill">
              <a:extLst>
                <a:ext uri="{FF2B5EF4-FFF2-40B4-BE49-F238E27FC236}">
                  <a16:creationId xmlns:a16="http://schemas.microsoft.com/office/drawing/2014/main" id="{6A736924-AA5E-0CE0-C983-D00EF1B5405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645029" y="2134541"/>
              <a:ext cx="1196343" cy="1196343"/>
            </a:xfrm>
            <a:prstGeom prst="rect">
              <a:avLst/>
            </a:prstGeom>
          </p:spPr>
        </p:pic>
      </p:grpSp>
      <p:grpSp>
        <p:nvGrpSpPr>
          <p:cNvPr id="48" name="Group 47">
            <a:extLst>
              <a:ext uri="{FF2B5EF4-FFF2-40B4-BE49-F238E27FC236}">
                <a16:creationId xmlns:a16="http://schemas.microsoft.com/office/drawing/2014/main" id="{91204AAA-4792-C84D-328D-174D7033118C}"/>
              </a:ext>
            </a:extLst>
          </p:cNvPr>
          <p:cNvGrpSpPr/>
          <p:nvPr/>
        </p:nvGrpSpPr>
        <p:grpSpPr>
          <a:xfrm>
            <a:off x="379245" y="2259289"/>
            <a:ext cx="1641987" cy="1614426"/>
            <a:chOff x="316947" y="2007971"/>
            <a:chExt cx="1641987" cy="1614426"/>
          </a:xfrm>
        </p:grpSpPr>
        <p:sp>
          <p:nvSpPr>
            <p:cNvPr id="42" name="Oval 41">
              <a:extLst>
                <a:ext uri="{FF2B5EF4-FFF2-40B4-BE49-F238E27FC236}">
                  <a16:creationId xmlns:a16="http://schemas.microsoft.com/office/drawing/2014/main" id="{CE65D34E-2309-CCEB-2310-44D486071A7C}"/>
                </a:ext>
              </a:extLst>
            </p:cNvPr>
            <p:cNvSpPr/>
            <p:nvPr/>
          </p:nvSpPr>
          <p:spPr>
            <a:xfrm>
              <a:off x="316947" y="2007971"/>
              <a:ext cx="1641987" cy="161442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4" name="Graphic 43" descr="Magnifying glass with solid fill">
              <a:extLst>
                <a:ext uri="{FF2B5EF4-FFF2-40B4-BE49-F238E27FC236}">
                  <a16:creationId xmlns:a16="http://schemas.microsoft.com/office/drawing/2014/main" id="{71ECAA73-9719-44DD-7B7E-7C39DE56EF3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37761" y="2261216"/>
              <a:ext cx="1080886" cy="1080886"/>
            </a:xfrm>
            <a:prstGeom prst="rect">
              <a:avLst/>
            </a:prstGeom>
          </p:spPr>
        </p:pic>
      </p:grpSp>
      <p:grpSp>
        <p:nvGrpSpPr>
          <p:cNvPr id="47" name="Group 46">
            <a:extLst>
              <a:ext uri="{FF2B5EF4-FFF2-40B4-BE49-F238E27FC236}">
                <a16:creationId xmlns:a16="http://schemas.microsoft.com/office/drawing/2014/main" id="{45CD5576-302D-5F8B-E5BD-368ABC2DEE96}"/>
              </a:ext>
            </a:extLst>
          </p:cNvPr>
          <p:cNvGrpSpPr/>
          <p:nvPr/>
        </p:nvGrpSpPr>
        <p:grpSpPr>
          <a:xfrm>
            <a:off x="2578276" y="2290688"/>
            <a:ext cx="1641987" cy="1614426"/>
            <a:chOff x="2627760" y="2015531"/>
            <a:chExt cx="1641987" cy="1614426"/>
          </a:xfrm>
        </p:grpSpPr>
        <p:sp>
          <p:nvSpPr>
            <p:cNvPr id="13" name="Oval 12">
              <a:extLst>
                <a:ext uri="{FF2B5EF4-FFF2-40B4-BE49-F238E27FC236}">
                  <a16:creationId xmlns:a16="http://schemas.microsoft.com/office/drawing/2014/main" id="{C2FDD86E-B582-E658-D067-534DF294A2C2}"/>
                </a:ext>
              </a:extLst>
            </p:cNvPr>
            <p:cNvSpPr/>
            <p:nvPr/>
          </p:nvSpPr>
          <p:spPr>
            <a:xfrm>
              <a:off x="2627760" y="2015531"/>
              <a:ext cx="1641987" cy="161442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6" name="Graphic 45" descr="Thumbs up sign with solid fill">
              <a:extLst>
                <a:ext uri="{FF2B5EF4-FFF2-40B4-BE49-F238E27FC236}">
                  <a16:creationId xmlns:a16="http://schemas.microsoft.com/office/drawing/2014/main" id="{59FABC7D-DCB7-4A45-AF3A-DB2BFF77023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949859" y="2357984"/>
              <a:ext cx="914400" cy="914400"/>
            </a:xfrm>
            <a:prstGeom prst="rect">
              <a:avLst/>
            </a:prstGeom>
          </p:spPr>
        </p:pic>
      </p:grpSp>
      <p:sp>
        <p:nvSpPr>
          <p:cNvPr id="49" name="TextBox 48">
            <a:extLst>
              <a:ext uri="{FF2B5EF4-FFF2-40B4-BE49-F238E27FC236}">
                <a16:creationId xmlns:a16="http://schemas.microsoft.com/office/drawing/2014/main" id="{C2CB565B-FB06-A2EA-618F-677C53C707CD}"/>
              </a:ext>
            </a:extLst>
          </p:cNvPr>
          <p:cNvSpPr txBox="1"/>
          <p:nvPr/>
        </p:nvSpPr>
        <p:spPr>
          <a:xfrm>
            <a:off x="274533" y="4785917"/>
            <a:ext cx="1943100" cy="1200329"/>
          </a:xfrm>
          <a:prstGeom prst="rect">
            <a:avLst/>
          </a:prstGeom>
          <a:solidFill>
            <a:srgbClr val="FFC000">
              <a:alpha val="16936"/>
            </a:srgbClr>
          </a:solidFill>
        </p:spPr>
        <p:txBody>
          <a:bodyPr wrap="square" rtlCol="0">
            <a:spAutoFit/>
          </a:bodyPr>
          <a:lstStyle/>
          <a:p>
            <a:r>
              <a:rPr lang="en-US" dirty="0"/>
              <a:t>Noticing challenges in non-judgmental way</a:t>
            </a:r>
          </a:p>
        </p:txBody>
      </p:sp>
      <p:sp>
        <p:nvSpPr>
          <p:cNvPr id="50" name="TextBox 49">
            <a:extLst>
              <a:ext uri="{FF2B5EF4-FFF2-40B4-BE49-F238E27FC236}">
                <a16:creationId xmlns:a16="http://schemas.microsoft.com/office/drawing/2014/main" id="{E4B9F0FA-7F01-43C9-A715-3E5DFFCBEFB8}"/>
              </a:ext>
            </a:extLst>
          </p:cNvPr>
          <p:cNvSpPr txBox="1"/>
          <p:nvPr/>
        </p:nvSpPr>
        <p:spPr>
          <a:xfrm>
            <a:off x="2403221" y="4785816"/>
            <a:ext cx="2062459" cy="1754326"/>
          </a:xfrm>
          <a:prstGeom prst="rect">
            <a:avLst/>
          </a:prstGeom>
          <a:solidFill>
            <a:srgbClr val="FFC000">
              <a:alpha val="17000"/>
            </a:srgbClr>
          </a:solidFill>
        </p:spPr>
        <p:txBody>
          <a:bodyPr wrap="square" rtlCol="0">
            <a:spAutoFit/>
          </a:bodyPr>
          <a:lstStyle/>
          <a:p>
            <a:r>
              <a:rPr lang="en-US" dirty="0"/>
              <a:t>Naming challenges, recognizing context, multiple perspectives can co-exist</a:t>
            </a:r>
          </a:p>
        </p:txBody>
      </p:sp>
      <p:sp>
        <p:nvSpPr>
          <p:cNvPr id="53" name="TextBox 52">
            <a:extLst>
              <a:ext uri="{FF2B5EF4-FFF2-40B4-BE49-F238E27FC236}">
                <a16:creationId xmlns:a16="http://schemas.microsoft.com/office/drawing/2014/main" id="{E589CA29-F7CC-3058-BD7D-02415B2464DE}"/>
              </a:ext>
            </a:extLst>
          </p:cNvPr>
          <p:cNvSpPr txBox="1"/>
          <p:nvPr/>
        </p:nvSpPr>
        <p:spPr>
          <a:xfrm>
            <a:off x="9765971" y="4764826"/>
            <a:ext cx="2297061" cy="1477328"/>
          </a:xfrm>
          <a:prstGeom prst="rect">
            <a:avLst/>
          </a:prstGeom>
          <a:solidFill>
            <a:srgbClr val="FFC000">
              <a:alpha val="17000"/>
            </a:srgbClr>
          </a:solidFill>
        </p:spPr>
        <p:txBody>
          <a:bodyPr wrap="square" rtlCol="0">
            <a:spAutoFit/>
          </a:bodyPr>
          <a:lstStyle/>
          <a:p>
            <a:r>
              <a:rPr lang="en-US" dirty="0"/>
              <a:t>Reflecting on actions taken: were they effective? Has my sphere of influence changed?</a:t>
            </a:r>
          </a:p>
        </p:txBody>
      </p:sp>
      <p:sp>
        <p:nvSpPr>
          <p:cNvPr id="4" name="TextBox 3">
            <a:extLst>
              <a:ext uri="{FF2B5EF4-FFF2-40B4-BE49-F238E27FC236}">
                <a16:creationId xmlns:a16="http://schemas.microsoft.com/office/drawing/2014/main" id="{CC872A99-FAF8-E91A-E860-C74FB99C7363}"/>
              </a:ext>
            </a:extLst>
          </p:cNvPr>
          <p:cNvSpPr txBox="1"/>
          <p:nvPr/>
        </p:nvSpPr>
        <p:spPr>
          <a:xfrm>
            <a:off x="159725" y="639077"/>
            <a:ext cx="11872549" cy="830997"/>
          </a:xfrm>
          <a:prstGeom prst="rect">
            <a:avLst/>
          </a:prstGeom>
          <a:noFill/>
        </p:spPr>
        <p:txBody>
          <a:bodyPr wrap="square" rtlCol="0">
            <a:spAutoFit/>
          </a:bodyPr>
          <a:lstStyle/>
          <a:p>
            <a:r>
              <a:rPr lang="en-US" sz="2400" dirty="0"/>
              <a:t>Framework allows you to </a:t>
            </a:r>
            <a:r>
              <a:rPr lang="en-US" sz="2400" b="1" dirty="0"/>
              <a:t>practice</a:t>
            </a:r>
            <a:r>
              <a:rPr lang="en-US" sz="2400" dirty="0"/>
              <a:t> key leadership </a:t>
            </a:r>
            <a:r>
              <a:rPr lang="en-US" sz="2400" b="1" dirty="0"/>
              <a:t>skills </a:t>
            </a:r>
            <a:r>
              <a:rPr lang="en-US" sz="2400" dirty="0"/>
              <a:t>and </a:t>
            </a:r>
            <a:r>
              <a:rPr lang="en-US" sz="2400" b="1" dirty="0"/>
              <a:t>qualities</a:t>
            </a:r>
            <a:r>
              <a:rPr lang="en-US" sz="2400" dirty="0"/>
              <a:t>: self-awareness, empathy, knowledgeable, problem solvers, collaborative, flexibility </a:t>
            </a:r>
          </a:p>
        </p:txBody>
      </p:sp>
      <p:sp>
        <p:nvSpPr>
          <p:cNvPr id="5" name="TextBox 4">
            <a:extLst>
              <a:ext uri="{FF2B5EF4-FFF2-40B4-BE49-F238E27FC236}">
                <a16:creationId xmlns:a16="http://schemas.microsoft.com/office/drawing/2014/main" id="{DA75F6D4-C52E-8011-6313-843F3E154E95}"/>
              </a:ext>
            </a:extLst>
          </p:cNvPr>
          <p:cNvSpPr txBox="1"/>
          <p:nvPr/>
        </p:nvSpPr>
        <p:spPr>
          <a:xfrm>
            <a:off x="194375" y="1545282"/>
            <a:ext cx="8950758" cy="369332"/>
          </a:xfrm>
          <a:prstGeom prst="rect">
            <a:avLst/>
          </a:prstGeom>
          <a:noFill/>
        </p:spPr>
        <p:txBody>
          <a:bodyPr wrap="square" rtlCol="0">
            <a:spAutoFit/>
          </a:bodyPr>
          <a:lstStyle/>
          <a:p>
            <a:r>
              <a:rPr lang="en-US" dirty="0"/>
              <a:t>Steps shown linearly but in practice things are often not straightforward!</a:t>
            </a:r>
          </a:p>
        </p:txBody>
      </p:sp>
      <p:sp>
        <p:nvSpPr>
          <p:cNvPr id="6" name="TextBox 5">
            <a:extLst>
              <a:ext uri="{FF2B5EF4-FFF2-40B4-BE49-F238E27FC236}">
                <a16:creationId xmlns:a16="http://schemas.microsoft.com/office/drawing/2014/main" id="{E12784D2-24C9-603D-ADAB-AFD6F4D53054}"/>
              </a:ext>
            </a:extLst>
          </p:cNvPr>
          <p:cNvSpPr txBox="1"/>
          <p:nvPr/>
        </p:nvSpPr>
        <p:spPr>
          <a:xfrm>
            <a:off x="4632555" y="4309244"/>
            <a:ext cx="2219349" cy="461665"/>
          </a:xfrm>
          <a:prstGeom prst="rect">
            <a:avLst/>
          </a:prstGeom>
          <a:solidFill>
            <a:srgbClr val="FFC000">
              <a:alpha val="52230"/>
            </a:srgbClr>
          </a:solidFill>
        </p:spPr>
        <p:txBody>
          <a:bodyPr wrap="square">
            <a:spAutoFit/>
          </a:bodyPr>
          <a:lstStyle/>
          <a:p>
            <a:pPr algn="ctr"/>
            <a:r>
              <a:rPr lang="en-GB" sz="2400" b="1" dirty="0">
                <a:solidFill>
                  <a:srgbClr val="000000"/>
                </a:solidFill>
                <a:latin typeface="Calibri" panose="020F0502020204030204" pitchFamily="34" charset="0"/>
              </a:rPr>
              <a:t>Agency</a:t>
            </a:r>
            <a:endParaRPr lang="en-US" sz="2400" dirty="0"/>
          </a:p>
        </p:txBody>
      </p:sp>
      <p:sp>
        <p:nvSpPr>
          <p:cNvPr id="8" name="TextBox 7">
            <a:extLst>
              <a:ext uri="{FF2B5EF4-FFF2-40B4-BE49-F238E27FC236}">
                <a16:creationId xmlns:a16="http://schemas.microsoft.com/office/drawing/2014/main" id="{9F183439-AA67-B7A8-330C-B801CE55F1E4}"/>
              </a:ext>
            </a:extLst>
          </p:cNvPr>
          <p:cNvSpPr txBox="1"/>
          <p:nvPr/>
        </p:nvSpPr>
        <p:spPr>
          <a:xfrm>
            <a:off x="4628231" y="4785420"/>
            <a:ext cx="2219349" cy="923330"/>
          </a:xfrm>
          <a:prstGeom prst="rect">
            <a:avLst/>
          </a:prstGeom>
          <a:solidFill>
            <a:srgbClr val="FFC000">
              <a:alpha val="17000"/>
            </a:srgbClr>
          </a:solidFill>
        </p:spPr>
        <p:txBody>
          <a:bodyPr wrap="square" rtlCol="0">
            <a:spAutoFit/>
          </a:bodyPr>
          <a:lstStyle/>
          <a:p>
            <a:r>
              <a:rPr lang="en-US" dirty="0"/>
              <a:t>Identifying where you have influence to act</a:t>
            </a:r>
          </a:p>
        </p:txBody>
      </p:sp>
      <p:sp>
        <p:nvSpPr>
          <p:cNvPr id="9" name="TextBox 8">
            <a:extLst>
              <a:ext uri="{FF2B5EF4-FFF2-40B4-BE49-F238E27FC236}">
                <a16:creationId xmlns:a16="http://schemas.microsoft.com/office/drawing/2014/main" id="{3D8A7AAF-53ED-BC68-03B1-8E18CE71DCDC}"/>
              </a:ext>
            </a:extLst>
          </p:cNvPr>
          <p:cNvSpPr txBox="1"/>
          <p:nvPr/>
        </p:nvSpPr>
        <p:spPr>
          <a:xfrm>
            <a:off x="7018779" y="4309244"/>
            <a:ext cx="2641744" cy="1200329"/>
          </a:xfrm>
          <a:prstGeom prst="rect">
            <a:avLst/>
          </a:prstGeom>
          <a:solidFill>
            <a:srgbClr val="FFC000">
              <a:alpha val="52230"/>
            </a:srgbClr>
          </a:solidFill>
        </p:spPr>
        <p:txBody>
          <a:bodyPr wrap="square">
            <a:spAutoFit/>
          </a:bodyPr>
          <a:lstStyle/>
          <a:p>
            <a:pPr algn="ctr"/>
            <a:r>
              <a:rPr lang="en-GB" sz="2400" b="1" dirty="0">
                <a:solidFill>
                  <a:srgbClr val="000000"/>
                </a:solidFill>
                <a:latin typeface="Calibri" panose="020F0502020204030204" pitchFamily="34" charset="0"/>
              </a:rPr>
              <a:t>Action (address, advocate, approach others)</a:t>
            </a:r>
            <a:endParaRPr lang="en-US" sz="2400" dirty="0"/>
          </a:p>
        </p:txBody>
      </p:sp>
      <p:sp>
        <p:nvSpPr>
          <p:cNvPr id="10" name="TextBox 9">
            <a:extLst>
              <a:ext uri="{FF2B5EF4-FFF2-40B4-BE49-F238E27FC236}">
                <a16:creationId xmlns:a16="http://schemas.microsoft.com/office/drawing/2014/main" id="{08883E0C-7B84-7972-56F4-98D4A769758D}"/>
              </a:ext>
            </a:extLst>
          </p:cNvPr>
          <p:cNvSpPr txBox="1"/>
          <p:nvPr/>
        </p:nvSpPr>
        <p:spPr>
          <a:xfrm>
            <a:off x="7005075" y="5488739"/>
            <a:ext cx="2650496" cy="1200329"/>
          </a:xfrm>
          <a:prstGeom prst="rect">
            <a:avLst/>
          </a:prstGeom>
          <a:solidFill>
            <a:srgbClr val="FFC000">
              <a:alpha val="17000"/>
            </a:srgbClr>
          </a:solidFill>
        </p:spPr>
        <p:txBody>
          <a:bodyPr wrap="square" rtlCol="0">
            <a:spAutoFit/>
          </a:bodyPr>
          <a:lstStyle/>
          <a:p>
            <a:r>
              <a:rPr lang="en-US" dirty="0"/>
              <a:t>Taking concrete steps towards addressing challenges, connecting with others</a:t>
            </a:r>
          </a:p>
        </p:txBody>
      </p:sp>
    </p:spTree>
    <p:extLst>
      <p:ext uri="{BB962C8B-B14F-4D97-AF65-F5344CB8AC3E}">
        <p14:creationId xmlns:p14="http://schemas.microsoft.com/office/powerpoint/2010/main" val="24695199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CFA5B-8861-90DA-C457-610A03A74217}"/>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DC8808CF-3CA4-D1BA-80F5-E6FEAD8E2C0B}"/>
              </a:ext>
            </a:extLst>
          </p:cNvPr>
          <p:cNvGrpSpPr/>
          <p:nvPr/>
        </p:nvGrpSpPr>
        <p:grpSpPr>
          <a:xfrm>
            <a:off x="10704849" y="6564312"/>
            <a:ext cx="1362075" cy="273690"/>
            <a:chOff x="19317" y="2690018"/>
            <a:chExt cx="11784755" cy="2025180"/>
          </a:xfrm>
        </p:grpSpPr>
        <p:pic>
          <p:nvPicPr>
            <p:cNvPr id="7" name="Picture 2">
              <a:extLst>
                <a:ext uri="{FF2B5EF4-FFF2-40B4-BE49-F238E27FC236}">
                  <a16:creationId xmlns:a16="http://schemas.microsoft.com/office/drawing/2014/main" id="{F78E9F48-CC7C-EE58-C2F4-C61A83BE07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B5A59ED9-9434-A8B6-982A-B4862E4AE208}"/>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15" name="Title 1">
            <a:extLst>
              <a:ext uri="{FF2B5EF4-FFF2-40B4-BE49-F238E27FC236}">
                <a16:creationId xmlns:a16="http://schemas.microsoft.com/office/drawing/2014/main" id="{9CBB5394-123D-A4B8-D5E2-86225727FDC0}"/>
              </a:ext>
            </a:extLst>
          </p:cNvPr>
          <p:cNvSpPr txBox="1">
            <a:spLocks/>
          </p:cNvSpPr>
          <p:nvPr/>
        </p:nvSpPr>
        <p:spPr>
          <a:xfrm>
            <a:off x="0" y="0"/>
            <a:ext cx="12192000" cy="1325563"/>
          </a:xfrm>
          <a:prstGeom prst="rect">
            <a:avLst/>
          </a:prstGeom>
          <a:noFill/>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t>What challenges do you experience in implementing</a:t>
            </a:r>
          </a:p>
          <a:p>
            <a:r>
              <a:rPr lang="en-GB" b="1" dirty="0"/>
              <a:t>Open Science?</a:t>
            </a:r>
            <a:endParaRPr lang="en-US" b="1" dirty="0"/>
          </a:p>
        </p:txBody>
      </p:sp>
      <p:sp>
        <p:nvSpPr>
          <p:cNvPr id="2" name="Slide Number Placeholder 1">
            <a:extLst>
              <a:ext uri="{FF2B5EF4-FFF2-40B4-BE49-F238E27FC236}">
                <a16:creationId xmlns:a16="http://schemas.microsoft.com/office/drawing/2014/main" id="{A319C9C7-B568-64F4-8F49-74D71D90E2FF}"/>
              </a:ext>
            </a:extLst>
          </p:cNvPr>
          <p:cNvSpPr>
            <a:spLocks noGrp="1"/>
          </p:cNvSpPr>
          <p:nvPr>
            <p:ph type="sldNum" sz="quarter" idx="12"/>
          </p:nvPr>
        </p:nvSpPr>
        <p:spPr/>
        <p:txBody>
          <a:bodyPr/>
          <a:lstStyle/>
          <a:p>
            <a:fld id="{D292B180-B274-DE43-B36F-C827C7616C05}" type="slidenum">
              <a:rPr lang="en-US" smtClean="0"/>
              <a:t>7</a:t>
            </a:fld>
            <a:endParaRPr lang="en-US"/>
          </a:p>
        </p:txBody>
      </p:sp>
      <p:sp>
        <p:nvSpPr>
          <p:cNvPr id="9" name="TextBox 8">
            <a:extLst>
              <a:ext uri="{FF2B5EF4-FFF2-40B4-BE49-F238E27FC236}">
                <a16:creationId xmlns:a16="http://schemas.microsoft.com/office/drawing/2014/main" id="{55198C4B-35BC-5507-774B-67943FAC49E7}"/>
              </a:ext>
            </a:extLst>
          </p:cNvPr>
          <p:cNvSpPr txBox="1"/>
          <p:nvPr/>
        </p:nvSpPr>
        <p:spPr>
          <a:xfrm>
            <a:off x="675252" y="1834751"/>
            <a:ext cx="6576006" cy="2954655"/>
          </a:xfrm>
          <a:prstGeom prst="rect">
            <a:avLst/>
          </a:prstGeom>
          <a:noFill/>
        </p:spPr>
        <p:txBody>
          <a:bodyPr wrap="square">
            <a:spAutoFit/>
          </a:bodyPr>
          <a:lstStyle/>
          <a:p>
            <a:r>
              <a:rPr lang="en-US" sz="2800" dirty="0"/>
              <a:t>1. Self </a:t>
            </a:r>
            <a:r>
              <a:rPr lang="en-US" sz="2800" b="1" dirty="0"/>
              <a:t>reflect</a:t>
            </a:r>
          </a:p>
          <a:p>
            <a:pPr marL="514350" indent="-514350">
              <a:buAutoNum type="arabicPeriod"/>
            </a:pPr>
            <a:endParaRPr lang="en-US" sz="2800" dirty="0"/>
          </a:p>
          <a:p>
            <a:r>
              <a:rPr lang="en-US" sz="2800" dirty="0"/>
              <a:t>2. </a:t>
            </a:r>
            <a:r>
              <a:rPr lang="en-US" sz="2800" b="1" dirty="0"/>
              <a:t>Write</a:t>
            </a:r>
            <a:r>
              <a:rPr lang="en-US" sz="2800" dirty="0"/>
              <a:t> down short phrases </a:t>
            </a:r>
          </a:p>
          <a:p>
            <a:r>
              <a:rPr lang="en-US" sz="2800" dirty="0"/>
              <a:t>or sentences</a:t>
            </a:r>
          </a:p>
          <a:p>
            <a:endParaRPr lang="en-US" sz="2800" dirty="0"/>
          </a:p>
          <a:p>
            <a:r>
              <a:rPr lang="en-US" sz="2800" dirty="0"/>
              <a:t>3. Group </a:t>
            </a:r>
            <a:r>
              <a:rPr lang="en-US" sz="2800" b="1" dirty="0"/>
              <a:t>discussion </a:t>
            </a:r>
          </a:p>
          <a:p>
            <a:endParaRPr lang="en-US" dirty="0"/>
          </a:p>
        </p:txBody>
      </p:sp>
      <p:sp>
        <p:nvSpPr>
          <p:cNvPr id="10" name="TextBox 9">
            <a:extLst>
              <a:ext uri="{FF2B5EF4-FFF2-40B4-BE49-F238E27FC236}">
                <a16:creationId xmlns:a16="http://schemas.microsoft.com/office/drawing/2014/main" id="{07816839-BE7D-6672-1534-6A901986DE0A}"/>
              </a:ext>
            </a:extLst>
          </p:cNvPr>
          <p:cNvSpPr txBox="1"/>
          <p:nvPr/>
        </p:nvSpPr>
        <p:spPr>
          <a:xfrm>
            <a:off x="675252" y="5698703"/>
            <a:ext cx="2658193" cy="461665"/>
          </a:xfrm>
          <a:prstGeom prst="rect">
            <a:avLst/>
          </a:prstGeom>
          <a:noFill/>
        </p:spPr>
        <p:txBody>
          <a:bodyPr wrap="square">
            <a:spAutoFit/>
          </a:bodyPr>
          <a:lstStyle/>
          <a:p>
            <a:r>
              <a:rPr lang="en-US" sz="2400" dirty="0"/>
              <a:t>~10 minutes</a:t>
            </a:r>
          </a:p>
        </p:txBody>
      </p:sp>
      <p:grpSp>
        <p:nvGrpSpPr>
          <p:cNvPr id="19" name="Group 18">
            <a:extLst>
              <a:ext uri="{FF2B5EF4-FFF2-40B4-BE49-F238E27FC236}">
                <a16:creationId xmlns:a16="http://schemas.microsoft.com/office/drawing/2014/main" id="{FEB7A250-9209-6199-6CA2-9D7B7D8899ED}"/>
              </a:ext>
            </a:extLst>
          </p:cNvPr>
          <p:cNvGrpSpPr/>
          <p:nvPr/>
        </p:nvGrpSpPr>
        <p:grpSpPr>
          <a:xfrm>
            <a:off x="8829901" y="2364707"/>
            <a:ext cx="844494" cy="875891"/>
            <a:chOff x="316947" y="2007971"/>
            <a:chExt cx="1641987" cy="1614426"/>
          </a:xfrm>
        </p:grpSpPr>
        <p:sp>
          <p:nvSpPr>
            <p:cNvPr id="23" name="Oval 22">
              <a:extLst>
                <a:ext uri="{FF2B5EF4-FFF2-40B4-BE49-F238E27FC236}">
                  <a16:creationId xmlns:a16="http://schemas.microsoft.com/office/drawing/2014/main" id="{66A70A75-FDF0-9F1D-5A98-7BDEA22E1592}"/>
                </a:ext>
              </a:extLst>
            </p:cNvPr>
            <p:cNvSpPr/>
            <p:nvPr/>
          </p:nvSpPr>
          <p:spPr>
            <a:xfrm>
              <a:off x="316947" y="2007971"/>
              <a:ext cx="1641987" cy="161442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4" name="Graphic 23" descr="Magnifying glass with solid fill">
              <a:extLst>
                <a:ext uri="{FF2B5EF4-FFF2-40B4-BE49-F238E27FC236}">
                  <a16:creationId xmlns:a16="http://schemas.microsoft.com/office/drawing/2014/main" id="{44200DC3-1AE8-1667-155B-276821C4574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37761" y="2261216"/>
              <a:ext cx="1080886" cy="1080886"/>
            </a:xfrm>
            <a:prstGeom prst="rect">
              <a:avLst/>
            </a:prstGeom>
          </p:spPr>
        </p:pic>
      </p:grpSp>
      <p:sp>
        <p:nvSpPr>
          <p:cNvPr id="32" name="TextBox 31">
            <a:extLst>
              <a:ext uri="{FF2B5EF4-FFF2-40B4-BE49-F238E27FC236}">
                <a16:creationId xmlns:a16="http://schemas.microsoft.com/office/drawing/2014/main" id="{BD679939-C550-E711-4411-3360A99B8302}"/>
              </a:ext>
            </a:extLst>
          </p:cNvPr>
          <p:cNvSpPr txBox="1"/>
          <p:nvPr/>
        </p:nvSpPr>
        <p:spPr>
          <a:xfrm>
            <a:off x="9792293" y="2595260"/>
            <a:ext cx="1466940" cy="400110"/>
          </a:xfrm>
          <a:prstGeom prst="rect">
            <a:avLst/>
          </a:prstGeom>
          <a:noFill/>
        </p:spPr>
        <p:txBody>
          <a:bodyPr wrap="none" rtlCol="0">
            <a:spAutoFit/>
          </a:bodyPr>
          <a:lstStyle/>
          <a:p>
            <a:r>
              <a:rPr lang="en-US" sz="2000" b="1" dirty="0"/>
              <a:t>Awareness</a:t>
            </a:r>
          </a:p>
        </p:txBody>
      </p:sp>
    </p:spTree>
    <p:extLst>
      <p:ext uri="{BB962C8B-B14F-4D97-AF65-F5344CB8AC3E}">
        <p14:creationId xmlns:p14="http://schemas.microsoft.com/office/powerpoint/2010/main" val="13681436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582A5-7433-BA8C-606A-2019C85A9F92}"/>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F404A0F7-E5E7-0229-41BE-68F0D4C7D7D0}"/>
              </a:ext>
            </a:extLst>
          </p:cNvPr>
          <p:cNvGrpSpPr/>
          <p:nvPr/>
        </p:nvGrpSpPr>
        <p:grpSpPr>
          <a:xfrm>
            <a:off x="10704849" y="6564312"/>
            <a:ext cx="1362075" cy="273690"/>
            <a:chOff x="19317" y="2690018"/>
            <a:chExt cx="11784755" cy="2025180"/>
          </a:xfrm>
        </p:grpSpPr>
        <p:pic>
          <p:nvPicPr>
            <p:cNvPr id="12" name="Picture 2">
              <a:extLst>
                <a:ext uri="{FF2B5EF4-FFF2-40B4-BE49-F238E27FC236}">
                  <a16:creationId xmlns:a16="http://schemas.microsoft.com/office/drawing/2014/main" id="{50665837-1E0C-3657-47F5-6350814523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D56CD3B9-6CDA-1681-5C7B-FF789B19824C}"/>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4" name="Title 1">
            <a:extLst>
              <a:ext uri="{FF2B5EF4-FFF2-40B4-BE49-F238E27FC236}">
                <a16:creationId xmlns:a16="http://schemas.microsoft.com/office/drawing/2014/main" id="{B194D1A1-CCA7-42F6-8C85-E2DE4ABC206E}"/>
              </a:ext>
            </a:extLst>
          </p:cNvPr>
          <p:cNvSpPr txBox="1">
            <a:spLocks/>
          </p:cNvSpPr>
          <p:nvPr/>
        </p:nvSpPr>
        <p:spPr>
          <a:xfrm>
            <a:off x="0" y="-11484"/>
            <a:ext cx="121920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Challenges in Open Science: Time</a:t>
            </a:r>
          </a:p>
        </p:txBody>
      </p:sp>
      <p:grpSp>
        <p:nvGrpSpPr>
          <p:cNvPr id="24" name="Group 23">
            <a:extLst>
              <a:ext uri="{FF2B5EF4-FFF2-40B4-BE49-F238E27FC236}">
                <a16:creationId xmlns:a16="http://schemas.microsoft.com/office/drawing/2014/main" id="{9FB44FD4-D4D7-BB0D-5AC1-14367D9A8A1A}"/>
              </a:ext>
            </a:extLst>
          </p:cNvPr>
          <p:cNvGrpSpPr/>
          <p:nvPr/>
        </p:nvGrpSpPr>
        <p:grpSpPr>
          <a:xfrm>
            <a:off x="428706" y="1900628"/>
            <a:ext cx="914400" cy="1283732"/>
            <a:chOff x="1078156" y="1850572"/>
            <a:chExt cx="914400" cy="1283732"/>
          </a:xfrm>
        </p:grpSpPr>
        <p:sp>
          <p:nvSpPr>
            <p:cNvPr id="6" name="TextBox 5">
              <a:extLst>
                <a:ext uri="{FF2B5EF4-FFF2-40B4-BE49-F238E27FC236}">
                  <a16:creationId xmlns:a16="http://schemas.microsoft.com/office/drawing/2014/main" id="{B5E71A86-E214-D73A-3869-FE31A1C8748A}"/>
                </a:ext>
              </a:extLst>
            </p:cNvPr>
            <p:cNvSpPr txBox="1"/>
            <p:nvPr/>
          </p:nvSpPr>
          <p:spPr>
            <a:xfrm>
              <a:off x="1186542" y="2764972"/>
              <a:ext cx="697627" cy="369332"/>
            </a:xfrm>
            <a:prstGeom prst="rect">
              <a:avLst/>
            </a:prstGeom>
            <a:noFill/>
          </p:spPr>
          <p:txBody>
            <a:bodyPr wrap="none" rtlCol="0">
              <a:spAutoFit/>
            </a:bodyPr>
            <a:lstStyle/>
            <a:p>
              <a:r>
                <a:rPr lang="en-GB" b="1" dirty="0"/>
                <a:t>Time</a:t>
              </a:r>
              <a:endParaRPr lang="en-US" dirty="0"/>
            </a:p>
          </p:txBody>
        </p:sp>
        <p:pic>
          <p:nvPicPr>
            <p:cNvPr id="8" name="Graphic 7" descr="Stopwatch 75% with solid fill">
              <a:extLst>
                <a:ext uri="{FF2B5EF4-FFF2-40B4-BE49-F238E27FC236}">
                  <a16:creationId xmlns:a16="http://schemas.microsoft.com/office/drawing/2014/main" id="{6F4DAC68-F34F-A1CB-A359-00EC6B7002D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78156" y="1850572"/>
              <a:ext cx="914400" cy="914400"/>
            </a:xfrm>
            <a:prstGeom prst="rect">
              <a:avLst/>
            </a:prstGeom>
          </p:spPr>
        </p:pic>
      </p:grpSp>
      <p:sp>
        <p:nvSpPr>
          <p:cNvPr id="3" name="Rectangle 2">
            <a:extLst>
              <a:ext uri="{FF2B5EF4-FFF2-40B4-BE49-F238E27FC236}">
                <a16:creationId xmlns:a16="http://schemas.microsoft.com/office/drawing/2014/main" id="{B2B07744-9DEE-49C0-8A2D-7BA6789CBA7C}"/>
              </a:ext>
            </a:extLst>
          </p:cNvPr>
          <p:cNvSpPr/>
          <p:nvPr/>
        </p:nvSpPr>
        <p:spPr>
          <a:xfrm>
            <a:off x="6789826" y="2891017"/>
            <a:ext cx="2282739" cy="244973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FAE48AC-836D-4A17-2617-76F3A38EFF57}"/>
              </a:ext>
            </a:extLst>
          </p:cNvPr>
          <p:cNvSpPr txBox="1"/>
          <p:nvPr/>
        </p:nvSpPr>
        <p:spPr>
          <a:xfrm>
            <a:off x="93349" y="3267763"/>
            <a:ext cx="2282739" cy="923330"/>
          </a:xfrm>
          <a:prstGeom prst="rect">
            <a:avLst/>
          </a:prstGeom>
          <a:noFill/>
        </p:spPr>
        <p:txBody>
          <a:bodyPr wrap="square" rtlCol="0">
            <a:spAutoFit/>
          </a:bodyPr>
          <a:lstStyle/>
          <a:p>
            <a:r>
              <a:rPr lang="en-US" dirty="0"/>
              <a:t>e.g. Time constraints in a project to carry out a preregistration</a:t>
            </a:r>
          </a:p>
        </p:txBody>
      </p:sp>
      <p:sp>
        <p:nvSpPr>
          <p:cNvPr id="7" name="Slide Number Placeholder 6">
            <a:extLst>
              <a:ext uri="{FF2B5EF4-FFF2-40B4-BE49-F238E27FC236}">
                <a16:creationId xmlns:a16="http://schemas.microsoft.com/office/drawing/2014/main" id="{9B77BFD3-ECCD-7AE9-CADB-20DA3D095C41}"/>
              </a:ext>
            </a:extLst>
          </p:cNvPr>
          <p:cNvSpPr>
            <a:spLocks noGrp="1"/>
          </p:cNvSpPr>
          <p:nvPr>
            <p:ph type="sldNum" sz="quarter" idx="12"/>
          </p:nvPr>
        </p:nvSpPr>
        <p:spPr/>
        <p:txBody>
          <a:bodyPr/>
          <a:lstStyle/>
          <a:p>
            <a:fld id="{DC6309F4-03C8-4D48-A124-A9AD6E083FAC}" type="slidenum">
              <a:rPr lang="en-US" smtClean="0"/>
              <a:t>8</a:t>
            </a:fld>
            <a:endParaRPr lang="en-US"/>
          </a:p>
        </p:txBody>
      </p:sp>
    </p:spTree>
    <p:extLst>
      <p:ext uri="{BB962C8B-B14F-4D97-AF65-F5344CB8AC3E}">
        <p14:creationId xmlns:p14="http://schemas.microsoft.com/office/powerpoint/2010/main" val="18309493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55835-856E-658D-EFFD-26200493B950}"/>
            </a:ext>
          </a:extLst>
        </p:cNvPr>
        <p:cNvGrpSpPr/>
        <p:nvPr/>
      </p:nvGrpSpPr>
      <p:grpSpPr>
        <a:xfrm>
          <a:off x="0" y="0"/>
          <a:ext cx="0" cy="0"/>
          <a:chOff x="0" y="0"/>
          <a:chExt cx="0" cy="0"/>
        </a:xfrm>
      </p:grpSpPr>
      <p:grpSp>
        <p:nvGrpSpPr>
          <p:cNvPr id="44" name="Group 43">
            <a:extLst>
              <a:ext uri="{FF2B5EF4-FFF2-40B4-BE49-F238E27FC236}">
                <a16:creationId xmlns:a16="http://schemas.microsoft.com/office/drawing/2014/main" id="{8BBA7023-A7D6-C85F-5DE6-19E33EBDF1E4}"/>
              </a:ext>
            </a:extLst>
          </p:cNvPr>
          <p:cNvGrpSpPr/>
          <p:nvPr/>
        </p:nvGrpSpPr>
        <p:grpSpPr>
          <a:xfrm>
            <a:off x="10704849" y="6564312"/>
            <a:ext cx="1362075" cy="273690"/>
            <a:chOff x="19317" y="2690018"/>
            <a:chExt cx="11784755" cy="2025180"/>
          </a:xfrm>
        </p:grpSpPr>
        <p:pic>
          <p:nvPicPr>
            <p:cNvPr id="45" name="Picture 2">
              <a:extLst>
                <a:ext uri="{FF2B5EF4-FFF2-40B4-BE49-F238E27FC236}">
                  <a16:creationId xmlns:a16="http://schemas.microsoft.com/office/drawing/2014/main" id="{DE49BBF2-479E-BBA8-DA99-A3CD40342C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45">
              <a:extLst>
                <a:ext uri="{FF2B5EF4-FFF2-40B4-BE49-F238E27FC236}">
                  <a16:creationId xmlns:a16="http://schemas.microsoft.com/office/drawing/2014/main" id="{CEF8D81D-B7DF-B59B-A5C8-072660E66D83}"/>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4" name="Title 1">
            <a:extLst>
              <a:ext uri="{FF2B5EF4-FFF2-40B4-BE49-F238E27FC236}">
                <a16:creationId xmlns:a16="http://schemas.microsoft.com/office/drawing/2014/main" id="{63236CF5-8888-980F-364D-1B567A42097C}"/>
              </a:ext>
            </a:extLst>
          </p:cNvPr>
          <p:cNvSpPr txBox="1">
            <a:spLocks/>
          </p:cNvSpPr>
          <p:nvPr/>
        </p:nvSpPr>
        <p:spPr>
          <a:xfrm>
            <a:off x="0" y="-11484"/>
            <a:ext cx="121920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Challenges in Open Science: Overwhelm</a:t>
            </a:r>
          </a:p>
        </p:txBody>
      </p:sp>
      <p:grpSp>
        <p:nvGrpSpPr>
          <p:cNvPr id="24" name="Group 23">
            <a:extLst>
              <a:ext uri="{FF2B5EF4-FFF2-40B4-BE49-F238E27FC236}">
                <a16:creationId xmlns:a16="http://schemas.microsoft.com/office/drawing/2014/main" id="{732BEF10-132B-C260-8429-EAD3C95FACA7}"/>
              </a:ext>
            </a:extLst>
          </p:cNvPr>
          <p:cNvGrpSpPr/>
          <p:nvPr/>
        </p:nvGrpSpPr>
        <p:grpSpPr>
          <a:xfrm>
            <a:off x="428706" y="1900628"/>
            <a:ext cx="914400" cy="1283732"/>
            <a:chOff x="1078156" y="1850572"/>
            <a:chExt cx="914400" cy="1283732"/>
          </a:xfrm>
        </p:grpSpPr>
        <p:sp>
          <p:nvSpPr>
            <p:cNvPr id="6" name="TextBox 5">
              <a:extLst>
                <a:ext uri="{FF2B5EF4-FFF2-40B4-BE49-F238E27FC236}">
                  <a16:creationId xmlns:a16="http://schemas.microsoft.com/office/drawing/2014/main" id="{243B22E2-E4A3-15FB-D480-BA4541778AC4}"/>
                </a:ext>
              </a:extLst>
            </p:cNvPr>
            <p:cNvSpPr txBox="1"/>
            <p:nvPr/>
          </p:nvSpPr>
          <p:spPr>
            <a:xfrm>
              <a:off x="1186542" y="2764972"/>
              <a:ext cx="697627" cy="369332"/>
            </a:xfrm>
            <a:prstGeom prst="rect">
              <a:avLst/>
            </a:prstGeom>
            <a:noFill/>
          </p:spPr>
          <p:txBody>
            <a:bodyPr wrap="none" rtlCol="0">
              <a:spAutoFit/>
            </a:bodyPr>
            <a:lstStyle/>
            <a:p>
              <a:r>
                <a:rPr lang="en-GB" b="1" dirty="0"/>
                <a:t>Time</a:t>
              </a:r>
              <a:endParaRPr lang="en-US" dirty="0"/>
            </a:p>
          </p:txBody>
        </p:sp>
        <p:pic>
          <p:nvPicPr>
            <p:cNvPr id="8" name="Graphic 7" descr="Stopwatch 75% with solid fill">
              <a:extLst>
                <a:ext uri="{FF2B5EF4-FFF2-40B4-BE49-F238E27FC236}">
                  <a16:creationId xmlns:a16="http://schemas.microsoft.com/office/drawing/2014/main" id="{FD52C6C7-34E5-8B5D-75C1-F150189DA51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78156" y="1850572"/>
              <a:ext cx="914400" cy="914400"/>
            </a:xfrm>
            <a:prstGeom prst="rect">
              <a:avLst/>
            </a:prstGeom>
          </p:spPr>
        </p:pic>
      </p:grpSp>
      <p:grpSp>
        <p:nvGrpSpPr>
          <p:cNvPr id="37" name="Group 36">
            <a:extLst>
              <a:ext uri="{FF2B5EF4-FFF2-40B4-BE49-F238E27FC236}">
                <a16:creationId xmlns:a16="http://schemas.microsoft.com/office/drawing/2014/main" id="{BFB4959D-841E-CF5B-C5E5-815B09FF6464}"/>
              </a:ext>
            </a:extLst>
          </p:cNvPr>
          <p:cNvGrpSpPr/>
          <p:nvPr/>
        </p:nvGrpSpPr>
        <p:grpSpPr>
          <a:xfrm>
            <a:off x="273665" y="4115884"/>
            <a:ext cx="1394549" cy="1283732"/>
            <a:chOff x="2453820" y="4045388"/>
            <a:chExt cx="1394549" cy="1283732"/>
          </a:xfrm>
        </p:grpSpPr>
        <p:pic>
          <p:nvPicPr>
            <p:cNvPr id="38" name="Graphic 37" descr="Tired face with solid fill with solid fill">
              <a:extLst>
                <a:ext uri="{FF2B5EF4-FFF2-40B4-BE49-F238E27FC236}">
                  <a16:creationId xmlns:a16="http://schemas.microsoft.com/office/drawing/2014/main" id="{293282F6-587A-DB63-BE16-8D41545F56F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693895" y="4045388"/>
              <a:ext cx="914400" cy="914400"/>
            </a:xfrm>
            <a:prstGeom prst="rect">
              <a:avLst/>
            </a:prstGeom>
          </p:spPr>
        </p:pic>
        <p:sp>
          <p:nvSpPr>
            <p:cNvPr id="39" name="TextBox 38">
              <a:extLst>
                <a:ext uri="{FF2B5EF4-FFF2-40B4-BE49-F238E27FC236}">
                  <a16:creationId xmlns:a16="http://schemas.microsoft.com/office/drawing/2014/main" id="{6EADC94E-B397-D4D0-7772-6A532AEC0556}"/>
                </a:ext>
              </a:extLst>
            </p:cNvPr>
            <p:cNvSpPr txBox="1"/>
            <p:nvPr/>
          </p:nvSpPr>
          <p:spPr>
            <a:xfrm>
              <a:off x="2453820" y="4959788"/>
              <a:ext cx="1394549" cy="369332"/>
            </a:xfrm>
            <a:prstGeom prst="rect">
              <a:avLst/>
            </a:prstGeom>
            <a:noFill/>
          </p:spPr>
          <p:txBody>
            <a:bodyPr wrap="none" rtlCol="0">
              <a:spAutoFit/>
            </a:bodyPr>
            <a:lstStyle/>
            <a:p>
              <a:r>
                <a:rPr lang="en-GB" b="1" dirty="0"/>
                <a:t>Overwhelm</a:t>
              </a:r>
              <a:endParaRPr lang="en-US" dirty="0"/>
            </a:p>
          </p:txBody>
        </p:sp>
      </p:grpSp>
      <p:sp>
        <p:nvSpPr>
          <p:cNvPr id="41" name="Rectangle 40">
            <a:extLst>
              <a:ext uri="{FF2B5EF4-FFF2-40B4-BE49-F238E27FC236}">
                <a16:creationId xmlns:a16="http://schemas.microsoft.com/office/drawing/2014/main" id="{6220CB96-455A-7FF7-5DC3-C2337F46B0F1}"/>
              </a:ext>
            </a:extLst>
          </p:cNvPr>
          <p:cNvSpPr/>
          <p:nvPr/>
        </p:nvSpPr>
        <p:spPr>
          <a:xfrm>
            <a:off x="312603" y="1715686"/>
            <a:ext cx="1167268" cy="1708212"/>
          </a:xfrm>
          <a:prstGeom prst="rect">
            <a:avLst/>
          </a:prstGeom>
          <a:solidFill>
            <a:schemeClr val="bg1">
              <a:alpha val="6688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4FD3C1A0-6995-258C-4645-0315B2BE4E67}"/>
              </a:ext>
            </a:extLst>
          </p:cNvPr>
          <p:cNvSpPr txBox="1"/>
          <p:nvPr/>
        </p:nvSpPr>
        <p:spPr>
          <a:xfrm>
            <a:off x="93349" y="5483019"/>
            <a:ext cx="2282739" cy="646331"/>
          </a:xfrm>
          <a:prstGeom prst="rect">
            <a:avLst/>
          </a:prstGeom>
          <a:noFill/>
        </p:spPr>
        <p:txBody>
          <a:bodyPr wrap="square" rtlCol="0">
            <a:spAutoFit/>
          </a:bodyPr>
          <a:lstStyle/>
          <a:p>
            <a:r>
              <a:rPr lang="en-US" dirty="0"/>
              <a:t>e.g. Competing demands </a:t>
            </a:r>
          </a:p>
        </p:txBody>
      </p:sp>
      <p:sp>
        <p:nvSpPr>
          <p:cNvPr id="43" name="Slide Number Placeholder 42">
            <a:extLst>
              <a:ext uri="{FF2B5EF4-FFF2-40B4-BE49-F238E27FC236}">
                <a16:creationId xmlns:a16="http://schemas.microsoft.com/office/drawing/2014/main" id="{B94B454F-E885-A729-F37C-6EA4980B00C7}"/>
              </a:ext>
            </a:extLst>
          </p:cNvPr>
          <p:cNvSpPr>
            <a:spLocks noGrp="1"/>
          </p:cNvSpPr>
          <p:nvPr>
            <p:ph type="sldNum" sz="quarter" idx="12"/>
          </p:nvPr>
        </p:nvSpPr>
        <p:spPr/>
        <p:txBody>
          <a:bodyPr/>
          <a:lstStyle/>
          <a:p>
            <a:fld id="{DC6309F4-03C8-4D48-A124-A9AD6E083FAC}" type="slidenum">
              <a:rPr lang="en-US" smtClean="0"/>
              <a:t>9</a:t>
            </a:fld>
            <a:endParaRPr lang="en-US"/>
          </a:p>
        </p:txBody>
      </p:sp>
    </p:spTree>
    <p:extLst>
      <p:ext uri="{BB962C8B-B14F-4D97-AF65-F5344CB8AC3E}">
        <p14:creationId xmlns:p14="http://schemas.microsoft.com/office/powerpoint/2010/main" val="38582977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D5CC0-62E0-29BC-6251-9226E2CC3C95}"/>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C67D486D-77DE-7469-2BDA-0E78B9FE2B98}"/>
              </a:ext>
            </a:extLst>
          </p:cNvPr>
          <p:cNvGrpSpPr/>
          <p:nvPr/>
        </p:nvGrpSpPr>
        <p:grpSpPr>
          <a:xfrm>
            <a:off x="10704849" y="6564312"/>
            <a:ext cx="1362075" cy="273690"/>
            <a:chOff x="19317" y="2690018"/>
            <a:chExt cx="11784755" cy="2025180"/>
          </a:xfrm>
        </p:grpSpPr>
        <p:pic>
          <p:nvPicPr>
            <p:cNvPr id="12" name="Picture 2">
              <a:extLst>
                <a:ext uri="{FF2B5EF4-FFF2-40B4-BE49-F238E27FC236}">
                  <a16:creationId xmlns:a16="http://schemas.microsoft.com/office/drawing/2014/main" id="{65ABFD90-990C-4F87-8B96-0676C43659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97DBECF7-7884-86FF-7208-92F94ACDDE30}"/>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4" name="Title 1">
            <a:extLst>
              <a:ext uri="{FF2B5EF4-FFF2-40B4-BE49-F238E27FC236}">
                <a16:creationId xmlns:a16="http://schemas.microsoft.com/office/drawing/2014/main" id="{12333FDC-82D4-EC97-48B2-DE711384CE57}"/>
              </a:ext>
            </a:extLst>
          </p:cNvPr>
          <p:cNvSpPr txBox="1">
            <a:spLocks/>
          </p:cNvSpPr>
          <p:nvPr/>
        </p:nvSpPr>
        <p:spPr>
          <a:xfrm>
            <a:off x="0" y="-11484"/>
            <a:ext cx="121920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Challenges in Open Science: Incentive structures</a:t>
            </a:r>
          </a:p>
        </p:txBody>
      </p:sp>
      <p:grpSp>
        <p:nvGrpSpPr>
          <p:cNvPr id="24" name="Group 23">
            <a:extLst>
              <a:ext uri="{FF2B5EF4-FFF2-40B4-BE49-F238E27FC236}">
                <a16:creationId xmlns:a16="http://schemas.microsoft.com/office/drawing/2014/main" id="{ACC704BE-7B24-06DE-0F2A-775ACDEB5397}"/>
              </a:ext>
            </a:extLst>
          </p:cNvPr>
          <p:cNvGrpSpPr/>
          <p:nvPr/>
        </p:nvGrpSpPr>
        <p:grpSpPr>
          <a:xfrm>
            <a:off x="428706" y="1900628"/>
            <a:ext cx="914400" cy="1283732"/>
            <a:chOff x="1078156" y="1850572"/>
            <a:chExt cx="914400" cy="1283732"/>
          </a:xfrm>
        </p:grpSpPr>
        <p:sp>
          <p:nvSpPr>
            <p:cNvPr id="6" name="TextBox 5">
              <a:extLst>
                <a:ext uri="{FF2B5EF4-FFF2-40B4-BE49-F238E27FC236}">
                  <a16:creationId xmlns:a16="http://schemas.microsoft.com/office/drawing/2014/main" id="{F739C5EC-FA52-3F57-8BFA-307B66A02C18}"/>
                </a:ext>
              </a:extLst>
            </p:cNvPr>
            <p:cNvSpPr txBox="1"/>
            <p:nvPr/>
          </p:nvSpPr>
          <p:spPr>
            <a:xfrm>
              <a:off x="1186542" y="2764972"/>
              <a:ext cx="697627" cy="369332"/>
            </a:xfrm>
            <a:prstGeom prst="rect">
              <a:avLst/>
            </a:prstGeom>
            <a:noFill/>
          </p:spPr>
          <p:txBody>
            <a:bodyPr wrap="none" rtlCol="0">
              <a:spAutoFit/>
            </a:bodyPr>
            <a:lstStyle/>
            <a:p>
              <a:r>
                <a:rPr lang="en-GB" b="1" dirty="0"/>
                <a:t>Time</a:t>
              </a:r>
              <a:endParaRPr lang="en-US" dirty="0"/>
            </a:p>
          </p:txBody>
        </p:sp>
        <p:pic>
          <p:nvPicPr>
            <p:cNvPr id="8" name="Graphic 7" descr="Stopwatch 75% with solid fill">
              <a:extLst>
                <a:ext uri="{FF2B5EF4-FFF2-40B4-BE49-F238E27FC236}">
                  <a16:creationId xmlns:a16="http://schemas.microsoft.com/office/drawing/2014/main" id="{C26E0E13-0409-00CA-5C0F-0B329BBC41E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78156" y="1850572"/>
              <a:ext cx="914400" cy="914400"/>
            </a:xfrm>
            <a:prstGeom prst="rect">
              <a:avLst/>
            </a:prstGeom>
          </p:spPr>
        </p:pic>
      </p:grpSp>
      <p:grpSp>
        <p:nvGrpSpPr>
          <p:cNvPr id="23" name="Group 22">
            <a:extLst>
              <a:ext uri="{FF2B5EF4-FFF2-40B4-BE49-F238E27FC236}">
                <a16:creationId xmlns:a16="http://schemas.microsoft.com/office/drawing/2014/main" id="{652C8C18-2CD6-3047-30C8-B6214849A19D}"/>
              </a:ext>
            </a:extLst>
          </p:cNvPr>
          <p:cNvGrpSpPr/>
          <p:nvPr/>
        </p:nvGrpSpPr>
        <p:grpSpPr>
          <a:xfrm>
            <a:off x="2137849" y="1748273"/>
            <a:ext cx="1275029" cy="1552016"/>
            <a:chOff x="7918976" y="1325563"/>
            <a:chExt cx="1275029" cy="1552016"/>
          </a:xfrm>
        </p:grpSpPr>
        <p:pic>
          <p:nvPicPr>
            <p:cNvPr id="10" name="Graphic 9" descr="Medal with solid fill">
              <a:extLst>
                <a:ext uri="{FF2B5EF4-FFF2-40B4-BE49-F238E27FC236}">
                  <a16:creationId xmlns:a16="http://schemas.microsoft.com/office/drawing/2014/main" id="{0C8B4CE3-E7EB-BFFE-BF84-8B5007AC84E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099611" y="1325563"/>
              <a:ext cx="914400" cy="914400"/>
            </a:xfrm>
            <a:prstGeom prst="rect">
              <a:avLst/>
            </a:prstGeom>
          </p:spPr>
        </p:pic>
        <p:sp>
          <p:nvSpPr>
            <p:cNvPr id="11" name="TextBox 10">
              <a:extLst>
                <a:ext uri="{FF2B5EF4-FFF2-40B4-BE49-F238E27FC236}">
                  <a16:creationId xmlns:a16="http://schemas.microsoft.com/office/drawing/2014/main" id="{A3F9E582-AE48-D70D-833B-E1F12A96963C}"/>
                </a:ext>
              </a:extLst>
            </p:cNvPr>
            <p:cNvSpPr txBox="1"/>
            <p:nvPr/>
          </p:nvSpPr>
          <p:spPr>
            <a:xfrm>
              <a:off x="7918976" y="2231248"/>
              <a:ext cx="1275029" cy="646331"/>
            </a:xfrm>
            <a:prstGeom prst="rect">
              <a:avLst/>
            </a:prstGeom>
            <a:noFill/>
          </p:spPr>
          <p:txBody>
            <a:bodyPr wrap="none" rtlCol="0">
              <a:spAutoFit/>
            </a:bodyPr>
            <a:lstStyle/>
            <a:p>
              <a:r>
                <a:rPr lang="en-GB" b="1" dirty="0"/>
                <a:t>Incentive </a:t>
              </a:r>
            </a:p>
            <a:p>
              <a:r>
                <a:rPr lang="en-GB" b="1" dirty="0"/>
                <a:t>structures</a:t>
              </a:r>
              <a:endParaRPr lang="en-US" dirty="0"/>
            </a:p>
          </p:txBody>
        </p:sp>
      </p:grpSp>
      <p:grpSp>
        <p:nvGrpSpPr>
          <p:cNvPr id="21" name="Group 20">
            <a:extLst>
              <a:ext uri="{FF2B5EF4-FFF2-40B4-BE49-F238E27FC236}">
                <a16:creationId xmlns:a16="http://schemas.microsoft.com/office/drawing/2014/main" id="{59BDD2EC-5A49-A1CA-8B43-74BE09D9B02E}"/>
              </a:ext>
            </a:extLst>
          </p:cNvPr>
          <p:cNvGrpSpPr/>
          <p:nvPr/>
        </p:nvGrpSpPr>
        <p:grpSpPr>
          <a:xfrm>
            <a:off x="273665" y="4115884"/>
            <a:ext cx="1394549" cy="1283732"/>
            <a:chOff x="2453820" y="4045388"/>
            <a:chExt cx="1394549" cy="1283732"/>
          </a:xfrm>
        </p:grpSpPr>
        <p:pic>
          <p:nvPicPr>
            <p:cNvPr id="13" name="Graphic 12" descr="Tired face with solid fill with solid fill">
              <a:extLst>
                <a:ext uri="{FF2B5EF4-FFF2-40B4-BE49-F238E27FC236}">
                  <a16:creationId xmlns:a16="http://schemas.microsoft.com/office/drawing/2014/main" id="{203D4B95-DB1E-3F37-41E1-45AF63ED279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693895" y="4045388"/>
              <a:ext cx="914400" cy="914400"/>
            </a:xfrm>
            <a:prstGeom prst="rect">
              <a:avLst/>
            </a:prstGeom>
          </p:spPr>
        </p:pic>
        <p:sp>
          <p:nvSpPr>
            <p:cNvPr id="16" name="TextBox 15">
              <a:extLst>
                <a:ext uri="{FF2B5EF4-FFF2-40B4-BE49-F238E27FC236}">
                  <a16:creationId xmlns:a16="http://schemas.microsoft.com/office/drawing/2014/main" id="{A5F7999F-D54E-D852-A630-A3490993424A}"/>
                </a:ext>
              </a:extLst>
            </p:cNvPr>
            <p:cNvSpPr txBox="1"/>
            <p:nvPr/>
          </p:nvSpPr>
          <p:spPr>
            <a:xfrm>
              <a:off x="2453820" y="4959788"/>
              <a:ext cx="1394549" cy="369332"/>
            </a:xfrm>
            <a:prstGeom prst="rect">
              <a:avLst/>
            </a:prstGeom>
            <a:noFill/>
          </p:spPr>
          <p:txBody>
            <a:bodyPr wrap="none" rtlCol="0">
              <a:spAutoFit/>
            </a:bodyPr>
            <a:lstStyle/>
            <a:p>
              <a:r>
                <a:rPr lang="en-GB" b="1" dirty="0"/>
                <a:t>Overwhelm</a:t>
              </a:r>
              <a:endParaRPr lang="en-US" dirty="0"/>
            </a:p>
          </p:txBody>
        </p:sp>
      </p:grpSp>
      <p:sp>
        <p:nvSpPr>
          <p:cNvPr id="2" name="Rectangle 1">
            <a:extLst>
              <a:ext uri="{FF2B5EF4-FFF2-40B4-BE49-F238E27FC236}">
                <a16:creationId xmlns:a16="http://schemas.microsoft.com/office/drawing/2014/main" id="{05B46278-F838-3533-40A9-57EE2CF978C9}"/>
              </a:ext>
            </a:extLst>
          </p:cNvPr>
          <p:cNvSpPr/>
          <p:nvPr/>
        </p:nvSpPr>
        <p:spPr>
          <a:xfrm>
            <a:off x="312603" y="1715686"/>
            <a:ext cx="1475872" cy="4283332"/>
          </a:xfrm>
          <a:prstGeom prst="rect">
            <a:avLst/>
          </a:prstGeom>
          <a:solidFill>
            <a:schemeClr val="bg1">
              <a:alpha val="6688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1F15D56-B9A8-259C-8684-3251824E900F}"/>
              </a:ext>
            </a:extLst>
          </p:cNvPr>
          <p:cNvSpPr txBox="1"/>
          <p:nvPr/>
        </p:nvSpPr>
        <p:spPr>
          <a:xfrm>
            <a:off x="2091514" y="3300289"/>
            <a:ext cx="2282739" cy="923330"/>
          </a:xfrm>
          <a:prstGeom prst="rect">
            <a:avLst/>
          </a:prstGeom>
          <a:noFill/>
        </p:spPr>
        <p:txBody>
          <a:bodyPr wrap="square" rtlCol="0">
            <a:spAutoFit/>
          </a:bodyPr>
          <a:lstStyle/>
          <a:p>
            <a:r>
              <a:rPr lang="en-US" dirty="0"/>
              <a:t>e.g. Narrow research evaluation metrics like H-index</a:t>
            </a:r>
          </a:p>
        </p:txBody>
      </p:sp>
      <p:sp>
        <p:nvSpPr>
          <p:cNvPr id="7" name="Slide Number Placeholder 6">
            <a:extLst>
              <a:ext uri="{FF2B5EF4-FFF2-40B4-BE49-F238E27FC236}">
                <a16:creationId xmlns:a16="http://schemas.microsoft.com/office/drawing/2014/main" id="{9ADCA395-A252-9DAF-EE69-518FECB636F7}"/>
              </a:ext>
            </a:extLst>
          </p:cNvPr>
          <p:cNvSpPr>
            <a:spLocks noGrp="1"/>
          </p:cNvSpPr>
          <p:nvPr>
            <p:ph type="sldNum" sz="quarter" idx="12"/>
          </p:nvPr>
        </p:nvSpPr>
        <p:spPr/>
        <p:txBody>
          <a:bodyPr/>
          <a:lstStyle/>
          <a:p>
            <a:fld id="{DC6309F4-03C8-4D48-A124-A9AD6E083FAC}" type="slidenum">
              <a:rPr lang="en-US" smtClean="0"/>
              <a:t>10</a:t>
            </a:fld>
            <a:endParaRPr lang="en-US"/>
          </a:p>
        </p:txBody>
      </p:sp>
    </p:spTree>
    <p:extLst>
      <p:ext uri="{BB962C8B-B14F-4D97-AF65-F5344CB8AC3E}">
        <p14:creationId xmlns:p14="http://schemas.microsoft.com/office/powerpoint/2010/main" val="40055988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F3A4D-3543-00A1-5116-8C530ADD0150}"/>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063C5274-2FC3-1050-507A-1DC28C5D25E2}"/>
              </a:ext>
            </a:extLst>
          </p:cNvPr>
          <p:cNvGrpSpPr/>
          <p:nvPr/>
        </p:nvGrpSpPr>
        <p:grpSpPr>
          <a:xfrm>
            <a:off x="10704849" y="6564312"/>
            <a:ext cx="1362075" cy="273690"/>
            <a:chOff x="19317" y="2690018"/>
            <a:chExt cx="11784755" cy="2025180"/>
          </a:xfrm>
        </p:grpSpPr>
        <p:pic>
          <p:nvPicPr>
            <p:cNvPr id="12" name="Picture 2">
              <a:extLst>
                <a:ext uri="{FF2B5EF4-FFF2-40B4-BE49-F238E27FC236}">
                  <a16:creationId xmlns:a16="http://schemas.microsoft.com/office/drawing/2014/main" id="{FA15DD33-3DC6-CB46-51A2-709582170F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9E542F53-1923-D21A-3F07-378937A69F79}"/>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4" name="Title 1">
            <a:extLst>
              <a:ext uri="{FF2B5EF4-FFF2-40B4-BE49-F238E27FC236}">
                <a16:creationId xmlns:a16="http://schemas.microsoft.com/office/drawing/2014/main" id="{E767A8D3-DD62-31D9-CB4F-D196E3052095}"/>
              </a:ext>
            </a:extLst>
          </p:cNvPr>
          <p:cNvSpPr txBox="1">
            <a:spLocks/>
          </p:cNvSpPr>
          <p:nvPr/>
        </p:nvSpPr>
        <p:spPr>
          <a:xfrm>
            <a:off x="0" y="-11484"/>
            <a:ext cx="121920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Challenges in Open Science: Lack of training/skills </a:t>
            </a:r>
          </a:p>
        </p:txBody>
      </p:sp>
      <p:grpSp>
        <p:nvGrpSpPr>
          <p:cNvPr id="24" name="Group 23">
            <a:extLst>
              <a:ext uri="{FF2B5EF4-FFF2-40B4-BE49-F238E27FC236}">
                <a16:creationId xmlns:a16="http://schemas.microsoft.com/office/drawing/2014/main" id="{1A2EDB76-453A-D210-BAAC-FAE3AC741B5F}"/>
              </a:ext>
            </a:extLst>
          </p:cNvPr>
          <p:cNvGrpSpPr/>
          <p:nvPr/>
        </p:nvGrpSpPr>
        <p:grpSpPr>
          <a:xfrm>
            <a:off x="428706" y="1900628"/>
            <a:ext cx="914400" cy="1283732"/>
            <a:chOff x="1078156" y="1850572"/>
            <a:chExt cx="914400" cy="1283732"/>
          </a:xfrm>
        </p:grpSpPr>
        <p:sp>
          <p:nvSpPr>
            <p:cNvPr id="6" name="TextBox 5">
              <a:extLst>
                <a:ext uri="{FF2B5EF4-FFF2-40B4-BE49-F238E27FC236}">
                  <a16:creationId xmlns:a16="http://schemas.microsoft.com/office/drawing/2014/main" id="{8D898BE0-E24B-2E17-34E6-F40A527F23D7}"/>
                </a:ext>
              </a:extLst>
            </p:cNvPr>
            <p:cNvSpPr txBox="1"/>
            <p:nvPr/>
          </p:nvSpPr>
          <p:spPr>
            <a:xfrm>
              <a:off x="1186542" y="2764972"/>
              <a:ext cx="697627" cy="369332"/>
            </a:xfrm>
            <a:prstGeom prst="rect">
              <a:avLst/>
            </a:prstGeom>
            <a:noFill/>
          </p:spPr>
          <p:txBody>
            <a:bodyPr wrap="none" rtlCol="0">
              <a:spAutoFit/>
            </a:bodyPr>
            <a:lstStyle/>
            <a:p>
              <a:r>
                <a:rPr lang="en-GB" b="1" dirty="0"/>
                <a:t>Time</a:t>
              </a:r>
              <a:endParaRPr lang="en-US" dirty="0"/>
            </a:p>
          </p:txBody>
        </p:sp>
        <p:pic>
          <p:nvPicPr>
            <p:cNvPr id="8" name="Graphic 7" descr="Stopwatch 75% with solid fill">
              <a:extLst>
                <a:ext uri="{FF2B5EF4-FFF2-40B4-BE49-F238E27FC236}">
                  <a16:creationId xmlns:a16="http://schemas.microsoft.com/office/drawing/2014/main" id="{39F42CEA-1015-3E77-E414-0E7C3106A49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78156" y="1850572"/>
              <a:ext cx="914400" cy="914400"/>
            </a:xfrm>
            <a:prstGeom prst="rect">
              <a:avLst/>
            </a:prstGeom>
          </p:spPr>
        </p:pic>
      </p:grpSp>
      <p:grpSp>
        <p:nvGrpSpPr>
          <p:cNvPr id="23" name="Group 22">
            <a:extLst>
              <a:ext uri="{FF2B5EF4-FFF2-40B4-BE49-F238E27FC236}">
                <a16:creationId xmlns:a16="http://schemas.microsoft.com/office/drawing/2014/main" id="{6C27FB7A-E551-DD1B-0AA2-9D3DF6B507F1}"/>
              </a:ext>
            </a:extLst>
          </p:cNvPr>
          <p:cNvGrpSpPr/>
          <p:nvPr/>
        </p:nvGrpSpPr>
        <p:grpSpPr>
          <a:xfrm>
            <a:off x="2137849" y="1748273"/>
            <a:ext cx="1275029" cy="1552016"/>
            <a:chOff x="7918976" y="1325563"/>
            <a:chExt cx="1275029" cy="1552016"/>
          </a:xfrm>
        </p:grpSpPr>
        <p:pic>
          <p:nvPicPr>
            <p:cNvPr id="10" name="Graphic 9" descr="Medal with solid fill">
              <a:extLst>
                <a:ext uri="{FF2B5EF4-FFF2-40B4-BE49-F238E27FC236}">
                  <a16:creationId xmlns:a16="http://schemas.microsoft.com/office/drawing/2014/main" id="{C862E2D1-4051-D77E-BAAC-CDFFD3CABCC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099611" y="1325563"/>
              <a:ext cx="914400" cy="914400"/>
            </a:xfrm>
            <a:prstGeom prst="rect">
              <a:avLst/>
            </a:prstGeom>
          </p:spPr>
        </p:pic>
        <p:sp>
          <p:nvSpPr>
            <p:cNvPr id="11" name="TextBox 10">
              <a:extLst>
                <a:ext uri="{FF2B5EF4-FFF2-40B4-BE49-F238E27FC236}">
                  <a16:creationId xmlns:a16="http://schemas.microsoft.com/office/drawing/2014/main" id="{AECA9845-E8D3-5038-3711-2F573B7CB5F4}"/>
                </a:ext>
              </a:extLst>
            </p:cNvPr>
            <p:cNvSpPr txBox="1"/>
            <p:nvPr/>
          </p:nvSpPr>
          <p:spPr>
            <a:xfrm>
              <a:off x="7918976" y="2231248"/>
              <a:ext cx="1275029" cy="646331"/>
            </a:xfrm>
            <a:prstGeom prst="rect">
              <a:avLst/>
            </a:prstGeom>
            <a:noFill/>
          </p:spPr>
          <p:txBody>
            <a:bodyPr wrap="none" rtlCol="0">
              <a:spAutoFit/>
            </a:bodyPr>
            <a:lstStyle/>
            <a:p>
              <a:r>
                <a:rPr lang="en-GB" b="1" dirty="0"/>
                <a:t>Incentive </a:t>
              </a:r>
            </a:p>
            <a:p>
              <a:r>
                <a:rPr lang="en-GB" b="1" dirty="0"/>
                <a:t>structures</a:t>
              </a:r>
              <a:endParaRPr lang="en-US" dirty="0"/>
            </a:p>
          </p:txBody>
        </p:sp>
      </p:grpSp>
      <p:grpSp>
        <p:nvGrpSpPr>
          <p:cNvPr id="21" name="Group 20">
            <a:extLst>
              <a:ext uri="{FF2B5EF4-FFF2-40B4-BE49-F238E27FC236}">
                <a16:creationId xmlns:a16="http://schemas.microsoft.com/office/drawing/2014/main" id="{9D55BDF9-A572-BB86-1108-89D9C1429D0F}"/>
              </a:ext>
            </a:extLst>
          </p:cNvPr>
          <p:cNvGrpSpPr/>
          <p:nvPr/>
        </p:nvGrpSpPr>
        <p:grpSpPr>
          <a:xfrm>
            <a:off x="273665" y="4115884"/>
            <a:ext cx="1394549" cy="1283732"/>
            <a:chOff x="2453820" y="4045388"/>
            <a:chExt cx="1394549" cy="1283732"/>
          </a:xfrm>
        </p:grpSpPr>
        <p:pic>
          <p:nvPicPr>
            <p:cNvPr id="13" name="Graphic 12" descr="Tired face with solid fill with solid fill">
              <a:extLst>
                <a:ext uri="{FF2B5EF4-FFF2-40B4-BE49-F238E27FC236}">
                  <a16:creationId xmlns:a16="http://schemas.microsoft.com/office/drawing/2014/main" id="{524A9C42-7639-B3FC-FBE2-679B411E951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693895" y="4045388"/>
              <a:ext cx="914400" cy="914400"/>
            </a:xfrm>
            <a:prstGeom prst="rect">
              <a:avLst/>
            </a:prstGeom>
          </p:spPr>
        </p:pic>
        <p:sp>
          <p:nvSpPr>
            <p:cNvPr id="16" name="TextBox 15">
              <a:extLst>
                <a:ext uri="{FF2B5EF4-FFF2-40B4-BE49-F238E27FC236}">
                  <a16:creationId xmlns:a16="http://schemas.microsoft.com/office/drawing/2014/main" id="{7394E29B-D782-2330-9CC8-E10C2E16B6DD}"/>
                </a:ext>
              </a:extLst>
            </p:cNvPr>
            <p:cNvSpPr txBox="1"/>
            <p:nvPr/>
          </p:nvSpPr>
          <p:spPr>
            <a:xfrm>
              <a:off x="2453820" y="4959788"/>
              <a:ext cx="1394549" cy="369332"/>
            </a:xfrm>
            <a:prstGeom prst="rect">
              <a:avLst/>
            </a:prstGeom>
            <a:noFill/>
          </p:spPr>
          <p:txBody>
            <a:bodyPr wrap="none" rtlCol="0">
              <a:spAutoFit/>
            </a:bodyPr>
            <a:lstStyle/>
            <a:p>
              <a:r>
                <a:rPr lang="en-GB" b="1" dirty="0"/>
                <a:t>Overwhelm</a:t>
              </a:r>
              <a:endParaRPr lang="en-US" dirty="0"/>
            </a:p>
          </p:txBody>
        </p:sp>
      </p:grpSp>
      <p:grpSp>
        <p:nvGrpSpPr>
          <p:cNvPr id="49" name="Group 48">
            <a:extLst>
              <a:ext uri="{FF2B5EF4-FFF2-40B4-BE49-F238E27FC236}">
                <a16:creationId xmlns:a16="http://schemas.microsoft.com/office/drawing/2014/main" id="{A577D9E0-05F5-4EAF-D771-3FDD7B812FF6}"/>
              </a:ext>
            </a:extLst>
          </p:cNvPr>
          <p:cNvGrpSpPr/>
          <p:nvPr/>
        </p:nvGrpSpPr>
        <p:grpSpPr>
          <a:xfrm>
            <a:off x="2235120" y="3720093"/>
            <a:ext cx="1070678" cy="1922873"/>
            <a:chOff x="5056184" y="4084711"/>
            <a:chExt cx="1070678" cy="1922873"/>
          </a:xfrm>
        </p:grpSpPr>
        <p:pic>
          <p:nvPicPr>
            <p:cNvPr id="30" name="Graphic 29" descr="Books with solid fill">
              <a:extLst>
                <a:ext uri="{FF2B5EF4-FFF2-40B4-BE49-F238E27FC236}">
                  <a16:creationId xmlns:a16="http://schemas.microsoft.com/office/drawing/2014/main" id="{205CC58E-DED3-E52C-A9A3-A8685D70633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128721" y="4084711"/>
              <a:ext cx="914400" cy="914400"/>
            </a:xfrm>
            <a:prstGeom prst="rect">
              <a:avLst/>
            </a:prstGeom>
          </p:spPr>
        </p:pic>
        <p:sp>
          <p:nvSpPr>
            <p:cNvPr id="31" name="TextBox 30">
              <a:extLst>
                <a:ext uri="{FF2B5EF4-FFF2-40B4-BE49-F238E27FC236}">
                  <a16:creationId xmlns:a16="http://schemas.microsoft.com/office/drawing/2014/main" id="{331F4166-ACAE-7F12-E72B-ED62B75E2793}"/>
                </a:ext>
              </a:extLst>
            </p:cNvPr>
            <p:cNvSpPr txBox="1"/>
            <p:nvPr/>
          </p:nvSpPr>
          <p:spPr>
            <a:xfrm>
              <a:off x="5056184" y="5084254"/>
              <a:ext cx="1070678" cy="923330"/>
            </a:xfrm>
            <a:prstGeom prst="rect">
              <a:avLst/>
            </a:prstGeom>
            <a:noFill/>
          </p:spPr>
          <p:txBody>
            <a:bodyPr wrap="none" rtlCol="0">
              <a:spAutoFit/>
            </a:bodyPr>
            <a:lstStyle/>
            <a:p>
              <a:r>
                <a:rPr lang="en-GB" b="1" dirty="0"/>
                <a:t>Lack of </a:t>
              </a:r>
            </a:p>
            <a:p>
              <a:r>
                <a:rPr lang="en-GB" b="1" dirty="0"/>
                <a:t>training/</a:t>
              </a:r>
            </a:p>
            <a:p>
              <a:r>
                <a:rPr lang="en-GB" b="1" dirty="0"/>
                <a:t>skills</a:t>
              </a:r>
              <a:endParaRPr lang="en-US" dirty="0"/>
            </a:p>
          </p:txBody>
        </p:sp>
      </p:grpSp>
      <p:sp>
        <p:nvSpPr>
          <p:cNvPr id="2" name="Rectangle 1">
            <a:extLst>
              <a:ext uri="{FF2B5EF4-FFF2-40B4-BE49-F238E27FC236}">
                <a16:creationId xmlns:a16="http://schemas.microsoft.com/office/drawing/2014/main" id="{F81E6D77-24C7-817A-75D1-D97CA72FDCFB}"/>
              </a:ext>
            </a:extLst>
          </p:cNvPr>
          <p:cNvSpPr/>
          <p:nvPr/>
        </p:nvSpPr>
        <p:spPr>
          <a:xfrm>
            <a:off x="312603" y="1715686"/>
            <a:ext cx="1475872" cy="4283332"/>
          </a:xfrm>
          <a:prstGeom prst="rect">
            <a:avLst/>
          </a:prstGeom>
          <a:solidFill>
            <a:schemeClr val="bg1">
              <a:alpha val="6688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2D2696C-A3E0-D68A-D6DA-C68586F72348}"/>
              </a:ext>
            </a:extLst>
          </p:cNvPr>
          <p:cNvSpPr/>
          <p:nvPr/>
        </p:nvSpPr>
        <p:spPr>
          <a:xfrm>
            <a:off x="2044962" y="1472276"/>
            <a:ext cx="1475872" cy="1956724"/>
          </a:xfrm>
          <a:prstGeom prst="rect">
            <a:avLst/>
          </a:prstGeom>
          <a:solidFill>
            <a:schemeClr val="bg1">
              <a:alpha val="6688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1F4F731-78B0-7A27-5DF2-9558597C126B}"/>
              </a:ext>
            </a:extLst>
          </p:cNvPr>
          <p:cNvSpPr txBox="1"/>
          <p:nvPr/>
        </p:nvSpPr>
        <p:spPr>
          <a:xfrm>
            <a:off x="2235120" y="5642966"/>
            <a:ext cx="2282739" cy="923330"/>
          </a:xfrm>
          <a:prstGeom prst="rect">
            <a:avLst/>
          </a:prstGeom>
          <a:noFill/>
        </p:spPr>
        <p:txBody>
          <a:bodyPr wrap="square" rtlCol="0">
            <a:spAutoFit/>
          </a:bodyPr>
          <a:lstStyle/>
          <a:p>
            <a:r>
              <a:rPr lang="en-US" dirty="0"/>
              <a:t>e.g. Training on how to make reproducible code</a:t>
            </a:r>
          </a:p>
        </p:txBody>
      </p:sp>
      <p:sp>
        <p:nvSpPr>
          <p:cNvPr id="7" name="Slide Number Placeholder 6">
            <a:extLst>
              <a:ext uri="{FF2B5EF4-FFF2-40B4-BE49-F238E27FC236}">
                <a16:creationId xmlns:a16="http://schemas.microsoft.com/office/drawing/2014/main" id="{D172EA72-24F2-3150-E1DC-85C47C3A3686}"/>
              </a:ext>
            </a:extLst>
          </p:cNvPr>
          <p:cNvSpPr>
            <a:spLocks noGrp="1"/>
          </p:cNvSpPr>
          <p:nvPr>
            <p:ph type="sldNum" sz="quarter" idx="12"/>
          </p:nvPr>
        </p:nvSpPr>
        <p:spPr/>
        <p:txBody>
          <a:bodyPr/>
          <a:lstStyle/>
          <a:p>
            <a:fld id="{DC6309F4-03C8-4D48-A124-A9AD6E083FAC}" type="slidenum">
              <a:rPr lang="en-US" smtClean="0"/>
              <a:t>11</a:t>
            </a:fld>
            <a:endParaRPr lang="en-US"/>
          </a:p>
        </p:txBody>
      </p:sp>
    </p:spTree>
    <p:extLst>
      <p:ext uri="{BB962C8B-B14F-4D97-AF65-F5344CB8AC3E}">
        <p14:creationId xmlns:p14="http://schemas.microsoft.com/office/powerpoint/2010/main" val="16936959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CFFB6-D2E8-C32A-C757-DC6C4E8CEB93}"/>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9191CA14-2F5D-554B-E8C4-AF70F4C10733}"/>
              </a:ext>
            </a:extLst>
          </p:cNvPr>
          <p:cNvGrpSpPr/>
          <p:nvPr/>
        </p:nvGrpSpPr>
        <p:grpSpPr>
          <a:xfrm>
            <a:off x="10704849" y="6564312"/>
            <a:ext cx="1362075" cy="273690"/>
            <a:chOff x="19317" y="2690018"/>
            <a:chExt cx="11784755" cy="2025180"/>
          </a:xfrm>
        </p:grpSpPr>
        <p:pic>
          <p:nvPicPr>
            <p:cNvPr id="12" name="Picture 2">
              <a:extLst>
                <a:ext uri="{FF2B5EF4-FFF2-40B4-BE49-F238E27FC236}">
                  <a16:creationId xmlns:a16="http://schemas.microsoft.com/office/drawing/2014/main" id="{A6A612F5-CD5D-FE79-931E-5C2009C77E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26AFE0A5-A213-548A-B342-FC8F6F81B315}"/>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4" name="Title 1">
            <a:extLst>
              <a:ext uri="{FF2B5EF4-FFF2-40B4-BE49-F238E27FC236}">
                <a16:creationId xmlns:a16="http://schemas.microsoft.com/office/drawing/2014/main" id="{DB86DBC1-64FE-BBE6-1188-D96BFE2BC9EC}"/>
              </a:ext>
            </a:extLst>
          </p:cNvPr>
          <p:cNvSpPr txBox="1">
            <a:spLocks/>
          </p:cNvSpPr>
          <p:nvPr/>
        </p:nvSpPr>
        <p:spPr>
          <a:xfrm>
            <a:off x="0" y="-11484"/>
            <a:ext cx="121920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Challenges in Open Science: Norms and culture</a:t>
            </a:r>
          </a:p>
        </p:txBody>
      </p:sp>
      <p:grpSp>
        <p:nvGrpSpPr>
          <p:cNvPr id="24" name="Group 23">
            <a:extLst>
              <a:ext uri="{FF2B5EF4-FFF2-40B4-BE49-F238E27FC236}">
                <a16:creationId xmlns:a16="http://schemas.microsoft.com/office/drawing/2014/main" id="{E0696410-E158-4D15-D8FF-A48360D664CB}"/>
              </a:ext>
            </a:extLst>
          </p:cNvPr>
          <p:cNvGrpSpPr/>
          <p:nvPr/>
        </p:nvGrpSpPr>
        <p:grpSpPr>
          <a:xfrm>
            <a:off x="428706" y="1900628"/>
            <a:ext cx="914400" cy="1283732"/>
            <a:chOff x="1078156" y="1850572"/>
            <a:chExt cx="914400" cy="1283732"/>
          </a:xfrm>
        </p:grpSpPr>
        <p:sp>
          <p:nvSpPr>
            <p:cNvPr id="6" name="TextBox 5">
              <a:extLst>
                <a:ext uri="{FF2B5EF4-FFF2-40B4-BE49-F238E27FC236}">
                  <a16:creationId xmlns:a16="http://schemas.microsoft.com/office/drawing/2014/main" id="{35F48463-C0DD-40E2-A03F-E73BA296F161}"/>
                </a:ext>
              </a:extLst>
            </p:cNvPr>
            <p:cNvSpPr txBox="1"/>
            <p:nvPr/>
          </p:nvSpPr>
          <p:spPr>
            <a:xfrm>
              <a:off x="1186542" y="2764972"/>
              <a:ext cx="697627" cy="369332"/>
            </a:xfrm>
            <a:prstGeom prst="rect">
              <a:avLst/>
            </a:prstGeom>
            <a:noFill/>
          </p:spPr>
          <p:txBody>
            <a:bodyPr wrap="none" rtlCol="0">
              <a:spAutoFit/>
            </a:bodyPr>
            <a:lstStyle/>
            <a:p>
              <a:r>
                <a:rPr lang="en-GB" b="1" dirty="0"/>
                <a:t>Time</a:t>
              </a:r>
              <a:endParaRPr lang="en-US" dirty="0"/>
            </a:p>
          </p:txBody>
        </p:sp>
        <p:pic>
          <p:nvPicPr>
            <p:cNvPr id="8" name="Graphic 7" descr="Stopwatch 75% with solid fill">
              <a:extLst>
                <a:ext uri="{FF2B5EF4-FFF2-40B4-BE49-F238E27FC236}">
                  <a16:creationId xmlns:a16="http://schemas.microsoft.com/office/drawing/2014/main" id="{3C066DAB-9ABF-BB83-A013-CC2B24D5765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78156" y="1850572"/>
              <a:ext cx="914400" cy="914400"/>
            </a:xfrm>
            <a:prstGeom prst="rect">
              <a:avLst/>
            </a:prstGeom>
          </p:spPr>
        </p:pic>
      </p:grpSp>
      <p:grpSp>
        <p:nvGrpSpPr>
          <p:cNvPr id="23" name="Group 22">
            <a:extLst>
              <a:ext uri="{FF2B5EF4-FFF2-40B4-BE49-F238E27FC236}">
                <a16:creationId xmlns:a16="http://schemas.microsoft.com/office/drawing/2014/main" id="{5BC4B6BA-2104-00E2-D68B-5C1A26C0FF23}"/>
              </a:ext>
            </a:extLst>
          </p:cNvPr>
          <p:cNvGrpSpPr/>
          <p:nvPr/>
        </p:nvGrpSpPr>
        <p:grpSpPr>
          <a:xfrm>
            <a:off x="2137849" y="1748273"/>
            <a:ext cx="1275029" cy="1552016"/>
            <a:chOff x="7918976" y="1325563"/>
            <a:chExt cx="1275029" cy="1552016"/>
          </a:xfrm>
        </p:grpSpPr>
        <p:pic>
          <p:nvPicPr>
            <p:cNvPr id="10" name="Graphic 9" descr="Medal with solid fill">
              <a:extLst>
                <a:ext uri="{FF2B5EF4-FFF2-40B4-BE49-F238E27FC236}">
                  <a16:creationId xmlns:a16="http://schemas.microsoft.com/office/drawing/2014/main" id="{283CB8AD-F592-A819-2E34-2A6E98184A3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099611" y="1325563"/>
              <a:ext cx="914400" cy="914400"/>
            </a:xfrm>
            <a:prstGeom prst="rect">
              <a:avLst/>
            </a:prstGeom>
          </p:spPr>
        </p:pic>
        <p:sp>
          <p:nvSpPr>
            <p:cNvPr id="11" name="TextBox 10">
              <a:extLst>
                <a:ext uri="{FF2B5EF4-FFF2-40B4-BE49-F238E27FC236}">
                  <a16:creationId xmlns:a16="http://schemas.microsoft.com/office/drawing/2014/main" id="{3E124DD5-7D63-D693-352A-729A269B14D9}"/>
                </a:ext>
              </a:extLst>
            </p:cNvPr>
            <p:cNvSpPr txBox="1"/>
            <p:nvPr/>
          </p:nvSpPr>
          <p:spPr>
            <a:xfrm>
              <a:off x="7918976" y="2231248"/>
              <a:ext cx="1275029" cy="646331"/>
            </a:xfrm>
            <a:prstGeom prst="rect">
              <a:avLst/>
            </a:prstGeom>
            <a:noFill/>
          </p:spPr>
          <p:txBody>
            <a:bodyPr wrap="none" rtlCol="0">
              <a:spAutoFit/>
            </a:bodyPr>
            <a:lstStyle/>
            <a:p>
              <a:r>
                <a:rPr lang="en-GB" b="1" dirty="0"/>
                <a:t>Incentive </a:t>
              </a:r>
            </a:p>
            <a:p>
              <a:r>
                <a:rPr lang="en-GB" b="1" dirty="0"/>
                <a:t>structures</a:t>
              </a:r>
              <a:endParaRPr lang="en-US" dirty="0"/>
            </a:p>
          </p:txBody>
        </p:sp>
      </p:grpSp>
      <p:grpSp>
        <p:nvGrpSpPr>
          <p:cNvPr id="21" name="Group 20">
            <a:extLst>
              <a:ext uri="{FF2B5EF4-FFF2-40B4-BE49-F238E27FC236}">
                <a16:creationId xmlns:a16="http://schemas.microsoft.com/office/drawing/2014/main" id="{F64210D8-694A-E6C3-1110-939DD52D5545}"/>
              </a:ext>
            </a:extLst>
          </p:cNvPr>
          <p:cNvGrpSpPr/>
          <p:nvPr/>
        </p:nvGrpSpPr>
        <p:grpSpPr>
          <a:xfrm>
            <a:off x="273665" y="4115884"/>
            <a:ext cx="1394549" cy="1283732"/>
            <a:chOff x="2453820" y="4045388"/>
            <a:chExt cx="1394549" cy="1283732"/>
          </a:xfrm>
        </p:grpSpPr>
        <p:pic>
          <p:nvPicPr>
            <p:cNvPr id="13" name="Graphic 12" descr="Tired face with solid fill with solid fill">
              <a:extLst>
                <a:ext uri="{FF2B5EF4-FFF2-40B4-BE49-F238E27FC236}">
                  <a16:creationId xmlns:a16="http://schemas.microsoft.com/office/drawing/2014/main" id="{BF200CA5-294F-3AF1-1D5C-47B87A3B2ED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693895" y="4045388"/>
              <a:ext cx="914400" cy="914400"/>
            </a:xfrm>
            <a:prstGeom prst="rect">
              <a:avLst/>
            </a:prstGeom>
          </p:spPr>
        </p:pic>
        <p:sp>
          <p:nvSpPr>
            <p:cNvPr id="16" name="TextBox 15">
              <a:extLst>
                <a:ext uri="{FF2B5EF4-FFF2-40B4-BE49-F238E27FC236}">
                  <a16:creationId xmlns:a16="http://schemas.microsoft.com/office/drawing/2014/main" id="{1079FE32-56C0-1B61-E651-9F27FE6DE15E}"/>
                </a:ext>
              </a:extLst>
            </p:cNvPr>
            <p:cNvSpPr txBox="1"/>
            <p:nvPr/>
          </p:nvSpPr>
          <p:spPr>
            <a:xfrm>
              <a:off x="2453820" y="4959788"/>
              <a:ext cx="1394549" cy="369332"/>
            </a:xfrm>
            <a:prstGeom prst="rect">
              <a:avLst/>
            </a:prstGeom>
            <a:noFill/>
          </p:spPr>
          <p:txBody>
            <a:bodyPr wrap="none" rtlCol="0">
              <a:spAutoFit/>
            </a:bodyPr>
            <a:lstStyle/>
            <a:p>
              <a:r>
                <a:rPr lang="en-GB" b="1" dirty="0"/>
                <a:t>Overwhelm</a:t>
              </a:r>
              <a:endParaRPr lang="en-US" dirty="0"/>
            </a:p>
          </p:txBody>
        </p:sp>
      </p:grpSp>
      <p:grpSp>
        <p:nvGrpSpPr>
          <p:cNvPr id="28" name="Group 27">
            <a:extLst>
              <a:ext uri="{FF2B5EF4-FFF2-40B4-BE49-F238E27FC236}">
                <a16:creationId xmlns:a16="http://schemas.microsoft.com/office/drawing/2014/main" id="{41C16BB3-926B-9B5E-7BEE-D4EE4200970E}"/>
              </a:ext>
            </a:extLst>
          </p:cNvPr>
          <p:cNvGrpSpPr/>
          <p:nvPr/>
        </p:nvGrpSpPr>
        <p:grpSpPr>
          <a:xfrm>
            <a:off x="4071498" y="1626662"/>
            <a:ext cx="1351168" cy="1809535"/>
            <a:chOff x="5650023" y="1723221"/>
            <a:chExt cx="1351168" cy="1809535"/>
          </a:xfrm>
        </p:grpSpPr>
        <p:pic>
          <p:nvPicPr>
            <p:cNvPr id="26" name="Graphic 25" descr="Normal Distribution with solid fill">
              <a:extLst>
                <a:ext uri="{FF2B5EF4-FFF2-40B4-BE49-F238E27FC236}">
                  <a16:creationId xmlns:a16="http://schemas.microsoft.com/office/drawing/2014/main" id="{8860046E-1000-3D16-C6BB-AB10D767DA3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650023" y="1723221"/>
              <a:ext cx="1275669" cy="1275669"/>
            </a:xfrm>
            <a:prstGeom prst="rect">
              <a:avLst/>
            </a:prstGeom>
          </p:spPr>
        </p:pic>
        <p:sp>
          <p:nvSpPr>
            <p:cNvPr id="27" name="TextBox 26">
              <a:extLst>
                <a:ext uri="{FF2B5EF4-FFF2-40B4-BE49-F238E27FC236}">
                  <a16:creationId xmlns:a16="http://schemas.microsoft.com/office/drawing/2014/main" id="{E8ED285B-7954-383C-2BBD-3B0CC2D92F8E}"/>
                </a:ext>
              </a:extLst>
            </p:cNvPr>
            <p:cNvSpPr txBox="1"/>
            <p:nvPr/>
          </p:nvSpPr>
          <p:spPr>
            <a:xfrm>
              <a:off x="5667171" y="2886425"/>
              <a:ext cx="1334020" cy="646331"/>
            </a:xfrm>
            <a:prstGeom prst="rect">
              <a:avLst/>
            </a:prstGeom>
            <a:noFill/>
          </p:spPr>
          <p:txBody>
            <a:bodyPr wrap="none" rtlCol="0">
              <a:spAutoFit/>
            </a:bodyPr>
            <a:lstStyle/>
            <a:p>
              <a:pPr algn="ctr"/>
              <a:r>
                <a:rPr lang="en-GB" b="1" dirty="0"/>
                <a:t>Norms and</a:t>
              </a:r>
            </a:p>
            <a:p>
              <a:pPr algn="ctr"/>
              <a:r>
                <a:rPr lang="en-GB" b="1" dirty="0"/>
                <a:t>culture</a:t>
              </a:r>
              <a:endParaRPr lang="en-US" dirty="0"/>
            </a:p>
          </p:txBody>
        </p:sp>
      </p:grpSp>
      <p:grpSp>
        <p:nvGrpSpPr>
          <p:cNvPr id="49" name="Group 48">
            <a:extLst>
              <a:ext uri="{FF2B5EF4-FFF2-40B4-BE49-F238E27FC236}">
                <a16:creationId xmlns:a16="http://schemas.microsoft.com/office/drawing/2014/main" id="{1A0FCDCB-3B64-7C8D-EBF2-4E4983D9D517}"/>
              </a:ext>
            </a:extLst>
          </p:cNvPr>
          <p:cNvGrpSpPr/>
          <p:nvPr/>
        </p:nvGrpSpPr>
        <p:grpSpPr>
          <a:xfrm>
            <a:off x="2235120" y="3720093"/>
            <a:ext cx="1070678" cy="1922873"/>
            <a:chOff x="5056184" y="4084711"/>
            <a:chExt cx="1070678" cy="1922873"/>
          </a:xfrm>
        </p:grpSpPr>
        <p:pic>
          <p:nvPicPr>
            <p:cNvPr id="30" name="Graphic 29" descr="Books with solid fill">
              <a:extLst>
                <a:ext uri="{FF2B5EF4-FFF2-40B4-BE49-F238E27FC236}">
                  <a16:creationId xmlns:a16="http://schemas.microsoft.com/office/drawing/2014/main" id="{EC6685A4-5CE3-9127-7463-67F53DF5465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128721" y="4084711"/>
              <a:ext cx="914400" cy="914400"/>
            </a:xfrm>
            <a:prstGeom prst="rect">
              <a:avLst/>
            </a:prstGeom>
          </p:spPr>
        </p:pic>
        <p:sp>
          <p:nvSpPr>
            <p:cNvPr id="31" name="TextBox 30">
              <a:extLst>
                <a:ext uri="{FF2B5EF4-FFF2-40B4-BE49-F238E27FC236}">
                  <a16:creationId xmlns:a16="http://schemas.microsoft.com/office/drawing/2014/main" id="{3425C97C-FF2C-253D-FE48-3D2E8E8059F6}"/>
                </a:ext>
              </a:extLst>
            </p:cNvPr>
            <p:cNvSpPr txBox="1"/>
            <p:nvPr/>
          </p:nvSpPr>
          <p:spPr>
            <a:xfrm>
              <a:off x="5056184" y="5084254"/>
              <a:ext cx="1070678" cy="923330"/>
            </a:xfrm>
            <a:prstGeom prst="rect">
              <a:avLst/>
            </a:prstGeom>
            <a:noFill/>
          </p:spPr>
          <p:txBody>
            <a:bodyPr wrap="none" rtlCol="0">
              <a:spAutoFit/>
            </a:bodyPr>
            <a:lstStyle/>
            <a:p>
              <a:r>
                <a:rPr lang="en-GB" b="1" dirty="0"/>
                <a:t>Lack of </a:t>
              </a:r>
            </a:p>
            <a:p>
              <a:r>
                <a:rPr lang="en-GB" b="1" dirty="0"/>
                <a:t>training/</a:t>
              </a:r>
            </a:p>
            <a:p>
              <a:r>
                <a:rPr lang="en-GB" b="1" dirty="0"/>
                <a:t>skills</a:t>
              </a:r>
              <a:endParaRPr lang="en-US" dirty="0"/>
            </a:p>
          </p:txBody>
        </p:sp>
      </p:grpSp>
      <p:sp>
        <p:nvSpPr>
          <p:cNvPr id="2" name="Rectangle 1">
            <a:extLst>
              <a:ext uri="{FF2B5EF4-FFF2-40B4-BE49-F238E27FC236}">
                <a16:creationId xmlns:a16="http://schemas.microsoft.com/office/drawing/2014/main" id="{A4EC55E9-7BCB-53F2-FC1F-B8AC3302F8F3}"/>
              </a:ext>
            </a:extLst>
          </p:cNvPr>
          <p:cNvSpPr/>
          <p:nvPr/>
        </p:nvSpPr>
        <p:spPr>
          <a:xfrm>
            <a:off x="312603" y="1715686"/>
            <a:ext cx="1475872" cy="4283332"/>
          </a:xfrm>
          <a:prstGeom prst="rect">
            <a:avLst/>
          </a:prstGeom>
          <a:solidFill>
            <a:schemeClr val="bg1">
              <a:alpha val="6688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FB35517F-39AA-C387-82DD-76FE6B96D72C}"/>
              </a:ext>
            </a:extLst>
          </p:cNvPr>
          <p:cNvSpPr/>
          <p:nvPr/>
        </p:nvSpPr>
        <p:spPr>
          <a:xfrm>
            <a:off x="2107455" y="1559945"/>
            <a:ext cx="1475872" cy="4283332"/>
          </a:xfrm>
          <a:prstGeom prst="rect">
            <a:avLst/>
          </a:prstGeom>
          <a:solidFill>
            <a:schemeClr val="bg1">
              <a:alpha val="6688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C5C2431-0C71-BE51-91BF-B60FDD4A2E21}"/>
              </a:ext>
            </a:extLst>
          </p:cNvPr>
          <p:cNvSpPr txBox="1"/>
          <p:nvPr/>
        </p:nvSpPr>
        <p:spPr>
          <a:xfrm>
            <a:off x="4071498" y="3440363"/>
            <a:ext cx="2282739" cy="1200329"/>
          </a:xfrm>
          <a:prstGeom prst="rect">
            <a:avLst/>
          </a:prstGeom>
          <a:noFill/>
        </p:spPr>
        <p:txBody>
          <a:bodyPr wrap="square" rtlCol="0">
            <a:spAutoFit/>
          </a:bodyPr>
          <a:lstStyle/>
          <a:p>
            <a:r>
              <a:rPr lang="en-US" dirty="0"/>
              <a:t>e.g. Different disciplinary norms and approaches to research</a:t>
            </a:r>
          </a:p>
        </p:txBody>
      </p:sp>
      <p:sp>
        <p:nvSpPr>
          <p:cNvPr id="7" name="Slide Number Placeholder 6">
            <a:extLst>
              <a:ext uri="{FF2B5EF4-FFF2-40B4-BE49-F238E27FC236}">
                <a16:creationId xmlns:a16="http://schemas.microsoft.com/office/drawing/2014/main" id="{D0255E93-4998-F0C5-939A-112C1525714B}"/>
              </a:ext>
            </a:extLst>
          </p:cNvPr>
          <p:cNvSpPr>
            <a:spLocks noGrp="1"/>
          </p:cNvSpPr>
          <p:nvPr>
            <p:ph type="sldNum" sz="quarter" idx="12"/>
          </p:nvPr>
        </p:nvSpPr>
        <p:spPr/>
        <p:txBody>
          <a:bodyPr/>
          <a:lstStyle/>
          <a:p>
            <a:fld id="{DC6309F4-03C8-4D48-A124-A9AD6E083FAC}" type="slidenum">
              <a:rPr lang="en-US" smtClean="0"/>
              <a:t>12</a:t>
            </a:fld>
            <a:endParaRPr lang="en-US"/>
          </a:p>
        </p:txBody>
      </p:sp>
    </p:spTree>
    <p:extLst>
      <p:ext uri="{BB962C8B-B14F-4D97-AF65-F5344CB8AC3E}">
        <p14:creationId xmlns:p14="http://schemas.microsoft.com/office/powerpoint/2010/main" val="19848990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D24CF-6D9B-CE73-F241-0837B34556A6}"/>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173BD8AE-1113-A3E6-FE0A-21A54485A380}"/>
              </a:ext>
            </a:extLst>
          </p:cNvPr>
          <p:cNvGrpSpPr/>
          <p:nvPr/>
        </p:nvGrpSpPr>
        <p:grpSpPr>
          <a:xfrm>
            <a:off x="10704849" y="6564312"/>
            <a:ext cx="1362075" cy="273690"/>
            <a:chOff x="19317" y="2690018"/>
            <a:chExt cx="11784755" cy="2025180"/>
          </a:xfrm>
        </p:grpSpPr>
        <p:pic>
          <p:nvPicPr>
            <p:cNvPr id="14" name="Picture 2">
              <a:extLst>
                <a:ext uri="{FF2B5EF4-FFF2-40B4-BE49-F238E27FC236}">
                  <a16:creationId xmlns:a16="http://schemas.microsoft.com/office/drawing/2014/main" id="{7188AD51-CEA5-E072-A1F4-526828B8FE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0182957D-0479-B50B-15C2-ED2DC5E52BF5}"/>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4" name="Title 1">
            <a:extLst>
              <a:ext uri="{FF2B5EF4-FFF2-40B4-BE49-F238E27FC236}">
                <a16:creationId xmlns:a16="http://schemas.microsoft.com/office/drawing/2014/main" id="{84C50E6D-5803-5782-0AF0-ECDD0884ABE7}"/>
              </a:ext>
            </a:extLst>
          </p:cNvPr>
          <p:cNvSpPr txBox="1">
            <a:spLocks/>
          </p:cNvSpPr>
          <p:nvPr/>
        </p:nvSpPr>
        <p:spPr>
          <a:xfrm>
            <a:off x="0" y="-11484"/>
            <a:ext cx="121920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Challenges in Open Science: Lack of support</a:t>
            </a:r>
          </a:p>
        </p:txBody>
      </p:sp>
      <p:grpSp>
        <p:nvGrpSpPr>
          <p:cNvPr id="24" name="Group 23">
            <a:extLst>
              <a:ext uri="{FF2B5EF4-FFF2-40B4-BE49-F238E27FC236}">
                <a16:creationId xmlns:a16="http://schemas.microsoft.com/office/drawing/2014/main" id="{3D1DC752-0A9F-F056-0909-C7C85AD188CD}"/>
              </a:ext>
            </a:extLst>
          </p:cNvPr>
          <p:cNvGrpSpPr/>
          <p:nvPr/>
        </p:nvGrpSpPr>
        <p:grpSpPr>
          <a:xfrm>
            <a:off x="428706" y="1900628"/>
            <a:ext cx="914400" cy="1283732"/>
            <a:chOff x="1078156" y="1850572"/>
            <a:chExt cx="914400" cy="1283732"/>
          </a:xfrm>
        </p:grpSpPr>
        <p:sp>
          <p:nvSpPr>
            <p:cNvPr id="6" name="TextBox 5">
              <a:extLst>
                <a:ext uri="{FF2B5EF4-FFF2-40B4-BE49-F238E27FC236}">
                  <a16:creationId xmlns:a16="http://schemas.microsoft.com/office/drawing/2014/main" id="{5CCAFB71-B98C-A697-2E49-7F6C778F4995}"/>
                </a:ext>
              </a:extLst>
            </p:cNvPr>
            <p:cNvSpPr txBox="1"/>
            <p:nvPr/>
          </p:nvSpPr>
          <p:spPr>
            <a:xfrm>
              <a:off x="1186542" y="2764972"/>
              <a:ext cx="697627" cy="369332"/>
            </a:xfrm>
            <a:prstGeom prst="rect">
              <a:avLst/>
            </a:prstGeom>
            <a:noFill/>
          </p:spPr>
          <p:txBody>
            <a:bodyPr wrap="none" rtlCol="0">
              <a:spAutoFit/>
            </a:bodyPr>
            <a:lstStyle/>
            <a:p>
              <a:r>
                <a:rPr lang="en-GB" b="1" dirty="0"/>
                <a:t>Time</a:t>
              </a:r>
              <a:endParaRPr lang="en-US" dirty="0"/>
            </a:p>
          </p:txBody>
        </p:sp>
        <p:pic>
          <p:nvPicPr>
            <p:cNvPr id="8" name="Graphic 7" descr="Stopwatch 75% with solid fill">
              <a:extLst>
                <a:ext uri="{FF2B5EF4-FFF2-40B4-BE49-F238E27FC236}">
                  <a16:creationId xmlns:a16="http://schemas.microsoft.com/office/drawing/2014/main" id="{6C29518D-C04A-DCBD-C500-BE31AAA6404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78156" y="1850572"/>
              <a:ext cx="914400" cy="914400"/>
            </a:xfrm>
            <a:prstGeom prst="rect">
              <a:avLst/>
            </a:prstGeom>
          </p:spPr>
        </p:pic>
      </p:grpSp>
      <p:grpSp>
        <p:nvGrpSpPr>
          <p:cNvPr id="23" name="Group 22">
            <a:extLst>
              <a:ext uri="{FF2B5EF4-FFF2-40B4-BE49-F238E27FC236}">
                <a16:creationId xmlns:a16="http://schemas.microsoft.com/office/drawing/2014/main" id="{341BFACF-F4D0-BC1C-F71D-413A7E92972E}"/>
              </a:ext>
            </a:extLst>
          </p:cNvPr>
          <p:cNvGrpSpPr/>
          <p:nvPr/>
        </p:nvGrpSpPr>
        <p:grpSpPr>
          <a:xfrm>
            <a:off x="2137849" y="1748273"/>
            <a:ext cx="1275029" cy="1552016"/>
            <a:chOff x="7918976" y="1325563"/>
            <a:chExt cx="1275029" cy="1552016"/>
          </a:xfrm>
        </p:grpSpPr>
        <p:pic>
          <p:nvPicPr>
            <p:cNvPr id="10" name="Graphic 9" descr="Medal with solid fill">
              <a:extLst>
                <a:ext uri="{FF2B5EF4-FFF2-40B4-BE49-F238E27FC236}">
                  <a16:creationId xmlns:a16="http://schemas.microsoft.com/office/drawing/2014/main" id="{C105F7F4-2216-925F-B43A-ACB7AE55BD8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099611" y="1325563"/>
              <a:ext cx="914400" cy="914400"/>
            </a:xfrm>
            <a:prstGeom prst="rect">
              <a:avLst/>
            </a:prstGeom>
          </p:spPr>
        </p:pic>
        <p:sp>
          <p:nvSpPr>
            <p:cNvPr id="11" name="TextBox 10">
              <a:extLst>
                <a:ext uri="{FF2B5EF4-FFF2-40B4-BE49-F238E27FC236}">
                  <a16:creationId xmlns:a16="http://schemas.microsoft.com/office/drawing/2014/main" id="{1CC3833D-A390-C9D9-AC00-35E6CF7F8738}"/>
                </a:ext>
              </a:extLst>
            </p:cNvPr>
            <p:cNvSpPr txBox="1"/>
            <p:nvPr/>
          </p:nvSpPr>
          <p:spPr>
            <a:xfrm>
              <a:off x="7918976" y="2231248"/>
              <a:ext cx="1275029" cy="646331"/>
            </a:xfrm>
            <a:prstGeom prst="rect">
              <a:avLst/>
            </a:prstGeom>
            <a:noFill/>
          </p:spPr>
          <p:txBody>
            <a:bodyPr wrap="none" rtlCol="0">
              <a:spAutoFit/>
            </a:bodyPr>
            <a:lstStyle/>
            <a:p>
              <a:r>
                <a:rPr lang="en-GB" b="1" dirty="0"/>
                <a:t>Incentive </a:t>
              </a:r>
            </a:p>
            <a:p>
              <a:r>
                <a:rPr lang="en-GB" b="1" dirty="0"/>
                <a:t>structures</a:t>
              </a:r>
              <a:endParaRPr lang="en-US" dirty="0"/>
            </a:p>
          </p:txBody>
        </p:sp>
      </p:grpSp>
      <p:grpSp>
        <p:nvGrpSpPr>
          <p:cNvPr id="21" name="Group 20">
            <a:extLst>
              <a:ext uri="{FF2B5EF4-FFF2-40B4-BE49-F238E27FC236}">
                <a16:creationId xmlns:a16="http://schemas.microsoft.com/office/drawing/2014/main" id="{6BEA9C1B-AF4A-1FF0-C5D8-27DD337ACF03}"/>
              </a:ext>
            </a:extLst>
          </p:cNvPr>
          <p:cNvGrpSpPr/>
          <p:nvPr/>
        </p:nvGrpSpPr>
        <p:grpSpPr>
          <a:xfrm>
            <a:off x="273665" y="4115884"/>
            <a:ext cx="1394549" cy="1283732"/>
            <a:chOff x="2453820" y="4045388"/>
            <a:chExt cx="1394549" cy="1283732"/>
          </a:xfrm>
        </p:grpSpPr>
        <p:pic>
          <p:nvPicPr>
            <p:cNvPr id="13" name="Graphic 12" descr="Tired face with solid fill with solid fill">
              <a:extLst>
                <a:ext uri="{FF2B5EF4-FFF2-40B4-BE49-F238E27FC236}">
                  <a16:creationId xmlns:a16="http://schemas.microsoft.com/office/drawing/2014/main" id="{2D168A67-6BA7-E4A1-EBF9-57ABCABAAA3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693895" y="4045388"/>
              <a:ext cx="914400" cy="914400"/>
            </a:xfrm>
            <a:prstGeom prst="rect">
              <a:avLst/>
            </a:prstGeom>
          </p:spPr>
        </p:pic>
        <p:sp>
          <p:nvSpPr>
            <p:cNvPr id="16" name="TextBox 15">
              <a:extLst>
                <a:ext uri="{FF2B5EF4-FFF2-40B4-BE49-F238E27FC236}">
                  <a16:creationId xmlns:a16="http://schemas.microsoft.com/office/drawing/2014/main" id="{3247EC88-ACB6-73B7-2E50-0D49EFA8BB34}"/>
                </a:ext>
              </a:extLst>
            </p:cNvPr>
            <p:cNvSpPr txBox="1"/>
            <p:nvPr/>
          </p:nvSpPr>
          <p:spPr>
            <a:xfrm>
              <a:off x="2453820" y="4959788"/>
              <a:ext cx="1394549" cy="369332"/>
            </a:xfrm>
            <a:prstGeom prst="rect">
              <a:avLst/>
            </a:prstGeom>
            <a:noFill/>
          </p:spPr>
          <p:txBody>
            <a:bodyPr wrap="none" rtlCol="0">
              <a:spAutoFit/>
            </a:bodyPr>
            <a:lstStyle/>
            <a:p>
              <a:r>
                <a:rPr lang="en-GB" b="1" dirty="0"/>
                <a:t>Overwhelm</a:t>
              </a:r>
              <a:endParaRPr lang="en-US" dirty="0"/>
            </a:p>
          </p:txBody>
        </p:sp>
      </p:grpSp>
      <p:grpSp>
        <p:nvGrpSpPr>
          <p:cNvPr id="28" name="Group 27">
            <a:extLst>
              <a:ext uri="{FF2B5EF4-FFF2-40B4-BE49-F238E27FC236}">
                <a16:creationId xmlns:a16="http://schemas.microsoft.com/office/drawing/2014/main" id="{198CEFBC-927A-1ACF-3DD7-A7888942FF18}"/>
              </a:ext>
            </a:extLst>
          </p:cNvPr>
          <p:cNvGrpSpPr/>
          <p:nvPr/>
        </p:nvGrpSpPr>
        <p:grpSpPr>
          <a:xfrm>
            <a:off x="4071498" y="1626662"/>
            <a:ext cx="1351168" cy="1809535"/>
            <a:chOff x="5650023" y="1723221"/>
            <a:chExt cx="1351168" cy="1809535"/>
          </a:xfrm>
        </p:grpSpPr>
        <p:pic>
          <p:nvPicPr>
            <p:cNvPr id="26" name="Graphic 25" descr="Normal Distribution with solid fill">
              <a:extLst>
                <a:ext uri="{FF2B5EF4-FFF2-40B4-BE49-F238E27FC236}">
                  <a16:creationId xmlns:a16="http://schemas.microsoft.com/office/drawing/2014/main" id="{5A097B8B-9573-E18E-1E67-11275695E05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650023" y="1723221"/>
              <a:ext cx="1275669" cy="1275669"/>
            </a:xfrm>
            <a:prstGeom prst="rect">
              <a:avLst/>
            </a:prstGeom>
          </p:spPr>
        </p:pic>
        <p:sp>
          <p:nvSpPr>
            <p:cNvPr id="27" name="TextBox 26">
              <a:extLst>
                <a:ext uri="{FF2B5EF4-FFF2-40B4-BE49-F238E27FC236}">
                  <a16:creationId xmlns:a16="http://schemas.microsoft.com/office/drawing/2014/main" id="{B83FEEC9-D43E-E895-73AF-080CA6D39FB5}"/>
                </a:ext>
              </a:extLst>
            </p:cNvPr>
            <p:cNvSpPr txBox="1"/>
            <p:nvPr/>
          </p:nvSpPr>
          <p:spPr>
            <a:xfrm>
              <a:off x="5667171" y="2886425"/>
              <a:ext cx="1334020" cy="646331"/>
            </a:xfrm>
            <a:prstGeom prst="rect">
              <a:avLst/>
            </a:prstGeom>
            <a:noFill/>
          </p:spPr>
          <p:txBody>
            <a:bodyPr wrap="none" rtlCol="0">
              <a:spAutoFit/>
            </a:bodyPr>
            <a:lstStyle/>
            <a:p>
              <a:pPr algn="ctr"/>
              <a:r>
                <a:rPr lang="en-GB" b="1" dirty="0"/>
                <a:t>Norms and</a:t>
              </a:r>
            </a:p>
            <a:p>
              <a:pPr algn="ctr"/>
              <a:r>
                <a:rPr lang="en-GB" b="1" dirty="0"/>
                <a:t>culture</a:t>
              </a:r>
              <a:endParaRPr lang="en-US" dirty="0"/>
            </a:p>
          </p:txBody>
        </p:sp>
      </p:grpSp>
      <p:grpSp>
        <p:nvGrpSpPr>
          <p:cNvPr id="49" name="Group 48">
            <a:extLst>
              <a:ext uri="{FF2B5EF4-FFF2-40B4-BE49-F238E27FC236}">
                <a16:creationId xmlns:a16="http://schemas.microsoft.com/office/drawing/2014/main" id="{0622C31E-D107-8197-E51D-3709366298FD}"/>
              </a:ext>
            </a:extLst>
          </p:cNvPr>
          <p:cNvGrpSpPr/>
          <p:nvPr/>
        </p:nvGrpSpPr>
        <p:grpSpPr>
          <a:xfrm>
            <a:off x="2235120" y="3720093"/>
            <a:ext cx="1070678" cy="1922873"/>
            <a:chOff x="5056184" y="4084711"/>
            <a:chExt cx="1070678" cy="1922873"/>
          </a:xfrm>
        </p:grpSpPr>
        <p:pic>
          <p:nvPicPr>
            <p:cNvPr id="30" name="Graphic 29" descr="Books with solid fill">
              <a:extLst>
                <a:ext uri="{FF2B5EF4-FFF2-40B4-BE49-F238E27FC236}">
                  <a16:creationId xmlns:a16="http://schemas.microsoft.com/office/drawing/2014/main" id="{9ABAE5A7-726F-CB3C-3DBD-BD9E99197CE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128721" y="4084711"/>
              <a:ext cx="914400" cy="914400"/>
            </a:xfrm>
            <a:prstGeom prst="rect">
              <a:avLst/>
            </a:prstGeom>
          </p:spPr>
        </p:pic>
        <p:sp>
          <p:nvSpPr>
            <p:cNvPr id="31" name="TextBox 30">
              <a:extLst>
                <a:ext uri="{FF2B5EF4-FFF2-40B4-BE49-F238E27FC236}">
                  <a16:creationId xmlns:a16="http://schemas.microsoft.com/office/drawing/2014/main" id="{8610E31C-C711-0B22-499F-04D1D03BADB0}"/>
                </a:ext>
              </a:extLst>
            </p:cNvPr>
            <p:cNvSpPr txBox="1"/>
            <p:nvPr/>
          </p:nvSpPr>
          <p:spPr>
            <a:xfrm>
              <a:off x="5056184" y="5084254"/>
              <a:ext cx="1070678" cy="923330"/>
            </a:xfrm>
            <a:prstGeom prst="rect">
              <a:avLst/>
            </a:prstGeom>
            <a:noFill/>
          </p:spPr>
          <p:txBody>
            <a:bodyPr wrap="none" rtlCol="0">
              <a:spAutoFit/>
            </a:bodyPr>
            <a:lstStyle/>
            <a:p>
              <a:r>
                <a:rPr lang="en-GB" b="1" dirty="0"/>
                <a:t>Lack of </a:t>
              </a:r>
            </a:p>
            <a:p>
              <a:r>
                <a:rPr lang="en-GB" b="1" dirty="0"/>
                <a:t>training/</a:t>
              </a:r>
            </a:p>
            <a:p>
              <a:r>
                <a:rPr lang="en-GB" b="1" dirty="0"/>
                <a:t>skills</a:t>
              </a:r>
              <a:endParaRPr lang="en-US" dirty="0"/>
            </a:p>
          </p:txBody>
        </p:sp>
      </p:grpSp>
      <p:grpSp>
        <p:nvGrpSpPr>
          <p:cNvPr id="50" name="Group 49">
            <a:extLst>
              <a:ext uri="{FF2B5EF4-FFF2-40B4-BE49-F238E27FC236}">
                <a16:creationId xmlns:a16="http://schemas.microsoft.com/office/drawing/2014/main" id="{58AB82FF-33C4-86BB-F9FB-9A9B3BFACC22}"/>
              </a:ext>
            </a:extLst>
          </p:cNvPr>
          <p:cNvGrpSpPr/>
          <p:nvPr/>
        </p:nvGrpSpPr>
        <p:grpSpPr>
          <a:xfrm>
            <a:off x="4214225" y="3827508"/>
            <a:ext cx="1292155" cy="1572108"/>
            <a:chOff x="8048654" y="1809106"/>
            <a:chExt cx="1292155" cy="1572108"/>
          </a:xfrm>
        </p:grpSpPr>
        <p:sp>
          <p:nvSpPr>
            <p:cNvPr id="34" name="TextBox 33">
              <a:extLst>
                <a:ext uri="{FF2B5EF4-FFF2-40B4-BE49-F238E27FC236}">
                  <a16:creationId xmlns:a16="http://schemas.microsoft.com/office/drawing/2014/main" id="{068B33E5-E1C6-DFC0-A233-F701B18A2225}"/>
                </a:ext>
              </a:extLst>
            </p:cNvPr>
            <p:cNvSpPr txBox="1"/>
            <p:nvPr/>
          </p:nvSpPr>
          <p:spPr>
            <a:xfrm>
              <a:off x="8065140" y="2734883"/>
              <a:ext cx="1275669" cy="646331"/>
            </a:xfrm>
            <a:prstGeom prst="rect">
              <a:avLst/>
            </a:prstGeom>
            <a:noFill/>
          </p:spPr>
          <p:txBody>
            <a:bodyPr wrap="square" rtlCol="0">
              <a:spAutoFit/>
            </a:bodyPr>
            <a:lstStyle/>
            <a:p>
              <a:r>
                <a:rPr lang="en-GB" b="1" dirty="0"/>
                <a:t>Lack of support</a:t>
              </a:r>
              <a:endParaRPr lang="en-US" dirty="0"/>
            </a:p>
          </p:txBody>
        </p:sp>
        <p:pic>
          <p:nvPicPr>
            <p:cNvPr id="36" name="Graphic 35" descr="Care with solid fill">
              <a:extLst>
                <a:ext uri="{FF2B5EF4-FFF2-40B4-BE49-F238E27FC236}">
                  <a16:creationId xmlns:a16="http://schemas.microsoft.com/office/drawing/2014/main" id="{F1ABCBFE-1809-BEA9-254A-F78A138C4DDE}"/>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048654" y="1809106"/>
              <a:ext cx="914400" cy="914400"/>
            </a:xfrm>
            <a:prstGeom prst="rect">
              <a:avLst/>
            </a:prstGeom>
          </p:spPr>
        </p:pic>
      </p:grpSp>
      <p:sp>
        <p:nvSpPr>
          <p:cNvPr id="2" name="TextBox 1">
            <a:extLst>
              <a:ext uri="{FF2B5EF4-FFF2-40B4-BE49-F238E27FC236}">
                <a16:creationId xmlns:a16="http://schemas.microsoft.com/office/drawing/2014/main" id="{F704E122-0DC6-77C3-0D1F-48127E561EE9}"/>
              </a:ext>
            </a:extLst>
          </p:cNvPr>
          <p:cNvSpPr txBox="1"/>
          <p:nvPr/>
        </p:nvSpPr>
        <p:spPr>
          <a:xfrm>
            <a:off x="4205797" y="5418068"/>
            <a:ext cx="2282739" cy="923330"/>
          </a:xfrm>
          <a:prstGeom prst="rect">
            <a:avLst/>
          </a:prstGeom>
          <a:noFill/>
        </p:spPr>
        <p:txBody>
          <a:bodyPr wrap="square" rtlCol="0">
            <a:spAutoFit/>
          </a:bodyPr>
          <a:lstStyle/>
          <a:p>
            <a:r>
              <a:rPr lang="en-US" dirty="0"/>
              <a:t>e.g. Supervisor not supportive of making dataset open access</a:t>
            </a:r>
          </a:p>
        </p:txBody>
      </p:sp>
      <p:sp>
        <p:nvSpPr>
          <p:cNvPr id="3" name="Rectangle 2">
            <a:extLst>
              <a:ext uri="{FF2B5EF4-FFF2-40B4-BE49-F238E27FC236}">
                <a16:creationId xmlns:a16="http://schemas.microsoft.com/office/drawing/2014/main" id="{468B751D-9A26-19F8-A2FA-6734777A130A}"/>
              </a:ext>
            </a:extLst>
          </p:cNvPr>
          <p:cNvSpPr/>
          <p:nvPr/>
        </p:nvSpPr>
        <p:spPr>
          <a:xfrm>
            <a:off x="312602" y="1715686"/>
            <a:ext cx="3234161" cy="4283332"/>
          </a:xfrm>
          <a:prstGeom prst="rect">
            <a:avLst/>
          </a:prstGeom>
          <a:solidFill>
            <a:schemeClr val="bg1">
              <a:alpha val="6688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E892ED4-8F11-6112-5467-C500A2FA00B8}"/>
              </a:ext>
            </a:extLst>
          </p:cNvPr>
          <p:cNvSpPr/>
          <p:nvPr/>
        </p:nvSpPr>
        <p:spPr>
          <a:xfrm>
            <a:off x="4071498" y="1529950"/>
            <a:ext cx="1475872" cy="1906247"/>
          </a:xfrm>
          <a:prstGeom prst="rect">
            <a:avLst/>
          </a:prstGeom>
          <a:solidFill>
            <a:schemeClr val="bg1">
              <a:alpha val="6688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8">
            <a:extLst>
              <a:ext uri="{FF2B5EF4-FFF2-40B4-BE49-F238E27FC236}">
                <a16:creationId xmlns:a16="http://schemas.microsoft.com/office/drawing/2014/main" id="{52FD451A-8335-96A2-C3FC-34D45422FECB}"/>
              </a:ext>
            </a:extLst>
          </p:cNvPr>
          <p:cNvSpPr>
            <a:spLocks noGrp="1"/>
          </p:cNvSpPr>
          <p:nvPr>
            <p:ph type="sldNum" sz="quarter" idx="12"/>
          </p:nvPr>
        </p:nvSpPr>
        <p:spPr/>
        <p:txBody>
          <a:bodyPr/>
          <a:lstStyle/>
          <a:p>
            <a:fld id="{DC6309F4-03C8-4D48-A124-A9AD6E083FAC}" type="slidenum">
              <a:rPr lang="en-US" smtClean="0"/>
              <a:t>13</a:t>
            </a:fld>
            <a:endParaRPr lang="en-US"/>
          </a:p>
        </p:txBody>
      </p:sp>
    </p:spTree>
    <p:extLst>
      <p:ext uri="{BB962C8B-B14F-4D97-AF65-F5344CB8AC3E}">
        <p14:creationId xmlns:p14="http://schemas.microsoft.com/office/powerpoint/2010/main" val="27391119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246CD-CA1C-A886-8998-B2F754172068}"/>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FDE55272-343E-6716-3407-4846961A16AF}"/>
              </a:ext>
            </a:extLst>
          </p:cNvPr>
          <p:cNvGrpSpPr/>
          <p:nvPr/>
        </p:nvGrpSpPr>
        <p:grpSpPr>
          <a:xfrm>
            <a:off x="10704849" y="6564312"/>
            <a:ext cx="1362075" cy="273690"/>
            <a:chOff x="19317" y="2690018"/>
            <a:chExt cx="11784755" cy="2025180"/>
          </a:xfrm>
        </p:grpSpPr>
        <p:pic>
          <p:nvPicPr>
            <p:cNvPr id="9" name="Picture 2">
              <a:extLst>
                <a:ext uri="{FF2B5EF4-FFF2-40B4-BE49-F238E27FC236}">
                  <a16:creationId xmlns:a16="http://schemas.microsoft.com/office/drawing/2014/main" id="{0CA1EC52-A153-08D7-41D2-0DD2954EEB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4C2F661C-852C-D5AA-2D6A-5A0825F47FDA}"/>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4" name="Title 1">
            <a:extLst>
              <a:ext uri="{FF2B5EF4-FFF2-40B4-BE49-F238E27FC236}">
                <a16:creationId xmlns:a16="http://schemas.microsoft.com/office/drawing/2014/main" id="{07CECA40-A78E-91CC-403D-81ED27FC3798}"/>
              </a:ext>
            </a:extLst>
          </p:cNvPr>
          <p:cNvSpPr txBox="1">
            <a:spLocks/>
          </p:cNvSpPr>
          <p:nvPr/>
        </p:nvSpPr>
        <p:spPr>
          <a:xfrm>
            <a:off x="0" y="-11484"/>
            <a:ext cx="121920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Challenges in Open Science: Restrictions/inflexibility</a:t>
            </a:r>
          </a:p>
        </p:txBody>
      </p:sp>
      <p:grpSp>
        <p:nvGrpSpPr>
          <p:cNvPr id="24" name="Group 23">
            <a:extLst>
              <a:ext uri="{FF2B5EF4-FFF2-40B4-BE49-F238E27FC236}">
                <a16:creationId xmlns:a16="http://schemas.microsoft.com/office/drawing/2014/main" id="{6EBB5AA1-ECA8-2462-1CB1-6C5C74C509E6}"/>
              </a:ext>
            </a:extLst>
          </p:cNvPr>
          <p:cNvGrpSpPr/>
          <p:nvPr/>
        </p:nvGrpSpPr>
        <p:grpSpPr>
          <a:xfrm>
            <a:off x="428706" y="1900628"/>
            <a:ext cx="914400" cy="1283732"/>
            <a:chOff x="1078156" y="1850572"/>
            <a:chExt cx="914400" cy="1283732"/>
          </a:xfrm>
        </p:grpSpPr>
        <p:sp>
          <p:nvSpPr>
            <p:cNvPr id="6" name="TextBox 5">
              <a:extLst>
                <a:ext uri="{FF2B5EF4-FFF2-40B4-BE49-F238E27FC236}">
                  <a16:creationId xmlns:a16="http://schemas.microsoft.com/office/drawing/2014/main" id="{B9395DFD-C4C6-B368-39EF-558B3D8B16CE}"/>
                </a:ext>
              </a:extLst>
            </p:cNvPr>
            <p:cNvSpPr txBox="1"/>
            <p:nvPr/>
          </p:nvSpPr>
          <p:spPr>
            <a:xfrm>
              <a:off x="1186542" y="2764972"/>
              <a:ext cx="697627" cy="369332"/>
            </a:xfrm>
            <a:prstGeom prst="rect">
              <a:avLst/>
            </a:prstGeom>
            <a:noFill/>
          </p:spPr>
          <p:txBody>
            <a:bodyPr wrap="none" rtlCol="0">
              <a:spAutoFit/>
            </a:bodyPr>
            <a:lstStyle/>
            <a:p>
              <a:r>
                <a:rPr lang="en-GB" b="1" dirty="0"/>
                <a:t>Time</a:t>
              </a:r>
              <a:endParaRPr lang="en-US" dirty="0"/>
            </a:p>
          </p:txBody>
        </p:sp>
        <p:pic>
          <p:nvPicPr>
            <p:cNvPr id="8" name="Graphic 7" descr="Stopwatch 75% with solid fill">
              <a:extLst>
                <a:ext uri="{FF2B5EF4-FFF2-40B4-BE49-F238E27FC236}">
                  <a16:creationId xmlns:a16="http://schemas.microsoft.com/office/drawing/2014/main" id="{61414EA5-8FCA-0946-9AFC-9E25F9A6C48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78156" y="1850572"/>
              <a:ext cx="914400" cy="914400"/>
            </a:xfrm>
            <a:prstGeom prst="rect">
              <a:avLst/>
            </a:prstGeom>
          </p:spPr>
        </p:pic>
      </p:grpSp>
      <p:grpSp>
        <p:nvGrpSpPr>
          <p:cNvPr id="23" name="Group 22">
            <a:extLst>
              <a:ext uri="{FF2B5EF4-FFF2-40B4-BE49-F238E27FC236}">
                <a16:creationId xmlns:a16="http://schemas.microsoft.com/office/drawing/2014/main" id="{95F9C9BC-A7AE-ADAC-F35C-69D7ABE27851}"/>
              </a:ext>
            </a:extLst>
          </p:cNvPr>
          <p:cNvGrpSpPr/>
          <p:nvPr/>
        </p:nvGrpSpPr>
        <p:grpSpPr>
          <a:xfrm>
            <a:off x="2137849" y="1748273"/>
            <a:ext cx="1275029" cy="1552016"/>
            <a:chOff x="7918976" y="1325563"/>
            <a:chExt cx="1275029" cy="1552016"/>
          </a:xfrm>
        </p:grpSpPr>
        <p:pic>
          <p:nvPicPr>
            <p:cNvPr id="10" name="Graphic 9" descr="Medal with solid fill">
              <a:extLst>
                <a:ext uri="{FF2B5EF4-FFF2-40B4-BE49-F238E27FC236}">
                  <a16:creationId xmlns:a16="http://schemas.microsoft.com/office/drawing/2014/main" id="{A289B87E-9198-DD8D-8FD1-FCBF67F5EB1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099611" y="1325563"/>
              <a:ext cx="914400" cy="914400"/>
            </a:xfrm>
            <a:prstGeom prst="rect">
              <a:avLst/>
            </a:prstGeom>
          </p:spPr>
        </p:pic>
        <p:sp>
          <p:nvSpPr>
            <p:cNvPr id="11" name="TextBox 10">
              <a:extLst>
                <a:ext uri="{FF2B5EF4-FFF2-40B4-BE49-F238E27FC236}">
                  <a16:creationId xmlns:a16="http://schemas.microsoft.com/office/drawing/2014/main" id="{59A6C918-FF18-A557-29D1-AC9587F15BC0}"/>
                </a:ext>
              </a:extLst>
            </p:cNvPr>
            <p:cNvSpPr txBox="1"/>
            <p:nvPr/>
          </p:nvSpPr>
          <p:spPr>
            <a:xfrm>
              <a:off x="7918976" y="2231248"/>
              <a:ext cx="1275029" cy="646331"/>
            </a:xfrm>
            <a:prstGeom prst="rect">
              <a:avLst/>
            </a:prstGeom>
            <a:noFill/>
          </p:spPr>
          <p:txBody>
            <a:bodyPr wrap="none" rtlCol="0">
              <a:spAutoFit/>
            </a:bodyPr>
            <a:lstStyle/>
            <a:p>
              <a:r>
                <a:rPr lang="en-GB" b="1" dirty="0"/>
                <a:t>Incentive </a:t>
              </a:r>
            </a:p>
            <a:p>
              <a:r>
                <a:rPr lang="en-GB" b="1" dirty="0"/>
                <a:t>structures</a:t>
              </a:r>
              <a:endParaRPr lang="en-US" dirty="0"/>
            </a:p>
          </p:txBody>
        </p:sp>
      </p:grpSp>
      <p:grpSp>
        <p:nvGrpSpPr>
          <p:cNvPr id="21" name="Group 20">
            <a:extLst>
              <a:ext uri="{FF2B5EF4-FFF2-40B4-BE49-F238E27FC236}">
                <a16:creationId xmlns:a16="http://schemas.microsoft.com/office/drawing/2014/main" id="{11C45AA9-AD94-5719-2555-9440A1B1D38E}"/>
              </a:ext>
            </a:extLst>
          </p:cNvPr>
          <p:cNvGrpSpPr/>
          <p:nvPr/>
        </p:nvGrpSpPr>
        <p:grpSpPr>
          <a:xfrm>
            <a:off x="273665" y="4115884"/>
            <a:ext cx="1394549" cy="1283732"/>
            <a:chOff x="2453820" y="4045388"/>
            <a:chExt cx="1394549" cy="1283732"/>
          </a:xfrm>
        </p:grpSpPr>
        <p:pic>
          <p:nvPicPr>
            <p:cNvPr id="13" name="Graphic 12" descr="Tired face with solid fill with solid fill">
              <a:extLst>
                <a:ext uri="{FF2B5EF4-FFF2-40B4-BE49-F238E27FC236}">
                  <a16:creationId xmlns:a16="http://schemas.microsoft.com/office/drawing/2014/main" id="{F4ED3493-C474-6B8E-BEE0-419DA5CC6B8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693895" y="4045388"/>
              <a:ext cx="914400" cy="914400"/>
            </a:xfrm>
            <a:prstGeom prst="rect">
              <a:avLst/>
            </a:prstGeom>
          </p:spPr>
        </p:pic>
        <p:sp>
          <p:nvSpPr>
            <p:cNvPr id="16" name="TextBox 15">
              <a:extLst>
                <a:ext uri="{FF2B5EF4-FFF2-40B4-BE49-F238E27FC236}">
                  <a16:creationId xmlns:a16="http://schemas.microsoft.com/office/drawing/2014/main" id="{9879B357-7C5A-3712-F0CB-E1EAB7348D74}"/>
                </a:ext>
              </a:extLst>
            </p:cNvPr>
            <p:cNvSpPr txBox="1"/>
            <p:nvPr/>
          </p:nvSpPr>
          <p:spPr>
            <a:xfrm>
              <a:off x="2453820" y="4959788"/>
              <a:ext cx="1394549" cy="369332"/>
            </a:xfrm>
            <a:prstGeom prst="rect">
              <a:avLst/>
            </a:prstGeom>
            <a:noFill/>
          </p:spPr>
          <p:txBody>
            <a:bodyPr wrap="none" rtlCol="0">
              <a:spAutoFit/>
            </a:bodyPr>
            <a:lstStyle/>
            <a:p>
              <a:r>
                <a:rPr lang="en-GB" b="1" dirty="0"/>
                <a:t>Overwhelm</a:t>
              </a:r>
              <a:endParaRPr lang="en-US" dirty="0"/>
            </a:p>
          </p:txBody>
        </p:sp>
      </p:grpSp>
      <p:grpSp>
        <p:nvGrpSpPr>
          <p:cNvPr id="22" name="Group 21">
            <a:extLst>
              <a:ext uri="{FF2B5EF4-FFF2-40B4-BE49-F238E27FC236}">
                <a16:creationId xmlns:a16="http://schemas.microsoft.com/office/drawing/2014/main" id="{63CDD134-C41A-80CA-655F-1F8792D3E0ED}"/>
              </a:ext>
            </a:extLst>
          </p:cNvPr>
          <p:cNvGrpSpPr/>
          <p:nvPr/>
        </p:nvGrpSpPr>
        <p:grpSpPr>
          <a:xfrm>
            <a:off x="6031616" y="1732820"/>
            <a:ext cx="1550104" cy="1691078"/>
            <a:chOff x="6912243" y="3565526"/>
            <a:chExt cx="1550104" cy="1691078"/>
          </a:xfrm>
        </p:grpSpPr>
        <p:pic>
          <p:nvPicPr>
            <p:cNvPr id="18" name="Graphic 17" descr="No Touch with solid fill">
              <a:extLst>
                <a:ext uri="{FF2B5EF4-FFF2-40B4-BE49-F238E27FC236}">
                  <a16:creationId xmlns:a16="http://schemas.microsoft.com/office/drawing/2014/main" id="{3D92DE4D-9482-EE0A-A546-A8846FA8EFA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185211" y="3565526"/>
              <a:ext cx="914400" cy="914400"/>
            </a:xfrm>
            <a:prstGeom prst="rect">
              <a:avLst/>
            </a:prstGeom>
          </p:spPr>
        </p:pic>
        <p:sp>
          <p:nvSpPr>
            <p:cNvPr id="19" name="TextBox 18">
              <a:extLst>
                <a:ext uri="{FF2B5EF4-FFF2-40B4-BE49-F238E27FC236}">
                  <a16:creationId xmlns:a16="http://schemas.microsoft.com/office/drawing/2014/main" id="{A2E7D75E-610B-425E-D17F-2A2B66556E37}"/>
                </a:ext>
              </a:extLst>
            </p:cNvPr>
            <p:cNvSpPr txBox="1"/>
            <p:nvPr/>
          </p:nvSpPr>
          <p:spPr>
            <a:xfrm>
              <a:off x="6912243" y="4610273"/>
              <a:ext cx="1550104" cy="646331"/>
            </a:xfrm>
            <a:prstGeom prst="rect">
              <a:avLst/>
            </a:prstGeom>
            <a:noFill/>
          </p:spPr>
          <p:txBody>
            <a:bodyPr wrap="none" rtlCol="0">
              <a:spAutoFit/>
            </a:bodyPr>
            <a:lstStyle/>
            <a:p>
              <a:r>
                <a:rPr lang="en-GB" b="1" dirty="0"/>
                <a:t>Restrictions/</a:t>
              </a:r>
            </a:p>
            <a:p>
              <a:r>
                <a:rPr lang="en-GB" b="1" dirty="0"/>
                <a:t>inflexibility</a:t>
              </a:r>
              <a:endParaRPr lang="en-US" dirty="0"/>
            </a:p>
          </p:txBody>
        </p:sp>
      </p:grpSp>
      <p:grpSp>
        <p:nvGrpSpPr>
          <p:cNvPr id="28" name="Group 27">
            <a:extLst>
              <a:ext uri="{FF2B5EF4-FFF2-40B4-BE49-F238E27FC236}">
                <a16:creationId xmlns:a16="http://schemas.microsoft.com/office/drawing/2014/main" id="{86CCB8D6-0B0A-9903-D88C-11CC2B1B5EE7}"/>
              </a:ext>
            </a:extLst>
          </p:cNvPr>
          <p:cNvGrpSpPr/>
          <p:nvPr/>
        </p:nvGrpSpPr>
        <p:grpSpPr>
          <a:xfrm>
            <a:off x="4071498" y="1626662"/>
            <a:ext cx="1351168" cy="1809535"/>
            <a:chOff x="5650023" y="1723221"/>
            <a:chExt cx="1351168" cy="1809535"/>
          </a:xfrm>
        </p:grpSpPr>
        <p:pic>
          <p:nvPicPr>
            <p:cNvPr id="26" name="Graphic 25" descr="Normal Distribution with solid fill">
              <a:extLst>
                <a:ext uri="{FF2B5EF4-FFF2-40B4-BE49-F238E27FC236}">
                  <a16:creationId xmlns:a16="http://schemas.microsoft.com/office/drawing/2014/main" id="{72CC2820-EE1D-2E7B-2B45-12BF9DB5686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650023" y="1723221"/>
              <a:ext cx="1275669" cy="1275669"/>
            </a:xfrm>
            <a:prstGeom prst="rect">
              <a:avLst/>
            </a:prstGeom>
          </p:spPr>
        </p:pic>
        <p:sp>
          <p:nvSpPr>
            <p:cNvPr id="27" name="TextBox 26">
              <a:extLst>
                <a:ext uri="{FF2B5EF4-FFF2-40B4-BE49-F238E27FC236}">
                  <a16:creationId xmlns:a16="http://schemas.microsoft.com/office/drawing/2014/main" id="{5625001C-1556-6E43-967F-E458B9425C42}"/>
                </a:ext>
              </a:extLst>
            </p:cNvPr>
            <p:cNvSpPr txBox="1"/>
            <p:nvPr/>
          </p:nvSpPr>
          <p:spPr>
            <a:xfrm>
              <a:off x="5667171" y="2886425"/>
              <a:ext cx="1334020" cy="646331"/>
            </a:xfrm>
            <a:prstGeom prst="rect">
              <a:avLst/>
            </a:prstGeom>
            <a:noFill/>
          </p:spPr>
          <p:txBody>
            <a:bodyPr wrap="none" rtlCol="0">
              <a:spAutoFit/>
            </a:bodyPr>
            <a:lstStyle/>
            <a:p>
              <a:pPr algn="ctr"/>
              <a:r>
                <a:rPr lang="en-GB" b="1" dirty="0"/>
                <a:t>Norms and</a:t>
              </a:r>
            </a:p>
            <a:p>
              <a:pPr algn="ctr"/>
              <a:r>
                <a:rPr lang="en-GB" b="1" dirty="0"/>
                <a:t>culture</a:t>
              </a:r>
              <a:endParaRPr lang="en-US" dirty="0"/>
            </a:p>
          </p:txBody>
        </p:sp>
      </p:grpSp>
      <p:grpSp>
        <p:nvGrpSpPr>
          <p:cNvPr id="49" name="Group 48">
            <a:extLst>
              <a:ext uri="{FF2B5EF4-FFF2-40B4-BE49-F238E27FC236}">
                <a16:creationId xmlns:a16="http://schemas.microsoft.com/office/drawing/2014/main" id="{CB1A53D4-9994-4C48-CF77-A443D2424CDD}"/>
              </a:ext>
            </a:extLst>
          </p:cNvPr>
          <p:cNvGrpSpPr/>
          <p:nvPr/>
        </p:nvGrpSpPr>
        <p:grpSpPr>
          <a:xfrm>
            <a:off x="2235120" y="3720093"/>
            <a:ext cx="1070678" cy="1922873"/>
            <a:chOff x="5056184" y="4084711"/>
            <a:chExt cx="1070678" cy="1922873"/>
          </a:xfrm>
        </p:grpSpPr>
        <p:pic>
          <p:nvPicPr>
            <p:cNvPr id="30" name="Graphic 29" descr="Books with solid fill">
              <a:extLst>
                <a:ext uri="{FF2B5EF4-FFF2-40B4-BE49-F238E27FC236}">
                  <a16:creationId xmlns:a16="http://schemas.microsoft.com/office/drawing/2014/main" id="{D7F6C8E7-365A-F802-CFFB-3747FDFC09D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128721" y="4084711"/>
              <a:ext cx="914400" cy="914400"/>
            </a:xfrm>
            <a:prstGeom prst="rect">
              <a:avLst/>
            </a:prstGeom>
          </p:spPr>
        </p:pic>
        <p:sp>
          <p:nvSpPr>
            <p:cNvPr id="31" name="TextBox 30">
              <a:extLst>
                <a:ext uri="{FF2B5EF4-FFF2-40B4-BE49-F238E27FC236}">
                  <a16:creationId xmlns:a16="http://schemas.microsoft.com/office/drawing/2014/main" id="{D204DBAB-8954-B0DD-90C2-7A8BB6083F8A}"/>
                </a:ext>
              </a:extLst>
            </p:cNvPr>
            <p:cNvSpPr txBox="1"/>
            <p:nvPr/>
          </p:nvSpPr>
          <p:spPr>
            <a:xfrm>
              <a:off x="5056184" y="5084254"/>
              <a:ext cx="1070678" cy="923330"/>
            </a:xfrm>
            <a:prstGeom prst="rect">
              <a:avLst/>
            </a:prstGeom>
            <a:noFill/>
          </p:spPr>
          <p:txBody>
            <a:bodyPr wrap="none" rtlCol="0">
              <a:spAutoFit/>
            </a:bodyPr>
            <a:lstStyle/>
            <a:p>
              <a:r>
                <a:rPr lang="en-GB" b="1" dirty="0"/>
                <a:t>Lack of </a:t>
              </a:r>
            </a:p>
            <a:p>
              <a:r>
                <a:rPr lang="en-GB" b="1" dirty="0"/>
                <a:t>training/</a:t>
              </a:r>
            </a:p>
            <a:p>
              <a:r>
                <a:rPr lang="en-GB" b="1" dirty="0"/>
                <a:t>skills</a:t>
              </a:r>
              <a:endParaRPr lang="en-US" dirty="0"/>
            </a:p>
          </p:txBody>
        </p:sp>
      </p:grpSp>
      <p:grpSp>
        <p:nvGrpSpPr>
          <p:cNvPr id="50" name="Group 49">
            <a:extLst>
              <a:ext uri="{FF2B5EF4-FFF2-40B4-BE49-F238E27FC236}">
                <a16:creationId xmlns:a16="http://schemas.microsoft.com/office/drawing/2014/main" id="{F4F2F682-62DB-2AF6-B3F1-3C43B38D5E2E}"/>
              </a:ext>
            </a:extLst>
          </p:cNvPr>
          <p:cNvGrpSpPr/>
          <p:nvPr/>
        </p:nvGrpSpPr>
        <p:grpSpPr>
          <a:xfrm>
            <a:off x="4214225" y="3827508"/>
            <a:ext cx="1292155" cy="1572108"/>
            <a:chOff x="8048654" y="1809106"/>
            <a:chExt cx="1292155" cy="1572108"/>
          </a:xfrm>
        </p:grpSpPr>
        <p:sp>
          <p:nvSpPr>
            <p:cNvPr id="34" name="TextBox 33">
              <a:extLst>
                <a:ext uri="{FF2B5EF4-FFF2-40B4-BE49-F238E27FC236}">
                  <a16:creationId xmlns:a16="http://schemas.microsoft.com/office/drawing/2014/main" id="{57F61A9B-E561-E1E5-64C3-45C2F960B40D}"/>
                </a:ext>
              </a:extLst>
            </p:cNvPr>
            <p:cNvSpPr txBox="1"/>
            <p:nvPr/>
          </p:nvSpPr>
          <p:spPr>
            <a:xfrm>
              <a:off x="8065140" y="2734883"/>
              <a:ext cx="1275669" cy="646331"/>
            </a:xfrm>
            <a:prstGeom prst="rect">
              <a:avLst/>
            </a:prstGeom>
            <a:noFill/>
          </p:spPr>
          <p:txBody>
            <a:bodyPr wrap="square" rtlCol="0">
              <a:spAutoFit/>
            </a:bodyPr>
            <a:lstStyle/>
            <a:p>
              <a:r>
                <a:rPr lang="en-GB" b="1" dirty="0"/>
                <a:t>Lack of support</a:t>
              </a:r>
              <a:endParaRPr lang="en-US" dirty="0"/>
            </a:p>
          </p:txBody>
        </p:sp>
        <p:pic>
          <p:nvPicPr>
            <p:cNvPr id="36" name="Graphic 35" descr="Care with solid fill">
              <a:extLst>
                <a:ext uri="{FF2B5EF4-FFF2-40B4-BE49-F238E27FC236}">
                  <a16:creationId xmlns:a16="http://schemas.microsoft.com/office/drawing/2014/main" id="{04F714EB-2E8F-FCDC-D3D7-013B5F79EB58}"/>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8048654" y="1809106"/>
              <a:ext cx="914400" cy="914400"/>
            </a:xfrm>
            <a:prstGeom prst="rect">
              <a:avLst/>
            </a:prstGeom>
          </p:spPr>
        </p:pic>
      </p:grpSp>
      <p:sp>
        <p:nvSpPr>
          <p:cNvPr id="2" name="Rectangle 1">
            <a:extLst>
              <a:ext uri="{FF2B5EF4-FFF2-40B4-BE49-F238E27FC236}">
                <a16:creationId xmlns:a16="http://schemas.microsoft.com/office/drawing/2014/main" id="{3B33D19C-9490-7B8E-EC01-AA99C35A14EE}"/>
              </a:ext>
            </a:extLst>
          </p:cNvPr>
          <p:cNvSpPr/>
          <p:nvPr/>
        </p:nvSpPr>
        <p:spPr>
          <a:xfrm>
            <a:off x="278909" y="1644170"/>
            <a:ext cx="5193778" cy="4283332"/>
          </a:xfrm>
          <a:prstGeom prst="rect">
            <a:avLst/>
          </a:prstGeom>
          <a:solidFill>
            <a:schemeClr val="bg1">
              <a:alpha val="6688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5D828B96-02EC-ADC2-5F02-D9EE2E04BAF7}"/>
              </a:ext>
            </a:extLst>
          </p:cNvPr>
          <p:cNvSpPr txBox="1"/>
          <p:nvPr/>
        </p:nvSpPr>
        <p:spPr>
          <a:xfrm>
            <a:off x="5868343" y="3488020"/>
            <a:ext cx="2282739" cy="923330"/>
          </a:xfrm>
          <a:prstGeom prst="rect">
            <a:avLst/>
          </a:prstGeom>
          <a:noFill/>
        </p:spPr>
        <p:txBody>
          <a:bodyPr wrap="square" rtlCol="0">
            <a:spAutoFit/>
          </a:bodyPr>
          <a:lstStyle/>
          <a:p>
            <a:r>
              <a:rPr lang="en-US" dirty="0"/>
              <a:t>e.g. Data protections for human data or protected species </a:t>
            </a:r>
          </a:p>
        </p:txBody>
      </p:sp>
      <p:sp>
        <p:nvSpPr>
          <p:cNvPr id="5" name="Slide Number Placeholder 4">
            <a:extLst>
              <a:ext uri="{FF2B5EF4-FFF2-40B4-BE49-F238E27FC236}">
                <a16:creationId xmlns:a16="http://schemas.microsoft.com/office/drawing/2014/main" id="{F5713B96-7F99-366F-5CC5-305F57747D6D}"/>
              </a:ext>
            </a:extLst>
          </p:cNvPr>
          <p:cNvSpPr>
            <a:spLocks noGrp="1"/>
          </p:cNvSpPr>
          <p:nvPr>
            <p:ph type="sldNum" sz="quarter" idx="12"/>
          </p:nvPr>
        </p:nvSpPr>
        <p:spPr/>
        <p:txBody>
          <a:bodyPr/>
          <a:lstStyle/>
          <a:p>
            <a:fld id="{DC6309F4-03C8-4D48-A124-A9AD6E083FAC}" type="slidenum">
              <a:rPr lang="en-US" smtClean="0"/>
              <a:t>14</a:t>
            </a:fld>
            <a:endParaRPr lang="en-US"/>
          </a:p>
        </p:txBody>
      </p:sp>
    </p:spTree>
    <p:extLst>
      <p:ext uri="{BB962C8B-B14F-4D97-AF65-F5344CB8AC3E}">
        <p14:creationId xmlns:p14="http://schemas.microsoft.com/office/powerpoint/2010/main" val="22133667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E1318-FC33-7B0E-BC39-146B907DC28D}"/>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32574769-D92D-4620-B330-4DEC7281CDC5}"/>
              </a:ext>
            </a:extLst>
          </p:cNvPr>
          <p:cNvGrpSpPr/>
          <p:nvPr/>
        </p:nvGrpSpPr>
        <p:grpSpPr>
          <a:xfrm>
            <a:off x="10704849" y="6564312"/>
            <a:ext cx="1362075" cy="273690"/>
            <a:chOff x="19317" y="2690018"/>
            <a:chExt cx="11784755" cy="2025180"/>
          </a:xfrm>
        </p:grpSpPr>
        <p:pic>
          <p:nvPicPr>
            <p:cNvPr id="12" name="Picture 2">
              <a:extLst>
                <a:ext uri="{FF2B5EF4-FFF2-40B4-BE49-F238E27FC236}">
                  <a16:creationId xmlns:a16="http://schemas.microsoft.com/office/drawing/2014/main" id="{600613B5-91AA-8002-0BC1-4BEC67632A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203AC1D3-3195-7C51-E884-8AFC18A98875}"/>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4" name="Title 1">
            <a:extLst>
              <a:ext uri="{FF2B5EF4-FFF2-40B4-BE49-F238E27FC236}">
                <a16:creationId xmlns:a16="http://schemas.microsoft.com/office/drawing/2014/main" id="{571C6C7F-F20D-EB06-0E2D-C4A0CA4EB7E2}"/>
              </a:ext>
            </a:extLst>
          </p:cNvPr>
          <p:cNvSpPr txBox="1">
            <a:spLocks/>
          </p:cNvSpPr>
          <p:nvPr/>
        </p:nvSpPr>
        <p:spPr>
          <a:xfrm>
            <a:off x="0" y="-11484"/>
            <a:ext cx="121920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Challenges in Open Science: Limited resources</a:t>
            </a:r>
          </a:p>
        </p:txBody>
      </p:sp>
      <p:grpSp>
        <p:nvGrpSpPr>
          <p:cNvPr id="24" name="Group 23">
            <a:extLst>
              <a:ext uri="{FF2B5EF4-FFF2-40B4-BE49-F238E27FC236}">
                <a16:creationId xmlns:a16="http://schemas.microsoft.com/office/drawing/2014/main" id="{18C3D99B-8E1A-F98F-F988-8A30B3A26BD6}"/>
              </a:ext>
            </a:extLst>
          </p:cNvPr>
          <p:cNvGrpSpPr/>
          <p:nvPr/>
        </p:nvGrpSpPr>
        <p:grpSpPr>
          <a:xfrm>
            <a:off x="428706" y="1900628"/>
            <a:ext cx="914400" cy="1283732"/>
            <a:chOff x="1078156" y="1850572"/>
            <a:chExt cx="914400" cy="1283732"/>
          </a:xfrm>
        </p:grpSpPr>
        <p:sp>
          <p:nvSpPr>
            <p:cNvPr id="6" name="TextBox 5">
              <a:extLst>
                <a:ext uri="{FF2B5EF4-FFF2-40B4-BE49-F238E27FC236}">
                  <a16:creationId xmlns:a16="http://schemas.microsoft.com/office/drawing/2014/main" id="{B5EA59DA-A59C-98A6-F2B4-1D7491039DCC}"/>
                </a:ext>
              </a:extLst>
            </p:cNvPr>
            <p:cNvSpPr txBox="1"/>
            <p:nvPr/>
          </p:nvSpPr>
          <p:spPr>
            <a:xfrm>
              <a:off x="1186542" y="2764972"/>
              <a:ext cx="697627" cy="369332"/>
            </a:xfrm>
            <a:prstGeom prst="rect">
              <a:avLst/>
            </a:prstGeom>
            <a:noFill/>
          </p:spPr>
          <p:txBody>
            <a:bodyPr wrap="none" rtlCol="0">
              <a:spAutoFit/>
            </a:bodyPr>
            <a:lstStyle/>
            <a:p>
              <a:r>
                <a:rPr lang="en-GB" b="1" dirty="0"/>
                <a:t>Time</a:t>
              </a:r>
              <a:endParaRPr lang="en-US" dirty="0"/>
            </a:p>
          </p:txBody>
        </p:sp>
        <p:pic>
          <p:nvPicPr>
            <p:cNvPr id="8" name="Graphic 7" descr="Stopwatch 75% with solid fill">
              <a:extLst>
                <a:ext uri="{FF2B5EF4-FFF2-40B4-BE49-F238E27FC236}">
                  <a16:creationId xmlns:a16="http://schemas.microsoft.com/office/drawing/2014/main" id="{A6CD9A27-1BD4-1B4A-37C8-31FB0444821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78156" y="1850572"/>
              <a:ext cx="914400" cy="914400"/>
            </a:xfrm>
            <a:prstGeom prst="rect">
              <a:avLst/>
            </a:prstGeom>
          </p:spPr>
        </p:pic>
      </p:grpSp>
      <p:grpSp>
        <p:nvGrpSpPr>
          <p:cNvPr id="23" name="Group 22">
            <a:extLst>
              <a:ext uri="{FF2B5EF4-FFF2-40B4-BE49-F238E27FC236}">
                <a16:creationId xmlns:a16="http://schemas.microsoft.com/office/drawing/2014/main" id="{717E12E3-9A94-79B2-AA26-3638F24B3D66}"/>
              </a:ext>
            </a:extLst>
          </p:cNvPr>
          <p:cNvGrpSpPr/>
          <p:nvPr/>
        </p:nvGrpSpPr>
        <p:grpSpPr>
          <a:xfrm>
            <a:off x="2137849" y="1748273"/>
            <a:ext cx="1275029" cy="1552016"/>
            <a:chOff x="7918976" y="1325563"/>
            <a:chExt cx="1275029" cy="1552016"/>
          </a:xfrm>
        </p:grpSpPr>
        <p:pic>
          <p:nvPicPr>
            <p:cNvPr id="10" name="Graphic 9" descr="Medal with solid fill">
              <a:extLst>
                <a:ext uri="{FF2B5EF4-FFF2-40B4-BE49-F238E27FC236}">
                  <a16:creationId xmlns:a16="http://schemas.microsoft.com/office/drawing/2014/main" id="{12E10B2F-AE2E-8E00-63E9-6C5B8AD14DD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099611" y="1325563"/>
              <a:ext cx="914400" cy="914400"/>
            </a:xfrm>
            <a:prstGeom prst="rect">
              <a:avLst/>
            </a:prstGeom>
          </p:spPr>
        </p:pic>
        <p:sp>
          <p:nvSpPr>
            <p:cNvPr id="11" name="TextBox 10">
              <a:extLst>
                <a:ext uri="{FF2B5EF4-FFF2-40B4-BE49-F238E27FC236}">
                  <a16:creationId xmlns:a16="http://schemas.microsoft.com/office/drawing/2014/main" id="{5C160858-4FAD-00F2-2195-1EEEB854DDAD}"/>
                </a:ext>
              </a:extLst>
            </p:cNvPr>
            <p:cNvSpPr txBox="1"/>
            <p:nvPr/>
          </p:nvSpPr>
          <p:spPr>
            <a:xfrm>
              <a:off x="7918976" y="2231248"/>
              <a:ext cx="1275029" cy="646331"/>
            </a:xfrm>
            <a:prstGeom prst="rect">
              <a:avLst/>
            </a:prstGeom>
            <a:noFill/>
          </p:spPr>
          <p:txBody>
            <a:bodyPr wrap="none" rtlCol="0">
              <a:spAutoFit/>
            </a:bodyPr>
            <a:lstStyle/>
            <a:p>
              <a:r>
                <a:rPr lang="en-GB" b="1" dirty="0"/>
                <a:t>Incentive </a:t>
              </a:r>
            </a:p>
            <a:p>
              <a:r>
                <a:rPr lang="en-GB" b="1" dirty="0"/>
                <a:t>structures</a:t>
              </a:r>
              <a:endParaRPr lang="en-US" dirty="0"/>
            </a:p>
          </p:txBody>
        </p:sp>
      </p:grpSp>
      <p:grpSp>
        <p:nvGrpSpPr>
          <p:cNvPr id="21" name="Group 20">
            <a:extLst>
              <a:ext uri="{FF2B5EF4-FFF2-40B4-BE49-F238E27FC236}">
                <a16:creationId xmlns:a16="http://schemas.microsoft.com/office/drawing/2014/main" id="{C8120092-1EDC-BF1C-5233-A884058C8D2F}"/>
              </a:ext>
            </a:extLst>
          </p:cNvPr>
          <p:cNvGrpSpPr/>
          <p:nvPr/>
        </p:nvGrpSpPr>
        <p:grpSpPr>
          <a:xfrm>
            <a:off x="273665" y="4115884"/>
            <a:ext cx="1394549" cy="1283732"/>
            <a:chOff x="2453820" y="4045388"/>
            <a:chExt cx="1394549" cy="1283732"/>
          </a:xfrm>
        </p:grpSpPr>
        <p:pic>
          <p:nvPicPr>
            <p:cNvPr id="13" name="Graphic 12" descr="Tired face with solid fill with solid fill">
              <a:extLst>
                <a:ext uri="{FF2B5EF4-FFF2-40B4-BE49-F238E27FC236}">
                  <a16:creationId xmlns:a16="http://schemas.microsoft.com/office/drawing/2014/main" id="{B2E45498-B6B3-9471-24AE-06098C71CCC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693895" y="4045388"/>
              <a:ext cx="914400" cy="914400"/>
            </a:xfrm>
            <a:prstGeom prst="rect">
              <a:avLst/>
            </a:prstGeom>
          </p:spPr>
        </p:pic>
        <p:sp>
          <p:nvSpPr>
            <p:cNvPr id="16" name="TextBox 15">
              <a:extLst>
                <a:ext uri="{FF2B5EF4-FFF2-40B4-BE49-F238E27FC236}">
                  <a16:creationId xmlns:a16="http://schemas.microsoft.com/office/drawing/2014/main" id="{0A672C9A-BD25-218C-D42A-DA62F6D615F2}"/>
                </a:ext>
              </a:extLst>
            </p:cNvPr>
            <p:cNvSpPr txBox="1"/>
            <p:nvPr/>
          </p:nvSpPr>
          <p:spPr>
            <a:xfrm>
              <a:off x="2453820" y="4959788"/>
              <a:ext cx="1394549" cy="369332"/>
            </a:xfrm>
            <a:prstGeom prst="rect">
              <a:avLst/>
            </a:prstGeom>
            <a:noFill/>
          </p:spPr>
          <p:txBody>
            <a:bodyPr wrap="none" rtlCol="0">
              <a:spAutoFit/>
            </a:bodyPr>
            <a:lstStyle/>
            <a:p>
              <a:r>
                <a:rPr lang="en-GB" b="1" dirty="0"/>
                <a:t>Overwhelm</a:t>
              </a:r>
              <a:endParaRPr lang="en-US" dirty="0"/>
            </a:p>
          </p:txBody>
        </p:sp>
      </p:grpSp>
      <p:grpSp>
        <p:nvGrpSpPr>
          <p:cNvPr id="22" name="Group 21">
            <a:extLst>
              <a:ext uri="{FF2B5EF4-FFF2-40B4-BE49-F238E27FC236}">
                <a16:creationId xmlns:a16="http://schemas.microsoft.com/office/drawing/2014/main" id="{1F5157CD-6B94-285D-73AF-62087847D378}"/>
              </a:ext>
            </a:extLst>
          </p:cNvPr>
          <p:cNvGrpSpPr/>
          <p:nvPr/>
        </p:nvGrpSpPr>
        <p:grpSpPr>
          <a:xfrm>
            <a:off x="6031616" y="1732820"/>
            <a:ext cx="1550104" cy="1691078"/>
            <a:chOff x="6912243" y="3565526"/>
            <a:chExt cx="1550104" cy="1691078"/>
          </a:xfrm>
        </p:grpSpPr>
        <p:pic>
          <p:nvPicPr>
            <p:cNvPr id="18" name="Graphic 17" descr="No Touch with solid fill">
              <a:extLst>
                <a:ext uri="{FF2B5EF4-FFF2-40B4-BE49-F238E27FC236}">
                  <a16:creationId xmlns:a16="http://schemas.microsoft.com/office/drawing/2014/main" id="{B26240E0-869C-6C2C-76B8-6AC14570C89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185211" y="3565526"/>
              <a:ext cx="914400" cy="914400"/>
            </a:xfrm>
            <a:prstGeom prst="rect">
              <a:avLst/>
            </a:prstGeom>
          </p:spPr>
        </p:pic>
        <p:sp>
          <p:nvSpPr>
            <p:cNvPr id="19" name="TextBox 18">
              <a:extLst>
                <a:ext uri="{FF2B5EF4-FFF2-40B4-BE49-F238E27FC236}">
                  <a16:creationId xmlns:a16="http://schemas.microsoft.com/office/drawing/2014/main" id="{C03BC720-DEB2-43B5-7E0A-EDDEFCB73406}"/>
                </a:ext>
              </a:extLst>
            </p:cNvPr>
            <p:cNvSpPr txBox="1"/>
            <p:nvPr/>
          </p:nvSpPr>
          <p:spPr>
            <a:xfrm>
              <a:off x="6912243" y="4610273"/>
              <a:ext cx="1550104" cy="646331"/>
            </a:xfrm>
            <a:prstGeom prst="rect">
              <a:avLst/>
            </a:prstGeom>
            <a:noFill/>
          </p:spPr>
          <p:txBody>
            <a:bodyPr wrap="none" rtlCol="0">
              <a:spAutoFit/>
            </a:bodyPr>
            <a:lstStyle/>
            <a:p>
              <a:r>
                <a:rPr lang="en-GB" b="1" dirty="0"/>
                <a:t>Restrictions/</a:t>
              </a:r>
            </a:p>
            <a:p>
              <a:r>
                <a:rPr lang="en-GB" b="1" dirty="0"/>
                <a:t>inflexibility</a:t>
              </a:r>
              <a:endParaRPr lang="en-US" dirty="0"/>
            </a:p>
          </p:txBody>
        </p:sp>
      </p:grpSp>
      <p:grpSp>
        <p:nvGrpSpPr>
          <p:cNvPr id="28" name="Group 27">
            <a:extLst>
              <a:ext uri="{FF2B5EF4-FFF2-40B4-BE49-F238E27FC236}">
                <a16:creationId xmlns:a16="http://schemas.microsoft.com/office/drawing/2014/main" id="{3AA9D834-5741-5CF6-8EFB-CFDE88770C5D}"/>
              </a:ext>
            </a:extLst>
          </p:cNvPr>
          <p:cNvGrpSpPr/>
          <p:nvPr/>
        </p:nvGrpSpPr>
        <p:grpSpPr>
          <a:xfrm>
            <a:off x="4071498" y="1626662"/>
            <a:ext cx="1351168" cy="1809535"/>
            <a:chOff x="5650023" y="1723221"/>
            <a:chExt cx="1351168" cy="1809535"/>
          </a:xfrm>
        </p:grpSpPr>
        <p:pic>
          <p:nvPicPr>
            <p:cNvPr id="26" name="Graphic 25" descr="Normal Distribution with solid fill">
              <a:extLst>
                <a:ext uri="{FF2B5EF4-FFF2-40B4-BE49-F238E27FC236}">
                  <a16:creationId xmlns:a16="http://schemas.microsoft.com/office/drawing/2014/main" id="{0AC01313-801D-96E9-8759-768E5E2FF39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650023" y="1723221"/>
              <a:ext cx="1275669" cy="1275669"/>
            </a:xfrm>
            <a:prstGeom prst="rect">
              <a:avLst/>
            </a:prstGeom>
          </p:spPr>
        </p:pic>
        <p:sp>
          <p:nvSpPr>
            <p:cNvPr id="27" name="TextBox 26">
              <a:extLst>
                <a:ext uri="{FF2B5EF4-FFF2-40B4-BE49-F238E27FC236}">
                  <a16:creationId xmlns:a16="http://schemas.microsoft.com/office/drawing/2014/main" id="{379D5120-E7C9-DB6B-1C74-1277B3FB8A76}"/>
                </a:ext>
              </a:extLst>
            </p:cNvPr>
            <p:cNvSpPr txBox="1"/>
            <p:nvPr/>
          </p:nvSpPr>
          <p:spPr>
            <a:xfrm>
              <a:off x="5667171" y="2886425"/>
              <a:ext cx="1334020" cy="646331"/>
            </a:xfrm>
            <a:prstGeom prst="rect">
              <a:avLst/>
            </a:prstGeom>
            <a:noFill/>
          </p:spPr>
          <p:txBody>
            <a:bodyPr wrap="none" rtlCol="0">
              <a:spAutoFit/>
            </a:bodyPr>
            <a:lstStyle/>
            <a:p>
              <a:pPr algn="ctr"/>
              <a:r>
                <a:rPr lang="en-GB" b="1" dirty="0"/>
                <a:t>Norms and</a:t>
              </a:r>
            </a:p>
            <a:p>
              <a:pPr algn="ctr"/>
              <a:r>
                <a:rPr lang="en-GB" b="1" dirty="0"/>
                <a:t>culture</a:t>
              </a:r>
              <a:endParaRPr lang="en-US" dirty="0"/>
            </a:p>
          </p:txBody>
        </p:sp>
      </p:grpSp>
      <p:grpSp>
        <p:nvGrpSpPr>
          <p:cNvPr id="49" name="Group 48">
            <a:extLst>
              <a:ext uri="{FF2B5EF4-FFF2-40B4-BE49-F238E27FC236}">
                <a16:creationId xmlns:a16="http://schemas.microsoft.com/office/drawing/2014/main" id="{A201A2F4-F6A7-ED88-8549-A6EC73C0DE24}"/>
              </a:ext>
            </a:extLst>
          </p:cNvPr>
          <p:cNvGrpSpPr/>
          <p:nvPr/>
        </p:nvGrpSpPr>
        <p:grpSpPr>
          <a:xfrm>
            <a:off x="2235120" y="3720093"/>
            <a:ext cx="1070678" cy="1922873"/>
            <a:chOff x="5056184" y="4084711"/>
            <a:chExt cx="1070678" cy="1922873"/>
          </a:xfrm>
        </p:grpSpPr>
        <p:pic>
          <p:nvPicPr>
            <p:cNvPr id="30" name="Graphic 29" descr="Books with solid fill">
              <a:extLst>
                <a:ext uri="{FF2B5EF4-FFF2-40B4-BE49-F238E27FC236}">
                  <a16:creationId xmlns:a16="http://schemas.microsoft.com/office/drawing/2014/main" id="{480130F9-1D35-3F92-E0C1-4233912BB3A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128721" y="4084711"/>
              <a:ext cx="914400" cy="914400"/>
            </a:xfrm>
            <a:prstGeom prst="rect">
              <a:avLst/>
            </a:prstGeom>
          </p:spPr>
        </p:pic>
        <p:sp>
          <p:nvSpPr>
            <p:cNvPr id="31" name="TextBox 30">
              <a:extLst>
                <a:ext uri="{FF2B5EF4-FFF2-40B4-BE49-F238E27FC236}">
                  <a16:creationId xmlns:a16="http://schemas.microsoft.com/office/drawing/2014/main" id="{FFA31871-B0C2-4D85-846C-986BCA926C9A}"/>
                </a:ext>
              </a:extLst>
            </p:cNvPr>
            <p:cNvSpPr txBox="1"/>
            <p:nvPr/>
          </p:nvSpPr>
          <p:spPr>
            <a:xfrm>
              <a:off x="5056184" y="5084254"/>
              <a:ext cx="1070678" cy="923330"/>
            </a:xfrm>
            <a:prstGeom prst="rect">
              <a:avLst/>
            </a:prstGeom>
            <a:noFill/>
          </p:spPr>
          <p:txBody>
            <a:bodyPr wrap="none" rtlCol="0">
              <a:spAutoFit/>
            </a:bodyPr>
            <a:lstStyle/>
            <a:p>
              <a:r>
                <a:rPr lang="en-GB" b="1" dirty="0"/>
                <a:t>Lack of </a:t>
              </a:r>
            </a:p>
            <a:p>
              <a:r>
                <a:rPr lang="en-GB" b="1" dirty="0"/>
                <a:t>training/</a:t>
              </a:r>
            </a:p>
            <a:p>
              <a:r>
                <a:rPr lang="en-GB" b="1" dirty="0"/>
                <a:t>skills</a:t>
              </a:r>
              <a:endParaRPr lang="en-US" dirty="0"/>
            </a:p>
          </p:txBody>
        </p:sp>
      </p:grpSp>
      <p:grpSp>
        <p:nvGrpSpPr>
          <p:cNvPr id="50" name="Group 49">
            <a:extLst>
              <a:ext uri="{FF2B5EF4-FFF2-40B4-BE49-F238E27FC236}">
                <a16:creationId xmlns:a16="http://schemas.microsoft.com/office/drawing/2014/main" id="{9FFF6706-1C94-5883-344D-47E5DEF4BAC7}"/>
              </a:ext>
            </a:extLst>
          </p:cNvPr>
          <p:cNvGrpSpPr/>
          <p:nvPr/>
        </p:nvGrpSpPr>
        <p:grpSpPr>
          <a:xfrm>
            <a:off x="4214225" y="3827508"/>
            <a:ext cx="1292155" cy="1572108"/>
            <a:chOff x="8048654" y="1809106"/>
            <a:chExt cx="1292155" cy="1572108"/>
          </a:xfrm>
        </p:grpSpPr>
        <p:sp>
          <p:nvSpPr>
            <p:cNvPr id="34" name="TextBox 33">
              <a:extLst>
                <a:ext uri="{FF2B5EF4-FFF2-40B4-BE49-F238E27FC236}">
                  <a16:creationId xmlns:a16="http://schemas.microsoft.com/office/drawing/2014/main" id="{FEE19271-CF9D-8AA3-C4D2-7CC3A2797350}"/>
                </a:ext>
              </a:extLst>
            </p:cNvPr>
            <p:cNvSpPr txBox="1"/>
            <p:nvPr/>
          </p:nvSpPr>
          <p:spPr>
            <a:xfrm>
              <a:off x="8065140" y="2734883"/>
              <a:ext cx="1275669" cy="646331"/>
            </a:xfrm>
            <a:prstGeom prst="rect">
              <a:avLst/>
            </a:prstGeom>
            <a:noFill/>
          </p:spPr>
          <p:txBody>
            <a:bodyPr wrap="square" rtlCol="0">
              <a:spAutoFit/>
            </a:bodyPr>
            <a:lstStyle/>
            <a:p>
              <a:r>
                <a:rPr lang="en-GB" b="1" dirty="0"/>
                <a:t>Lack of support</a:t>
              </a:r>
              <a:endParaRPr lang="en-US" dirty="0"/>
            </a:p>
          </p:txBody>
        </p:sp>
        <p:pic>
          <p:nvPicPr>
            <p:cNvPr id="36" name="Graphic 35" descr="Care with solid fill">
              <a:extLst>
                <a:ext uri="{FF2B5EF4-FFF2-40B4-BE49-F238E27FC236}">
                  <a16:creationId xmlns:a16="http://schemas.microsoft.com/office/drawing/2014/main" id="{D3D79FBF-DE36-1BC5-E2B0-0E59DDBB482F}"/>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8048654" y="1809106"/>
              <a:ext cx="914400" cy="914400"/>
            </a:xfrm>
            <a:prstGeom prst="rect">
              <a:avLst/>
            </a:prstGeom>
          </p:spPr>
        </p:pic>
      </p:grpSp>
      <p:grpSp>
        <p:nvGrpSpPr>
          <p:cNvPr id="51" name="Group 50">
            <a:extLst>
              <a:ext uri="{FF2B5EF4-FFF2-40B4-BE49-F238E27FC236}">
                <a16:creationId xmlns:a16="http://schemas.microsoft.com/office/drawing/2014/main" id="{F5BBEFCD-A1F2-3568-2371-BD9A24163B17}"/>
              </a:ext>
            </a:extLst>
          </p:cNvPr>
          <p:cNvGrpSpPr/>
          <p:nvPr/>
        </p:nvGrpSpPr>
        <p:grpSpPr>
          <a:xfrm>
            <a:off x="6136914" y="3728834"/>
            <a:ext cx="1237518" cy="1688500"/>
            <a:chOff x="7032029" y="3911920"/>
            <a:chExt cx="1237518" cy="1688500"/>
          </a:xfrm>
        </p:grpSpPr>
        <p:sp>
          <p:nvSpPr>
            <p:cNvPr id="37" name="TextBox 36">
              <a:extLst>
                <a:ext uri="{FF2B5EF4-FFF2-40B4-BE49-F238E27FC236}">
                  <a16:creationId xmlns:a16="http://schemas.microsoft.com/office/drawing/2014/main" id="{36CD8DFE-6E2A-4BAC-7FEA-B24A3F34C099}"/>
                </a:ext>
              </a:extLst>
            </p:cNvPr>
            <p:cNvSpPr txBox="1"/>
            <p:nvPr/>
          </p:nvSpPr>
          <p:spPr>
            <a:xfrm>
              <a:off x="7032029" y="4954089"/>
              <a:ext cx="1237518" cy="646331"/>
            </a:xfrm>
            <a:prstGeom prst="rect">
              <a:avLst/>
            </a:prstGeom>
            <a:noFill/>
          </p:spPr>
          <p:txBody>
            <a:bodyPr wrap="none" rtlCol="0">
              <a:spAutoFit/>
            </a:bodyPr>
            <a:lstStyle/>
            <a:p>
              <a:r>
                <a:rPr lang="en-GB" b="1" dirty="0"/>
                <a:t>Limited </a:t>
              </a:r>
            </a:p>
            <a:p>
              <a:r>
                <a:rPr lang="en-GB" b="1" dirty="0"/>
                <a:t>resources</a:t>
              </a:r>
              <a:endParaRPr lang="en-US" dirty="0"/>
            </a:p>
          </p:txBody>
        </p:sp>
        <p:pic>
          <p:nvPicPr>
            <p:cNvPr id="47" name="Graphic 46" descr="Coins with solid fill">
              <a:extLst>
                <a:ext uri="{FF2B5EF4-FFF2-40B4-BE49-F238E27FC236}">
                  <a16:creationId xmlns:a16="http://schemas.microsoft.com/office/drawing/2014/main" id="{9B00D2DA-5310-F0D6-1191-143509D4E94A}"/>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7043832" y="3911920"/>
              <a:ext cx="914400" cy="914400"/>
            </a:xfrm>
            <a:prstGeom prst="rect">
              <a:avLst/>
            </a:prstGeom>
          </p:spPr>
        </p:pic>
      </p:grpSp>
      <p:sp>
        <p:nvSpPr>
          <p:cNvPr id="2" name="Rectangle 1">
            <a:extLst>
              <a:ext uri="{FF2B5EF4-FFF2-40B4-BE49-F238E27FC236}">
                <a16:creationId xmlns:a16="http://schemas.microsoft.com/office/drawing/2014/main" id="{78926E5E-3273-80D8-0762-F28D6F3F642B}"/>
              </a:ext>
            </a:extLst>
          </p:cNvPr>
          <p:cNvSpPr/>
          <p:nvPr/>
        </p:nvSpPr>
        <p:spPr>
          <a:xfrm>
            <a:off x="269218" y="1751076"/>
            <a:ext cx="5193778" cy="4283332"/>
          </a:xfrm>
          <a:prstGeom prst="rect">
            <a:avLst/>
          </a:prstGeom>
          <a:solidFill>
            <a:schemeClr val="bg1">
              <a:alpha val="6688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CAD31CF-0991-809E-F969-39513F109B2A}"/>
              </a:ext>
            </a:extLst>
          </p:cNvPr>
          <p:cNvSpPr/>
          <p:nvPr/>
        </p:nvSpPr>
        <p:spPr>
          <a:xfrm>
            <a:off x="5687015" y="1247784"/>
            <a:ext cx="2265494" cy="2472309"/>
          </a:xfrm>
          <a:prstGeom prst="rect">
            <a:avLst/>
          </a:prstGeom>
          <a:solidFill>
            <a:schemeClr val="bg1">
              <a:alpha val="6688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B71FB52-64D5-39AD-F18E-FF75B7007B93}"/>
              </a:ext>
            </a:extLst>
          </p:cNvPr>
          <p:cNvSpPr txBox="1"/>
          <p:nvPr/>
        </p:nvSpPr>
        <p:spPr>
          <a:xfrm>
            <a:off x="6035006" y="5458300"/>
            <a:ext cx="2582521" cy="1200329"/>
          </a:xfrm>
          <a:prstGeom prst="rect">
            <a:avLst/>
          </a:prstGeom>
          <a:noFill/>
        </p:spPr>
        <p:txBody>
          <a:bodyPr wrap="square" rtlCol="0">
            <a:spAutoFit/>
          </a:bodyPr>
          <a:lstStyle/>
          <a:p>
            <a:r>
              <a:rPr lang="en-US" dirty="0"/>
              <a:t>e.g. Funding for article processing charges (APCs) to make research open access</a:t>
            </a:r>
          </a:p>
        </p:txBody>
      </p:sp>
      <p:sp>
        <p:nvSpPr>
          <p:cNvPr id="7" name="Slide Number Placeholder 6">
            <a:extLst>
              <a:ext uri="{FF2B5EF4-FFF2-40B4-BE49-F238E27FC236}">
                <a16:creationId xmlns:a16="http://schemas.microsoft.com/office/drawing/2014/main" id="{2BAA2287-9628-1989-2A02-035DBDEB5A61}"/>
              </a:ext>
            </a:extLst>
          </p:cNvPr>
          <p:cNvSpPr>
            <a:spLocks noGrp="1"/>
          </p:cNvSpPr>
          <p:nvPr>
            <p:ph type="sldNum" sz="quarter" idx="12"/>
          </p:nvPr>
        </p:nvSpPr>
        <p:spPr/>
        <p:txBody>
          <a:bodyPr/>
          <a:lstStyle/>
          <a:p>
            <a:fld id="{DC6309F4-03C8-4D48-A124-A9AD6E083FAC}" type="slidenum">
              <a:rPr lang="en-US" smtClean="0"/>
              <a:t>15</a:t>
            </a:fld>
            <a:endParaRPr lang="en-US"/>
          </a:p>
        </p:txBody>
      </p:sp>
    </p:spTree>
    <p:extLst>
      <p:ext uri="{BB962C8B-B14F-4D97-AF65-F5344CB8AC3E}">
        <p14:creationId xmlns:p14="http://schemas.microsoft.com/office/powerpoint/2010/main" val="20184468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5679B-22D4-9D02-008D-5B0964004E37}"/>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AA4A6D73-424A-1A3E-255D-4C3434FB4EAB}"/>
              </a:ext>
            </a:extLst>
          </p:cNvPr>
          <p:cNvGrpSpPr/>
          <p:nvPr/>
        </p:nvGrpSpPr>
        <p:grpSpPr>
          <a:xfrm>
            <a:off x="10704849" y="6564312"/>
            <a:ext cx="1362075" cy="273690"/>
            <a:chOff x="19317" y="2690018"/>
            <a:chExt cx="11784755" cy="2025180"/>
          </a:xfrm>
        </p:grpSpPr>
        <p:pic>
          <p:nvPicPr>
            <p:cNvPr id="9" name="Picture 2">
              <a:extLst>
                <a:ext uri="{FF2B5EF4-FFF2-40B4-BE49-F238E27FC236}">
                  <a16:creationId xmlns:a16="http://schemas.microsoft.com/office/drawing/2014/main" id="{6A0C6A70-263B-7C50-5FE5-2B05C67291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69DC8488-EC25-8B23-50A8-ADECA58D1870}"/>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4" name="Title 1">
            <a:extLst>
              <a:ext uri="{FF2B5EF4-FFF2-40B4-BE49-F238E27FC236}">
                <a16:creationId xmlns:a16="http://schemas.microsoft.com/office/drawing/2014/main" id="{34F36907-ECEA-58A0-B561-76D6ED82C225}"/>
              </a:ext>
            </a:extLst>
          </p:cNvPr>
          <p:cNvSpPr txBox="1">
            <a:spLocks/>
          </p:cNvSpPr>
          <p:nvPr/>
        </p:nvSpPr>
        <p:spPr>
          <a:xfrm>
            <a:off x="0" y="-11484"/>
            <a:ext cx="121920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Challenges in Open Science: Additional workload</a:t>
            </a:r>
          </a:p>
        </p:txBody>
      </p:sp>
      <p:grpSp>
        <p:nvGrpSpPr>
          <p:cNvPr id="24" name="Group 23">
            <a:extLst>
              <a:ext uri="{FF2B5EF4-FFF2-40B4-BE49-F238E27FC236}">
                <a16:creationId xmlns:a16="http://schemas.microsoft.com/office/drawing/2014/main" id="{393205EC-CBCC-1637-24FA-D6C360D27F1A}"/>
              </a:ext>
            </a:extLst>
          </p:cNvPr>
          <p:cNvGrpSpPr/>
          <p:nvPr/>
        </p:nvGrpSpPr>
        <p:grpSpPr>
          <a:xfrm>
            <a:off x="428706" y="1900628"/>
            <a:ext cx="914400" cy="1283732"/>
            <a:chOff x="1078156" y="1850572"/>
            <a:chExt cx="914400" cy="1283732"/>
          </a:xfrm>
        </p:grpSpPr>
        <p:sp>
          <p:nvSpPr>
            <p:cNvPr id="6" name="TextBox 5">
              <a:extLst>
                <a:ext uri="{FF2B5EF4-FFF2-40B4-BE49-F238E27FC236}">
                  <a16:creationId xmlns:a16="http://schemas.microsoft.com/office/drawing/2014/main" id="{448AB12A-D151-D78D-6767-5CBF611ABD08}"/>
                </a:ext>
              </a:extLst>
            </p:cNvPr>
            <p:cNvSpPr txBox="1"/>
            <p:nvPr/>
          </p:nvSpPr>
          <p:spPr>
            <a:xfrm>
              <a:off x="1186542" y="2764972"/>
              <a:ext cx="697627" cy="369332"/>
            </a:xfrm>
            <a:prstGeom prst="rect">
              <a:avLst/>
            </a:prstGeom>
            <a:noFill/>
          </p:spPr>
          <p:txBody>
            <a:bodyPr wrap="none" rtlCol="0">
              <a:spAutoFit/>
            </a:bodyPr>
            <a:lstStyle/>
            <a:p>
              <a:r>
                <a:rPr lang="en-GB" b="1" dirty="0"/>
                <a:t>Time</a:t>
              </a:r>
              <a:endParaRPr lang="en-US" dirty="0"/>
            </a:p>
          </p:txBody>
        </p:sp>
        <p:pic>
          <p:nvPicPr>
            <p:cNvPr id="8" name="Graphic 7" descr="Stopwatch 75% with solid fill">
              <a:extLst>
                <a:ext uri="{FF2B5EF4-FFF2-40B4-BE49-F238E27FC236}">
                  <a16:creationId xmlns:a16="http://schemas.microsoft.com/office/drawing/2014/main" id="{CC8E9AF0-942A-4956-E977-2560FF77E62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78156" y="1850572"/>
              <a:ext cx="914400" cy="914400"/>
            </a:xfrm>
            <a:prstGeom prst="rect">
              <a:avLst/>
            </a:prstGeom>
          </p:spPr>
        </p:pic>
      </p:grpSp>
      <p:grpSp>
        <p:nvGrpSpPr>
          <p:cNvPr id="23" name="Group 22">
            <a:extLst>
              <a:ext uri="{FF2B5EF4-FFF2-40B4-BE49-F238E27FC236}">
                <a16:creationId xmlns:a16="http://schemas.microsoft.com/office/drawing/2014/main" id="{9589995F-F242-9F83-4ECB-CCBE53CC1271}"/>
              </a:ext>
            </a:extLst>
          </p:cNvPr>
          <p:cNvGrpSpPr/>
          <p:nvPr/>
        </p:nvGrpSpPr>
        <p:grpSpPr>
          <a:xfrm>
            <a:off x="2137849" y="1748273"/>
            <a:ext cx="1275029" cy="1552016"/>
            <a:chOff x="7918976" y="1325563"/>
            <a:chExt cx="1275029" cy="1552016"/>
          </a:xfrm>
        </p:grpSpPr>
        <p:pic>
          <p:nvPicPr>
            <p:cNvPr id="10" name="Graphic 9" descr="Medal with solid fill">
              <a:extLst>
                <a:ext uri="{FF2B5EF4-FFF2-40B4-BE49-F238E27FC236}">
                  <a16:creationId xmlns:a16="http://schemas.microsoft.com/office/drawing/2014/main" id="{F559FECD-3757-7D37-4CA0-2E72B54D126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099611" y="1325563"/>
              <a:ext cx="914400" cy="914400"/>
            </a:xfrm>
            <a:prstGeom prst="rect">
              <a:avLst/>
            </a:prstGeom>
          </p:spPr>
        </p:pic>
        <p:sp>
          <p:nvSpPr>
            <p:cNvPr id="11" name="TextBox 10">
              <a:extLst>
                <a:ext uri="{FF2B5EF4-FFF2-40B4-BE49-F238E27FC236}">
                  <a16:creationId xmlns:a16="http://schemas.microsoft.com/office/drawing/2014/main" id="{A385FE5B-A9E4-9401-D5EB-11E5215A0039}"/>
                </a:ext>
              </a:extLst>
            </p:cNvPr>
            <p:cNvSpPr txBox="1"/>
            <p:nvPr/>
          </p:nvSpPr>
          <p:spPr>
            <a:xfrm>
              <a:off x="7918976" y="2231248"/>
              <a:ext cx="1275029" cy="646331"/>
            </a:xfrm>
            <a:prstGeom prst="rect">
              <a:avLst/>
            </a:prstGeom>
            <a:noFill/>
          </p:spPr>
          <p:txBody>
            <a:bodyPr wrap="none" rtlCol="0">
              <a:spAutoFit/>
            </a:bodyPr>
            <a:lstStyle/>
            <a:p>
              <a:r>
                <a:rPr lang="en-GB" b="1" dirty="0"/>
                <a:t>Incentive </a:t>
              </a:r>
            </a:p>
            <a:p>
              <a:r>
                <a:rPr lang="en-GB" b="1" dirty="0"/>
                <a:t>structures</a:t>
              </a:r>
              <a:endParaRPr lang="en-US" dirty="0"/>
            </a:p>
          </p:txBody>
        </p:sp>
      </p:grpSp>
      <p:grpSp>
        <p:nvGrpSpPr>
          <p:cNvPr id="21" name="Group 20">
            <a:extLst>
              <a:ext uri="{FF2B5EF4-FFF2-40B4-BE49-F238E27FC236}">
                <a16:creationId xmlns:a16="http://schemas.microsoft.com/office/drawing/2014/main" id="{72AAB322-16F6-CEF0-6429-B1B43AF538A0}"/>
              </a:ext>
            </a:extLst>
          </p:cNvPr>
          <p:cNvGrpSpPr/>
          <p:nvPr/>
        </p:nvGrpSpPr>
        <p:grpSpPr>
          <a:xfrm>
            <a:off x="273665" y="4115884"/>
            <a:ext cx="1394549" cy="1283732"/>
            <a:chOff x="2453820" y="4045388"/>
            <a:chExt cx="1394549" cy="1283732"/>
          </a:xfrm>
        </p:grpSpPr>
        <p:pic>
          <p:nvPicPr>
            <p:cNvPr id="13" name="Graphic 12" descr="Tired face with solid fill with solid fill">
              <a:extLst>
                <a:ext uri="{FF2B5EF4-FFF2-40B4-BE49-F238E27FC236}">
                  <a16:creationId xmlns:a16="http://schemas.microsoft.com/office/drawing/2014/main" id="{BCD54E20-CEBC-76CB-0CDB-1ADBF47BF8F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693895" y="4045388"/>
              <a:ext cx="914400" cy="914400"/>
            </a:xfrm>
            <a:prstGeom prst="rect">
              <a:avLst/>
            </a:prstGeom>
          </p:spPr>
        </p:pic>
        <p:sp>
          <p:nvSpPr>
            <p:cNvPr id="16" name="TextBox 15">
              <a:extLst>
                <a:ext uri="{FF2B5EF4-FFF2-40B4-BE49-F238E27FC236}">
                  <a16:creationId xmlns:a16="http://schemas.microsoft.com/office/drawing/2014/main" id="{7D4F4399-8F04-4956-F756-A2526025B889}"/>
                </a:ext>
              </a:extLst>
            </p:cNvPr>
            <p:cNvSpPr txBox="1"/>
            <p:nvPr/>
          </p:nvSpPr>
          <p:spPr>
            <a:xfrm>
              <a:off x="2453820" y="4959788"/>
              <a:ext cx="1394549" cy="369332"/>
            </a:xfrm>
            <a:prstGeom prst="rect">
              <a:avLst/>
            </a:prstGeom>
            <a:noFill/>
          </p:spPr>
          <p:txBody>
            <a:bodyPr wrap="none" rtlCol="0">
              <a:spAutoFit/>
            </a:bodyPr>
            <a:lstStyle/>
            <a:p>
              <a:r>
                <a:rPr lang="en-GB" b="1" dirty="0"/>
                <a:t>Overwhelm</a:t>
              </a:r>
              <a:endParaRPr lang="en-US" dirty="0"/>
            </a:p>
          </p:txBody>
        </p:sp>
      </p:grpSp>
      <p:grpSp>
        <p:nvGrpSpPr>
          <p:cNvPr id="22" name="Group 21">
            <a:extLst>
              <a:ext uri="{FF2B5EF4-FFF2-40B4-BE49-F238E27FC236}">
                <a16:creationId xmlns:a16="http://schemas.microsoft.com/office/drawing/2014/main" id="{410D72F3-DE60-C3B9-3A09-530AB9FD570D}"/>
              </a:ext>
            </a:extLst>
          </p:cNvPr>
          <p:cNvGrpSpPr/>
          <p:nvPr/>
        </p:nvGrpSpPr>
        <p:grpSpPr>
          <a:xfrm>
            <a:off x="6031616" y="1732820"/>
            <a:ext cx="1550104" cy="1691078"/>
            <a:chOff x="6912243" y="3565526"/>
            <a:chExt cx="1550104" cy="1691078"/>
          </a:xfrm>
        </p:grpSpPr>
        <p:pic>
          <p:nvPicPr>
            <p:cNvPr id="18" name="Graphic 17" descr="No Touch with solid fill">
              <a:extLst>
                <a:ext uri="{FF2B5EF4-FFF2-40B4-BE49-F238E27FC236}">
                  <a16:creationId xmlns:a16="http://schemas.microsoft.com/office/drawing/2014/main" id="{DECC0393-7DC0-8FEE-218F-96E47A5D818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185211" y="3565526"/>
              <a:ext cx="914400" cy="914400"/>
            </a:xfrm>
            <a:prstGeom prst="rect">
              <a:avLst/>
            </a:prstGeom>
          </p:spPr>
        </p:pic>
        <p:sp>
          <p:nvSpPr>
            <p:cNvPr id="19" name="TextBox 18">
              <a:extLst>
                <a:ext uri="{FF2B5EF4-FFF2-40B4-BE49-F238E27FC236}">
                  <a16:creationId xmlns:a16="http://schemas.microsoft.com/office/drawing/2014/main" id="{3CE6DC12-B111-AE8B-08C9-724993A56E7E}"/>
                </a:ext>
              </a:extLst>
            </p:cNvPr>
            <p:cNvSpPr txBox="1"/>
            <p:nvPr/>
          </p:nvSpPr>
          <p:spPr>
            <a:xfrm>
              <a:off x="6912243" y="4610273"/>
              <a:ext cx="1550104" cy="646331"/>
            </a:xfrm>
            <a:prstGeom prst="rect">
              <a:avLst/>
            </a:prstGeom>
            <a:noFill/>
          </p:spPr>
          <p:txBody>
            <a:bodyPr wrap="none" rtlCol="0">
              <a:spAutoFit/>
            </a:bodyPr>
            <a:lstStyle/>
            <a:p>
              <a:r>
                <a:rPr lang="en-GB" b="1" dirty="0"/>
                <a:t>Restrictions/</a:t>
              </a:r>
            </a:p>
            <a:p>
              <a:r>
                <a:rPr lang="en-GB" b="1" dirty="0"/>
                <a:t>inflexibility</a:t>
              </a:r>
              <a:endParaRPr lang="en-US" dirty="0"/>
            </a:p>
          </p:txBody>
        </p:sp>
      </p:grpSp>
      <p:grpSp>
        <p:nvGrpSpPr>
          <p:cNvPr id="28" name="Group 27">
            <a:extLst>
              <a:ext uri="{FF2B5EF4-FFF2-40B4-BE49-F238E27FC236}">
                <a16:creationId xmlns:a16="http://schemas.microsoft.com/office/drawing/2014/main" id="{8A5802B9-2790-ED21-24CF-BF9C3A848EB0}"/>
              </a:ext>
            </a:extLst>
          </p:cNvPr>
          <p:cNvGrpSpPr/>
          <p:nvPr/>
        </p:nvGrpSpPr>
        <p:grpSpPr>
          <a:xfrm>
            <a:off x="4071498" y="1626662"/>
            <a:ext cx="1351168" cy="1809535"/>
            <a:chOff x="5650023" y="1723221"/>
            <a:chExt cx="1351168" cy="1809535"/>
          </a:xfrm>
        </p:grpSpPr>
        <p:pic>
          <p:nvPicPr>
            <p:cNvPr id="26" name="Graphic 25" descr="Normal Distribution with solid fill">
              <a:extLst>
                <a:ext uri="{FF2B5EF4-FFF2-40B4-BE49-F238E27FC236}">
                  <a16:creationId xmlns:a16="http://schemas.microsoft.com/office/drawing/2014/main" id="{A851ECE9-70F4-6AF2-4FC0-72845B93470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650023" y="1723221"/>
              <a:ext cx="1275669" cy="1275669"/>
            </a:xfrm>
            <a:prstGeom prst="rect">
              <a:avLst/>
            </a:prstGeom>
          </p:spPr>
        </p:pic>
        <p:sp>
          <p:nvSpPr>
            <p:cNvPr id="27" name="TextBox 26">
              <a:extLst>
                <a:ext uri="{FF2B5EF4-FFF2-40B4-BE49-F238E27FC236}">
                  <a16:creationId xmlns:a16="http://schemas.microsoft.com/office/drawing/2014/main" id="{7224F6F3-A1FE-2A40-3B62-A02978BF5060}"/>
                </a:ext>
              </a:extLst>
            </p:cNvPr>
            <p:cNvSpPr txBox="1"/>
            <p:nvPr/>
          </p:nvSpPr>
          <p:spPr>
            <a:xfrm>
              <a:off x="5667171" y="2886425"/>
              <a:ext cx="1334020" cy="646331"/>
            </a:xfrm>
            <a:prstGeom prst="rect">
              <a:avLst/>
            </a:prstGeom>
            <a:noFill/>
          </p:spPr>
          <p:txBody>
            <a:bodyPr wrap="none" rtlCol="0">
              <a:spAutoFit/>
            </a:bodyPr>
            <a:lstStyle/>
            <a:p>
              <a:pPr algn="ctr"/>
              <a:r>
                <a:rPr lang="en-GB" b="1" dirty="0"/>
                <a:t>Norms and</a:t>
              </a:r>
            </a:p>
            <a:p>
              <a:pPr algn="ctr"/>
              <a:r>
                <a:rPr lang="en-GB" b="1" dirty="0"/>
                <a:t>culture</a:t>
              </a:r>
              <a:endParaRPr lang="en-US" dirty="0"/>
            </a:p>
          </p:txBody>
        </p:sp>
      </p:grpSp>
      <p:grpSp>
        <p:nvGrpSpPr>
          <p:cNvPr id="49" name="Group 48">
            <a:extLst>
              <a:ext uri="{FF2B5EF4-FFF2-40B4-BE49-F238E27FC236}">
                <a16:creationId xmlns:a16="http://schemas.microsoft.com/office/drawing/2014/main" id="{FC5093FF-85EF-611A-5E78-89BCF0EF47EF}"/>
              </a:ext>
            </a:extLst>
          </p:cNvPr>
          <p:cNvGrpSpPr/>
          <p:nvPr/>
        </p:nvGrpSpPr>
        <p:grpSpPr>
          <a:xfrm>
            <a:off x="2235120" y="3720093"/>
            <a:ext cx="1070678" cy="1922873"/>
            <a:chOff x="5056184" y="4084711"/>
            <a:chExt cx="1070678" cy="1922873"/>
          </a:xfrm>
        </p:grpSpPr>
        <p:pic>
          <p:nvPicPr>
            <p:cNvPr id="30" name="Graphic 29" descr="Books with solid fill">
              <a:extLst>
                <a:ext uri="{FF2B5EF4-FFF2-40B4-BE49-F238E27FC236}">
                  <a16:creationId xmlns:a16="http://schemas.microsoft.com/office/drawing/2014/main" id="{4EBB7917-775F-7588-D7EE-AC87B9B8955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128721" y="4084711"/>
              <a:ext cx="914400" cy="914400"/>
            </a:xfrm>
            <a:prstGeom prst="rect">
              <a:avLst/>
            </a:prstGeom>
          </p:spPr>
        </p:pic>
        <p:sp>
          <p:nvSpPr>
            <p:cNvPr id="31" name="TextBox 30">
              <a:extLst>
                <a:ext uri="{FF2B5EF4-FFF2-40B4-BE49-F238E27FC236}">
                  <a16:creationId xmlns:a16="http://schemas.microsoft.com/office/drawing/2014/main" id="{8230A1B3-41EB-B5E8-FE24-96CDABC724B2}"/>
                </a:ext>
              </a:extLst>
            </p:cNvPr>
            <p:cNvSpPr txBox="1"/>
            <p:nvPr/>
          </p:nvSpPr>
          <p:spPr>
            <a:xfrm>
              <a:off x="5056184" y="5084254"/>
              <a:ext cx="1070678" cy="923330"/>
            </a:xfrm>
            <a:prstGeom prst="rect">
              <a:avLst/>
            </a:prstGeom>
            <a:noFill/>
          </p:spPr>
          <p:txBody>
            <a:bodyPr wrap="none" rtlCol="0">
              <a:spAutoFit/>
            </a:bodyPr>
            <a:lstStyle/>
            <a:p>
              <a:r>
                <a:rPr lang="en-GB" b="1" dirty="0"/>
                <a:t>Lack of </a:t>
              </a:r>
            </a:p>
            <a:p>
              <a:r>
                <a:rPr lang="en-GB" b="1" dirty="0"/>
                <a:t>training/</a:t>
              </a:r>
            </a:p>
            <a:p>
              <a:r>
                <a:rPr lang="en-GB" b="1" dirty="0"/>
                <a:t>skills</a:t>
              </a:r>
              <a:endParaRPr lang="en-US" dirty="0"/>
            </a:p>
          </p:txBody>
        </p:sp>
      </p:grpSp>
      <p:grpSp>
        <p:nvGrpSpPr>
          <p:cNvPr id="50" name="Group 49">
            <a:extLst>
              <a:ext uri="{FF2B5EF4-FFF2-40B4-BE49-F238E27FC236}">
                <a16:creationId xmlns:a16="http://schemas.microsoft.com/office/drawing/2014/main" id="{3353B714-5A16-8B1D-BDD2-847CE4B4B13D}"/>
              </a:ext>
            </a:extLst>
          </p:cNvPr>
          <p:cNvGrpSpPr/>
          <p:nvPr/>
        </p:nvGrpSpPr>
        <p:grpSpPr>
          <a:xfrm>
            <a:off x="4214225" y="3827508"/>
            <a:ext cx="1292155" cy="1572108"/>
            <a:chOff x="8048654" y="1809106"/>
            <a:chExt cx="1292155" cy="1572108"/>
          </a:xfrm>
        </p:grpSpPr>
        <p:sp>
          <p:nvSpPr>
            <p:cNvPr id="34" name="TextBox 33">
              <a:extLst>
                <a:ext uri="{FF2B5EF4-FFF2-40B4-BE49-F238E27FC236}">
                  <a16:creationId xmlns:a16="http://schemas.microsoft.com/office/drawing/2014/main" id="{A7B6682D-7A69-EBF3-E7F0-8C766DEF5698}"/>
                </a:ext>
              </a:extLst>
            </p:cNvPr>
            <p:cNvSpPr txBox="1"/>
            <p:nvPr/>
          </p:nvSpPr>
          <p:spPr>
            <a:xfrm>
              <a:off x="8065140" y="2734883"/>
              <a:ext cx="1275669" cy="646331"/>
            </a:xfrm>
            <a:prstGeom prst="rect">
              <a:avLst/>
            </a:prstGeom>
            <a:noFill/>
          </p:spPr>
          <p:txBody>
            <a:bodyPr wrap="square" rtlCol="0">
              <a:spAutoFit/>
            </a:bodyPr>
            <a:lstStyle/>
            <a:p>
              <a:r>
                <a:rPr lang="en-GB" b="1" dirty="0"/>
                <a:t>Lack of support</a:t>
              </a:r>
              <a:endParaRPr lang="en-US" dirty="0"/>
            </a:p>
          </p:txBody>
        </p:sp>
        <p:pic>
          <p:nvPicPr>
            <p:cNvPr id="36" name="Graphic 35" descr="Care with solid fill">
              <a:extLst>
                <a:ext uri="{FF2B5EF4-FFF2-40B4-BE49-F238E27FC236}">
                  <a16:creationId xmlns:a16="http://schemas.microsoft.com/office/drawing/2014/main" id="{08F6D0C8-058D-CDF1-DB53-2AFA52F01D7C}"/>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8048654" y="1809106"/>
              <a:ext cx="914400" cy="914400"/>
            </a:xfrm>
            <a:prstGeom prst="rect">
              <a:avLst/>
            </a:prstGeom>
          </p:spPr>
        </p:pic>
      </p:grpSp>
      <p:grpSp>
        <p:nvGrpSpPr>
          <p:cNvPr id="52" name="Group 51">
            <a:extLst>
              <a:ext uri="{FF2B5EF4-FFF2-40B4-BE49-F238E27FC236}">
                <a16:creationId xmlns:a16="http://schemas.microsoft.com/office/drawing/2014/main" id="{16EE7F8B-6800-C59F-264C-E177B1D2FFB9}"/>
              </a:ext>
            </a:extLst>
          </p:cNvPr>
          <p:cNvGrpSpPr/>
          <p:nvPr/>
        </p:nvGrpSpPr>
        <p:grpSpPr>
          <a:xfrm>
            <a:off x="8100902" y="1639457"/>
            <a:ext cx="1360964" cy="1795388"/>
            <a:chOff x="10293741" y="1585825"/>
            <a:chExt cx="1360964" cy="1795388"/>
          </a:xfrm>
        </p:grpSpPr>
        <p:pic>
          <p:nvPicPr>
            <p:cNvPr id="39" name="Graphic 38" descr="Spinning Plates with solid fill">
              <a:extLst>
                <a:ext uri="{FF2B5EF4-FFF2-40B4-BE49-F238E27FC236}">
                  <a16:creationId xmlns:a16="http://schemas.microsoft.com/office/drawing/2014/main" id="{2CFDEDAA-C03D-2E77-5104-3F946E0168A6}"/>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293741" y="1585825"/>
              <a:ext cx="1137681" cy="1137681"/>
            </a:xfrm>
            <a:prstGeom prst="rect">
              <a:avLst/>
            </a:prstGeom>
          </p:spPr>
        </p:pic>
        <p:sp>
          <p:nvSpPr>
            <p:cNvPr id="40" name="TextBox 39">
              <a:extLst>
                <a:ext uri="{FF2B5EF4-FFF2-40B4-BE49-F238E27FC236}">
                  <a16:creationId xmlns:a16="http://schemas.microsoft.com/office/drawing/2014/main" id="{59232796-4B35-72C1-BF4B-6EF5E5253A62}"/>
                </a:ext>
              </a:extLst>
            </p:cNvPr>
            <p:cNvSpPr txBox="1"/>
            <p:nvPr/>
          </p:nvSpPr>
          <p:spPr>
            <a:xfrm>
              <a:off x="10293741" y="2734882"/>
              <a:ext cx="1360964" cy="646331"/>
            </a:xfrm>
            <a:prstGeom prst="rect">
              <a:avLst/>
            </a:prstGeom>
            <a:noFill/>
          </p:spPr>
          <p:txBody>
            <a:bodyPr wrap="square" rtlCol="0">
              <a:spAutoFit/>
            </a:bodyPr>
            <a:lstStyle/>
            <a:p>
              <a:r>
                <a:rPr lang="en-GB" b="1" dirty="0"/>
                <a:t>Additional workload</a:t>
              </a:r>
              <a:endParaRPr lang="en-US" dirty="0"/>
            </a:p>
          </p:txBody>
        </p:sp>
      </p:grpSp>
      <p:grpSp>
        <p:nvGrpSpPr>
          <p:cNvPr id="51" name="Group 50">
            <a:extLst>
              <a:ext uri="{FF2B5EF4-FFF2-40B4-BE49-F238E27FC236}">
                <a16:creationId xmlns:a16="http://schemas.microsoft.com/office/drawing/2014/main" id="{DA633CBE-793A-0FAF-5115-BDA0CC04EFFD}"/>
              </a:ext>
            </a:extLst>
          </p:cNvPr>
          <p:cNvGrpSpPr/>
          <p:nvPr/>
        </p:nvGrpSpPr>
        <p:grpSpPr>
          <a:xfrm>
            <a:off x="6136914" y="3728834"/>
            <a:ext cx="1237518" cy="1688500"/>
            <a:chOff x="7032029" y="3911920"/>
            <a:chExt cx="1237518" cy="1688500"/>
          </a:xfrm>
        </p:grpSpPr>
        <p:sp>
          <p:nvSpPr>
            <p:cNvPr id="37" name="TextBox 36">
              <a:extLst>
                <a:ext uri="{FF2B5EF4-FFF2-40B4-BE49-F238E27FC236}">
                  <a16:creationId xmlns:a16="http://schemas.microsoft.com/office/drawing/2014/main" id="{0ED6AA90-11BB-5DB0-845B-00BAE1395BE0}"/>
                </a:ext>
              </a:extLst>
            </p:cNvPr>
            <p:cNvSpPr txBox="1"/>
            <p:nvPr/>
          </p:nvSpPr>
          <p:spPr>
            <a:xfrm>
              <a:off x="7032029" y="4954089"/>
              <a:ext cx="1237518" cy="646331"/>
            </a:xfrm>
            <a:prstGeom prst="rect">
              <a:avLst/>
            </a:prstGeom>
            <a:noFill/>
          </p:spPr>
          <p:txBody>
            <a:bodyPr wrap="none" rtlCol="0">
              <a:spAutoFit/>
            </a:bodyPr>
            <a:lstStyle/>
            <a:p>
              <a:r>
                <a:rPr lang="en-GB" b="1" dirty="0"/>
                <a:t>Limited </a:t>
              </a:r>
            </a:p>
            <a:p>
              <a:r>
                <a:rPr lang="en-GB" b="1" dirty="0"/>
                <a:t>resources</a:t>
              </a:r>
              <a:endParaRPr lang="en-US" dirty="0"/>
            </a:p>
          </p:txBody>
        </p:sp>
        <p:pic>
          <p:nvPicPr>
            <p:cNvPr id="47" name="Graphic 46" descr="Coins with solid fill">
              <a:extLst>
                <a:ext uri="{FF2B5EF4-FFF2-40B4-BE49-F238E27FC236}">
                  <a16:creationId xmlns:a16="http://schemas.microsoft.com/office/drawing/2014/main" id="{9D692016-5014-6524-EDEB-670A41F4562F}"/>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043832" y="3911920"/>
              <a:ext cx="914400" cy="914400"/>
            </a:xfrm>
            <a:prstGeom prst="rect">
              <a:avLst/>
            </a:prstGeom>
          </p:spPr>
        </p:pic>
      </p:grpSp>
      <p:sp>
        <p:nvSpPr>
          <p:cNvPr id="2" name="Rectangle 1">
            <a:extLst>
              <a:ext uri="{FF2B5EF4-FFF2-40B4-BE49-F238E27FC236}">
                <a16:creationId xmlns:a16="http://schemas.microsoft.com/office/drawing/2014/main" id="{C8BBC8B6-733F-BED5-3BE9-F59C27170FBA}"/>
              </a:ext>
            </a:extLst>
          </p:cNvPr>
          <p:cNvSpPr/>
          <p:nvPr/>
        </p:nvSpPr>
        <p:spPr>
          <a:xfrm>
            <a:off x="312602" y="1673887"/>
            <a:ext cx="7269118" cy="4283332"/>
          </a:xfrm>
          <a:prstGeom prst="rect">
            <a:avLst/>
          </a:prstGeom>
          <a:solidFill>
            <a:schemeClr val="bg1">
              <a:alpha val="67287"/>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6F4BEB3D-0FC7-6DF1-0A3D-6E54C78F5F34}"/>
              </a:ext>
            </a:extLst>
          </p:cNvPr>
          <p:cNvSpPr txBox="1"/>
          <p:nvPr/>
        </p:nvSpPr>
        <p:spPr>
          <a:xfrm>
            <a:off x="8004979" y="3446221"/>
            <a:ext cx="2582521" cy="923330"/>
          </a:xfrm>
          <a:prstGeom prst="rect">
            <a:avLst/>
          </a:prstGeom>
          <a:noFill/>
        </p:spPr>
        <p:txBody>
          <a:bodyPr wrap="square" rtlCol="0">
            <a:spAutoFit/>
          </a:bodyPr>
          <a:lstStyle/>
          <a:p>
            <a:r>
              <a:rPr lang="en-US" dirty="0"/>
              <a:t>e.g. Large administrative workload in Big Team Science projects</a:t>
            </a:r>
          </a:p>
        </p:txBody>
      </p:sp>
      <p:sp>
        <p:nvSpPr>
          <p:cNvPr id="5" name="Slide Number Placeholder 4">
            <a:extLst>
              <a:ext uri="{FF2B5EF4-FFF2-40B4-BE49-F238E27FC236}">
                <a16:creationId xmlns:a16="http://schemas.microsoft.com/office/drawing/2014/main" id="{13D5CF12-EF47-49B0-20BB-A5DD09CDFBBB}"/>
              </a:ext>
            </a:extLst>
          </p:cNvPr>
          <p:cNvSpPr>
            <a:spLocks noGrp="1"/>
          </p:cNvSpPr>
          <p:nvPr>
            <p:ph type="sldNum" sz="quarter" idx="12"/>
          </p:nvPr>
        </p:nvSpPr>
        <p:spPr/>
        <p:txBody>
          <a:bodyPr/>
          <a:lstStyle/>
          <a:p>
            <a:fld id="{DC6309F4-03C8-4D48-A124-A9AD6E083FAC}" type="slidenum">
              <a:rPr lang="en-US" smtClean="0"/>
              <a:t>16</a:t>
            </a:fld>
            <a:endParaRPr lang="en-US"/>
          </a:p>
        </p:txBody>
      </p:sp>
    </p:spTree>
    <p:extLst>
      <p:ext uri="{BB962C8B-B14F-4D97-AF65-F5344CB8AC3E}">
        <p14:creationId xmlns:p14="http://schemas.microsoft.com/office/powerpoint/2010/main" val="16639158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67642-45C4-F416-10CE-C82AA7F1C480}"/>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4DA85F25-530E-445D-C026-D73D33C17DE1}"/>
              </a:ext>
            </a:extLst>
          </p:cNvPr>
          <p:cNvGrpSpPr/>
          <p:nvPr/>
        </p:nvGrpSpPr>
        <p:grpSpPr>
          <a:xfrm>
            <a:off x="10704849" y="6564312"/>
            <a:ext cx="1362075" cy="273690"/>
            <a:chOff x="19317" y="2690018"/>
            <a:chExt cx="11784755" cy="2025180"/>
          </a:xfrm>
        </p:grpSpPr>
        <p:pic>
          <p:nvPicPr>
            <p:cNvPr id="12" name="Picture 2">
              <a:extLst>
                <a:ext uri="{FF2B5EF4-FFF2-40B4-BE49-F238E27FC236}">
                  <a16:creationId xmlns:a16="http://schemas.microsoft.com/office/drawing/2014/main" id="{96A02D0B-D287-0605-E83F-A7292404F6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0EF9EC40-2FA3-88FB-0B3B-DAD8671AFFA7}"/>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4" name="Title 1">
            <a:extLst>
              <a:ext uri="{FF2B5EF4-FFF2-40B4-BE49-F238E27FC236}">
                <a16:creationId xmlns:a16="http://schemas.microsoft.com/office/drawing/2014/main" id="{2CB3E38E-0E10-C586-61C9-583AC82D28A7}"/>
              </a:ext>
            </a:extLst>
          </p:cNvPr>
          <p:cNvSpPr txBox="1">
            <a:spLocks/>
          </p:cNvSpPr>
          <p:nvPr/>
        </p:nvSpPr>
        <p:spPr>
          <a:xfrm>
            <a:off x="0" y="-11484"/>
            <a:ext cx="121920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Challenges in Open Science: Career impact</a:t>
            </a:r>
          </a:p>
        </p:txBody>
      </p:sp>
      <p:grpSp>
        <p:nvGrpSpPr>
          <p:cNvPr id="24" name="Group 23">
            <a:extLst>
              <a:ext uri="{FF2B5EF4-FFF2-40B4-BE49-F238E27FC236}">
                <a16:creationId xmlns:a16="http://schemas.microsoft.com/office/drawing/2014/main" id="{C1B6F3A8-E372-CE7F-7DA7-788786524B69}"/>
              </a:ext>
            </a:extLst>
          </p:cNvPr>
          <p:cNvGrpSpPr/>
          <p:nvPr/>
        </p:nvGrpSpPr>
        <p:grpSpPr>
          <a:xfrm>
            <a:off x="428706" y="1900628"/>
            <a:ext cx="914400" cy="1283732"/>
            <a:chOff x="1078156" y="1850572"/>
            <a:chExt cx="914400" cy="1283732"/>
          </a:xfrm>
        </p:grpSpPr>
        <p:sp>
          <p:nvSpPr>
            <p:cNvPr id="6" name="TextBox 5">
              <a:extLst>
                <a:ext uri="{FF2B5EF4-FFF2-40B4-BE49-F238E27FC236}">
                  <a16:creationId xmlns:a16="http://schemas.microsoft.com/office/drawing/2014/main" id="{BF505711-EFDB-B910-8F61-30625AD09768}"/>
                </a:ext>
              </a:extLst>
            </p:cNvPr>
            <p:cNvSpPr txBox="1"/>
            <p:nvPr/>
          </p:nvSpPr>
          <p:spPr>
            <a:xfrm>
              <a:off x="1186542" y="2764972"/>
              <a:ext cx="697627" cy="369332"/>
            </a:xfrm>
            <a:prstGeom prst="rect">
              <a:avLst/>
            </a:prstGeom>
            <a:noFill/>
          </p:spPr>
          <p:txBody>
            <a:bodyPr wrap="none" rtlCol="0">
              <a:spAutoFit/>
            </a:bodyPr>
            <a:lstStyle/>
            <a:p>
              <a:r>
                <a:rPr lang="en-GB" b="1" dirty="0"/>
                <a:t>Time</a:t>
              </a:r>
              <a:endParaRPr lang="en-US" dirty="0"/>
            </a:p>
          </p:txBody>
        </p:sp>
        <p:pic>
          <p:nvPicPr>
            <p:cNvPr id="8" name="Graphic 7" descr="Stopwatch 75% with solid fill">
              <a:extLst>
                <a:ext uri="{FF2B5EF4-FFF2-40B4-BE49-F238E27FC236}">
                  <a16:creationId xmlns:a16="http://schemas.microsoft.com/office/drawing/2014/main" id="{9610664D-D9ED-7488-F157-3755DB18C8E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78156" y="1850572"/>
              <a:ext cx="914400" cy="914400"/>
            </a:xfrm>
            <a:prstGeom prst="rect">
              <a:avLst/>
            </a:prstGeom>
          </p:spPr>
        </p:pic>
      </p:grpSp>
      <p:grpSp>
        <p:nvGrpSpPr>
          <p:cNvPr id="23" name="Group 22">
            <a:extLst>
              <a:ext uri="{FF2B5EF4-FFF2-40B4-BE49-F238E27FC236}">
                <a16:creationId xmlns:a16="http://schemas.microsoft.com/office/drawing/2014/main" id="{8A42957D-9018-3F31-614A-405FF4D44C11}"/>
              </a:ext>
            </a:extLst>
          </p:cNvPr>
          <p:cNvGrpSpPr/>
          <p:nvPr/>
        </p:nvGrpSpPr>
        <p:grpSpPr>
          <a:xfrm>
            <a:off x="2137849" y="1748273"/>
            <a:ext cx="1275029" cy="1552016"/>
            <a:chOff x="7918976" y="1325563"/>
            <a:chExt cx="1275029" cy="1552016"/>
          </a:xfrm>
        </p:grpSpPr>
        <p:pic>
          <p:nvPicPr>
            <p:cNvPr id="10" name="Graphic 9" descr="Medal with solid fill">
              <a:extLst>
                <a:ext uri="{FF2B5EF4-FFF2-40B4-BE49-F238E27FC236}">
                  <a16:creationId xmlns:a16="http://schemas.microsoft.com/office/drawing/2014/main" id="{0F787F5B-614E-9BF0-BF1E-C85E64C7E85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099611" y="1325563"/>
              <a:ext cx="914400" cy="914400"/>
            </a:xfrm>
            <a:prstGeom prst="rect">
              <a:avLst/>
            </a:prstGeom>
          </p:spPr>
        </p:pic>
        <p:sp>
          <p:nvSpPr>
            <p:cNvPr id="11" name="TextBox 10">
              <a:extLst>
                <a:ext uri="{FF2B5EF4-FFF2-40B4-BE49-F238E27FC236}">
                  <a16:creationId xmlns:a16="http://schemas.microsoft.com/office/drawing/2014/main" id="{F63DAFA9-E0E9-6B8B-C85F-293B0C914A52}"/>
                </a:ext>
              </a:extLst>
            </p:cNvPr>
            <p:cNvSpPr txBox="1"/>
            <p:nvPr/>
          </p:nvSpPr>
          <p:spPr>
            <a:xfrm>
              <a:off x="7918976" y="2231248"/>
              <a:ext cx="1275029" cy="646331"/>
            </a:xfrm>
            <a:prstGeom prst="rect">
              <a:avLst/>
            </a:prstGeom>
            <a:noFill/>
          </p:spPr>
          <p:txBody>
            <a:bodyPr wrap="none" rtlCol="0">
              <a:spAutoFit/>
            </a:bodyPr>
            <a:lstStyle/>
            <a:p>
              <a:r>
                <a:rPr lang="en-GB" b="1" dirty="0"/>
                <a:t>Incentive </a:t>
              </a:r>
            </a:p>
            <a:p>
              <a:r>
                <a:rPr lang="en-GB" b="1" dirty="0"/>
                <a:t>structures</a:t>
              </a:r>
              <a:endParaRPr lang="en-US" dirty="0"/>
            </a:p>
          </p:txBody>
        </p:sp>
      </p:grpSp>
      <p:grpSp>
        <p:nvGrpSpPr>
          <p:cNvPr id="21" name="Group 20">
            <a:extLst>
              <a:ext uri="{FF2B5EF4-FFF2-40B4-BE49-F238E27FC236}">
                <a16:creationId xmlns:a16="http://schemas.microsoft.com/office/drawing/2014/main" id="{4C79ECFF-4986-AC5B-A964-9090CB723404}"/>
              </a:ext>
            </a:extLst>
          </p:cNvPr>
          <p:cNvGrpSpPr/>
          <p:nvPr/>
        </p:nvGrpSpPr>
        <p:grpSpPr>
          <a:xfrm>
            <a:off x="273665" y="4115884"/>
            <a:ext cx="1394549" cy="1283732"/>
            <a:chOff x="2453820" y="4045388"/>
            <a:chExt cx="1394549" cy="1283732"/>
          </a:xfrm>
        </p:grpSpPr>
        <p:pic>
          <p:nvPicPr>
            <p:cNvPr id="13" name="Graphic 12" descr="Tired face with solid fill with solid fill">
              <a:extLst>
                <a:ext uri="{FF2B5EF4-FFF2-40B4-BE49-F238E27FC236}">
                  <a16:creationId xmlns:a16="http://schemas.microsoft.com/office/drawing/2014/main" id="{30CB211B-805F-F4EB-0707-9FF503FDE6B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693895" y="4045388"/>
              <a:ext cx="914400" cy="914400"/>
            </a:xfrm>
            <a:prstGeom prst="rect">
              <a:avLst/>
            </a:prstGeom>
          </p:spPr>
        </p:pic>
        <p:sp>
          <p:nvSpPr>
            <p:cNvPr id="16" name="TextBox 15">
              <a:extLst>
                <a:ext uri="{FF2B5EF4-FFF2-40B4-BE49-F238E27FC236}">
                  <a16:creationId xmlns:a16="http://schemas.microsoft.com/office/drawing/2014/main" id="{55662E74-8DEE-8359-FB96-AF180B12278E}"/>
                </a:ext>
              </a:extLst>
            </p:cNvPr>
            <p:cNvSpPr txBox="1"/>
            <p:nvPr/>
          </p:nvSpPr>
          <p:spPr>
            <a:xfrm>
              <a:off x="2453820" y="4959788"/>
              <a:ext cx="1394549" cy="369332"/>
            </a:xfrm>
            <a:prstGeom prst="rect">
              <a:avLst/>
            </a:prstGeom>
            <a:noFill/>
          </p:spPr>
          <p:txBody>
            <a:bodyPr wrap="none" rtlCol="0">
              <a:spAutoFit/>
            </a:bodyPr>
            <a:lstStyle/>
            <a:p>
              <a:r>
                <a:rPr lang="en-GB" b="1" dirty="0"/>
                <a:t>Overwhelm</a:t>
              </a:r>
              <a:endParaRPr lang="en-US" dirty="0"/>
            </a:p>
          </p:txBody>
        </p:sp>
      </p:grpSp>
      <p:grpSp>
        <p:nvGrpSpPr>
          <p:cNvPr id="22" name="Group 21">
            <a:extLst>
              <a:ext uri="{FF2B5EF4-FFF2-40B4-BE49-F238E27FC236}">
                <a16:creationId xmlns:a16="http://schemas.microsoft.com/office/drawing/2014/main" id="{469ACFEF-E3A6-365E-18CA-98CE1041DD61}"/>
              </a:ext>
            </a:extLst>
          </p:cNvPr>
          <p:cNvGrpSpPr/>
          <p:nvPr/>
        </p:nvGrpSpPr>
        <p:grpSpPr>
          <a:xfrm>
            <a:off x="6031616" y="1732820"/>
            <a:ext cx="1550104" cy="1691078"/>
            <a:chOff x="6912243" y="3565526"/>
            <a:chExt cx="1550104" cy="1691078"/>
          </a:xfrm>
        </p:grpSpPr>
        <p:pic>
          <p:nvPicPr>
            <p:cNvPr id="18" name="Graphic 17" descr="No Touch with solid fill">
              <a:extLst>
                <a:ext uri="{FF2B5EF4-FFF2-40B4-BE49-F238E27FC236}">
                  <a16:creationId xmlns:a16="http://schemas.microsoft.com/office/drawing/2014/main" id="{F72BC411-738E-5FE9-FC0B-1346908B64B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185211" y="3565526"/>
              <a:ext cx="914400" cy="914400"/>
            </a:xfrm>
            <a:prstGeom prst="rect">
              <a:avLst/>
            </a:prstGeom>
          </p:spPr>
        </p:pic>
        <p:sp>
          <p:nvSpPr>
            <p:cNvPr id="19" name="TextBox 18">
              <a:extLst>
                <a:ext uri="{FF2B5EF4-FFF2-40B4-BE49-F238E27FC236}">
                  <a16:creationId xmlns:a16="http://schemas.microsoft.com/office/drawing/2014/main" id="{A5E80F38-0448-C0AC-36E8-6703A17CCFB7}"/>
                </a:ext>
              </a:extLst>
            </p:cNvPr>
            <p:cNvSpPr txBox="1"/>
            <p:nvPr/>
          </p:nvSpPr>
          <p:spPr>
            <a:xfrm>
              <a:off x="6912243" y="4610273"/>
              <a:ext cx="1550104" cy="646331"/>
            </a:xfrm>
            <a:prstGeom prst="rect">
              <a:avLst/>
            </a:prstGeom>
            <a:noFill/>
          </p:spPr>
          <p:txBody>
            <a:bodyPr wrap="none" rtlCol="0">
              <a:spAutoFit/>
            </a:bodyPr>
            <a:lstStyle/>
            <a:p>
              <a:r>
                <a:rPr lang="en-GB" b="1" dirty="0"/>
                <a:t>Restrictions/</a:t>
              </a:r>
            </a:p>
            <a:p>
              <a:r>
                <a:rPr lang="en-GB" b="1" dirty="0"/>
                <a:t>inflexibility</a:t>
              </a:r>
              <a:endParaRPr lang="en-US" dirty="0"/>
            </a:p>
          </p:txBody>
        </p:sp>
      </p:grpSp>
      <p:grpSp>
        <p:nvGrpSpPr>
          <p:cNvPr id="28" name="Group 27">
            <a:extLst>
              <a:ext uri="{FF2B5EF4-FFF2-40B4-BE49-F238E27FC236}">
                <a16:creationId xmlns:a16="http://schemas.microsoft.com/office/drawing/2014/main" id="{4860A665-A88A-4DD8-7C35-C24FAACE7C94}"/>
              </a:ext>
            </a:extLst>
          </p:cNvPr>
          <p:cNvGrpSpPr/>
          <p:nvPr/>
        </p:nvGrpSpPr>
        <p:grpSpPr>
          <a:xfrm>
            <a:off x="4071498" y="1626662"/>
            <a:ext cx="1351168" cy="1809535"/>
            <a:chOff x="5650023" y="1723221"/>
            <a:chExt cx="1351168" cy="1809535"/>
          </a:xfrm>
        </p:grpSpPr>
        <p:pic>
          <p:nvPicPr>
            <p:cNvPr id="26" name="Graphic 25" descr="Normal Distribution with solid fill">
              <a:extLst>
                <a:ext uri="{FF2B5EF4-FFF2-40B4-BE49-F238E27FC236}">
                  <a16:creationId xmlns:a16="http://schemas.microsoft.com/office/drawing/2014/main" id="{B24D10C2-C467-B55E-B277-919E19D81E2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650023" y="1723221"/>
              <a:ext cx="1275669" cy="1275669"/>
            </a:xfrm>
            <a:prstGeom prst="rect">
              <a:avLst/>
            </a:prstGeom>
          </p:spPr>
        </p:pic>
        <p:sp>
          <p:nvSpPr>
            <p:cNvPr id="27" name="TextBox 26">
              <a:extLst>
                <a:ext uri="{FF2B5EF4-FFF2-40B4-BE49-F238E27FC236}">
                  <a16:creationId xmlns:a16="http://schemas.microsoft.com/office/drawing/2014/main" id="{62AAD3D2-84EE-87DB-0D20-387C7159088E}"/>
                </a:ext>
              </a:extLst>
            </p:cNvPr>
            <p:cNvSpPr txBox="1"/>
            <p:nvPr/>
          </p:nvSpPr>
          <p:spPr>
            <a:xfrm>
              <a:off x="5667171" y="2886425"/>
              <a:ext cx="1334020" cy="646331"/>
            </a:xfrm>
            <a:prstGeom prst="rect">
              <a:avLst/>
            </a:prstGeom>
            <a:noFill/>
          </p:spPr>
          <p:txBody>
            <a:bodyPr wrap="none" rtlCol="0">
              <a:spAutoFit/>
            </a:bodyPr>
            <a:lstStyle/>
            <a:p>
              <a:pPr algn="ctr"/>
              <a:r>
                <a:rPr lang="en-GB" b="1" dirty="0"/>
                <a:t>Norms and</a:t>
              </a:r>
            </a:p>
            <a:p>
              <a:pPr algn="ctr"/>
              <a:r>
                <a:rPr lang="en-GB" b="1" dirty="0"/>
                <a:t>culture</a:t>
              </a:r>
              <a:endParaRPr lang="en-US" dirty="0"/>
            </a:p>
          </p:txBody>
        </p:sp>
      </p:grpSp>
      <p:grpSp>
        <p:nvGrpSpPr>
          <p:cNvPr id="49" name="Group 48">
            <a:extLst>
              <a:ext uri="{FF2B5EF4-FFF2-40B4-BE49-F238E27FC236}">
                <a16:creationId xmlns:a16="http://schemas.microsoft.com/office/drawing/2014/main" id="{ACBFD166-88ED-208E-6F7E-CA30672831A3}"/>
              </a:ext>
            </a:extLst>
          </p:cNvPr>
          <p:cNvGrpSpPr/>
          <p:nvPr/>
        </p:nvGrpSpPr>
        <p:grpSpPr>
          <a:xfrm>
            <a:off x="2235120" y="3720093"/>
            <a:ext cx="1070678" cy="1922873"/>
            <a:chOff x="5056184" y="4084711"/>
            <a:chExt cx="1070678" cy="1922873"/>
          </a:xfrm>
        </p:grpSpPr>
        <p:pic>
          <p:nvPicPr>
            <p:cNvPr id="30" name="Graphic 29" descr="Books with solid fill">
              <a:extLst>
                <a:ext uri="{FF2B5EF4-FFF2-40B4-BE49-F238E27FC236}">
                  <a16:creationId xmlns:a16="http://schemas.microsoft.com/office/drawing/2014/main" id="{D2CB0EE7-70A8-1CD3-4AEB-91BA1EEA74AF}"/>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128721" y="4084711"/>
              <a:ext cx="914400" cy="914400"/>
            </a:xfrm>
            <a:prstGeom prst="rect">
              <a:avLst/>
            </a:prstGeom>
          </p:spPr>
        </p:pic>
        <p:sp>
          <p:nvSpPr>
            <p:cNvPr id="31" name="TextBox 30">
              <a:extLst>
                <a:ext uri="{FF2B5EF4-FFF2-40B4-BE49-F238E27FC236}">
                  <a16:creationId xmlns:a16="http://schemas.microsoft.com/office/drawing/2014/main" id="{08B485C4-E40F-261E-1E79-EDC74866D5A5}"/>
                </a:ext>
              </a:extLst>
            </p:cNvPr>
            <p:cNvSpPr txBox="1"/>
            <p:nvPr/>
          </p:nvSpPr>
          <p:spPr>
            <a:xfrm>
              <a:off x="5056184" y="5084254"/>
              <a:ext cx="1070678" cy="923330"/>
            </a:xfrm>
            <a:prstGeom prst="rect">
              <a:avLst/>
            </a:prstGeom>
            <a:noFill/>
          </p:spPr>
          <p:txBody>
            <a:bodyPr wrap="none" rtlCol="0">
              <a:spAutoFit/>
            </a:bodyPr>
            <a:lstStyle/>
            <a:p>
              <a:r>
                <a:rPr lang="en-GB" b="1" dirty="0"/>
                <a:t>Lack of </a:t>
              </a:r>
            </a:p>
            <a:p>
              <a:r>
                <a:rPr lang="en-GB" b="1" dirty="0"/>
                <a:t>training/</a:t>
              </a:r>
            </a:p>
            <a:p>
              <a:r>
                <a:rPr lang="en-GB" b="1" dirty="0"/>
                <a:t>skills</a:t>
              </a:r>
              <a:endParaRPr lang="en-US" dirty="0"/>
            </a:p>
          </p:txBody>
        </p:sp>
      </p:grpSp>
      <p:grpSp>
        <p:nvGrpSpPr>
          <p:cNvPr id="50" name="Group 49">
            <a:extLst>
              <a:ext uri="{FF2B5EF4-FFF2-40B4-BE49-F238E27FC236}">
                <a16:creationId xmlns:a16="http://schemas.microsoft.com/office/drawing/2014/main" id="{8B762B3E-8D11-6DD8-20FD-3EBF6F06FDD5}"/>
              </a:ext>
            </a:extLst>
          </p:cNvPr>
          <p:cNvGrpSpPr/>
          <p:nvPr/>
        </p:nvGrpSpPr>
        <p:grpSpPr>
          <a:xfrm>
            <a:off x="4214225" y="3827508"/>
            <a:ext cx="1292155" cy="1572108"/>
            <a:chOff x="8048654" y="1809106"/>
            <a:chExt cx="1292155" cy="1572108"/>
          </a:xfrm>
        </p:grpSpPr>
        <p:sp>
          <p:nvSpPr>
            <p:cNvPr id="34" name="TextBox 33">
              <a:extLst>
                <a:ext uri="{FF2B5EF4-FFF2-40B4-BE49-F238E27FC236}">
                  <a16:creationId xmlns:a16="http://schemas.microsoft.com/office/drawing/2014/main" id="{D04B08DD-22DB-8663-EB6F-4A70E4EA18FE}"/>
                </a:ext>
              </a:extLst>
            </p:cNvPr>
            <p:cNvSpPr txBox="1"/>
            <p:nvPr/>
          </p:nvSpPr>
          <p:spPr>
            <a:xfrm>
              <a:off x="8065140" y="2734883"/>
              <a:ext cx="1275669" cy="646331"/>
            </a:xfrm>
            <a:prstGeom prst="rect">
              <a:avLst/>
            </a:prstGeom>
            <a:noFill/>
          </p:spPr>
          <p:txBody>
            <a:bodyPr wrap="square" rtlCol="0">
              <a:spAutoFit/>
            </a:bodyPr>
            <a:lstStyle/>
            <a:p>
              <a:r>
                <a:rPr lang="en-GB" b="1" dirty="0"/>
                <a:t>Lack of support</a:t>
              </a:r>
              <a:endParaRPr lang="en-US" dirty="0"/>
            </a:p>
          </p:txBody>
        </p:sp>
        <p:pic>
          <p:nvPicPr>
            <p:cNvPr id="36" name="Graphic 35" descr="Care with solid fill">
              <a:extLst>
                <a:ext uri="{FF2B5EF4-FFF2-40B4-BE49-F238E27FC236}">
                  <a16:creationId xmlns:a16="http://schemas.microsoft.com/office/drawing/2014/main" id="{3BF024F1-AAEF-2893-C78C-86B0A1E84CD4}"/>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8048654" y="1809106"/>
              <a:ext cx="914400" cy="914400"/>
            </a:xfrm>
            <a:prstGeom prst="rect">
              <a:avLst/>
            </a:prstGeom>
          </p:spPr>
        </p:pic>
      </p:grpSp>
      <p:grpSp>
        <p:nvGrpSpPr>
          <p:cNvPr id="52" name="Group 51">
            <a:extLst>
              <a:ext uri="{FF2B5EF4-FFF2-40B4-BE49-F238E27FC236}">
                <a16:creationId xmlns:a16="http://schemas.microsoft.com/office/drawing/2014/main" id="{E99BC896-6A7D-0CCC-B5C3-9E4A97CA4335}"/>
              </a:ext>
            </a:extLst>
          </p:cNvPr>
          <p:cNvGrpSpPr/>
          <p:nvPr/>
        </p:nvGrpSpPr>
        <p:grpSpPr>
          <a:xfrm>
            <a:off x="8100902" y="1639457"/>
            <a:ext cx="1360964" cy="1795388"/>
            <a:chOff x="10293741" y="1585825"/>
            <a:chExt cx="1360964" cy="1795388"/>
          </a:xfrm>
        </p:grpSpPr>
        <p:pic>
          <p:nvPicPr>
            <p:cNvPr id="39" name="Graphic 38" descr="Spinning Plates with solid fill">
              <a:extLst>
                <a:ext uri="{FF2B5EF4-FFF2-40B4-BE49-F238E27FC236}">
                  <a16:creationId xmlns:a16="http://schemas.microsoft.com/office/drawing/2014/main" id="{8F119F19-7BBB-709C-D098-3E3DE10A3F46}"/>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293741" y="1585825"/>
              <a:ext cx="1137681" cy="1137681"/>
            </a:xfrm>
            <a:prstGeom prst="rect">
              <a:avLst/>
            </a:prstGeom>
          </p:spPr>
        </p:pic>
        <p:sp>
          <p:nvSpPr>
            <p:cNvPr id="40" name="TextBox 39">
              <a:extLst>
                <a:ext uri="{FF2B5EF4-FFF2-40B4-BE49-F238E27FC236}">
                  <a16:creationId xmlns:a16="http://schemas.microsoft.com/office/drawing/2014/main" id="{A018B22E-A92B-AEC2-6F81-3F399941E435}"/>
                </a:ext>
              </a:extLst>
            </p:cNvPr>
            <p:cNvSpPr txBox="1"/>
            <p:nvPr/>
          </p:nvSpPr>
          <p:spPr>
            <a:xfrm>
              <a:off x="10293741" y="2734882"/>
              <a:ext cx="1360964" cy="646331"/>
            </a:xfrm>
            <a:prstGeom prst="rect">
              <a:avLst/>
            </a:prstGeom>
            <a:noFill/>
          </p:spPr>
          <p:txBody>
            <a:bodyPr wrap="square" rtlCol="0">
              <a:spAutoFit/>
            </a:bodyPr>
            <a:lstStyle/>
            <a:p>
              <a:r>
                <a:rPr lang="en-GB" b="1" dirty="0"/>
                <a:t>Additional workload</a:t>
              </a:r>
              <a:endParaRPr lang="en-US" dirty="0"/>
            </a:p>
          </p:txBody>
        </p:sp>
      </p:grpSp>
      <p:grpSp>
        <p:nvGrpSpPr>
          <p:cNvPr id="53" name="Group 52">
            <a:extLst>
              <a:ext uri="{FF2B5EF4-FFF2-40B4-BE49-F238E27FC236}">
                <a16:creationId xmlns:a16="http://schemas.microsoft.com/office/drawing/2014/main" id="{325DBCFA-8DD5-E8DA-94B2-0F5E7E13A9B1}"/>
              </a:ext>
            </a:extLst>
          </p:cNvPr>
          <p:cNvGrpSpPr/>
          <p:nvPr/>
        </p:nvGrpSpPr>
        <p:grpSpPr>
          <a:xfrm>
            <a:off x="8212254" y="3731986"/>
            <a:ext cx="922047" cy="1667630"/>
            <a:chOff x="10517023" y="4046616"/>
            <a:chExt cx="922047" cy="1667630"/>
          </a:xfrm>
        </p:grpSpPr>
        <p:pic>
          <p:nvPicPr>
            <p:cNvPr id="42" name="Graphic 41" descr="Briefcase with solid fill">
              <a:extLst>
                <a:ext uri="{FF2B5EF4-FFF2-40B4-BE49-F238E27FC236}">
                  <a16:creationId xmlns:a16="http://schemas.microsoft.com/office/drawing/2014/main" id="{55C41E55-9F3D-711E-EEEB-BA2DB1F31F12}"/>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0517023" y="4046616"/>
              <a:ext cx="914400" cy="914400"/>
            </a:xfrm>
            <a:prstGeom prst="rect">
              <a:avLst/>
            </a:prstGeom>
          </p:spPr>
        </p:pic>
        <p:sp>
          <p:nvSpPr>
            <p:cNvPr id="43" name="TextBox 42">
              <a:extLst>
                <a:ext uri="{FF2B5EF4-FFF2-40B4-BE49-F238E27FC236}">
                  <a16:creationId xmlns:a16="http://schemas.microsoft.com/office/drawing/2014/main" id="{73FE9883-BEB5-4B7D-EEA3-0A1700B8B1EA}"/>
                </a:ext>
              </a:extLst>
            </p:cNvPr>
            <p:cNvSpPr txBox="1"/>
            <p:nvPr/>
          </p:nvSpPr>
          <p:spPr>
            <a:xfrm>
              <a:off x="10517023" y="5067915"/>
              <a:ext cx="922047" cy="646331"/>
            </a:xfrm>
            <a:prstGeom prst="rect">
              <a:avLst/>
            </a:prstGeom>
            <a:noFill/>
          </p:spPr>
          <p:txBody>
            <a:bodyPr wrap="none" rtlCol="0">
              <a:spAutoFit/>
            </a:bodyPr>
            <a:lstStyle/>
            <a:p>
              <a:r>
                <a:rPr lang="en-GB" b="1" dirty="0"/>
                <a:t>Career</a:t>
              </a:r>
            </a:p>
            <a:p>
              <a:r>
                <a:rPr lang="en-GB" b="1" dirty="0"/>
                <a:t>impact</a:t>
              </a:r>
              <a:endParaRPr lang="en-US" dirty="0"/>
            </a:p>
          </p:txBody>
        </p:sp>
      </p:grpSp>
      <p:grpSp>
        <p:nvGrpSpPr>
          <p:cNvPr id="51" name="Group 50">
            <a:extLst>
              <a:ext uri="{FF2B5EF4-FFF2-40B4-BE49-F238E27FC236}">
                <a16:creationId xmlns:a16="http://schemas.microsoft.com/office/drawing/2014/main" id="{24A256E9-2D68-8862-54F5-4C87120FD55E}"/>
              </a:ext>
            </a:extLst>
          </p:cNvPr>
          <p:cNvGrpSpPr/>
          <p:nvPr/>
        </p:nvGrpSpPr>
        <p:grpSpPr>
          <a:xfrm>
            <a:off x="6136914" y="3728834"/>
            <a:ext cx="1237518" cy="1688500"/>
            <a:chOff x="7032029" y="3911920"/>
            <a:chExt cx="1237518" cy="1688500"/>
          </a:xfrm>
        </p:grpSpPr>
        <p:sp>
          <p:nvSpPr>
            <p:cNvPr id="37" name="TextBox 36">
              <a:extLst>
                <a:ext uri="{FF2B5EF4-FFF2-40B4-BE49-F238E27FC236}">
                  <a16:creationId xmlns:a16="http://schemas.microsoft.com/office/drawing/2014/main" id="{AE6DC5A1-44D3-C063-805E-937D5C1F57F7}"/>
                </a:ext>
              </a:extLst>
            </p:cNvPr>
            <p:cNvSpPr txBox="1"/>
            <p:nvPr/>
          </p:nvSpPr>
          <p:spPr>
            <a:xfrm>
              <a:off x="7032029" y="4954089"/>
              <a:ext cx="1237518" cy="646331"/>
            </a:xfrm>
            <a:prstGeom prst="rect">
              <a:avLst/>
            </a:prstGeom>
            <a:noFill/>
          </p:spPr>
          <p:txBody>
            <a:bodyPr wrap="none" rtlCol="0">
              <a:spAutoFit/>
            </a:bodyPr>
            <a:lstStyle/>
            <a:p>
              <a:r>
                <a:rPr lang="en-GB" b="1" dirty="0"/>
                <a:t>Limited </a:t>
              </a:r>
            </a:p>
            <a:p>
              <a:r>
                <a:rPr lang="en-GB" b="1" dirty="0"/>
                <a:t>resources</a:t>
              </a:r>
              <a:endParaRPr lang="en-US" dirty="0"/>
            </a:p>
          </p:txBody>
        </p:sp>
        <p:pic>
          <p:nvPicPr>
            <p:cNvPr id="47" name="Graphic 46" descr="Coins with solid fill">
              <a:extLst>
                <a:ext uri="{FF2B5EF4-FFF2-40B4-BE49-F238E27FC236}">
                  <a16:creationId xmlns:a16="http://schemas.microsoft.com/office/drawing/2014/main" id="{8BCAA07F-9BD9-D46A-8A8B-C3797B383B41}"/>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7043832" y="3911920"/>
              <a:ext cx="914400" cy="914400"/>
            </a:xfrm>
            <a:prstGeom prst="rect">
              <a:avLst/>
            </a:prstGeom>
          </p:spPr>
        </p:pic>
      </p:grpSp>
      <p:sp>
        <p:nvSpPr>
          <p:cNvPr id="2" name="Rectangle 1">
            <a:extLst>
              <a:ext uri="{FF2B5EF4-FFF2-40B4-BE49-F238E27FC236}">
                <a16:creationId xmlns:a16="http://schemas.microsoft.com/office/drawing/2014/main" id="{FC08A266-580C-71D0-171D-936285ED91B8}"/>
              </a:ext>
            </a:extLst>
          </p:cNvPr>
          <p:cNvSpPr/>
          <p:nvPr/>
        </p:nvSpPr>
        <p:spPr>
          <a:xfrm>
            <a:off x="293011" y="1575411"/>
            <a:ext cx="7269118" cy="4283332"/>
          </a:xfrm>
          <a:prstGeom prst="rect">
            <a:avLst/>
          </a:prstGeom>
          <a:solidFill>
            <a:schemeClr val="bg1">
              <a:alpha val="6651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8DA6C2E5-9577-3AC5-DA7D-2E14D1013FF8}"/>
              </a:ext>
            </a:extLst>
          </p:cNvPr>
          <p:cNvSpPr/>
          <p:nvPr/>
        </p:nvSpPr>
        <p:spPr>
          <a:xfrm>
            <a:off x="7905273" y="1590838"/>
            <a:ext cx="1550103" cy="2126239"/>
          </a:xfrm>
          <a:prstGeom prst="rect">
            <a:avLst/>
          </a:prstGeom>
          <a:solidFill>
            <a:schemeClr val="bg1">
              <a:alpha val="6688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88368F0-A1EE-4FA7-9D9B-C17A62B2BF71}"/>
              </a:ext>
            </a:extLst>
          </p:cNvPr>
          <p:cNvSpPr txBox="1"/>
          <p:nvPr/>
        </p:nvSpPr>
        <p:spPr>
          <a:xfrm>
            <a:off x="7905273" y="5417334"/>
            <a:ext cx="2898368" cy="923330"/>
          </a:xfrm>
          <a:prstGeom prst="rect">
            <a:avLst/>
          </a:prstGeom>
          <a:noFill/>
        </p:spPr>
        <p:txBody>
          <a:bodyPr wrap="square" rtlCol="0">
            <a:spAutoFit/>
          </a:bodyPr>
          <a:lstStyle/>
          <a:p>
            <a:r>
              <a:rPr lang="en-US" dirty="0"/>
              <a:t>e.g.</a:t>
            </a:r>
            <a:r>
              <a:rPr lang="en-GB" dirty="0"/>
              <a:t> Contributions to open source infrastructure is undervalued</a:t>
            </a:r>
            <a:r>
              <a:rPr lang="en-US" dirty="0"/>
              <a:t> </a:t>
            </a:r>
          </a:p>
        </p:txBody>
      </p:sp>
      <p:sp>
        <p:nvSpPr>
          <p:cNvPr id="7" name="Slide Number Placeholder 6">
            <a:extLst>
              <a:ext uri="{FF2B5EF4-FFF2-40B4-BE49-F238E27FC236}">
                <a16:creationId xmlns:a16="http://schemas.microsoft.com/office/drawing/2014/main" id="{EBA83958-25B6-9D36-DF81-D7E69294A26B}"/>
              </a:ext>
            </a:extLst>
          </p:cNvPr>
          <p:cNvSpPr>
            <a:spLocks noGrp="1"/>
          </p:cNvSpPr>
          <p:nvPr>
            <p:ph type="sldNum" sz="quarter" idx="12"/>
          </p:nvPr>
        </p:nvSpPr>
        <p:spPr/>
        <p:txBody>
          <a:bodyPr/>
          <a:lstStyle/>
          <a:p>
            <a:fld id="{DC6309F4-03C8-4D48-A124-A9AD6E083FAC}" type="slidenum">
              <a:rPr lang="en-US" smtClean="0"/>
              <a:t>17</a:t>
            </a:fld>
            <a:endParaRPr lang="en-US"/>
          </a:p>
        </p:txBody>
      </p:sp>
    </p:spTree>
    <p:extLst>
      <p:ext uri="{BB962C8B-B14F-4D97-AF65-F5344CB8AC3E}">
        <p14:creationId xmlns:p14="http://schemas.microsoft.com/office/powerpoint/2010/main" val="12451651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32465-B729-AF74-B469-AE7CF03F37CE}"/>
            </a:ext>
          </a:extLst>
        </p:cNvPr>
        <p:cNvGrpSpPr/>
        <p:nvPr/>
      </p:nvGrpSpPr>
      <p:grpSpPr>
        <a:xfrm>
          <a:off x="0" y="0"/>
          <a:ext cx="0" cy="0"/>
          <a:chOff x="0" y="0"/>
          <a:chExt cx="0" cy="0"/>
        </a:xfrm>
      </p:grpSpPr>
      <p:grpSp>
        <p:nvGrpSpPr>
          <p:cNvPr id="25" name="Group 24">
            <a:extLst>
              <a:ext uri="{FF2B5EF4-FFF2-40B4-BE49-F238E27FC236}">
                <a16:creationId xmlns:a16="http://schemas.microsoft.com/office/drawing/2014/main" id="{96C8FE3E-5740-F374-AAEB-86BB120A1E18}"/>
              </a:ext>
            </a:extLst>
          </p:cNvPr>
          <p:cNvGrpSpPr/>
          <p:nvPr/>
        </p:nvGrpSpPr>
        <p:grpSpPr>
          <a:xfrm>
            <a:off x="10704849" y="6564312"/>
            <a:ext cx="1362075" cy="273690"/>
            <a:chOff x="19317" y="2690018"/>
            <a:chExt cx="11784755" cy="2025180"/>
          </a:xfrm>
        </p:grpSpPr>
        <p:pic>
          <p:nvPicPr>
            <p:cNvPr id="29" name="Picture 2">
              <a:extLst>
                <a:ext uri="{FF2B5EF4-FFF2-40B4-BE49-F238E27FC236}">
                  <a16:creationId xmlns:a16="http://schemas.microsoft.com/office/drawing/2014/main" id="{C14FDD29-90EB-7844-C4C3-0A48075A30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1">
              <a:extLst>
                <a:ext uri="{FF2B5EF4-FFF2-40B4-BE49-F238E27FC236}">
                  <a16:creationId xmlns:a16="http://schemas.microsoft.com/office/drawing/2014/main" id="{8C5CB94D-89AE-6374-401D-2861EFC492C8}"/>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4" name="Title 1">
            <a:extLst>
              <a:ext uri="{FF2B5EF4-FFF2-40B4-BE49-F238E27FC236}">
                <a16:creationId xmlns:a16="http://schemas.microsoft.com/office/drawing/2014/main" id="{1BF82664-F798-5D5A-442C-FDB5D48E40FE}"/>
              </a:ext>
            </a:extLst>
          </p:cNvPr>
          <p:cNvSpPr txBox="1">
            <a:spLocks/>
          </p:cNvSpPr>
          <p:nvPr/>
        </p:nvSpPr>
        <p:spPr>
          <a:xfrm>
            <a:off x="0" y="-11484"/>
            <a:ext cx="121920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Challenges in Open Science: Equity issues</a:t>
            </a:r>
          </a:p>
        </p:txBody>
      </p:sp>
      <p:grpSp>
        <p:nvGrpSpPr>
          <p:cNvPr id="24" name="Group 23">
            <a:extLst>
              <a:ext uri="{FF2B5EF4-FFF2-40B4-BE49-F238E27FC236}">
                <a16:creationId xmlns:a16="http://schemas.microsoft.com/office/drawing/2014/main" id="{CF3CFE53-8582-5F64-6E83-30567A483040}"/>
              </a:ext>
            </a:extLst>
          </p:cNvPr>
          <p:cNvGrpSpPr/>
          <p:nvPr/>
        </p:nvGrpSpPr>
        <p:grpSpPr>
          <a:xfrm>
            <a:off x="428706" y="1900628"/>
            <a:ext cx="914400" cy="1283732"/>
            <a:chOff x="1078156" y="1850572"/>
            <a:chExt cx="914400" cy="1283732"/>
          </a:xfrm>
        </p:grpSpPr>
        <p:sp>
          <p:nvSpPr>
            <p:cNvPr id="6" name="TextBox 5">
              <a:extLst>
                <a:ext uri="{FF2B5EF4-FFF2-40B4-BE49-F238E27FC236}">
                  <a16:creationId xmlns:a16="http://schemas.microsoft.com/office/drawing/2014/main" id="{3C16F0BD-BAF9-1034-9A4B-7951148C156C}"/>
                </a:ext>
              </a:extLst>
            </p:cNvPr>
            <p:cNvSpPr txBox="1"/>
            <p:nvPr/>
          </p:nvSpPr>
          <p:spPr>
            <a:xfrm>
              <a:off x="1186542" y="2764972"/>
              <a:ext cx="697627" cy="369332"/>
            </a:xfrm>
            <a:prstGeom prst="rect">
              <a:avLst/>
            </a:prstGeom>
            <a:noFill/>
          </p:spPr>
          <p:txBody>
            <a:bodyPr wrap="none" rtlCol="0">
              <a:spAutoFit/>
            </a:bodyPr>
            <a:lstStyle/>
            <a:p>
              <a:r>
                <a:rPr lang="en-GB" b="1" dirty="0"/>
                <a:t>Time</a:t>
              </a:r>
              <a:endParaRPr lang="en-US" dirty="0"/>
            </a:p>
          </p:txBody>
        </p:sp>
        <p:pic>
          <p:nvPicPr>
            <p:cNvPr id="8" name="Graphic 7" descr="Stopwatch 75% with solid fill">
              <a:extLst>
                <a:ext uri="{FF2B5EF4-FFF2-40B4-BE49-F238E27FC236}">
                  <a16:creationId xmlns:a16="http://schemas.microsoft.com/office/drawing/2014/main" id="{922255B8-EB2A-40EA-34A1-B9BA21EBDBA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78156" y="1850572"/>
              <a:ext cx="914400" cy="914400"/>
            </a:xfrm>
            <a:prstGeom prst="rect">
              <a:avLst/>
            </a:prstGeom>
          </p:spPr>
        </p:pic>
      </p:grpSp>
      <p:grpSp>
        <p:nvGrpSpPr>
          <p:cNvPr id="23" name="Group 22">
            <a:extLst>
              <a:ext uri="{FF2B5EF4-FFF2-40B4-BE49-F238E27FC236}">
                <a16:creationId xmlns:a16="http://schemas.microsoft.com/office/drawing/2014/main" id="{2EF7AF7D-9CB3-2C9F-D512-3311CF0542B8}"/>
              </a:ext>
            </a:extLst>
          </p:cNvPr>
          <p:cNvGrpSpPr/>
          <p:nvPr/>
        </p:nvGrpSpPr>
        <p:grpSpPr>
          <a:xfrm>
            <a:off x="2137849" y="1748273"/>
            <a:ext cx="1275029" cy="1552016"/>
            <a:chOff x="7918976" y="1325563"/>
            <a:chExt cx="1275029" cy="1552016"/>
          </a:xfrm>
        </p:grpSpPr>
        <p:pic>
          <p:nvPicPr>
            <p:cNvPr id="10" name="Graphic 9" descr="Medal with solid fill">
              <a:extLst>
                <a:ext uri="{FF2B5EF4-FFF2-40B4-BE49-F238E27FC236}">
                  <a16:creationId xmlns:a16="http://schemas.microsoft.com/office/drawing/2014/main" id="{EE61FDF5-53DC-EF66-6ACE-8A0B59B8A54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099611" y="1325563"/>
              <a:ext cx="914400" cy="914400"/>
            </a:xfrm>
            <a:prstGeom prst="rect">
              <a:avLst/>
            </a:prstGeom>
          </p:spPr>
        </p:pic>
        <p:sp>
          <p:nvSpPr>
            <p:cNvPr id="11" name="TextBox 10">
              <a:extLst>
                <a:ext uri="{FF2B5EF4-FFF2-40B4-BE49-F238E27FC236}">
                  <a16:creationId xmlns:a16="http://schemas.microsoft.com/office/drawing/2014/main" id="{A21E1C40-DDAA-AE9D-C95C-E394F68BC6CA}"/>
                </a:ext>
              </a:extLst>
            </p:cNvPr>
            <p:cNvSpPr txBox="1"/>
            <p:nvPr/>
          </p:nvSpPr>
          <p:spPr>
            <a:xfrm>
              <a:off x="7918976" y="2231248"/>
              <a:ext cx="1275029" cy="646331"/>
            </a:xfrm>
            <a:prstGeom prst="rect">
              <a:avLst/>
            </a:prstGeom>
            <a:noFill/>
          </p:spPr>
          <p:txBody>
            <a:bodyPr wrap="none" rtlCol="0">
              <a:spAutoFit/>
            </a:bodyPr>
            <a:lstStyle/>
            <a:p>
              <a:r>
                <a:rPr lang="en-GB" b="1" dirty="0"/>
                <a:t>Incentive </a:t>
              </a:r>
            </a:p>
            <a:p>
              <a:r>
                <a:rPr lang="en-GB" b="1" dirty="0"/>
                <a:t>structures</a:t>
              </a:r>
              <a:endParaRPr lang="en-US" dirty="0"/>
            </a:p>
          </p:txBody>
        </p:sp>
      </p:grpSp>
      <p:grpSp>
        <p:nvGrpSpPr>
          <p:cNvPr id="21" name="Group 20">
            <a:extLst>
              <a:ext uri="{FF2B5EF4-FFF2-40B4-BE49-F238E27FC236}">
                <a16:creationId xmlns:a16="http://schemas.microsoft.com/office/drawing/2014/main" id="{277C4620-B9D0-4A91-3EFA-775F4F8DE3D7}"/>
              </a:ext>
            </a:extLst>
          </p:cNvPr>
          <p:cNvGrpSpPr/>
          <p:nvPr/>
        </p:nvGrpSpPr>
        <p:grpSpPr>
          <a:xfrm>
            <a:off x="273665" y="4115884"/>
            <a:ext cx="1394549" cy="1283732"/>
            <a:chOff x="2453820" y="4045388"/>
            <a:chExt cx="1394549" cy="1283732"/>
          </a:xfrm>
        </p:grpSpPr>
        <p:pic>
          <p:nvPicPr>
            <p:cNvPr id="13" name="Graphic 12" descr="Tired face with solid fill with solid fill">
              <a:extLst>
                <a:ext uri="{FF2B5EF4-FFF2-40B4-BE49-F238E27FC236}">
                  <a16:creationId xmlns:a16="http://schemas.microsoft.com/office/drawing/2014/main" id="{BA1EBA38-1769-C5E1-7D02-FFE155FBE1C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693895" y="4045388"/>
              <a:ext cx="914400" cy="914400"/>
            </a:xfrm>
            <a:prstGeom prst="rect">
              <a:avLst/>
            </a:prstGeom>
          </p:spPr>
        </p:pic>
        <p:sp>
          <p:nvSpPr>
            <p:cNvPr id="16" name="TextBox 15">
              <a:extLst>
                <a:ext uri="{FF2B5EF4-FFF2-40B4-BE49-F238E27FC236}">
                  <a16:creationId xmlns:a16="http://schemas.microsoft.com/office/drawing/2014/main" id="{B7F5C0FD-A09A-2413-B358-B14AE5BC5372}"/>
                </a:ext>
              </a:extLst>
            </p:cNvPr>
            <p:cNvSpPr txBox="1"/>
            <p:nvPr/>
          </p:nvSpPr>
          <p:spPr>
            <a:xfrm>
              <a:off x="2453820" y="4959788"/>
              <a:ext cx="1394549" cy="369332"/>
            </a:xfrm>
            <a:prstGeom prst="rect">
              <a:avLst/>
            </a:prstGeom>
            <a:noFill/>
          </p:spPr>
          <p:txBody>
            <a:bodyPr wrap="none" rtlCol="0">
              <a:spAutoFit/>
            </a:bodyPr>
            <a:lstStyle/>
            <a:p>
              <a:r>
                <a:rPr lang="en-GB" b="1" dirty="0"/>
                <a:t>Overwhelm</a:t>
              </a:r>
              <a:endParaRPr lang="en-US" dirty="0"/>
            </a:p>
          </p:txBody>
        </p:sp>
      </p:grpSp>
      <p:grpSp>
        <p:nvGrpSpPr>
          <p:cNvPr id="22" name="Group 21">
            <a:extLst>
              <a:ext uri="{FF2B5EF4-FFF2-40B4-BE49-F238E27FC236}">
                <a16:creationId xmlns:a16="http://schemas.microsoft.com/office/drawing/2014/main" id="{1EC38E4F-4703-619B-255C-70A266E388B5}"/>
              </a:ext>
            </a:extLst>
          </p:cNvPr>
          <p:cNvGrpSpPr/>
          <p:nvPr/>
        </p:nvGrpSpPr>
        <p:grpSpPr>
          <a:xfrm>
            <a:off x="6031616" y="1732820"/>
            <a:ext cx="1550104" cy="1691078"/>
            <a:chOff x="6912243" y="3565526"/>
            <a:chExt cx="1550104" cy="1691078"/>
          </a:xfrm>
        </p:grpSpPr>
        <p:pic>
          <p:nvPicPr>
            <p:cNvPr id="18" name="Graphic 17" descr="No Touch with solid fill">
              <a:extLst>
                <a:ext uri="{FF2B5EF4-FFF2-40B4-BE49-F238E27FC236}">
                  <a16:creationId xmlns:a16="http://schemas.microsoft.com/office/drawing/2014/main" id="{75B068EC-2FC4-2D11-0FCE-DBDB15035A1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185211" y="3565526"/>
              <a:ext cx="914400" cy="914400"/>
            </a:xfrm>
            <a:prstGeom prst="rect">
              <a:avLst/>
            </a:prstGeom>
          </p:spPr>
        </p:pic>
        <p:sp>
          <p:nvSpPr>
            <p:cNvPr id="19" name="TextBox 18">
              <a:extLst>
                <a:ext uri="{FF2B5EF4-FFF2-40B4-BE49-F238E27FC236}">
                  <a16:creationId xmlns:a16="http://schemas.microsoft.com/office/drawing/2014/main" id="{473EA604-96E7-BAD9-4FFE-828609164592}"/>
                </a:ext>
              </a:extLst>
            </p:cNvPr>
            <p:cNvSpPr txBox="1"/>
            <p:nvPr/>
          </p:nvSpPr>
          <p:spPr>
            <a:xfrm>
              <a:off x="6912243" y="4610273"/>
              <a:ext cx="1550104" cy="646331"/>
            </a:xfrm>
            <a:prstGeom prst="rect">
              <a:avLst/>
            </a:prstGeom>
            <a:noFill/>
          </p:spPr>
          <p:txBody>
            <a:bodyPr wrap="none" rtlCol="0">
              <a:spAutoFit/>
            </a:bodyPr>
            <a:lstStyle/>
            <a:p>
              <a:r>
                <a:rPr lang="en-GB" b="1" dirty="0"/>
                <a:t>Restrictions/</a:t>
              </a:r>
            </a:p>
            <a:p>
              <a:r>
                <a:rPr lang="en-GB" b="1" dirty="0"/>
                <a:t>inflexibility</a:t>
              </a:r>
              <a:endParaRPr lang="en-US" dirty="0"/>
            </a:p>
          </p:txBody>
        </p:sp>
      </p:grpSp>
      <p:grpSp>
        <p:nvGrpSpPr>
          <p:cNvPr id="28" name="Group 27">
            <a:extLst>
              <a:ext uri="{FF2B5EF4-FFF2-40B4-BE49-F238E27FC236}">
                <a16:creationId xmlns:a16="http://schemas.microsoft.com/office/drawing/2014/main" id="{13A678A0-9F37-848C-E662-46AFE96BBD07}"/>
              </a:ext>
            </a:extLst>
          </p:cNvPr>
          <p:cNvGrpSpPr/>
          <p:nvPr/>
        </p:nvGrpSpPr>
        <p:grpSpPr>
          <a:xfrm>
            <a:off x="4071498" y="1626662"/>
            <a:ext cx="1351168" cy="1809535"/>
            <a:chOff x="5650023" y="1723221"/>
            <a:chExt cx="1351168" cy="1809535"/>
          </a:xfrm>
        </p:grpSpPr>
        <p:pic>
          <p:nvPicPr>
            <p:cNvPr id="26" name="Graphic 25" descr="Normal Distribution with solid fill">
              <a:extLst>
                <a:ext uri="{FF2B5EF4-FFF2-40B4-BE49-F238E27FC236}">
                  <a16:creationId xmlns:a16="http://schemas.microsoft.com/office/drawing/2014/main" id="{5E898BFF-4F52-7FBF-9081-EC00327904D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650023" y="1723221"/>
              <a:ext cx="1275669" cy="1275669"/>
            </a:xfrm>
            <a:prstGeom prst="rect">
              <a:avLst/>
            </a:prstGeom>
          </p:spPr>
        </p:pic>
        <p:sp>
          <p:nvSpPr>
            <p:cNvPr id="27" name="TextBox 26">
              <a:extLst>
                <a:ext uri="{FF2B5EF4-FFF2-40B4-BE49-F238E27FC236}">
                  <a16:creationId xmlns:a16="http://schemas.microsoft.com/office/drawing/2014/main" id="{67C19F05-38FF-1662-33CC-9C2C9ACD0A0A}"/>
                </a:ext>
              </a:extLst>
            </p:cNvPr>
            <p:cNvSpPr txBox="1"/>
            <p:nvPr/>
          </p:nvSpPr>
          <p:spPr>
            <a:xfrm>
              <a:off x="5667171" y="2886425"/>
              <a:ext cx="1334020" cy="646331"/>
            </a:xfrm>
            <a:prstGeom prst="rect">
              <a:avLst/>
            </a:prstGeom>
            <a:noFill/>
          </p:spPr>
          <p:txBody>
            <a:bodyPr wrap="none" rtlCol="0">
              <a:spAutoFit/>
            </a:bodyPr>
            <a:lstStyle/>
            <a:p>
              <a:pPr algn="ctr"/>
              <a:r>
                <a:rPr lang="en-GB" b="1" dirty="0"/>
                <a:t>Norms and</a:t>
              </a:r>
            </a:p>
            <a:p>
              <a:pPr algn="ctr"/>
              <a:r>
                <a:rPr lang="en-GB" b="1" dirty="0"/>
                <a:t>culture</a:t>
              </a:r>
              <a:endParaRPr lang="en-US" dirty="0"/>
            </a:p>
          </p:txBody>
        </p:sp>
      </p:grpSp>
      <p:grpSp>
        <p:nvGrpSpPr>
          <p:cNvPr id="49" name="Group 48">
            <a:extLst>
              <a:ext uri="{FF2B5EF4-FFF2-40B4-BE49-F238E27FC236}">
                <a16:creationId xmlns:a16="http://schemas.microsoft.com/office/drawing/2014/main" id="{A670EA00-3A23-75D7-A80F-A194D7B09C94}"/>
              </a:ext>
            </a:extLst>
          </p:cNvPr>
          <p:cNvGrpSpPr/>
          <p:nvPr/>
        </p:nvGrpSpPr>
        <p:grpSpPr>
          <a:xfrm>
            <a:off x="2235120" y="3720093"/>
            <a:ext cx="1070678" cy="1922873"/>
            <a:chOff x="5056184" y="4084711"/>
            <a:chExt cx="1070678" cy="1922873"/>
          </a:xfrm>
        </p:grpSpPr>
        <p:pic>
          <p:nvPicPr>
            <p:cNvPr id="30" name="Graphic 29" descr="Books with solid fill">
              <a:extLst>
                <a:ext uri="{FF2B5EF4-FFF2-40B4-BE49-F238E27FC236}">
                  <a16:creationId xmlns:a16="http://schemas.microsoft.com/office/drawing/2014/main" id="{87EE4328-39B6-A6E3-070F-C97124DB1A8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128721" y="4084711"/>
              <a:ext cx="914400" cy="914400"/>
            </a:xfrm>
            <a:prstGeom prst="rect">
              <a:avLst/>
            </a:prstGeom>
          </p:spPr>
        </p:pic>
        <p:sp>
          <p:nvSpPr>
            <p:cNvPr id="31" name="TextBox 30">
              <a:extLst>
                <a:ext uri="{FF2B5EF4-FFF2-40B4-BE49-F238E27FC236}">
                  <a16:creationId xmlns:a16="http://schemas.microsoft.com/office/drawing/2014/main" id="{A9A13F22-A83B-EDFF-E359-65D61DE08156}"/>
                </a:ext>
              </a:extLst>
            </p:cNvPr>
            <p:cNvSpPr txBox="1"/>
            <p:nvPr/>
          </p:nvSpPr>
          <p:spPr>
            <a:xfrm>
              <a:off x="5056184" y="5084254"/>
              <a:ext cx="1070678" cy="923330"/>
            </a:xfrm>
            <a:prstGeom prst="rect">
              <a:avLst/>
            </a:prstGeom>
            <a:noFill/>
          </p:spPr>
          <p:txBody>
            <a:bodyPr wrap="none" rtlCol="0">
              <a:spAutoFit/>
            </a:bodyPr>
            <a:lstStyle/>
            <a:p>
              <a:r>
                <a:rPr lang="en-GB" b="1" dirty="0"/>
                <a:t>Lack of </a:t>
              </a:r>
            </a:p>
            <a:p>
              <a:r>
                <a:rPr lang="en-GB" b="1" dirty="0"/>
                <a:t>training/</a:t>
              </a:r>
            </a:p>
            <a:p>
              <a:r>
                <a:rPr lang="en-GB" b="1" dirty="0"/>
                <a:t>skills</a:t>
              </a:r>
              <a:endParaRPr lang="en-US" dirty="0"/>
            </a:p>
          </p:txBody>
        </p:sp>
      </p:grpSp>
      <p:grpSp>
        <p:nvGrpSpPr>
          <p:cNvPr id="50" name="Group 49">
            <a:extLst>
              <a:ext uri="{FF2B5EF4-FFF2-40B4-BE49-F238E27FC236}">
                <a16:creationId xmlns:a16="http://schemas.microsoft.com/office/drawing/2014/main" id="{45AADA49-D16B-85CC-BBB8-2036C71B9CC7}"/>
              </a:ext>
            </a:extLst>
          </p:cNvPr>
          <p:cNvGrpSpPr/>
          <p:nvPr/>
        </p:nvGrpSpPr>
        <p:grpSpPr>
          <a:xfrm>
            <a:off x="4214225" y="3827508"/>
            <a:ext cx="1292155" cy="1572108"/>
            <a:chOff x="8048654" y="1809106"/>
            <a:chExt cx="1292155" cy="1572108"/>
          </a:xfrm>
        </p:grpSpPr>
        <p:sp>
          <p:nvSpPr>
            <p:cNvPr id="34" name="TextBox 33">
              <a:extLst>
                <a:ext uri="{FF2B5EF4-FFF2-40B4-BE49-F238E27FC236}">
                  <a16:creationId xmlns:a16="http://schemas.microsoft.com/office/drawing/2014/main" id="{93FC5F51-FDC5-2FB3-74EA-A58895C7D2B5}"/>
                </a:ext>
              </a:extLst>
            </p:cNvPr>
            <p:cNvSpPr txBox="1"/>
            <p:nvPr/>
          </p:nvSpPr>
          <p:spPr>
            <a:xfrm>
              <a:off x="8065140" y="2734883"/>
              <a:ext cx="1275669" cy="646331"/>
            </a:xfrm>
            <a:prstGeom prst="rect">
              <a:avLst/>
            </a:prstGeom>
            <a:noFill/>
          </p:spPr>
          <p:txBody>
            <a:bodyPr wrap="square" rtlCol="0">
              <a:spAutoFit/>
            </a:bodyPr>
            <a:lstStyle/>
            <a:p>
              <a:r>
                <a:rPr lang="en-GB" b="1" dirty="0"/>
                <a:t>Lack of support</a:t>
              </a:r>
              <a:endParaRPr lang="en-US" dirty="0"/>
            </a:p>
          </p:txBody>
        </p:sp>
        <p:pic>
          <p:nvPicPr>
            <p:cNvPr id="36" name="Graphic 35" descr="Care with solid fill">
              <a:extLst>
                <a:ext uri="{FF2B5EF4-FFF2-40B4-BE49-F238E27FC236}">
                  <a16:creationId xmlns:a16="http://schemas.microsoft.com/office/drawing/2014/main" id="{E4729DCF-A516-C586-0F73-B1F31363FA98}"/>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8048654" y="1809106"/>
              <a:ext cx="914400" cy="914400"/>
            </a:xfrm>
            <a:prstGeom prst="rect">
              <a:avLst/>
            </a:prstGeom>
          </p:spPr>
        </p:pic>
      </p:grpSp>
      <p:grpSp>
        <p:nvGrpSpPr>
          <p:cNvPr id="52" name="Group 51">
            <a:extLst>
              <a:ext uri="{FF2B5EF4-FFF2-40B4-BE49-F238E27FC236}">
                <a16:creationId xmlns:a16="http://schemas.microsoft.com/office/drawing/2014/main" id="{00DE3D42-6966-2BD5-BD6A-D2CC1A3E40E4}"/>
              </a:ext>
            </a:extLst>
          </p:cNvPr>
          <p:cNvGrpSpPr/>
          <p:nvPr/>
        </p:nvGrpSpPr>
        <p:grpSpPr>
          <a:xfrm>
            <a:off x="8100902" y="1639457"/>
            <a:ext cx="1360964" cy="1795388"/>
            <a:chOff x="10293741" y="1585825"/>
            <a:chExt cx="1360964" cy="1795388"/>
          </a:xfrm>
        </p:grpSpPr>
        <p:pic>
          <p:nvPicPr>
            <p:cNvPr id="39" name="Graphic 38" descr="Spinning Plates with solid fill">
              <a:extLst>
                <a:ext uri="{FF2B5EF4-FFF2-40B4-BE49-F238E27FC236}">
                  <a16:creationId xmlns:a16="http://schemas.microsoft.com/office/drawing/2014/main" id="{3357D2AA-D6E3-8934-41FE-3685CD9B2BDC}"/>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293741" y="1585825"/>
              <a:ext cx="1137681" cy="1137681"/>
            </a:xfrm>
            <a:prstGeom prst="rect">
              <a:avLst/>
            </a:prstGeom>
          </p:spPr>
        </p:pic>
        <p:sp>
          <p:nvSpPr>
            <p:cNvPr id="40" name="TextBox 39">
              <a:extLst>
                <a:ext uri="{FF2B5EF4-FFF2-40B4-BE49-F238E27FC236}">
                  <a16:creationId xmlns:a16="http://schemas.microsoft.com/office/drawing/2014/main" id="{A9EED46E-D347-576D-B323-043274234098}"/>
                </a:ext>
              </a:extLst>
            </p:cNvPr>
            <p:cNvSpPr txBox="1"/>
            <p:nvPr/>
          </p:nvSpPr>
          <p:spPr>
            <a:xfrm>
              <a:off x="10293741" y="2734882"/>
              <a:ext cx="1360964" cy="646331"/>
            </a:xfrm>
            <a:prstGeom prst="rect">
              <a:avLst/>
            </a:prstGeom>
            <a:noFill/>
          </p:spPr>
          <p:txBody>
            <a:bodyPr wrap="square" rtlCol="0">
              <a:spAutoFit/>
            </a:bodyPr>
            <a:lstStyle/>
            <a:p>
              <a:r>
                <a:rPr lang="en-GB" b="1" dirty="0"/>
                <a:t>Additional workload</a:t>
              </a:r>
              <a:endParaRPr lang="en-US" dirty="0"/>
            </a:p>
          </p:txBody>
        </p:sp>
      </p:grpSp>
      <p:grpSp>
        <p:nvGrpSpPr>
          <p:cNvPr id="53" name="Group 52">
            <a:extLst>
              <a:ext uri="{FF2B5EF4-FFF2-40B4-BE49-F238E27FC236}">
                <a16:creationId xmlns:a16="http://schemas.microsoft.com/office/drawing/2014/main" id="{C715F48D-1566-5CD1-F74B-0E4F73A56A9B}"/>
              </a:ext>
            </a:extLst>
          </p:cNvPr>
          <p:cNvGrpSpPr/>
          <p:nvPr/>
        </p:nvGrpSpPr>
        <p:grpSpPr>
          <a:xfrm>
            <a:off x="8212254" y="3731986"/>
            <a:ext cx="922047" cy="1667630"/>
            <a:chOff x="10517023" y="4046616"/>
            <a:chExt cx="922047" cy="1667630"/>
          </a:xfrm>
        </p:grpSpPr>
        <p:pic>
          <p:nvPicPr>
            <p:cNvPr id="42" name="Graphic 41" descr="Briefcase with solid fill">
              <a:extLst>
                <a:ext uri="{FF2B5EF4-FFF2-40B4-BE49-F238E27FC236}">
                  <a16:creationId xmlns:a16="http://schemas.microsoft.com/office/drawing/2014/main" id="{39CEF2D9-5B74-173C-90A6-3F79B523ABFE}"/>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0517023" y="4046616"/>
              <a:ext cx="914400" cy="914400"/>
            </a:xfrm>
            <a:prstGeom prst="rect">
              <a:avLst/>
            </a:prstGeom>
          </p:spPr>
        </p:pic>
        <p:sp>
          <p:nvSpPr>
            <p:cNvPr id="43" name="TextBox 42">
              <a:extLst>
                <a:ext uri="{FF2B5EF4-FFF2-40B4-BE49-F238E27FC236}">
                  <a16:creationId xmlns:a16="http://schemas.microsoft.com/office/drawing/2014/main" id="{A80303D0-C15B-8CAA-5359-2E5B6B6DFFB0}"/>
                </a:ext>
              </a:extLst>
            </p:cNvPr>
            <p:cNvSpPr txBox="1"/>
            <p:nvPr/>
          </p:nvSpPr>
          <p:spPr>
            <a:xfrm>
              <a:off x="10517023" y="5067915"/>
              <a:ext cx="922047" cy="646331"/>
            </a:xfrm>
            <a:prstGeom prst="rect">
              <a:avLst/>
            </a:prstGeom>
            <a:noFill/>
          </p:spPr>
          <p:txBody>
            <a:bodyPr wrap="none" rtlCol="0">
              <a:spAutoFit/>
            </a:bodyPr>
            <a:lstStyle/>
            <a:p>
              <a:r>
                <a:rPr lang="en-GB" b="1" dirty="0"/>
                <a:t>Career</a:t>
              </a:r>
            </a:p>
            <a:p>
              <a:r>
                <a:rPr lang="en-GB" b="1" dirty="0"/>
                <a:t>impact</a:t>
              </a:r>
              <a:endParaRPr lang="en-US" dirty="0"/>
            </a:p>
          </p:txBody>
        </p:sp>
      </p:grpSp>
      <p:grpSp>
        <p:nvGrpSpPr>
          <p:cNvPr id="51" name="Group 50">
            <a:extLst>
              <a:ext uri="{FF2B5EF4-FFF2-40B4-BE49-F238E27FC236}">
                <a16:creationId xmlns:a16="http://schemas.microsoft.com/office/drawing/2014/main" id="{837A68E9-7A40-58EA-F3F4-0F708818A658}"/>
              </a:ext>
            </a:extLst>
          </p:cNvPr>
          <p:cNvGrpSpPr/>
          <p:nvPr/>
        </p:nvGrpSpPr>
        <p:grpSpPr>
          <a:xfrm>
            <a:off x="6136914" y="3728834"/>
            <a:ext cx="1237518" cy="1688500"/>
            <a:chOff x="7032029" y="3911920"/>
            <a:chExt cx="1237518" cy="1688500"/>
          </a:xfrm>
        </p:grpSpPr>
        <p:sp>
          <p:nvSpPr>
            <p:cNvPr id="37" name="TextBox 36">
              <a:extLst>
                <a:ext uri="{FF2B5EF4-FFF2-40B4-BE49-F238E27FC236}">
                  <a16:creationId xmlns:a16="http://schemas.microsoft.com/office/drawing/2014/main" id="{60B624C7-009D-1A9B-C508-AFDCEA0796E3}"/>
                </a:ext>
              </a:extLst>
            </p:cNvPr>
            <p:cNvSpPr txBox="1"/>
            <p:nvPr/>
          </p:nvSpPr>
          <p:spPr>
            <a:xfrm>
              <a:off x="7032029" y="4954089"/>
              <a:ext cx="1237518" cy="646331"/>
            </a:xfrm>
            <a:prstGeom prst="rect">
              <a:avLst/>
            </a:prstGeom>
            <a:noFill/>
          </p:spPr>
          <p:txBody>
            <a:bodyPr wrap="none" rtlCol="0">
              <a:spAutoFit/>
            </a:bodyPr>
            <a:lstStyle/>
            <a:p>
              <a:r>
                <a:rPr lang="en-GB" b="1" dirty="0"/>
                <a:t>Limited </a:t>
              </a:r>
            </a:p>
            <a:p>
              <a:r>
                <a:rPr lang="en-GB" b="1" dirty="0"/>
                <a:t>resources</a:t>
              </a:r>
              <a:endParaRPr lang="en-US" dirty="0"/>
            </a:p>
          </p:txBody>
        </p:sp>
        <p:pic>
          <p:nvPicPr>
            <p:cNvPr id="47" name="Graphic 46" descr="Coins with solid fill">
              <a:extLst>
                <a:ext uri="{FF2B5EF4-FFF2-40B4-BE49-F238E27FC236}">
                  <a16:creationId xmlns:a16="http://schemas.microsoft.com/office/drawing/2014/main" id="{C2D63DB5-8CA0-176C-65FF-430437FA8C43}"/>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7043832" y="3911920"/>
              <a:ext cx="914400" cy="914400"/>
            </a:xfrm>
            <a:prstGeom prst="rect">
              <a:avLst/>
            </a:prstGeom>
          </p:spPr>
        </p:pic>
      </p:grpSp>
      <p:sp>
        <p:nvSpPr>
          <p:cNvPr id="2" name="Rectangle 1">
            <a:extLst>
              <a:ext uri="{FF2B5EF4-FFF2-40B4-BE49-F238E27FC236}">
                <a16:creationId xmlns:a16="http://schemas.microsoft.com/office/drawing/2014/main" id="{FC46383D-B236-473F-BD43-36EC2593F45D}"/>
              </a:ext>
            </a:extLst>
          </p:cNvPr>
          <p:cNvSpPr/>
          <p:nvPr/>
        </p:nvSpPr>
        <p:spPr>
          <a:xfrm>
            <a:off x="349732" y="1524744"/>
            <a:ext cx="9371725" cy="4408180"/>
          </a:xfrm>
          <a:prstGeom prst="rect">
            <a:avLst/>
          </a:prstGeom>
          <a:solidFill>
            <a:schemeClr val="bg1">
              <a:alpha val="6702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Graphic 13" descr="Weights Uneven with solid fill">
            <a:extLst>
              <a:ext uri="{FF2B5EF4-FFF2-40B4-BE49-F238E27FC236}">
                <a16:creationId xmlns:a16="http://schemas.microsoft.com/office/drawing/2014/main" id="{ECC895C8-027D-91F9-32C0-24ADAA3EEAE9}"/>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10234976" y="1626662"/>
            <a:ext cx="1065010" cy="1065010"/>
          </a:xfrm>
          <a:prstGeom prst="rect">
            <a:avLst/>
          </a:prstGeom>
        </p:spPr>
      </p:pic>
      <p:sp>
        <p:nvSpPr>
          <p:cNvPr id="15" name="TextBox 14">
            <a:extLst>
              <a:ext uri="{FF2B5EF4-FFF2-40B4-BE49-F238E27FC236}">
                <a16:creationId xmlns:a16="http://schemas.microsoft.com/office/drawing/2014/main" id="{DD424E8C-6B09-75E6-DCAB-C98B6CB23C27}"/>
              </a:ext>
            </a:extLst>
          </p:cNvPr>
          <p:cNvSpPr txBox="1"/>
          <p:nvPr/>
        </p:nvSpPr>
        <p:spPr>
          <a:xfrm>
            <a:off x="9981048" y="2904762"/>
            <a:ext cx="1572866" cy="369332"/>
          </a:xfrm>
          <a:prstGeom prst="rect">
            <a:avLst/>
          </a:prstGeom>
          <a:noFill/>
        </p:spPr>
        <p:txBody>
          <a:bodyPr wrap="none" rtlCol="0">
            <a:spAutoFit/>
          </a:bodyPr>
          <a:lstStyle/>
          <a:p>
            <a:r>
              <a:rPr lang="en-GB" b="1" dirty="0"/>
              <a:t>Equity issues</a:t>
            </a:r>
            <a:endParaRPr lang="en-US" dirty="0"/>
          </a:p>
        </p:txBody>
      </p:sp>
      <p:sp>
        <p:nvSpPr>
          <p:cNvPr id="17" name="TextBox 16">
            <a:extLst>
              <a:ext uri="{FF2B5EF4-FFF2-40B4-BE49-F238E27FC236}">
                <a16:creationId xmlns:a16="http://schemas.microsoft.com/office/drawing/2014/main" id="{544C0927-ADAD-C8B3-0810-C3165D47967F}"/>
              </a:ext>
            </a:extLst>
          </p:cNvPr>
          <p:cNvSpPr txBox="1"/>
          <p:nvPr/>
        </p:nvSpPr>
        <p:spPr>
          <a:xfrm>
            <a:off x="9925021" y="3300289"/>
            <a:ext cx="2582521" cy="1754326"/>
          </a:xfrm>
          <a:prstGeom prst="rect">
            <a:avLst/>
          </a:prstGeom>
          <a:noFill/>
        </p:spPr>
        <p:txBody>
          <a:bodyPr wrap="square" rtlCol="0">
            <a:spAutoFit/>
          </a:bodyPr>
          <a:lstStyle/>
          <a:p>
            <a:r>
              <a:rPr lang="en-US" dirty="0"/>
              <a:t>e.g. Data sovereignty (CARE principles: </a:t>
            </a:r>
            <a:r>
              <a:rPr lang="en-US" b="1" dirty="0"/>
              <a:t>C</a:t>
            </a:r>
            <a:r>
              <a:rPr lang="en-US" dirty="0"/>
              <a:t>ollective benefit, </a:t>
            </a:r>
            <a:r>
              <a:rPr lang="en-US" b="1" dirty="0"/>
              <a:t>A</a:t>
            </a:r>
            <a:r>
              <a:rPr lang="en-US" dirty="0"/>
              <a:t>uthority to control, </a:t>
            </a:r>
            <a:r>
              <a:rPr lang="en-US" b="1" dirty="0"/>
              <a:t>R</a:t>
            </a:r>
            <a:r>
              <a:rPr lang="en-US" dirty="0"/>
              <a:t>esponsibility and </a:t>
            </a:r>
            <a:r>
              <a:rPr lang="en-US" b="1" dirty="0"/>
              <a:t>E</a:t>
            </a:r>
            <a:r>
              <a:rPr lang="en-US" dirty="0"/>
              <a:t>thics) </a:t>
            </a:r>
          </a:p>
        </p:txBody>
      </p:sp>
      <p:sp>
        <p:nvSpPr>
          <p:cNvPr id="20" name="Slide Number Placeholder 19">
            <a:extLst>
              <a:ext uri="{FF2B5EF4-FFF2-40B4-BE49-F238E27FC236}">
                <a16:creationId xmlns:a16="http://schemas.microsoft.com/office/drawing/2014/main" id="{E37D1FB4-97F7-BDFC-2431-35DEAB1DD904}"/>
              </a:ext>
            </a:extLst>
          </p:cNvPr>
          <p:cNvSpPr>
            <a:spLocks noGrp="1"/>
          </p:cNvSpPr>
          <p:nvPr>
            <p:ph type="sldNum" sz="quarter" idx="12"/>
          </p:nvPr>
        </p:nvSpPr>
        <p:spPr/>
        <p:txBody>
          <a:bodyPr/>
          <a:lstStyle/>
          <a:p>
            <a:fld id="{DC6309F4-03C8-4D48-A124-A9AD6E083FAC}" type="slidenum">
              <a:rPr lang="en-US" smtClean="0"/>
              <a:t>18</a:t>
            </a:fld>
            <a:endParaRPr lang="en-US"/>
          </a:p>
        </p:txBody>
      </p:sp>
    </p:spTree>
    <p:extLst>
      <p:ext uri="{BB962C8B-B14F-4D97-AF65-F5344CB8AC3E}">
        <p14:creationId xmlns:p14="http://schemas.microsoft.com/office/powerpoint/2010/main" val="2885500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ED879-80D1-BE00-BCC2-4D5F757BEF2F}"/>
            </a:ext>
          </a:extLst>
        </p:cNvPr>
        <p:cNvGrpSpPr/>
        <p:nvPr/>
      </p:nvGrpSpPr>
      <p:grpSpPr>
        <a:xfrm>
          <a:off x="0" y="0"/>
          <a:ext cx="0" cy="0"/>
          <a:chOff x="0" y="0"/>
          <a:chExt cx="0" cy="0"/>
        </a:xfrm>
      </p:grpSpPr>
      <p:grpSp>
        <p:nvGrpSpPr>
          <p:cNvPr id="25" name="Group 24">
            <a:extLst>
              <a:ext uri="{FF2B5EF4-FFF2-40B4-BE49-F238E27FC236}">
                <a16:creationId xmlns:a16="http://schemas.microsoft.com/office/drawing/2014/main" id="{9769F07F-6C36-68BA-01D7-A8462F2565B9}"/>
              </a:ext>
            </a:extLst>
          </p:cNvPr>
          <p:cNvGrpSpPr/>
          <p:nvPr/>
        </p:nvGrpSpPr>
        <p:grpSpPr>
          <a:xfrm>
            <a:off x="10704849" y="6564312"/>
            <a:ext cx="1362075" cy="273690"/>
            <a:chOff x="19317" y="2690018"/>
            <a:chExt cx="11784755" cy="2025180"/>
          </a:xfrm>
        </p:grpSpPr>
        <p:pic>
          <p:nvPicPr>
            <p:cNvPr id="29" name="Picture 2">
              <a:extLst>
                <a:ext uri="{FF2B5EF4-FFF2-40B4-BE49-F238E27FC236}">
                  <a16:creationId xmlns:a16="http://schemas.microsoft.com/office/drawing/2014/main" id="{CB69E3CC-D781-FE00-36DF-557E945D4E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1">
              <a:extLst>
                <a:ext uri="{FF2B5EF4-FFF2-40B4-BE49-F238E27FC236}">
                  <a16:creationId xmlns:a16="http://schemas.microsoft.com/office/drawing/2014/main" id="{9D5AE41D-EB3F-08A1-0864-93B596BFA19C}"/>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4" name="Title 1">
            <a:extLst>
              <a:ext uri="{FF2B5EF4-FFF2-40B4-BE49-F238E27FC236}">
                <a16:creationId xmlns:a16="http://schemas.microsoft.com/office/drawing/2014/main" id="{CE3C4862-30E6-A103-451B-D2920F7FBB9D}"/>
              </a:ext>
            </a:extLst>
          </p:cNvPr>
          <p:cNvSpPr txBox="1">
            <a:spLocks/>
          </p:cNvSpPr>
          <p:nvPr/>
        </p:nvSpPr>
        <p:spPr>
          <a:xfrm>
            <a:off x="0" y="-11484"/>
            <a:ext cx="121920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Challenges in Open Science: AI technologies</a:t>
            </a:r>
          </a:p>
        </p:txBody>
      </p:sp>
      <p:grpSp>
        <p:nvGrpSpPr>
          <p:cNvPr id="24" name="Group 23">
            <a:extLst>
              <a:ext uri="{FF2B5EF4-FFF2-40B4-BE49-F238E27FC236}">
                <a16:creationId xmlns:a16="http://schemas.microsoft.com/office/drawing/2014/main" id="{FFB02BB6-1A38-0E5B-0A50-4472A5E6B8FD}"/>
              </a:ext>
            </a:extLst>
          </p:cNvPr>
          <p:cNvGrpSpPr/>
          <p:nvPr/>
        </p:nvGrpSpPr>
        <p:grpSpPr>
          <a:xfrm>
            <a:off x="428706" y="1900628"/>
            <a:ext cx="914400" cy="1283732"/>
            <a:chOff x="1078156" y="1850572"/>
            <a:chExt cx="914400" cy="1283732"/>
          </a:xfrm>
        </p:grpSpPr>
        <p:sp>
          <p:nvSpPr>
            <p:cNvPr id="6" name="TextBox 5">
              <a:extLst>
                <a:ext uri="{FF2B5EF4-FFF2-40B4-BE49-F238E27FC236}">
                  <a16:creationId xmlns:a16="http://schemas.microsoft.com/office/drawing/2014/main" id="{E8784C5B-281B-CEF1-5D61-4B04F791594F}"/>
                </a:ext>
              </a:extLst>
            </p:cNvPr>
            <p:cNvSpPr txBox="1"/>
            <p:nvPr/>
          </p:nvSpPr>
          <p:spPr>
            <a:xfrm>
              <a:off x="1186542" y="2764972"/>
              <a:ext cx="697627" cy="369332"/>
            </a:xfrm>
            <a:prstGeom prst="rect">
              <a:avLst/>
            </a:prstGeom>
            <a:noFill/>
          </p:spPr>
          <p:txBody>
            <a:bodyPr wrap="none" rtlCol="0">
              <a:spAutoFit/>
            </a:bodyPr>
            <a:lstStyle/>
            <a:p>
              <a:r>
                <a:rPr lang="en-GB" b="1" dirty="0"/>
                <a:t>Time</a:t>
              </a:r>
              <a:endParaRPr lang="en-US" dirty="0"/>
            </a:p>
          </p:txBody>
        </p:sp>
        <p:pic>
          <p:nvPicPr>
            <p:cNvPr id="8" name="Graphic 7" descr="Stopwatch 75% with solid fill">
              <a:extLst>
                <a:ext uri="{FF2B5EF4-FFF2-40B4-BE49-F238E27FC236}">
                  <a16:creationId xmlns:a16="http://schemas.microsoft.com/office/drawing/2014/main" id="{6F3CDC30-8C2C-0F27-B697-BCFE620B6EA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78156" y="1850572"/>
              <a:ext cx="914400" cy="914400"/>
            </a:xfrm>
            <a:prstGeom prst="rect">
              <a:avLst/>
            </a:prstGeom>
          </p:spPr>
        </p:pic>
      </p:grpSp>
      <p:grpSp>
        <p:nvGrpSpPr>
          <p:cNvPr id="23" name="Group 22">
            <a:extLst>
              <a:ext uri="{FF2B5EF4-FFF2-40B4-BE49-F238E27FC236}">
                <a16:creationId xmlns:a16="http://schemas.microsoft.com/office/drawing/2014/main" id="{9E12E6FB-20FC-A03D-602A-FB8F1CECA860}"/>
              </a:ext>
            </a:extLst>
          </p:cNvPr>
          <p:cNvGrpSpPr/>
          <p:nvPr/>
        </p:nvGrpSpPr>
        <p:grpSpPr>
          <a:xfrm>
            <a:off x="2137849" y="1748273"/>
            <a:ext cx="1275029" cy="1552016"/>
            <a:chOff x="7918976" y="1325563"/>
            <a:chExt cx="1275029" cy="1552016"/>
          </a:xfrm>
        </p:grpSpPr>
        <p:pic>
          <p:nvPicPr>
            <p:cNvPr id="10" name="Graphic 9" descr="Medal with solid fill">
              <a:extLst>
                <a:ext uri="{FF2B5EF4-FFF2-40B4-BE49-F238E27FC236}">
                  <a16:creationId xmlns:a16="http://schemas.microsoft.com/office/drawing/2014/main" id="{7B43248E-BF5C-FDA0-84AD-AF0A1A520E8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099611" y="1325563"/>
              <a:ext cx="914400" cy="914400"/>
            </a:xfrm>
            <a:prstGeom prst="rect">
              <a:avLst/>
            </a:prstGeom>
          </p:spPr>
        </p:pic>
        <p:sp>
          <p:nvSpPr>
            <p:cNvPr id="11" name="TextBox 10">
              <a:extLst>
                <a:ext uri="{FF2B5EF4-FFF2-40B4-BE49-F238E27FC236}">
                  <a16:creationId xmlns:a16="http://schemas.microsoft.com/office/drawing/2014/main" id="{D7CDAC23-1F13-9DC8-399C-2BB08FF36896}"/>
                </a:ext>
              </a:extLst>
            </p:cNvPr>
            <p:cNvSpPr txBox="1"/>
            <p:nvPr/>
          </p:nvSpPr>
          <p:spPr>
            <a:xfrm>
              <a:off x="7918976" y="2231248"/>
              <a:ext cx="1275029" cy="646331"/>
            </a:xfrm>
            <a:prstGeom prst="rect">
              <a:avLst/>
            </a:prstGeom>
            <a:noFill/>
          </p:spPr>
          <p:txBody>
            <a:bodyPr wrap="none" rtlCol="0">
              <a:spAutoFit/>
            </a:bodyPr>
            <a:lstStyle/>
            <a:p>
              <a:r>
                <a:rPr lang="en-GB" b="1" dirty="0"/>
                <a:t>Incentive </a:t>
              </a:r>
            </a:p>
            <a:p>
              <a:r>
                <a:rPr lang="en-GB" b="1" dirty="0"/>
                <a:t>structures</a:t>
              </a:r>
              <a:endParaRPr lang="en-US" dirty="0"/>
            </a:p>
          </p:txBody>
        </p:sp>
      </p:grpSp>
      <p:grpSp>
        <p:nvGrpSpPr>
          <p:cNvPr id="21" name="Group 20">
            <a:extLst>
              <a:ext uri="{FF2B5EF4-FFF2-40B4-BE49-F238E27FC236}">
                <a16:creationId xmlns:a16="http://schemas.microsoft.com/office/drawing/2014/main" id="{B449B48E-DF7A-133E-906C-241AFDAC24D7}"/>
              </a:ext>
            </a:extLst>
          </p:cNvPr>
          <p:cNvGrpSpPr/>
          <p:nvPr/>
        </p:nvGrpSpPr>
        <p:grpSpPr>
          <a:xfrm>
            <a:off x="273665" y="4115884"/>
            <a:ext cx="1394549" cy="1283732"/>
            <a:chOff x="2453820" y="4045388"/>
            <a:chExt cx="1394549" cy="1283732"/>
          </a:xfrm>
        </p:grpSpPr>
        <p:pic>
          <p:nvPicPr>
            <p:cNvPr id="13" name="Graphic 12" descr="Tired face with solid fill with solid fill">
              <a:extLst>
                <a:ext uri="{FF2B5EF4-FFF2-40B4-BE49-F238E27FC236}">
                  <a16:creationId xmlns:a16="http://schemas.microsoft.com/office/drawing/2014/main" id="{C3E5CB82-CD99-E939-C159-3640D2BA8E1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693895" y="4045388"/>
              <a:ext cx="914400" cy="914400"/>
            </a:xfrm>
            <a:prstGeom prst="rect">
              <a:avLst/>
            </a:prstGeom>
          </p:spPr>
        </p:pic>
        <p:sp>
          <p:nvSpPr>
            <p:cNvPr id="16" name="TextBox 15">
              <a:extLst>
                <a:ext uri="{FF2B5EF4-FFF2-40B4-BE49-F238E27FC236}">
                  <a16:creationId xmlns:a16="http://schemas.microsoft.com/office/drawing/2014/main" id="{0CE97DD3-5C43-50A6-1372-92D3368A9CB2}"/>
                </a:ext>
              </a:extLst>
            </p:cNvPr>
            <p:cNvSpPr txBox="1"/>
            <p:nvPr/>
          </p:nvSpPr>
          <p:spPr>
            <a:xfrm>
              <a:off x="2453820" y="4959788"/>
              <a:ext cx="1394549" cy="369332"/>
            </a:xfrm>
            <a:prstGeom prst="rect">
              <a:avLst/>
            </a:prstGeom>
            <a:noFill/>
          </p:spPr>
          <p:txBody>
            <a:bodyPr wrap="none" rtlCol="0">
              <a:spAutoFit/>
            </a:bodyPr>
            <a:lstStyle/>
            <a:p>
              <a:r>
                <a:rPr lang="en-GB" b="1" dirty="0"/>
                <a:t>Overwhelm</a:t>
              </a:r>
              <a:endParaRPr lang="en-US" dirty="0"/>
            </a:p>
          </p:txBody>
        </p:sp>
      </p:grpSp>
      <p:grpSp>
        <p:nvGrpSpPr>
          <p:cNvPr id="22" name="Group 21">
            <a:extLst>
              <a:ext uri="{FF2B5EF4-FFF2-40B4-BE49-F238E27FC236}">
                <a16:creationId xmlns:a16="http://schemas.microsoft.com/office/drawing/2014/main" id="{B268FA4E-ADF7-424E-291F-79E43399BE47}"/>
              </a:ext>
            </a:extLst>
          </p:cNvPr>
          <p:cNvGrpSpPr/>
          <p:nvPr/>
        </p:nvGrpSpPr>
        <p:grpSpPr>
          <a:xfrm>
            <a:off x="6031616" y="1732820"/>
            <a:ext cx="1550104" cy="1691078"/>
            <a:chOff x="6912243" y="3565526"/>
            <a:chExt cx="1550104" cy="1691078"/>
          </a:xfrm>
        </p:grpSpPr>
        <p:pic>
          <p:nvPicPr>
            <p:cNvPr id="18" name="Graphic 17" descr="No Touch with solid fill">
              <a:extLst>
                <a:ext uri="{FF2B5EF4-FFF2-40B4-BE49-F238E27FC236}">
                  <a16:creationId xmlns:a16="http://schemas.microsoft.com/office/drawing/2014/main" id="{DDEA7FFD-6E5E-0E2C-E903-83EB0E4CC78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185211" y="3565526"/>
              <a:ext cx="914400" cy="914400"/>
            </a:xfrm>
            <a:prstGeom prst="rect">
              <a:avLst/>
            </a:prstGeom>
          </p:spPr>
        </p:pic>
        <p:sp>
          <p:nvSpPr>
            <p:cNvPr id="19" name="TextBox 18">
              <a:extLst>
                <a:ext uri="{FF2B5EF4-FFF2-40B4-BE49-F238E27FC236}">
                  <a16:creationId xmlns:a16="http://schemas.microsoft.com/office/drawing/2014/main" id="{520DBA71-225D-0EA7-105A-56ABEFBAEF0D}"/>
                </a:ext>
              </a:extLst>
            </p:cNvPr>
            <p:cNvSpPr txBox="1"/>
            <p:nvPr/>
          </p:nvSpPr>
          <p:spPr>
            <a:xfrm>
              <a:off x="6912243" y="4610273"/>
              <a:ext cx="1550104" cy="646331"/>
            </a:xfrm>
            <a:prstGeom prst="rect">
              <a:avLst/>
            </a:prstGeom>
            <a:noFill/>
          </p:spPr>
          <p:txBody>
            <a:bodyPr wrap="none" rtlCol="0">
              <a:spAutoFit/>
            </a:bodyPr>
            <a:lstStyle/>
            <a:p>
              <a:r>
                <a:rPr lang="en-GB" b="1" dirty="0"/>
                <a:t>Restrictions/</a:t>
              </a:r>
            </a:p>
            <a:p>
              <a:r>
                <a:rPr lang="en-GB" b="1" dirty="0"/>
                <a:t>inflexibility</a:t>
              </a:r>
              <a:endParaRPr lang="en-US" dirty="0"/>
            </a:p>
          </p:txBody>
        </p:sp>
      </p:grpSp>
      <p:grpSp>
        <p:nvGrpSpPr>
          <p:cNvPr id="28" name="Group 27">
            <a:extLst>
              <a:ext uri="{FF2B5EF4-FFF2-40B4-BE49-F238E27FC236}">
                <a16:creationId xmlns:a16="http://schemas.microsoft.com/office/drawing/2014/main" id="{BD129B3A-D3B5-554F-FDAC-A77439FBD74C}"/>
              </a:ext>
            </a:extLst>
          </p:cNvPr>
          <p:cNvGrpSpPr/>
          <p:nvPr/>
        </p:nvGrpSpPr>
        <p:grpSpPr>
          <a:xfrm>
            <a:off x="4071498" y="1626662"/>
            <a:ext cx="1351168" cy="1809535"/>
            <a:chOff x="5650023" y="1723221"/>
            <a:chExt cx="1351168" cy="1809535"/>
          </a:xfrm>
        </p:grpSpPr>
        <p:pic>
          <p:nvPicPr>
            <p:cNvPr id="26" name="Graphic 25" descr="Normal Distribution with solid fill">
              <a:extLst>
                <a:ext uri="{FF2B5EF4-FFF2-40B4-BE49-F238E27FC236}">
                  <a16:creationId xmlns:a16="http://schemas.microsoft.com/office/drawing/2014/main" id="{2075D0C4-1D63-19FC-0F5B-B965B841A42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650023" y="1723221"/>
              <a:ext cx="1275669" cy="1275669"/>
            </a:xfrm>
            <a:prstGeom prst="rect">
              <a:avLst/>
            </a:prstGeom>
          </p:spPr>
        </p:pic>
        <p:sp>
          <p:nvSpPr>
            <p:cNvPr id="27" name="TextBox 26">
              <a:extLst>
                <a:ext uri="{FF2B5EF4-FFF2-40B4-BE49-F238E27FC236}">
                  <a16:creationId xmlns:a16="http://schemas.microsoft.com/office/drawing/2014/main" id="{B5E38D15-31E9-D785-C2D7-20B8E9DA681A}"/>
                </a:ext>
              </a:extLst>
            </p:cNvPr>
            <p:cNvSpPr txBox="1"/>
            <p:nvPr/>
          </p:nvSpPr>
          <p:spPr>
            <a:xfrm>
              <a:off x="5667171" y="2886425"/>
              <a:ext cx="1334020" cy="646331"/>
            </a:xfrm>
            <a:prstGeom prst="rect">
              <a:avLst/>
            </a:prstGeom>
            <a:noFill/>
          </p:spPr>
          <p:txBody>
            <a:bodyPr wrap="none" rtlCol="0">
              <a:spAutoFit/>
            </a:bodyPr>
            <a:lstStyle/>
            <a:p>
              <a:pPr algn="ctr"/>
              <a:r>
                <a:rPr lang="en-GB" b="1" dirty="0"/>
                <a:t>Norms and</a:t>
              </a:r>
            </a:p>
            <a:p>
              <a:pPr algn="ctr"/>
              <a:r>
                <a:rPr lang="en-GB" b="1" dirty="0"/>
                <a:t>culture</a:t>
              </a:r>
              <a:endParaRPr lang="en-US" dirty="0"/>
            </a:p>
          </p:txBody>
        </p:sp>
      </p:grpSp>
      <p:grpSp>
        <p:nvGrpSpPr>
          <p:cNvPr id="49" name="Group 48">
            <a:extLst>
              <a:ext uri="{FF2B5EF4-FFF2-40B4-BE49-F238E27FC236}">
                <a16:creationId xmlns:a16="http://schemas.microsoft.com/office/drawing/2014/main" id="{030D6CF5-82FA-73B1-14B9-E6918598CEEE}"/>
              </a:ext>
            </a:extLst>
          </p:cNvPr>
          <p:cNvGrpSpPr/>
          <p:nvPr/>
        </p:nvGrpSpPr>
        <p:grpSpPr>
          <a:xfrm>
            <a:off x="2235120" y="3720093"/>
            <a:ext cx="1070678" cy="1922873"/>
            <a:chOff x="5056184" y="4084711"/>
            <a:chExt cx="1070678" cy="1922873"/>
          </a:xfrm>
        </p:grpSpPr>
        <p:pic>
          <p:nvPicPr>
            <p:cNvPr id="30" name="Graphic 29" descr="Books with solid fill">
              <a:extLst>
                <a:ext uri="{FF2B5EF4-FFF2-40B4-BE49-F238E27FC236}">
                  <a16:creationId xmlns:a16="http://schemas.microsoft.com/office/drawing/2014/main" id="{342BA0FD-34D2-49F1-03A9-C82A4E9F2C3C}"/>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128721" y="4084711"/>
              <a:ext cx="914400" cy="914400"/>
            </a:xfrm>
            <a:prstGeom prst="rect">
              <a:avLst/>
            </a:prstGeom>
          </p:spPr>
        </p:pic>
        <p:sp>
          <p:nvSpPr>
            <p:cNvPr id="31" name="TextBox 30">
              <a:extLst>
                <a:ext uri="{FF2B5EF4-FFF2-40B4-BE49-F238E27FC236}">
                  <a16:creationId xmlns:a16="http://schemas.microsoft.com/office/drawing/2014/main" id="{5BB10012-8472-0761-C80A-22F5C74AAED8}"/>
                </a:ext>
              </a:extLst>
            </p:cNvPr>
            <p:cNvSpPr txBox="1"/>
            <p:nvPr/>
          </p:nvSpPr>
          <p:spPr>
            <a:xfrm>
              <a:off x="5056184" y="5084254"/>
              <a:ext cx="1070678" cy="923330"/>
            </a:xfrm>
            <a:prstGeom prst="rect">
              <a:avLst/>
            </a:prstGeom>
            <a:noFill/>
          </p:spPr>
          <p:txBody>
            <a:bodyPr wrap="none" rtlCol="0">
              <a:spAutoFit/>
            </a:bodyPr>
            <a:lstStyle/>
            <a:p>
              <a:r>
                <a:rPr lang="en-GB" b="1" dirty="0"/>
                <a:t>Lack of </a:t>
              </a:r>
            </a:p>
            <a:p>
              <a:r>
                <a:rPr lang="en-GB" b="1" dirty="0"/>
                <a:t>training/</a:t>
              </a:r>
            </a:p>
            <a:p>
              <a:r>
                <a:rPr lang="en-GB" b="1" dirty="0"/>
                <a:t>skills</a:t>
              </a:r>
              <a:endParaRPr lang="en-US" dirty="0"/>
            </a:p>
          </p:txBody>
        </p:sp>
      </p:grpSp>
      <p:grpSp>
        <p:nvGrpSpPr>
          <p:cNvPr id="50" name="Group 49">
            <a:extLst>
              <a:ext uri="{FF2B5EF4-FFF2-40B4-BE49-F238E27FC236}">
                <a16:creationId xmlns:a16="http://schemas.microsoft.com/office/drawing/2014/main" id="{59B43D86-D33F-A9DC-BD56-5767A1A8684C}"/>
              </a:ext>
            </a:extLst>
          </p:cNvPr>
          <p:cNvGrpSpPr/>
          <p:nvPr/>
        </p:nvGrpSpPr>
        <p:grpSpPr>
          <a:xfrm>
            <a:off x="4214225" y="3827508"/>
            <a:ext cx="1292155" cy="1572108"/>
            <a:chOff x="8048654" y="1809106"/>
            <a:chExt cx="1292155" cy="1572108"/>
          </a:xfrm>
        </p:grpSpPr>
        <p:sp>
          <p:nvSpPr>
            <p:cNvPr id="34" name="TextBox 33">
              <a:extLst>
                <a:ext uri="{FF2B5EF4-FFF2-40B4-BE49-F238E27FC236}">
                  <a16:creationId xmlns:a16="http://schemas.microsoft.com/office/drawing/2014/main" id="{C988547A-A2B2-53D3-3C88-4983E417BE2D}"/>
                </a:ext>
              </a:extLst>
            </p:cNvPr>
            <p:cNvSpPr txBox="1"/>
            <p:nvPr/>
          </p:nvSpPr>
          <p:spPr>
            <a:xfrm>
              <a:off x="8065140" y="2734883"/>
              <a:ext cx="1275669" cy="646331"/>
            </a:xfrm>
            <a:prstGeom prst="rect">
              <a:avLst/>
            </a:prstGeom>
            <a:noFill/>
          </p:spPr>
          <p:txBody>
            <a:bodyPr wrap="square" rtlCol="0">
              <a:spAutoFit/>
            </a:bodyPr>
            <a:lstStyle/>
            <a:p>
              <a:r>
                <a:rPr lang="en-GB" b="1" dirty="0"/>
                <a:t>Lack of support</a:t>
              </a:r>
              <a:endParaRPr lang="en-US" dirty="0"/>
            </a:p>
          </p:txBody>
        </p:sp>
        <p:pic>
          <p:nvPicPr>
            <p:cNvPr id="36" name="Graphic 35" descr="Care with solid fill">
              <a:extLst>
                <a:ext uri="{FF2B5EF4-FFF2-40B4-BE49-F238E27FC236}">
                  <a16:creationId xmlns:a16="http://schemas.microsoft.com/office/drawing/2014/main" id="{17A65DF1-7126-0F21-E90F-CE7D478D36CE}"/>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8048654" y="1809106"/>
              <a:ext cx="914400" cy="914400"/>
            </a:xfrm>
            <a:prstGeom prst="rect">
              <a:avLst/>
            </a:prstGeom>
          </p:spPr>
        </p:pic>
      </p:grpSp>
      <p:grpSp>
        <p:nvGrpSpPr>
          <p:cNvPr id="52" name="Group 51">
            <a:extLst>
              <a:ext uri="{FF2B5EF4-FFF2-40B4-BE49-F238E27FC236}">
                <a16:creationId xmlns:a16="http://schemas.microsoft.com/office/drawing/2014/main" id="{AF66598A-30DD-019F-0E63-ED344061B4F2}"/>
              </a:ext>
            </a:extLst>
          </p:cNvPr>
          <p:cNvGrpSpPr/>
          <p:nvPr/>
        </p:nvGrpSpPr>
        <p:grpSpPr>
          <a:xfrm>
            <a:off x="8100902" y="1639457"/>
            <a:ext cx="1360964" cy="1795388"/>
            <a:chOff x="10293741" y="1585825"/>
            <a:chExt cx="1360964" cy="1795388"/>
          </a:xfrm>
        </p:grpSpPr>
        <p:pic>
          <p:nvPicPr>
            <p:cNvPr id="39" name="Graphic 38" descr="Spinning Plates with solid fill">
              <a:extLst>
                <a:ext uri="{FF2B5EF4-FFF2-40B4-BE49-F238E27FC236}">
                  <a16:creationId xmlns:a16="http://schemas.microsoft.com/office/drawing/2014/main" id="{63D05958-6101-0FB2-A4B0-961BB1447E40}"/>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293741" y="1585825"/>
              <a:ext cx="1137681" cy="1137681"/>
            </a:xfrm>
            <a:prstGeom prst="rect">
              <a:avLst/>
            </a:prstGeom>
          </p:spPr>
        </p:pic>
        <p:sp>
          <p:nvSpPr>
            <p:cNvPr id="40" name="TextBox 39">
              <a:extLst>
                <a:ext uri="{FF2B5EF4-FFF2-40B4-BE49-F238E27FC236}">
                  <a16:creationId xmlns:a16="http://schemas.microsoft.com/office/drawing/2014/main" id="{38A746DF-A940-1E17-A77D-2C8A20D8A1AA}"/>
                </a:ext>
              </a:extLst>
            </p:cNvPr>
            <p:cNvSpPr txBox="1"/>
            <p:nvPr/>
          </p:nvSpPr>
          <p:spPr>
            <a:xfrm>
              <a:off x="10293741" y="2734882"/>
              <a:ext cx="1360964" cy="646331"/>
            </a:xfrm>
            <a:prstGeom prst="rect">
              <a:avLst/>
            </a:prstGeom>
            <a:noFill/>
          </p:spPr>
          <p:txBody>
            <a:bodyPr wrap="square" rtlCol="0">
              <a:spAutoFit/>
            </a:bodyPr>
            <a:lstStyle/>
            <a:p>
              <a:r>
                <a:rPr lang="en-GB" b="1" dirty="0"/>
                <a:t>Additional workload</a:t>
              </a:r>
              <a:endParaRPr lang="en-US" dirty="0"/>
            </a:p>
          </p:txBody>
        </p:sp>
      </p:grpSp>
      <p:grpSp>
        <p:nvGrpSpPr>
          <p:cNvPr id="53" name="Group 52">
            <a:extLst>
              <a:ext uri="{FF2B5EF4-FFF2-40B4-BE49-F238E27FC236}">
                <a16:creationId xmlns:a16="http://schemas.microsoft.com/office/drawing/2014/main" id="{EB2BB4BC-441F-47C5-C4C7-2EAD22109552}"/>
              </a:ext>
            </a:extLst>
          </p:cNvPr>
          <p:cNvGrpSpPr/>
          <p:nvPr/>
        </p:nvGrpSpPr>
        <p:grpSpPr>
          <a:xfrm>
            <a:off x="8212254" y="3731986"/>
            <a:ext cx="922047" cy="1667630"/>
            <a:chOff x="10517023" y="4046616"/>
            <a:chExt cx="922047" cy="1667630"/>
          </a:xfrm>
        </p:grpSpPr>
        <p:pic>
          <p:nvPicPr>
            <p:cNvPr id="42" name="Graphic 41" descr="Briefcase with solid fill">
              <a:extLst>
                <a:ext uri="{FF2B5EF4-FFF2-40B4-BE49-F238E27FC236}">
                  <a16:creationId xmlns:a16="http://schemas.microsoft.com/office/drawing/2014/main" id="{BEA520F0-F899-6027-03D7-33CE6CEFDE32}"/>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0517023" y="4046616"/>
              <a:ext cx="914400" cy="914400"/>
            </a:xfrm>
            <a:prstGeom prst="rect">
              <a:avLst/>
            </a:prstGeom>
          </p:spPr>
        </p:pic>
        <p:sp>
          <p:nvSpPr>
            <p:cNvPr id="43" name="TextBox 42">
              <a:extLst>
                <a:ext uri="{FF2B5EF4-FFF2-40B4-BE49-F238E27FC236}">
                  <a16:creationId xmlns:a16="http://schemas.microsoft.com/office/drawing/2014/main" id="{DE64E748-3283-BCE0-5A38-AE18E3B1A014}"/>
                </a:ext>
              </a:extLst>
            </p:cNvPr>
            <p:cNvSpPr txBox="1"/>
            <p:nvPr/>
          </p:nvSpPr>
          <p:spPr>
            <a:xfrm>
              <a:off x="10517023" y="5067915"/>
              <a:ext cx="922047" cy="646331"/>
            </a:xfrm>
            <a:prstGeom prst="rect">
              <a:avLst/>
            </a:prstGeom>
            <a:noFill/>
          </p:spPr>
          <p:txBody>
            <a:bodyPr wrap="none" rtlCol="0">
              <a:spAutoFit/>
            </a:bodyPr>
            <a:lstStyle/>
            <a:p>
              <a:r>
                <a:rPr lang="en-GB" b="1" dirty="0"/>
                <a:t>Career</a:t>
              </a:r>
            </a:p>
            <a:p>
              <a:r>
                <a:rPr lang="en-GB" b="1" dirty="0"/>
                <a:t>impact</a:t>
              </a:r>
              <a:endParaRPr lang="en-US" dirty="0"/>
            </a:p>
          </p:txBody>
        </p:sp>
      </p:grpSp>
      <p:grpSp>
        <p:nvGrpSpPr>
          <p:cNvPr id="51" name="Group 50">
            <a:extLst>
              <a:ext uri="{FF2B5EF4-FFF2-40B4-BE49-F238E27FC236}">
                <a16:creationId xmlns:a16="http://schemas.microsoft.com/office/drawing/2014/main" id="{3FCF53AC-1B16-E344-EF8E-21273CB7AC14}"/>
              </a:ext>
            </a:extLst>
          </p:cNvPr>
          <p:cNvGrpSpPr/>
          <p:nvPr/>
        </p:nvGrpSpPr>
        <p:grpSpPr>
          <a:xfrm>
            <a:off x="6136914" y="3728834"/>
            <a:ext cx="1237518" cy="1688500"/>
            <a:chOff x="7032029" y="3911920"/>
            <a:chExt cx="1237518" cy="1688500"/>
          </a:xfrm>
        </p:grpSpPr>
        <p:sp>
          <p:nvSpPr>
            <p:cNvPr id="37" name="TextBox 36">
              <a:extLst>
                <a:ext uri="{FF2B5EF4-FFF2-40B4-BE49-F238E27FC236}">
                  <a16:creationId xmlns:a16="http://schemas.microsoft.com/office/drawing/2014/main" id="{48FCC6CE-DE94-0F33-58B4-080C26577F9D}"/>
                </a:ext>
              </a:extLst>
            </p:cNvPr>
            <p:cNvSpPr txBox="1"/>
            <p:nvPr/>
          </p:nvSpPr>
          <p:spPr>
            <a:xfrm>
              <a:off x="7032029" y="4954089"/>
              <a:ext cx="1237518" cy="646331"/>
            </a:xfrm>
            <a:prstGeom prst="rect">
              <a:avLst/>
            </a:prstGeom>
            <a:noFill/>
          </p:spPr>
          <p:txBody>
            <a:bodyPr wrap="none" rtlCol="0">
              <a:spAutoFit/>
            </a:bodyPr>
            <a:lstStyle/>
            <a:p>
              <a:r>
                <a:rPr lang="en-GB" b="1" dirty="0"/>
                <a:t>Limited </a:t>
              </a:r>
            </a:p>
            <a:p>
              <a:r>
                <a:rPr lang="en-GB" b="1" dirty="0"/>
                <a:t>resources</a:t>
              </a:r>
              <a:endParaRPr lang="en-US" dirty="0"/>
            </a:p>
          </p:txBody>
        </p:sp>
        <p:pic>
          <p:nvPicPr>
            <p:cNvPr id="47" name="Graphic 46" descr="Coins with solid fill">
              <a:extLst>
                <a:ext uri="{FF2B5EF4-FFF2-40B4-BE49-F238E27FC236}">
                  <a16:creationId xmlns:a16="http://schemas.microsoft.com/office/drawing/2014/main" id="{870AE136-D183-A668-36D9-3B3C92830C4E}"/>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7043832" y="3911920"/>
              <a:ext cx="914400" cy="914400"/>
            </a:xfrm>
            <a:prstGeom prst="rect">
              <a:avLst/>
            </a:prstGeom>
          </p:spPr>
        </p:pic>
      </p:grpSp>
      <p:sp>
        <p:nvSpPr>
          <p:cNvPr id="2" name="Rectangle 1">
            <a:extLst>
              <a:ext uri="{FF2B5EF4-FFF2-40B4-BE49-F238E27FC236}">
                <a16:creationId xmlns:a16="http://schemas.microsoft.com/office/drawing/2014/main" id="{1B7A5463-1184-7668-A4EA-3772C56A3274}"/>
              </a:ext>
            </a:extLst>
          </p:cNvPr>
          <p:cNvSpPr/>
          <p:nvPr/>
        </p:nvSpPr>
        <p:spPr>
          <a:xfrm>
            <a:off x="182461" y="1603992"/>
            <a:ext cx="9371725" cy="4408180"/>
          </a:xfrm>
          <a:prstGeom prst="rect">
            <a:avLst/>
          </a:prstGeom>
          <a:solidFill>
            <a:schemeClr val="bg1">
              <a:alpha val="6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Graphic 13" descr="Weights Uneven with solid fill">
            <a:extLst>
              <a:ext uri="{FF2B5EF4-FFF2-40B4-BE49-F238E27FC236}">
                <a16:creationId xmlns:a16="http://schemas.microsoft.com/office/drawing/2014/main" id="{951AD58F-65C5-33D2-A2C0-96C019C6F135}"/>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10234976" y="1626662"/>
            <a:ext cx="1065010" cy="1065010"/>
          </a:xfrm>
          <a:prstGeom prst="rect">
            <a:avLst/>
          </a:prstGeom>
        </p:spPr>
      </p:pic>
      <p:sp>
        <p:nvSpPr>
          <p:cNvPr id="15" name="TextBox 14">
            <a:extLst>
              <a:ext uri="{FF2B5EF4-FFF2-40B4-BE49-F238E27FC236}">
                <a16:creationId xmlns:a16="http://schemas.microsoft.com/office/drawing/2014/main" id="{DC522A80-8C69-6A4E-5565-9A2EA73440A9}"/>
              </a:ext>
            </a:extLst>
          </p:cNvPr>
          <p:cNvSpPr txBox="1"/>
          <p:nvPr/>
        </p:nvSpPr>
        <p:spPr>
          <a:xfrm>
            <a:off x="9981048" y="2904762"/>
            <a:ext cx="1572866" cy="369332"/>
          </a:xfrm>
          <a:prstGeom prst="rect">
            <a:avLst/>
          </a:prstGeom>
          <a:noFill/>
        </p:spPr>
        <p:txBody>
          <a:bodyPr wrap="none" rtlCol="0">
            <a:spAutoFit/>
          </a:bodyPr>
          <a:lstStyle/>
          <a:p>
            <a:r>
              <a:rPr lang="en-GB" b="1" dirty="0"/>
              <a:t>Equity issues</a:t>
            </a:r>
            <a:endParaRPr lang="en-US" dirty="0"/>
          </a:p>
        </p:txBody>
      </p:sp>
      <p:grpSp>
        <p:nvGrpSpPr>
          <p:cNvPr id="3" name="Group 2">
            <a:extLst>
              <a:ext uri="{FF2B5EF4-FFF2-40B4-BE49-F238E27FC236}">
                <a16:creationId xmlns:a16="http://schemas.microsoft.com/office/drawing/2014/main" id="{443B8BEE-54AB-3334-D8AD-856397EC279F}"/>
              </a:ext>
            </a:extLst>
          </p:cNvPr>
          <p:cNvGrpSpPr/>
          <p:nvPr/>
        </p:nvGrpSpPr>
        <p:grpSpPr>
          <a:xfrm>
            <a:off x="9764052" y="3826273"/>
            <a:ext cx="1852238" cy="1485027"/>
            <a:chOff x="10037020" y="3768817"/>
            <a:chExt cx="1852238" cy="1485027"/>
          </a:xfrm>
        </p:grpSpPr>
        <p:pic>
          <p:nvPicPr>
            <p:cNvPr id="5" name="Graphic 4" descr="Plug with solid fill">
              <a:extLst>
                <a:ext uri="{FF2B5EF4-FFF2-40B4-BE49-F238E27FC236}">
                  <a16:creationId xmlns:a16="http://schemas.microsoft.com/office/drawing/2014/main" id="{8E4DDAC8-6BF0-5557-AB29-272F5982C75B}"/>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10407389" y="3768817"/>
              <a:ext cx="1065011" cy="1065011"/>
            </a:xfrm>
            <a:prstGeom prst="rect">
              <a:avLst/>
            </a:prstGeom>
          </p:spPr>
        </p:pic>
        <p:sp>
          <p:nvSpPr>
            <p:cNvPr id="7" name="TextBox 6">
              <a:extLst>
                <a:ext uri="{FF2B5EF4-FFF2-40B4-BE49-F238E27FC236}">
                  <a16:creationId xmlns:a16="http://schemas.microsoft.com/office/drawing/2014/main" id="{FE80983B-E0E4-7F0A-E0E3-9924C719B5F5}"/>
                </a:ext>
              </a:extLst>
            </p:cNvPr>
            <p:cNvSpPr txBox="1"/>
            <p:nvPr/>
          </p:nvSpPr>
          <p:spPr>
            <a:xfrm>
              <a:off x="10037020" y="4884512"/>
              <a:ext cx="1852238" cy="369332"/>
            </a:xfrm>
            <a:prstGeom prst="rect">
              <a:avLst/>
            </a:prstGeom>
            <a:noFill/>
          </p:spPr>
          <p:txBody>
            <a:bodyPr wrap="none" rtlCol="0">
              <a:spAutoFit/>
            </a:bodyPr>
            <a:lstStyle/>
            <a:p>
              <a:r>
                <a:rPr lang="en-GB" b="1" dirty="0"/>
                <a:t>AI technologies</a:t>
              </a:r>
              <a:endParaRPr lang="en-US" dirty="0"/>
            </a:p>
          </p:txBody>
        </p:sp>
      </p:grpSp>
      <p:sp>
        <p:nvSpPr>
          <p:cNvPr id="9" name="Rectangle 8">
            <a:extLst>
              <a:ext uri="{FF2B5EF4-FFF2-40B4-BE49-F238E27FC236}">
                <a16:creationId xmlns:a16="http://schemas.microsoft.com/office/drawing/2014/main" id="{DC0D5762-1407-0F0F-249B-76C15583CBA6}"/>
              </a:ext>
            </a:extLst>
          </p:cNvPr>
          <p:cNvSpPr/>
          <p:nvPr/>
        </p:nvSpPr>
        <p:spPr>
          <a:xfrm>
            <a:off x="9881598" y="1341675"/>
            <a:ext cx="1627976" cy="2083035"/>
          </a:xfrm>
          <a:prstGeom prst="rect">
            <a:avLst/>
          </a:prstGeom>
          <a:solidFill>
            <a:schemeClr val="bg1">
              <a:alpha val="6688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EFAEC3D1-4340-0782-ADFF-68117CD376CD}"/>
              </a:ext>
            </a:extLst>
          </p:cNvPr>
          <p:cNvSpPr txBox="1"/>
          <p:nvPr/>
        </p:nvSpPr>
        <p:spPr>
          <a:xfrm>
            <a:off x="9764052" y="5417334"/>
            <a:ext cx="2582521" cy="646331"/>
          </a:xfrm>
          <a:prstGeom prst="rect">
            <a:avLst/>
          </a:prstGeom>
          <a:noFill/>
        </p:spPr>
        <p:txBody>
          <a:bodyPr wrap="square" rtlCol="0">
            <a:spAutoFit/>
          </a:bodyPr>
          <a:lstStyle/>
          <a:p>
            <a:r>
              <a:rPr lang="en-US" dirty="0"/>
              <a:t>e.g. Hallucinated references </a:t>
            </a:r>
          </a:p>
        </p:txBody>
      </p:sp>
      <p:sp>
        <p:nvSpPr>
          <p:cNvPr id="20" name="Slide Number Placeholder 19">
            <a:extLst>
              <a:ext uri="{FF2B5EF4-FFF2-40B4-BE49-F238E27FC236}">
                <a16:creationId xmlns:a16="http://schemas.microsoft.com/office/drawing/2014/main" id="{68353A7C-D897-BF54-9B76-246ED12E69BB}"/>
              </a:ext>
            </a:extLst>
          </p:cNvPr>
          <p:cNvSpPr>
            <a:spLocks noGrp="1"/>
          </p:cNvSpPr>
          <p:nvPr>
            <p:ph type="sldNum" sz="quarter" idx="12"/>
          </p:nvPr>
        </p:nvSpPr>
        <p:spPr/>
        <p:txBody>
          <a:bodyPr/>
          <a:lstStyle/>
          <a:p>
            <a:fld id="{DC6309F4-03C8-4D48-A124-A9AD6E083FAC}" type="slidenum">
              <a:rPr lang="en-US" smtClean="0"/>
              <a:t>19</a:t>
            </a:fld>
            <a:endParaRPr lang="en-US"/>
          </a:p>
        </p:txBody>
      </p:sp>
    </p:spTree>
    <p:extLst>
      <p:ext uri="{BB962C8B-B14F-4D97-AF65-F5344CB8AC3E}">
        <p14:creationId xmlns:p14="http://schemas.microsoft.com/office/powerpoint/2010/main" val="23309712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E9755-375E-02B1-41BD-E671964FC8A4}"/>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1B7DADA5-FE6C-7CEC-6ED6-8D55E995B30D}"/>
              </a:ext>
            </a:extLst>
          </p:cNvPr>
          <p:cNvGrpSpPr/>
          <p:nvPr/>
        </p:nvGrpSpPr>
        <p:grpSpPr>
          <a:xfrm>
            <a:off x="10704849" y="6564312"/>
            <a:ext cx="1362075" cy="273690"/>
            <a:chOff x="19317" y="2690018"/>
            <a:chExt cx="11784755" cy="2025180"/>
          </a:xfrm>
        </p:grpSpPr>
        <p:pic>
          <p:nvPicPr>
            <p:cNvPr id="12" name="Picture 2">
              <a:extLst>
                <a:ext uri="{FF2B5EF4-FFF2-40B4-BE49-F238E27FC236}">
                  <a16:creationId xmlns:a16="http://schemas.microsoft.com/office/drawing/2014/main" id="{4E6A86E1-684C-94B7-B1C2-2338103DB3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27838DBF-37E6-F8B5-2CB8-5D52C965DF6E}"/>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4" name="Title 1">
            <a:extLst>
              <a:ext uri="{FF2B5EF4-FFF2-40B4-BE49-F238E27FC236}">
                <a16:creationId xmlns:a16="http://schemas.microsoft.com/office/drawing/2014/main" id="{72D584D1-D9C8-6CB0-0921-4581718D3E9F}"/>
              </a:ext>
            </a:extLst>
          </p:cNvPr>
          <p:cNvSpPr txBox="1">
            <a:spLocks/>
          </p:cNvSpPr>
          <p:nvPr/>
        </p:nvSpPr>
        <p:spPr>
          <a:xfrm>
            <a:off x="0" y="-11484"/>
            <a:ext cx="121920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Challenges in Open Science</a:t>
            </a:r>
          </a:p>
        </p:txBody>
      </p:sp>
      <p:grpSp>
        <p:nvGrpSpPr>
          <p:cNvPr id="24" name="Group 23">
            <a:extLst>
              <a:ext uri="{FF2B5EF4-FFF2-40B4-BE49-F238E27FC236}">
                <a16:creationId xmlns:a16="http://schemas.microsoft.com/office/drawing/2014/main" id="{3A2D8519-B003-E0CD-E81D-D904989F0EB7}"/>
              </a:ext>
            </a:extLst>
          </p:cNvPr>
          <p:cNvGrpSpPr/>
          <p:nvPr/>
        </p:nvGrpSpPr>
        <p:grpSpPr>
          <a:xfrm>
            <a:off x="428706" y="1900628"/>
            <a:ext cx="914400" cy="1283732"/>
            <a:chOff x="1078156" y="1850572"/>
            <a:chExt cx="914400" cy="1283732"/>
          </a:xfrm>
        </p:grpSpPr>
        <p:sp>
          <p:nvSpPr>
            <p:cNvPr id="6" name="TextBox 5">
              <a:extLst>
                <a:ext uri="{FF2B5EF4-FFF2-40B4-BE49-F238E27FC236}">
                  <a16:creationId xmlns:a16="http://schemas.microsoft.com/office/drawing/2014/main" id="{316DEA45-73BA-AE09-0833-CDCF0119A181}"/>
                </a:ext>
              </a:extLst>
            </p:cNvPr>
            <p:cNvSpPr txBox="1"/>
            <p:nvPr/>
          </p:nvSpPr>
          <p:spPr>
            <a:xfrm>
              <a:off x="1186542" y="2764972"/>
              <a:ext cx="697627" cy="369332"/>
            </a:xfrm>
            <a:prstGeom prst="rect">
              <a:avLst/>
            </a:prstGeom>
            <a:noFill/>
          </p:spPr>
          <p:txBody>
            <a:bodyPr wrap="none" rtlCol="0">
              <a:spAutoFit/>
            </a:bodyPr>
            <a:lstStyle/>
            <a:p>
              <a:r>
                <a:rPr lang="en-GB" b="1" dirty="0"/>
                <a:t>Time</a:t>
              </a:r>
              <a:endParaRPr lang="en-US" dirty="0"/>
            </a:p>
          </p:txBody>
        </p:sp>
        <p:pic>
          <p:nvPicPr>
            <p:cNvPr id="8" name="Graphic 7" descr="Stopwatch 75% with solid fill">
              <a:extLst>
                <a:ext uri="{FF2B5EF4-FFF2-40B4-BE49-F238E27FC236}">
                  <a16:creationId xmlns:a16="http://schemas.microsoft.com/office/drawing/2014/main" id="{CC1EE401-237B-8081-E24A-86B8C2C530B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78156" y="1850572"/>
              <a:ext cx="914400" cy="914400"/>
            </a:xfrm>
            <a:prstGeom prst="rect">
              <a:avLst/>
            </a:prstGeom>
          </p:spPr>
        </p:pic>
      </p:grpSp>
      <p:grpSp>
        <p:nvGrpSpPr>
          <p:cNvPr id="23" name="Group 22">
            <a:extLst>
              <a:ext uri="{FF2B5EF4-FFF2-40B4-BE49-F238E27FC236}">
                <a16:creationId xmlns:a16="http://schemas.microsoft.com/office/drawing/2014/main" id="{FDB5B869-DD93-DDD7-EFF4-147DE3788121}"/>
              </a:ext>
            </a:extLst>
          </p:cNvPr>
          <p:cNvGrpSpPr/>
          <p:nvPr/>
        </p:nvGrpSpPr>
        <p:grpSpPr>
          <a:xfrm>
            <a:off x="2137849" y="1748273"/>
            <a:ext cx="1275029" cy="1552016"/>
            <a:chOff x="7918976" y="1325563"/>
            <a:chExt cx="1275029" cy="1552016"/>
          </a:xfrm>
        </p:grpSpPr>
        <p:pic>
          <p:nvPicPr>
            <p:cNvPr id="10" name="Graphic 9" descr="Medal with solid fill">
              <a:extLst>
                <a:ext uri="{FF2B5EF4-FFF2-40B4-BE49-F238E27FC236}">
                  <a16:creationId xmlns:a16="http://schemas.microsoft.com/office/drawing/2014/main" id="{653260A2-CEF1-8C16-6A13-E52F8554E53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099611" y="1325563"/>
              <a:ext cx="914400" cy="914400"/>
            </a:xfrm>
            <a:prstGeom prst="rect">
              <a:avLst/>
            </a:prstGeom>
          </p:spPr>
        </p:pic>
        <p:sp>
          <p:nvSpPr>
            <p:cNvPr id="11" name="TextBox 10">
              <a:extLst>
                <a:ext uri="{FF2B5EF4-FFF2-40B4-BE49-F238E27FC236}">
                  <a16:creationId xmlns:a16="http://schemas.microsoft.com/office/drawing/2014/main" id="{8157B334-F5E7-7803-984C-33871CA83EFD}"/>
                </a:ext>
              </a:extLst>
            </p:cNvPr>
            <p:cNvSpPr txBox="1"/>
            <p:nvPr/>
          </p:nvSpPr>
          <p:spPr>
            <a:xfrm>
              <a:off x="7918976" y="2231248"/>
              <a:ext cx="1275029" cy="646331"/>
            </a:xfrm>
            <a:prstGeom prst="rect">
              <a:avLst/>
            </a:prstGeom>
            <a:noFill/>
          </p:spPr>
          <p:txBody>
            <a:bodyPr wrap="none" rtlCol="0">
              <a:spAutoFit/>
            </a:bodyPr>
            <a:lstStyle/>
            <a:p>
              <a:r>
                <a:rPr lang="en-GB" b="1" dirty="0"/>
                <a:t>Incentive </a:t>
              </a:r>
            </a:p>
            <a:p>
              <a:r>
                <a:rPr lang="en-GB" b="1" dirty="0"/>
                <a:t>structures</a:t>
              </a:r>
              <a:endParaRPr lang="en-US" dirty="0"/>
            </a:p>
          </p:txBody>
        </p:sp>
      </p:grpSp>
      <p:grpSp>
        <p:nvGrpSpPr>
          <p:cNvPr id="21" name="Group 20">
            <a:extLst>
              <a:ext uri="{FF2B5EF4-FFF2-40B4-BE49-F238E27FC236}">
                <a16:creationId xmlns:a16="http://schemas.microsoft.com/office/drawing/2014/main" id="{620BAC52-B993-D4D8-974D-6132E807FAD1}"/>
              </a:ext>
            </a:extLst>
          </p:cNvPr>
          <p:cNvGrpSpPr/>
          <p:nvPr/>
        </p:nvGrpSpPr>
        <p:grpSpPr>
          <a:xfrm>
            <a:off x="273665" y="4115884"/>
            <a:ext cx="1394549" cy="1283732"/>
            <a:chOff x="2453820" y="4045388"/>
            <a:chExt cx="1394549" cy="1283732"/>
          </a:xfrm>
        </p:grpSpPr>
        <p:pic>
          <p:nvPicPr>
            <p:cNvPr id="13" name="Graphic 12" descr="Tired face with solid fill with solid fill">
              <a:extLst>
                <a:ext uri="{FF2B5EF4-FFF2-40B4-BE49-F238E27FC236}">
                  <a16:creationId xmlns:a16="http://schemas.microsoft.com/office/drawing/2014/main" id="{5E056CFC-B0EA-492E-0BEF-7CEAEC187E7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693895" y="4045388"/>
              <a:ext cx="914400" cy="914400"/>
            </a:xfrm>
            <a:prstGeom prst="rect">
              <a:avLst/>
            </a:prstGeom>
          </p:spPr>
        </p:pic>
        <p:sp>
          <p:nvSpPr>
            <p:cNvPr id="16" name="TextBox 15">
              <a:extLst>
                <a:ext uri="{FF2B5EF4-FFF2-40B4-BE49-F238E27FC236}">
                  <a16:creationId xmlns:a16="http://schemas.microsoft.com/office/drawing/2014/main" id="{4F59A68E-EC25-7887-2D65-6D1278813145}"/>
                </a:ext>
              </a:extLst>
            </p:cNvPr>
            <p:cNvSpPr txBox="1"/>
            <p:nvPr/>
          </p:nvSpPr>
          <p:spPr>
            <a:xfrm>
              <a:off x="2453820" y="4959788"/>
              <a:ext cx="1394549" cy="369332"/>
            </a:xfrm>
            <a:prstGeom prst="rect">
              <a:avLst/>
            </a:prstGeom>
            <a:noFill/>
          </p:spPr>
          <p:txBody>
            <a:bodyPr wrap="none" rtlCol="0">
              <a:spAutoFit/>
            </a:bodyPr>
            <a:lstStyle/>
            <a:p>
              <a:r>
                <a:rPr lang="en-GB" b="1" dirty="0"/>
                <a:t>Overwhelm</a:t>
              </a:r>
              <a:endParaRPr lang="en-US" dirty="0"/>
            </a:p>
          </p:txBody>
        </p:sp>
      </p:grpSp>
      <p:grpSp>
        <p:nvGrpSpPr>
          <p:cNvPr id="22" name="Group 21">
            <a:extLst>
              <a:ext uri="{FF2B5EF4-FFF2-40B4-BE49-F238E27FC236}">
                <a16:creationId xmlns:a16="http://schemas.microsoft.com/office/drawing/2014/main" id="{3326A152-871A-C179-F741-415A8D83BAB3}"/>
              </a:ext>
            </a:extLst>
          </p:cNvPr>
          <p:cNvGrpSpPr/>
          <p:nvPr/>
        </p:nvGrpSpPr>
        <p:grpSpPr>
          <a:xfrm>
            <a:off x="6031616" y="1732820"/>
            <a:ext cx="1550104" cy="1691078"/>
            <a:chOff x="6912243" y="3565526"/>
            <a:chExt cx="1550104" cy="1691078"/>
          </a:xfrm>
        </p:grpSpPr>
        <p:pic>
          <p:nvPicPr>
            <p:cNvPr id="18" name="Graphic 17" descr="No Touch with solid fill">
              <a:extLst>
                <a:ext uri="{FF2B5EF4-FFF2-40B4-BE49-F238E27FC236}">
                  <a16:creationId xmlns:a16="http://schemas.microsoft.com/office/drawing/2014/main" id="{C35B2575-44CA-4DB8-B835-D1F80ABB59D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185211" y="3565526"/>
              <a:ext cx="914400" cy="914400"/>
            </a:xfrm>
            <a:prstGeom prst="rect">
              <a:avLst/>
            </a:prstGeom>
          </p:spPr>
        </p:pic>
        <p:sp>
          <p:nvSpPr>
            <p:cNvPr id="19" name="TextBox 18">
              <a:extLst>
                <a:ext uri="{FF2B5EF4-FFF2-40B4-BE49-F238E27FC236}">
                  <a16:creationId xmlns:a16="http://schemas.microsoft.com/office/drawing/2014/main" id="{169D954A-1F52-04E1-F7B6-11B2C1863899}"/>
                </a:ext>
              </a:extLst>
            </p:cNvPr>
            <p:cNvSpPr txBox="1"/>
            <p:nvPr/>
          </p:nvSpPr>
          <p:spPr>
            <a:xfrm>
              <a:off x="6912243" y="4610273"/>
              <a:ext cx="1550104" cy="646331"/>
            </a:xfrm>
            <a:prstGeom prst="rect">
              <a:avLst/>
            </a:prstGeom>
            <a:noFill/>
          </p:spPr>
          <p:txBody>
            <a:bodyPr wrap="none" rtlCol="0">
              <a:spAutoFit/>
            </a:bodyPr>
            <a:lstStyle/>
            <a:p>
              <a:r>
                <a:rPr lang="en-GB" b="1" dirty="0"/>
                <a:t>Restrictions/</a:t>
              </a:r>
            </a:p>
            <a:p>
              <a:r>
                <a:rPr lang="en-GB" b="1" dirty="0"/>
                <a:t>inflexibility</a:t>
              </a:r>
              <a:endParaRPr lang="en-US" dirty="0"/>
            </a:p>
          </p:txBody>
        </p:sp>
      </p:grpSp>
      <p:grpSp>
        <p:nvGrpSpPr>
          <p:cNvPr id="28" name="Group 27">
            <a:extLst>
              <a:ext uri="{FF2B5EF4-FFF2-40B4-BE49-F238E27FC236}">
                <a16:creationId xmlns:a16="http://schemas.microsoft.com/office/drawing/2014/main" id="{7B24D4D8-A45A-10D1-4B8B-9B7B3147A5EA}"/>
              </a:ext>
            </a:extLst>
          </p:cNvPr>
          <p:cNvGrpSpPr/>
          <p:nvPr/>
        </p:nvGrpSpPr>
        <p:grpSpPr>
          <a:xfrm>
            <a:off x="4071498" y="1626662"/>
            <a:ext cx="1351168" cy="1809535"/>
            <a:chOff x="5650023" y="1723221"/>
            <a:chExt cx="1351168" cy="1809535"/>
          </a:xfrm>
        </p:grpSpPr>
        <p:pic>
          <p:nvPicPr>
            <p:cNvPr id="26" name="Graphic 25" descr="Normal Distribution with solid fill">
              <a:extLst>
                <a:ext uri="{FF2B5EF4-FFF2-40B4-BE49-F238E27FC236}">
                  <a16:creationId xmlns:a16="http://schemas.microsoft.com/office/drawing/2014/main" id="{D16AC28B-E9DE-0337-1CB6-39DE1E8E2FC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650023" y="1723221"/>
              <a:ext cx="1275669" cy="1275669"/>
            </a:xfrm>
            <a:prstGeom prst="rect">
              <a:avLst/>
            </a:prstGeom>
          </p:spPr>
        </p:pic>
        <p:sp>
          <p:nvSpPr>
            <p:cNvPr id="27" name="TextBox 26">
              <a:extLst>
                <a:ext uri="{FF2B5EF4-FFF2-40B4-BE49-F238E27FC236}">
                  <a16:creationId xmlns:a16="http://schemas.microsoft.com/office/drawing/2014/main" id="{D5EBA839-EF3E-45E2-DD97-E3DD63086840}"/>
                </a:ext>
              </a:extLst>
            </p:cNvPr>
            <p:cNvSpPr txBox="1"/>
            <p:nvPr/>
          </p:nvSpPr>
          <p:spPr>
            <a:xfrm>
              <a:off x="5667171" y="2886425"/>
              <a:ext cx="1334020" cy="646331"/>
            </a:xfrm>
            <a:prstGeom prst="rect">
              <a:avLst/>
            </a:prstGeom>
            <a:noFill/>
          </p:spPr>
          <p:txBody>
            <a:bodyPr wrap="none" rtlCol="0">
              <a:spAutoFit/>
            </a:bodyPr>
            <a:lstStyle/>
            <a:p>
              <a:pPr algn="ctr"/>
              <a:r>
                <a:rPr lang="en-GB" b="1" dirty="0"/>
                <a:t>Norms and</a:t>
              </a:r>
            </a:p>
            <a:p>
              <a:pPr algn="ctr"/>
              <a:r>
                <a:rPr lang="en-GB" b="1" dirty="0"/>
                <a:t>culture</a:t>
              </a:r>
              <a:endParaRPr lang="en-US" dirty="0"/>
            </a:p>
          </p:txBody>
        </p:sp>
      </p:grpSp>
      <p:grpSp>
        <p:nvGrpSpPr>
          <p:cNvPr id="49" name="Group 48">
            <a:extLst>
              <a:ext uri="{FF2B5EF4-FFF2-40B4-BE49-F238E27FC236}">
                <a16:creationId xmlns:a16="http://schemas.microsoft.com/office/drawing/2014/main" id="{CE3B2DEA-B66B-4EC2-B3EF-980CC1A52A4E}"/>
              </a:ext>
            </a:extLst>
          </p:cNvPr>
          <p:cNvGrpSpPr/>
          <p:nvPr/>
        </p:nvGrpSpPr>
        <p:grpSpPr>
          <a:xfrm>
            <a:off x="2235120" y="3720093"/>
            <a:ext cx="1070678" cy="1922873"/>
            <a:chOff x="5056184" y="4084711"/>
            <a:chExt cx="1070678" cy="1922873"/>
          </a:xfrm>
        </p:grpSpPr>
        <p:pic>
          <p:nvPicPr>
            <p:cNvPr id="30" name="Graphic 29" descr="Books with solid fill">
              <a:extLst>
                <a:ext uri="{FF2B5EF4-FFF2-40B4-BE49-F238E27FC236}">
                  <a16:creationId xmlns:a16="http://schemas.microsoft.com/office/drawing/2014/main" id="{8AD3D249-3CC2-A014-CF12-B62B9789155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128721" y="4084711"/>
              <a:ext cx="914400" cy="914400"/>
            </a:xfrm>
            <a:prstGeom prst="rect">
              <a:avLst/>
            </a:prstGeom>
          </p:spPr>
        </p:pic>
        <p:sp>
          <p:nvSpPr>
            <p:cNvPr id="31" name="TextBox 30">
              <a:extLst>
                <a:ext uri="{FF2B5EF4-FFF2-40B4-BE49-F238E27FC236}">
                  <a16:creationId xmlns:a16="http://schemas.microsoft.com/office/drawing/2014/main" id="{4DD71AB0-FCAF-22AB-D841-6161550C10FC}"/>
                </a:ext>
              </a:extLst>
            </p:cNvPr>
            <p:cNvSpPr txBox="1"/>
            <p:nvPr/>
          </p:nvSpPr>
          <p:spPr>
            <a:xfrm>
              <a:off x="5056184" y="5084254"/>
              <a:ext cx="1070678" cy="923330"/>
            </a:xfrm>
            <a:prstGeom prst="rect">
              <a:avLst/>
            </a:prstGeom>
            <a:noFill/>
          </p:spPr>
          <p:txBody>
            <a:bodyPr wrap="none" rtlCol="0">
              <a:spAutoFit/>
            </a:bodyPr>
            <a:lstStyle/>
            <a:p>
              <a:r>
                <a:rPr lang="en-GB" b="1" dirty="0"/>
                <a:t>Lack of </a:t>
              </a:r>
            </a:p>
            <a:p>
              <a:r>
                <a:rPr lang="en-GB" b="1" dirty="0"/>
                <a:t>training/</a:t>
              </a:r>
            </a:p>
            <a:p>
              <a:r>
                <a:rPr lang="en-GB" b="1" dirty="0"/>
                <a:t>skills</a:t>
              </a:r>
              <a:endParaRPr lang="en-US" dirty="0"/>
            </a:p>
          </p:txBody>
        </p:sp>
      </p:grpSp>
      <p:grpSp>
        <p:nvGrpSpPr>
          <p:cNvPr id="50" name="Group 49">
            <a:extLst>
              <a:ext uri="{FF2B5EF4-FFF2-40B4-BE49-F238E27FC236}">
                <a16:creationId xmlns:a16="http://schemas.microsoft.com/office/drawing/2014/main" id="{981937DE-D282-DA0E-C671-E36573C9DFFA}"/>
              </a:ext>
            </a:extLst>
          </p:cNvPr>
          <p:cNvGrpSpPr/>
          <p:nvPr/>
        </p:nvGrpSpPr>
        <p:grpSpPr>
          <a:xfrm>
            <a:off x="4214225" y="3827508"/>
            <a:ext cx="1292155" cy="1572108"/>
            <a:chOff x="8048654" y="1809106"/>
            <a:chExt cx="1292155" cy="1572108"/>
          </a:xfrm>
        </p:grpSpPr>
        <p:sp>
          <p:nvSpPr>
            <p:cNvPr id="34" name="TextBox 33">
              <a:extLst>
                <a:ext uri="{FF2B5EF4-FFF2-40B4-BE49-F238E27FC236}">
                  <a16:creationId xmlns:a16="http://schemas.microsoft.com/office/drawing/2014/main" id="{31774EBF-60F1-7811-0780-092824BF9806}"/>
                </a:ext>
              </a:extLst>
            </p:cNvPr>
            <p:cNvSpPr txBox="1"/>
            <p:nvPr/>
          </p:nvSpPr>
          <p:spPr>
            <a:xfrm>
              <a:off x="8065140" y="2734883"/>
              <a:ext cx="1275669" cy="646331"/>
            </a:xfrm>
            <a:prstGeom prst="rect">
              <a:avLst/>
            </a:prstGeom>
            <a:noFill/>
          </p:spPr>
          <p:txBody>
            <a:bodyPr wrap="square" rtlCol="0">
              <a:spAutoFit/>
            </a:bodyPr>
            <a:lstStyle/>
            <a:p>
              <a:r>
                <a:rPr lang="en-GB" b="1" dirty="0"/>
                <a:t>Lack of support</a:t>
              </a:r>
              <a:endParaRPr lang="en-US" dirty="0"/>
            </a:p>
          </p:txBody>
        </p:sp>
        <p:pic>
          <p:nvPicPr>
            <p:cNvPr id="36" name="Graphic 35" descr="Care with solid fill">
              <a:extLst>
                <a:ext uri="{FF2B5EF4-FFF2-40B4-BE49-F238E27FC236}">
                  <a16:creationId xmlns:a16="http://schemas.microsoft.com/office/drawing/2014/main" id="{0BD01166-656F-EBE0-D7FF-8C89CDA17527}"/>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8048654" y="1809106"/>
              <a:ext cx="914400" cy="914400"/>
            </a:xfrm>
            <a:prstGeom prst="rect">
              <a:avLst/>
            </a:prstGeom>
          </p:spPr>
        </p:pic>
      </p:grpSp>
      <p:grpSp>
        <p:nvGrpSpPr>
          <p:cNvPr id="52" name="Group 51">
            <a:extLst>
              <a:ext uri="{FF2B5EF4-FFF2-40B4-BE49-F238E27FC236}">
                <a16:creationId xmlns:a16="http://schemas.microsoft.com/office/drawing/2014/main" id="{EBF913F4-DCC9-6AFE-E10B-BB944D49CA3C}"/>
              </a:ext>
            </a:extLst>
          </p:cNvPr>
          <p:cNvGrpSpPr/>
          <p:nvPr/>
        </p:nvGrpSpPr>
        <p:grpSpPr>
          <a:xfrm>
            <a:off x="8100902" y="1639457"/>
            <a:ext cx="1360964" cy="1795388"/>
            <a:chOff x="10293741" y="1585825"/>
            <a:chExt cx="1360964" cy="1795388"/>
          </a:xfrm>
        </p:grpSpPr>
        <p:pic>
          <p:nvPicPr>
            <p:cNvPr id="39" name="Graphic 38" descr="Spinning Plates with solid fill">
              <a:extLst>
                <a:ext uri="{FF2B5EF4-FFF2-40B4-BE49-F238E27FC236}">
                  <a16:creationId xmlns:a16="http://schemas.microsoft.com/office/drawing/2014/main" id="{13E8000E-39A4-364E-F269-FCD94B60EE2D}"/>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293741" y="1585825"/>
              <a:ext cx="1137681" cy="1137681"/>
            </a:xfrm>
            <a:prstGeom prst="rect">
              <a:avLst/>
            </a:prstGeom>
          </p:spPr>
        </p:pic>
        <p:sp>
          <p:nvSpPr>
            <p:cNvPr id="40" name="TextBox 39">
              <a:extLst>
                <a:ext uri="{FF2B5EF4-FFF2-40B4-BE49-F238E27FC236}">
                  <a16:creationId xmlns:a16="http://schemas.microsoft.com/office/drawing/2014/main" id="{E6B267DC-6CC4-92BB-1680-5507B696D3AE}"/>
                </a:ext>
              </a:extLst>
            </p:cNvPr>
            <p:cNvSpPr txBox="1"/>
            <p:nvPr/>
          </p:nvSpPr>
          <p:spPr>
            <a:xfrm>
              <a:off x="10293741" y="2734882"/>
              <a:ext cx="1360964" cy="646331"/>
            </a:xfrm>
            <a:prstGeom prst="rect">
              <a:avLst/>
            </a:prstGeom>
            <a:noFill/>
          </p:spPr>
          <p:txBody>
            <a:bodyPr wrap="square" rtlCol="0">
              <a:spAutoFit/>
            </a:bodyPr>
            <a:lstStyle/>
            <a:p>
              <a:r>
                <a:rPr lang="en-GB" b="1" dirty="0"/>
                <a:t>Additional workload</a:t>
              </a:r>
              <a:endParaRPr lang="en-US" dirty="0"/>
            </a:p>
          </p:txBody>
        </p:sp>
      </p:grpSp>
      <p:grpSp>
        <p:nvGrpSpPr>
          <p:cNvPr id="51" name="Group 50">
            <a:extLst>
              <a:ext uri="{FF2B5EF4-FFF2-40B4-BE49-F238E27FC236}">
                <a16:creationId xmlns:a16="http://schemas.microsoft.com/office/drawing/2014/main" id="{21DA752B-4EE5-71E8-0096-1BBE10AD8C09}"/>
              </a:ext>
            </a:extLst>
          </p:cNvPr>
          <p:cNvGrpSpPr/>
          <p:nvPr/>
        </p:nvGrpSpPr>
        <p:grpSpPr>
          <a:xfrm>
            <a:off x="6136914" y="3728834"/>
            <a:ext cx="1237518" cy="1688500"/>
            <a:chOff x="7032029" y="3911920"/>
            <a:chExt cx="1237518" cy="1688500"/>
          </a:xfrm>
        </p:grpSpPr>
        <p:sp>
          <p:nvSpPr>
            <p:cNvPr id="37" name="TextBox 36">
              <a:extLst>
                <a:ext uri="{FF2B5EF4-FFF2-40B4-BE49-F238E27FC236}">
                  <a16:creationId xmlns:a16="http://schemas.microsoft.com/office/drawing/2014/main" id="{71DD3A26-0C3C-DA1A-5C68-8960787B70BD}"/>
                </a:ext>
              </a:extLst>
            </p:cNvPr>
            <p:cNvSpPr txBox="1"/>
            <p:nvPr/>
          </p:nvSpPr>
          <p:spPr>
            <a:xfrm>
              <a:off x="7032029" y="4954089"/>
              <a:ext cx="1237518" cy="646331"/>
            </a:xfrm>
            <a:prstGeom prst="rect">
              <a:avLst/>
            </a:prstGeom>
            <a:noFill/>
          </p:spPr>
          <p:txBody>
            <a:bodyPr wrap="none" rtlCol="0">
              <a:spAutoFit/>
            </a:bodyPr>
            <a:lstStyle/>
            <a:p>
              <a:r>
                <a:rPr lang="en-GB" b="1" dirty="0"/>
                <a:t>Limited </a:t>
              </a:r>
            </a:p>
            <a:p>
              <a:r>
                <a:rPr lang="en-GB" b="1" dirty="0"/>
                <a:t>resources</a:t>
              </a:r>
              <a:endParaRPr lang="en-US" dirty="0"/>
            </a:p>
          </p:txBody>
        </p:sp>
        <p:pic>
          <p:nvPicPr>
            <p:cNvPr id="47" name="Graphic 46" descr="Coins with solid fill">
              <a:extLst>
                <a:ext uri="{FF2B5EF4-FFF2-40B4-BE49-F238E27FC236}">
                  <a16:creationId xmlns:a16="http://schemas.microsoft.com/office/drawing/2014/main" id="{5CC9A1E9-4E48-5827-A36F-8A5C629F9678}"/>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043832" y="3911920"/>
              <a:ext cx="914400" cy="914400"/>
            </a:xfrm>
            <a:prstGeom prst="rect">
              <a:avLst/>
            </a:prstGeom>
          </p:spPr>
        </p:pic>
      </p:grpSp>
      <p:grpSp>
        <p:nvGrpSpPr>
          <p:cNvPr id="56" name="Group 55">
            <a:extLst>
              <a:ext uri="{FF2B5EF4-FFF2-40B4-BE49-F238E27FC236}">
                <a16:creationId xmlns:a16="http://schemas.microsoft.com/office/drawing/2014/main" id="{EAA05E33-9393-D699-3BCA-EFBBFB163452}"/>
              </a:ext>
            </a:extLst>
          </p:cNvPr>
          <p:cNvGrpSpPr/>
          <p:nvPr/>
        </p:nvGrpSpPr>
        <p:grpSpPr>
          <a:xfrm>
            <a:off x="9764052" y="3826273"/>
            <a:ext cx="1852238" cy="1485027"/>
            <a:chOff x="10037020" y="3768817"/>
            <a:chExt cx="1852238" cy="1485027"/>
          </a:xfrm>
        </p:grpSpPr>
        <p:pic>
          <p:nvPicPr>
            <p:cNvPr id="54" name="Graphic 53" descr="Plug with solid fill">
              <a:extLst>
                <a:ext uri="{FF2B5EF4-FFF2-40B4-BE49-F238E27FC236}">
                  <a16:creationId xmlns:a16="http://schemas.microsoft.com/office/drawing/2014/main" id="{35D208E9-D977-BB50-FA00-B38E3F1EA5AC}"/>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0407389" y="3768817"/>
              <a:ext cx="1065011" cy="1065011"/>
            </a:xfrm>
            <a:prstGeom prst="rect">
              <a:avLst/>
            </a:prstGeom>
          </p:spPr>
        </p:pic>
        <p:sp>
          <p:nvSpPr>
            <p:cNvPr id="55" name="TextBox 54">
              <a:extLst>
                <a:ext uri="{FF2B5EF4-FFF2-40B4-BE49-F238E27FC236}">
                  <a16:creationId xmlns:a16="http://schemas.microsoft.com/office/drawing/2014/main" id="{FDD0D1E1-782B-575C-C4CB-D3601DA48BAB}"/>
                </a:ext>
              </a:extLst>
            </p:cNvPr>
            <p:cNvSpPr txBox="1"/>
            <p:nvPr/>
          </p:nvSpPr>
          <p:spPr>
            <a:xfrm>
              <a:off x="10037020" y="4884512"/>
              <a:ext cx="1852238" cy="369332"/>
            </a:xfrm>
            <a:prstGeom prst="rect">
              <a:avLst/>
            </a:prstGeom>
            <a:noFill/>
          </p:spPr>
          <p:txBody>
            <a:bodyPr wrap="none" rtlCol="0">
              <a:spAutoFit/>
            </a:bodyPr>
            <a:lstStyle/>
            <a:p>
              <a:r>
                <a:rPr lang="en-GB" b="1" dirty="0"/>
                <a:t>AI technologies</a:t>
              </a:r>
              <a:endParaRPr lang="en-US" dirty="0"/>
            </a:p>
          </p:txBody>
        </p:sp>
      </p:grpSp>
      <p:pic>
        <p:nvPicPr>
          <p:cNvPr id="58" name="Graphic 57" descr="Weights Uneven with solid fill">
            <a:extLst>
              <a:ext uri="{FF2B5EF4-FFF2-40B4-BE49-F238E27FC236}">
                <a16:creationId xmlns:a16="http://schemas.microsoft.com/office/drawing/2014/main" id="{A202D94B-20B5-AF32-BFF3-3B1EF5D687E6}"/>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10234976" y="1626662"/>
            <a:ext cx="1065010" cy="1065010"/>
          </a:xfrm>
          <a:prstGeom prst="rect">
            <a:avLst/>
          </a:prstGeom>
        </p:spPr>
      </p:pic>
      <p:sp>
        <p:nvSpPr>
          <p:cNvPr id="59" name="TextBox 58">
            <a:extLst>
              <a:ext uri="{FF2B5EF4-FFF2-40B4-BE49-F238E27FC236}">
                <a16:creationId xmlns:a16="http://schemas.microsoft.com/office/drawing/2014/main" id="{87EADF94-3DCF-5454-03C3-D5AA81A5BD11}"/>
              </a:ext>
            </a:extLst>
          </p:cNvPr>
          <p:cNvSpPr txBox="1"/>
          <p:nvPr/>
        </p:nvSpPr>
        <p:spPr>
          <a:xfrm>
            <a:off x="9981048" y="2904762"/>
            <a:ext cx="1572866" cy="369332"/>
          </a:xfrm>
          <a:prstGeom prst="rect">
            <a:avLst/>
          </a:prstGeom>
          <a:noFill/>
        </p:spPr>
        <p:txBody>
          <a:bodyPr wrap="none" rtlCol="0">
            <a:spAutoFit/>
          </a:bodyPr>
          <a:lstStyle/>
          <a:p>
            <a:r>
              <a:rPr lang="en-GB" b="1" dirty="0"/>
              <a:t>Equity issues</a:t>
            </a:r>
            <a:endParaRPr lang="en-US" dirty="0"/>
          </a:p>
        </p:txBody>
      </p:sp>
      <p:grpSp>
        <p:nvGrpSpPr>
          <p:cNvPr id="2" name="Group 1">
            <a:extLst>
              <a:ext uri="{FF2B5EF4-FFF2-40B4-BE49-F238E27FC236}">
                <a16:creationId xmlns:a16="http://schemas.microsoft.com/office/drawing/2014/main" id="{12F4BEC8-B624-009C-3836-B9227C36038A}"/>
              </a:ext>
            </a:extLst>
          </p:cNvPr>
          <p:cNvGrpSpPr/>
          <p:nvPr/>
        </p:nvGrpSpPr>
        <p:grpSpPr>
          <a:xfrm>
            <a:off x="8212254" y="3731986"/>
            <a:ext cx="922047" cy="1667630"/>
            <a:chOff x="10517023" y="4046616"/>
            <a:chExt cx="922047" cy="1667630"/>
          </a:xfrm>
        </p:grpSpPr>
        <p:pic>
          <p:nvPicPr>
            <p:cNvPr id="3" name="Graphic 2" descr="Briefcase with solid fill">
              <a:extLst>
                <a:ext uri="{FF2B5EF4-FFF2-40B4-BE49-F238E27FC236}">
                  <a16:creationId xmlns:a16="http://schemas.microsoft.com/office/drawing/2014/main" id="{AFCD5EFF-195A-BB92-F027-D6489628F2BF}"/>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10517023" y="4046616"/>
              <a:ext cx="914400" cy="914400"/>
            </a:xfrm>
            <a:prstGeom prst="rect">
              <a:avLst/>
            </a:prstGeom>
          </p:spPr>
        </p:pic>
        <p:sp>
          <p:nvSpPr>
            <p:cNvPr id="5" name="TextBox 4">
              <a:extLst>
                <a:ext uri="{FF2B5EF4-FFF2-40B4-BE49-F238E27FC236}">
                  <a16:creationId xmlns:a16="http://schemas.microsoft.com/office/drawing/2014/main" id="{60A0F4CF-385B-F372-243F-57EE55009EB4}"/>
                </a:ext>
              </a:extLst>
            </p:cNvPr>
            <p:cNvSpPr txBox="1"/>
            <p:nvPr/>
          </p:nvSpPr>
          <p:spPr>
            <a:xfrm>
              <a:off x="10517023" y="5067915"/>
              <a:ext cx="922047" cy="646331"/>
            </a:xfrm>
            <a:prstGeom prst="rect">
              <a:avLst/>
            </a:prstGeom>
            <a:noFill/>
          </p:spPr>
          <p:txBody>
            <a:bodyPr wrap="none" rtlCol="0">
              <a:spAutoFit/>
            </a:bodyPr>
            <a:lstStyle/>
            <a:p>
              <a:r>
                <a:rPr lang="en-GB" b="1" dirty="0"/>
                <a:t>Career</a:t>
              </a:r>
            </a:p>
            <a:p>
              <a:r>
                <a:rPr lang="en-GB" b="1" dirty="0"/>
                <a:t>impact</a:t>
              </a:r>
              <a:endParaRPr lang="en-US" dirty="0"/>
            </a:p>
          </p:txBody>
        </p:sp>
      </p:grpSp>
      <p:sp>
        <p:nvSpPr>
          <p:cNvPr id="7" name="Slide Number Placeholder 6">
            <a:extLst>
              <a:ext uri="{FF2B5EF4-FFF2-40B4-BE49-F238E27FC236}">
                <a16:creationId xmlns:a16="http://schemas.microsoft.com/office/drawing/2014/main" id="{3888267C-681C-2B27-7CFD-955C914AE287}"/>
              </a:ext>
            </a:extLst>
          </p:cNvPr>
          <p:cNvSpPr>
            <a:spLocks noGrp="1"/>
          </p:cNvSpPr>
          <p:nvPr>
            <p:ph type="sldNum" sz="quarter" idx="12"/>
          </p:nvPr>
        </p:nvSpPr>
        <p:spPr/>
        <p:txBody>
          <a:bodyPr/>
          <a:lstStyle/>
          <a:p>
            <a:fld id="{DC6309F4-03C8-4D48-A124-A9AD6E083FAC}" type="slidenum">
              <a:rPr lang="en-US" smtClean="0"/>
              <a:t>20</a:t>
            </a:fld>
            <a:endParaRPr lang="en-US"/>
          </a:p>
        </p:txBody>
      </p:sp>
      <p:sp>
        <p:nvSpPr>
          <p:cNvPr id="15" name="TextBox 14">
            <a:extLst>
              <a:ext uri="{FF2B5EF4-FFF2-40B4-BE49-F238E27FC236}">
                <a16:creationId xmlns:a16="http://schemas.microsoft.com/office/drawing/2014/main" id="{E271EA92-AC5F-31CA-E2A9-47067BC214ED}"/>
              </a:ext>
            </a:extLst>
          </p:cNvPr>
          <p:cNvSpPr txBox="1"/>
          <p:nvPr/>
        </p:nvSpPr>
        <p:spPr>
          <a:xfrm>
            <a:off x="506120" y="6352143"/>
            <a:ext cx="3263457" cy="369332"/>
          </a:xfrm>
          <a:prstGeom prst="rect">
            <a:avLst/>
          </a:prstGeom>
          <a:solidFill>
            <a:schemeClr val="bg1">
              <a:lumMod val="65000"/>
              <a:alpha val="43228"/>
            </a:schemeClr>
          </a:solidFill>
        </p:spPr>
        <p:txBody>
          <a:bodyPr wrap="none" rtlCol="0">
            <a:spAutoFit/>
          </a:bodyPr>
          <a:lstStyle/>
          <a:p>
            <a:r>
              <a:rPr lang="en-US" dirty="0"/>
              <a:t>See more: </a:t>
            </a:r>
            <a:r>
              <a:rPr lang="en-US" dirty="0">
                <a:hlinkClick r:id="rId17"/>
              </a:rPr>
              <a:t>Gownaris et al. 2022</a:t>
            </a:r>
            <a:endParaRPr lang="en-US" dirty="0"/>
          </a:p>
        </p:txBody>
      </p:sp>
    </p:spTree>
    <p:extLst>
      <p:ext uri="{BB962C8B-B14F-4D97-AF65-F5344CB8AC3E}">
        <p14:creationId xmlns:p14="http://schemas.microsoft.com/office/powerpoint/2010/main" val="3917503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78E5B-1254-9FD7-4EF8-D1C249294049}"/>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6818DF42-B40D-450C-C044-EDC189757248}"/>
              </a:ext>
            </a:extLst>
          </p:cNvPr>
          <p:cNvPicPr>
            <a:picLocks noChangeAspect="1"/>
          </p:cNvPicPr>
          <p:nvPr/>
        </p:nvPicPr>
        <p:blipFill>
          <a:blip r:embed="rId3"/>
          <a:stretch>
            <a:fillRect/>
          </a:stretch>
        </p:blipFill>
        <p:spPr>
          <a:xfrm>
            <a:off x="0" y="628862"/>
            <a:ext cx="6202537" cy="2026397"/>
          </a:xfrm>
          <a:prstGeom prst="rect">
            <a:avLst/>
          </a:prstGeom>
        </p:spPr>
      </p:pic>
      <p:grpSp>
        <p:nvGrpSpPr>
          <p:cNvPr id="12" name="Group 11">
            <a:extLst>
              <a:ext uri="{FF2B5EF4-FFF2-40B4-BE49-F238E27FC236}">
                <a16:creationId xmlns:a16="http://schemas.microsoft.com/office/drawing/2014/main" id="{5AB45B14-1DE4-90D9-FDE0-F974429CA5EC}"/>
              </a:ext>
            </a:extLst>
          </p:cNvPr>
          <p:cNvGrpSpPr/>
          <p:nvPr/>
        </p:nvGrpSpPr>
        <p:grpSpPr>
          <a:xfrm>
            <a:off x="10704849" y="6564312"/>
            <a:ext cx="1362075" cy="273690"/>
            <a:chOff x="19317" y="2690018"/>
            <a:chExt cx="11784755" cy="2025180"/>
          </a:xfrm>
        </p:grpSpPr>
        <p:pic>
          <p:nvPicPr>
            <p:cNvPr id="14" name="Picture 2">
              <a:extLst>
                <a:ext uri="{FF2B5EF4-FFF2-40B4-BE49-F238E27FC236}">
                  <a16:creationId xmlns:a16="http://schemas.microsoft.com/office/drawing/2014/main" id="{C1B71B18-F59D-5C62-E290-3D87D99C49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69BCE72F-FC91-774C-FAB2-956B0CA75FBF}"/>
                </a:ext>
              </a:extLst>
            </p:cNvPr>
            <p:cNvPicPr>
              <a:picLocks noChangeAspect="1"/>
            </p:cNvPicPr>
            <p:nvPr/>
          </p:nvPicPr>
          <p:blipFill>
            <a:blip r:embed="rId5"/>
            <a:stretch>
              <a:fillRect/>
            </a:stretch>
          </p:blipFill>
          <p:spPr>
            <a:xfrm>
              <a:off x="5728531" y="2690018"/>
              <a:ext cx="6075541" cy="2025180"/>
            </a:xfrm>
            <a:prstGeom prst="rect">
              <a:avLst/>
            </a:prstGeom>
          </p:spPr>
        </p:pic>
      </p:grpSp>
      <p:sp>
        <p:nvSpPr>
          <p:cNvPr id="4" name="Title 1">
            <a:extLst>
              <a:ext uri="{FF2B5EF4-FFF2-40B4-BE49-F238E27FC236}">
                <a16:creationId xmlns:a16="http://schemas.microsoft.com/office/drawing/2014/main" id="{2E082851-98E9-C2CA-B0C1-899A07D97486}"/>
              </a:ext>
            </a:extLst>
          </p:cNvPr>
          <p:cNvSpPr txBox="1">
            <a:spLocks/>
          </p:cNvSpPr>
          <p:nvPr/>
        </p:nvSpPr>
        <p:spPr>
          <a:xfrm>
            <a:off x="0" y="1"/>
            <a:ext cx="12192000" cy="774700"/>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Challenges in Open Science</a:t>
            </a:r>
          </a:p>
        </p:txBody>
      </p:sp>
      <p:sp>
        <p:nvSpPr>
          <p:cNvPr id="10" name="Slide Number Placeholder 9">
            <a:extLst>
              <a:ext uri="{FF2B5EF4-FFF2-40B4-BE49-F238E27FC236}">
                <a16:creationId xmlns:a16="http://schemas.microsoft.com/office/drawing/2014/main" id="{FF5A3543-3472-0EE6-51D4-027BF9F11AC3}"/>
              </a:ext>
            </a:extLst>
          </p:cNvPr>
          <p:cNvSpPr>
            <a:spLocks noGrp="1"/>
          </p:cNvSpPr>
          <p:nvPr>
            <p:ph type="sldNum" sz="quarter" idx="12"/>
          </p:nvPr>
        </p:nvSpPr>
        <p:spPr>
          <a:xfrm>
            <a:off x="10464800" y="6356350"/>
            <a:ext cx="889000" cy="365125"/>
          </a:xfrm>
        </p:spPr>
        <p:txBody>
          <a:bodyPr/>
          <a:lstStyle/>
          <a:p>
            <a:fld id="{DC6309F4-03C8-4D48-A124-A9AD6E083FAC}" type="slidenum">
              <a:rPr lang="en-US" smtClean="0"/>
              <a:t>21</a:t>
            </a:fld>
            <a:endParaRPr lang="en-US"/>
          </a:p>
        </p:txBody>
      </p:sp>
      <p:pic>
        <p:nvPicPr>
          <p:cNvPr id="16" name="Picture 15">
            <a:extLst>
              <a:ext uri="{FF2B5EF4-FFF2-40B4-BE49-F238E27FC236}">
                <a16:creationId xmlns:a16="http://schemas.microsoft.com/office/drawing/2014/main" id="{791C8144-2535-74EB-505A-78ACE3FAF0A3}"/>
              </a:ext>
            </a:extLst>
          </p:cNvPr>
          <p:cNvPicPr>
            <a:picLocks noChangeAspect="1"/>
          </p:cNvPicPr>
          <p:nvPr/>
        </p:nvPicPr>
        <p:blipFill>
          <a:blip r:embed="rId6"/>
          <a:stretch>
            <a:fillRect/>
          </a:stretch>
        </p:blipFill>
        <p:spPr>
          <a:xfrm>
            <a:off x="7498629" y="101216"/>
            <a:ext cx="4636972" cy="1721917"/>
          </a:xfrm>
          <a:prstGeom prst="rect">
            <a:avLst/>
          </a:prstGeom>
        </p:spPr>
      </p:pic>
      <p:pic>
        <p:nvPicPr>
          <p:cNvPr id="19" name="Picture 18">
            <a:extLst>
              <a:ext uri="{FF2B5EF4-FFF2-40B4-BE49-F238E27FC236}">
                <a16:creationId xmlns:a16="http://schemas.microsoft.com/office/drawing/2014/main" id="{B19D4295-80DD-CF87-754A-4E1C471A4CCB}"/>
              </a:ext>
            </a:extLst>
          </p:cNvPr>
          <p:cNvPicPr>
            <a:picLocks noChangeAspect="1"/>
          </p:cNvPicPr>
          <p:nvPr/>
        </p:nvPicPr>
        <p:blipFill>
          <a:blip r:embed="rId7"/>
          <a:stretch>
            <a:fillRect/>
          </a:stretch>
        </p:blipFill>
        <p:spPr>
          <a:xfrm>
            <a:off x="3236641" y="1283687"/>
            <a:ext cx="4261988" cy="2136738"/>
          </a:xfrm>
          <a:prstGeom prst="rect">
            <a:avLst/>
          </a:prstGeom>
        </p:spPr>
      </p:pic>
      <p:pic>
        <p:nvPicPr>
          <p:cNvPr id="26" name="Picture 25">
            <a:extLst>
              <a:ext uri="{FF2B5EF4-FFF2-40B4-BE49-F238E27FC236}">
                <a16:creationId xmlns:a16="http://schemas.microsoft.com/office/drawing/2014/main" id="{96E18BDF-6BD7-54B7-DBCD-0B08D9C4C435}"/>
              </a:ext>
            </a:extLst>
          </p:cNvPr>
          <p:cNvPicPr>
            <a:picLocks noChangeAspect="1"/>
          </p:cNvPicPr>
          <p:nvPr/>
        </p:nvPicPr>
        <p:blipFill>
          <a:blip r:embed="rId8"/>
          <a:stretch>
            <a:fillRect/>
          </a:stretch>
        </p:blipFill>
        <p:spPr>
          <a:xfrm>
            <a:off x="125076" y="4316978"/>
            <a:ext cx="4021397" cy="2497703"/>
          </a:xfrm>
          <a:prstGeom prst="rect">
            <a:avLst/>
          </a:prstGeom>
        </p:spPr>
      </p:pic>
      <p:pic>
        <p:nvPicPr>
          <p:cNvPr id="27" name="Picture 26">
            <a:extLst>
              <a:ext uri="{FF2B5EF4-FFF2-40B4-BE49-F238E27FC236}">
                <a16:creationId xmlns:a16="http://schemas.microsoft.com/office/drawing/2014/main" id="{B10B3CA2-967E-5160-FADD-E6CA5A5DE12B}"/>
              </a:ext>
            </a:extLst>
          </p:cNvPr>
          <p:cNvPicPr>
            <a:picLocks noChangeAspect="1"/>
          </p:cNvPicPr>
          <p:nvPr/>
        </p:nvPicPr>
        <p:blipFill>
          <a:blip r:embed="rId9"/>
          <a:stretch>
            <a:fillRect/>
          </a:stretch>
        </p:blipFill>
        <p:spPr>
          <a:xfrm>
            <a:off x="66281" y="2845607"/>
            <a:ext cx="4610778" cy="1362439"/>
          </a:xfrm>
          <a:prstGeom prst="rect">
            <a:avLst/>
          </a:prstGeom>
        </p:spPr>
      </p:pic>
      <p:pic>
        <p:nvPicPr>
          <p:cNvPr id="28" name="Picture 27">
            <a:extLst>
              <a:ext uri="{FF2B5EF4-FFF2-40B4-BE49-F238E27FC236}">
                <a16:creationId xmlns:a16="http://schemas.microsoft.com/office/drawing/2014/main" id="{5B997DE0-8D83-60CD-62EF-92D30240A50C}"/>
              </a:ext>
            </a:extLst>
          </p:cNvPr>
          <p:cNvPicPr>
            <a:picLocks noChangeAspect="1"/>
          </p:cNvPicPr>
          <p:nvPr/>
        </p:nvPicPr>
        <p:blipFill>
          <a:blip r:embed="rId10"/>
          <a:stretch>
            <a:fillRect/>
          </a:stretch>
        </p:blipFill>
        <p:spPr>
          <a:xfrm>
            <a:off x="4157390" y="5680530"/>
            <a:ext cx="4995503" cy="1137719"/>
          </a:xfrm>
          <a:prstGeom prst="rect">
            <a:avLst/>
          </a:prstGeom>
        </p:spPr>
      </p:pic>
      <p:pic>
        <p:nvPicPr>
          <p:cNvPr id="2" name="Picture 1">
            <a:extLst>
              <a:ext uri="{FF2B5EF4-FFF2-40B4-BE49-F238E27FC236}">
                <a16:creationId xmlns:a16="http://schemas.microsoft.com/office/drawing/2014/main" id="{143EAB35-16E2-97DF-6C44-1CC6A7A100D8}"/>
              </a:ext>
            </a:extLst>
          </p:cNvPr>
          <p:cNvPicPr>
            <a:picLocks noChangeAspect="1"/>
          </p:cNvPicPr>
          <p:nvPr/>
        </p:nvPicPr>
        <p:blipFill>
          <a:blip r:embed="rId11"/>
          <a:stretch>
            <a:fillRect/>
          </a:stretch>
        </p:blipFill>
        <p:spPr>
          <a:xfrm>
            <a:off x="4136265" y="3819025"/>
            <a:ext cx="3506451" cy="1560370"/>
          </a:xfrm>
          <a:prstGeom prst="rect">
            <a:avLst/>
          </a:prstGeom>
        </p:spPr>
      </p:pic>
      <p:pic>
        <p:nvPicPr>
          <p:cNvPr id="18" name="Picture 17">
            <a:extLst>
              <a:ext uri="{FF2B5EF4-FFF2-40B4-BE49-F238E27FC236}">
                <a16:creationId xmlns:a16="http://schemas.microsoft.com/office/drawing/2014/main" id="{FF3F25CC-069C-FB0E-4D4B-1EFC0AB4AA1A}"/>
              </a:ext>
            </a:extLst>
          </p:cNvPr>
          <p:cNvPicPr>
            <a:picLocks noChangeAspect="1"/>
          </p:cNvPicPr>
          <p:nvPr/>
        </p:nvPicPr>
        <p:blipFill>
          <a:blip r:embed="rId12"/>
          <a:stretch>
            <a:fillRect/>
          </a:stretch>
        </p:blipFill>
        <p:spPr>
          <a:xfrm>
            <a:off x="7498629" y="1891532"/>
            <a:ext cx="4693371" cy="1995892"/>
          </a:xfrm>
          <a:prstGeom prst="rect">
            <a:avLst/>
          </a:prstGeom>
        </p:spPr>
      </p:pic>
      <p:pic>
        <p:nvPicPr>
          <p:cNvPr id="25" name="Picture 24">
            <a:extLst>
              <a:ext uri="{FF2B5EF4-FFF2-40B4-BE49-F238E27FC236}">
                <a16:creationId xmlns:a16="http://schemas.microsoft.com/office/drawing/2014/main" id="{73796D8E-4931-598F-1351-2CF00F785CCE}"/>
              </a:ext>
            </a:extLst>
          </p:cNvPr>
          <p:cNvPicPr>
            <a:picLocks noChangeAspect="1"/>
          </p:cNvPicPr>
          <p:nvPr/>
        </p:nvPicPr>
        <p:blipFill>
          <a:blip r:embed="rId13"/>
          <a:stretch>
            <a:fillRect/>
          </a:stretch>
        </p:blipFill>
        <p:spPr>
          <a:xfrm>
            <a:off x="7543142" y="3887424"/>
            <a:ext cx="4523782" cy="1803979"/>
          </a:xfrm>
          <a:prstGeom prst="rect">
            <a:avLst/>
          </a:prstGeom>
        </p:spPr>
      </p:pic>
    </p:spTree>
    <p:extLst>
      <p:ext uri="{BB962C8B-B14F-4D97-AF65-F5344CB8AC3E}">
        <p14:creationId xmlns:p14="http://schemas.microsoft.com/office/powerpoint/2010/main" val="11409683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A2EE0-DF49-81AC-219B-410561B0B614}"/>
            </a:ext>
          </a:extLst>
        </p:cNvPr>
        <p:cNvGrpSpPr/>
        <p:nvPr/>
      </p:nvGrpSpPr>
      <p:grpSpPr>
        <a:xfrm>
          <a:off x="0" y="0"/>
          <a:ext cx="0" cy="0"/>
          <a:chOff x="0" y="0"/>
          <a:chExt cx="0" cy="0"/>
        </a:xfrm>
      </p:grpSpPr>
      <p:grpSp>
        <p:nvGrpSpPr>
          <p:cNvPr id="52" name="Group 51">
            <a:extLst>
              <a:ext uri="{FF2B5EF4-FFF2-40B4-BE49-F238E27FC236}">
                <a16:creationId xmlns:a16="http://schemas.microsoft.com/office/drawing/2014/main" id="{4A42EE53-AFAF-F26F-F24F-91F53E2EBF3D}"/>
              </a:ext>
            </a:extLst>
          </p:cNvPr>
          <p:cNvGrpSpPr/>
          <p:nvPr/>
        </p:nvGrpSpPr>
        <p:grpSpPr>
          <a:xfrm>
            <a:off x="10704849" y="6564312"/>
            <a:ext cx="1362075" cy="273690"/>
            <a:chOff x="19317" y="2690018"/>
            <a:chExt cx="11784755" cy="2025180"/>
          </a:xfrm>
        </p:grpSpPr>
        <p:pic>
          <p:nvPicPr>
            <p:cNvPr id="54" name="Picture 53">
              <a:extLst>
                <a:ext uri="{FF2B5EF4-FFF2-40B4-BE49-F238E27FC236}">
                  <a16:creationId xmlns:a16="http://schemas.microsoft.com/office/drawing/2014/main" id="{7D8D9565-6BAA-2DDB-45AF-1F9C65B7CC61}"/>
                </a:ext>
              </a:extLst>
            </p:cNvPr>
            <p:cNvPicPr>
              <a:picLocks noChangeAspect="1"/>
            </p:cNvPicPr>
            <p:nvPr/>
          </p:nvPicPr>
          <p:blipFill>
            <a:blip r:embed="rId3"/>
            <a:stretch>
              <a:fillRect/>
            </a:stretch>
          </p:blipFill>
          <p:spPr>
            <a:xfrm>
              <a:off x="5728531" y="2690018"/>
              <a:ext cx="6075541" cy="2025180"/>
            </a:xfrm>
            <a:prstGeom prst="rect">
              <a:avLst/>
            </a:prstGeom>
          </p:spPr>
        </p:pic>
        <p:pic>
          <p:nvPicPr>
            <p:cNvPr id="53" name="Picture 2">
              <a:extLst>
                <a:ext uri="{FF2B5EF4-FFF2-40B4-BE49-F238E27FC236}">
                  <a16:creationId xmlns:a16="http://schemas.microsoft.com/office/drawing/2014/main" id="{A4414DF4-DA8A-6230-D782-5D030D1856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grpSp>
      <p:sp>
        <p:nvSpPr>
          <p:cNvPr id="46" name="Up Arrow 45">
            <a:extLst>
              <a:ext uri="{FF2B5EF4-FFF2-40B4-BE49-F238E27FC236}">
                <a16:creationId xmlns:a16="http://schemas.microsoft.com/office/drawing/2014/main" id="{0D36E956-BE91-18DF-7FBF-C4BE76831A38}"/>
              </a:ext>
            </a:extLst>
          </p:cNvPr>
          <p:cNvSpPr/>
          <p:nvPr/>
        </p:nvSpPr>
        <p:spPr>
          <a:xfrm rot="5400000">
            <a:off x="5207766" y="1357165"/>
            <a:ext cx="733723" cy="9994898"/>
          </a:xfrm>
          <a:prstGeom prst="upArrow">
            <a:avLst>
              <a:gd name="adj1" fmla="val 30435"/>
              <a:gd name="adj2" fmla="val 50000"/>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B4C657E8-8366-083C-8E53-B423667F924E}"/>
              </a:ext>
            </a:extLst>
          </p:cNvPr>
          <p:cNvSpPr txBox="1">
            <a:spLocks/>
          </p:cNvSpPr>
          <p:nvPr/>
        </p:nvSpPr>
        <p:spPr>
          <a:xfrm>
            <a:off x="89552" y="92253"/>
            <a:ext cx="12171168" cy="771466"/>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Open Science is happening across scales</a:t>
            </a:r>
          </a:p>
        </p:txBody>
      </p:sp>
      <p:sp>
        <p:nvSpPr>
          <p:cNvPr id="3" name="Slide Number Placeholder 2">
            <a:extLst>
              <a:ext uri="{FF2B5EF4-FFF2-40B4-BE49-F238E27FC236}">
                <a16:creationId xmlns:a16="http://schemas.microsoft.com/office/drawing/2014/main" id="{967EFD8E-1610-41FC-59C3-471CBC262F7E}"/>
              </a:ext>
            </a:extLst>
          </p:cNvPr>
          <p:cNvSpPr>
            <a:spLocks noGrp="1"/>
          </p:cNvSpPr>
          <p:nvPr>
            <p:ph type="sldNum" sz="quarter" idx="12"/>
          </p:nvPr>
        </p:nvSpPr>
        <p:spPr/>
        <p:txBody>
          <a:bodyPr/>
          <a:lstStyle/>
          <a:p>
            <a:fld id="{DC6309F4-03C8-4D48-A124-A9AD6E083FAC}" type="slidenum">
              <a:rPr lang="en-US" smtClean="0"/>
              <a:t>22</a:t>
            </a:fld>
            <a:endParaRPr lang="en-US"/>
          </a:p>
        </p:txBody>
      </p:sp>
      <p:sp>
        <p:nvSpPr>
          <p:cNvPr id="35" name="TextBox 34">
            <a:extLst>
              <a:ext uri="{FF2B5EF4-FFF2-40B4-BE49-F238E27FC236}">
                <a16:creationId xmlns:a16="http://schemas.microsoft.com/office/drawing/2014/main" id="{45F8E975-F7C2-A1E1-6A38-6594B277FD39}"/>
              </a:ext>
            </a:extLst>
          </p:cNvPr>
          <p:cNvSpPr txBox="1"/>
          <p:nvPr/>
        </p:nvSpPr>
        <p:spPr>
          <a:xfrm>
            <a:off x="8433934" y="6529729"/>
            <a:ext cx="922047" cy="400110"/>
          </a:xfrm>
          <a:prstGeom prst="rect">
            <a:avLst/>
          </a:prstGeom>
          <a:noFill/>
        </p:spPr>
        <p:txBody>
          <a:bodyPr wrap="none" rtlCol="0">
            <a:spAutoFit/>
          </a:bodyPr>
          <a:lstStyle/>
          <a:p>
            <a:r>
              <a:rPr lang="en-GB" sz="2000" dirty="0"/>
              <a:t>Global</a:t>
            </a:r>
            <a:endParaRPr lang="en-US" sz="2000" dirty="0"/>
          </a:p>
        </p:txBody>
      </p:sp>
      <p:sp>
        <p:nvSpPr>
          <p:cNvPr id="36" name="TextBox 35">
            <a:extLst>
              <a:ext uri="{FF2B5EF4-FFF2-40B4-BE49-F238E27FC236}">
                <a16:creationId xmlns:a16="http://schemas.microsoft.com/office/drawing/2014/main" id="{EA4ED731-2DDB-4B75-C0FB-9AB3B914C954}"/>
              </a:ext>
            </a:extLst>
          </p:cNvPr>
          <p:cNvSpPr txBox="1"/>
          <p:nvPr/>
        </p:nvSpPr>
        <p:spPr>
          <a:xfrm>
            <a:off x="3898901" y="6502042"/>
            <a:ext cx="1516890" cy="400110"/>
          </a:xfrm>
          <a:prstGeom prst="rect">
            <a:avLst/>
          </a:prstGeom>
          <a:noFill/>
        </p:spPr>
        <p:txBody>
          <a:bodyPr wrap="none" rtlCol="0">
            <a:spAutoFit/>
          </a:bodyPr>
          <a:lstStyle/>
          <a:p>
            <a:r>
              <a:rPr lang="en-GB" sz="2000" dirty="0"/>
              <a:t>Institutional</a:t>
            </a:r>
            <a:endParaRPr lang="en-US" sz="2000" dirty="0"/>
          </a:p>
        </p:txBody>
      </p:sp>
      <p:sp>
        <p:nvSpPr>
          <p:cNvPr id="37" name="TextBox 36">
            <a:extLst>
              <a:ext uri="{FF2B5EF4-FFF2-40B4-BE49-F238E27FC236}">
                <a16:creationId xmlns:a16="http://schemas.microsoft.com/office/drawing/2014/main" id="{54A4CA76-198D-9328-DC07-FAECB1EECCA6}"/>
              </a:ext>
            </a:extLst>
          </p:cNvPr>
          <p:cNvSpPr txBox="1"/>
          <p:nvPr/>
        </p:nvSpPr>
        <p:spPr>
          <a:xfrm>
            <a:off x="2254923" y="6466199"/>
            <a:ext cx="901529" cy="400110"/>
          </a:xfrm>
          <a:prstGeom prst="rect">
            <a:avLst/>
          </a:prstGeom>
          <a:noFill/>
        </p:spPr>
        <p:txBody>
          <a:bodyPr wrap="none" rtlCol="0">
            <a:spAutoFit/>
          </a:bodyPr>
          <a:lstStyle/>
          <a:p>
            <a:r>
              <a:rPr lang="en-GB" sz="2000" dirty="0"/>
              <a:t>Teams</a:t>
            </a:r>
            <a:endParaRPr lang="en-US" sz="2000" dirty="0"/>
          </a:p>
        </p:txBody>
      </p:sp>
      <p:sp>
        <p:nvSpPr>
          <p:cNvPr id="38" name="TextBox 37">
            <a:extLst>
              <a:ext uri="{FF2B5EF4-FFF2-40B4-BE49-F238E27FC236}">
                <a16:creationId xmlns:a16="http://schemas.microsoft.com/office/drawing/2014/main" id="{5C81FD8F-0F7E-79D0-59BB-44867EB13BFA}"/>
              </a:ext>
            </a:extLst>
          </p:cNvPr>
          <p:cNvSpPr txBox="1"/>
          <p:nvPr/>
        </p:nvSpPr>
        <p:spPr>
          <a:xfrm>
            <a:off x="506559" y="6466199"/>
            <a:ext cx="1265090" cy="400110"/>
          </a:xfrm>
          <a:prstGeom prst="rect">
            <a:avLst/>
          </a:prstGeom>
          <a:noFill/>
        </p:spPr>
        <p:txBody>
          <a:bodyPr wrap="none" rtlCol="0">
            <a:spAutoFit/>
          </a:bodyPr>
          <a:lstStyle/>
          <a:p>
            <a:r>
              <a:rPr lang="en-GB" sz="2000" dirty="0"/>
              <a:t>Individual</a:t>
            </a:r>
            <a:endParaRPr lang="en-US" sz="2000" dirty="0"/>
          </a:p>
        </p:txBody>
      </p:sp>
      <p:pic>
        <p:nvPicPr>
          <p:cNvPr id="40" name="Graphic 39" descr="Cycle with people with solid fill">
            <a:extLst>
              <a:ext uri="{FF2B5EF4-FFF2-40B4-BE49-F238E27FC236}">
                <a16:creationId xmlns:a16="http://schemas.microsoft.com/office/drawing/2014/main" id="{D2AB70CA-22C6-3834-BA49-FE2DD309D95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242052" y="5356826"/>
            <a:ext cx="914400" cy="914400"/>
          </a:xfrm>
          <a:prstGeom prst="rect">
            <a:avLst/>
          </a:prstGeom>
        </p:spPr>
      </p:pic>
      <p:pic>
        <p:nvPicPr>
          <p:cNvPr id="41" name="Graphic 40" descr="User with solid fill">
            <a:extLst>
              <a:ext uri="{FF2B5EF4-FFF2-40B4-BE49-F238E27FC236}">
                <a16:creationId xmlns:a16="http://schemas.microsoft.com/office/drawing/2014/main" id="{8265A737-50B9-680B-53C2-09004C68162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87265" y="5506270"/>
            <a:ext cx="733723" cy="733723"/>
          </a:xfrm>
          <a:prstGeom prst="rect">
            <a:avLst/>
          </a:prstGeom>
        </p:spPr>
      </p:pic>
      <p:pic>
        <p:nvPicPr>
          <p:cNvPr id="42" name="Graphic 41" descr="Earth globe: Africa and Europe with solid fill">
            <a:extLst>
              <a:ext uri="{FF2B5EF4-FFF2-40B4-BE49-F238E27FC236}">
                <a16:creationId xmlns:a16="http://schemas.microsoft.com/office/drawing/2014/main" id="{1398BB95-A0F2-D846-FA00-ED12035E76A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164932" y="5371167"/>
            <a:ext cx="849919" cy="849919"/>
          </a:xfrm>
          <a:prstGeom prst="rect">
            <a:avLst/>
          </a:prstGeom>
        </p:spPr>
      </p:pic>
      <p:sp>
        <p:nvSpPr>
          <p:cNvPr id="43" name="TextBox 42">
            <a:extLst>
              <a:ext uri="{FF2B5EF4-FFF2-40B4-BE49-F238E27FC236}">
                <a16:creationId xmlns:a16="http://schemas.microsoft.com/office/drawing/2014/main" id="{8AE0C72D-86AC-388B-BA62-4D5B5552E005}"/>
              </a:ext>
            </a:extLst>
          </p:cNvPr>
          <p:cNvSpPr txBox="1"/>
          <p:nvPr/>
        </p:nvSpPr>
        <p:spPr>
          <a:xfrm>
            <a:off x="6097731" y="6494198"/>
            <a:ext cx="1146468" cy="400110"/>
          </a:xfrm>
          <a:prstGeom prst="rect">
            <a:avLst/>
          </a:prstGeom>
          <a:noFill/>
        </p:spPr>
        <p:txBody>
          <a:bodyPr wrap="none" rtlCol="0">
            <a:spAutoFit/>
          </a:bodyPr>
          <a:lstStyle/>
          <a:p>
            <a:r>
              <a:rPr lang="en-GB" sz="2000" dirty="0"/>
              <a:t>Regional</a:t>
            </a:r>
            <a:endParaRPr lang="en-US" sz="2000" dirty="0"/>
          </a:p>
        </p:txBody>
      </p:sp>
      <p:pic>
        <p:nvPicPr>
          <p:cNvPr id="44" name="Graphic 43" descr="World outline">
            <a:extLst>
              <a:ext uri="{FF2B5EF4-FFF2-40B4-BE49-F238E27FC236}">
                <a16:creationId xmlns:a16="http://schemas.microsoft.com/office/drawing/2014/main" id="{D53BC640-15B1-ECE3-B01F-C10C4887FCC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441581" y="5338927"/>
            <a:ext cx="914400" cy="914400"/>
          </a:xfrm>
          <a:prstGeom prst="rect">
            <a:avLst/>
          </a:prstGeom>
        </p:spPr>
      </p:pic>
      <p:pic>
        <p:nvPicPr>
          <p:cNvPr id="47" name="Graphic 46" descr="Schoolhouse with solid fill">
            <a:extLst>
              <a:ext uri="{FF2B5EF4-FFF2-40B4-BE49-F238E27FC236}">
                <a16:creationId xmlns:a16="http://schemas.microsoft.com/office/drawing/2014/main" id="{34C27F56-5DA4-FDA3-EABF-1CA1E7728A6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079967" y="5338927"/>
            <a:ext cx="914400" cy="914400"/>
          </a:xfrm>
          <a:prstGeom prst="rect">
            <a:avLst/>
          </a:prstGeom>
        </p:spPr>
      </p:pic>
      <p:sp>
        <p:nvSpPr>
          <p:cNvPr id="58" name="TextBox 57">
            <a:extLst>
              <a:ext uri="{FF2B5EF4-FFF2-40B4-BE49-F238E27FC236}">
                <a16:creationId xmlns:a16="http://schemas.microsoft.com/office/drawing/2014/main" id="{8175B9A3-7D34-7A28-1976-61A4EC525352}"/>
              </a:ext>
            </a:extLst>
          </p:cNvPr>
          <p:cNvSpPr txBox="1"/>
          <p:nvPr/>
        </p:nvSpPr>
        <p:spPr>
          <a:xfrm>
            <a:off x="252087" y="863719"/>
            <a:ext cx="11241218" cy="830997"/>
          </a:xfrm>
          <a:prstGeom prst="rect">
            <a:avLst/>
          </a:prstGeom>
          <a:noFill/>
        </p:spPr>
        <p:txBody>
          <a:bodyPr wrap="square" rtlCol="0">
            <a:spAutoFit/>
          </a:bodyPr>
          <a:lstStyle/>
          <a:p>
            <a:r>
              <a:rPr lang="en-US" sz="2400" dirty="0"/>
              <a:t>The diversity of </a:t>
            </a:r>
            <a:r>
              <a:rPr lang="en-US" sz="2400" b="1" dirty="0"/>
              <a:t>pathways </a:t>
            </a:r>
            <a:r>
              <a:rPr lang="en-US" sz="2400" dirty="0"/>
              <a:t>to Open Science (e.g. research, education, policy, infrastructure) bring about different </a:t>
            </a:r>
            <a:r>
              <a:rPr lang="en-US" sz="2400" b="1" dirty="0"/>
              <a:t>conceptual</a:t>
            </a:r>
            <a:r>
              <a:rPr lang="en-US" sz="2400" dirty="0"/>
              <a:t>, </a:t>
            </a:r>
            <a:r>
              <a:rPr lang="en-US" sz="2400" b="1" dirty="0"/>
              <a:t>practical</a:t>
            </a:r>
            <a:r>
              <a:rPr lang="en-US" sz="2400" dirty="0"/>
              <a:t> and </a:t>
            </a:r>
            <a:r>
              <a:rPr lang="en-US" sz="2400" b="1" dirty="0"/>
              <a:t>equity</a:t>
            </a:r>
            <a:r>
              <a:rPr lang="en-US" sz="2400" dirty="0"/>
              <a:t> challenges</a:t>
            </a:r>
            <a:r>
              <a:rPr lang="en-US" sz="2000" dirty="0"/>
              <a:t>. </a:t>
            </a:r>
            <a:endParaRPr lang="en-US" sz="2200" dirty="0"/>
          </a:p>
        </p:txBody>
      </p:sp>
      <p:grpSp>
        <p:nvGrpSpPr>
          <p:cNvPr id="2" name="Group 1">
            <a:extLst>
              <a:ext uri="{FF2B5EF4-FFF2-40B4-BE49-F238E27FC236}">
                <a16:creationId xmlns:a16="http://schemas.microsoft.com/office/drawing/2014/main" id="{0831509B-DB7B-302D-1175-2C42C6E54BFB}"/>
              </a:ext>
            </a:extLst>
          </p:cNvPr>
          <p:cNvGrpSpPr/>
          <p:nvPr/>
        </p:nvGrpSpPr>
        <p:grpSpPr>
          <a:xfrm>
            <a:off x="8479988" y="1717747"/>
            <a:ext cx="831696" cy="875891"/>
            <a:chOff x="2627760" y="2015531"/>
            <a:chExt cx="1641987" cy="1614426"/>
          </a:xfrm>
        </p:grpSpPr>
        <p:sp>
          <p:nvSpPr>
            <p:cNvPr id="5" name="Oval 4">
              <a:extLst>
                <a:ext uri="{FF2B5EF4-FFF2-40B4-BE49-F238E27FC236}">
                  <a16:creationId xmlns:a16="http://schemas.microsoft.com/office/drawing/2014/main" id="{E6AE425A-1A28-0A9A-6372-CFDF8647210E}"/>
                </a:ext>
              </a:extLst>
            </p:cNvPr>
            <p:cNvSpPr/>
            <p:nvPr/>
          </p:nvSpPr>
          <p:spPr>
            <a:xfrm>
              <a:off x="2627760" y="2015531"/>
              <a:ext cx="1641987" cy="161442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Graphic 5" descr="Thumbs up sign with solid fill">
              <a:extLst>
                <a:ext uri="{FF2B5EF4-FFF2-40B4-BE49-F238E27FC236}">
                  <a16:creationId xmlns:a16="http://schemas.microsoft.com/office/drawing/2014/main" id="{3DEF6A5D-F1C6-5A75-C15F-E4BB5F746D5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949859" y="2357984"/>
              <a:ext cx="914400" cy="914400"/>
            </a:xfrm>
            <a:prstGeom prst="rect">
              <a:avLst/>
            </a:prstGeom>
          </p:spPr>
        </p:pic>
      </p:grpSp>
      <p:sp>
        <p:nvSpPr>
          <p:cNvPr id="7" name="TextBox 6">
            <a:extLst>
              <a:ext uri="{FF2B5EF4-FFF2-40B4-BE49-F238E27FC236}">
                <a16:creationId xmlns:a16="http://schemas.microsoft.com/office/drawing/2014/main" id="{3542EFB2-9A77-30CC-E9D8-E589E2148B22}"/>
              </a:ext>
            </a:extLst>
          </p:cNvPr>
          <p:cNvSpPr txBox="1"/>
          <p:nvPr/>
        </p:nvSpPr>
        <p:spPr>
          <a:xfrm>
            <a:off x="9445297" y="1951536"/>
            <a:ext cx="2360711" cy="400110"/>
          </a:xfrm>
          <a:prstGeom prst="rect">
            <a:avLst/>
          </a:prstGeom>
          <a:noFill/>
        </p:spPr>
        <p:txBody>
          <a:bodyPr wrap="none" rtlCol="0">
            <a:spAutoFit/>
          </a:bodyPr>
          <a:lstStyle/>
          <a:p>
            <a:r>
              <a:rPr lang="en-US" sz="2000" b="1" dirty="0"/>
              <a:t>Acknowledgement</a:t>
            </a:r>
          </a:p>
        </p:txBody>
      </p:sp>
    </p:spTree>
    <p:extLst>
      <p:ext uri="{BB962C8B-B14F-4D97-AF65-F5344CB8AC3E}">
        <p14:creationId xmlns:p14="http://schemas.microsoft.com/office/powerpoint/2010/main" val="22007435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4B4F4-E222-E956-6668-41B59AB9BB11}"/>
            </a:ext>
          </a:extLst>
        </p:cNvPr>
        <p:cNvGrpSpPr/>
        <p:nvPr/>
      </p:nvGrpSpPr>
      <p:grpSpPr>
        <a:xfrm>
          <a:off x="0" y="0"/>
          <a:ext cx="0" cy="0"/>
          <a:chOff x="0" y="0"/>
          <a:chExt cx="0" cy="0"/>
        </a:xfrm>
      </p:grpSpPr>
      <p:grpSp>
        <p:nvGrpSpPr>
          <p:cNvPr id="52" name="Group 51">
            <a:extLst>
              <a:ext uri="{FF2B5EF4-FFF2-40B4-BE49-F238E27FC236}">
                <a16:creationId xmlns:a16="http://schemas.microsoft.com/office/drawing/2014/main" id="{D997C3C3-B2FE-9EDB-1B8F-D426A240D3D7}"/>
              </a:ext>
            </a:extLst>
          </p:cNvPr>
          <p:cNvGrpSpPr/>
          <p:nvPr/>
        </p:nvGrpSpPr>
        <p:grpSpPr>
          <a:xfrm>
            <a:off x="10704849" y="6564312"/>
            <a:ext cx="1362075" cy="273690"/>
            <a:chOff x="19317" y="2690018"/>
            <a:chExt cx="11784755" cy="2025180"/>
          </a:xfrm>
        </p:grpSpPr>
        <p:pic>
          <p:nvPicPr>
            <p:cNvPr id="54" name="Picture 53">
              <a:extLst>
                <a:ext uri="{FF2B5EF4-FFF2-40B4-BE49-F238E27FC236}">
                  <a16:creationId xmlns:a16="http://schemas.microsoft.com/office/drawing/2014/main" id="{346B36A4-947B-C567-3978-E2A9B1DD84B9}"/>
                </a:ext>
              </a:extLst>
            </p:cNvPr>
            <p:cNvPicPr>
              <a:picLocks noChangeAspect="1"/>
            </p:cNvPicPr>
            <p:nvPr/>
          </p:nvPicPr>
          <p:blipFill>
            <a:blip r:embed="rId3"/>
            <a:stretch>
              <a:fillRect/>
            </a:stretch>
          </p:blipFill>
          <p:spPr>
            <a:xfrm>
              <a:off x="5728531" y="2690018"/>
              <a:ext cx="6075541" cy="2025180"/>
            </a:xfrm>
            <a:prstGeom prst="rect">
              <a:avLst/>
            </a:prstGeom>
          </p:spPr>
        </p:pic>
        <p:pic>
          <p:nvPicPr>
            <p:cNvPr id="53" name="Picture 2">
              <a:extLst>
                <a:ext uri="{FF2B5EF4-FFF2-40B4-BE49-F238E27FC236}">
                  <a16:creationId xmlns:a16="http://schemas.microsoft.com/office/drawing/2014/main" id="{EC786AEA-9DBC-182B-D740-21A56632D7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grpSp>
      <p:sp>
        <p:nvSpPr>
          <p:cNvPr id="46" name="Up Arrow 45">
            <a:extLst>
              <a:ext uri="{FF2B5EF4-FFF2-40B4-BE49-F238E27FC236}">
                <a16:creationId xmlns:a16="http://schemas.microsoft.com/office/drawing/2014/main" id="{20FA2309-5158-CA97-7DD5-379F15CBF0CE}"/>
              </a:ext>
            </a:extLst>
          </p:cNvPr>
          <p:cNvSpPr/>
          <p:nvPr/>
        </p:nvSpPr>
        <p:spPr>
          <a:xfrm rot="5400000">
            <a:off x="5207766" y="1357165"/>
            <a:ext cx="733723" cy="9994898"/>
          </a:xfrm>
          <a:prstGeom prst="upArrow">
            <a:avLst>
              <a:gd name="adj1" fmla="val 30435"/>
              <a:gd name="adj2" fmla="val 50000"/>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AE75DA0D-C16C-9B2A-07DE-7D414DCEEFE1}"/>
              </a:ext>
            </a:extLst>
          </p:cNvPr>
          <p:cNvSpPr txBox="1">
            <a:spLocks/>
          </p:cNvSpPr>
          <p:nvPr/>
        </p:nvSpPr>
        <p:spPr>
          <a:xfrm>
            <a:off x="89552" y="92253"/>
            <a:ext cx="12171168" cy="771466"/>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Open Science is happening across scales</a:t>
            </a:r>
          </a:p>
        </p:txBody>
      </p:sp>
      <p:sp>
        <p:nvSpPr>
          <p:cNvPr id="3" name="Slide Number Placeholder 2">
            <a:extLst>
              <a:ext uri="{FF2B5EF4-FFF2-40B4-BE49-F238E27FC236}">
                <a16:creationId xmlns:a16="http://schemas.microsoft.com/office/drawing/2014/main" id="{FFF24EDC-0DF4-4B18-34DD-4750CED8039A}"/>
              </a:ext>
            </a:extLst>
          </p:cNvPr>
          <p:cNvSpPr>
            <a:spLocks noGrp="1"/>
          </p:cNvSpPr>
          <p:nvPr>
            <p:ph type="sldNum" sz="quarter" idx="12"/>
          </p:nvPr>
        </p:nvSpPr>
        <p:spPr/>
        <p:txBody>
          <a:bodyPr/>
          <a:lstStyle/>
          <a:p>
            <a:fld id="{DC6309F4-03C8-4D48-A124-A9AD6E083FAC}" type="slidenum">
              <a:rPr lang="en-US" smtClean="0"/>
              <a:t>23</a:t>
            </a:fld>
            <a:endParaRPr lang="en-US"/>
          </a:p>
        </p:txBody>
      </p:sp>
      <p:sp>
        <p:nvSpPr>
          <p:cNvPr id="35" name="TextBox 34">
            <a:extLst>
              <a:ext uri="{FF2B5EF4-FFF2-40B4-BE49-F238E27FC236}">
                <a16:creationId xmlns:a16="http://schemas.microsoft.com/office/drawing/2014/main" id="{647853D6-B169-9436-E891-FB71242C9EB8}"/>
              </a:ext>
            </a:extLst>
          </p:cNvPr>
          <p:cNvSpPr txBox="1"/>
          <p:nvPr/>
        </p:nvSpPr>
        <p:spPr>
          <a:xfrm>
            <a:off x="8433934" y="6529729"/>
            <a:ext cx="922047" cy="400110"/>
          </a:xfrm>
          <a:prstGeom prst="rect">
            <a:avLst/>
          </a:prstGeom>
          <a:noFill/>
        </p:spPr>
        <p:txBody>
          <a:bodyPr wrap="none" rtlCol="0">
            <a:spAutoFit/>
          </a:bodyPr>
          <a:lstStyle/>
          <a:p>
            <a:r>
              <a:rPr lang="en-GB" sz="2000" dirty="0"/>
              <a:t>Global</a:t>
            </a:r>
            <a:endParaRPr lang="en-US" sz="2000" dirty="0"/>
          </a:p>
        </p:txBody>
      </p:sp>
      <p:sp>
        <p:nvSpPr>
          <p:cNvPr id="36" name="TextBox 35">
            <a:extLst>
              <a:ext uri="{FF2B5EF4-FFF2-40B4-BE49-F238E27FC236}">
                <a16:creationId xmlns:a16="http://schemas.microsoft.com/office/drawing/2014/main" id="{69B8E3B4-5592-0EB4-AD96-506D3F0F65C9}"/>
              </a:ext>
            </a:extLst>
          </p:cNvPr>
          <p:cNvSpPr txBox="1"/>
          <p:nvPr/>
        </p:nvSpPr>
        <p:spPr>
          <a:xfrm>
            <a:off x="3898901" y="6502042"/>
            <a:ext cx="1516890" cy="400110"/>
          </a:xfrm>
          <a:prstGeom prst="rect">
            <a:avLst/>
          </a:prstGeom>
          <a:noFill/>
        </p:spPr>
        <p:txBody>
          <a:bodyPr wrap="none" rtlCol="0">
            <a:spAutoFit/>
          </a:bodyPr>
          <a:lstStyle/>
          <a:p>
            <a:r>
              <a:rPr lang="en-GB" sz="2000" dirty="0"/>
              <a:t>Institutional</a:t>
            </a:r>
            <a:endParaRPr lang="en-US" sz="2000" dirty="0"/>
          </a:p>
        </p:txBody>
      </p:sp>
      <p:sp>
        <p:nvSpPr>
          <p:cNvPr id="37" name="TextBox 36">
            <a:extLst>
              <a:ext uri="{FF2B5EF4-FFF2-40B4-BE49-F238E27FC236}">
                <a16:creationId xmlns:a16="http://schemas.microsoft.com/office/drawing/2014/main" id="{6B2BD3AF-B889-8DD6-7DF6-F30DE649AAA5}"/>
              </a:ext>
            </a:extLst>
          </p:cNvPr>
          <p:cNvSpPr txBox="1"/>
          <p:nvPr/>
        </p:nvSpPr>
        <p:spPr>
          <a:xfrm>
            <a:off x="2254923" y="6466199"/>
            <a:ext cx="901529" cy="400110"/>
          </a:xfrm>
          <a:prstGeom prst="rect">
            <a:avLst/>
          </a:prstGeom>
          <a:noFill/>
        </p:spPr>
        <p:txBody>
          <a:bodyPr wrap="none" rtlCol="0">
            <a:spAutoFit/>
          </a:bodyPr>
          <a:lstStyle/>
          <a:p>
            <a:r>
              <a:rPr lang="en-GB" sz="2000" dirty="0"/>
              <a:t>Teams</a:t>
            </a:r>
            <a:endParaRPr lang="en-US" sz="2000" dirty="0"/>
          </a:p>
        </p:txBody>
      </p:sp>
      <p:sp>
        <p:nvSpPr>
          <p:cNvPr id="38" name="TextBox 37">
            <a:extLst>
              <a:ext uri="{FF2B5EF4-FFF2-40B4-BE49-F238E27FC236}">
                <a16:creationId xmlns:a16="http://schemas.microsoft.com/office/drawing/2014/main" id="{2F58E7E9-2A9D-4D61-88F0-6917D41E2670}"/>
              </a:ext>
            </a:extLst>
          </p:cNvPr>
          <p:cNvSpPr txBox="1"/>
          <p:nvPr/>
        </p:nvSpPr>
        <p:spPr>
          <a:xfrm>
            <a:off x="506559" y="6466199"/>
            <a:ext cx="1265090" cy="400110"/>
          </a:xfrm>
          <a:prstGeom prst="rect">
            <a:avLst/>
          </a:prstGeom>
          <a:noFill/>
        </p:spPr>
        <p:txBody>
          <a:bodyPr wrap="none" rtlCol="0">
            <a:spAutoFit/>
          </a:bodyPr>
          <a:lstStyle/>
          <a:p>
            <a:r>
              <a:rPr lang="en-GB" sz="2000" dirty="0"/>
              <a:t>Individual</a:t>
            </a:r>
            <a:endParaRPr lang="en-US" sz="2000" dirty="0"/>
          </a:p>
        </p:txBody>
      </p:sp>
      <p:pic>
        <p:nvPicPr>
          <p:cNvPr id="40" name="Graphic 39" descr="Cycle with people with solid fill">
            <a:extLst>
              <a:ext uri="{FF2B5EF4-FFF2-40B4-BE49-F238E27FC236}">
                <a16:creationId xmlns:a16="http://schemas.microsoft.com/office/drawing/2014/main" id="{09F7A965-0CA8-10B6-4ADB-E1D99030E9E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242052" y="5356826"/>
            <a:ext cx="914400" cy="914400"/>
          </a:xfrm>
          <a:prstGeom prst="rect">
            <a:avLst/>
          </a:prstGeom>
        </p:spPr>
      </p:pic>
      <p:pic>
        <p:nvPicPr>
          <p:cNvPr id="41" name="Graphic 40" descr="User with solid fill">
            <a:extLst>
              <a:ext uri="{FF2B5EF4-FFF2-40B4-BE49-F238E27FC236}">
                <a16:creationId xmlns:a16="http://schemas.microsoft.com/office/drawing/2014/main" id="{FD745390-21EE-15B0-CE50-7380023612C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87265" y="5506270"/>
            <a:ext cx="733723" cy="733723"/>
          </a:xfrm>
          <a:prstGeom prst="rect">
            <a:avLst/>
          </a:prstGeom>
        </p:spPr>
      </p:pic>
      <p:pic>
        <p:nvPicPr>
          <p:cNvPr id="42" name="Graphic 41" descr="Earth globe: Africa and Europe with solid fill">
            <a:extLst>
              <a:ext uri="{FF2B5EF4-FFF2-40B4-BE49-F238E27FC236}">
                <a16:creationId xmlns:a16="http://schemas.microsoft.com/office/drawing/2014/main" id="{E4DE7568-6EFF-8FEF-3EDE-4E9B3FCD09F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164932" y="5371167"/>
            <a:ext cx="849919" cy="849919"/>
          </a:xfrm>
          <a:prstGeom prst="rect">
            <a:avLst/>
          </a:prstGeom>
        </p:spPr>
      </p:pic>
      <p:sp>
        <p:nvSpPr>
          <p:cNvPr id="43" name="TextBox 42">
            <a:extLst>
              <a:ext uri="{FF2B5EF4-FFF2-40B4-BE49-F238E27FC236}">
                <a16:creationId xmlns:a16="http://schemas.microsoft.com/office/drawing/2014/main" id="{3B55A552-40B1-6BAA-DCBA-D1077DE4D7B0}"/>
              </a:ext>
            </a:extLst>
          </p:cNvPr>
          <p:cNvSpPr txBox="1"/>
          <p:nvPr/>
        </p:nvSpPr>
        <p:spPr>
          <a:xfrm>
            <a:off x="6097731" y="6494198"/>
            <a:ext cx="1146468" cy="400110"/>
          </a:xfrm>
          <a:prstGeom prst="rect">
            <a:avLst/>
          </a:prstGeom>
          <a:noFill/>
        </p:spPr>
        <p:txBody>
          <a:bodyPr wrap="none" rtlCol="0">
            <a:spAutoFit/>
          </a:bodyPr>
          <a:lstStyle/>
          <a:p>
            <a:r>
              <a:rPr lang="en-GB" sz="2000" dirty="0"/>
              <a:t>Regional</a:t>
            </a:r>
            <a:endParaRPr lang="en-US" sz="2000" dirty="0"/>
          </a:p>
        </p:txBody>
      </p:sp>
      <p:pic>
        <p:nvPicPr>
          <p:cNvPr id="44" name="Graphic 43" descr="World outline">
            <a:extLst>
              <a:ext uri="{FF2B5EF4-FFF2-40B4-BE49-F238E27FC236}">
                <a16:creationId xmlns:a16="http://schemas.microsoft.com/office/drawing/2014/main" id="{6E0E124B-ADAE-9F85-E7EC-C1EEFAD0AFC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441581" y="5338927"/>
            <a:ext cx="914400" cy="914400"/>
          </a:xfrm>
          <a:prstGeom prst="rect">
            <a:avLst/>
          </a:prstGeom>
        </p:spPr>
      </p:pic>
      <p:pic>
        <p:nvPicPr>
          <p:cNvPr id="47" name="Graphic 46" descr="Schoolhouse with solid fill">
            <a:extLst>
              <a:ext uri="{FF2B5EF4-FFF2-40B4-BE49-F238E27FC236}">
                <a16:creationId xmlns:a16="http://schemas.microsoft.com/office/drawing/2014/main" id="{9964964E-24CD-0E20-A45F-AD73B68A05F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079967" y="5338927"/>
            <a:ext cx="914400" cy="914400"/>
          </a:xfrm>
          <a:prstGeom prst="rect">
            <a:avLst/>
          </a:prstGeom>
        </p:spPr>
      </p:pic>
      <p:pic>
        <p:nvPicPr>
          <p:cNvPr id="48" name="Picture 47">
            <a:extLst>
              <a:ext uri="{FF2B5EF4-FFF2-40B4-BE49-F238E27FC236}">
                <a16:creationId xmlns:a16="http://schemas.microsoft.com/office/drawing/2014/main" id="{E9AEBDE4-A175-D534-FB1A-84823C13189F}"/>
              </a:ext>
            </a:extLst>
          </p:cNvPr>
          <p:cNvPicPr>
            <a:picLocks noChangeAspect="1"/>
          </p:cNvPicPr>
          <p:nvPr/>
        </p:nvPicPr>
        <p:blipFill>
          <a:blip r:embed="rId10"/>
          <a:stretch>
            <a:fillRect/>
          </a:stretch>
        </p:blipFill>
        <p:spPr>
          <a:xfrm>
            <a:off x="7794640" y="2006070"/>
            <a:ext cx="2162159" cy="3056455"/>
          </a:xfrm>
          <a:prstGeom prst="rect">
            <a:avLst/>
          </a:prstGeom>
        </p:spPr>
      </p:pic>
      <p:sp>
        <p:nvSpPr>
          <p:cNvPr id="49" name="TextBox 48">
            <a:extLst>
              <a:ext uri="{FF2B5EF4-FFF2-40B4-BE49-F238E27FC236}">
                <a16:creationId xmlns:a16="http://schemas.microsoft.com/office/drawing/2014/main" id="{9D868BAA-138C-6E82-3D7F-6C85DB193F7C}"/>
              </a:ext>
            </a:extLst>
          </p:cNvPr>
          <p:cNvSpPr txBox="1"/>
          <p:nvPr/>
        </p:nvSpPr>
        <p:spPr>
          <a:xfrm>
            <a:off x="606974" y="3796442"/>
            <a:ext cx="614014" cy="400110"/>
          </a:xfrm>
          <a:prstGeom prst="rect">
            <a:avLst/>
          </a:prstGeom>
          <a:noFill/>
        </p:spPr>
        <p:txBody>
          <a:bodyPr wrap="none" rtlCol="0">
            <a:spAutoFit/>
          </a:bodyPr>
          <a:lstStyle/>
          <a:p>
            <a:r>
              <a:rPr lang="en-US" sz="2000" b="1" dirty="0"/>
              <a:t>You</a:t>
            </a:r>
          </a:p>
        </p:txBody>
      </p:sp>
      <p:pic>
        <p:nvPicPr>
          <p:cNvPr id="51" name="Graphic 50" descr="Smiling face with solid fill with solid fill">
            <a:extLst>
              <a:ext uri="{FF2B5EF4-FFF2-40B4-BE49-F238E27FC236}">
                <a16:creationId xmlns:a16="http://schemas.microsoft.com/office/drawing/2014/main" id="{E8697EAC-C18D-A9D1-37A7-CCB949A884E6}"/>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52087" y="2496295"/>
            <a:ext cx="1398590" cy="1398590"/>
          </a:xfrm>
          <a:prstGeom prst="rect">
            <a:avLst/>
          </a:prstGeom>
        </p:spPr>
      </p:pic>
      <p:sp>
        <p:nvSpPr>
          <p:cNvPr id="58" name="TextBox 57">
            <a:extLst>
              <a:ext uri="{FF2B5EF4-FFF2-40B4-BE49-F238E27FC236}">
                <a16:creationId xmlns:a16="http://schemas.microsoft.com/office/drawing/2014/main" id="{B40FE842-1361-9419-1090-751EC32399E5}"/>
              </a:ext>
            </a:extLst>
          </p:cNvPr>
          <p:cNvSpPr txBox="1"/>
          <p:nvPr/>
        </p:nvSpPr>
        <p:spPr>
          <a:xfrm>
            <a:off x="252087" y="863719"/>
            <a:ext cx="11339691" cy="830997"/>
          </a:xfrm>
          <a:prstGeom prst="rect">
            <a:avLst/>
          </a:prstGeom>
          <a:noFill/>
        </p:spPr>
        <p:txBody>
          <a:bodyPr wrap="square" rtlCol="0">
            <a:spAutoFit/>
          </a:bodyPr>
          <a:lstStyle/>
          <a:p>
            <a:r>
              <a:rPr lang="en-US" sz="2400" dirty="0"/>
              <a:t>The diversity of </a:t>
            </a:r>
            <a:r>
              <a:rPr lang="en-US" sz="2400" b="1" dirty="0"/>
              <a:t>pathways </a:t>
            </a:r>
            <a:r>
              <a:rPr lang="en-US" sz="2400" dirty="0"/>
              <a:t>to Open Science (e.g. research, education, policy, infrastructure) bring about different </a:t>
            </a:r>
            <a:r>
              <a:rPr lang="en-US" sz="2400" b="1" dirty="0"/>
              <a:t>conceptual</a:t>
            </a:r>
            <a:r>
              <a:rPr lang="en-US" sz="2400" dirty="0"/>
              <a:t>, </a:t>
            </a:r>
            <a:r>
              <a:rPr lang="en-US" sz="2400" b="1" dirty="0"/>
              <a:t>practical </a:t>
            </a:r>
            <a:r>
              <a:rPr lang="en-US" sz="2400" dirty="0"/>
              <a:t>and </a:t>
            </a:r>
            <a:r>
              <a:rPr lang="en-US" sz="2400" b="1" dirty="0"/>
              <a:t>equity</a:t>
            </a:r>
            <a:r>
              <a:rPr lang="en-US" sz="2400" dirty="0"/>
              <a:t> challenges</a:t>
            </a:r>
            <a:r>
              <a:rPr lang="en-US" sz="2000" dirty="0"/>
              <a:t>. </a:t>
            </a:r>
            <a:endParaRPr lang="en-US" sz="2200" dirty="0"/>
          </a:p>
        </p:txBody>
      </p:sp>
    </p:spTree>
    <p:extLst>
      <p:ext uri="{BB962C8B-B14F-4D97-AF65-F5344CB8AC3E}">
        <p14:creationId xmlns:p14="http://schemas.microsoft.com/office/powerpoint/2010/main" val="41035026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4BEA7-F8FA-0ABE-7BB5-93D34E9E2920}"/>
            </a:ext>
          </a:extLst>
        </p:cNvPr>
        <p:cNvGrpSpPr/>
        <p:nvPr/>
      </p:nvGrpSpPr>
      <p:grpSpPr>
        <a:xfrm>
          <a:off x="0" y="0"/>
          <a:ext cx="0" cy="0"/>
          <a:chOff x="0" y="0"/>
          <a:chExt cx="0" cy="0"/>
        </a:xfrm>
      </p:grpSpPr>
      <p:grpSp>
        <p:nvGrpSpPr>
          <p:cNvPr id="52" name="Group 51">
            <a:extLst>
              <a:ext uri="{FF2B5EF4-FFF2-40B4-BE49-F238E27FC236}">
                <a16:creationId xmlns:a16="http://schemas.microsoft.com/office/drawing/2014/main" id="{77B442D6-B315-0C30-9CE2-1A0D478A8977}"/>
              </a:ext>
            </a:extLst>
          </p:cNvPr>
          <p:cNvGrpSpPr/>
          <p:nvPr/>
        </p:nvGrpSpPr>
        <p:grpSpPr>
          <a:xfrm>
            <a:off x="10704849" y="6564312"/>
            <a:ext cx="1362075" cy="273690"/>
            <a:chOff x="19317" y="2690018"/>
            <a:chExt cx="11784755" cy="2025180"/>
          </a:xfrm>
        </p:grpSpPr>
        <p:pic>
          <p:nvPicPr>
            <p:cNvPr id="54" name="Picture 53">
              <a:extLst>
                <a:ext uri="{FF2B5EF4-FFF2-40B4-BE49-F238E27FC236}">
                  <a16:creationId xmlns:a16="http://schemas.microsoft.com/office/drawing/2014/main" id="{9E117EE6-81F4-EFB8-2166-ED8F84C57267}"/>
                </a:ext>
              </a:extLst>
            </p:cNvPr>
            <p:cNvPicPr>
              <a:picLocks noChangeAspect="1"/>
            </p:cNvPicPr>
            <p:nvPr/>
          </p:nvPicPr>
          <p:blipFill>
            <a:blip r:embed="rId3"/>
            <a:stretch>
              <a:fillRect/>
            </a:stretch>
          </p:blipFill>
          <p:spPr>
            <a:xfrm>
              <a:off x="5728531" y="2690018"/>
              <a:ext cx="6075541" cy="2025180"/>
            </a:xfrm>
            <a:prstGeom prst="rect">
              <a:avLst/>
            </a:prstGeom>
          </p:spPr>
        </p:pic>
        <p:pic>
          <p:nvPicPr>
            <p:cNvPr id="53" name="Picture 2">
              <a:extLst>
                <a:ext uri="{FF2B5EF4-FFF2-40B4-BE49-F238E27FC236}">
                  <a16:creationId xmlns:a16="http://schemas.microsoft.com/office/drawing/2014/main" id="{E6E0CDEE-2001-5AC5-4929-4D48973C59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grpSp>
      <p:sp>
        <p:nvSpPr>
          <p:cNvPr id="46" name="Up Arrow 45">
            <a:extLst>
              <a:ext uri="{FF2B5EF4-FFF2-40B4-BE49-F238E27FC236}">
                <a16:creationId xmlns:a16="http://schemas.microsoft.com/office/drawing/2014/main" id="{055C6EB5-6292-F552-8CB2-C7F5511100CB}"/>
              </a:ext>
            </a:extLst>
          </p:cNvPr>
          <p:cNvSpPr/>
          <p:nvPr/>
        </p:nvSpPr>
        <p:spPr>
          <a:xfrm rot="5400000">
            <a:off x="5207766" y="1357165"/>
            <a:ext cx="733723" cy="9994898"/>
          </a:xfrm>
          <a:prstGeom prst="upArrow">
            <a:avLst>
              <a:gd name="adj1" fmla="val 30435"/>
              <a:gd name="adj2" fmla="val 50000"/>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025F5B33-22B4-E1DC-BF7E-5F04737935E7}"/>
              </a:ext>
            </a:extLst>
          </p:cNvPr>
          <p:cNvSpPr txBox="1">
            <a:spLocks/>
          </p:cNvSpPr>
          <p:nvPr/>
        </p:nvSpPr>
        <p:spPr>
          <a:xfrm>
            <a:off x="89552" y="92253"/>
            <a:ext cx="12171168" cy="771466"/>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Open Science is happening across scales</a:t>
            </a:r>
          </a:p>
        </p:txBody>
      </p:sp>
      <p:sp>
        <p:nvSpPr>
          <p:cNvPr id="3" name="Slide Number Placeholder 2">
            <a:extLst>
              <a:ext uri="{FF2B5EF4-FFF2-40B4-BE49-F238E27FC236}">
                <a16:creationId xmlns:a16="http://schemas.microsoft.com/office/drawing/2014/main" id="{55D3B7B0-89C7-21F4-638B-0DB156CB6354}"/>
              </a:ext>
            </a:extLst>
          </p:cNvPr>
          <p:cNvSpPr>
            <a:spLocks noGrp="1"/>
          </p:cNvSpPr>
          <p:nvPr>
            <p:ph type="sldNum" sz="quarter" idx="12"/>
          </p:nvPr>
        </p:nvSpPr>
        <p:spPr/>
        <p:txBody>
          <a:bodyPr/>
          <a:lstStyle/>
          <a:p>
            <a:fld id="{DC6309F4-03C8-4D48-A124-A9AD6E083FAC}" type="slidenum">
              <a:rPr lang="en-US" smtClean="0"/>
              <a:t>24</a:t>
            </a:fld>
            <a:endParaRPr lang="en-US"/>
          </a:p>
        </p:txBody>
      </p:sp>
      <p:sp>
        <p:nvSpPr>
          <p:cNvPr id="35" name="TextBox 34">
            <a:extLst>
              <a:ext uri="{FF2B5EF4-FFF2-40B4-BE49-F238E27FC236}">
                <a16:creationId xmlns:a16="http://schemas.microsoft.com/office/drawing/2014/main" id="{BD6278C1-4425-DAAB-FA76-768AD0759390}"/>
              </a:ext>
            </a:extLst>
          </p:cNvPr>
          <p:cNvSpPr txBox="1"/>
          <p:nvPr/>
        </p:nvSpPr>
        <p:spPr>
          <a:xfrm>
            <a:off x="8433934" y="6529729"/>
            <a:ext cx="922047" cy="400110"/>
          </a:xfrm>
          <a:prstGeom prst="rect">
            <a:avLst/>
          </a:prstGeom>
          <a:noFill/>
        </p:spPr>
        <p:txBody>
          <a:bodyPr wrap="none" rtlCol="0">
            <a:spAutoFit/>
          </a:bodyPr>
          <a:lstStyle/>
          <a:p>
            <a:r>
              <a:rPr lang="en-GB" sz="2000" dirty="0"/>
              <a:t>Global</a:t>
            </a:r>
            <a:endParaRPr lang="en-US" sz="2000" dirty="0"/>
          </a:p>
        </p:txBody>
      </p:sp>
      <p:sp>
        <p:nvSpPr>
          <p:cNvPr id="36" name="TextBox 35">
            <a:extLst>
              <a:ext uri="{FF2B5EF4-FFF2-40B4-BE49-F238E27FC236}">
                <a16:creationId xmlns:a16="http://schemas.microsoft.com/office/drawing/2014/main" id="{7F356B9C-1BE1-F725-487E-596B6D6C0510}"/>
              </a:ext>
            </a:extLst>
          </p:cNvPr>
          <p:cNvSpPr txBox="1"/>
          <p:nvPr/>
        </p:nvSpPr>
        <p:spPr>
          <a:xfrm>
            <a:off x="3898901" y="6502042"/>
            <a:ext cx="1516890" cy="400110"/>
          </a:xfrm>
          <a:prstGeom prst="rect">
            <a:avLst/>
          </a:prstGeom>
          <a:noFill/>
        </p:spPr>
        <p:txBody>
          <a:bodyPr wrap="none" rtlCol="0">
            <a:spAutoFit/>
          </a:bodyPr>
          <a:lstStyle/>
          <a:p>
            <a:r>
              <a:rPr lang="en-GB" sz="2000" dirty="0"/>
              <a:t>Institutional</a:t>
            </a:r>
            <a:endParaRPr lang="en-US" sz="2000" dirty="0"/>
          </a:p>
        </p:txBody>
      </p:sp>
      <p:sp>
        <p:nvSpPr>
          <p:cNvPr id="37" name="TextBox 36">
            <a:extLst>
              <a:ext uri="{FF2B5EF4-FFF2-40B4-BE49-F238E27FC236}">
                <a16:creationId xmlns:a16="http://schemas.microsoft.com/office/drawing/2014/main" id="{604C5743-E9B2-6B9B-0D67-6017EE4D4E37}"/>
              </a:ext>
            </a:extLst>
          </p:cNvPr>
          <p:cNvSpPr txBox="1"/>
          <p:nvPr/>
        </p:nvSpPr>
        <p:spPr>
          <a:xfrm>
            <a:off x="2254923" y="6466199"/>
            <a:ext cx="901529" cy="400110"/>
          </a:xfrm>
          <a:prstGeom prst="rect">
            <a:avLst/>
          </a:prstGeom>
          <a:noFill/>
        </p:spPr>
        <p:txBody>
          <a:bodyPr wrap="none" rtlCol="0">
            <a:spAutoFit/>
          </a:bodyPr>
          <a:lstStyle/>
          <a:p>
            <a:r>
              <a:rPr lang="en-GB" sz="2000" dirty="0"/>
              <a:t>Teams</a:t>
            </a:r>
            <a:endParaRPr lang="en-US" sz="2000" dirty="0"/>
          </a:p>
        </p:txBody>
      </p:sp>
      <p:sp>
        <p:nvSpPr>
          <p:cNvPr id="38" name="TextBox 37">
            <a:extLst>
              <a:ext uri="{FF2B5EF4-FFF2-40B4-BE49-F238E27FC236}">
                <a16:creationId xmlns:a16="http://schemas.microsoft.com/office/drawing/2014/main" id="{6310E10F-70CF-B404-78B5-64795D5896B2}"/>
              </a:ext>
            </a:extLst>
          </p:cNvPr>
          <p:cNvSpPr txBox="1"/>
          <p:nvPr/>
        </p:nvSpPr>
        <p:spPr>
          <a:xfrm>
            <a:off x="506559" y="6466199"/>
            <a:ext cx="1265090" cy="400110"/>
          </a:xfrm>
          <a:prstGeom prst="rect">
            <a:avLst/>
          </a:prstGeom>
          <a:noFill/>
        </p:spPr>
        <p:txBody>
          <a:bodyPr wrap="none" rtlCol="0">
            <a:spAutoFit/>
          </a:bodyPr>
          <a:lstStyle/>
          <a:p>
            <a:r>
              <a:rPr lang="en-GB" sz="2000" dirty="0"/>
              <a:t>Individual</a:t>
            </a:r>
            <a:endParaRPr lang="en-US" sz="2000" dirty="0"/>
          </a:p>
        </p:txBody>
      </p:sp>
      <p:pic>
        <p:nvPicPr>
          <p:cNvPr id="40" name="Graphic 39" descr="Cycle with people with solid fill">
            <a:extLst>
              <a:ext uri="{FF2B5EF4-FFF2-40B4-BE49-F238E27FC236}">
                <a16:creationId xmlns:a16="http://schemas.microsoft.com/office/drawing/2014/main" id="{31208182-2CBD-B0C6-4B0D-DF55980B02F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242052" y="5356826"/>
            <a:ext cx="914400" cy="914400"/>
          </a:xfrm>
          <a:prstGeom prst="rect">
            <a:avLst/>
          </a:prstGeom>
        </p:spPr>
      </p:pic>
      <p:pic>
        <p:nvPicPr>
          <p:cNvPr id="41" name="Graphic 40" descr="User with solid fill">
            <a:extLst>
              <a:ext uri="{FF2B5EF4-FFF2-40B4-BE49-F238E27FC236}">
                <a16:creationId xmlns:a16="http://schemas.microsoft.com/office/drawing/2014/main" id="{6D7DB82E-CCD7-7545-71C7-08E99168215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87265" y="5506270"/>
            <a:ext cx="733723" cy="733723"/>
          </a:xfrm>
          <a:prstGeom prst="rect">
            <a:avLst/>
          </a:prstGeom>
        </p:spPr>
      </p:pic>
      <p:pic>
        <p:nvPicPr>
          <p:cNvPr id="42" name="Graphic 41" descr="Earth globe: Africa and Europe with solid fill">
            <a:extLst>
              <a:ext uri="{FF2B5EF4-FFF2-40B4-BE49-F238E27FC236}">
                <a16:creationId xmlns:a16="http://schemas.microsoft.com/office/drawing/2014/main" id="{B5024E95-2426-5A62-02E4-12BAD6C82E3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164932" y="5371167"/>
            <a:ext cx="849919" cy="849919"/>
          </a:xfrm>
          <a:prstGeom prst="rect">
            <a:avLst/>
          </a:prstGeom>
        </p:spPr>
      </p:pic>
      <p:sp>
        <p:nvSpPr>
          <p:cNvPr id="43" name="TextBox 42">
            <a:extLst>
              <a:ext uri="{FF2B5EF4-FFF2-40B4-BE49-F238E27FC236}">
                <a16:creationId xmlns:a16="http://schemas.microsoft.com/office/drawing/2014/main" id="{5F0423CF-3145-7BC7-8561-29200F1FE7FF}"/>
              </a:ext>
            </a:extLst>
          </p:cNvPr>
          <p:cNvSpPr txBox="1"/>
          <p:nvPr/>
        </p:nvSpPr>
        <p:spPr>
          <a:xfrm>
            <a:off x="6097731" y="6494198"/>
            <a:ext cx="1146468" cy="400110"/>
          </a:xfrm>
          <a:prstGeom prst="rect">
            <a:avLst/>
          </a:prstGeom>
          <a:noFill/>
        </p:spPr>
        <p:txBody>
          <a:bodyPr wrap="none" rtlCol="0">
            <a:spAutoFit/>
          </a:bodyPr>
          <a:lstStyle/>
          <a:p>
            <a:r>
              <a:rPr lang="en-GB" sz="2000" dirty="0"/>
              <a:t>Regional</a:t>
            </a:r>
            <a:endParaRPr lang="en-US" sz="2000" dirty="0"/>
          </a:p>
        </p:txBody>
      </p:sp>
      <p:pic>
        <p:nvPicPr>
          <p:cNvPr id="44" name="Graphic 43" descr="World outline">
            <a:extLst>
              <a:ext uri="{FF2B5EF4-FFF2-40B4-BE49-F238E27FC236}">
                <a16:creationId xmlns:a16="http://schemas.microsoft.com/office/drawing/2014/main" id="{9A51898C-EDBB-6591-EE09-6E33EE7EC05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441581" y="5338927"/>
            <a:ext cx="914400" cy="914400"/>
          </a:xfrm>
          <a:prstGeom prst="rect">
            <a:avLst/>
          </a:prstGeom>
        </p:spPr>
      </p:pic>
      <p:pic>
        <p:nvPicPr>
          <p:cNvPr id="47" name="Graphic 46" descr="Schoolhouse with solid fill">
            <a:extLst>
              <a:ext uri="{FF2B5EF4-FFF2-40B4-BE49-F238E27FC236}">
                <a16:creationId xmlns:a16="http://schemas.microsoft.com/office/drawing/2014/main" id="{809DF35D-0F51-D871-D486-AE90845148D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079967" y="5338927"/>
            <a:ext cx="914400" cy="914400"/>
          </a:xfrm>
          <a:prstGeom prst="rect">
            <a:avLst/>
          </a:prstGeom>
        </p:spPr>
      </p:pic>
      <p:pic>
        <p:nvPicPr>
          <p:cNvPr id="48" name="Picture 47">
            <a:extLst>
              <a:ext uri="{FF2B5EF4-FFF2-40B4-BE49-F238E27FC236}">
                <a16:creationId xmlns:a16="http://schemas.microsoft.com/office/drawing/2014/main" id="{A586FB44-FC14-3F0E-E3E0-97EAE7F871C8}"/>
              </a:ext>
            </a:extLst>
          </p:cNvPr>
          <p:cNvPicPr>
            <a:picLocks noChangeAspect="1"/>
          </p:cNvPicPr>
          <p:nvPr/>
        </p:nvPicPr>
        <p:blipFill>
          <a:blip r:embed="rId10"/>
          <a:stretch>
            <a:fillRect/>
          </a:stretch>
        </p:blipFill>
        <p:spPr>
          <a:xfrm>
            <a:off x="7794640" y="2006070"/>
            <a:ext cx="2162159" cy="3056455"/>
          </a:xfrm>
          <a:prstGeom prst="rect">
            <a:avLst/>
          </a:prstGeom>
        </p:spPr>
      </p:pic>
      <p:sp>
        <p:nvSpPr>
          <p:cNvPr id="49" name="TextBox 48">
            <a:extLst>
              <a:ext uri="{FF2B5EF4-FFF2-40B4-BE49-F238E27FC236}">
                <a16:creationId xmlns:a16="http://schemas.microsoft.com/office/drawing/2014/main" id="{D532A8F8-AE78-C32E-4336-770EED2B2D75}"/>
              </a:ext>
            </a:extLst>
          </p:cNvPr>
          <p:cNvSpPr txBox="1"/>
          <p:nvPr/>
        </p:nvSpPr>
        <p:spPr>
          <a:xfrm>
            <a:off x="606974" y="3796442"/>
            <a:ext cx="614014" cy="400110"/>
          </a:xfrm>
          <a:prstGeom prst="rect">
            <a:avLst/>
          </a:prstGeom>
          <a:noFill/>
        </p:spPr>
        <p:txBody>
          <a:bodyPr wrap="none" rtlCol="0">
            <a:spAutoFit/>
          </a:bodyPr>
          <a:lstStyle/>
          <a:p>
            <a:r>
              <a:rPr lang="en-US" sz="2000" b="1" dirty="0"/>
              <a:t>You</a:t>
            </a:r>
          </a:p>
        </p:txBody>
      </p:sp>
      <p:pic>
        <p:nvPicPr>
          <p:cNvPr id="51" name="Graphic 50" descr="Smiling face with solid fill with solid fill">
            <a:extLst>
              <a:ext uri="{FF2B5EF4-FFF2-40B4-BE49-F238E27FC236}">
                <a16:creationId xmlns:a16="http://schemas.microsoft.com/office/drawing/2014/main" id="{5E48E82E-1B4F-0777-CB33-F4A683DB922A}"/>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52087" y="2496295"/>
            <a:ext cx="1398590" cy="1398590"/>
          </a:xfrm>
          <a:prstGeom prst="rect">
            <a:avLst/>
          </a:prstGeom>
        </p:spPr>
      </p:pic>
      <p:sp>
        <p:nvSpPr>
          <p:cNvPr id="56" name="TextBox 55">
            <a:extLst>
              <a:ext uri="{FF2B5EF4-FFF2-40B4-BE49-F238E27FC236}">
                <a16:creationId xmlns:a16="http://schemas.microsoft.com/office/drawing/2014/main" id="{B3D5EC71-C6E5-D20B-3B33-F4C2E504C041}"/>
              </a:ext>
            </a:extLst>
          </p:cNvPr>
          <p:cNvSpPr txBox="1"/>
          <p:nvPr/>
        </p:nvSpPr>
        <p:spPr>
          <a:xfrm>
            <a:off x="2458794" y="3681784"/>
            <a:ext cx="4397100" cy="830997"/>
          </a:xfrm>
          <a:prstGeom prst="rect">
            <a:avLst/>
          </a:prstGeom>
          <a:noFill/>
        </p:spPr>
        <p:txBody>
          <a:bodyPr wrap="square" rtlCol="0">
            <a:spAutoFit/>
          </a:bodyPr>
          <a:lstStyle/>
          <a:p>
            <a:pPr algn="ctr"/>
            <a:r>
              <a:rPr lang="en-US" sz="2400" dirty="0"/>
              <a:t>How Open Science is </a:t>
            </a:r>
          </a:p>
          <a:p>
            <a:pPr algn="ctr"/>
            <a:r>
              <a:rPr lang="en-US" sz="2400" b="1" dirty="0"/>
              <a:t>understood</a:t>
            </a:r>
            <a:r>
              <a:rPr lang="en-US" sz="2400" dirty="0"/>
              <a:t> and </a:t>
            </a:r>
            <a:r>
              <a:rPr lang="en-US" sz="2400" b="1" dirty="0"/>
              <a:t>practiced    </a:t>
            </a:r>
            <a:endParaRPr lang="en-US" sz="2400" dirty="0"/>
          </a:p>
        </p:txBody>
      </p:sp>
      <p:sp>
        <p:nvSpPr>
          <p:cNvPr id="58" name="TextBox 57">
            <a:extLst>
              <a:ext uri="{FF2B5EF4-FFF2-40B4-BE49-F238E27FC236}">
                <a16:creationId xmlns:a16="http://schemas.microsoft.com/office/drawing/2014/main" id="{80E3D030-F92F-047C-5041-56B2A829D516}"/>
              </a:ext>
            </a:extLst>
          </p:cNvPr>
          <p:cNvSpPr txBox="1"/>
          <p:nvPr/>
        </p:nvSpPr>
        <p:spPr>
          <a:xfrm>
            <a:off x="252087" y="863719"/>
            <a:ext cx="11112630" cy="830997"/>
          </a:xfrm>
          <a:prstGeom prst="rect">
            <a:avLst/>
          </a:prstGeom>
          <a:noFill/>
        </p:spPr>
        <p:txBody>
          <a:bodyPr wrap="square" rtlCol="0">
            <a:spAutoFit/>
          </a:bodyPr>
          <a:lstStyle/>
          <a:p>
            <a:r>
              <a:rPr lang="en-US" sz="2400" dirty="0"/>
              <a:t>The diversity of </a:t>
            </a:r>
            <a:r>
              <a:rPr lang="en-US" sz="2400" b="1" dirty="0"/>
              <a:t>pathways </a:t>
            </a:r>
            <a:r>
              <a:rPr lang="en-US" sz="2400" dirty="0"/>
              <a:t>to Open Science (e.g. research, education, policy, infrastructure) bring about different </a:t>
            </a:r>
            <a:r>
              <a:rPr lang="en-US" sz="2400" b="1" dirty="0"/>
              <a:t>conceptual</a:t>
            </a:r>
            <a:r>
              <a:rPr lang="en-US" sz="2400" dirty="0"/>
              <a:t>, </a:t>
            </a:r>
            <a:r>
              <a:rPr lang="en-US" sz="2400" b="1" dirty="0"/>
              <a:t>practical </a:t>
            </a:r>
            <a:r>
              <a:rPr lang="en-US" sz="2400" dirty="0"/>
              <a:t>and </a:t>
            </a:r>
            <a:r>
              <a:rPr lang="en-US" sz="2400" b="1" dirty="0"/>
              <a:t>equity</a:t>
            </a:r>
            <a:r>
              <a:rPr lang="en-US" sz="2400" dirty="0"/>
              <a:t> challenges</a:t>
            </a:r>
            <a:r>
              <a:rPr lang="en-US" sz="2000" dirty="0"/>
              <a:t>. </a:t>
            </a:r>
            <a:endParaRPr lang="en-US" sz="2200" dirty="0"/>
          </a:p>
        </p:txBody>
      </p:sp>
      <p:sp>
        <p:nvSpPr>
          <p:cNvPr id="59" name="TextBox 58">
            <a:extLst>
              <a:ext uri="{FF2B5EF4-FFF2-40B4-BE49-F238E27FC236}">
                <a16:creationId xmlns:a16="http://schemas.microsoft.com/office/drawing/2014/main" id="{F235B77F-091D-B361-87A5-BB592CFB210C}"/>
              </a:ext>
            </a:extLst>
          </p:cNvPr>
          <p:cNvSpPr txBox="1"/>
          <p:nvPr/>
        </p:nvSpPr>
        <p:spPr>
          <a:xfrm>
            <a:off x="2439117" y="2964757"/>
            <a:ext cx="5110499" cy="461665"/>
          </a:xfrm>
          <a:prstGeom prst="rect">
            <a:avLst/>
          </a:prstGeom>
          <a:noFill/>
        </p:spPr>
        <p:txBody>
          <a:bodyPr wrap="square" rtlCol="0">
            <a:spAutoFit/>
          </a:bodyPr>
          <a:lstStyle/>
          <a:p>
            <a:r>
              <a:rPr lang="en-US" sz="2400" dirty="0"/>
              <a:t>The</a:t>
            </a:r>
            <a:r>
              <a:rPr lang="en-US" sz="2400" b="1" dirty="0"/>
              <a:t> values</a:t>
            </a:r>
            <a:r>
              <a:rPr lang="en-US" sz="2400" dirty="0"/>
              <a:t>, </a:t>
            </a:r>
            <a:r>
              <a:rPr lang="en-US" sz="2400" b="1" dirty="0"/>
              <a:t>goals </a:t>
            </a:r>
            <a:r>
              <a:rPr lang="en-US" sz="2400" dirty="0"/>
              <a:t>and</a:t>
            </a:r>
            <a:r>
              <a:rPr lang="en-US" sz="2400" b="1" dirty="0"/>
              <a:t> standards    </a:t>
            </a:r>
            <a:endParaRPr lang="en-US" sz="2400" dirty="0"/>
          </a:p>
        </p:txBody>
      </p:sp>
      <p:sp>
        <p:nvSpPr>
          <p:cNvPr id="2" name="Rectangle 1">
            <a:extLst>
              <a:ext uri="{FF2B5EF4-FFF2-40B4-BE49-F238E27FC236}">
                <a16:creationId xmlns:a16="http://schemas.microsoft.com/office/drawing/2014/main" id="{736476EF-6A78-3302-BE1B-52BDF86F55F3}"/>
              </a:ext>
            </a:extLst>
          </p:cNvPr>
          <p:cNvSpPr/>
          <p:nvPr/>
        </p:nvSpPr>
        <p:spPr>
          <a:xfrm>
            <a:off x="312603" y="2173163"/>
            <a:ext cx="1475872" cy="2598978"/>
          </a:xfrm>
          <a:prstGeom prst="rect">
            <a:avLst/>
          </a:prstGeom>
          <a:solidFill>
            <a:schemeClr val="bg1">
              <a:alpha val="6688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2E7609A-AAA2-1B18-77CB-6D0327CA2B88}"/>
              </a:ext>
            </a:extLst>
          </p:cNvPr>
          <p:cNvSpPr/>
          <p:nvPr/>
        </p:nvSpPr>
        <p:spPr>
          <a:xfrm>
            <a:off x="7736392" y="1912863"/>
            <a:ext cx="2728407" cy="3149661"/>
          </a:xfrm>
          <a:prstGeom prst="rect">
            <a:avLst/>
          </a:prstGeom>
          <a:solidFill>
            <a:schemeClr val="bg1">
              <a:alpha val="6688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Up Arrow 5">
            <a:extLst>
              <a:ext uri="{FF2B5EF4-FFF2-40B4-BE49-F238E27FC236}">
                <a16:creationId xmlns:a16="http://schemas.microsoft.com/office/drawing/2014/main" id="{6E1C32D1-C202-C24A-8498-705155168033}"/>
              </a:ext>
            </a:extLst>
          </p:cNvPr>
          <p:cNvSpPr/>
          <p:nvPr/>
        </p:nvSpPr>
        <p:spPr>
          <a:xfrm rot="10800000">
            <a:off x="4290483" y="1694715"/>
            <a:ext cx="733723" cy="1215611"/>
          </a:xfrm>
          <a:prstGeom prst="upArrow">
            <a:avLst>
              <a:gd name="adj1" fmla="val 30435"/>
              <a:gd name="adj2" fmla="val 50000"/>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6955703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ED9C8-B1A6-AFE8-96E4-7920FFB47BCD}"/>
            </a:ext>
          </a:extLst>
        </p:cNvPr>
        <p:cNvGrpSpPr/>
        <p:nvPr/>
      </p:nvGrpSpPr>
      <p:grpSpPr>
        <a:xfrm>
          <a:off x="0" y="0"/>
          <a:ext cx="0" cy="0"/>
          <a:chOff x="0" y="0"/>
          <a:chExt cx="0" cy="0"/>
        </a:xfrm>
      </p:grpSpPr>
      <p:grpSp>
        <p:nvGrpSpPr>
          <p:cNvPr id="63" name="Group 62">
            <a:extLst>
              <a:ext uri="{FF2B5EF4-FFF2-40B4-BE49-F238E27FC236}">
                <a16:creationId xmlns:a16="http://schemas.microsoft.com/office/drawing/2014/main" id="{09C7FC41-098B-61BD-263B-95B797774780}"/>
              </a:ext>
            </a:extLst>
          </p:cNvPr>
          <p:cNvGrpSpPr/>
          <p:nvPr/>
        </p:nvGrpSpPr>
        <p:grpSpPr>
          <a:xfrm>
            <a:off x="10704849" y="6564312"/>
            <a:ext cx="1362075" cy="273690"/>
            <a:chOff x="19317" y="2690018"/>
            <a:chExt cx="11784755" cy="2025180"/>
          </a:xfrm>
        </p:grpSpPr>
        <p:pic>
          <p:nvPicPr>
            <p:cNvPr id="64" name="Picture 2">
              <a:extLst>
                <a:ext uri="{FF2B5EF4-FFF2-40B4-BE49-F238E27FC236}">
                  <a16:creationId xmlns:a16="http://schemas.microsoft.com/office/drawing/2014/main" id="{AF4353B1-FA2F-9F84-6DC0-F7CBA42E52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4">
              <a:extLst>
                <a:ext uri="{FF2B5EF4-FFF2-40B4-BE49-F238E27FC236}">
                  <a16:creationId xmlns:a16="http://schemas.microsoft.com/office/drawing/2014/main" id="{125EEEAA-B74F-9957-1163-7516F7AE7603}"/>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4" name="Title 1">
            <a:extLst>
              <a:ext uri="{FF2B5EF4-FFF2-40B4-BE49-F238E27FC236}">
                <a16:creationId xmlns:a16="http://schemas.microsoft.com/office/drawing/2014/main" id="{83A4B87E-0707-CBFA-CC7F-0294C3346555}"/>
              </a:ext>
            </a:extLst>
          </p:cNvPr>
          <p:cNvSpPr txBox="1">
            <a:spLocks/>
          </p:cNvSpPr>
          <p:nvPr/>
        </p:nvSpPr>
        <p:spPr>
          <a:xfrm>
            <a:off x="75820" y="67269"/>
            <a:ext cx="12192000" cy="765635"/>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Challenges in Open Science: diversity of domains</a:t>
            </a:r>
          </a:p>
        </p:txBody>
      </p:sp>
      <p:sp>
        <p:nvSpPr>
          <p:cNvPr id="62" name="Slide Number Placeholder 61">
            <a:extLst>
              <a:ext uri="{FF2B5EF4-FFF2-40B4-BE49-F238E27FC236}">
                <a16:creationId xmlns:a16="http://schemas.microsoft.com/office/drawing/2014/main" id="{828921D8-29B2-78D3-EB90-4B6469FC7E27}"/>
              </a:ext>
            </a:extLst>
          </p:cNvPr>
          <p:cNvSpPr>
            <a:spLocks noGrp="1"/>
          </p:cNvSpPr>
          <p:nvPr>
            <p:ph type="sldNum" sz="quarter" idx="12"/>
          </p:nvPr>
        </p:nvSpPr>
        <p:spPr>
          <a:xfrm>
            <a:off x="10711776" y="6356350"/>
            <a:ext cx="642023" cy="365125"/>
          </a:xfrm>
        </p:spPr>
        <p:txBody>
          <a:bodyPr/>
          <a:lstStyle/>
          <a:p>
            <a:fld id="{DC6309F4-03C8-4D48-A124-A9AD6E083FAC}" type="slidenum">
              <a:rPr lang="en-US" smtClean="0"/>
              <a:t>25</a:t>
            </a:fld>
            <a:endParaRPr lang="en-US" dirty="0"/>
          </a:p>
        </p:txBody>
      </p:sp>
      <p:grpSp>
        <p:nvGrpSpPr>
          <p:cNvPr id="51" name="Group 50">
            <a:extLst>
              <a:ext uri="{FF2B5EF4-FFF2-40B4-BE49-F238E27FC236}">
                <a16:creationId xmlns:a16="http://schemas.microsoft.com/office/drawing/2014/main" id="{6613AA0C-0B6B-5CD8-0CF9-7697546E89F7}"/>
              </a:ext>
            </a:extLst>
          </p:cNvPr>
          <p:cNvGrpSpPr/>
          <p:nvPr/>
        </p:nvGrpSpPr>
        <p:grpSpPr>
          <a:xfrm>
            <a:off x="89319" y="1975628"/>
            <a:ext cx="2625709" cy="1104461"/>
            <a:chOff x="89511" y="1703175"/>
            <a:chExt cx="2625709" cy="1104461"/>
          </a:xfrm>
        </p:grpSpPr>
        <p:sp>
          <p:nvSpPr>
            <p:cNvPr id="48" name="Rectangle 47">
              <a:extLst>
                <a:ext uri="{FF2B5EF4-FFF2-40B4-BE49-F238E27FC236}">
                  <a16:creationId xmlns:a16="http://schemas.microsoft.com/office/drawing/2014/main" id="{B7A27198-2972-B8AF-B780-1063E820ACA4}"/>
                </a:ext>
              </a:extLst>
            </p:cNvPr>
            <p:cNvSpPr/>
            <p:nvPr/>
          </p:nvSpPr>
          <p:spPr>
            <a:xfrm>
              <a:off x="89511" y="1703175"/>
              <a:ext cx="2565268" cy="1104461"/>
            </a:xfrm>
            <a:prstGeom prst="rect">
              <a:avLst/>
            </a:prstGeom>
            <a:solidFill>
              <a:srgbClr val="FFC000">
                <a:alpha val="1939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DE6319E9-9D4A-BC3E-4D57-B31ECE45967D}"/>
                </a:ext>
              </a:extLst>
            </p:cNvPr>
            <p:cNvSpPr txBox="1"/>
            <p:nvPr/>
          </p:nvSpPr>
          <p:spPr>
            <a:xfrm>
              <a:off x="96044" y="1769831"/>
              <a:ext cx="2506450" cy="1015663"/>
            </a:xfrm>
            <a:prstGeom prst="rect">
              <a:avLst/>
            </a:prstGeom>
            <a:noFill/>
          </p:spPr>
          <p:txBody>
            <a:bodyPr wrap="square" rtlCol="0">
              <a:spAutoFit/>
            </a:bodyPr>
            <a:lstStyle/>
            <a:p>
              <a:r>
                <a:rPr lang="en-US" sz="2000" b="1" dirty="0"/>
                <a:t>Research &amp;</a:t>
              </a:r>
            </a:p>
            <a:p>
              <a:r>
                <a:rPr lang="en-US" sz="2000" b="1" dirty="0"/>
                <a:t>Scholarly communication</a:t>
              </a:r>
            </a:p>
          </p:txBody>
        </p:sp>
        <p:pic>
          <p:nvPicPr>
            <p:cNvPr id="50" name="Graphic 49" descr="Document with solid fill">
              <a:extLst>
                <a:ext uri="{FF2B5EF4-FFF2-40B4-BE49-F238E27FC236}">
                  <a16:creationId xmlns:a16="http://schemas.microsoft.com/office/drawing/2014/main" id="{99CCD913-2C0A-B6D6-AFF2-64133E83C38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40899" y="1759055"/>
              <a:ext cx="774321" cy="774321"/>
            </a:xfrm>
            <a:prstGeom prst="rect">
              <a:avLst/>
            </a:prstGeom>
          </p:spPr>
        </p:pic>
      </p:grpSp>
      <p:grpSp>
        <p:nvGrpSpPr>
          <p:cNvPr id="2" name="Group 1">
            <a:extLst>
              <a:ext uri="{FF2B5EF4-FFF2-40B4-BE49-F238E27FC236}">
                <a16:creationId xmlns:a16="http://schemas.microsoft.com/office/drawing/2014/main" id="{405FB7F7-5E97-C9FE-AC73-5481C6098604}"/>
              </a:ext>
            </a:extLst>
          </p:cNvPr>
          <p:cNvGrpSpPr/>
          <p:nvPr/>
        </p:nvGrpSpPr>
        <p:grpSpPr>
          <a:xfrm>
            <a:off x="2827947" y="1077876"/>
            <a:ext cx="4447873" cy="3651313"/>
            <a:chOff x="1952927" y="878352"/>
            <a:chExt cx="4447873" cy="3651313"/>
          </a:xfrm>
        </p:grpSpPr>
        <p:sp>
          <p:nvSpPr>
            <p:cNvPr id="3" name="Oval 2">
              <a:extLst>
                <a:ext uri="{FF2B5EF4-FFF2-40B4-BE49-F238E27FC236}">
                  <a16:creationId xmlns:a16="http://schemas.microsoft.com/office/drawing/2014/main" id="{8F9F6E00-E564-FC77-50B6-311BA2554196}"/>
                </a:ext>
              </a:extLst>
            </p:cNvPr>
            <p:cNvSpPr/>
            <p:nvPr/>
          </p:nvSpPr>
          <p:spPr>
            <a:xfrm>
              <a:off x="1952927" y="878352"/>
              <a:ext cx="3834040" cy="3651313"/>
            </a:xfrm>
            <a:prstGeom prst="ellipse">
              <a:avLst/>
            </a:prstGeom>
            <a:solidFill>
              <a:srgbClr val="FFC000">
                <a:alpha val="4413"/>
              </a:srgbClr>
            </a:solidFill>
            <a:ln>
              <a:solidFill>
                <a:srgbClr val="FFC000">
                  <a:alpha val="6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AutoShape 40" descr="Zenodo home">
              <a:extLst>
                <a:ext uri="{FF2B5EF4-FFF2-40B4-BE49-F238E27FC236}">
                  <a16:creationId xmlns:a16="http://schemas.microsoft.com/office/drawing/2014/main" id="{0E823271-4BF5-C207-7AF1-2DF8EEC243C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6" name="AutoShape 58" descr="R (programming language) - Wikipedia">
              <a:extLst>
                <a:ext uri="{FF2B5EF4-FFF2-40B4-BE49-F238E27FC236}">
                  <a16:creationId xmlns:a16="http://schemas.microsoft.com/office/drawing/2014/main" id="{0C49B5B5-A35D-C9B2-81F3-A8DCB9DA99CA}"/>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pic>
        <p:nvPicPr>
          <p:cNvPr id="78" name="Picture 8" descr="Materialising Open Research Practices in the Humanities and Social Sciences  (MORPHSS) - CDH">
            <a:extLst>
              <a:ext uri="{FF2B5EF4-FFF2-40B4-BE49-F238E27FC236}">
                <a16:creationId xmlns:a16="http://schemas.microsoft.com/office/drawing/2014/main" id="{4E232FA4-B514-AB27-2EC4-7D52A68E269C}"/>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36585" b="37794"/>
          <a:stretch>
            <a:fillRect/>
          </a:stretch>
        </p:blipFill>
        <p:spPr bwMode="auto">
          <a:xfrm>
            <a:off x="3400606" y="1703175"/>
            <a:ext cx="1423752" cy="364779"/>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16">
            <a:extLst>
              <a:ext uri="{FF2B5EF4-FFF2-40B4-BE49-F238E27FC236}">
                <a16:creationId xmlns:a16="http://schemas.microsoft.com/office/drawing/2014/main" id="{482D0908-B92B-2B4E-36A9-0418896BBFB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83977" y="1287348"/>
            <a:ext cx="1289058" cy="389907"/>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18" descr="Replication Research logo">
            <a:extLst>
              <a:ext uri="{FF2B5EF4-FFF2-40B4-BE49-F238E27FC236}">
                <a16:creationId xmlns:a16="http://schemas.microsoft.com/office/drawing/2014/main" id="{8CBFEBF7-E088-F467-2408-C4B029521D4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89984" y="2819996"/>
            <a:ext cx="1214485" cy="191318"/>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42" descr="Zenodo - Wikipedia">
            <a:extLst>
              <a:ext uri="{FF2B5EF4-FFF2-40B4-BE49-F238E27FC236}">
                <a16:creationId xmlns:a16="http://schemas.microsoft.com/office/drawing/2014/main" id="{4FD1E8FA-B8DB-2425-34E9-8D85CCCFCC48}"/>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9706" t="7921" r="8346" b="14734"/>
          <a:stretch>
            <a:fillRect/>
          </a:stretch>
        </p:blipFill>
        <p:spPr bwMode="auto">
          <a:xfrm>
            <a:off x="4153964" y="2277663"/>
            <a:ext cx="938794" cy="322581"/>
          </a:xfrm>
          <a:prstGeom prst="rect">
            <a:avLst/>
          </a:prstGeom>
          <a:noFill/>
          <a:extLst>
            <a:ext uri="{909E8E84-426E-40DD-AFC4-6F175D3DCCD1}">
              <a14:hiddenFill xmlns:a14="http://schemas.microsoft.com/office/drawing/2010/main">
                <a:solidFill>
                  <a:srgbClr val="FFFFFF"/>
                </a:solidFill>
              </a14:hiddenFill>
            </a:ext>
          </a:extLst>
        </p:spPr>
      </p:pic>
      <p:pic>
        <p:nvPicPr>
          <p:cNvPr id="82" name="Picture 44" descr="figshare">
            <a:extLst>
              <a:ext uri="{FF2B5EF4-FFF2-40B4-BE49-F238E27FC236}">
                <a16:creationId xmlns:a16="http://schemas.microsoft.com/office/drawing/2014/main" id="{2DF13894-AD2C-6905-6BE2-61F703A86FD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24128" y="2291597"/>
            <a:ext cx="825438" cy="257023"/>
          </a:xfrm>
          <a:prstGeom prst="rect">
            <a:avLst/>
          </a:prstGeom>
          <a:noFill/>
          <a:extLst>
            <a:ext uri="{909E8E84-426E-40DD-AFC4-6F175D3DCCD1}">
              <a14:hiddenFill xmlns:a14="http://schemas.microsoft.com/office/drawing/2010/main">
                <a:solidFill>
                  <a:srgbClr val="FFFFFF"/>
                </a:solidFill>
              </a14:hiddenFill>
            </a:ext>
          </a:extLst>
        </p:spPr>
      </p:pic>
      <p:pic>
        <p:nvPicPr>
          <p:cNvPr id="14338" name="Picture 2" descr="ESNBU Backstage | Entry-2024-01-06_21-06-38">
            <a:extLst>
              <a:ext uri="{FF2B5EF4-FFF2-40B4-BE49-F238E27FC236}">
                <a16:creationId xmlns:a16="http://schemas.microsoft.com/office/drawing/2014/main" id="{881A9258-9441-D64C-304F-4DCAED25E0C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246492" y="2693422"/>
            <a:ext cx="996950" cy="3178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6760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841DC-C972-0E45-9102-DA93991C1C47}"/>
            </a:ext>
          </a:extLst>
        </p:cNvPr>
        <p:cNvGrpSpPr/>
        <p:nvPr/>
      </p:nvGrpSpPr>
      <p:grpSpPr>
        <a:xfrm>
          <a:off x="0" y="0"/>
          <a:ext cx="0" cy="0"/>
          <a:chOff x="0" y="0"/>
          <a:chExt cx="0" cy="0"/>
        </a:xfrm>
      </p:grpSpPr>
      <p:grpSp>
        <p:nvGrpSpPr>
          <p:cNvPr id="63" name="Group 62">
            <a:extLst>
              <a:ext uri="{FF2B5EF4-FFF2-40B4-BE49-F238E27FC236}">
                <a16:creationId xmlns:a16="http://schemas.microsoft.com/office/drawing/2014/main" id="{C2C72182-0EDC-832F-A94C-FAA3A7279C6B}"/>
              </a:ext>
            </a:extLst>
          </p:cNvPr>
          <p:cNvGrpSpPr/>
          <p:nvPr/>
        </p:nvGrpSpPr>
        <p:grpSpPr>
          <a:xfrm>
            <a:off x="10704849" y="6564312"/>
            <a:ext cx="1362075" cy="273690"/>
            <a:chOff x="19317" y="2690018"/>
            <a:chExt cx="11784755" cy="2025180"/>
          </a:xfrm>
        </p:grpSpPr>
        <p:pic>
          <p:nvPicPr>
            <p:cNvPr id="64" name="Picture 2">
              <a:extLst>
                <a:ext uri="{FF2B5EF4-FFF2-40B4-BE49-F238E27FC236}">
                  <a16:creationId xmlns:a16="http://schemas.microsoft.com/office/drawing/2014/main" id="{0C427FF0-9F1C-1D27-233B-5F7DFAFE8D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4">
              <a:extLst>
                <a:ext uri="{FF2B5EF4-FFF2-40B4-BE49-F238E27FC236}">
                  <a16:creationId xmlns:a16="http://schemas.microsoft.com/office/drawing/2014/main" id="{8DF472FA-E686-4E90-7316-ADC1588F361B}"/>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4" name="Title 1">
            <a:extLst>
              <a:ext uri="{FF2B5EF4-FFF2-40B4-BE49-F238E27FC236}">
                <a16:creationId xmlns:a16="http://schemas.microsoft.com/office/drawing/2014/main" id="{9A2597CD-F709-46FA-85D8-9F1BA31EDD38}"/>
              </a:ext>
            </a:extLst>
          </p:cNvPr>
          <p:cNvSpPr txBox="1">
            <a:spLocks/>
          </p:cNvSpPr>
          <p:nvPr/>
        </p:nvSpPr>
        <p:spPr>
          <a:xfrm>
            <a:off x="75820" y="67269"/>
            <a:ext cx="12192000" cy="765635"/>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Challenges in Open Science: diversity of domains</a:t>
            </a:r>
          </a:p>
        </p:txBody>
      </p:sp>
      <p:sp>
        <p:nvSpPr>
          <p:cNvPr id="62" name="Slide Number Placeholder 61">
            <a:extLst>
              <a:ext uri="{FF2B5EF4-FFF2-40B4-BE49-F238E27FC236}">
                <a16:creationId xmlns:a16="http://schemas.microsoft.com/office/drawing/2014/main" id="{07D88E87-079C-0685-AE8F-18EBCE13A681}"/>
              </a:ext>
            </a:extLst>
          </p:cNvPr>
          <p:cNvSpPr>
            <a:spLocks noGrp="1"/>
          </p:cNvSpPr>
          <p:nvPr>
            <p:ph type="sldNum" sz="quarter" idx="12"/>
          </p:nvPr>
        </p:nvSpPr>
        <p:spPr>
          <a:xfrm>
            <a:off x="10711776" y="6356350"/>
            <a:ext cx="642023" cy="365125"/>
          </a:xfrm>
        </p:spPr>
        <p:txBody>
          <a:bodyPr/>
          <a:lstStyle/>
          <a:p>
            <a:fld id="{DC6309F4-03C8-4D48-A124-A9AD6E083FAC}" type="slidenum">
              <a:rPr lang="en-US" smtClean="0"/>
              <a:t>26</a:t>
            </a:fld>
            <a:endParaRPr lang="en-US" dirty="0"/>
          </a:p>
        </p:txBody>
      </p:sp>
      <p:grpSp>
        <p:nvGrpSpPr>
          <p:cNvPr id="46" name="Group 45">
            <a:extLst>
              <a:ext uri="{FF2B5EF4-FFF2-40B4-BE49-F238E27FC236}">
                <a16:creationId xmlns:a16="http://schemas.microsoft.com/office/drawing/2014/main" id="{D852E97F-9EC1-E577-C292-C4C9BF7552BB}"/>
              </a:ext>
            </a:extLst>
          </p:cNvPr>
          <p:cNvGrpSpPr/>
          <p:nvPr/>
        </p:nvGrpSpPr>
        <p:grpSpPr>
          <a:xfrm>
            <a:off x="9281025" y="2211432"/>
            <a:ext cx="2520641" cy="956757"/>
            <a:chOff x="8364089" y="2142093"/>
            <a:chExt cx="2520641" cy="956757"/>
          </a:xfrm>
        </p:grpSpPr>
        <p:sp>
          <p:nvSpPr>
            <p:cNvPr id="35" name="Rectangle 34">
              <a:extLst>
                <a:ext uri="{FF2B5EF4-FFF2-40B4-BE49-F238E27FC236}">
                  <a16:creationId xmlns:a16="http://schemas.microsoft.com/office/drawing/2014/main" id="{4566F674-B3FF-0B15-90DC-1854A2063952}"/>
                </a:ext>
              </a:extLst>
            </p:cNvPr>
            <p:cNvSpPr/>
            <p:nvPr/>
          </p:nvSpPr>
          <p:spPr>
            <a:xfrm>
              <a:off x="8364089" y="2142093"/>
              <a:ext cx="2520641" cy="956757"/>
            </a:xfrm>
            <a:prstGeom prst="rect">
              <a:avLst/>
            </a:prstGeom>
            <a:solidFill>
              <a:schemeClr val="accent6">
                <a:lumMod val="20000"/>
                <a:lumOff val="80000"/>
                <a:alpha val="4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D58E8D64-46F0-1238-0A54-36D880FA30BD}"/>
                </a:ext>
              </a:extLst>
            </p:cNvPr>
            <p:cNvSpPr txBox="1"/>
            <p:nvPr/>
          </p:nvSpPr>
          <p:spPr>
            <a:xfrm>
              <a:off x="9127003" y="2296711"/>
              <a:ext cx="1646092" cy="707886"/>
            </a:xfrm>
            <a:prstGeom prst="rect">
              <a:avLst/>
            </a:prstGeom>
            <a:noFill/>
          </p:spPr>
          <p:txBody>
            <a:bodyPr wrap="none" rtlCol="0">
              <a:spAutoFit/>
            </a:bodyPr>
            <a:lstStyle/>
            <a:p>
              <a:r>
                <a:rPr lang="en-US" sz="2000" b="1" dirty="0"/>
                <a:t>Education &amp; </a:t>
              </a:r>
            </a:p>
            <a:p>
              <a:r>
                <a:rPr lang="en-US" sz="2000" b="1" dirty="0"/>
                <a:t>training</a:t>
              </a:r>
            </a:p>
          </p:txBody>
        </p:sp>
        <p:pic>
          <p:nvPicPr>
            <p:cNvPr id="34" name="Graphic 33" descr="Classroom with solid fill">
              <a:extLst>
                <a:ext uri="{FF2B5EF4-FFF2-40B4-BE49-F238E27FC236}">
                  <a16:creationId xmlns:a16="http://schemas.microsoft.com/office/drawing/2014/main" id="{346E888F-6C97-B5B1-D79A-F8705761016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503029" y="2336279"/>
              <a:ext cx="615512" cy="615512"/>
            </a:xfrm>
            <a:prstGeom prst="rect">
              <a:avLst/>
            </a:prstGeom>
          </p:spPr>
        </p:pic>
      </p:grpSp>
      <p:grpSp>
        <p:nvGrpSpPr>
          <p:cNvPr id="51" name="Group 50">
            <a:extLst>
              <a:ext uri="{FF2B5EF4-FFF2-40B4-BE49-F238E27FC236}">
                <a16:creationId xmlns:a16="http://schemas.microsoft.com/office/drawing/2014/main" id="{6202C163-7821-8EDA-1C1A-A8F1F82521B2}"/>
              </a:ext>
            </a:extLst>
          </p:cNvPr>
          <p:cNvGrpSpPr/>
          <p:nvPr/>
        </p:nvGrpSpPr>
        <p:grpSpPr>
          <a:xfrm>
            <a:off x="89319" y="1975628"/>
            <a:ext cx="2625709" cy="1104461"/>
            <a:chOff x="89511" y="1703175"/>
            <a:chExt cx="2625709" cy="1104461"/>
          </a:xfrm>
        </p:grpSpPr>
        <p:sp>
          <p:nvSpPr>
            <p:cNvPr id="48" name="Rectangle 47">
              <a:extLst>
                <a:ext uri="{FF2B5EF4-FFF2-40B4-BE49-F238E27FC236}">
                  <a16:creationId xmlns:a16="http://schemas.microsoft.com/office/drawing/2014/main" id="{5C8B115D-F73D-8A8E-91A1-CED6E909C02E}"/>
                </a:ext>
              </a:extLst>
            </p:cNvPr>
            <p:cNvSpPr/>
            <p:nvPr/>
          </p:nvSpPr>
          <p:spPr>
            <a:xfrm>
              <a:off x="89511" y="1703175"/>
              <a:ext cx="2565268" cy="1104461"/>
            </a:xfrm>
            <a:prstGeom prst="rect">
              <a:avLst/>
            </a:prstGeom>
            <a:solidFill>
              <a:srgbClr val="FFC000">
                <a:alpha val="1939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89D0C157-C7D4-5884-321F-FD534764BA49}"/>
                </a:ext>
              </a:extLst>
            </p:cNvPr>
            <p:cNvSpPr txBox="1"/>
            <p:nvPr/>
          </p:nvSpPr>
          <p:spPr>
            <a:xfrm>
              <a:off x="96044" y="1769831"/>
              <a:ext cx="2506450" cy="1015663"/>
            </a:xfrm>
            <a:prstGeom prst="rect">
              <a:avLst/>
            </a:prstGeom>
            <a:noFill/>
          </p:spPr>
          <p:txBody>
            <a:bodyPr wrap="square" rtlCol="0">
              <a:spAutoFit/>
            </a:bodyPr>
            <a:lstStyle/>
            <a:p>
              <a:r>
                <a:rPr lang="en-US" sz="2000" b="1" dirty="0"/>
                <a:t>Research &amp;</a:t>
              </a:r>
            </a:p>
            <a:p>
              <a:r>
                <a:rPr lang="en-US" sz="2000" b="1" dirty="0"/>
                <a:t>Scholarly communication</a:t>
              </a:r>
            </a:p>
          </p:txBody>
        </p:sp>
        <p:pic>
          <p:nvPicPr>
            <p:cNvPr id="50" name="Graphic 49" descr="Document with solid fill">
              <a:extLst>
                <a:ext uri="{FF2B5EF4-FFF2-40B4-BE49-F238E27FC236}">
                  <a16:creationId xmlns:a16="http://schemas.microsoft.com/office/drawing/2014/main" id="{411C7BD6-C3EA-0066-36FC-1CCD92D2CEA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940899" y="1759055"/>
              <a:ext cx="774321" cy="774321"/>
            </a:xfrm>
            <a:prstGeom prst="rect">
              <a:avLst/>
            </a:prstGeom>
          </p:spPr>
        </p:pic>
      </p:grpSp>
      <p:grpSp>
        <p:nvGrpSpPr>
          <p:cNvPr id="2" name="Group 1">
            <a:extLst>
              <a:ext uri="{FF2B5EF4-FFF2-40B4-BE49-F238E27FC236}">
                <a16:creationId xmlns:a16="http://schemas.microsoft.com/office/drawing/2014/main" id="{5577A667-2B4A-C487-C9DD-4129BDBAA578}"/>
              </a:ext>
            </a:extLst>
          </p:cNvPr>
          <p:cNvGrpSpPr/>
          <p:nvPr/>
        </p:nvGrpSpPr>
        <p:grpSpPr>
          <a:xfrm>
            <a:off x="2827947" y="1077876"/>
            <a:ext cx="6377637" cy="3651313"/>
            <a:chOff x="1952927" y="878352"/>
            <a:chExt cx="6377637" cy="3651313"/>
          </a:xfrm>
        </p:grpSpPr>
        <p:sp>
          <p:nvSpPr>
            <p:cNvPr id="3" name="Oval 2">
              <a:extLst>
                <a:ext uri="{FF2B5EF4-FFF2-40B4-BE49-F238E27FC236}">
                  <a16:creationId xmlns:a16="http://schemas.microsoft.com/office/drawing/2014/main" id="{9E7F86A6-A2B2-F808-C966-D072ED6C02C2}"/>
                </a:ext>
              </a:extLst>
            </p:cNvPr>
            <p:cNvSpPr/>
            <p:nvPr/>
          </p:nvSpPr>
          <p:spPr>
            <a:xfrm>
              <a:off x="1952927" y="878352"/>
              <a:ext cx="3834040" cy="3651313"/>
            </a:xfrm>
            <a:prstGeom prst="ellipse">
              <a:avLst/>
            </a:prstGeom>
            <a:solidFill>
              <a:srgbClr val="FFC000">
                <a:alpha val="4413"/>
              </a:srgbClr>
            </a:solidFill>
            <a:ln>
              <a:solidFill>
                <a:srgbClr val="FFC000">
                  <a:alpha val="6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02B2B7BB-CC25-86A3-C4B1-39048CF6891F}"/>
                </a:ext>
              </a:extLst>
            </p:cNvPr>
            <p:cNvSpPr/>
            <p:nvPr/>
          </p:nvSpPr>
          <p:spPr>
            <a:xfrm>
              <a:off x="4443191" y="878352"/>
              <a:ext cx="3887373" cy="3651313"/>
            </a:xfrm>
            <a:prstGeom prst="ellipse">
              <a:avLst/>
            </a:prstGeom>
            <a:solidFill>
              <a:srgbClr val="92D050">
                <a:alpha val="5552"/>
              </a:srgbClr>
            </a:solidFill>
            <a:ln>
              <a:solidFill>
                <a:srgbClr val="92D050">
                  <a:alpha val="6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AutoShape 40" descr="Zenodo home">
              <a:extLst>
                <a:ext uri="{FF2B5EF4-FFF2-40B4-BE49-F238E27FC236}">
                  <a16:creationId xmlns:a16="http://schemas.microsoft.com/office/drawing/2014/main" id="{E363D1FE-91E0-7E3D-5784-A4D53DEE2EB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6" name="AutoShape 58" descr="R (programming language) - Wikipedia">
              <a:extLst>
                <a:ext uri="{FF2B5EF4-FFF2-40B4-BE49-F238E27FC236}">
                  <a16:creationId xmlns:a16="http://schemas.microsoft.com/office/drawing/2014/main" id="{C27C19B4-21DE-C2CF-8AE2-0AC6D0FA802D}"/>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pic>
        <p:nvPicPr>
          <p:cNvPr id="78" name="Picture 8" descr="Materialising Open Research Practices in the Humanities and Social Sciences  (MORPHSS) - CDH">
            <a:extLst>
              <a:ext uri="{FF2B5EF4-FFF2-40B4-BE49-F238E27FC236}">
                <a16:creationId xmlns:a16="http://schemas.microsoft.com/office/drawing/2014/main" id="{EB4BE84F-A8A6-B88D-811E-838D7E334BA3}"/>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36585" b="37794"/>
          <a:stretch>
            <a:fillRect/>
          </a:stretch>
        </p:blipFill>
        <p:spPr bwMode="auto">
          <a:xfrm>
            <a:off x="3400606" y="1703175"/>
            <a:ext cx="1423752" cy="364779"/>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16">
            <a:extLst>
              <a:ext uri="{FF2B5EF4-FFF2-40B4-BE49-F238E27FC236}">
                <a16:creationId xmlns:a16="http://schemas.microsoft.com/office/drawing/2014/main" id="{D757B1FE-B150-6357-8CCF-622B77F815C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83977" y="1287348"/>
            <a:ext cx="1289058" cy="389907"/>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18" descr="Replication Research logo">
            <a:extLst>
              <a:ext uri="{FF2B5EF4-FFF2-40B4-BE49-F238E27FC236}">
                <a16:creationId xmlns:a16="http://schemas.microsoft.com/office/drawing/2014/main" id="{B824AB36-0DBC-E6E6-231F-437391B2827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89984" y="2819996"/>
            <a:ext cx="1214485" cy="191318"/>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42" descr="Zenodo - Wikipedia">
            <a:extLst>
              <a:ext uri="{FF2B5EF4-FFF2-40B4-BE49-F238E27FC236}">
                <a16:creationId xmlns:a16="http://schemas.microsoft.com/office/drawing/2014/main" id="{4862134D-FB12-BAC6-D93B-C688A5D785C8}"/>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9706" t="7921" r="8346" b="14734"/>
          <a:stretch>
            <a:fillRect/>
          </a:stretch>
        </p:blipFill>
        <p:spPr bwMode="auto">
          <a:xfrm>
            <a:off x="4153964" y="2277663"/>
            <a:ext cx="938794" cy="322581"/>
          </a:xfrm>
          <a:prstGeom prst="rect">
            <a:avLst/>
          </a:prstGeom>
          <a:noFill/>
          <a:extLst>
            <a:ext uri="{909E8E84-426E-40DD-AFC4-6F175D3DCCD1}">
              <a14:hiddenFill xmlns:a14="http://schemas.microsoft.com/office/drawing/2010/main">
                <a:solidFill>
                  <a:srgbClr val="FFFFFF"/>
                </a:solidFill>
              </a14:hiddenFill>
            </a:ext>
          </a:extLst>
        </p:spPr>
      </p:pic>
      <p:pic>
        <p:nvPicPr>
          <p:cNvPr id="82" name="Picture 44" descr="figshare">
            <a:extLst>
              <a:ext uri="{FF2B5EF4-FFF2-40B4-BE49-F238E27FC236}">
                <a16:creationId xmlns:a16="http://schemas.microsoft.com/office/drawing/2014/main" id="{EA9CA0D0-0CF7-A2ED-C56C-77E495CB617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124128" y="2291597"/>
            <a:ext cx="825438" cy="2570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4" descr="OLS | OLS">
            <a:extLst>
              <a:ext uri="{FF2B5EF4-FFF2-40B4-BE49-F238E27FC236}">
                <a16:creationId xmlns:a16="http://schemas.microsoft.com/office/drawing/2014/main" id="{ACD60CBE-A91C-AFB8-1B8D-6D467EB99AF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627495" y="2403327"/>
            <a:ext cx="544325" cy="45125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2" descr="Project TIER - YouTube">
            <a:extLst>
              <a:ext uri="{FF2B5EF4-FFF2-40B4-BE49-F238E27FC236}">
                <a16:creationId xmlns:a16="http://schemas.microsoft.com/office/drawing/2014/main" id="{41114CEF-2838-39B8-F9D5-CFB47647B78F}"/>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656161" y="1486603"/>
            <a:ext cx="625460" cy="713816"/>
          </a:xfrm>
          <a:prstGeom prst="ellipse">
            <a:avLst/>
          </a:prstGeom>
          <a:noFill/>
          <a:extLst>
            <a:ext uri="{909E8E84-426E-40DD-AFC4-6F175D3DCCD1}">
              <a14:hiddenFill xmlns:a14="http://schemas.microsoft.com/office/drawing/2010/main">
                <a:solidFill>
                  <a:srgbClr val="FFFFFF"/>
                </a:solidFill>
              </a14:hiddenFill>
            </a:ext>
          </a:extLst>
        </p:spPr>
      </p:pic>
      <p:pic>
        <p:nvPicPr>
          <p:cNvPr id="9" name="Picture 2">
            <a:extLst>
              <a:ext uri="{FF2B5EF4-FFF2-40B4-BE49-F238E27FC236}">
                <a16:creationId xmlns:a16="http://schemas.microsoft.com/office/drawing/2014/main" id="{33CC4D95-8A66-E72B-87CE-AF92DE7EE3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20023" y="1376586"/>
            <a:ext cx="1081534" cy="40182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8" descr="OpenAIRE | openscience.eu">
            <a:extLst>
              <a:ext uri="{FF2B5EF4-FFF2-40B4-BE49-F238E27FC236}">
                <a16:creationId xmlns:a16="http://schemas.microsoft.com/office/drawing/2014/main" id="{437D2420-731D-7F19-1429-6C1DB749D955}"/>
              </a:ext>
            </a:extLst>
          </p:cNvPr>
          <p:cNvPicPr>
            <a:picLocks noChangeAspect="1" noChangeArrowheads="1"/>
          </p:cNvPicPr>
          <p:nvPr/>
        </p:nvPicPr>
        <p:blipFill rotWithShape="1">
          <a:blip r:embed="rId14">
            <a:extLst>
              <a:ext uri="{28A0092B-C50C-407E-A947-70E740481C1C}">
                <a14:useLocalDpi xmlns:a14="http://schemas.microsoft.com/office/drawing/2010/main" val="0"/>
              </a:ext>
            </a:extLst>
          </a:blip>
          <a:srcRect l="2643" t="22099" r="4571" b="18540"/>
          <a:stretch>
            <a:fillRect/>
          </a:stretch>
        </p:blipFill>
        <p:spPr bwMode="auto">
          <a:xfrm>
            <a:off x="6843734" y="4177170"/>
            <a:ext cx="954106" cy="343353"/>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30" descr="United Nations Educational, Scientific and Cultural Organization (UNESCO) -  Cultural Routes">
            <a:extLst>
              <a:ext uri="{FF2B5EF4-FFF2-40B4-BE49-F238E27FC236}">
                <a16:creationId xmlns:a16="http://schemas.microsoft.com/office/drawing/2014/main" id="{ADF809C7-2BF8-E963-D08D-A1DBC6C41CE7}"/>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857151" y="3232906"/>
            <a:ext cx="801655" cy="59727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46" descr="UKRIO Logo">
            <a:extLst>
              <a:ext uri="{FF2B5EF4-FFF2-40B4-BE49-F238E27FC236}">
                <a16:creationId xmlns:a16="http://schemas.microsoft.com/office/drawing/2014/main" id="{C3FE75F2-ACF7-E66C-AA81-89DCE3A5FE72}"/>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811549" y="3759065"/>
            <a:ext cx="677758" cy="235362"/>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56" descr="The Carpentries">
            <a:extLst>
              <a:ext uri="{FF2B5EF4-FFF2-40B4-BE49-F238E27FC236}">
                <a16:creationId xmlns:a16="http://schemas.microsoft.com/office/drawing/2014/main" id="{2CF02F6A-DE36-78BB-1E57-D025C45DC343}"/>
              </a:ext>
            </a:extLst>
          </p:cNvPr>
          <p:cNvPicPr>
            <a:picLocks noChangeAspect="1" noChangeArrowheads="1"/>
          </p:cNvPicPr>
          <p:nvPr/>
        </p:nvPicPr>
        <p:blipFill rotWithShape="1">
          <a:blip r:embed="rId17">
            <a:extLst>
              <a:ext uri="{28A0092B-C50C-407E-A947-70E740481C1C}">
                <a14:useLocalDpi xmlns:a14="http://schemas.microsoft.com/office/drawing/2010/main" val="0"/>
              </a:ext>
            </a:extLst>
          </a:blip>
          <a:srcRect t="21863" b="24552"/>
          <a:stretch>
            <a:fillRect/>
          </a:stretch>
        </p:blipFill>
        <p:spPr bwMode="auto">
          <a:xfrm>
            <a:off x="6770906" y="2166938"/>
            <a:ext cx="1282937" cy="360921"/>
          </a:xfrm>
          <a:prstGeom prst="rect">
            <a:avLst/>
          </a:prstGeom>
          <a:noFill/>
          <a:extLst>
            <a:ext uri="{909E8E84-426E-40DD-AFC4-6F175D3DCCD1}">
              <a14:hiddenFill xmlns:a14="http://schemas.microsoft.com/office/drawing/2010/main">
                <a:solidFill>
                  <a:srgbClr val="FFFFFF"/>
                </a:solidFill>
              </a14:hiddenFill>
            </a:ext>
          </a:extLst>
        </p:spPr>
      </p:pic>
      <p:pic>
        <p:nvPicPr>
          <p:cNvPr id="19" name="Graphic 18" descr="Schoolhouse with solid fill">
            <a:extLst>
              <a:ext uri="{FF2B5EF4-FFF2-40B4-BE49-F238E27FC236}">
                <a16:creationId xmlns:a16="http://schemas.microsoft.com/office/drawing/2014/main" id="{9E5E4C3A-0ABA-2D00-F414-DF5DE0762D39}"/>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8210476" y="2111894"/>
            <a:ext cx="654117" cy="654117"/>
          </a:xfrm>
          <a:prstGeom prst="rect">
            <a:avLst/>
          </a:prstGeom>
        </p:spPr>
      </p:pic>
      <p:sp>
        <p:nvSpPr>
          <p:cNvPr id="20" name="TextBox 19">
            <a:extLst>
              <a:ext uri="{FF2B5EF4-FFF2-40B4-BE49-F238E27FC236}">
                <a16:creationId xmlns:a16="http://schemas.microsoft.com/office/drawing/2014/main" id="{A4525EF7-8499-A737-2133-BB0D6471C003}"/>
              </a:ext>
            </a:extLst>
          </p:cNvPr>
          <p:cNvSpPr txBox="1"/>
          <p:nvPr/>
        </p:nvSpPr>
        <p:spPr>
          <a:xfrm>
            <a:off x="8122184" y="2684905"/>
            <a:ext cx="1115384" cy="523220"/>
          </a:xfrm>
          <a:prstGeom prst="rect">
            <a:avLst/>
          </a:prstGeom>
          <a:noFill/>
        </p:spPr>
        <p:txBody>
          <a:bodyPr wrap="square" rtlCol="0">
            <a:spAutoFit/>
          </a:bodyPr>
          <a:lstStyle/>
          <a:p>
            <a:r>
              <a:rPr lang="en-US" sz="1400" dirty="0"/>
              <a:t>Education</a:t>
            </a:r>
          </a:p>
          <a:p>
            <a:r>
              <a:rPr lang="en-US" sz="1400" dirty="0"/>
              <a:t>institutions</a:t>
            </a:r>
          </a:p>
        </p:txBody>
      </p:sp>
      <p:pic>
        <p:nvPicPr>
          <p:cNvPr id="22" name="Picture 2" descr="ESNBU Backstage | Entry-2024-01-06_21-06-38">
            <a:extLst>
              <a:ext uri="{FF2B5EF4-FFF2-40B4-BE49-F238E27FC236}">
                <a16:creationId xmlns:a16="http://schemas.microsoft.com/office/drawing/2014/main" id="{F5CBB9BC-760B-AE24-A343-4E2A34C9CE02}"/>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246492" y="2693422"/>
            <a:ext cx="996950" cy="3178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86350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AE2D5-B298-585F-C727-E912D31D772C}"/>
            </a:ext>
          </a:extLst>
        </p:cNvPr>
        <p:cNvGrpSpPr/>
        <p:nvPr/>
      </p:nvGrpSpPr>
      <p:grpSpPr>
        <a:xfrm>
          <a:off x="0" y="0"/>
          <a:ext cx="0" cy="0"/>
          <a:chOff x="0" y="0"/>
          <a:chExt cx="0" cy="0"/>
        </a:xfrm>
      </p:grpSpPr>
      <p:grpSp>
        <p:nvGrpSpPr>
          <p:cNvPr id="63" name="Group 62">
            <a:extLst>
              <a:ext uri="{FF2B5EF4-FFF2-40B4-BE49-F238E27FC236}">
                <a16:creationId xmlns:a16="http://schemas.microsoft.com/office/drawing/2014/main" id="{F07B5FCF-D99B-489E-EBB2-6837901C0E69}"/>
              </a:ext>
            </a:extLst>
          </p:cNvPr>
          <p:cNvGrpSpPr/>
          <p:nvPr/>
        </p:nvGrpSpPr>
        <p:grpSpPr>
          <a:xfrm>
            <a:off x="10704849" y="6564312"/>
            <a:ext cx="1362075" cy="273690"/>
            <a:chOff x="19317" y="2690018"/>
            <a:chExt cx="11784755" cy="2025180"/>
          </a:xfrm>
        </p:grpSpPr>
        <p:pic>
          <p:nvPicPr>
            <p:cNvPr id="64" name="Picture 2">
              <a:extLst>
                <a:ext uri="{FF2B5EF4-FFF2-40B4-BE49-F238E27FC236}">
                  <a16:creationId xmlns:a16="http://schemas.microsoft.com/office/drawing/2014/main" id="{A0FC7BE1-E094-5A75-6A88-6B7E63B1C7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4">
              <a:extLst>
                <a:ext uri="{FF2B5EF4-FFF2-40B4-BE49-F238E27FC236}">
                  <a16:creationId xmlns:a16="http://schemas.microsoft.com/office/drawing/2014/main" id="{72506AE4-E3F1-C165-5424-5B2CE234B8F9}"/>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4" name="Title 1">
            <a:extLst>
              <a:ext uri="{FF2B5EF4-FFF2-40B4-BE49-F238E27FC236}">
                <a16:creationId xmlns:a16="http://schemas.microsoft.com/office/drawing/2014/main" id="{2BFE939D-54FE-E501-F203-836AA6F35AF7}"/>
              </a:ext>
            </a:extLst>
          </p:cNvPr>
          <p:cNvSpPr txBox="1">
            <a:spLocks/>
          </p:cNvSpPr>
          <p:nvPr/>
        </p:nvSpPr>
        <p:spPr>
          <a:xfrm>
            <a:off x="75820" y="67269"/>
            <a:ext cx="12192000" cy="765635"/>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Challenges in Open Science: diversity of domains</a:t>
            </a:r>
          </a:p>
        </p:txBody>
      </p:sp>
      <p:sp>
        <p:nvSpPr>
          <p:cNvPr id="62" name="Slide Number Placeholder 61">
            <a:extLst>
              <a:ext uri="{FF2B5EF4-FFF2-40B4-BE49-F238E27FC236}">
                <a16:creationId xmlns:a16="http://schemas.microsoft.com/office/drawing/2014/main" id="{F596707E-E56B-C290-33DE-2ADA8EAD9C1D}"/>
              </a:ext>
            </a:extLst>
          </p:cNvPr>
          <p:cNvSpPr>
            <a:spLocks noGrp="1"/>
          </p:cNvSpPr>
          <p:nvPr>
            <p:ph type="sldNum" sz="quarter" idx="12"/>
          </p:nvPr>
        </p:nvSpPr>
        <p:spPr>
          <a:xfrm>
            <a:off x="10711776" y="6356350"/>
            <a:ext cx="642023" cy="365125"/>
          </a:xfrm>
        </p:spPr>
        <p:txBody>
          <a:bodyPr/>
          <a:lstStyle/>
          <a:p>
            <a:fld id="{DC6309F4-03C8-4D48-A124-A9AD6E083FAC}" type="slidenum">
              <a:rPr lang="en-US" smtClean="0"/>
              <a:t>27</a:t>
            </a:fld>
            <a:endParaRPr lang="en-US" dirty="0"/>
          </a:p>
        </p:txBody>
      </p:sp>
      <p:sp>
        <p:nvSpPr>
          <p:cNvPr id="31" name="TextBox 30">
            <a:extLst>
              <a:ext uri="{FF2B5EF4-FFF2-40B4-BE49-F238E27FC236}">
                <a16:creationId xmlns:a16="http://schemas.microsoft.com/office/drawing/2014/main" id="{F189F0FE-C09D-1724-B5E6-3171EDA30FB3}"/>
              </a:ext>
            </a:extLst>
          </p:cNvPr>
          <p:cNvSpPr txBox="1"/>
          <p:nvPr/>
        </p:nvSpPr>
        <p:spPr>
          <a:xfrm>
            <a:off x="8122184" y="2684905"/>
            <a:ext cx="1115384" cy="523220"/>
          </a:xfrm>
          <a:prstGeom prst="rect">
            <a:avLst/>
          </a:prstGeom>
          <a:noFill/>
        </p:spPr>
        <p:txBody>
          <a:bodyPr wrap="square" rtlCol="0">
            <a:spAutoFit/>
          </a:bodyPr>
          <a:lstStyle/>
          <a:p>
            <a:r>
              <a:rPr lang="en-US" sz="1400" dirty="0"/>
              <a:t>Education</a:t>
            </a:r>
          </a:p>
          <a:p>
            <a:r>
              <a:rPr lang="en-US" sz="1400" dirty="0"/>
              <a:t>institutions</a:t>
            </a:r>
          </a:p>
        </p:txBody>
      </p:sp>
      <p:grpSp>
        <p:nvGrpSpPr>
          <p:cNvPr id="46" name="Group 45">
            <a:extLst>
              <a:ext uri="{FF2B5EF4-FFF2-40B4-BE49-F238E27FC236}">
                <a16:creationId xmlns:a16="http://schemas.microsoft.com/office/drawing/2014/main" id="{0608A775-FDFD-F2C3-D435-832089B9E9FA}"/>
              </a:ext>
            </a:extLst>
          </p:cNvPr>
          <p:cNvGrpSpPr/>
          <p:nvPr/>
        </p:nvGrpSpPr>
        <p:grpSpPr>
          <a:xfrm>
            <a:off x="9281025" y="2211432"/>
            <a:ext cx="2520641" cy="956757"/>
            <a:chOff x="8364089" y="2142093"/>
            <a:chExt cx="2520641" cy="956757"/>
          </a:xfrm>
        </p:grpSpPr>
        <p:sp>
          <p:nvSpPr>
            <p:cNvPr id="35" name="Rectangle 34">
              <a:extLst>
                <a:ext uri="{FF2B5EF4-FFF2-40B4-BE49-F238E27FC236}">
                  <a16:creationId xmlns:a16="http://schemas.microsoft.com/office/drawing/2014/main" id="{7D8BAE0A-833C-C17E-061F-B6CF1F4FACD0}"/>
                </a:ext>
              </a:extLst>
            </p:cNvPr>
            <p:cNvSpPr/>
            <p:nvPr/>
          </p:nvSpPr>
          <p:spPr>
            <a:xfrm>
              <a:off x="8364089" y="2142093"/>
              <a:ext cx="2520641" cy="956757"/>
            </a:xfrm>
            <a:prstGeom prst="rect">
              <a:avLst/>
            </a:prstGeom>
            <a:solidFill>
              <a:schemeClr val="accent6">
                <a:lumMod val="20000"/>
                <a:lumOff val="80000"/>
                <a:alpha val="4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64840AD9-8F16-B18A-CD48-7F9CB192D30B}"/>
                </a:ext>
              </a:extLst>
            </p:cNvPr>
            <p:cNvSpPr txBox="1"/>
            <p:nvPr/>
          </p:nvSpPr>
          <p:spPr>
            <a:xfrm>
              <a:off x="9127003" y="2296711"/>
              <a:ext cx="1646092" cy="707886"/>
            </a:xfrm>
            <a:prstGeom prst="rect">
              <a:avLst/>
            </a:prstGeom>
            <a:noFill/>
          </p:spPr>
          <p:txBody>
            <a:bodyPr wrap="none" rtlCol="0">
              <a:spAutoFit/>
            </a:bodyPr>
            <a:lstStyle/>
            <a:p>
              <a:r>
                <a:rPr lang="en-US" sz="2000" b="1" dirty="0"/>
                <a:t>Education &amp; </a:t>
              </a:r>
            </a:p>
            <a:p>
              <a:r>
                <a:rPr lang="en-US" sz="2000" b="1" dirty="0"/>
                <a:t>training</a:t>
              </a:r>
            </a:p>
          </p:txBody>
        </p:sp>
        <p:pic>
          <p:nvPicPr>
            <p:cNvPr id="34" name="Graphic 33" descr="Classroom with solid fill">
              <a:extLst>
                <a:ext uri="{FF2B5EF4-FFF2-40B4-BE49-F238E27FC236}">
                  <a16:creationId xmlns:a16="http://schemas.microsoft.com/office/drawing/2014/main" id="{ABC1C08C-CD3F-1E23-2D3C-F95CBA2624A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503029" y="2336279"/>
              <a:ext cx="615512" cy="615512"/>
            </a:xfrm>
            <a:prstGeom prst="rect">
              <a:avLst/>
            </a:prstGeom>
          </p:spPr>
        </p:pic>
      </p:grpSp>
      <p:grpSp>
        <p:nvGrpSpPr>
          <p:cNvPr id="45" name="Group 44">
            <a:extLst>
              <a:ext uri="{FF2B5EF4-FFF2-40B4-BE49-F238E27FC236}">
                <a16:creationId xmlns:a16="http://schemas.microsoft.com/office/drawing/2014/main" id="{DB133671-B209-3DBA-161D-22E513517007}"/>
              </a:ext>
            </a:extLst>
          </p:cNvPr>
          <p:cNvGrpSpPr/>
          <p:nvPr/>
        </p:nvGrpSpPr>
        <p:grpSpPr>
          <a:xfrm>
            <a:off x="2827947" y="1077876"/>
            <a:ext cx="6377637" cy="5616769"/>
            <a:chOff x="1952927" y="878352"/>
            <a:chExt cx="6377637" cy="5616769"/>
          </a:xfrm>
        </p:grpSpPr>
        <p:sp>
          <p:nvSpPr>
            <p:cNvPr id="5" name="Oval 4">
              <a:extLst>
                <a:ext uri="{FF2B5EF4-FFF2-40B4-BE49-F238E27FC236}">
                  <a16:creationId xmlns:a16="http://schemas.microsoft.com/office/drawing/2014/main" id="{321B3CD1-4DB4-8695-C890-087C8936429F}"/>
                </a:ext>
              </a:extLst>
            </p:cNvPr>
            <p:cNvSpPr/>
            <p:nvPr/>
          </p:nvSpPr>
          <p:spPr>
            <a:xfrm>
              <a:off x="1952927" y="878352"/>
              <a:ext cx="3834040" cy="3651313"/>
            </a:xfrm>
            <a:prstGeom prst="ellipse">
              <a:avLst/>
            </a:prstGeom>
            <a:solidFill>
              <a:srgbClr val="FFC000">
                <a:alpha val="4413"/>
              </a:srgbClr>
            </a:solidFill>
            <a:ln>
              <a:solidFill>
                <a:srgbClr val="FFC000">
                  <a:alpha val="6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BA1FAE53-FB7E-24A0-3BE7-3E1C9605FD49}"/>
                </a:ext>
              </a:extLst>
            </p:cNvPr>
            <p:cNvSpPr/>
            <p:nvPr/>
          </p:nvSpPr>
          <p:spPr>
            <a:xfrm>
              <a:off x="4443191" y="878352"/>
              <a:ext cx="3887373" cy="3651313"/>
            </a:xfrm>
            <a:prstGeom prst="ellipse">
              <a:avLst/>
            </a:prstGeom>
            <a:solidFill>
              <a:srgbClr val="92D050">
                <a:alpha val="5552"/>
              </a:srgbClr>
            </a:solidFill>
            <a:ln>
              <a:solidFill>
                <a:srgbClr val="92D050">
                  <a:alpha val="6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A372727F-2360-A3AB-F8C6-E71CE1693C92}"/>
                </a:ext>
              </a:extLst>
            </p:cNvPr>
            <p:cNvSpPr/>
            <p:nvPr/>
          </p:nvSpPr>
          <p:spPr>
            <a:xfrm>
              <a:off x="4415332" y="2843808"/>
              <a:ext cx="3834040" cy="3651313"/>
            </a:xfrm>
            <a:prstGeom prst="ellipse">
              <a:avLst/>
            </a:prstGeom>
            <a:solidFill>
              <a:schemeClr val="tx2">
                <a:lumMod val="50000"/>
                <a:lumOff val="50000"/>
                <a:alpha val="4700"/>
              </a:schemeClr>
            </a:solidFill>
            <a:ln>
              <a:solidFill>
                <a:schemeClr val="tx2">
                  <a:lumMod val="75000"/>
                  <a:lumOff val="25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4" descr="CoARA white paper calls for societal impact to become central to research  assessment - Inspiring Era">
              <a:extLst>
                <a:ext uri="{FF2B5EF4-FFF2-40B4-BE49-F238E27FC236}">
                  <a16:creationId xmlns:a16="http://schemas.microsoft.com/office/drawing/2014/main" id="{0BA726B3-9F59-10DE-01A0-060667B6D70F}"/>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7278" t="21775" r="3361" b="8463"/>
            <a:stretch>
              <a:fillRect/>
            </a:stretch>
          </p:blipFill>
          <p:spPr bwMode="auto">
            <a:xfrm>
              <a:off x="6012189" y="4599752"/>
              <a:ext cx="1166275" cy="489615"/>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a:extLst>
                <a:ext uri="{FF2B5EF4-FFF2-40B4-BE49-F238E27FC236}">
                  <a16:creationId xmlns:a16="http://schemas.microsoft.com/office/drawing/2014/main" id="{423D4EAE-8868-D0F4-206B-849BDBB983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45003" y="1177062"/>
              <a:ext cx="1081534" cy="401825"/>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4" descr="Center for Open Science - Wikipedia">
              <a:extLst>
                <a:ext uri="{FF2B5EF4-FFF2-40B4-BE49-F238E27FC236}">
                  <a16:creationId xmlns:a16="http://schemas.microsoft.com/office/drawing/2014/main" id="{6DD13B77-1F6E-08F0-4949-6A00823AE46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15174" y="2908050"/>
              <a:ext cx="685755" cy="411453"/>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a:extLst>
                <a:ext uri="{FF2B5EF4-FFF2-40B4-BE49-F238E27FC236}">
                  <a16:creationId xmlns:a16="http://schemas.microsoft.com/office/drawing/2014/main" id="{291DC243-F6FB-2169-9157-49126A47AD6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29761" y="5924223"/>
              <a:ext cx="669996" cy="203480"/>
            </a:xfrm>
            <a:prstGeom prst="rect">
              <a:avLst/>
            </a:prstGeom>
            <a:noFill/>
            <a:extLst>
              <a:ext uri="{909E8E84-426E-40DD-AFC4-6F175D3DCCD1}">
                <a14:hiddenFill xmlns:a14="http://schemas.microsoft.com/office/drawing/2010/main">
                  <a:solidFill>
                    <a:srgbClr val="FFFFFF"/>
                  </a:solidFill>
                </a14:hiddenFill>
              </a:ext>
            </a:extLst>
          </p:spPr>
        </p:pic>
        <p:pic>
          <p:nvPicPr>
            <p:cNvPr id="12296" name="Picture 8" descr="Materialising Open Research Practices in the Humanities and Social Sciences  (MORPHSS) - CDH">
              <a:extLst>
                <a:ext uri="{FF2B5EF4-FFF2-40B4-BE49-F238E27FC236}">
                  <a16:creationId xmlns:a16="http://schemas.microsoft.com/office/drawing/2014/main" id="{4C76C965-F518-E0D2-65A8-DF343D3DB120}"/>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t="36585" b="37794"/>
            <a:stretch>
              <a:fillRect/>
            </a:stretch>
          </p:blipFill>
          <p:spPr bwMode="auto">
            <a:xfrm>
              <a:off x="2525586" y="1503651"/>
              <a:ext cx="1423752" cy="364779"/>
            </a:xfrm>
            <a:prstGeom prst="rect">
              <a:avLst/>
            </a:prstGeom>
            <a:noFill/>
            <a:extLst>
              <a:ext uri="{909E8E84-426E-40DD-AFC4-6F175D3DCCD1}">
                <a14:hiddenFill xmlns:a14="http://schemas.microsoft.com/office/drawing/2010/main">
                  <a:solidFill>
                    <a:srgbClr val="FFFFFF"/>
                  </a:solidFill>
                </a14:hiddenFill>
              </a:ext>
            </a:extLst>
          </p:spPr>
        </p:pic>
        <p:pic>
          <p:nvPicPr>
            <p:cNvPr id="12300" name="Picture 12" descr="Open science monitoring initiative – OSMI">
              <a:extLst>
                <a:ext uri="{FF2B5EF4-FFF2-40B4-BE49-F238E27FC236}">
                  <a16:creationId xmlns:a16="http://schemas.microsoft.com/office/drawing/2014/main" id="{EBE5B6BC-6C50-6AB1-235D-16ED1AD9B2E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51173" y="5308933"/>
              <a:ext cx="1222044" cy="463517"/>
            </a:xfrm>
            <a:prstGeom prst="rect">
              <a:avLst/>
            </a:prstGeom>
            <a:noFill/>
            <a:extLst>
              <a:ext uri="{909E8E84-426E-40DD-AFC4-6F175D3DCCD1}">
                <a14:hiddenFill xmlns:a14="http://schemas.microsoft.com/office/drawing/2010/main">
                  <a:solidFill>
                    <a:srgbClr val="FFFFFF"/>
                  </a:solidFill>
                </a14:hiddenFill>
              </a:ext>
            </a:extLst>
          </p:spPr>
        </p:pic>
        <p:pic>
          <p:nvPicPr>
            <p:cNvPr id="12302" name="Picture 14" descr="OLS | OLS">
              <a:extLst>
                <a:ext uri="{FF2B5EF4-FFF2-40B4-BE49-F238E27FC236}">
                  <a16:creationId xmlns:a16="http://schemas.microsoft.com/office/drawing/2014/main" id="{400B4193-778E-8099-86F8-EBD7585AC0B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752475" y="2203803"/>
              <a:ext cx="544325" cy="451254"/>
            </a:xfrm>
            <a:prstGeom prst="rect">
              <a:avLst/>
            </a:prstGeom>
            <a:noFill/>
            <a:extLst>
              <a:ext uri="{909E8E84-426E-40DD-AFC4-6F175D3DCCD1}">
                <a14:hiddenFill xmlns:a14="http://schemas.microsoft.com/office/drawing/2010/main">
                  <a:solidFill>
                    <a:srgbClr val="FFFFFF"/>
                  </a:solidFill>
                </a14:hiddenFill>
              </a:ext>
            </a:extLst>
          </p:spPr>
        </p:pic>
        <p:pic>
          <p:nvPicPr>
            <p:cNvPr id="12304" name="Picture 16">
              <a:extLst>
                <a:ext uri="{FF2B5EF4-FFF2-40B4-BE49-F238E27FC236}">
                  <a16:creationId xmlns:a16="http://schemas.microsoft.com/office/drawing/2014/main" id="{B0CA6377-1618-566F-758D-9A8497FB6ED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08957" y="1087824"/>
              <a:ext cx="1289058" cy="389907"/>
            </a:xfrm>
            <a:prstGeom prst="rect">
              <a:avLst/>
            </a:prstGeom>
            <a:noFill/>
            <a:extLst>
              <a:ext uri="{909E8E84-426E-40DD-AFC4-6F175D3DCCD1}">
                <a14:hiddenFill xmlns:a14="http://schemas.microsoft.com/office/drawing/2010/main">
                  <a:solidFill>
                    <a:srgbClr val="FFFFFF"/>
                  </a:solidFill>
                </a14:hiddenFill>
              </a:ext>
            </a:extLst>
          </p:spPr>
        </p:pic>
        <p:pic>
          <p:nvPicPr>
            <p:cNvPr id="12306" name="Picture 18" descr="Replication Research logo">
              <a:extLst>
                <a:ext uri="{FF2B5EF4-FFF2-40B4-BE49-F238E27FC236}">
                  <a16:creationId xmlns:a16="http://schemas.microsoft.com/office/drawing/2014/main" id="{865A9EB0-5B34-7C30-F719-C42523E5F88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114964" y="2620472"/>
              <a:ext cx="1214485" cy="191318"/>
            </a:xfrm>
            <a:prstGeom prst="rect">
              <a:avLst/>
            </a:prstGeom>
            <a:noFill/>
            <a:extLst>
              <a:ext uri="{909E8E84-426E-40DD-AFC4-6F175D3DCCD1}">
                <a14:hiddenFill xmlns:a14="http://schemas.microsoft.com/office/drawing/2010/main">
                  <a:solidFill>
                    <a:srgbClr val="FFFFFF"/>
                  </a:solidFill>
                </a14:hiddenFill>
              </a:ext>
            </a:extLst>
          </p:spPr>
        </p:pic>
        <p:pic>
          <p:nvPicPr>
            <p:cNvPr id="12308" name="Picture 20">
              <a:extLst>
                <a:ext uri="{FF2B5EF4-FFF2-40B4-BE49-F238E27FC236}">
                  <a16:creationId xmlns:a16="http://schemas.microsoft.com/office/drawing/2014/main" id="{F33B2DC8-7AED-F7AF-5027-53520882A79A}"/>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692394" y="4710150"/>
              <a:ext cx="814549" cy="814549"/>
            </a:xfrm>
            <a:prstGeom prst="ellipse">
              <a:avLst/>
            </a:prstGeom>
            <a:noFill/>
            <a:extLst>
              <a:ext uri="{909E8E84-426E-40DD-AFC4-6F175D3DCCD1}">
                <a14:hiddenFill xmlns:a14="http://schemas.microsoft.com/office/drawing/2010/main">
                  <a:solidFill>
                    <a:srgbClr val="FFFFFF"/>
                  </a:solidFill>
                </a14:hiddenFill>
              </a:ext>
            </a:extLst>
          </p:spPr>
        </p:pic>
        <p:pic>
          <p:nvPicPr>
            <p:cNvPr id="12314" name="Picture 26" descr="Download Zotero Logo in SVG Vector or PNG File Format - Logo.wine">
              <a:extLst>
                <a:ext uri="{FF2B5EF4-FFF2-40B4-BE49-F238E27FC236}">
                  <a16:creationId xmlns:a16="http://schemas.microsoft.com/office/drawing/2014/main" id="{A6847059-B6B2-59BD-BE68-180C4E88326F}"/>
                </a:ext>
              </a:extLst>
            </p:cNvPr>
            <p:cNvPicPr>
              <a:picLocks noChangeAspect="1" noChangeArrowheads="1"/>
            </p:cNvPicPr>
            <p:nvPr/>
          </p:nvPicPr>
          <p:blipFill rotWithShape="1">
            <a:blip r:embed="rId15">
              <a:extLst>
                <a:ext uri="{28A0092B-C50C-407E-A947-70E740481C1C}">
                  <a14:useLocalDpi xmlns:a14="http://schemas.microsoft.com/office/drawing/2010/main" val="0"/>
                </a:ext>
              </a:extLst>
            </a:blip>
            <a:srcRect t="29491" b="29402"/>
            <a:stretch>
              <a:fillRect/>
            </a:stretch>
          </p:blipFill>
          <p:spPr bwMode="auto">
            <a:xfrm>
              <a:off x="5380841" y="5966118"/>
              <a:ext cx="1214485" cy="332823"/>
            </a:xfrm>
            <a:prstGeom prst="rect">
              <a:avLst/>
            </a:prstGeom>
            <a:noFill/>
            <a:extLst>
              <a:ext uri="{909E8E84-426E-40DD-AFC4-6F175D3DCCD1}">
                <a14:hiddenFill xmlns:a14="http://schemas.microsoft.com/office/drawing/2010/main">
                  <a:solidFill>
                    <a:srgbClr val="FFFFFF"/>
                  </a:solidFill>
                </a14:hiddenFill>
              </a:ext>
            </a:extLst>
          </p:spPr>
        </p:pic>
        <p:pic>
          <p:nvPicPr>
            <p:cNvPr id="12316" name="Picture 28" descr="OpenAIRE | openscience.eu">
              <a:extLst>
                <a:ext uri="{FF2B5EF4-FFF2-40B4-BE49-F238E27FC236}">
                  <a16:creationId xmlns:a16="http://schemas.microsoft.com/office/drawing/2014/main" id="{8A0DD017-D04E-670D-02E8-5AA4D9C0F4D6}"/>
                </a:ext>
              </a:extLst>
            </p:cNvPr>
            <p:cNvPicPr>
              <a:picLocks noChangeAspect="1" noChangeArrowheads="1"/>
            </p:cNvPicPr>
            <p:nvPr/>
          </p:nvPicPr>
          <p:blipFill rotWithShape="1">
            <a:blip r:embed="rId16">
              <a:extLst>
                <a:ext uri="{28A0092B-C50C-407E-A947-70E740481C1C}">
                  <a14:useLocalDpi xmlns:a14="http://schemas.microsoft.com/office/drawing/2010/main" val="0"/>
                </a:ext>
              </a:extLst>
            </a:blip>
            <a:srcRect l="2643" t="22099" r="4571" b="18540"/>
            <a:stretch>
              <a:fillRect/>
            </a:stretch>
          </p:blipFill>
          <p:spPr bwMode="auto">
            <a:xfrm>
              <a:off x="5968714" y="3977646"/>
              <a:ext cx="954106" cy="343353"/>
            </a:xfrm>
            <a:prstGeom prst="rect">
              <a:avLst/>
            </a:prstGeom>
            <a:noFill/>
            <a:extLst>
              <a:ext uri="{909E8E84-426E-40DD-AFC4-6F175D3DCCD1}">
                <a14:hiddenFill xmlns:a14="http://schemas.microsoft.com/office/drawing/2010/main">
                  <a:solidFill>
                    <a:srgbClr val="FFFFFF"/>
                  </a:solidFill>
                </a14:hiddenFill>
              </a:ext>
            </a:extLst>
          </p:spPr>
        </p:pic>
        <p:pic>
          <p:nvPicPr>
            <p:cNvPr id="12318" name="Picture 30" descr="United Nations Educational, Scientific and Cultural Organization (UNESCO) -  Cultural Routes">
              <a:extLst>
                <a:ext uri="{FF2B5EF4-FFF2-40B4-BE49-F238E27FC236}">
                  <a16:creationId xmlns:a16="http://schemas.microsoft.com/office/drawing/2014/main" id="{CB4354AB-F655-E865-7E23-2F21B6DCA463}"/>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982131" y="3033382"/>
              <a:ext cx="801655" cy="597272"/>
            </a:xfrm>
            <a:prstGeom prst="rect">
              <a:avLst/>
            </a:prstGeom>
            <a:noFill/>
            <a:extLst>
              <a:ext uri="{909E8E84-426E-40DD-AFC4-6F175D3DCCD1}">
                <a14:hiddenFill xmlns:a14="http://schemas.microsoft.com/office/drawing/2010/main">
                  <a:solidFill>
                    <a:srgbClr val="FFFFFF"/>
                  </a:solidFill>
                </a14:hiddenFill>
              </a:ext>
            </a:extLst>
          </p:spPr>
        </p:pic>
        <p:pic>
          <p:nvPicPr>
            <p:cNvPr id="12322" name="Picture 34" descr="A New Logo for OpenAlex - OpenAlex blog">
              <a:extLst>
                <a:ext uri="{FF2B5EF4-FFF2-40B4-BE49-F238E27FC236}">
                  <a16:creationId xmlns:a16="http://schemas.microsoft.com/office/drawing/2014/main" id="{299BECC4-A397-00B6-824C-2A362DCC9494}"/>
                </a:ext>
              </a:extLst>
            </p:cNvPr>
            <p:cNvPicPr>
              <a:picLocks noChangeAspect="1" noChangeArrowheads="1"/>
            </p:cNvPicPr>
            <p:nvPr/>
          </p:nvPicPr>
          <p:blipFill rotWithShape="1">
            <a:blip r:embed="rId18">
              <a:extLst>
                <a:ext uri="{28A0092B-C50C-407E-A947-70E740481C1C}">
                  <a14:useLocalDpi xmlns:a14="http://schemas.microsoft.com/office/drawing/2010/main" val="0"/>
                </a:ext>
              </a:extLst>
            </a:blip>
            <a:srcRect l="10695" t="30246" r="12626" b="29573"/>
            <a:stretch>
              <a:fillRect/>
            </a:stretch>
          </p:blipFill>
          <p:spPr bwMode="auto">
            <a:xfrm>
              <a:off x="7226537" y="4436399"/>
              <a:ext cx="832136" cy="235362"/>
            </a:xfrm>
            <a:prstGeom prst="rect">
              <a:avLst/>
            </a:prstGeom>
            <a:noFill/>
            <a:extLst>
              <a:ext uri="{909E8E84-426E-40DD-AFC4-6F175D3DCCD1}">
                <a14:hiddenFill xmlns:a14="http://schemas.microsoft.com/office/drawing/2010/main">
                  <a:solidFill>
                    <a:srgbClr val="FFFFFF"/>
                  </a:solidFill>
                </a14:hiddenFill>
              </a:ext>
            </a:extLst>
          </p:spPr>
        </p:pic>
        <p:sp>
          <p:nvSpPr>
            <p:cNvPr id="25" name="AutoShape 40" descr="Zenodo home">
              <a:extLst>
                <a:ext uri="{FF2B5EF4-FFF2-40B4-BE49-F238E27FC236}">
                  <a16:creationId xmlns:a16="http://schemas.microsoft.com/office/drawing/2014/main" id="{D2470BAC-CD64-DFFD-FEEF-05099180F47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2330" name="Picture 42" descr="Zenodo - Wikipedia">
              <a:extLst>
                <a:ext uri="{FF2B5EF4-FFF2-40B4-BE49-F238E27FC236}">
                  <a16:creationId xmlns:a16="http://schemas.microsoft.com/office/drawing/2014/main" id="{1B8229A9-D140-38DE-8460-2628685B13C8}"/>
                </a:ext>
              </a:extLst>
            </p:cNvPr>
            <p:cNvPicPr>
              <a:picLocks noChangeAspect="1" noChangeArrowheads="1"/>
            </p:cNvPicPr>
            <p:nvPr/>
          </p:nvPicPr>
          <p:blipFill rotWithShape="1">
            <a:blip r:embed="rId19">
              <a:extLst>
                <a:ext uri="{28A0092B-C50C-407E-A947-70E740481C1C}">
                  <a14:useLocalDpi xmlns:a14="http://schemas.microsoft.com/office/drawing/2010/main" val="0"/>
                </a:ext>
              </a:extLst>
            </a:blip>
            <a:srcRect l="9706" t="7921" r="8346" b="14734"/>
            <a:stretch>
              <a:fillRect/>
            </a:stretch>
          </p:blipFill>
          <p:spPr bwMode="auto">
            <a:xfrm>
              <a:off x="3278944" y="2078139"/>
              <a:ext cx="938794" cy="322581"/>
            </a:xfrm>
            <a:prstGeom prst="rect">
              <a:avLst/>
            </a:prstGeom>
            <a:noFill/>
            <a:extLst>
              <a:ext uri="{909E8E84-426E-40DD-AFC4-6F175D3DCCD1}">
                <a14:hiddenFill xmlns:a14="http://schemas.microsoft.com/office/drawing/2010/main">
                  <a:solidFill>
                    <a:srgbClr val="FFFFFF"/>
                  </a:solidFill>
                </a14:hiddenFill>
              </a:ext>
            </a:extLst>
          </p:spPr>
        </p:pic>
        <p:pic>
          <p:nvPicPr>
            <p:cNvPr id="12332" name="Picture 44" descr="figshare">
              <a:extLst>
                <a:ext uri="{FF2B5EF4-FFF2-40B4-BE49-F238E27FC236}">
                  <a16:creationId xmlns:a16="http://schemas.microsoft.com/office/drawing/2014/main" id="{0012B6F2-5BBF-4689-054C-C5C92FFF4DEA}"/>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249108" y="2092073"/>
              <a:ext cx="825438" cy="257023"/>
            </a:xfrm>
            <a:prstGeom prst="rect">
              <a:avLst/>
            </a:prstGeom>
            <a:noFill/>
            <a:extLst>
              <a:ext uri="{909E8E84-426E-40DD-AFC4-6F175D3DCCD1}">
                <a14:hiddenFill xmlns:a14="http://schemas.microsoft.com/office/drawing/2010/main">
                  <a:solidFill>
                    <a:srgbClr val="FFFFFF"/>
                  </a:solidFill>
                </a14:hiddenFill>
              </a:ext>
            </a:extLst>
          </p:spPr>
        </p:pic>
        <p:pic>
          <p:nvPicPr>
            <p:cNvPr id="12334" name="Picture 46" descr="UKRIO Logo">
              <a:extLst>
                <a:ext uri="{FF2B5EF4-FFF2-40B4-BE49-F238E27FC236}">
                  <a16:creationId xmlns:a16="http://schemas.microsoft.com/office/drawing/2014/main" id="{512F5C78-57C0-2E92-8BBF-8018D9E3883A}"/>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936529" y="3559541"/>
              <a:ext cx="677758" cy="235362"/>
            </a:xfrm>
            <a:prstGeom prst="rect">
              <a:avLst/>
            </a:prstGeom>
            <a:noFill/>
            <a:extLst>
              <a:ext uri="{909E8E84-426E-40DD-AFC4-6F175D3DCCD1}">
                <a14:hiddenFill xmlns:a14="http://schemas.microsoft.com/office/drawing/2010/main">
                  <a:solidFill>
                    <a:srgbClr val="FFFFFF"/>
                  </a:solidFill>
                </a14:hiddenFill>
              </a:ext>
            </a:extLst>
          </p:spPr>
        </p:pic>
        <p:pic>
          <p:nvPicPr>
            <p:cNvPr id="12340" name="Picture 52" descr="Project TIER - YouTube">
              <a:extLst>
                <a:ext uri="{FF2B5EF4-FFF2-40B4-BE49-F238E27FC236}">
                  <a16:creationId xmlns:a16="http://schemas.microsoft.com/office/drawing/2014/main" id="{618F5794-9FAC-2653-9B09-7CC264E377B1}"/>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781141" y="1287079"/>
              <a:ext cx="625460" cy="713816"/>
            </a:xfrm>
            <a:prstGeom prst="ellipse">
              <a:avLst/>
            </a:prstGeom>
            <a:noFill/>
            <a:extLst>
              <a:ext uri="{909E8E84-426E-40DD-AFC4-6F175D3DCCD1}">
                <a14:hiddenFill xmlns:a14="http://schemas.microsoft.com/office/drawing/2010/main">
                  <a:solidFill>
                    <a:srgbClr val="FFFFFF"/>
                  </a:solidFill>
                </a14:hiddenFill>
              </a:ext>
            </a:extLst>
          </p:spPr>
        </p:pic>
        <p:pic>
          <p:nvPicPr>
            <p:cNvPr id="12344" name="Picture 56" descr="The Carpentries">
              <a:extLst>
                <a:ext uri="{FF2B5EF4-FFF2-40B4-BE49-F238E27FC236}">
                  <a16:creationId xmlns:a16="http://schemas.microsoft.com/office/drawing/2014/main" id="{6DF479C2-D133-1B98-94D8-2E95EE309D6F}"/>
                </a:ext>
              </a:extLst>
            </p:cNvPr>
            <p:cNvPicPr>
              <a:picLocks noChangeAspect="1" noChangeArrowheads="1"/>
            </p:cNvPicPr>
            <p:nvPr/>
          </p:nvPicPr>
          <p:blipFill rotWithShape="1">
            <a:blip r:embed="rId23">
              <a:extLst>
                <a:ext uri="{28A0092B-C50C-407E-A947-70E740481C1C}">
                  <a14:useLocalDpi xmlns:a14="http://schemas.microsoft.com/office/drawing/2010/main" val="0"/>
                </a:ext>
              </a:extLst>
            </a:blip>
            <a:srcRect t="21863" b="24552"/>
            <a:stretch>
              <a:fillRect/>
            </a:stretch>
          </p:blipFill>
          <p:spPr bwMode="auto">
            <a:xfrm>
              <a:off x="5895886" y="1967414"/>
              <a:ext cx="1282937" cy="360921"/>
            </a:xfrm>
            <a:prstGeom prst="rect">
              <a:avLst/>
            </a:prstGeom>
            <a:noFill/>
            <a:extLst>
              <a:ext uri="{909E8E84-426E-40DD-AFC4-6F175D3DCCD1}">
                <a14:hiddenFill xmlns:a14="http://schemas.microsoft.com/office/drawing/2010/main">
                  <a:solidFill>
                    <a:srgbClr val="FFFFFF"/>
                  </a:solidFill>
                </a14:hiddenFill>
              </a:ext>
            </a:extLst>
          </p:spPr>
        </p:pic>
        <p:pic>
          <p:nvPicPr>
            <p:cNvPr id="30" name="Graphic 29" descr="Schoolhouse with solid fill">
              <a:extLst>
                <a:ext uri="{FF2B5EF4-FFF2-40B4-BE49-F238E27FC236}">
                  <a16:creationId xmlns:a16="http://schemas.microsoft.com/office/drawing/2014/main" id="{4DAC8E60-95FF-E5D2-F955-A7AE15C3AE75}"/>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7335456" y="1912370"/>
              <a:ext cx="654117" cy="654117"/>
            </a:xfrm>
            <a:prstGeom prst="rect">
              <a:avLst/>
            </a:prstGeom>
          </p:spPr>
        </p:pic>
        <p:sp>
          <p:nvSpPr>
            <p:cNvPr id="38" name="AutoShape 58" descr="R (programming language) - Wikipedia">
              <a:extLst>
                <a:ext uri="{FF2B5EF4-FFF2-40B4-BE49-F238E27FC236}">
                  <a16:creationId xmlns:a16="http://schemas.microsoft.com/office/drawing/2014/main" id="{B8AA2509-8B6C-5AF6-C9AF-3C90D936890A}"/>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9" name="Picture 38">
              <a:extLst>
                <a:ext uri="{FF2B5EF4-FFF2-40B4-BE49-F238E27FC236}">
                  <a16:creationId xmlns:a16="http://schemas.microsoft.com/office/drawing/2014/main" id="{3ADCBB96-1733-02DA-C8BA-B94FECE47A1F}"/>
                </a:ext>
              </a:extLst>
            </p:cNvPr>
            <p:cNvPicPr>
              <a:picLocks noChangeAspect="1"/>
            </p:cNvPicPr>
            <p:nvPr/>
          </p:nvPicPr>
          <p:blipFill>
            <a:blip r:embed="rId25"/>
            <a:stretch>
              <a:fillRect/>
            </a:stretch>
          </p:blipFill>
          <p:spPr>
            <a:xfrm>
              <a:off x="7347529" y="5032997"/>
              <a:ext cx="473672" cy="366376"/>
            </a:xfrm>
            <a:prstGeom prst="rect">
              <a:avLst/>
            </a:prstGeom>
          </p:spPr>
        </p:pic>
      </p:grpSp>
      <p:grpSp>
        <p:nvGrpSpPr>
          <p:cNvPr id="47" name="Group 46">
            <a:extLst>
              <a:ext uri="{FF2B5EF4-FFF2-40B4-BE49-F238E27FC236}">
                <a16:creationId xmlns:a16="http://schemas.microsoft.com/office/drawing/2014/main" id="{7BE20355-315A-BB50-AF8B-2904B18E0F28}"/>
              </a:ext>
            </a:extLst>
          </p:cNvPr>
          <p:cNvGrpSpPr/>
          <p:nvPr/>
        </p:nvGrpSpPr>
        <p:grpSpPr>
          <a:xfrm>
            <a:off x="9194614" y="4538510"/>
            <a:ext cx="2527149" cy="956757"/>
            <a:chOff x="8360212" y="4497393"/>
            <a:chExt cx="2527149" cy="956757"/>
          </a:xfrm>
        </p:grpSpPr>
        <p:sp>
          <p:nvSpPr>
            <p:cNvPr id="13" name="TextBox 12">
              <a:extLst>
                <a:ext uri="{FF2B5EF4-FFF2-40B4-BE49-F238E27FC236}">
                  <a16:creationId xmlns:a16="http://schemas.microsoft.com/office/drawing/2014/main" id="{6B425218-F2AF-4AE2-2FD9-FDDC9E93CA36}"/>
                </a:ext>
              </a:extLst>
            </p:cNvPr>
            <p:cNvSpPr txBox="1"/>
            <p:nvPr/>
          </p:nvSpPr>
          <p:spPr>
            <a:xfrm>
              <a:off x="8997024" y="4582560"/>
              <a:ext cx="1799082" cy="707886"/>
            </a:xfrm>
            <a:prstGeom prst="rect">
              <a:avLst/>
            </a:prstGeom>
            <a:noFill/>
          </p:spPr>
          <p:txBody>
            <a:bodyPr wrap="none" rtlCol="0">
              <a:spAutoFit/>
            </a:bodyPr>
            <a:lstStyle/>
            <a:p>
              <a:r>
                <a:rPr lang="en-US" sz="2000" b="1" dirty="0"/>
                <a:t>Policy &amp; </a:t>
              </a:r>
            </a:p>
            <a:p>
              <a:r>
                <a:rPr lang="en-US" sz="2000" b="1" dirty="0"/>
                <a:t>infrastructure</a:t>
              </a:r>
            </a:p>
          </p:txBody>
        </p:sp>
        <p:sp>
          <p:nvSpPr>
            <p:cNvPr id="37" name="Rectangle 36">
              <a:extLst>
                <a:ext uri="{FF2B5EF4-FFF2-40B4-BE49-F238E27FC236}">
                  <a16:creationId xmlns:a16="http://schemas.microsoft.com/office/drawing/2014/main" id="{9873FE58-BD40-907C-F485-1987C74B299A}"/>
                </a:ext>
              </a:extLst>
            </p:cNvPr>
            <p:cNvSpPr/>
            <p:nvPr/>
          </p:nvSpPr>
          <p:spPr>
            <a:xfrm>
              <a:off x="8366720" y="4497393"/>
              <a:ext cx="2520641" cy="956757"/>
            </a:xfrm>
            <a:prstGeom prst="rect">
              <a:avLst/>
            </a:prstGeom>
            <a:solidFill>
              <a:schemeClr val="tx2">
                <a:lumMod val="50000"/>
                <a:lumOff val="50000"/>
                <a:alpha val="1793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1" name="Graphic 40" descr="Clipboard Partially Ticked with solid fill">
              <a:extLst>
                <a:ext uri="{FF2B5EF4-FFF2-40B4-BE49-F238E27FC236}">
                  <a16:creationId xmlns:a16="http://schemas.microsoft.com/office/drawing/2014/main" id="{BFFC5816-1603-C72F-3648-BF629E16382C}"/>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8360212" y="4599751"/>
              <a:ext cx="751047" cy="751047"/>
            </a:xfrm>
            <a:prstGeom prst="rect">
              <a:avLst/>
            </a:prstGeom>
          </p:spPr>
        </p:pic>
      </p:grpSp>
      <p:grpSp>
        <p:nvGrpSpPr>
          <p:cNvPr id="51" name="Group 50">
            <a:extLst>
              <a:ext uri="{FF2B5EF4-FFF2-40B4-BE49-F238E27FC236}">
                <a16:creationId xmlns:a16="http://schemas.microsoft.com/office/drawing/2014/main" id="{616C6347-9F77-B8E8-0467-5C59FB7CBE99}"/>
              </a:ext>
            </a:extLst>
          </p:cNvPr>
          <p:cNvGrpSpPr/>
          <p:nvPr/>
        </p:nvGrpSpPr>
        <p:grpSpPr>
          <a:xfrm>
            <a:off x="89319" y="1975628"/>
            <a:ext cx="2625709" cy="1104461"/>
            <a:chOff x="89511" y="1703175"/>
            <a:chExt cx="2625709" cy="1104461"/>
          </a:xfrm>
        </p:grpSpPr>
        <p:sp>
          <p:nvSpPr>
            <p:cNvPr id="48" name="Rectangle 47">
              <a:extLst>
                <a:ext uri="{FF2B5EF4-FFF2-40B4-BE49-F238E27FC236}">
                  <a16:creationId xmlns:a16="http://schemas.microsoft.com/office/drawing/2014/main" id="{18185AF4-DBF3-F0D9-E68B-42D5261D254A}"/>
                </a:ext>
              </a:extLst>
            </p:cNvPr>
            <p:cNvSpPr/>
            <p:nvPr/>
          </p:nvSpPr>
          <p:spPr>
            <a:xfrm>
              <a:off x="89511" y="1703175"/>
              <a:ext cx="2565268" cy="1104461"/>
            </a:xfrm>
            <a:prstGeom prst="rect">
              <a:avLst/>
            </a:prstGeom>
            <a:solidFill>
              <a:srgbClr val="FFC000">
                <a:alpha val="1939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709876EB-FD5B-4EDC-DBDE-556181E80942}"/>
                </a:ext>
              </a:extLst>
            </p:cNvPr>
            <p:cNvSpPr txBox="1"/>
            <p:nvPr/>
          </p:nvSpPr>
          <p:spPr>
            <a:xfrm>
              <a:off x="96044" y="1769831"/>
              <a:ext cx="2506450" cy="1015663"/>
            </a:xfrm>
            <a:prstGeom prst="rect">
              <a:avLst/>
            </a:prstGeom>
            <a:noFill/>
          </p:spPr>
          <p:txBody>
            <a:bodyPr wrap="square" rtlCol="0">
              <a:spAutoFit/>
            </a:bodyPr>
            <a:lstStyle/>
            <a:p>
              <a:r>
                <a:rPr lang="en-US" sz="2000" b="1" dirty="0"/>
                <a:t>Research &amp;</a:t>
              </a:r>
            </a:p>
            <a:p>
              <a:r>
                <a:rPr lang="en-US" sz="2000" b="1" dirty="0"/>
                <a:t>Scholarly communication</a:t>
              </a:r>
            </a:p>
          </p:txBody>
        </p:sp>
        <p:pic>
          <p:nvPicPr>
            <p:cNvPr id="50" name="Graphic 49" descr="Document with solid fill">
              <a:extLst>
                <a:ext uri="{FF2B5EF4-FFF2-40B4-BE49-F238E27FC236}">
                  <a16:creationId xmlns:a16="http://schemas.microsoft.com/office/drawing/2014/main" id="{49C2DDDA-A55E-58F1-542B-420A70C8799A}"/>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1940899" y="1759055"/>
              <a:ext cx="774321" cy="774321"/>
            </a:xfrm>
            <a:prstGeom prst="rect">
              <a:avLst/>
            </a:prstGeom>
          </p:spPr>
        </p:pic>
      </p:grpSp>
      <p:pic>
        <p:nvPicPr>
          <p:cNvPr id="2" name="Picture 2" descr="ESNBU Backstage | Entry-2024-01-06_21-06-38">
            <a:extLst>
              <a:ext uri="{FF2B5EF4-FFF2-40B4-BE49-F238E27FC236}">
                <a16:creationId xmlns:a16="http://schemas.microsoft.com/office/drawing/2014/main" id="{5C444859-7B47-AC48-2FFD-AC858B06EC09}"/>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246492" y="2693422"/>
            <a:ext cx="996950" cy="317892"/>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Protocols.io — Zebrafish UCL">
            <a:extLst>
              <a:ext uri="{FF2B5EF4-FFF2-40B4-BE49-F238E27FC236}">
                <a16:creationId xmlns:a16="http://schemas.microsoft.com/office/drawing/2014/main" id="{648D3501-CD8A-A0C0-261E-482171B1DDE7}"/>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7852631" y="5659242"/>
            <a:ext cx="652434" cy="365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66789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A9E7B-A161-DCD1-C64E-1A2EB07468AC}"/>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EC12CB85-3154-1235-0837-DCBA115A5C8B}"/>
              </a:ext>
            </a:extLst>
          </p:cNvPr>
          <p:cNvSpPr/>
          <p:nvPr/>
        </p:nvSpPr>
        <p:spPr>
          <a:xfrm>
            <a:off x="9831147" y="5690096"/>
            <a:ext cx="2108586" cy="772826"/>
          </a:xfrm>
          <a:prstGeom prst="rect">
            <a:avLst/>
          </a:prstGeom>
          <a:solidFill>
            <a:schemeClr val="bg1">
              <a:lumMod val="65000"/>
              <a:alpha val="1793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3" name="Group 62">
            <a:extLst>
              <a:ext uri="{FF2B5EF4-FFF2-40B4-BE49-F238E27FC236}">
                <a16:creationId xmlns:a16="http://schemas.microsoft.com/office/drawing/2014/main" id="{7C7C7CA0-CF4B-A5C7-8BD1-9C76413E52AD}"/>
              </a:ext>
            </a:extLst>
          </p:cNvPr>
          <p:cNvGrpSpPr/>
          <p:nvPr/>
        </p:nvGrpSpPr>
        <p:grpSpPr>
          <a:xfrm>
            <a:off x="10704849" y="6564312"/>
            <a:ext cx="1362075" cy="273690"/>
            <a:chOff x="19317" y="2690018"/>
            <a:chExt cx="11784755" cy="2025180"/>
          </a:xfrm>
        </p:grpSpPr>
        <p:pic>
          <p:nvPicPr>
            <p:cNvPr id="64" name="Picture 2">
              <a:extLst>
                <a:ext uri="{FF2B5EF4-FFF2-40B4-BE49-F238E27FC236}">
                  <a16:creationId xmlns:a16="http://schemas.microsoft.com/office/drawing/2014/main" id="{2128F8F5-2BA5-55C3-00D6-D44059E5F5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4">
              <a:extLst>
                <a:ext uri="{FF2B5EF4-FFF2-40B4-BE49-F238E27FC236}">
                  <a16:creationId xmlns:a16="http://schemas.microsoft.com/office/drawing/2014/main" id="{C7F53181-49A1-2742-C597-8AEE76981469}"/>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4" name="Title 1">
            <a:extLst>
              <a:ext uri="{FF2B5EF4-FFF2-40B4-BE49-F238E27FC236}">
                <a16:creationId xmlns:a16="http://schemas.microsoft.com/office/drawing/2014/main" id="{17EA4EAD-3CC6-25CE-C614-3A9406E822C3}"/>
              </a:ext>
            </a:extLst>
          </p:cNvPr>
          <p:cNvSpPr txBox="1">
            <a:spLocks/>
          </p:cNvSpPr>
          <p:nvPr/>
        </p:nvSpPr>
        <p:spPr>
          <a:xfrm>
            <a:off x="75820" y="67269"/>
            <a:ext cx="12192000" cy="765635"/>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Challenges in Open Science: diversity of domains</a:t>
            </a:r>
          </a:p>
        </p:txBody>
      </p:sp>
      <p:sp>
        <p:nvSpPr>
          <p:cNvPr id="62" name="Slide Number Placeholder 61">
            <a:extLst>
              <a:ext uri="{FF2B5EF4-FFF2-40B4-BE49-F238E27FC236}">
                <a16:creationId xmlns:a16="http://schemas.microsoft.com/office/drawing/2014/main" id="{41F8482F-4023-3C54-4DE1-DFA16699DA56}"/>
              </a:ext>
            </a:extLst>
          </p:cNvPr>
          <p:cNvSpPr>
            <a:spLocks noGrp="1"/>
          </p:cNvSpPr>
          <p:nvPr>
            <p:ph type="sldNum" sz="quarter" idx="12"/>
          </p:nvPr>
        </p:nvSpPr>
        <p:spPr>
          <a:xfrm>
            <a:off x="10711776" y="6356350"/>
            <a:ext cx="642023" cy="365125"/>
          </a:xfrm>
        </p:spPr>
        <p:txBody>
          <a:bodyPr/>
          <a:lstStyle/>
          <a:p>
            <a:fld id="{DC6309F4-03C8-4D48-A124-A9AD6E083FAC}" type="slidenum">
              <a:rPr lang="en-US" smtClean="0"/>
              <a:t>28</a:t>
            </a:fld>
            <a:endParaRPr lang="en-US" dirty="0"/>
          </a:p>
        </p:txBody>
      </p:sp>
      <p:sp>
        <p:nvSpPr>
          <p:cNvPr id="11" name="TextBox 10">
            <a:extLst>
              <a:ext uri="{FF2B5EF4-FFF2-40B4-BE49-F238E27FC236}">
                <a16:creationId xmlns:a16="http://schemas.microsoft.com/office/drawing/2014/main" id="{6154A551-C5DC-4E21-C27E-8F51E19847E9}"/>
              </a:ext>
            </a:extLst>
          </p:cNvPr>
          <p:cNvSpPr txBox="1"/>
          <p:nvPr/>
        </p:nvSpPr>
        <p:spPr>
          <a:xfrm>
            <a:off x="152240" y="4623677"/>
            <a:ext cx="1832553" cy="707886"/>
          </a:xfrm>
          <a:prstGeom prst="rect">
            <a:avLst/>
          </a:prstGeom>
          <a:noFill/>
        </p:spPr>
        <p:txBody>
          <a:bodyPr wrap="none" rtlCol="0">
            <a:spAutoFit/>
          </a:bodyPr>
          <a:lstStyle/>
          <a:p>
            <a:r>
              <a:rPr lang="en-US" sz="2000" b="1" dirty="0"/>
              <a:t>Community &amp; </a:t>
            </a:r>
          </a:p>
          <a:p>
            <a:r>
              <a:rPr lang="en-US" sz="2000" b="1" dirty="0"/>
              <a:t>networks</a:t>
            </a:r>
          </a:p>
        </p:txBody>
      </p:sp>
      <p:sp>
        <p:nvSpPr>
          <p:cNvPr id="31" name="TextBox 30">
            <a:extLst>
              <a:ext uri="{FF2B5EF4-FFF2-40B4-BE49-F238E27FC236}">
                <a16:creationId xmlns:a16="http://schemas.microsoft.com/office/drawing/2014/main" id="{CB134C7C-71FC-F2CC-83E8-17FCDF9464FD}"/>
              </a:ext>
            </a:extLst>
          </p:cNvPr>
          <p:cNvSpPr txBox="1"/>
          <p:nvPr/>
        </p:nvSpPr>
        <p:spPr>
          <a:xfrm>
            <a:off x="8122184" y="2684905"/>
            <a:ext cx="1115384" cy="523220"/>
          </a:xfrm>
          <a:prstGeom prst="rect">
            <a:avLst/>
          </a:prstGeom>
          <a:noFill/>
        </p:spPr>
        <p:txBody>
          <a:bodyPr wrap="square" rtlCol="0">
            <a:spAutoFit/>
          </a:bodyPr>
          <a:lstStyle/>
          <a:p>
            <a:r>
              <a:rPr lang="en-US" sz="1400" dirty="0"/>
              <a:t>Education</a:t>
            </a:r>
          </a:p>
          <a:p>
            <a:r>
              <a:rPr lang="en-US" sz="1400" dirty="0"/>
              <a:t>institutions</a:t>
            </a:r>
          </a:p>
        </p:txBody>
      </p:sp>
      <p:sp>
        <p:nvSpPr>
          <p:cNvPr id="32" name="TextBox 31">
            <a:extLst>
              <a:ext uri="{FF2B5EF4-FFF2-40B4-BE49-F238E27FC236}">
                <a16:creationId xmlns:a16="http://schemas.microsoft.com/office/drawing/2014/main" id="{A5BE1612-6287-39CB-50C9-2E39B29A639E}"/>
              </a:ext>
            </a:extLst>
          </p:cNvPr>
          <p:cNvSpPr txBox="1"/>
          <p:nvPr/>
        </p:nvSpPr>
        <p:spPr>
          <a:xfrm>
            <a:off x="170289" y="719377"/>
            <a:ext cx="2816733" cy="461665"/>
          </a:xfrm>
          <a:prstGeom prst="rect">
            <a:avLst/>
          </a:prstGeom>
          <a:noFill/>
        </p:spPr>
        <p:txBody>
          <a:bodyPr wrap="none" rtlCol="0">
            <a:spAutoFit/>
          </a:bodyPr>
          <a:lstStyle/>
          <a:p>
            <a:r>
              <a:rPr lang="en-US" sz="2400" dirty="0"/>
              <a:t>Non-exhaustive list!</a:t>
            </a:r>
          </a:p>
        </p:txBody>
      </p:sp>
      <p:grpSp>
        <p:nvGrpSpPr>
          <p:cNvPr id="46" name="Group 45">
            <a:extLst>
              <a:ext uri="{FF2B5EF4-FFF2-40B4-BE49-F238E27FC236}">
                <a16:creationId xmlns:a16="http://schemas.microsoft.com/office/drawing/2014/main" id="{8931F855-F8EA-B778-2A54-4915EF791991}"/>
              </a:ext>
            </a:extLst>
          </p:cNvPr>
          <p:cNvGrpSpPr/>
          <p:nvPr/>
        </p:nvGrpSpPr>
        <p:grpSpPr>
          <a:xfrm>
            <a:off x="9281025" y="2211432"/>
            <a:ext cx="2520641" cy="956757"/>
            <a:chOff x="8364089" y="2142093"/>
            <a:chExt cx="2520641" cy="956757"/>
          </a:xfrm>
        </p:grpSpPr>
        <p:sp>
          <p:nvSpPr>
            <p:cNvPr id="35" name="Rectangle 34">
              <a:extLst>
                <a:ext uri="{FF2B5EF4-FFF2-40B4-BE49-F238E27FC236}">
                  <a16:creationId xmlns:a16="http://schemas.microsoft.com/office/drawing/2014/main" id="{1BAA38B6-C358-A4EF-1915-EE27F909B114}"/>
                </a:ext>
              </a:extLst>
            </p:cNvPr>
            <p:cNvSpPr/>
            <p:nvPr/>
          </p:nvSpPr>
          <p:spPr>
            <a:xfrm>
              <a:off x="8364089" y="2142093"/>
              <a:ext cx="2520641" cy="956757"/>
            </a:xfrm>
            <a:prstGeom prst="rect">
              <a:avLst/>
            </a:prstGeom>
            <a:solidFill>
              <a:schemeClr val="accent6">
                <a:lumMod val="20000"/>
                <a:lumOff val="80000"/>
                <a:alpha val="4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E8AA900B-AC42-FD1D-7890-27E184F973C8}"/>
                </a:ext>
              </a:extLst>
            </p:cNvPr>
            <p:cNvSpPr txBox="1"/>
            <p:nvPr/>
          </p:nvSpPr>
          <p:spPr>
            <a:xfrm>
              <a:off x="9127003" y="2296711"/>
              <a:ext cx="1646092" cy="707886"/>
            </a:xfrm>
            <a:prstGeom prst="rect">
              <a:avLst/>
            </a:prstGeom>
            <a:noFill/>
          </p:spPr>
          <p:txBody>
            <a:bodyPr wrap="none" rtlCol="0">
              <a:spAutoFit/>
            </a:bodyPr>
            <a:lstStyle/>
            <a:p>
              <a:r>
                <a:rPr lang="en-US" sz="2000" b="1" dirty="0"/>
                <a:t>Education &amp; </a:t>
              </a:r>
            </a:p>
            <a:p>
              <a:r>
                <a:rPr lang="en-US" sz="2000" b="1" dirty="0"/>
                <a:t>training</a:t>
              </a:r>
            </a:p>
          </p:txBody>
        </p:sp>
        <p:pic>
          <p:nvPicPr>
            <p:cNvPr id="34" name="Graphic 33" descr="Classroom with solid fill">
              <a:extLst>
                <a:ext uri="{FF2B5EF4-FFF2-40B4-BE49-F238E27FC236}">
                  <a16:creationId xmlns:a16="http://schemas.microsoft.com/office/drawing/2014/main" id="{39099B63-FAAE-CBB0-CA74-BBCA84B083E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503029" y="2336279"/>
              <a:ext cx="615512" cy="615512"/>
            </a:xfrm>
            <a:prstGeom prst="rect">
              <a:avLst/>
            </a:prstGeom>
          </p:spPr>
        </p:pic>
      </p:grpSp>
      <p:grpSp>
        <p:nvGrpSpPr>
          <p:cNvPr id="45" name="Group 44">
            <a:extLst>
              <a:ext uri="{FF2B5EF4-FFF2-40B4-BE49-F238E27FC236}">
                <a16:creationId xmlns:a16="http://schemas.microsoft.com/office/drawing/2014/main" id="{E505D6F6-B8E4-57DC-C84D-739072105B88}"/>
              </a:ext>
            </a:extLst>
          </p:cNvPr>
          <p:cNvGrpSpPr/>
          <p:nvPr/>
        </p:nvGrpSpPr>
        <p:grpSpPr>
          <a:xfrm>
            <a:off x="2773577" y="1077876"/>
            <a:ext cx="6432007" cy="5616769"/>
            <a:chOff x="1898557" y="878352"/>
            <a:chExt cx="6432007" cy="5616769"/>
          </a:xfrm>
        </p:grpSpPr>
        <p:sp>
          <p:nvSpPr>
            <p:cNvPr id="5" name="Oval 4">
              <a:extLst>
                <a:ext uri="{FF2B5EF4-FFF2-40B4-BE49-F238E27FC236}">
                  <a16:creationId xmlns:a16="http://schemas.microsoft.com/office/drawing/2014/main" id="{2B40DC04-3842-7819-0F78-29094529AF77}"/>
                </a:ext>
              </a:extLst>
            </p:cNvPr>
            <p:cNvSpPr/>
            <p:nvPr/>
          </p:nvSpPr>
          <p:spPr>
            <a:xfrm>
              <a:off x="1952927" y="878352"/>
              <a:ext cx="3834040" cy="3651313"/>
            </a:xfrm>
            <a:prstGeom prst="ellipse">
              <a:avLst/>
            </a:prstGeom>
            <a:solidFill>
              <a:srgbClr val="FFC000">
                <a:alpha val="4413"/>
              </a:srgbClr>
            </a:solidFill>
            <a:ln>
              <a:solidFill>
                <a:srgbClr val="FFC000">
                  <a:alpha val="6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F96EA1F3-05C7-5987-B4BE-253DCDECF67E}"/>
                </a:ext>
              </a:extLst>
            </p:cNvPr>
            <p:cNvSpPr/>
            <p:nvPr/>
          </p:nvSpPr>
          <p:spPr>
            <a:xfrm>
              <a:off x="4443191" y="878352"/>
              <a:ext cx="3887373" cy="3651313"/>
            </a:xfrm>
            <a:prstGeom prst="ellipse">
              <a:avLst/>
            </a:prstGeom>
            <a:solidFill>
              <a:srgbClr val="92D050">
                <a:alpha val="5552"/>
              </a:srgbClr>
            </a:solidFill>
            <a:ln>
              <a:solidFill>
                <a:srgbClr val="92D050">
                  <a:alpha val="6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BFFBEB31-8F47-8F6A-A8A4-2C4D1BCA1F37}"/>
                </a:ext>
              </a:extLst>
            </p:cNvPr>
            <p:cNvSpPr/>
            <p:nvPr/>
          </p:nvSpPr>
          <p:spPr>
            <a:xfrm>
              <a:off x="4415332" y="2843808"/>
              <a:ext cx="3834040" cy="3651313"/>
            </a:xfrm>
            <a:prstGeom prst="ellipse">
              <a:avLst/>
            </a:prstGeom>
            <a:solidFill>
              <a:schemeClr val="tx2">
                <a:lumMod val="50000"/>
                <a:lumOff val="50000"/>
                <a:alpha val="4700"/>
              </a:schemeClr>
            </a:solidFill>
            <a:ln>
              <a:solidFill>
                <a:schemeClr val="tx2">
                  <a:lumMod val="75000"/>
                  <a:lumOff val="25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2308059C-3D58-8971-BFB8-FD69384BA7DF}"/>
                </a:ext>
              </a:extLst>
            </p:cNvPr>
            <p:cNvSpPr/>
            <p:nvPr/>
          </p:nvSpPr>
          <p:spPr>
            <a:xfrm>
              <a:off x="1898557" y="2827864"/>
              <a:ext cx="3975268" cy="3642123"/>
            </a:xfrm>
            <a:prstGeom prst="ellipse">
              <a:avLst/>
            </a:prstGeom>
            <a:solidFill>
              <a:srgbClr val="7030A0">
                <a:alpha val="5000"/>
              </a:srgbClr>
            </a:solidFill>
            <a:ln>
              <a:solidFill>
                <a:srgbClr val="7030A0">
                  <a:alpha val="6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2" descr="Africa">
              <a:extLst>
                <a:ext uri="{FF2B5EF4-FFF2-40B4-BE49-F238E27FC236}">
                  <a16:creationId xmlns:a16="http://schemas.microsoft.com/office/drawing/2014/main" id="{DA47A9C8-8330-06F8-787A-CF6E7C9D0204}"/>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28129" b="28565"/>
            <a:stretch>
              <a:fillRect/>
            </a:stretch>
          </p:blipFill>
          <p:spPr bwMode="auto">
            <a:xfrm>
              <a:off x="3388324" y="5815998"/>
              <a:ext cx="1195968" cy="517911"/>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6" descr="ReproducibiliTea | University Library | Newcastle University">
              <a:extLst>
                <a:ext uri="{FF2B5EF4-FFF2-40B4-BE49-F238E27FC236}">
                  <a16:creationId xmlns:a16="http://schemas.microsoft.com/office/drawing/2014/main" id="{D7432EDD-60C3-75BF-D5D4-B58950E619D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86871" y="4976702"/>
              <a:ext cx="755293" cy="75529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4" descr="CoARA white paper calls for societal impact to become central to research  assessment - Inspiring Era">
              <a:extLst>
                <a:ext uri="{FF2B5EF4-FFF2-40B4-BE49-F238E27FC236}">
                  <a16:creationId xmlns:a16="http://schemas.microsoft.com/office/drawing/2014/main" id="{B22519C2-F2DF-5A4B-ED8C-2CEF6C0E149A}"/>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7278" t="21775" r="3361" b="8463"/>
            <a:stretch>
              <a:fillRect/>
            </a:stretch>
          </p:blipFill>
          <p:spPr bwMode="auto">
            <a:xfrm>
              <a:off x="6012189" y="4599752"/>
              <a:ext cx="1166275" cy="489615"/>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a:extLst>
                <a:ext uri="{FF2B5EF4-FFF2-40B4-BE49-F238E27FC236}">
                  <a16:creationId xmlns:a16="http://schemas.microsoft.com/office/drawing/2014/main" id="{6CFEF0ED-575E-FB6B-2274-CB8D21C606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45003" y="1177062"/>
              <a:ext cx="1081534" cy="401825"/>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4" descr="Center for Open Science - Wikipedia">
              <a:extLst>
                <a:ext uri="{FF2B5EF4-FFF2-40B4-BE49-F238E27FC236}">
                  <a16:creationId xmlns:a16="http://schemas.microsoft.com/office/drawing/2014/main" id="{C3839DD1-3837-6D10-809A-9859308EFCF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15174" y="2908050"/>
              <a:ext cx="685755" cy="411453"/>
            </a:xfrm>
            <a:prstGeom prst="rect">
              <a:avLst/>
            </a:prstGeom>
            <a:noFill/>
            <a:extLst>
              <a:ext uri="{909E8E84-426E-40DD-AFC4-6F175D3DCCD1}">
                <a14:hiddenFill xmlns:a14="http://schemas.microsoft.com/office/drawing/2010/main">
                  <a:solidFill>
                    <a:srgbClr val="FFFFFF"/>
                  </a:solidFill>
                </a14:hiddenFill>
              </a:ext>
            </a:extLst>
          </p:spPr>
        </p:pic>
        <p:pic>
          <p:nvPicPr>
            <p:cNvPr id="12290" name="Picture 2" descr="SORTEE logo">
              <a:extLst>
                <a:ext uri="{FF2B5EF4-FFF2-40B4-BE49-F238E27FC236}">
                  <a16:creationId xmlns:a16="http://schemas.microsoft.com/office/drawing/2014/main" id="{02BF37CB-4093-FAA6-9020-8546C51D232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78545" y="4405364"/>
              <a:ext cx="1706801" cy="609572"/>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a:extLst>
                <a:ext uri="{FF2B5EF4-FFF2-40B4-BE49-F238E27FC236}">
                  <a16:creationId xmlns:a16="http://schemas.microsoft.com/office/drawing/2014/main" id="{96BEAFA7-E8FB-1BF8-4893-83BC5008655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629761" y="5924223"/>
              <a:ext cx="669996" cy="203480"/>
            </a:xfrm>
            <a:prstGeom prst="rect">
              <a:avLst/>
            </a:prstGeom>
            <a:noFill/>
            <a:extLst>
              <a:ext uri="{909E8E84-426E-40DD-AFC4-6F175D3DCCD1}">
                <a14:hiddenFill xmlns:a14="http://schemas.microsoft.com/office/drawing/2010/main">
                  <a:solidFill>
                    <a:srgbClr val="FFFFFF"/>
                  </a:solidFill>
                </a14:hiddenFill>
              </a:ext>
            </a:extLst>
          </p:spPr>
        </p:pic>
        <p:pic>
          <p:nvPicPr>
            <p:cNvPr id="12296" name="Picture 8" descr="Materialising Open Research Practices in the Humanities and Social Sciences  (MORPHSS) - CDH">
              <a:extLst>
                <a:ext uri="{FF2B5EF4-FFF2-40B4-BE49-F238E27FC236}">
                  <a16:creationId xmlns:a16="http://schemas.microsoft.com/office/drawing/2014/main" id="{C1079FE8-FA7A-DEAB-3E44-F15C1674D5FA}"/>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t="36585" b="37794"/>
            <a:stretch>
              <a:fillRect/>
            </a:stretch>
          </p:blipFill>
          <p:spPr bwMode="auto">
            <a:xfrm>
              <a:off x="2525586" y="1503651"/>
              <a:ext cx="1423752" cy="364779"/>
            </a:xfrm>
            <a:prstGeom prst="rect">
              <a:avLst/>
            </a:prstGeom>
            <a:noFill/>
            <a:extLst>
              <a:ext uri="{909E8E84-426E-40DD-AFC4-6F175D3DCCD1}">
                <a14:hiddenFill xmlns:a14="http://schemas.microsoft.com/office/drawing/2010/main">
                  <a:solidFill>
                    <a:srgbClr val="FFFFFF"/>
                  </a:solidFill>
                </a14:hiddenFill>
              </a:ext>
            </a:extLst>
          </p:spPr>
        </p:pic>
        <p:pic>
          <p:nvPicPr>
            <p:cNvPr id="12298" name="Picture 10" descr="The Turing Way">
              <a:extLst>
                <a:ext uri="{FF2B5EF4-FFF2-40B4-BE49-F238E27FC236}">
                  <a16:creationId xmlns:a16="http://schemas.microsoft.com/office/drawing/2014/main" id="{ADC527BD-E24B-17EA-18CE-5D8C0D263428}"/>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12406" y="4075552"/>
              <a:ext cx="584017" cy="673865"/>
            </a:xfrm>
            <a:prstGeom prst="rect">
              <a:avLst/>
            </a:prstGeom>
            <a:noFill/>
            <a:extLst>
              <a:ext uri="{909E8E84-426E-40DD-AFC4-6F175D3DCCD1}">
                <a14:hiddenFill xmlns:a14="http://schemas.microsoft.com/office/drawing/2010/main">
                  <a:solidFill>
                    <a:srgbClr val="FFFFFF"/>
                  </a:solidFill>
                </a14:hiddenFill>
              </a:ext>
            </a:extLst>
          </p:spPr>
        </p:pic>
        <p:pic>
          <p:nvPicPr>
            <p:cNvPr id="12302" name="Picture 14" descr="OLS | OLS">
              <a:extLst>
                <a:ext uri="{FF2B5EF4-FFF2-40B4-BE49-F238E27FC236}">
                  <a16:creationId xmlns:a16="http://schemas.microsoft.com/office/drawing/2014/main" id="{DC4D4B73-05CF-7792-EE39-8B4CBCEBB25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752475" y="2203803"/>
              <a:ext cx="544325" cy="451254"/>
            </a:xfrm>
            <a:prstGeom prst="rect">
              <a:avLst/>
            </a:prstGeom>
            <a:noFill/>
            <a:extLst>
              <a:ext uri="{909E8E84-426E-40DD-AFC4-6F175D3DCCD1}">
                <a14:hiddenFill xmlns:a14="http://schemas.microsoft.com/office/drawing/2010/main">
                  <a:solidFill>
                    <a:srgbClr val="FFFFFF"/>
                  </a:solidFill>
                </a14:hiddenFill>
              </a:ext>
            </a:extLst>
          </p:spPr>
        </p:pic>
        <p:pic>
          <p:nvPicPr>
            <p:cNvPr id="12304" name="Picture 16">
              <a:extLst>
                <a:ext uri="{FF2B5EF4-FFF2-40B4-BE49-F238E27FC236}">
                  <a16:creationId xmlns:a16="http://schemas.microsoft.com/office/drawing/2014/main" id="{5B80158B-0EDD-5136-575B-C870C3F8ED06}"/>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208957" y="1087824"/>
              <a:ext cx="1289058" cy="389907"/>
            </a:xfrm>
            <a:prstGeom prst="rect">
              <a:avLst/>
            </a:prstGeom>
            <a:noFill/>
            <a:extLst>
              <a:ext uri="{909E8E84-426E-40DD-AFC4-6F175D3DCCD1}">
                <a14:hiddenFill xmlns:a14="http://schemas.microsoft.com/office/drawing/2010/main">
                  <a:solidFill>
                    <a:srgbClr val="FFFFFF"/>
                  </a:solidFill>
                </a14:hiddenFill>
              </a:ext>
            </a:extLst>
          </p:spPr>
        </p:pic>
        <p:pic>
          <p:nvPicPr>
            <p:cNvPr id="12306" name="Picture 18" descr="Replication Research logo">
              <a:extLst>
                <a:ext uri="{FF2B5EF4-FFF2-40B4-BE49-F238E27FC236}">
                  <a16:creationId xmlns:a16="http://schemas.microsoft.com/office/drawing/2014/main" id="{EC89D6DD-B951-6895-8FF5-7183906CD90B}"/>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114964" y="2620472"/>
              <a:ext cx="1214485" cy="191318"/>
            </a:xfrm>
            <a:prstGeom prst="rect">
              <a:avLst/>
            </a:prstGeom>
            <a:noFill/>
            <a:extLst>
              <a:ext uri="{909E8E84-426E-40DD-AFC4-6F175D3DCCD1}">
                <a14:hiddenFill xmlns:a14="http://schemas.microsoft.com/office/drawing/2010/main">
                  <a:solidFill>
                    <a:srgbClr val="FFFFFF"/>
                  </a:solidFill>
                </a14:hiddenFill>
              </a:ext>
            </a:extLst>
          </p:spPr>
        </p:pic>
        <p:pic>
          <p:nvPicPr>
            <p:cNvPr id="12308" name="Picture 20">
              <a:extLst>
                <a:ext uri="{FF2B5EF4-FFF2-40B4-BE49-F238E27FC236}">
                  <a16:creationId xmlns:a16="http://schemas.microsoft.com/office/drawing/2014/main" id="{57C8D6E1-8B8B-C50F-A33B-CA348BE3C84D}"/>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692394" y="4710150"/>
              <a:ext cx="814549" cy="814549"/>
            </a:xfrm>
            <a:prstGeom prst="ellipse">
              <a:avLst/>
            </a:prstGeom>
            <a:noFill/>
            <a:extLst>
              <a:ext uri="{909E8E84-426E-40DD-AFC4-6F175D3DCCD1}">
                <a14:hiddenFill xmlns:a14="http://schemas.microsoft.com/office/drawing/2010/main">
                  <a:solidFill>
                    <a:srgbClr val="FFFFFF"/>
                  </a:solidFill>
                </a14:hiddenFill>
              </a:ext>
            </a:extLst>
          </p:spPr>
        </p:pic>
        <p:pic>
          <p:nvPicPr>
            <p:cNvPr id="12314" name="Picture 26" descr="Download Zotero Logo in SVG Vector or PNG File Format - Logo.wine">
              <a:extLst>
                <a:ext uri="{FF2B5EF4-FFF2-40B4-BE49-F238E27FC236}">
                  <a16:creationId xmlns:a16="http://schemas.microsoft.com/office/drawing/2014/main" id="{81531FFC-8E46-5FC8-9617-DB1456A7DF21}"/>
                </a:ext>
              </a:extLst>
            </p:cNvPr>
            <p:cNvPicPr>
              <a:picLocks noChangeAspect="1" noChangeArrowheads="1"/>
            </p:cNvPicPr>
            <p:nvPr/>
          </p:nvPicPr>
          <p:blipFill rotWithShape="1">
            <a:blip r:embed="rId18">
              <a:extLst>
                <a:ext uri="{28A0092B-C50C-407E-A947-70E740481C1C}">
                  <a14:useLocalDpi xmlns:a14="http://schemas.microsoft.com/office/drawing/2010/main" val="0"/>
                </a:ext>
              </a:extLst>
            </a:blip>
            <a:srcRect t="29491" b="29402"/>
            <a:stretch>
              <a:fillRect/>
            </a:stretch>
          </p:blipFill>
          <p:spPr bwMode="auto">
            <a:xfrm>
              <a:off x="5380841" y="5966118"/>
              <a:ext cx="1214485" cy="332823"/>
            </a:xfrm>
            <a:prstGeom prst="rect">
              <a:avLst/>
            </a:prstGeom>
            <a:noFill/>
            <a:extLst>
              <a:ext uri="{909E8E84-426E-40DD-AFC4-6F175D3DCCD1}">
                <a14:hiddenFill xmlns:a14="http://schemas.microsoft.com/office/drawing/2010/main">
                  <a:solidFill>
                    <a:srgbClr val="FFFFFF"/>
                  </a:solidFill>
                </a14:hiddenFill>
              </a:ext>
            </a:extLst>
          </p:spPr>
        </p:pic>
        <p:pic>
          <p:nvPicPr>
            <p:cNvPr id="12316" name="Picture 28" descr="OpenAIRE | openscience.eu">
              <a:extLst>
                <a:ext uri="{FF2B5EF4-FFF2-40B4-BE49-F238E27FC236}">
                  <a16:creationId xmlns:a16="http://schemas.microsoft.com/office/drawing/2014/main" id="{9CE71C52-82F0-1E01-533A-89197A4105BE}"/>
                </a:ext>
              </a:extLst>
            </p:cNvPr>
            <p:cNvPicPr>
              <a:picLocks noChangeAspect="1" noChangeArrowheads="1"/>
            </p:cNvPicPr>
            <p:nvPr/>
          </p:nvPicPr>
          <p:blipFill rotWithShape="1">
            <a:blip r:embed="rId19">
              <a:extLst>
                <a:ext uri="{28A0092B-C50C-407E-A947-70E740481C1C}">
                  <a14:useLocalDpi xmlns:a14="http://schemas.microsoft.com/office/drawing/2010/main" val="0"/>
                </a:ext>
              </a:extLst>
            </a:blip>
            <a:srcRect l="2643" t="22099" r="4571" b="18540"/>
            <a:stretch>
              <a:fillRect/>
            </a:stretch>
          </p:blipFill>
          <p:spPr bwMode="auto">
            <a:xfrm>
              <a:off x="5968714" y="3977646"/>
              <a:ext cx="954106" cy="343353"/>
            </a:xfrm>
            <a:prstGeom prst="rect">
              <a:avLst/>
            </a:prstGeom>
            <a:noFill/>
            <a:extLst>
              <a:ext uri="{909E8E84-426E-40DD-AFC4-6F175D3DCCD1}">
                <a14:hiddenFill xmlns:a14="http://schemas.microsoft.com/office/drawing/2010/main">
                  <a:solidFill>
                    <a:srgbClr val="FFFFFF"/>
                  </a:solidFill>
                </a14:hiddenFill>
              </a:ext>
            </a:extLst>
          </p:spPr>
        </p:pic>
        <p:pic>
          <p:nvPicPr>
            <p:cNvPr id="12318" name="Picture 30" descr="United Nations Educational, Scientific and Cultural Organization (UNESCO) -  Cultural Routes">
              <a:extLst>
                <a:ext uri="{FF2B5EF4-FFF2-40B4-BE49-F238E27FC236}">
                  <a16:creationId xmlns:a16="http://schemas.microsoft.com/office/drawing/2014/main" id="{8773BE60-DEE8-28CC-7A9C-760353BAEC25}"/>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982131" y="3033382"/>
              <a:ext cx="801655" cy="597272"/>
            </a:xfrm>
            <a:prstGeom prst="rect">
              <a:avLst/>
            </a:prstGeom>
            <a:noFill/>
            <a:extLst>
              <a:ext uri="{909E8E84-426E-40DD-AFC4-6F175D3DCCD1}">
                <a14:hiddenFill xmlns:a14="http://schemas.microsoft.com/office/drawing/2010/main">
                  <a:solidFill>
                    <a:srgbClr val="FFFFFF"/>
                  </a:solidFill>
                </a14:hiddenFill>
              </a:ext>
            </a:extLst>
          </p:spPr>
        </p:pic>
        <p:pic>
          <p:nvPicPr>
            <p:cNvPr id="12320" name="Picture 32" descr="Quala Lab">
              <a:extLst>
                <a:ext uri="{FF2B5EF4-FFF2-40B4-BE49-F238E27FC236}">
                  <a16:creationId xmlns:a16="http://schemas.microsoft.com/office/drawing/2014/main" id="{EB1BA634-60DE-57A5-EB88-1D70DF274EC9}"/>
                </a:ext>
              </a:extLst>
            </p:cNvPr>
            <p:cNvPicPr>
              <a:picLocks noChangeAspect="1" noChangeArrowheads="1"/>
            </p:cNvPicPr>
            <p:nvPr/>
          </p:nvPicPr>
          <p:blipFill rotWithShape="1">
            <a:blip r:embed="rId21">
              <a:extLst>
                <a:ext uri="{28A0092B-C50C-407E-A947-70E740481C1C}">
                  <a14:useLocalDpi xmlns:a14="http://schemas.microsoft.com/office/drawing/2010/main" val="0"/>
                </a:ext>
              </a:extLst>
            </a:blip>
            <a:srcRect l="11934" t="20822" r="13333" b="25623"/>
            <a:stretch>
              <a:fillRect/>
            </a:stretch>
          </p:blipFill>
          <p:spPr bwMode="auto">
            <a:xfrm>
              <a:off x="3312992" y="2892984"/>
              <a:ext cx="901929" cy="646331"/>
            </a:xfrm>
            <a:prstGeom prst="rect">
              <a:avLst/>
            </a:prstGeom>
            <a:noFill/>
            <a:extLst>
              <a:ext uri="{909E8E84-426E-40DD-AFC4-6F175D3DCCD1}">
                <a14:hiddenFill xmlns:a14="http://schemas.microsoft.com/office/drawing/2010/main">
                  <a:solidFill>
                    <a:srgbClr val="FFFFFF"/>
                  </a:solidFill>
                </a14:hiddenFill>
              </a:ext>
            </a:extLst>
          </p:spPr>
        </p:pic>
        <p:pic>
          <p:nvPicPr>
            <p:cNvPr id="12322" name="Picture 34" descr="A New Logo for OpenAlex - OpenAlex blog">
              <a:extLst>
                <a:ext uri="{FF2B5EF4-FFF2-40B4-BE49-F238E27FC236}">
                  <a16:creationId xmlns:a16="http://schemas.microsoft.com/office/drawing/2014/main" id="{1BB69B57-D65E-762F-F2FE-3D3AD8EBA126}"/>
                </a:ext>
              </a:extLst>
            </p:cNvPr>
            <p:cNvPicPr>
              <a:picLocks noChangeAspect="1" noChangeArrowheads="1"/>
            </p:cNvPicPr>
            <p:nvPr/>
          </p:nvPicPr>
          <p:blipFill rotWithShape="1">
            <a:blip r:embed="rId22">
              <a:extLst>
                <a:ext uri="{28A0092B-C50C-407E-A947-70E740481C1C}">
                  <a14:useLocalDpi xmlns:a14="http://schemas.microsoft.com/office/drawing/2010/main" val="0"/>
                </a:ext>
              </a:extLst>
            </a:blip>
            <a:srcRect l="10695" t="30246" r="12626" b="29573"/>
            <a:stretch>
              <a:fillRect/>
            </a:stretch>
          </p:blipFill>
          <p:spPr bwMode="auto">
            <a:xfrm>
              <a:off x="7226537" y="4436399"/>
              <a:ext cx="832136" cy="235362"/>
            </a:xfrm>
            <a:prstGeom prst="rect">
              <a:avLst/>
            </a:prstGeom>
            <a:noFill/>
            <a:extLst>
              <a:ext uri="{909E8E84-426E-40DD-AFC4-6F175D3DCCD1}">
                <a14:hiddenFill xmlns:a14="http://schemas.microsoft.com/office/drawing/2010/main">
                  <a:solidFill>
                    <a:srgbClr val="FFFFFF"/>
                  </a:solidFill>
                </a14:hiddenFill>
              </a:ext>
            </a:extLst>
          </p:spPr>
        </p:pic>
        <p:pic>
          <p:nvPicPr>
            <p:cNvPr id="12326" name="Picture 38" descr="iRISE: Media Centre">
              <a:extLst>
                <a:ext uri="{FF2B5EF4-FFF2-40B4-BE49-F238E27FC236}">
                  <a16:creationId xmlns:a16="http://schemas.microsoft.com/office/drawing/2014/main" id="{832D2621-8883-C6E9-3610-CD2265583890}"/>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680142" y="3615922"/>
              <a:ext cx="612331" cy="612331"/>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3">
              <a:extLst>
                <a:ext uri="{FF2B5EF4-FFF2-40B4-BE49-F238E27FC236}">
                  <a16:creationId xmlns:a16="http://schemas.microsoft.com/office/drawing/2014/main" id="{A845E678-2A25-7E8D-A253-12B7049455A2}"/>
                </a:ext>
              </a:extLst>
            </p:cNvPr>
            <p:cNvPicPr>
              <a:picLocks noChangeAspect="1"/>
            </p:cNvPicPr>
            <p:nvPr/>
          </p:nvPicPr>
          <p:blipFill>
            <a:blip r:embed="rId4"/>
            <a:stretch>
              <a:fillRect/>
            </a:stretch>
          </p:blipFill>
          <p:spPr>
            <a:xfrm>
              <a:off x="4246267" y="2913034"/>
              <a:ext cx="819947" cy="319580"/>
            </a:xfrm>
            <a:prstGeom prst="rect">
              <a:avLst/>
            </a:prstGeom>
          </p:spPr>
        </p:pic>
        <p:sp>
          <p:nvSpPr>
            <p:cNvPr id="25" name="AutoShape 40" descr="Zenodo home">
              <a:extLst>
                <a:ext uri="{FF2B5EF4-FFF2-40B4-BE49-F238E27FC236}">
                  <a16:creationId xmlns:a16="http://schemas.microsoft.com/office/drawing/2014/main" id="{4061CE1F-E37B-1B44-F42E-6E9209C9EB6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2330" name="Picture 42" descr="Zenodo - Wikipedia">
              <a:extLst>
                <a:ext uri="{FF2B5EF4-FFF2-40B4-BE49-F238E27FC236}">
                  <a16:creationId xmlns:a16="http://schemas.microsoft.com/office/drawing/2014/main" id="{6F59014C-A566-31C6-6BA5-CED7E180776A}"/>
                </a:ext>
              </a:extLst>
            </p:cNvPr>
            <p:cNvPicPr>
              <a:picLocks noChangeAspect="1" noChangeArrowheads="1"/>
            </p:cNvPicPr>
            <p:nvPr/>
          </p:nvPicPr>
          <p:blipFill rotWithShape="1">
            <a:blip r:embed="rId24">
              <a:extLst>
                <a:ext uri="{28A0092B-C50C-407E-A947-70E740481C1C}">
                  <a14:useLocalDpi xmlns:a14="http://schemas.microsoft.com/office/drawing/2010/main" val="0"/>
                </a:ext>
              </a:extLst>
            </a:blip>
            <a:srcRect l="9706" t="7921" r="8346" b="14734"/>
            <a:stretch>
              <a:fillRect/>
            </a:stretch>
          </p:blipFill>
          <p:spPr bwMode="auto">
            <a:xfrm>
              <a:off x="3278944" y="2078139"/>
              <a:ext cx="938794" cy="322581"/>
            </a:xfrm>
            <a:prstGeom prst="rect">
              <a:avLst/>
            </a:prstGeom>
            <a:noFill/>
            <a:extLst>
              <a:ext uri="{909E8E84-426E-40DD-AFC4-6F175D3DCCD1}">
                <a14:hiddenFill xmlns:a14="http://schemas.microsoft.com/office/drawing/2010/main">
                  <a:solidFill>
                    <a:srgbClr val="FFFFFF"/>
                  </a:solidFill>
                </a14:hiddenFill>
              </a:ext>
            </a:extLst>
          </p:spPr>
        </p:pic>
        <p:pic>
          <p:nvPicPr>
            <p:cNvPr id="12332" name="Picture 44" descr="figshare">
              <a:extLst>
                <a:ext uri="{FF2B5EF4-FFF2-40B4-BE49-F238E27FC236}">
                  <a16:creationId xmlns:a16="http://schemas.microsoft.com/office/drawing/2014/main" id="{E21470B4-1E61-D596-8C5F-8B1811EAE82A}"/>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249108" y="2092073"/>
              <a:ext cx="825438" cy="257023"/>
            </a:xfrm>
            <a:prstGeom prst="rect">
              <a:avLst/>
            </a:prstGeom>
            <a:noFill/>
            <a:extLst>
              <a:ext uri="{909E8E84-426E-40DD-AFC4-6F175D3DCCD1}">
                <a14:hiddenFill xmlns:a14="http://schemas.microsoft.com/office/drawing/2010/main">
                  <a:solidFill>
                    <a:srgbClr val="FFFFFF"/>
                  </a:solidFill>
                </a14:hiddenFill>
              </a:ext>
            </a:extLst>
          </p:spPr>
        </p:pic>
        <p:pic>
          <p:nvPicPr>
            <p:cNvPr id="12334" name="Picture 46" descr="UKRIO Logo">
              <a:extLst>
                <a:ext uri="{FF2B5EF4-FFF2-40B4-BE49-F238E27FC236}">
                  <a16:creationId xmlns:a16="http://schemas.microsoft.com/office/drawing/2014/main" id="{06FF6ABF-D20F-2551-9D84-D847B51B97EE}"/>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936529" y="3559541"/>
              <a:ext cx="677758" cy="235362"/>
            </a:xfrm>
            <a:prstGeom prst="rect">
              <a:avLst/>
            </a:prstGeom>
            <a:noFill/>
            <a:extLst>
              <a:ext uri="{909E8E84-426E-40DD-AFC4-6F175D3DCCD1}">
                <a14:hiddenFill xmlns:a14="http://schemas.microsoft.com/office/drawing/2010/main">
                  <a:solidFill>
                    <a:srgbClr val="FFFFFF"/>
                  </a:solidFill>
                </a14:hiddenFill>
              </a:ext>
            </a:extLst>
          </p:spPr>
        </p:pic>
        <p:pic>
          <p:nvPicPr>
            <p:cNvPr id="12336" name="Picture 48" descr="@OpenSci-CN">
              <a:extLst>
                <a:ext uri="{FF2B5EF4-FFF2-40B4-BE49-F238E27FC236}">
                  <a16:creationId xmlns:a16="http://schemas.microsoft.com/office/drawing/2014/main" id="{4B02694E-54BF-5E08-95D0-E99E428604CF}"/>
                </a:ext>
              </a:extLst>
            </p:cNvPr>
            <p:cNvPicPr>
              <a:picLocks noChangeAspect="1" noChangeArrowheads="1"/>
            </p:cNvPicPr>
            <p:nvPr/>
          </p:nvPicPr>
          <p:blipFill rotWithShape="1">
            <a:blip r:embed="rId27">
              <a:extLst>
                <a:ext uri="{28A0092B-C50C-407E-A947-70E740481C1C}">
                  <a14:useLocalDpi xmlns:a14="http://schemas.microsoft.com/office/drawing/2010/main" val="0"/>
                </a:ext>
              </a:extLst>
            </a:blip>
            <a:srcRect t="15384" b="17679"/>
            <a:stretch>
              <a:fillRect/>
            </a:stretch>
          </p:blipFill>
          <p:spPr bwMode="auto">
            <a:xfrm>
              <a:off x="2433362" y="5147507"/>
              <a:ext cx="763532" cy="511083"/>
            </a:xfrm>
            <a:prstGeom prst="rect">
              <a:avLst/>
            </a:prstGeom>
            <a:noFill/>
            <a:extLst>
              <a:ext uri="{909E8E84-426E-40DD-AFC4-6F175D3DCCD1}">
                <a14:hiddenFill xmlns:a14="http://schemas.microsoft.com/office/drawing/2010/main">
                  <a:solidFill>
                    <a:srgbClr val="FFFFFF"/>
                  </a:solidFill>
                </a14:hiddenFill>
              </a:ext>
            </a:extLst>
          </p:spPr>
        </p:pic>
        <p:pic>
          <p:nvPicPr>
            <p:cNvPr id="12338" name="Picture 50" descr="ManyBabies">
              <a:extLst>
                <a:ext uri="{FF2B5EF4-FFF2-40B4-BE49-F238E27FC236}">
                  <a16:creationId xmlns:a16="http://schemas.microsoft.com/office/drawing/2014/main" id="{EE14097B-EFBD-74C1-E307-EC6FD18FB98B}"/>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995942" y="3710457"/>
              <a:ext cx="646331" cy="646331"/>
            </a:xfrm>
            <a:prstGeom prst="rect">
              <a:avLst/>
            </a:prstGeom>
            <a:noFill/>
            <a:extLst>
              <a:ext uri="{909E8E84-426E-40DD-AFC4-6F175D3DCCD1}">
                <a14:hiddenFill xmlns:a14="http://schemas.microsoft.com/office/drawing/2010/main">
                  <a:solidFill>
                    <a:srgbClr val="FFFFFF"/>
                  </a:solidFill>
                </a14:hiddenFill>
              </a:ext>
            </a:extLst>
          </p:spPr>
        </p:pic>
        <p:pic>
          <p:nvPicPr>
            <p:cNvPr id="12340" name="Picture 52" descr="Project TIER - YouTube">
              <a:extLst>
                <a:ext uri="{FF2B5EF4-FFF2-40B4-BE49-F238E27FC236}">
                  <a16:creationId xmlns:a16="http://schemas.microsoft.com/office/drawing/2014/main" id="{CDEBCF9C-2C47-2206-117C-F8F7CF265CD9}"/>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4781141" y="1287079"/>
              <a:ext cx="625460" cy="713816"/>
            </a:xfrm>
            <a:prstGeom prst="ellipse">
              <a:avLst/>
            </a:prstGeom>
            <a:noFill/>
            <a:extLst>
              <a:ext uri="{909E8E84-426E-40DD-AFC4-6F175D3DCCD1}">
                <a14:hiddenFill xmlns:a14="http://schemas.microsoft.com/office/drawing/2010/main">
                  <a:solidFill>
                    <a:srgbClr val="FFFFFF"/>
                  </a:solidFill>
                </a14:hiddenFill>
              </a:ext>
            </a:extLst>
          </p:spPr>
        </p:pic>
        <p:pic>
          <p:nvPicPr>
            <p:cNvPr id="12342" name="Picture 54" descr="COSSEE: Collaboration for Open Science and Synthesis in Ecology and  Evolution">
              <a:extLst>
                <a:ext uri="{FF2B5EF4-FFF2-40B4-BE49-F238E27FC236}">
                  <a16:creationId xmlns:a16="http://schemas.microsoft.com/office/drawing/2014/main" id="{0B9C899B-CE31-E6AD-676C-1416529A8E8C}"/>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722206" y="3202877"/>
              <a:ext cx="524229" cy="423577"/>
            </a:xfrm>
            <a:prstGeom prst="rect">
              <a:avLst/>
            </a:prstGeom>
            <a:noFill/>
            <a:extLst>
              <a:ext uri="{909E8E84-426E-40DD-AFC4-6F175D3DCCD1}">
                <a14:hiddenFill xmlns:a14="http://schemas.microsoft.com/office/drawing/2010/main">
                  <a:solidFill>
                    <a:srgbClr val="FFFFFF"/>
                  </a:solidFill>
                </a14:hiddenFill>
              </a:ext>
            </a:extLst>
          </p:spPr>
        </p:pic>
        <p:pic>
          <p:nvPicPr>
            <p:cNvPr id="12344" name="Picture 56" descr="The Carpentries">
              <a:extLst>
                <a:ext uri="{FF2B5EF4-FFF2-40B4-BE49-F238E27FC236}">
                  <a16:creationId xmlns:a16="http://schemas.microsoft.com/office/drawing/2014/main" id="{36911B9D-6517-7FC7-CAEA-E26CF4AED689}"/>
                </a:ext>
              </a:extLst>
            </p:cNvPr>
            <p:cNvPicPr>
              <a:picLocks noChangeAspect="1" noChangeArrowheads="1"/>
            </p:cNvPicPr>
            <p:nvPr/>
          </p:nvPicPr>
          <p:blipFill rotWithShape="1">
            <a:blip r:embed="rId31">
              <a:extLst>
                <a:ext uri="{28A0092B-C50C-407E-A947-70E740481C1C}">
                  <a14:useLocalDpi xmlns:a14="http://schemas.microsoft.com/office/drawing/2010/main" val="0"/>
                </a:ext>
              </a:extLst>
            </a:blip>
            <a:srcRect t="21863" b="24552"/>
            <a:stretch>
              <a:fillRect/>
            </a:stretch>
          </p:blipFill>
          <p:spPr bwMode="auto">
            <a:xfrm>
              <a:off x="5895886" y="1967414"/>
              <a:ext cx="1282937" cy="360921"/>
            </a:xfrm>
            <a:prstGeom prst="rect">
              <a:avLst/>
            </a:prstGeom>
            <a:noFill/>
            <a:extLst>
              <a:ext uri="{909E8E84-426E-40DD-AFC4-6F175D3DCCD1}">
                <a14:hiddenFill xmlns:a14="http://schemas.microsoft.com/office/drawing/2010/main">
                  <a:solidFill>
                    <a:srgbClr val="FFFFFF"/>
                  </a:solidFill>
                </a14:hiddenFill>
              </a:ext>
            </a:extLst>
          </p:spPr>
        </p:pic>
        <p:pic>
          <p:nvPicPr>
            <p:cNvPr id="30" name="Graphic 29" descr="Schoolhouse with solid fill">
              <a:extLst>
                <a:ext uri="{FF2B5EF4-FFF2-40B4-BE49-F238E27FC236}">
                  <a16:creationId xmlns:a16="http://schemas.microsoft.com/office/drawing/2014/main" id="{E9893AE8-531C-91C1-ACEB-A235422F6B2C}"/>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7335456" y="1912370"/>
              <a:ext cx="654117" cy="654117"/>
            </a:xfrm>
            <a:prstGeom prst="rect">
              <a:avLst/>
            </a:prstGeom>
          </p:spPr>
        </p:pic>
        <p:sp>
          <p:nvSpPr>
            <p:cNvPr id="38" name="AutoShape 58" descr="R (programming language) - Wikipedia">
              <a:extLst>
                <a:ext uri="{FF2B5EF4-FFF2-40B4-BE49-F238E27FC236}">
                  <a16:creationId xmlns:a16="http://schemas.microsoft.com/office/drawing/2014/main" id="{EF0BF340-089C-7D9A-D68B-697121D7420D}"/>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9" name="Picture 38">
              <a:extLst>
                <a:ext uri="{FF2B5EF4-FFF2-40B4-BE49-F238E27FC236}">
                  <a16:creationId xmlns:a16="http://schemas.microsoft.com/office/drawing/2014/main" id="{4C552A39-516B-2420-674B-7991E0B6C6FF}"/>
                </a:ext>
              </a:extLst>
            </p:cNvPr>
            <p:cNvPicPr>
              <a:picLocks noChangeAspect="1"/>
            </p:cNvPicPr>
            <p:nvPr/>
          </p:nvPicPr>
          <p:blipFill>
            <a:blip r:embed="rId33"/>
            <a:stretch>
              <a:fillRect/>
            </a:stretch>
          </p:blipFill>
          <p:spPr>
            <a:xfrm>
              <a:off x="7347529" y="5032997"/>
              <a:ext cx="473672" cy="366376"/>
            </a:xfrm>
            <a:prstGeom prst="rect">
              <a:avLst/>
            </a:prstGeom>
          </p:spPr>
        </p:pic>
      </p:grpSp>
      <p:grpSp>
        <p:nvGrpSpPr>
          <p:cNvPr id="47" name="Group 46">
            <a:extLst>
              <a:ext uri="{FF2B5EF4-FFF2-40B4-BE49-F238E27FC236}">
                <a16:creationId xmlns:a16="http://schemas.microsoft.com/office/drawing/2014/main" id="{A7A8E0FE-0ADB-3871-6D88-A5A442125D92}"/>
              </a:ext>
            </a:extLst>
          </p:cNvPr>
          <p:cNvGrpSpPr/>
          <p:nvPr/>
        </p:nvGrpSpPr>
        <p:grpSpPr>
          <a:xfrm>
            <a:off x="9194614" y="4538510"/>
            <a:ext cx="2527149" cy="956757"/>
            <a:chOff x="8360212" y="4497393"/>
            <a:chExt cx="2527149" cy="956757"/>
          </a:xfrm>
        </p:grpSpPr>
        <p:sp>
          <p:nvSpPr>
            <p:cNvPr id="13" name="TextBox 12">
              <a:extLst>
                <a:ext uri="{FF2B5EF4-FFF2-40B4-BE49-F238E27FC236}">
                  <a16:creationId xmlns:a16="http://schemas.microsoft.com/office/drawing/2014/main" id="{80DBAAF4-B95C-D825-B350-77B8604541C7}"/>
                </a:ext>
              </a:extLst>
            </p:cNvPr>
            <p:cNvSpPr txBox="1"/>
            <p:nvPr/>
          </p:nvSpPr>
          <p:spPr>
            <a:xfrm>
              <a:off x="8997024" y="4582560"/>
              <a:ext cx="1799082" cy="707886"/>
            </a:xfrm>
            <a:prstGeom prst="rect">
              <a:avLst/>
            </a:prstGeom>
            <a:noFill/>
          </p:spPr>
          <p:txBody>
            <a:bodyPr wrap="none" rtlCol="0">
              <a:spAutoFit/>
            </a:bodyPr>
            <a:lstStyle/>
            <a:p>
              <a:r>
                <a:rPr lang="en-US" sz="2000" b="1" dirty="0"/>
                <a:t>Policy &amp; </a:t>
              </a:r>
            </a:p>
            <a:p>
              <a:r>
                <a:rPr lang="en-US" sz="2000" b="1" dirty="0"/>
                <a:t>infrastructure</a:t>
              </a:r>
            </a:p>
          </p:txBody>
        </p:sp>
        <p:sp>
          <p:nvSpPr>
            <p:cNvPr id="37" name="Rectangle 36">
              <a:extLst>
                <a:ext uri="{FF2B5EF4-FFF2-40B4-BE49-F238E27FC236}">
                  <a16:creationId xmlns:a16="http://schemas.microsoft.com/office/drawing/2014/main" id="{3547BC32-7541-7592-934F-5AA70D9A0201}"/>
                </a:ext>
              </a:extLst>
            </p:cNvPr>
            <p:cNvSpPr/>
            <p:nvPr/>
          </p:nvSpPr>
          <p:spPr>
            <a:xfrm>
              <a:off x="8366720" y="4497393"/>
              <a:ext cx="2520641" cy="956757"/>
            </a:xfrm>
            <a:prstGeom prst="rect">
              <a:avLst/>
            </a:prstGeom>
            <a:solidFill>
              <a:schemeClr val="tx2">
                <a:lumMod val="50000"/>
                <a:lumOff val="50000"/>
                <a:alpha val="1793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1" name="Graphic 40" descr="Clipboard Partially Ticked with solid fill">
              <a:extLst>
                <a:ext uri="{FF2B5EF4-FFF2-40B4-BE49-F238E27FC236}">
                  <a16:creationId xmlns:a16="http://schemas.microsoft.com/office/drawing/2014/main" id="{044B4A7A-CF13-A73C-FD74-DC78BAF04D01}"/>
                </a:ext>
              </a:extLst>
            </p:cNvPr>
            <p:cNvPicPr>
              <a:picLocks noChangeAspect="1"/>
            </p:cNvPicPr>
            <p:nvPr/>
          </p:nvPicPr>
          <p:blipFill>
            <a:blip>
              <a:extLst>
                <a:ext uri="{96DAC541-7B7A-43D3-8B79-37D633B846F1}">
                  <asvg:svgBlip xmlns:asvg="http://schemas.microsoft.com/office/drawing/2016/SVG/main" r:embed="rId34"/>
                </a:ext>
              </a:extLst>
            </a:blip>
            <a:stretch>
              <a:fillRect/>
            </a:stretch>
          </p:blipFill>
          <p:spPr>
            <a:xfrm>
              <a:off x="8360212" y="4599751"/>
              <a:ext cx="751047" cy="751047"/>
            </a:xfrm>
            <a:prstGeom prst="rect">
              <a:avLst/>
            </a:prstGeom>
          </p:spPr>
        </p:pic>
      </p:grpSp>
      <p:pic>
        <p:nvPicPr>
          <p:cNvPr id="43" name="Graphic 42" descr="Cheers with solid fill">
            <a:extLst>
              <a:ext uri="{FF2B5EF4-FFF2-40B4-BE49-F238E27FC236}">
                <a16:creationId xmlns:a16="http://schemas.microsoft.com/office/drawing/2014/main" id="{56F55575-880F-08AC-474C-7BE8A30940C9}"/>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1845493" y="4745563"/>
            <a:ext cx="601468" cy="601468"/>
          </a:xfrm>
          <a:prstGeom prst="rect">
            <a:avLst/>
          </a:prstGeom>
        </p:spPr>
      </p:pic>
      <p:sp>
        <p:nvSpPr>
          <p:cNvPr id="44" name="Rectangle 43">
            <a:extLst>
              <a:ext uri="{FF2B5EF4-FFF2-40B4-BE49-F238E27FC236}">
                <a16:creationId xmlns:a16="http://schemas.microsoft.com/office/drawing/2014/main" id="{A1FE496A-6767-18F3-0D1C-31114C4A5058}"/>
              </a:ext>
            </a:extLst>
          </p:cNvPr>
          <p:cNvSpPr/>
          <p:nvPr/>
        </p:nvSpPr>
        <p:spPr>
          <a:xfrm>
            <a:off x="134138" y="4520523"/>
            <a:ext cx="2520641" cy="956757"/>
          </a:xfrm>
          <a:prstGeom prst="rect">
            <a:avLst/>
          </a:prstGeom>
          <a:solidFill>
            <a:srgbClr val="7030A0">
              <a:alpha val="1939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1" name="Group 50">
            <a:extLst>
              <a:ext uri="{FF2B5EF4-FFF2-40B4-BE49-F238E27FC236}">
                <a16:creationId xmlns:a16="http://schemas.microsoft.com/office/drawing/2014/main" id="{8B381F9D-105A-89EB-1C8C-688733FAC264}"/>
              </a:ext>
            </a:extLst>
          </p:cNvPr>
          <p:cNvGrpSpPr/>
          <p:nvPr/>
        </p:nvGrpSpPr>
        <p:grpSpPr>
          <a:xfrm>
            <a:off x="89319" y="1975628"/>
            <a:ext cx="2625709" cy="1104461"/>
            <a:chOff x="89511" y="1703175"/>
            <a:chExt cx="2625709" cy="1104461"/>
          </a:xfrm>
        </p:grpSpPr>
        <p:sp>
          <p:nvSpPr>
            <p:cNvPr id="48" name="Rectangle 47">
              <a:extLst>
                <a:ext uri="{FF2B5EF4-FFF2-40B4-BE49-F238E27FC236}">
                  <a16:creationId xmlns:a16="http://schemas.microsoft.com/office/drawing/2014/main" id="{8BDD5407-8883-4A27-B6FA-2E2B0A909967}"/>
                </a:ext>
              </a:extLst>
            </p:cNvPr>
            <p:cNvSpPr/>
            <p:nvPr/>
          </p:nvSpPr>
          <p:spPr>
            <a:xfrm>
              <a:off x="89511" y="1703175"/>
              <a:ext cx="2565268" cy="1104461"/>
            </a:xfrm>
            <a:prstGeom prst="rect">
              <a:avLst/>
            </a:prstGeom>
            <a:solidFill>
              <a:srgbClr val="FFC000">
                <a:alpha val="1939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B4D02464-3F49-08B1-A73F-569CF5AE6AF3}"/>
                </a:ext>
              </a:extLst>
            </p:cNvPr>
            <p:cNvSpPr txBox="1"/>
            <p:nvPr/>
          </p:nvSpPr>
          <p:spPr>
            <a:xfrm>
              <a:off x="96044" y="1769831"/>
              <a:ext cx="2506450" cy="1015663"/>
            </a:xfrm>
            <a:prstGeom prst="rect">
              <a:avLst/>
            </a:prstGeom>
            <a:noFill/>
          </p:spPr>
          <p:txBody>
            <a:bodyPr wrap="square" rtlCol="0">
              <a:spAutoFit/>
            </a:bodyPr>
            <a:lstStyle/>
            <a:p>
              <a:r>
                <a:rPr lang="en-US" sz="2000" b="1" dirty="0"/>
                <a:t>Research &amp;</a:t>
              </a:r>
            </a:p>
            <a:p>
              <a:r>
                <a:rPr lang="en-US" sz="2000" b="1" dirty="0"/>
                <a:t>Scholarly communication</a:t>
              </a:r>
            </a:p>
          </p:txBody>
        </p:sp>
        <p:pic>
          <p:nvPicPr>
            <p:cNvPr id="50" name="Graphic 49" descr="Document with solid fill">
              <a:extLst>
                <a:ext uri="{FF2B5EF4-FFF2-40B4-BE49-F238E27FC236}">
                  <a16:creationId xmlns:a16="http://schemas.microsoft.com/office/drawing/2014/main" id="{0F178F1B-2693-17E5-BBC4-F06A8BFEC6E1}"/>
                </a:ext>
              </a:extLst>
            </p:cNvPr>
            <p:cNvPicPr>
              <a:picLocks noChangeAspect="1"/>
            </p:cNvPicPr>
            <p:nvPr/>
          </p:nvPicPr>
          <p:blipFill>
            <a:blip>
              <a:extLst>
                <a:ext uri="{96DAC541-7B7A-43D3-8B79-37D633B846F1}">
                  <asvg:svgBlip xmlns:asvg="http://schemas.microsoft.com/office/drawing/2016/SVG/main" r:embed="rId36"/>
                </a:ext>
              </a:extLst>
            </a:blip>
            <a:stretch>
              <a:fillRect/>
            </a:stretch>
          </p:blipFill>
          <p:spPr>
            <a:xfrm>
              <a:off x="1940899" y="1759055"/>
              <a:ext cx="774321" cy="774321"/>
            </a:xfrm>
            <a:prstGeom prst="rect">
              <a:avLst/>
            </a:prstGeom>
          </p:spPr>
        </p:pic>
      </p:grpSp>
      <p:pic>
        <p:nvPicPr>
          <p:cNvPr id="52" name="Picture 2" descr="ESNBU Backstage | Entry-2024-01-06_21-06-38">
            <a:extLst>
              <a:ext uri="{FF2B5EF4-FFF2-40B4-BE49-F238E27FC236}">
                <a16:creationId xmlns:a16="http://schemas.microsoft.com/office/drawing/2014/main" id="{4A341A1E-E948-5682-8F58-12BEBBA1470C}"/>
              </a:ext>
            </a:extLst>
          </p:cNvPr>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4246492" y="2693422"/>
            <a:ext cx="996950" cy="317892"/>
          </a:xfrm>
          <a:prstGeom prst="rect">
            <a:avLst/>
          </a:prstGeom>
          <a:noFill/>
          <a:extLst>
            <a:ext uri="{909E8E84-426E-40DD-AFC4-6F175D3DCCD1}">
              <a14:hiddenFill xmlns:a14="http://schemas.microsoft.com/office/drawing/2010/main">
                <a:solidFill>
                  <a:srgbClr val="FFFFFF"/>
                </a:solidFill>
              </a14:hiddenFill>
            </a:ext>
          </a:extLst>
        </p:spPr>
      </p:pic>
      <p:sp>
        <p:nvSpPr>
          <p:cNvPr id="53" name="TextBox 52">
            <a:extLst>
              <a:ext uri="{FF2B5EF4-FFF2-40B4-BE49-F238E27FC236}">
                <a16:creationId xmlns:a16="http://schemas.microsoft.com/office/drawing/2014/main" id="{8880E254-0A19-6C0E-D3FC-F6B21E09E7EA}"/>
              </a:ext>
            </a:extLst>
          </p:cNvPr>
          <p:cNvSpPr txBox="1"/>
          <p:nvPr/>
        </p:nvSpPr>
        <p:spPr>
          <a:xfrm>
            <a:off x="95852" y="5878035"/>
            <a:ext cx="2607503" cy="923330"/>
          </a:xfrm>
          <a:prstGeom prst="rect">
            <a:avLst/>
          </a:prstGeom>
          <a:solidFill>
            <a:schemeClr val="bg1">
              <a:lumMod val="65000"/>
              <a:alpha val="37667"/>
            </a:schemeClr>
          </a:solidFill>
        </p:spPr>
        <p:txBody>
          <a:bodyPr wrap="square" rtlCol="0">
            <a:spAutoFit/>
          </a:bodyPr>
          <a:lstStyle/>
          <a:p>
            <a:r>
              <a:rPr lang="en-US" dirty="0"/>
              <a:t>See more here:</a:t>
            </a:r>
          </a:p>
          <a:p>
            <a:r>
              <a:rPr lang="en-US" dirty="0">
                <a:hlinkClick r:id="rId38"/>
              </a:rPr>
              <a:t>https://amcm.shinyapps.io/openit/</a:t>
            </a:r>
            <a:r>
              <a:rPr lang="en-US" dirty="0"/>
              <a:t> </a:t>
            </a:r>
          </a:p>
        </p:txBody>
      </p:sp>
      <p:sp>
        <p:nvSpPr>
          <p:cNvPr id="7" name="Oval 6">
            <a:extLst>
              <a:ext uri="{FF2B5EF4-FFF2-40B4-BE49-F238E27FC236}">
                <a16:creationId xmlns:a16="http://schemas.microsoft.com/office/drawing/2014/main" id="{38452CDE-4FB8-9664-DF60-63BEA5DE0279}"/>
              </a:ext>
            </a:extLst>
          </p:cNvPr>
          <p:cNvSpPr/>
          <p:nvPr/>
        </p:nvSpPr>
        <p:spPr>
          <a:xfrm>
            <a:off x="8424606" y="5559521"/>
            <a:ext cx="1402358" cy="1255160"/>
          </a:xfrm>
          <a:prstGeom prst="ellipse">
            <a:avLst/>
          </a:prstGeom>
          <a:solidFill>
            <a:schemeClr val="bg1">
              <a:lumMod val="50000"/>
              <a:alpha val="5552"/>
            </a:schemeClr>
          </a:solidFill>
          <a:ln>
            <a:solidFill>
              <a:schemeClr val="tx1">
                <a:alpha val="38087"/>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50" name="Picture 2" descr="OpenUK">
            <a:extLst>
              <a:ext uri="{FF2B5EF4-FFF2-40B4-BE49-F238E27FC236}">
                <a16:creationId xmlns:a16="http://schemas.microsoft.com/office/drawing/2014/main" id="{5B78536C-3DDC-00D9-DEF8-FBE30B2DF9D7}"/>
              </a:ext>
            </a:extLst>
          </p:cNvPr>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8543414" y="6080130"/>
            <a:ext cx="1105539" cy="332094"/>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EEE9F536-6A2D-1FE3-D4E6-DE856B254C35}"/>
              </a:ext>
            </a:extLst>
          </p:cNvPr>
          <p:cNvSpPr txBox="1"/>
          <p:nvPr/>
        </p:nvSpPr>
        <p:spPr>
          <a:xfrm>
            <a:off x="10461442" y="5740215"/>
            <a:ext cx="1478290" cy="707886"/>
          </a:xfrm>
          <a:prstGeom prst="rect">
            <a:avLst/>
          </a:prstGeom>
          <a:noFill/>
        </p:spPr>
        <p:txBody>
          <a:bodyPr wrap="none" rtlCol="0">
            <a:spAutoFit/>
          </a:bodyPr>
          <a:lstStyle/>
          <a:p>
            <a:r>
              <a:rPr lang="en-US" sz="2000" b="1" dirty="0"/>
              <a:t>Business &amp;</a:t>
            </a:r>
          </a:p>
          <a:p>
            <a:r>
              <a:rPr lang="en-US" sz="2000" b="1" dirty="0"/>
              <a:t>Industry</a:t>
            </a:r>
          </a:p>
        </p:txBody>
      </p:sp>
      <p:pic>
        <p:nvPicPr>
          <p:cNvPr id="28" name="Graphic 27" descr="Factory with solid fill">
            <a:extLst>
              <a:ext uri="{FF2B5EF4-FFF2-40B4-BE49-F238E27FC236}">
                <a16:creationId xmlns:a16="http://schemas.microsoft.com/office/drawing/2014/main" id="{E7A0607B-D4C7-1909-19D9-3DAF1ADC62F1}"/>
              </a:ext>
            </a:extLst>
          </p:cNvPr>
          <p:cNvPicPr>
            <a:picLocks noChangeAspect="1"/>
          </p:cNvPicPr>
          <p:nvPr/>
        </p:nvPicPr>
        <p:blipFill>
          <a:blip>
            <a:extLst>
              <a:ext uri="{96DAC541-7B7A-43D3-8B79-37D633B846F1}">
                <asvg:svgBlip xmlns:asvg="http://schemas.microsoft.com/office/drawing/2016/SVG/main" r:embed="rId40"/>
              </a:ext>
            </a:extLst>
          </a:blip>
          <a:stretch>
            <a:fillRect/>
          </a:stretch>
        </p:blipFill>
        <p:spPr>
          <a:xfrm>
            <a:off x="9861559" y="5854131"/>
            <a:ext cx="539232" cy="539232"/>
          </a:xfrm>
          <a:prstGeom prst="rect">
            <a:avLst/>
          </a:prstGeom>
        </p:spPr>
      </p:pic>
      <p:pic>
        <p:nvPicPr>
          <p:cNvPr id="33" name="Picture 12" descr="Open science monitoring initiative – OSMI">
            <a:extLst>
              <a:ext uri="{FF2B5EF4-FFF2-40B4-BE49-F238E27FC236}">
                <a16:creationId xmlns:a16="http://schemas.microsoft.com/office/drawing/2014/main" id="{903E24D5-7405-A5B6-6246-65DBD05D0F4A}"/>
              </a:ext>
            </a:extLst>
          </p:cNvPr>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6626193" y="5508457"/>
            <a:ext cx="1222044" cy="463517"/>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 descr="Protocols.io — Zebrafish UCL">
            <a:extLst>
              <a:ext uri="{FF2B5EF4-FFF2-40B4-BE49-F238E27FC236}">
                <a16:creationId xmlns:a16="http://schemas.microsoft.com/office/drawing/2014/main" id="{8A1957C0-2067-1972-6C3F-101122520B20}"/>
              </a:ext>
            </a:extLst>
          </p:cNvPr>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7852631" y="5659242"/>
            <a:ext cx="652434" cy="365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93971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34888-5C23-BAB6-926A-D053BF21769B}"/>
            </a:ext>
          </a:extLst>
        </p:cNvPr>
        <p:cNvGrpSpPr/>
        <p:nvPr/>
      </p:nvGrpSpPr>
      <p:grpSpPr>
        <a:xfrm>
          <a:off x="0" y="0"/>
          <a:ext cx="0" cy="0"/>
          <a:chOff x="0" y="0"/>
          <a:chExt cx="0" cy="0"/>
        </a:xfrm>
      </p:grpSpPr>
      <p:grpSp>
        <p:nvGrpSpPr>
          <p:cNvPr id="63" name="Group 62">
            <a:extLst>
              <a:ext uri="{FF2B5EF4-FFF2-40B4-BE49-F238E27FC236}">
                <a16:creationId xmlns:a16="http://schemas.microsoft.com/office/drawing/2014/main" id="{15B63C13-2185-7DCE-86C8-677F7342FFEF}"/>
              </a:ext>
            </a:extLst>
          </p:cNvPr>
          <p:cNvGrpSpPr/>
          <p:nvPr/>
        </p:nvGrpSpPr>
        <p:grpSpPr>
          <a:xfrm>
            <a:off x="10704849" y="6564312"/>
            <a:ext cx="1362075" cy="273690"/>
            <a:chOff x="19317" y="2690018"/>
            <a:chExt cx="11784755" cy="2025180"/>
          </a:xfrm>
        </p:grpSpPr>
        <p:pic>
          <p:nvPicPr>
            <p:cNvPr id="64" name="Picture 2">
              <a:extLst>
                <a:ext uri="{FF2B5EF4-FFF2-40B4-BE49-F238E27FC236}">
                  <a16:creationId xmlns:a16="http://schemas.microsoft.com/office/drawing/2014/main" id="{D215FC9D-E111-3892-2AB1-CE6E9EC949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4">
              <a:extLst>
                <a:ext uri="{FF2B5EF4-FFF2-40B4-BE49-F238E27FC236}">
                  <a16:creationId xmlns:a16="http://schemas.microsoft.com/office/drawing/2014/main" id="{1066C9C0-6D5E-7E85-1E61-3293B59B6F7C}"/>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4" name="Title 1">
            <a:extLst>
              <a:ext uri="{FF2B5EF4-FFF2-40B4-BE49-F238E27FC236}">
                <a16:creationId xmlns:a16="http://schemas.microsoft.com/office/drawing/2014/main" id="{237B80AF-16EB-A52C-9BBC-D0BA1084322C}"/>
              </a:ext>
            </a:extLst>
          </p:cNvPr>
          <p:cNvSpPr txBox="1">
            <a:spLocks/>
          </p:cNvSpPr>
          <p:nvPr/>
        </p:nvSpPr>
        <p:spPr>
          <a:xfrm>
            <a:off x="0" y="-11483"/>
            <a:ext cx="12192000" cy="849684"/>
          </a:xfrm>
          <a:prstGeom prst="rect">
            <a:avLst/>
          </a:prstGeom>
          <a:noFill/>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A conceptual challenge in Open Science: terminology</a:t>
            </a:r>
          </a:p>
        </p:txBody>
      </p:sp>
      <p:sp>
        <p:nvSpPr>
          <p:cNvPr id="62" name="Slide Number Placeholder 61">
            <a:extLst>
              <a:ext uri="{FF2B5EF4-FFF2-40B4-BE49-F238E27FC236}">
                <a16:creationId xmlns:a16="http://schemas.microsoft.com/office/drawing/2014/main" id="{B9A6E057-8254-15A7-EC4E-30E9D1F12B44}"/>
              </a:ext>
            </a:extLst>
          </p:cNvPr>
          <p:cNvSpPr>
            <a:spLocks noGrp="1"/>
          </p:cNvSpPr>
          <p:nvPr>
            <p:ph type="sldNum" sz="quarter" idx="12"/>
          </p:nvPr>
        </p:nvSpPr>
        <p:spPr>
          <a:xfrm>
            <a:off x="10774254" y="6356350"/>
            <a:ext cx="579546" cy="365125"/>
          </a:xfrm>
        </p:spPr>
        <p:txBody>
          <a:bodyPr/>
          <a:lstStyle/>
          <a:p>
            <a:fld id="{DC6309F4-03C8-4D48-A124-A9AD6E083FAC}" type="slidenum">
              <a:rPr lang="en-US" smtClean="0"/>
              <a:t>29</a:t>
            </a:fld>
            <a:endParaRPr lang="en-US" dirty="0"/>
          </a:p>
        </p:txBody>
      </p:sp>
      <p:sp>
        <p:nvSpPr>
          <p:cNvPr id="16" name="TextBox 15">
            <a:extLst>
              <a:ext uri="{FF2B5EF4-FFF2-40B4-BE49-F238E27FC236}">
                <a16:creationId xmlns:a16="http://schemas.microsoft.com/office/drawing/2014/main" id="{CCEFAB40-7A85-23BC-08F6-10BED8A95A00}"/>
              </a:ext>
            </a:extLst>
          </p:cNvPr>
          <p:cNvSpPr txBox="1"/>
          <p:nvPr/>
        </p:nvSpPr>
        <p:spPr>
          <a:xfrm>
            <a:off x="4992723" y="4736164"/>
            <a:ext cx="231154" cy="369332"/>
          </a:xfrm>
          <a:prstGeom prst="rect">
            <a:avLst/>
          </a:prstGeom>
          <a:noFill/>
        </p:spPr>
        <p:txBody>
          <a:bodyPr wrap="none" rtlCol="0">
            <a:spAutoFit/>
          </a:bodyPr>
          <a:lstStyle/>
          <a:p>
            <a:r>
              <a:rPr lang="en-US" dirty="0"/>
              <a:t> </a:t>
            </a:r>
          </a:p>
        </p:txBody>
      </p:sp>
      <p:sp>
        <p:nvSpPr>
          <p:cNvPr id="14" name="TextBox 13">
            <a:extLst>
              <a:ext uri="{FF2B5EF4-FFF2-40B4-BE49-F238E27FC236}">
                <a16:creationId xmlns:a16="http://schemas.microsoft.com/office/drawing/2014/main" id="{B37EC9F6-34DB-5148-B636-BC120108A2B0}"/>
              </a:ext>
            </a:extLst>
          </p:cNvPr>
          <p:cNvSpPr txBox="1"/>
          <p:nvPr/>
        </p:nvSpPr>
        <p:spPr>
          <a:xfrm>
            <a:off x="1230723" y="2141809"/>
            <a:ext cx="4557504" cy="1200329"/>
          </a:xfrm>
          <a:prstGeom prst="rect">
            <a:avLst/>
          </a:prstGeom>
          <a:noFill/>
        </p:spPr>
        <p:txBody>
          <a:bodyPr wrap="square" rtlCol="0">
            <a:spAutoFit/>
          </a:bodyPr>
          <a:lstStyle/>
          <a:p>
            <a:r>
              <a:rPr lang="en-US" sz="2400" b="1" dirty="0"/>
              <a:t>Democratic: </a:t>
            </a:r>
            <a:r>
              <a:rPr lang="en-US" sz="2400" dirty="0"/>
              <a:t>Making knowledge freely available for everyone (e.g. open data, licensing)</a:t>
            </a:r>
          </a:p>
        </p:txBody>
      </p:sp>
      <p:sp>
        <p:nvSpPr>
          <p:cNvPr id="21" name="TextBox 20">
            <a:extLst>
              <a:ext uri="{FF2B5EF4-FFF2-40B4-BE49-F238E27FC236}">
                <a16:creationId xmlns:a16="http://schemas.microsoft.com/office/drawing/2014/main" id="{C74D78B1-0AB0-2A19-8052-34613A7D8BAD}"/>
              </a:ext>
            </a:extLst>
          </p:cNvPr>
          <p:cNvSpPr txBox="1"/>
          <p:nvPr/>
        </p:nvSpPr>
        <p:spPr>
          <a:xfrm>
            <a:off x="316323" y="799918"/>
            <a:ext cx="9693744" cy="954107"/>
          </a:xfrm>
          <a:prstGeom prst="rect">
            <a:avLst/>
          </a:prstGeom>
          <a:noFill/>
        </p:spPr>
        <p:txBody>
          <a:bodyPr wrap="none" rtlCol="0">
            <a:spAutoFit/>
          </a:bodyPr>
          <a:lstStyle/>
          <a:p>
            <a:r>
              <a:rPr lang="en-US" sz="2800" dirty="0"/>
              <a:t>‘Open Science’ means different things to people </a:t>
            </a:r>
          </a:p>
          <a:p>
            <a:r>
              <a:rPr lang="en-US" sz="2800" b="1" dirty="0"/>
              <a:t>5 Open Science schools of thought </a:t>
            </a:r>
            <a:r>
              <a:rPr lang="en-US" sz="2800" dirty="0"/>
              <a:t>(</a:t>
            </a:r>
            <a:r>
              <a:rPr lang="en-US" sz="2800" dirty="0">
                <a:hlinkClick r:id="rId5"/>
              </a:rPr>
              <a:t>Fecher &amp; </a:t>
            </a:r>
            <a:r>
              <a:rPr lang="en-US" sz="2800" dirty="0" err="1">
                <a:hlinkClick r:id="rId5"/>
              </a:rPr>
              <a:t>Friesike</a:t>
            </a:r>
            <a:r>
              <a:rPr lang="en-US" sz="2800" dirty="0">
                <a:hlinkClick r:id="rId5"/>
              </a:rPr>
              <a:t>, 2014</a:t>
            </a:r>
            <a:r>
              <a:rPr lang="en-US" sz="2800" dirty="0"/>
              <a:t>)</a:t>
            </a:r>
          </a:p>
        </p:txBody>
      </p:sp>
      <p:pic>
        <p:nvPicPr>
          <p:cNvPr id="38" name="Graphic 37" descr="Storytelling with solid fill">
            <a:extLst>
              <a:ext uri="{FF2B5EF4-FFF2-40B4-BE49-F238E27FC236}">
                <a16:creationId xmlns:a16="http://schemas.microsoft.com/office/drawing/2014/main" id="{3039D5B3-BC88-863F-366E-7510DF54A57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16323" y="2226314"/>
            <a:ext cx="914400" cy="914400"/>
          </a:xfrm>
          <a:prstGeom prst="rect">
            <a:avLst/>
          </a:prstGeom>
        </p:spPr>
      </p:pic>
      <p:pic>
        <p:nvPicPr>
          <p:cNvPr id="2" name="Graphic 1" descr="Lights On with solid fill">
            <a:extLst>
              <a:ext uri="{FF2B5EF4-FFF2-40B4-BE49-F238E27FC236}">
                <a16:creationId xmlns:a16="http://schemas.microsoft.com/office/drawing/2014/main" id="{85EF52D3-AE71-4FD3-0F12-11026CB2833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987002" y="799918"/>
            <a:ext cx="888675" cy="888675"/>
          </a:xfrm>
          <a:prstGeom prst="rect">
            <a:avLst/>
          </a:prstGeom>
        </p:spPr>
      </p:pic>
    </p:spTree>
    <p:extLst>
      <p:ext uri="{BB962C8B-B14F-4D97-AF65-F5344CB8AC3E}">
        <p14:creationId xmlns:p14="http://schemas.microsoft.com/office/powerpoint/2010/main" val="28137611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1CBC4-BC0C-77BC-2DAE-4515984D2760}"/>
            </a:ext>
          </a:extLst>
        </p:cNvPr>
        <p:cNvGrpSpPr/>
        <p:nvPr/>
      </p:nvGrpSpPr>
      <p:grpSpPr>
        <a:xfrm>
          <a:off x="0" y="0"/>
          <a:ext cx="0" cy="0"/>
          <a:chOff x="0" y="0"/>
          <a:chExt cx="0" cy="0"/>
        </a:xfrm>
      </p:grpSpPr>
      <p:grpSp>
        <p:nvGrpSpPr>
          <p:cNvPr id="63" name="Group 62">
            <a:extLst>
              <a:ext uri="{FF2B5EF4-FFF2-40B4-BE49-F238E27FC236}">
                <a16:creationId xmlns:a16="http://schemas.microsoft.com/office/drawing/2014/main" id="{F48BCF46-1382-64FF-B906-FED96AF5A90C}"/>
              </a:ext>
            </a:extLst>
          </p:cNvPr>
          <p:cNvGrpSpPr/>
          <p:nvPr/>
        </p:nvGrpSpPr>
        <p:grpSpPr>
          <a:xfrm>
            <a:off x="10704849" y="6564312"/>
            <a:ext cx="1362075" cy="273690"/>
            <a:chOff x="19317" y="2690018"/>
            <a:chExt cx="11784755" cy="2025180"/>
          </a:xfrm>
        </p:grpSpPr>
        <p:pic>
          <p:nvPicPr>
            <p:cNvPr id="64" name="Picture 2">
              <a:extLst>
                <a:ext uri="{FF2B5EF4-FFF2-40B4-BE49-F238E27FC236}">
                  <a16:creationId xmlns:a16="http://schemas.microsoft.com/office/drawing/2014/main" id="{F8BDA742-C163-A76B-3522-A2EE82DB07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4">
              <a:extLst>
                <a:ext uri="{FF2B5EF4-FFF2-40B4-BE49-F238E27FC236}">
                  <a16:creationId xmlns:a16="http://schemas.microsoft.com/office/drawing/2014/main" id="{73B68E8C-18A0-E054-5E30-FAFBAB348930}"/>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4" name="Title 1">
            <a:extLst>
              <a:ext uri="{FF2B5EF4-FFF2-40B4-BE49-F238E27FC236}">
                <a16:creationId xmlns:a16="http://schemas.microsoft.com/office/drawing/2014/main" id="{DA4FA89E-117E-3E7D-48AD-64E6A7976F18}"/>
              </a:ext>
            </a:extLst>
          </p:cNvPr>
          <p:cNvSpPr txBox="1">
            <a:spLocks/>
          </p:cNvSpPr>
          <p:nvPr/>
        </p:nvSpPr>
        <p:spPr>
          <a:xfrm>
            <a:off x="0" y="-11483"/>
            <a:ext cx="12192000" cy="849684"/>
          </a:xfrm>
          <a:prstGeom prst="rect">
            <a:avLst/>
          </a:prstGeom>
          <a:noFill/>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A conceptual challenge in Open Science: terminology</a:t>
            </a:r>
          </a:p>
        </p:txBody>
      </p:sp>
      <p:sp>
        <p:nvSpPr>
          <p:cNvPr id="62" name="Slide Number Placeholder 61">
            <a:extLst>
              <a:ext uri="{FF2B5EF4-FFF2-40B4-BE49-F238E27FC236}">
                <a16:creationId xmlns:a16="http://schemas.microsoft.com/office/drawing/2014/main" id="{58AE94F2-374E-ECE0-D1DD-11DC65ED6AEE}"/>
              </a:ext>
            </a:extLst>
          </p:cNvPr>
          <p:cNvSpPr>
            <a:spLocks noGrp="1"/>
          </p:cNvSpPr>
          <p:nvPr>
            <p:ph type="sldNum" sz="quarter" idx="12"/>
          </p:nvPr>
        </p:nvSpPr>
        <p:spPr>
          <a:xfrm>
            <a:off x="10774254" y="6356350"/>
            <a:ext cx="579546" cy="365125"/>
          </a:xfrm>
        </p:spPr>
        <p:txBody>
          <a:bodyPr/>
          <a:lstStyle/>
          <a:p>
            <a:fld id="{DC6309F4-03C8-4D48-A124-A9AD6E083FAC}" type="slidenum">
              <a:rPr lang="en-US" smtClean="0"/>
              <a:t>30</a:t>
            </a:fld>
            <a:endParaRPr lang="en-US" dirty="0"/>
          </a:p>
        </p:txBody>
      </p:sp>
      <p:sp>
        <p:nvSpPr>
          <p:cNvPr id="16" name="TextBox 15">
            <a:extLst>
              <a:ext uri="{FF2B5EF4-FFF2-40B4-BE49-F238E27FC236}">
                <a16:creationId xmlns:a16="http://schemas.microsoft.com/office/drawing/2014/main" id="{4D7DD3D2-F523-EBB1-5414-955CC19C3D45}"/>
              </a:ext>
            </a:extLst>
          </p:cNvPr>
          <p:cNvSpPr txBox="1"/>
          <p:nvPr/>
        </p:nvSpPr>
        <p:spPr>
          <a:xfrm>
            <a:off x="4992723" y="4736164"/>
            <a:ext cx="231154" cy="369332"/>
          </a:xfrm>
          <a:prstGeom prst="rect">
            <a:avLst/>
          </a:prstGeom>
          <a:noFill/>
        </p:spPr>
        <p:txBody>
          <a:bodyPr wrap="none" rtlCol="0">
            <a:spAutoFit/>
          </a:bodyPr>
          <a:lstStyle/>
          <a:p>
            <a:r>
              <a:rPr lang="en-US" dirty="0"/>
              <a:t> </a:t>
            </a:r>
          </a:p>
        </p:txBody>
      </p:sp>
      <p:sp>
        <p:nvSpPr>
          <p:cNvPr id="14" name="TextBox 13">
            <a:extLst>
              <a:ext uri="{FF2B5EF4-FFF2-40B4-BE49-F238E27FC236}">
                <a16:creationId xmlns:a16="http://schemas.microsoft.com/office/drawing/2014/main" id="{1EB79C42-8C0E-D4F0-38A7-9D28D460E2BF}"/>
              </a:ext>
            </a:extLst>
          </p:cNvPr>
          <p:cNvSpPr txBox="1"/>
          <p:nvPr/>
        </p:nvSpPr>
        <p:spPr>
          <a:xfrm>
            <a:off x="1230723" y="2141809"/>
            <a:ext cx="4557504" cy="1200329"/>
          </a:xfrm>
          <a:prstGeom prst="rect">
            <a:avLst/>
          </a:prstGeom>
          <a:noFill/>
        </p:spPr>
        <p:txBody>
          <a:bodyPr wrap="square" rtlCol="0">
            <a:spAutoFit/>
          </a:bodyPr>
          <a:lstStyle/>
          <a:p>
            <a:r>
              <a:rPr lang="en-US" sz="2400" b="1" dirty="0"/>
              <a:t>Democratic: </a:t>
            </a:r>
            <a:r>
              <a:rPr lang="en-US" sz="2400" dirty="0"/>
              <a:t>Making knowledge freely available for everyone (e.g. open data, licensing)</a:t>
            </a:r>
          </a:p>
        </p:txBody>
      </p:sp>
      <p:sp>
        <p:nvSpPr>
          <p:cNvPr id="18" name="TextBox 17">
            <a:extLst>
              <a:ext uri="{FF2B5EF4-FFF2-40B4-BE49-F238E27FC236}">
                <a16:creationId xmlns:a16="http://schemas.microsoft.com/office/drawing/2014/main" id="{10B90BD5-1D71-8315-EA86-5BAE302FFC3E}"/>
              </a:ext>
            </a:extLst>
          </p:cNvPr>
          <p:cNvSpPr txBox="1"/>
          <p:nvPr/>
        </p:nvSpPr>
        <p:spPr>
          <a:xfrm>
            <a:off x="7268102" y="2141809"/>
            <a:ext cx="4775342" cy="1200329"/>
          </a:xfrm>
          <a:prstGeom prst="rect">
            <a:avLst/>
          </a:prstGeom>
          <a:noFill/>
        </p:spPr>
        <p:txBody>
          <a:bodyPr wrap="square" rtlCol="0">
            <a:spAutoFit/>
          </a:bodyPr>
          <a:lstStyle/>
          <a:p>
            <a:r>
              <a:rPr lang="en-US" sz="2400" b="1" dirty="0"/>
              <a:t>Pragmatic: </a:t>
            </a:r>
            <a:r>
              <a:rPr lang="en-US" sz="2400" dirty="0"/>
              <a:t>Opening up the process of knowledge creation (e.g. Big Team Science, open code)</a:t>
            </a:r>
          </a:p>
        </p:txBody>
      </p:sp>
      <p:pic>
        <p:nvPicPr>
          <p:cNvPr id="38" name="Graphic 37" descr="Storytelling with solid fill">
            <a:extLst>
              <a:ext uri="{FF2B5EF4-FFF2-40B4-BE49-F238E27FC236}">
                <a16:creationId xmlns:a16="http://schemas.microsoft.com/office/drawing/2014/main" id="{B387C1E1-CF08-EFB7-3239-5CDFC2BC578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16323" y="2226314"/>
            <a:ext cx="914400" cy="914400"/>
          </a:xfrm>
          <a:prstGeom prst="rect">
            <a:avLst/>
          </a:prstGeom>
        </p:spPr>
      </p:pic>
      <p:pic>
        <p:nvPicPr>
          <p:cNvPr id="39" name="Graphic 38" descr="Unlock outline">
            <a:extLst>
              <a:ext uri="{FF2B5EF4-FFF2-40B4-BE49-F238E27FC236}">
                <a16:creationId xmlns:a16="http://schemas.microsoft.com/office/drawing/2014/main" id="{D6037A5A-202A-66AB-976A-C40F67D5A38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flipH="1">
            <a:off x="6403774" y="2208529"/>
            <a:ext cx="914401" cy="1036076"/>
          </a:xfrm>
          <a:prstGeom prst="rect">
            <a:avLst/>
          </a:prstGeom>
        </p:spPr>
      </p:pic>
      <p:sp>
        <p:nvSpPr>
          <p:cNvPr id="2" name="Rectangle 1">
            <a:extLst>
              <a:ext uri="{FF2B5EF4-FFF2-40B4-BE49-F238E27FC236}">
                <a16:creationId xmlns:a16="http://schemas.microsoft.com/office/drawing/2014/main" id="{46B8EF0D-79D4-4A41-3FDA-1CBA72E25A74}"/>
              </a:ext>
            </a:extLst>
          </p:cNvPr>
          <p:cNvSpPr/>
          <p:nvPr/>
        </p:nvSpPr>
        <p:spPr>
          <a:xfrm>
            <a:off x="149850" y="1899138"/>
            <a:ext cx="5883437" cy="1726933"/>
          </a:xfrm>
          <a:prstGeom prst="rect">
            <a:avLst/>
          </a:prstGeom>
          <a:solidFill>
            <a:schemeClr val="bg1">
              <a:alpha val="6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descr="Lights On with solid fill">
            <a:extLst>
              <a:ext uri="{FF2B5EF4-FFF2-40B4-BE49-F238E27FC236}">
                <a16:creationId xmlns:a16="http://schemas.microsoft.com/office/drawing/2014/main" id="{F19C9591-6E72-6D69-0EE9-B118FC5E9DB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987002" y="799918"/>
            <a:ext cx="888675" cy="888675"/>
          </a:xfrm>
          <a:prstGeom prst="rect">
            <a:avLst/>
          </a:prstGeom>
        </p:spPr>
      </p:pic>
      <p:sp>
        <p:nvSpPr>
          <p:cNvPr id="6" name="TextBox 5">
            <a:extLst>
              <a:ext uri="{FF2B5EF4-FFF2-40B4-BE49-F238E27FC236}">
                <a16:creationId xmlns:a16="http://schemas.microsoft.com/office/drawing/2014/main" id="{8A6F0EEA-4D45-E7FE-051D-E7BD79DC28B4}"/>
              </a:ext>
            </a:extLst>
          </p:cNvPr>
          <p:cNvSpPr txBox="1"/>
          <p:nvPr/>
        </p:nvSpPr>
        <p:spPr>
          <a:xfrm>
            <a:off x="316323" y="799918"/>
            <a:ext cx="9693744" cy="954107"/>
          </a:xfrm>
          <a:prstGeom prst="rect">
            <a:avLst/>
          </a:prstGeom>
          <a:noFill/>
        </p:spPr>
        <p:txBody>
          <a:bodyPr wrap="none" rtlCol="0">
            <a:spAutoFit/>
          </a:bodyPr>
          <a:lstStyle/>
          <a:p>
            <a:r>
              <a:rPr lang="en-US" sz="2800" dirty="0"/>
              <a:t>‘Open Science’ means different things to people </a:t>
            </a:r>
          </a:p>
          <a:p>
            <a:r>
              <a:rPr lang="en-US" sz="2800" b="1" dirty="0"/>
              <a:t>5 Open Science schools of thought </a:t>
            </a:r>
            <a:r>
              <a:rPr lang="en-US" sz="2800" dirty="0"/>
              <a:t>(</a:t>
            </a:r>
            <a:r>
              <a:rPr lang="en-US" sz="2800" dirty="0">
                <a:hlinkClick r:id="rId8"/>
              </a:rPr>
              <a:t>Fecher &amp; </a:t>
            </a:r>
            <a:r>
              <a:rPr lang="en-US" sz="2800" dirty="0" err="1">
                <a:hlinkClick r:id="rId8"/>
              </a:rPr>
              <a:t>Friesike</a:t>
            </a:r>
            <a:r>
              <a:rPr lang="en-US" sz="2800" dirty="0">
                <a:hlinkClick r:id="rId8"/>
              </a:rPr>
              <a:t>, 2014</a:t>
            </a:r>
            <a:r>
              <a:rPr lang="en-US" sz="2800" dirty="0"/>
              <a:t>)</a:t>
            </a:r>
          </a:p>
        </p:txBody>
      </p:sp>
    </p:spTree>
    <p:extLst>
      <p:ext uri="{BB962C8B-B14F-4D97-AF65-F5344CB8AC3E}">
        <p14:creationId xmlns:p14="http://schemas.microsoft.com/office/powerpoint/2010/main" val="24689899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1BC78-FBDB-C656-C750-1E8A7D21FEDA}"/>
            </a:ext>
          </a:extLst>
        </p:cNvPr>
        <p:cNvGrpSpPr/>
        <p:nvPr/>
      </p:nvGrpSpPr>
      <p:grpSpPr>
        <a:xfrm>
          <a:off x="0" y="0"/>
          <a:ext cx="0" cy="0"/>
          <a:chOff x="0" y="0"/>
          <a:chExt cx="0" cy="0"/>
        </a:xfrm>
      </p:grpSpPr>
      <p:grpSp>
        <p:nvGrpSpPr>
          <p:cNvPr id="63" name="Group 62">
            <a:extLst>
              <a:ext uri="{FF2B5EF4-FFF2-40B4-BE49-F238E27FC236}">
                <a16:creationId xmlns:a16="http://schemas.microsoft.com/office/drawing/2014/main" id="{2B4EE6FE-3E4F-8909-95F8-ADB3B66FE71F}"/>
              </a:ext>
            </a:extLst>
          </p:cNvPr>
          <p:cNvGrpSpPr/>
          <p:nvPr/>
        </p:nvGrpSpPr>
        <p:grpSpPr>
          <a:xfrm>
            <a:off x="10704849" y="6564312"/>
            <a:ext cx="1362075" cy="273690"/>
            <a:chOff x="19317" y="2690018"/>
            <a:chExt cx="11784755" cy="2025180"/>
          </a:xfrm>
        </p:grpSpPr>
        <p:pic>
          <p:nvPicPr>
            <p:cNvPr id="64" name="Picture 2">
              <a:extLst>
                <a:ext uri="{FF2B5EF4-FFF2-40B4-BE49-F238E27FC236}">
                  <a16:creationId xmlns:a16="http://schemas.microsoft.com/office/drawing/2014/main" id="{848ADA5B-000F-625C-8D97-B75DD464F5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4">
              <a:extLst>
                <a:ext uri="{FF2B5EF4-FFF2-40B4-BE49-F238E27FC236}">
                  <a16:creationId xmlns:a16="http://schemas.microsoft.com/office/drawing/2014/main" id="{F7FF1332-0084-6452-9DFA-B34FECFE6227}"/>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4" name="Title 1">
            <a:extLst>
              <a:ext uri="{FF2B5EF4-FFF2-40B4-BE49-F238E27FC236}">
                <a16:creationId xmlns:a16="http://schemas.microsoft.com/office/drawing/2014/main" id="{E3AB69D1-71D6-7A4E-31D2-DA524249EF2D}"/>
              </a:ext>
            </a:extLst>
          </p:cNvPr>
          <p:cNvSpPr txBox="1">
            <a:spLocks/>
          </p:cNvSpPr>
          <p:nvPr/>
        </p:nvSpPr>
        <p:spPr>
          <a:xfrm>
            <a:off x="0" y="-11483"/>
            <a:ext cx="12192000" cy="849684"/>
          </a:xfrm>
          <a:prstGeom prst="rect">
            <a:avLst/>
          </a:prstGeom>
          <a:noFill/>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A conceptual challenge in Open Science: terminology</a:t>
            </a:r>
          </a:p>
        </p:txBody>
      </p:sp>
      <p:sp>
        <p:nvSpPr>
          <p:cNvPr id="62" name="Slide Number Placeholder 61">
            <a:extLst>
              <a:ext uri="{FF2B5EF4-FFF2-40B4-BE49-F238E27FC236}">
                <a16:creationId xmlns:a16="http://schemas.microsoft.com/office/drawing/2014/main" id="{E945E529-A169-1143-6240-DEE003A7BACC}"/>
              </a:ext>
            </a:extLst>
          </p:cNvPr>
          <p:cNvSpPr>
            <a:spLocks noGrp="1"/>
          </p:cNvSpPr>
          <p:nvPr>
            <p:ph type="sldNum" sz="quarter" idx="12"/>
          </p:nvPr>
        </p:nvSpPr>
        <p:spPr>
          <a:xfrm>
            <a:off x="10774254" y="6356350"/>
            <a:ext cx="579546" cy="365125"/>
          </a:xfrm>
        </p:spPr>
        <p:txBody>
          <a:bodyPr/>
          <a:lstStyle/>
          <a:p>
            <a:fld id="{DC6309F4-03C8-4D48-A124-A9AD6E083FAC}" type="slidenum">
              <a:rPr lang="en-US" smtClean="0"/>
              <a:t>31</a:t>
            </a:fld>
            <a:endParaRPr lang="en-US" dirty="0"/>
          </a:p>
        </p:txBody>
      </p:sp>
      <p:sp>
        <p:nvSpPr>
          <p:cNvPr id="16" name="TextBox 15">
            <a:extLst>
              <a:ext uri="{FF2B5EF4-FFF2-40B4-BE49-F238E27FC236}">
                <a16:creationId xmlns:a16="http://schemas.microsoft.com/office/drawing/2014/main" id="{B151874F-1937-8C2A-8CDE-BD7B1EE1EF43}"/>
              </a:ext>
            </a:extLst>
          </p:cNvPr>
          <p:cNvSpPr txBox="1"/>
          <p:nvPr/>
        </p:nvSpPr>
        <p:spPr>
          <a:xfrm>
            <a:off x="4992723" y="4736164"/>
            <a:ext cx="231154" cy="369332"/>
          </a:xfrm>
          <a:prstGeom prst="rect">
            <a:avLst/>
          </a:prstGeom>
          <a:noFill/>
        </p:spPr>
        <p:txBody>
          <a:bodyPr wrap="none" rtlCol="0">
            <a:spAutoFit/>
          </a:bodyPr>
          <a:lstStyle/>
          <a:p>
            <a:r>
              <a:rPr lang="en-US" dirty="0"/>
              <a:t> </a:t>
            </a:r>
          </a:p>
        </p:txBody>
      </p:sp>
      <p:sp>
        <p:nvSpPr>
          <p:cNvPr id="14" name="TextBox 13">
            <a:extLst>
              <a:ext uri="{FF2B5EF4-FFF2-40B4-BE49-F238E27FC236}">
                <a16:creationId xmlns:a16="http://schemas.microsoft.com/office/drawing/2014/main" id="{392080F2-C256-B5AC-D0F5-36EF0214793A}"/>
              </a:ext>
            </a:extLst>
          </p:cNvPr>
          <p:cNvSpPr txBox="1"/>
          <p:nvPr/>
        </p:nvSpPr>
        <p:spPr>
          <a:xfrm>
            <a:off x="1230723" y="2141809"/>
            <a:ext cx="4557504" cy="1200329"/>
          </a:xfrm>
          <a:prstGeom prst="rect">
            <a:avLst/>
          </a:prstGeom>
          <a:noFill/>
        </p:spPr>
        <p:txBody>
          <a:bodyPr wrap="square" rtlCol="0">
            <a:spAutoFit/>
          </a:bodyPr>
          <a:lstStyle/>
          <a:p>
            <a:r>
              <a:rPr lang="en-US" sz="2400" b="1" dirty="0"/>
              <a:t>Democratic: </a:t>
            </a:r>
            <a:r>
              <a:rPr lang="en-US" sz="2400" dirty="0"/>
              <a:t>Making knowledge freely available for everyone (e.g. open data, licensing)</a:t>
            </a:r>
          </a:p>
        </p:txBody>
      </p:sp>
      <p:sp>
        <p:nvSpPr>
          <p:cNvPr id="18" name="TextBox 17">
            <a:extLst>
              <a:ext uri="{FF2B5EF4-FFF2-40B4-BE49-F238E27FC236}">
                <a16:creationId xmlns:a16="http://schemas.microsoft.com/office/drawing/2014/main" id="{1593D00D-1D2D-393B-13CC-28A1F3FCF80A}"/>
              </a:ext>
            </a:extLst>
          </p:cNvPr>
          <p:cNvSpPr txBox="1"/>
          <p:nvPr/>
        </p:nvSpPr>
        <p:spPr>
          <a:xfrm>
            <a:off x="7268102" y="2141809"/>
            <a:ext cx="4775342" cy="1200329"/>
          </a:xfrm>
          <a:prstGeom prst="rect">
            <a:avLst/>
          </a:prstGeom>
          <a:noFill/>
        </p:spPr>
        <p:txBody>
          <a:bodyPr wrap="square" rtlCol="0">
            <a:spAutoFit/>
          </a:bodyPr>
          <a:lstStyle/>
          <a:p>
            <a:r>
              <a:rPr lang="en-US" sz="2400" b="1" dirty="0"/>
              <a:t>Pragmatic: </a:t>
            </a:r>
            <a:r>
              <a:rPr lang="en-US" sz="2400" dirty="0"/>
              <a:t>Opening up the process of knowledge creation (e.g. Big Team Science, open code)</a:t>
            </a:r>
          </a:p>
        </p:txBody>
      </p:sp>
      <p:sp>
        <p:nvSpPr>
          <p:cNvPr id="23" name="TextBox 22">
            <a:extLst>
              <a:ext uri="{FF2B5EF4-FFF2-40B4-BE49-F238E27FC236}">
                <a16:creationId xmlns:a16="http://schemas.microsoft.com/office/drawing/2014/main" id="{5F1DF71D-2F2B-8275-3A8F-32B7AECFDD98}"/>
              </a:ext>
            </a:extLst>
          </p:cNvPr>
          <p:cNvSpPr txBox="1"/>
          <p:nvPr/>
        </p:nvSpPr>
        <p:spPr>
          <a:xfrm>
            <a:off x="3011241" y="3755276"/>
            <a:ext cx="7209496" cy="830997"/>
          </a:xfrm>
          <a:prstGeom prst="rect">
            <a:avLst/>
          </a:prstGeom>
          <a:noFill/>
        </p:spPr>
        <p:txBody>
          <a:bodyPr wrap="square" rtlCol="0">
            <a:spAutoFit/>
          </a:bodyPr>
          <a:lstStyle/>
          <a:p>
            <a:r>
              <a:rPr lang="en-US" sz="2400" b="1" dirty="0"/>
              <a:t>Infrastructure: </a:t>
            </a:r>
            <a:r>
              <a:rPr lang="en-US" sz="2400" dirty="0"/>
              <a:t>Creating open technical architecture for scientists (e.g. tools, platforms, services)</a:t>
            </a:r>
          </a:p>
        </p:txBody>
      </p:sp>
      <p:pic>
        <p:nvPicPr>
          <p:cNvPr id="31" name="Graphic 30" descr="Internet with solid fill">
            <a:extLst>
              <a:ext uri="{FF2B5EF4-FFF2-40B4-BE49-F238E27FC236}">
                <a16:creationId xmlns:a16="http://schemas.microsoft.com/office/drawing/2014/main" id="{AA5C364D-2B0A-2BBD-58F5-9619B84B37B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077525" y="3727588"/>
            <a:ext cx="914400" cy="914400"/>
          </a:xfrm>
          <a:prstGeom prst="rect">
            <a:avLst/>
          </a:prstGeom>
        </p:spPr>
      </p:pic>
      <p:pic>
        <p:nvPicPr>
          <p:cNvPr id="38" name="Graphic 37" descr="Storytelling with solid fill">
            <a:extLst>
              <a:ext uri="{FF2B5EF4-FFF2-40B4-BE49-F238E27FC236}">
                <a16:creationId xmlns:a16="http://schemas.microsoft.com/office/drawing/2014/main" id="{215793CD-E985-F9CE-2AFE-78B285E8D64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16323" y="2226314"/>
            <a:ext cx="914400" cy="914400"/>
          </a:xfrm>
          <a:prstGeom prst="rect">
            <a:avLst/>
          </a:prstGeom>
        </p:spPr>
      </p:pic>
      <p:pic>
        <p:nvPicPr>
          <p:cNvPr id="39" name="Graphic 38" descr="Unlock outline">
            <a:extLst>
              <a:ext uri="{FF2B5EF4-FFF2-40B4-BE49-F238E27FC236}">
                <a16:creationId xmlns:a16="http://schemas.microsoft.com/office/drawing/2014/main" id="{9BF37536-EB19-D143-2F62-405A09C8978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flipH="1">
            <a:off x="6403774" y="2208529"/>
            <a:ext cx="914401" cy="1036076"/>
          </a:xfrm>
          <a:prstGeom prst="rect">
            <a:avLst/>
          </a:prstGeom>
        </p:spPr>
      </p:pic>
      <p:sp>
        <p:nvSpPr>
          <p:cNvPr id="2" name="Rectangle 1">
            <a:extLst>
              <a:ext uri="{FF2B5EF4-FFF2-40B4-BE49-F238E27FC236}">
                <a16:creationId xmlns:a16="http://schemas.microsoft.com/office/drawing/2014/main" id="{3995D438-F305-3FF4-E692-FEAACEBC7DD6}"/>
              </a:ext>
            </a:extLst>
          </p:cNvPr>
          <p:cNvSpPr/>
          <p:nvPr/>
        </p:nvSpPr>
        <p:spPr>
          <a:xfrm>
            <a:off x="149850" y="1899138"/>
            <a:ext cx="11893594" cy="1726933"/>
          </a:xfrm>
          <a:prstGeom prst="rect">
            <a:avLst/>
          </a:prstGeom>
          <a:solidFill>
            <a:schemeClr val="bg1">
              <a:alpha val="6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descr="Lights On with solid fill">
            <a:extLst>
              <a:ext uri="{FF2B5EF4-FFF2-40B4-BE49-F238E27FC236}">
                <a16:creationId xmlns:a16="http://schemas.microsoft.com/office/drawing/2014/main" id="{0A13AD39-4467-B046-0579-7343B47DF37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987002" y="799918"/>
            <a:ext cx="888675" cy="888675"/>
          </a:xfrm>
          <a:prstGeom prst="rect">
            <a:avLst/>
          </a:prstGeom>
        </p:spPr>
      </p:pic>
      <p:sp>
        <p:nvSpPr>
          <p:cNvPr id="6" name="TextBox 5">
            <a:extLst>
              <a:ext uri="{FF2B5EF4-FFF2-40B4-BE49-F238E27FC236}">
                <a16:creationId xmlns:a16="http://schemas.microsoft.com/office/drawing/2014/main" id="{CF77E559-7414-E434-3CD4-4AB6556182F5}"/>
              </a:ext>
            </a:extLst>
          </p:cNvPr>
          <p:cNvSpPr txBox="1"/>
          <p:nvPr/>
        </p:nvSpPr>
        <p:spPr>
          <a:xfrm>
            <a:off x="316323" y="799918"/>
            <a:ext cx="9693744" cy="954107"/>
          </a:xfrm>
          <a:prstGeom prst="rect">
            <a:avLst/>
          </a:prstGeom>
          <a:noFill/>
        </p:spPr>
        <p:txBody>
          <a:bodyPr wrap="none" rtlCol="0">
            <a:spAutoFit/>
          </a:bodyPr>
          <a:lstStyle/>
          <a:p>
            <a:r>
              <a:rPr lang="en-US" sz="2800" dirty="0"/>
              <a:t>‘Open Science’ means different things to people </a:t>
            </a:r>
          </a:p>
          <a:p>
            <a:r>
              <a:rPr lang="en-US" sz="2800" b="1" dirty="0"/>
              <a:t>5 Open Science schools of thought </a:t>
            </a:r>
            <a:r>
              <a:rPr lang="en-US" sz="2800" dirty="0"/>
              <a:t>(</a:t>
            </a:r>
            <a:r>
              <a:rPr lang="en-US" sz="2800" dirty="0">
                <a:hlinkClick r:id="rId9"/>
              </a:rPr>
              <a:t>Fecher &amp; </a:t>
            </a:r>
            <a:r>
              <a:rPr lang="en-US" sz="2800" dirty="0" err="1">
                <a:hlinkClick r:id="rId9"/>
              </a:rPr>
              <a:t>Friesike</a:t>
            </a:r>
            <a:r>
              <a:rPr lang="en-US" sz="2800" dirty="0">
                <a:hlinkClick r:id="rId9"/>
              </a:rPr>
              <a:t>, 2014</a:t>
            </a:r>
            <a:r>
              <a:rPr lang="en-US" sz="2800" dirty="0"/>
              <a:t>)</a:t>
            </a:r>
          </a:p>
        </p:txBody>
      </p:sp>
    </p:spTree>
    <p:extLst>
      <p:ext uri="{BB962C8B-B14F-4D97-AF65-F5344CB8AC3E}">
        <p14:creationId xmlns:p14="http://schemas.microsoft.com/office/powerpoint/2010/main" val="3195025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D194F-2D39-83B1-CA39-5225BE3469CA}"/>
            </a:ext>
          </a:extLst>
        </p:cNvPr>
        <p:cNvGrpSpPr/>
        <p:nvPr/>
      </p:nvGrpSpPr>
      <p:grpSpPr>
        <a:xfrm>
          <a:off x="0" y="0"/>
          <a:ext cx="0" cy="0"/>
          <a:chOff x="0" y="0"/>
          <a:chExt cx="0" cy="0"/>
        </a:xfrm>
      </p:grpSpPr>
      <p:grpSp>
        <p:nvGrpSpPr>
          <p:cNvPr id="63" name="Group 62">
            <a:extLst>
              <a:ext uri="{FF2B5EF4-FFF2-40B4-BE49-F238E27FC236}">
                <a16:creationId xmlns:a16="http://schemas.microsoft.com/office/drawing/2014/main" id="{FF772E3A-7CBC-FC3C-8EC5-E5F059A2BEFD}"/>
              </a:ext>
            </a:extLst>
          </p:cNvPr>
          <p:cNvGrpSpPr/>
          <p:nvPr/>
        </p:nvGrpSpPr>
        <p:grpSpPr>
          <a:xfrm>
            <a:off x="10704849" y="6564312"/>
            <a:ext cx="1362075" cy="273690"/>
            <a:chOff x="19317" y="2690018"/>
            <a:chExt cx="11784755" cy="2025180"/>
          </a:xfrm>
        </p:grpSpPr>
        <p:pic>
          <p:nvPicPr>
            <p:cNvPr id="64" name="Picture 2">
              <a:extLst>
                <a:ext uri="{FF2B5EF4-FFF2-40B4-BE49-F238E27FC236}">
                  <a16:creationId xmlns:a16="http://schemas.microsoft.com/office/drawing/2014/main" id="{1588D91E-152A-265A-64AD-99A4211E9E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4">
              <a:extLst>
                <a:ext uri="{FF2B5EF4-FFF2-40B4-BE49-F238E27FC236}">
                  <a16:creationId xmlns:a16="http://schemas.microsoft.com/office/drawing/2014/main" id="{FF22FE5E-1D70-D861-BD77-B506A4D70556}"/>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4" name="Title 1">
            <a:extLst>
              <a:ext uri="{FF2B5EF4-FFF2-40B4-BE49-F238E27FC236}">
                <a16:creationId xmlns:a16="http://schemas.microsoft.com/office/drawing/2014/main" id="{A3E3881D-950D-0D62-596C-F030D63608EB}"/>
              </a:ext>
            </a:extLst>
          </p:cNvPr>
          <p:cNvSpPr txBox="1">
            <a:spLocks/>
          </p:cNvSpPr>
          <p:nvPr/>
        </p:nvSpPr>
        <p:spPr>
          <a:xfrm>
            <a:off x="0" y="-11483"/>
            <a:ext cx="12192000" cy="849684"/>
          </a:xfrm>
          <a:prstGeom prst="rect">
            <a:avLst/>
          </a:prstGeom>
          <a:noFill/>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A conceptual challenge in Open Science: terminology</a:t>
            </a:r>
          </a:p>
        </p:txBody>
      </p:sp>
      <p:sp>
        <p:nvSpPr>
          <p:cNvPr id="62" name="Slide Number Placeholder 61">
            <a:extLst>
              <a:ext uri="{FF2B5EF4-FFF2-40B4-BE49-F238E27FC236}">
                <a16:creationId xmlns:a16="http://schemas.microsoft.com/office/drawing/2014/main" id="{F4B69529-29BA-5F40-7F8E-2D5492C1AA43}"/>
              </a:ext>
            </a:extLst>
          </p:cNvPr>
          <p:cNvSpPr>
            <a:spLocks noGrp="1"/>
          </p:cNvSpPr>
          <p:nvPr>
            <p:ph type="sldNum" sz="quarter" idx="12"/>
          </p:nvPr>
        </p:nvSpPr>
        <p:spPr>
          <a:xfrm>
            <a:off x="10774254" y="6356350"/>
            <a:ext cx="579546" cy="365125"/>
          </a:xfrm>
        </p:spPr>
        <p:txBody>
          <a:bodyPr/>
          <a:lstStyle/>
          <a:p>
            <a:fld id="{DC6309F4-03C8-4D48-A124-A9AD6E083FAC}" type="slidenum">
              <a:rPr lang="en-US" smtClean="0"/>
              <a:t>32</a:t>
            </a:fld>
            <a:endParaRPr lang="en-US" dirty="0"/>
          </a:p>
        </p:txBody>
      </p:sp>
      <p:sp>
        <p:nvSpPr>
          <p:cNvPr id="16" name="TextBox 15">
            <a:extLst>
              <a:ext uri="{FF2B5EF4-FFF2-40B4-BE49-F238E27FC236}">
                <a16:creationId xmlns:a16="http://schemas.microsoft.com/office/drawing/2014/main" id="{E9BDE762-B9D7-2B3A-22F7-A83627442DD0}"/>
              </a:ext>
            </a:extLst>
          </p:cNvPr>
          <p:cNvSpPr txBox="1"/>
          <p:nvPr/>
        </p:nvSpPr>
        <p:spPr>
          <a:xfrm>
            <a:off x="4992723" y="4736164"/>
            <a:ext cx="231154" cy="369332"/>
          </a:xfrm>
          <a:prstGeom prst="rect">
            <a:avLst/>
          </a:prstGeom>
          <a:noFill/>
        </p:spPr>
        <p:txBody>
          <a:bodyPr wrap="none" rtlCol="0">
            <a:spAutoFit/>
          </a:bodyPr>
          <a:lstStyle/>
          <a:p>
            <a:r>
              <a:rPr lang="en-US" dirty="0"/>
              <a:t> </a:t>
            </a:r>
          </a:p>
        </p:txBody>
      </p:sp>
      <p:sp>
        <p:nvSpPr>
          <p:cNvPr id="14" name="TextBox 13">
            <a:extLst>
              <a:ext uri="{FF2B5EF4-FFF2-40B4-BE49-F238E27FC236}">
                <a16:creationId xmlns:a16="http://schemas.microsoft.com/office/drawing/2014/main" id="{07BB6323-7F26-7118-74A7-D5F4315E479A}"/>
              </a:ext>
            </a:extLst>
          </p:cNvPr>
          <p:cNvSpPr txBox="1"/>
          <p:nvPr/>
        </p:nvSpPr>
        <p:spPr>
          <a:xfrm>
            <a:off x="1230723" y="2141809"/>
            <a:ext cx="4557504" cy="1200329"/>
          </a:xfrm>
          <a:prstGeom prst="rect">
            <a:avLst/>
          </a:prstGeom>
          <a:noFill/>
        </p:spPr>
        <p:txBody>
          <a:bodyPr wrap="square" rtlCol="0">
            <a:spAutoFit/>
          </a:bodyPr>
          <a:lstStyle/>
          <a:p>
            <a:r>
              <a:rPr lang="en-US" sz="2400" b="1" dirty="0"/>
              <a:t>Democratic: </a:t>
            </a:r>
            <a:r>
              <a:rPr lang="en-US" sz="2400" dirty="0"/>
              <a:t>Making knowledge freely available for everyone (e.g. open data, licensing)</a:t>
            </a:r>
          </a:p>
        </p:txBody>
      </p:sp>
      <p:sp>
        <p:nvSpPr>
          <p:cNvPr id="18" name="TextBox 17">
            <a:extLst>
              <a:ext uri="{FF2B5EF4-FFF2-40B4-BE49-F238E27FC236}">
                <a16:creationId xmlns:a16="http://schemas.microsoft.com/office/drawing/2014/main" id="{E51CF210-D53F-A298-D815-29CC0863BD82}"/>
              </a:ext>
            </a:extLst>
          </p:cNvPr>
          <p:cNvSpPr txBox="1"/>
          <p:nvPr/>
        </p:nvSpPr>
        <p:spPr>
          <a:xfrm>
            <a:off x="7268102" y="2141809"/>
            <a:ext cx="4775342" cy="1200329"/>
          </a:xfrm>
          <a:prstGeom prst="rect">
            <a:avLst/>
          </a:prstGeom>
          <a:noFill/>
        </p:spPr>
        <p:txBody>
          <a:bodyPr wrap="square" rtlCol="0">
            <a:spAutoFit/>
          </a:bodyPr>
          <a:lstStyle/>
          <a:p>
            <a:r>
              <a:rPr lang="en-US" sz="2400" b="1" dirty="0"/>
              <a:t>Pragmatic: </a:t>
            </a:r>
            <a:r>
              <a:rPr lang="en-US" sz="2400" dirty="0"/>
              <a:t>Opening up the process of knowledge creation (e.g. Big Team Science, open code)</a:t>
            </a:r>
          </a:p>
        </p:txBody>
      </p:sp>
      <p:sp>
        <p:nvSpPr>
          <p:cNvPr id="23" name="TextBox 22">
            <a:extLst>
              <a:ext uri="{FF2B5EF4-FFF2-40B4-BE49-F238E27FC236}">
                <a16:creationId xmlns:a16="http://schemas.microsoft.com/office/drawing/2014/main" id="{F4B4E078-C896-155E-1500-87F8219BFC1F}"/>
              </a:ext>
            </a:extLst>
          </p:cNvPr>
          <p:cNvSpPr txBox="1"/>
          <p:nvPr/>
        </p:nvSpPr>
        <p:spPr>
          <a:xfrm>
            <a:off x="3011241" y="3755276"/>
            <a:ext cx="7209496" cy="830997"/>
          </a:xfrm>
          <a:prstGeom prst="rect">
            <a:avLst/>
          </a:prstGeom>
          <a:noFill/>
        </p:spPr>
        <p:txBody>
          <a:bodyPr wrap="square" rtlCol="0">
            <a:spAutoFit/>
          </a:bodyPr>
          <a:lstStyle/>
          <a:p>
            <a:r>
              <a:rPr lang="en-US" sz="2400" b="1" dirty="0"/>
              <a:t>Infrastructure: </a:t>
            </a:r>
            <a:r>
              <a:rPr lang="en-US" sz="2400" dirty="0"/>
              <a:t>Creating open technical architecture for scientists (e.g. tools, platforms, services)</a:t>
            </a:r>
          </a:p>
        </p:txBody>
      </p:sp>
      <p:sp>
        <p:nvSpPr>
          <p:cNvPr id="25" name="TextBox 24">
            <a:extLst>
              <a:ext uri="{FF2B5EF4-FFF2-40B4-BE49-F238E27FC236}">
                <a16:creationId xmlns:a16="http://schemas.microsoft.com/office/drawing/2014/main" id="{60BE9C78-2F4F-4AE2-E349-0E66125E405A}"/>
              </a:ext>
            </a:extLst>
          </p:cNvPr>
          <p:cNvSpPr txBox="1"/>
          <p:nvPr/>
        </p:nvSpPr>
        <p:spPr>
          <a:xfrm>
            <a:off x="1301331" y="5096944"/>
            <a:ext cx="5423026" cy="1569660"/>
          </a:xfrm>
          <a:prstGeom prst="rect">
            <a:avLst/>
          </a:prstGeom>
          <a:noFill/>
        </p:spPr>
        <p:txBody>
          <a:bodyPr wrap="square" rtlCol="0">
            <a:spAutoFit/>
          </a:bodyPr>
          <a:lstStyle/>
          <a:p>
            <a:r>
              <a:rPr lang="en-US" sz="2400" b="1" dirty="0"/>
              <a:t>Public: </a:t>
            </a:r>
            <a:r>
              <a:rPr lang="en-US" sz="2400" dirty="0"/>
              <a:t>Making knowledge creation accessible to non-academics (e.g. Science communication, public participation)</a:t>
            </a:r>
          </a:p>
        </p:txBody>
      </p:sp>
      <p:pic>
        <p:nvPicPr>
          <p:cNvPr id="31" name="Graphic 30" descr="Internet with solid fill">
            <a:extLst>
              <a:ext uri="{FF2B5EF4-FFF2-40B4-BE49-F238E27FC236}">
                <a16:creationId xmlns:a16="http://schemas.microsoft.com/office/drawing/2014/main" id="{7BC87BF2-C145-52C0-2F2A-BDFE4DC442F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077525" y="3727588"/>
            <a:ext cx="914400" cy="914400"/>
          </a:xfrm>
          <a:prstGeom prst="rect">
            <a:avLst/>
          </a:prstGeom>
        </p:spPr>
      </p:pic>
      <p:pic>
        <p:nvPicPr>
          <p:cNvPr id="38" name="Graphic 37" descr="Storytelling with solid fill">
            <a:extLst>
              <a:ext uri="{FF2B5EF4-FFF2-40B4-BE49-F238E27FC236}">
                <a16:creationId xmlns:a16="http://schemas.microsoft.com/office/drawing/2014/main" id="{F48CE7A6-122F-21E0-2513-5980581DF80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16323" y="2226314"/>
            <a:ext cx="914400" cy="914400"/>
          </a:xfrm>
          <a:prstGeom prst="rect">
            <a:avLst/>
          </a:prstGeom>
        </p:spPr>
      </p:pic>
      <p:pic>
        <p:nvPicPr>
          <p:cNvPr id="39" name="Graphic 38" descr="Unlock outline">
            <a:extLst>
              <a:ext uri="{FF2B5EF4-FFF2-40B4-BE49-F238E27FC236}">
                <a16:creationId xmlns:a16="http://schemas.microsoft.com/office/drawing/2014/main" id="{EE773BBD-11FF-FDA3-33AD-F746DF06185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flipH="1">
            <a:off x="6403774" y="2208529"/>
            <a:ext cx="914401" cy="1036076"/>
          </a:xfrm>
          <a:prstGeom prst="rect">
            <a:avLst/>
          </a:prstGeom>
        </p:spPr>
      </p:pic>
      <p:pic>
        <p:nvPicPr>
          <p:cNvPr id="41" name="Graphic 40" descr="Cheers outline">
            <a:extLst>
              <a:ext uri="{FF2B5EF4-FFF2-40B4-BE49-F238E27FC236}">
                <a16:creationId xmlns:a16="http://schemas.microsoft.com/office/drawing/2014/main" id="{5F4BA38E-B3AC-B266-DA7D-15A4213B21E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86931" y="5272262"/>
            <a:ext cx="914400" cy="914400"/>
          </a:xfrm>
          <a:prstGeom prst="rect">
            <a:avLst/>
          </a:prstGeom>
        </p:spPr>
      </p:pic>
      <p:sp>
        <p:nvSpPr>
          <p:cNvPr id="2" name="Rectangle 1">
            <a:extLst>
              <a:ext uri="{FF2B5EF4-FFF2-40B4-BE49-F238E27FC236}">
                <a16:creationId xmlns:a16="http://schemas.microsoft.com/office/drawing/2014/main" id="{E70C159B-3809-365D-7BD6-9297C43F67D2}"/>
              </a:ext>
            </a:extLst>
          </p:cNvPr>
          <p:cNvSpPr/>
          <p:nvPr/>
        </p:nvSpPr>
        <p:spPr>
          <a:xfrm>
            <a:off x="149850" y="1899138"/>
            <a:ext cx="11893594" cy="2742850"/>
          </a:xfrm>
          <a:prstGeom prst="rect">
            <a:avLst/>
          </a:prstGeom>
          <a:solidFill>
            <a:schemeClr val="bg1">
              <a:alpha val="6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descr="Lights On with solid fill">
            <a:extLst>
              <a:ext uri="{FF2B5EF4-FFF2-40B4-BE49-F238E27FC236}">
                <a16:creationId xmlns:a16="http://schemas.microsoft.com/office/drawing/2014/main" id="{36DDEE42-C07A-BA9D-1E06-9AC5A47B8F9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987002" y="799918"/>
            <a:ext cx="888675" cy="888675"/>
          </a:xfrm>
          <a:prstGeom prst="rect">
            <a:avLst/>
          </a:prstGeom>
        </p:spPr>
      </p:pic>
      <p:sp>
        <p:nvSpPr>
          <p:cNvPr id="6" name="TextBox 5">
            <a:extLst>
              <a:ext uri="{FF2B5EF4-FFF2-40B4-BE49-F238E27FC236}">
                <a16:creationId xmlns:a16="http://schemas.microsoft.com/office/drawing/2014/main" id="{ADA07C84-AD52-4B06-D29E-D48D6B266BD2}"/>
              </a:ext>
            </a:extLst>
          </p:cNvPr>
          <p:cNvSpPr txBox="1"/>
          <p:nvPr/>
        </p:nvSpPr>
        <p:spPr>
          <a:xfrm>
            <a:off x="316323" y="799918"/>
            <a:ext cx="9693744" cy="954107"/>
          </a:xfrm>
          <a:prstGeom prst="rect">
            <a:avLst/>
          </a:prstGeom>
          <a:noFill/>
        </p:spPr>
        <p:txBody>
          <a:bodyPr wrap="none" rtlCol="0">
            <a:spAutoFit/>
          </a:bodyPr>
          <a:lstStyle/>
          <a:p>
            <a:r>
              <a:rPr lang="en-US" sz="2800" dirty="0"/>
              <a:t>‘Open Science’ means different things to people </a:t>
            </a:r>
          </a:p>
          <a:p>
            <a:r>
              <a:rPr lang="en-US" sz="2800" b="1" dirty="0"/>
              <a:t>5 Open Science schools of thought </a:t>
            </a:r>
            <a:r>
              <a:rPr lang="en-US" sz="2800" dirty="0"/>
              <a:t>(</a:t>
            </a:r>
            <a:r>
              <a:rPr lang="en-US" sz="2800" dirty="0">
                <a:hlinkClick r:id="rId10"/>
              </a:rPr>
              <a:t>Fecher &amp; </a:t>
            </a:r>
            <a:r>
              <a:rPr lang="en-US" sz="2800" dirty="0" err="1">
                <a:hlinkClick r:id="rId10"/>
              </a:rPr>
              <a:t>Friesike</a:t>
            </a:r>
            <a:r>
              <a:rPr lang="en-US" sz="2800" dirty="0">
                <a:hlinkClick r:id="rId10"/>
              </a:rPr>
              <a:t>, 2014</a:t>
            </a:r>
            <a:r>
              <a:rPr lang="en-US" sz="2800" dirty="0"/>
              <a:t>)</a:t>
            </a:r>
          </a:p>
        </p:txBody>
      </p:sp>
    </p:spTree>
    <p:extLst>
      <p:ext uri="{BB962C8B-B14F-4D97-AF65-F5344CB8AC3E}">
        <p14:creationId xmlns:p14="http://schemas.microsoft.com/office/powerpoint/2010/main" val="20493662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A7D98-0EBB-994C-55D7-D0F4B0DA5ECE}"/>
            </a:ext>
          </a:extLst>
        </p:cNvPr>
        <p:cNvGrpSpPr/>
        <p:nvPr/>
      </p:nvGrpSpPr>
      <p:grpSpPr>
        <a:xfrm>
          <a:off x="0" y="0"/>
          <a:ext cx="0" cy="0"/>
          <a:chOff x="0" y="0"/>
          <a:chExt cx="0" cy="0"/>
        </a:xfrm>
      </p:grpSpPr>
      <p:grpSp>
        <p:nvGrpSpPr>
          <p:cNvPr id="63" name="Group 62">
            <a:extLst>
              <a:ext uri="{FF2B5EF4-FFF2-40B4-BE49-F238E27FC236}">
                <a16:creationId xmlns:a16="http://schemas.microsoft.com/office/drawing/2014/main" id="{7B6CDDAA-561F-9E85-935D-F2452D78F7E4}"/>
              </a:ext>
            </a:extLst>
          </p:cNvPr>
          <p:cNvGrpSpPr/>
          <p:nvPr/>
        </p:nvGrpSpPr>
        <p:grpSpPr>
          <a:xfrm>
            <a:off x="10704849" y="6564312"/>
            <a:ext cx="1362075" cy="273690"/>
            <a:chOff x="19317" y="2690018"/>
            <a:chExt cx="11784755" cy="2025180"/>
          </a:xfrm>
        </p:grpSpPr>
        <p:pic>
          <p:nvPicPr>
            <p:cNvPr id="64" name="Picture 2">
              <a:extLst>
                <a:ext uri="{FF2B5EF4-FFF2-40B4-BE49-F238E27FC236}">
                  <a16:creationId xmlns:a16="http://schemas.microsoft.com/office/drawing/2014/main" id="{89A23363-491E-2CFE-AE89-08C9E25732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4">
              <a:extLst>
                <a:ext uri="{FF2B5EF4-FFF2-40B4-BE49-F238E27FC236}">
                  <a16:creationId xmlns:a16="http://schemas.microsoft.com/office/drawing/2014/main" id="{8C3FBDF9-8BEC-8345-A133-29580F39EE2F}"/>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4" name="Title 1">
            <a:extLst>
              <a:ext uri="{FF2B5EF4-FFF2-40B4-BE49-F238E27FC236}">
                <a16:creationId xmlns:a16="http://schemas.microsoft.com/office/drawing/2014/main" id="{97565C3F-E610-2124-AC2B-728DF56473C3}"/>
              </a:ext>
            </a:extLst>
          </p:cNvPr>
          <p:cNvSpPr txBox="1">
            <a:spLocks/>
          </p:cNvSpPr>
          <p:nvPr/>
        </p:nvSpPr>
        <p:spPr>
          <a:xfrm>
            <a:off x="0" y="-11483"/>
            <a:ext cx="12192000" cy="849684"/>
          </a:xfrm>
          <a:prstGeom prst="rect">
            <a:avLst/>
          </a:prstGeom>
          <a:noFill/>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A conceptual challenge in Open Science: terminology</a:t>
            </a:r>
          </a:p>
        </p:txBody>
      </p:sp>
      <p:sp>
        <p:nvSpPr>
          <p:cNvPr id="62" name="Slide Number Placeholder 61">
            <a:extLst>
              <a:ext uri="{FF2B5EF4-FFF2-40B4-BE49-F238E27FC236}">
                <a16:creationId xmlns:a16="http://schemas.microsoft.com/office/drawing/2014/main" id="{A0ED5530-D964-6E7E-227D-780690164383}"/>
              </a:ext>
            </a:extLst>
          </p:cNvPr>
          <p:cNvSpPr>
            <a:spLocks noGrp="1"/>
          </p:cNvSpPr>
          <p:nvPr>
            <p:ph type="sldNum" sz="quarter" idx="12"/>
          </p:nvPr>
        </p:nvSpPr>
        <p:spPr>
          <a:xfrm>
            <a:off x="10774254" y="6356350"/>
            <a:ext cx="579546" cy="365125"/>
          </a:xfrm>
        </p:spPr>
        <p:txBody>
          <a:bodyPr/>
          <a:lstStyle/>
          <a:p>
            <a:fld id="{DC6309F4-03C8-4D48-A124-A9AD6E083FAC}" type="slidenum">
              <a:rPr lang="en-US" smtClean="0"/>
              <a:t>33</a:t>
            </a:fld>
            <a:endParaRPr lang="en-US" dirty="0"/>
          </a:p>
        </p:txBody>
      </p:sp>
      <p:sp>
        <p:nvSpPr>
          <p:cNvPr id="16" name="TextBox 15">
            <a:extLst>
              <a:ext uri="{FF2B5EF4-FFF2-40B4-BE49-F238E27FC236}">
                <a16:creationId xmlns:a16="http://schemas.microsoft.com/office/drawing/2014/main" id="{B38E22F7-6939-8BE9-2C0A-AEB7595037B9}"/>
              </a:ext>
            </a:extLst>
          </p:cNvPr>
          <p:cNvSpPr txBox="1"/>
          <p:nvPr/>
        </p:nvSpPr>
        <p:spPr>
          <a:xfrm>
            <a:off x="4992723" y="4736164"/>
            <a:ext cx="231154" cy="369332"/>
          </a:xfrm>
          <a:prstGeom prst="rect">
            <a:avLst/>
          </a:prstGeom>
          <a:noFill/>
        </p:spPr>
        <p:txBody>
          <a:bodyPr wrap="none" rtlCol="0">
            <a:spAutoFit/>
          </a:bodyPr>
          <a:lstStyle/>
          <a:p>
            <a:r>
              <a:rPr lang="en-US" dirty="0"/>
              <a:t> </a:t>
            </a:r>
          </a:p>
        </p:txBody>
      </p:sp>
      <p:sp>
        <p:nvSpPr>
          <p:cNvPr id="14" name="TextBox 13">
            <a:extLst>
              <a:ext uri="{FF2B5EF4-FFF2-40B4-BE49-F238E27FC236}">
                <a16:creationId xmlns:a16="http://schemas.microsoft.com/office/drawing/2014/main" id="{B7950758-F95E-86DA-1CA1-C94190B2C64C}"/>
              </a:ext>
            </a:extLst>
          </p:cNvPr>
          <p:cNvSpPr txBox="1"/>
          <p:nvPr/>
        </p:nvSpPr>
        <p:spPr>
          <a:xfrm>
            <a:off x="1230723" y="2141809"/>
            <a:ext cx="4557504" cy="1200329"/>
          </a:xfrm>
          <a:prstGeom prst="rect">
            <a:avLst/>
          </a:prstGeom>
          <a:noFill/>
        </p:spPr>
        <p:txBody>
          <a:bodyPr wrap="square" rtlCol="0">
            <a:spAutoFit/>
          </a:bodyPr>
          <a:lstStyle/>
          <a:p>
            <a:r>
              <a:rPr lang="en-US" sz="2400" b="1" dirty="0"/>
              <a:t>Democratic: </a:t>
            </a:r>
            <a:r>
              <a:rPr lang="en-US" sz="2400" dirty="0"/>
              <a:t>Making knowledge freely available for everyone (e.g. open data, licensing)</a:t>
            </a:r>
          </a:p>
        </p:txBody>
      </p:sp>
      <p:sp>
        <p:nvSpPr>
          <p:cNvPr id="18" name="TextBox 17">
            <a:extLst>
              <a:ext uri="{FF2B5EF4-FFF2-40B4-BE49-F238E27FC236}">
                <a16:creationId xmlns:a16="http://schemas.microsoft.com/office/drawing/2014/main" id="{6C33A6FF-DA1D-DDAF-E3C3-15DA1537B656}"/>
              </a:ext>
            </a:extLst>
          </p:cNvPr>
          <p:cNvSpPr txBox="1"/>
          <p:nvPr/>
        </p:nvSpPr>
        <p:spPr>
          <a:xfrm>
            <a:off x="7268102" y="2141809"/>
            <a:ext cx="4775342" cy="1200329"/>
          </a:xfrm>
          <a:prstGeom prst="rect">
            <a:avLst/>
          </a:prstGeom>
          <a:noFill/>
        </p:spPr>
        <p:txBody>
          <a:bodyPr wrap="square" rtlCol="0">
            <a:spAutoFit/>
          </a:bodyPr>
          <a:lstStyle/>
          <a:p>
            <a:r>
              <a:rPr lang="en-US" sz="2400" b="1" dirty="0"/>
              <a:t>Pragmatic: </a:t>
            </a:r>
            <a:r>
              <a:rPr lang="en-US" sz="2400" dirty="0"/>
              <a:t>Opening up the process of knowledge creation (e.g. Big Team Science, open code)</a:t>
            </a:r>
          </a:p>
        </p:txBody>
      </p:sp>
      <p:sp>
        <p:nvSpPr>
          <p:cNvPr id="23" name="TextBox 22">
            <a:extLst>
              <a:ext uri="{FF2B5EF4-FFF2-40B4-BE49-F238E27FC236}">
                <a16:creationId xmlns:a16="http://schemas.microsoft.com/office/drawing/2014/main" id="{9186F126-A81D-3886-7A44-638916B2787D}"/>
              </a:ext>
            </a:extLst>
          </p:cNvPr>
          <p:cNvSpPr txBox="1"/>
          <p:nvPr/>
        </p:nvSpPr>
        <p:spPr>
          <a:xfrm>
            <a:off x="3011241" y="3755276"/>
            <a:ext cx="7209496" cy="830997"/>
          </a:xfrm>
          <a:prstGeom prst="rect">
            <a:avLst/>
          </a:prstGeom>
          <a:noFill/>
        </p:spPr>
        <p:txBody>
          <a:bodyPr wrap="square" rtlCol="0">
            <a:spAutoFit/>
          </a:bodyPr>
          <a:lstStyle/>
          <a:p>
            <a:r>
              <a:rPr lang="en-US" sz="2400" b="1" dirty="0"/>
              <a:t>Infrastructure: </a:t>
            </a:r>
            <a:r>
              <a:rPr lang="en-US" sz="2400" dirty="0"/>
              <a:t>Creating open technical architecture for scientists (e.g. tools, platforms, services)</a:t>
            </a:r>
          </a:p>
        </p:txBody>
      </p:sp>
      <p:sp>
        <p:nvSpPr>
          <p:cNvPr id="25" name="TextBox 24">
            <a:extLst>
              <a:ext uri="{FF2B5EF4-FFF2-40B4-BE49-F238E27FC236}">
                <a16:creationId xmlns:a16="http://schemas.microsoft.com/office/drawing/2014/main" id="{25D9723C-B8B2-3717-CA9F-56A1A6B5FC8A}"/>
              </a:ext>
            </a:extLst>
          </p:cNvPr>
          <p:cNvSpPr txBox="1"/>
          <p:nvPr/>
        </p:nvSpPr>
        <p:spPr>
          <a:xfrm>
            <a:off x="1301331" y="5096944"/>
            <a:ext cx="5423026" cy="1569660"/>
          </a:xfrm>
          <a:prstGeom prst="rect">
            <a:avLst/>
          </a:prstGeom>
          <a:noFill/>
        </p:spPr>
        <p:txBody>
          <a:bodyPr wrap="square" rtlCol="0">
            <a:spAutoFit/>
          </a:bodyPr>
          <a:lstStyle/>
          <a:p>
            <a:r>
              <a:rPr lang="en-US" sz="2400" b="1" dirty="0"/>
              <a:t>Public: </a:t>
            </a:r>
            <a:r>
              <a:rPr lang="en-US" sz="2400" dirty="0"/>
              <a:t>Making knowledge creation accessible to non-academics (e.g. Science communication, public participation)</a:t>
            </a:r>
          </a:p>
        </p:txBody>
      </p:sp>
      <p:sp>
        <p:nvSpPr>
          <p:cNvPr id="27" name="TextBox 26">
            <a:extLst>
              <a:ext uri="{FF2B5EF4-FFF2-40B4-BE49-F238E27FC236}">
                <a16:creationId xmlns:a16="http://schemas.microsoft.com/office/drawing/2014/main" id="{17891F65-C77B-D76B-A3AE-239EF6357EE7}"/>
              </a:ext>
            </a:extLst>
          </p:cNvPr>
          <p:cNvSpPr txBox="1"/>
          <p:nvPr/>
        </p:nvSpPr>
        <p:spPr>
          <a:xfrm>
            <a:off x="7268102" y="5003739"/>
            <a:ext cx="4923898" cy="1200329"/>
          </a:xfrm>
          <a:prstGeom prst="rect">
            <a:avLst/>
          </a:prstGeom>
          <a:noFill/>
        </p:spPr>
        <p:txBody>
          <a:bodyPr wrap="square" rtlCol="0">
            <a:spAutoFit/>
          </a:bodyPr>
          <a:lstStyle/>
          <a:p>
            <a:r>
              <a:rPr lang="en-US" sz="2400" b="1" dirty="0"/>
              <a:t>Measurement: </a:t>
            </a:r>
            <a:r>
              <a:rPr lang="en-US" sz="2400" dirty="0"/>
              <a:t>Developing alternative metrics for success and impact (e.g. </a:t>
            </a:r>
            <a:r>
              <a:rPr lang="en-US" sz="2400" dirty="0" err="1"/>
              <a:t>altmetrics</a:t>
            </a:r>
            <a:r>
              <a:rPr lang="en-US" sz="2400" dirty="0"/>
              <a:t>, authorship)</a:t>
            </a:r>
          </a:p>
        </p:txBody>
      </p:sp>
      <p:pic>
        <p:nvPicPr>
          <p:cNvPr id="31" name="Graphic 30" descr="Internet with solid fill">
            <a:extLst>
              <a:ext uri="{FF2B5EF4-FFF2-40B4-BE49-F238E27FC236}">
                <a16:creationId xmlns:a16="http://schemas.microsoft.com/office/drawing/2014/main" id="{FD49CE72-0458-39F1-5FF3-35D2AE92E7F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077525" y="3727588"/>
            <a:ext cx="914400" cy="914400"/>
          </a:xfrm>
          <a:prstGeom prst="rect">
            <a:avLst/>
          </a:prstGeom>
        </p:spPr>
      </p:pic>
      <p:pic>
        <p:nvPicPr>
          <p:cNvPr id="35" name="Graphic 34" descr="Alterations &amp; Tailoring outline">
            <a:extLst>
              <a:ext uri="{FF2B5EF4-FFF2-40B4-BE49-F238E27FC236}">
                <a16:creationId xmlns:a16="http://schemas.microsoft.com/office/drawing/2014/main" id="{935E8000-78CA-7401-463F-DBA1A48EE4D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6041111">
            <a:off x="6326931" y="5173787"/>
            <a:ext cx="914400" cy="914400"/>
          </a:xfrm>
          <a:prstGeom prst="rect">
            <a:avLst/>
          </a:prstGeom>
        </p:spPr>
      </p:pic>
      <p:pic>
        <p:nvPicPr>
          <p:cNvPr id="38" name="Graphic 37" descr="Storytelling with solid fill">
            <a:extLst>
              <a:ext uri="{FF2B5EF4-FFF2-40B4-BE49-F238E27FC236}">
                <a16:creationId xmlns:a16="http://schemas.microsoft.com/office/drawing/2014/main" id="{60EACD97-BE04-A7C3-2C92-0D94A5CA7DD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16323" y="2226314"/>
            <a:ext cx="914400" cy="914400"/>
          </a:xfrm>
          <a:prstGeom prst="rect">
            <a:avLst/>
          </a:prstGeom>
        </p:spPr>
      </p:pic>
      <p:pic>
        <p:nvPicPr>
          <p:cNvPr id="39" name="Graphic 38" descr="Unlock outline">
            <a:extLst>
              <a:ext uri="{FF2B5EF4-FFF2-40B4-BE49-F238E27FC236}">
                <a16:creationId xmlns:a16="http://schemas.microsoft.com/office/drawing/2014/main" id="{F5A1F8AC-D6A7-6E9E-6430-784318C275A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flipH="1">
            <a:off x="6403774" y="2208529"/>
            <a:ext cx="914401" cy="1036076"/>
          </a:xfrm>
          <a:prstGeom prst="rect">
            <a:avLst/>
          </a:prstGeom>
        </p:spPr>
      </p:pic>
      <p:pic>
        <p:nvPicPr>
          <p:cNvPr id="2" name="Graphic 1" descr="Cheers outline">
            <a:extLst>
              <a:ext uri="{FF2B5EF4-FFF2-40B4-BE49-F238E27FC236}">
                <a16:creationId xmlns:a16="http://schemas.microsoft.com/office/drawing/2014/main" id="{F7E8D487-367D-4E83-E837-2D6191A5D19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86931" y="5272262"/>
            <a:ext cx="914400" cy="914400"/>
          </a:xfrm>
          <a:prstGeom prst="rect">
            <a:avLst/>
          </a:prstGeom>
        </p:spPr>
      </p:pic>
      <p:sp>
        <p:nvSpPr>
          <p:cNvPr id="3" name="Rectangle 2">
            <a:extLst>
              <a:ext uri="{FF2B5EF4-FFF2-40B4-BE49-F238E27FC236}">
                <a16:creationId xmlns:a16="http://schemas.microsoft.com/office/drawing/2014/main" id="{58448729-3EF9-E4B9-C233-84AFA5CC88EF}"/>
              </a:ext>
            </a:extLst>
          </p:cNvPr>
          <p:cNvSpPr/>
          <p:nvPr/>
        </p:nvSpPr>
        <p:spPr>
          <a:xfrm>
            <a:off x="149850" y="1899138"/>
            <a:ext cx="11893594" cy="2717863"/>
          </a:xfrm>
          <a:prstGeom prst="rect">
            <a:avLst/>
          </a:prstGeom>
          <a:solidFill>
            <a:schemeClr val="bg1">
              <a:alpha val="6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35F36E22-4072-C3A3-A0F9-7A65D4D6C554}"/>
              </a:ext>
            </a:extLst>
          </p:cNvPr>
          <p:cNvSpPr/>
          <p:nvPr/>
        </p:nvSpPr>
        <p:spPr>
          <a:xfrm>
            <a:off x="149850" y="4871868"/>
            <a:ext cx="5883437" cy="1849607"/>
          </a:xfrm>
          <a:prstGeom prst="rect">
            <a:avLst/>
          </a:prstGeom>
          <a:solidFill>
            <a:schemeClr val="bg1">
              <a:alpha val="6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Graphic 6" descr="Lights On with solid fill">
            <a:extLst>
              <a:ext uri="{FF2B5EF4-FFF2-40B4-BE49-F238E27FC236}">
                <a16:creationId xmlns:a16="http://schemas.microsoft.com/office/drawing/2014/main" id="{935AD5C7-9C2B-A457-EAFE-70DC519EF38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987002" y="799918"/>
            <a:ext cx="888675" cy="888675"/>
          </a:xfrm>
          <a:prstGeom prst="rect">
            <a:avLst/>
          </a:prstGeom>
        </p:spPr>
      </p:pic>
      <p:sp>
        <p:nvSpPr>
          <p:cNvPr id="8" name="TextBox 7">
            <a:extLst>
              <a:ext uri="{FF2B5EF4-FFF2-40B4-BE49-F238E27FC236}">
                <a16:creationId xmlns:a16="http://schemas.microsoft.com/office/drawing/2014/main" id="{1ACD7AC8-CBC1-3A8B-F025-1E82AC29B98F}"/>
              </a:ext>
            </a:extLst>
          </p:cNvPr>
          <p:cNvSpPr txBox="1"/>
          <p:nvPr/>
        </p:nvSpPr>
        <p:spPr>
          <a:xfrm>
            <a:off x="316323" y="799918"/>
            <a:ext cx="9693744" cy="954107"/>
          </a:xfrm>
          <a:prstGeom prst="rect">
            <a:avLst/>
          </a:prstGeom>
          <a:noFill/>
        </p:spPr>
        <p:txBody>
          <a:bodyPr wrap="none" rtlCol="0">
            <a:spAutoFit/>
          </a:bodyPr>
          <a:lstStyle/>
          <a:p>
            <a:r>
              <a:rPr lang="en-US" sz="2800" dirty="0"/>
              <a:t>‘Open Science’ means different things to people </a:t>
            </a:r>
          </a:p>
          <a:p>
            <a:r>
              <a:rPr lang="en-US" sz="2800" b="1" dirty="0"/>
              <a:t>5 Open Science schools of thought </a:t>
            </a:r>
            <a:r>
              <a:rPr lang="en-US" sz="2800" dirty="0"/>
              <a:t>(</a:t>
            </a:r>
            <a:r>
              <a:rPr lang="en-US" sz="2800" dirty="0">
                <a:hlinkClick r:id="rId11"/>
              </a:rPr>
              <a:t>Fecher &amp; </a:t>
            </a:r>
            <a:r>
              <a:rPr lang="en-US" sz="2800" dirty="0" err="1">
                <a:hlinkClick r:id="rId11"/>
              </a:rPr>
              <a:t>Friesike</a:t>
            </a:r>
            <a:r>
              <a:rPr lang="en-US" sz="2800" dirty="0">
                <a:hlinkClick r:id="rId11"/>
              </a:rPr>
              <a:t>, 2014</a:t>
            </a:r>
            <a:r>
              <a:rPr lang="en-US" sz="2800" dirty="0"/>
              <a:t>)</a:t>
            </a:r>
          </a:p>
        </p:txBody>
      </p:sp>
    </p:spTree>
    <p:extLst>
      <p:ext uri="{BB962C8B-B14F-4D97-AF65-F5344CB8AC3E}">
        <p14:creationId xmlns:p14="http://schemas.microsoft.com/office/powerpoint/2010/main" val="32347261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513A2-742B-2307-0BD1-4AEE45A08F10}"/>
            </a:ext>
          </a:extLst>
        </p:cNvPr>
        <p:cNvGrpSpPr/>
        <p:nvPr/>
      </p:nvGrpSpPr>
      <p:grpSpPr>
        <a:xfrm>
          <a:off x="0" y="0"/>
          <a:ext cx="0" cy="0"/>
          <a:chOff x="0" y="0"/>
          <a:chExt cx="0" cy="0"/>
        </a:xfrm>
      </p:grpSpPr>
      <p:grpSp>
        <p:nvGrpSpPr>
          <p:cNvPr id="63" name="Group 62">
            <a:extLst>
              <a:ext uri="{FF2B5EF4-FFF2-40B4-BE49-F238E27FC236}">
                <a16:creationId xmlns:a16="http://schemas.microsoft.com/office/drawing/2014/main" id="{E617BFAA-1BC9-376A-7AF1-B05632FD9C51}"/>
              </a:ext>
            </a:extLst>
          </p:cNvPr>
          <p:cNvGrpSpPr/>
          <p:nvPr/>
        </p:nvGrpSpPr>
        <p:grpSpPr>
          <a:xfrm>
            <a:off x="10704849" y="6564312"/>
            <a:ext cx="1362075" cy="273690"/>
            <a:chOff x="19317" y="2690018"/>
            <a:chExt cx="11784755" cy="2025180"/>
          </a:xfrm>
        </p:grpSpPr>
        <p:pic>
          <p:nvPicPr>
            <p:cNvPr id="64" name="Picture 2">
              <a:extLst>
                <a:ext uri="{FF2B5EF4-FFF2-40B4-BE49-F238E27FC236}">
                  <a16:creationId xmlns:a16="http://schemas.microsoft.com/office/drawing/2014/main" id="{2373AA7F-56DC-7FAA-81F6-5A2EF28CF2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4">
              <a:extLst>
                <a:ext uri="{FF2B5EF4-FFF2-40B4-BE49-F238E27FC236}">
                  <a16:creationId xmlns:a16="http://schemas.microsoft.com/office/drawing/2014/main" id="{07BF38F6-8091-C2A4-A151-A8A7328DB600}"/>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4" name="Title 1">
            <a:extLst>
              <a:ext uri="{FF2B5EF4-FFF2-40B4-BE49-F238E27FC236}">
                <a16:creationId xmlns:a16="http://schemas.microsoft.com/office/drawing/2014/main" id="{FA5C0477-500B-0388-7EC9-CC47F0F74C4A}"/>
              </a:ext>
            </a:extLst>
          </p:cNvPr>
          <p:cNvSpPr txBox="1">
            <a:spLocks/>
          </p:cNvSpPr>
          <p:nvPr/>
        </p:nvSpPr>
        <p:spPr>
          <a:xfrm>
            <a:off x="0" y="-11483"/>
            <a:ext cx="12192000" cy="849684"/>
          </a:xfrm>
          <a:prstGeom prst="rect">
            <a:avLst/>
          </a:prstGeom>
          <a:noFill/>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A conceptual challenge in Open Science: terminology</a:t>
            </a:r>
          </a:p>
        </p:txBody>
      </p:sp>
      <p:sp>
        <p:nvSpPr>
          <p:cNvPr id="62" name="Slide Number Placeholder 61">
            <a:extLst>
              <a:ext uri="{FF2B5EF4-FFF2-40B4-BE49-F238E27FC236}">
                <a16:creationId xmlns:a16="http://schemas.microsoft.com/office/drawing/2014/main" id="{BE718547-05E3-0630-D704-B61AB34EB82E}"/>
              </a:ext>
            </a:extLst>
          </p:cNvPr>
          <p:cNvSpPr>
            <a:spLocks noGrp="1"/>
          </p:cNvSpPr>
          <p:nvPr>
            <p:ph type="sldNum" sz="quarter" idx="12"/>
          </p:nvPr>
        </p:nvSpPr>
        <p:spPr>
          <a:xfrm>
            <a:off x="10774254" y="6356350"/>
            <a:ext cx="579546" cy="365125"/>
          </a:xfrm>
        </p:spPr>
        <p:txBody>
          <a:bodyPr/>
          <a:lstStyle/>
          <a:p>
            <a:fld id="{DC6309F4-03C8-4D48-A124-A9AD6E083FAC}" type="slidenum">
              <a:rPr lang="en-US" smtClean="0"/>
              <a:t>34</a:t>
            </a:fld>
            <a:endParaRPr lang="en-US" dirty="0"/>
          </a:p>
        </p:txBody>
      </p:sp>
      <p:sp>
        <p:nvSpPr>
          <p:cNvPr id="16" name="TextBox 15">
            <a:extLst>
              <a:ext uri="{FF2B5EF4-FFF2-40B4-BE49-F238E27FC236}">
                <a16:creationId xmlns:a16="http://schemas.microsoft.com/office/drawing/2014/main" id="{D1D377C6-42AC-825F-6C8E-7C6819212EB6}"/>
              </a:ext>
            </a:extLst>
          </p:cNvPr>
          <p:cNvSpPr txBox="1"/>
          <p:nvPr/>
        </p:nvSpPr>
        <p:spPr>
          <a:xfrm>
            <a:off x="4992723" y="4736164"/>
            <a:ext cx="231154" cy="369332"/>
          </a:xfrm>
          <a:prstGeom prst="rect">
            <a:avLst/>
          </a:prstGeom>
          <a:noFill/>
        </p:spPr>
        <p:txBody>
          <a:bodyPr wrap="none" rtlCol="0">
            <a:spAutoFit/>
          </a:bodyPr>
          <a:lstStyle/>
          <a:p>
            <a:r>
              <a:rPr lang="en-US" dirty="0"/>
              <a:t> </a:t>
            </a:r>
          </a:p>
        </p:txBody>
      </p:sp>
      <p:pic>
        <p:nvPicPr>
          <p:cNvPr id="2" name="Graphic 1" descr="Lights On with solid fill">
            <a:extLst>
              <a:ext uri="{FF2B5EF4-FFF2-40B4-BE49-F238E27FC236}">
                <a16:creationId xmlns:a16="http://schemas.microsoft.com/office/drawing/2014/main" id="{8B78213B-C5DB-8B2A-3291-3538D518293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906675" y="1856768"/>
            <a:ext cx="888675" cy="888675"/>
          </a:xfrm>
          <a:prstGeom prst="rect">
            <a:avLst/>
          </a:prstGeom>
        </p:spPr>
      </p:pic>
      <p:sp>
        <p:nvSpPr>
          <p:cNvPr id="6" name="TextBox 5">
            <a:extLst>
              <a:ext uri="{FF2B5EF4-FFF2-40B4-BE49-F238E27FC236}">
                <a16:creationId xmlns:a16="http://schemas.microsoft.com/office/drawing/2014/main" id="{D73002B9-DFD0-04F9-89A0-B690F2957CCC}"/>
              </a:ext>
            </a:extLst>
          </p:cNvPr>
          <p:cNvSpPr txBox="1"/>
          <p:nvPr/>
        </p:nvSpPr>
        <p:spPr>
          <a:xfrm>
            <a:off x="117238" y="859845"/>
            <a:ext cx="11598582" cy="830997"/>
          </a:xfrm>
          <a:prstGeom prst="rect">
            <a:avLst/>
          </a:prstGeom>
          <a:noFill/>
        </p:spPr>
        <p:txBody>
          <a:bodyPr wrap="square" rtlCol="0">
            <a:spAutoFit/>
          </a:bodyPr>
          <a:lstStyle/>
          <a:p>
            <a:r>
              <a:rPr lang="en-US" sz="2400" dirty="0"/>
              <a:t>Confusion and lack of shared context of terminology can </a:t>
            </a:r>
            <a:r>
              <a:rPr lang="en-US" sz="2400" b="1" dirty="0"/>
              <a:t>create barriers </a:t>
            </a:r>
            <a:r>
              <a:rPr lang="en-US" sz="2400" dirty="0"/>
              <a:t>for non-native speakers, knowledge transfer and interdisciplinary collaborations (</a:t>
            </a:r>
            <a:r>
              <a:rPr lang="en-US" sz="2400" dirty="0">
                <a:hlinkClick r:id="rId6"/>
              </a:rPr>
              <a:t>Parsons et al. 2022</a:t>
            </a:r>
            <a:r>
              <a:rPr lang="en-US" sz="2400" dirty="0"/>
              <a:t>).</a:t>
            </a:r>
          </a:p>
        </p:txBody>
      </p:sp>
    </p:spTree>
    <p:extLst>
      <p:ext uri="{BB962C8B-B14F-4D97-AF65-F5344CB8AC3E}">
        <p14:creationId xmlns:p14="http://schemas.microsoft.com/office/powerpoint/2010/main" val="12600737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AE657-9DF3-88CE-3684-04BA11744337}"/>
            </a:ext>
          </a:extLst>
        </p:cNvPr>
        <p:cNvGrpSpPr/>
        <p:nvPr/>
      </p:nvGrpSpPr>
      <p:grpSpPr>
        <a:xfrm>
          <a:off x="0" y="0"/>
          <a:ext cx="0" cy="0"/>
          <a:chOff x="0" y="0"/>
          <a:chExt cx="0" cy="0"/>
        </a:xfrm>
      </p:grpSpPr>
      <p:grpSp>
        <p:nvGrpSpPr>
          <p:cNvPr id="63" name="Group 62">
            <a:extLst>
              <a:ext uri="{FF2B5EF4-FFF2-40B4-BE49-F238E27FC236}">
                <a16:creationId xmlns:a16="http://schemas.microsoft.com/office/drawing/2014/main" id="{F6EA57ED-C3D5-C2E6-D3FD-363BD06465D4}"/>
              </a:ext>
            </a:extLst>
          </p:cNvPr>
          <p:cNvGrpSpPr/>
          <p:nvPr/>
        </p:nvGrpSpPr>
        <p:grpSpPr>
          <a:xfrm>
            <a:off x="10704849" y="6564312"/>
            <a:ext cx="1362075" cy="273690"/>
            <a:chOff x="19317" y="2690018"/>
            <a:chExt cx="11784755" cy="2025180"/>
          </a:xfrm>
        </p:grpSpPr>
        <p:pic>
          <p:nvPicPr>
            <p:cNvPr id="64" name="Picture 2">
              <a:extLst>
                <a:ext uri="{FF2B5EF4-FFF2-40B4-BE49-F238E27FC236}">
                  <a16:creationId xmlns:a16="http://schemas.microsoft.com/office/drawing/2014/main" id="{1BE8FCB8-5ABA-9148-4573-107A6F039A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4">
              <a:extLst>
                <a:ext uri="{FF2B5EF4-FFF2-40B4-BE49-F238E27FC236}">
                  <a16:creationId xmlns:a16="http://schemas.microsoft.com/office/drawing/2014/main" id="{292097B0-B598-D4E0-4549-C0780A6CCB9A}"/>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4" name="Title 1">
            <a:extLst>
              <a:ext uri="{FF2B5EF4-FFF2-40B4-BE49-F238E27FC236}">
                <a16:creationId xmlns:a16="http://schemas.microsoft.com/office/drawing/2014/main" id="{DE0E2341-B2D8-7271-D515-309A21B12478}"/>
              </a:ext>
            </a:extLst>
          </p:cNvPr>
          <p:cNvSpPr txBox="1">
            <a:spLocks/>
          </p:cNvSpPr>
          <p:nvPr/>
        </p:nvSpPr>
        <p:spPr>
          <a:xfrm>
            <a:off x="0" y="-11483"/>
            <a:ext cx="12192000" cy="849684"/>
          </a:xfrm>
          <a:prstGeom prst="rect">
            <a:avLst/>
          </a:prstGeom>
          <a:noFill/>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A conceptual challenge in Open Science: terminology</a:t>
            </a:r>
          </a:p>
        </p:txBody>
      </p:sp>
      <p:sp>
        <p:nvSpPr>
          <p:cNvPr id="62" name="Slide Number Placeholder 61">
            <a:extLst>
              <a:ext uri="{FF2B5EF4-FFF2-40B4-BE49-F238E27FC236}">
                <a16:creationId xmlns:a16="http://schemas.microsoft.com/office/drawing/2014/main" id="{19C4E678-5027-977A-5C54-F3ECAE8DEFFC}"/>
              </a:ext>
            </a:extLst>
          </p:cNvPr>
          <p:cNvSpPr>
            <a:spLocks noGrp="1"/>
          </p:cNvSpPr>
          <p:nvPr>
            <p:ph type="sldNum" sz="quarter" idx="12"/>
          </p:nvPr>
        </p:nvSpPr>
        <p:spPr>
          <a:xfrm>
            <a:off x="10774254" y="6356350"/>
            <a:ext cx="579546" cy="365125"/>
          </a:xfrm>
        </p:spPr>
        <p:txBody>
          <a:bodyPr/>
          <a:lstStyle/>
          <a:p>
            <a:fld id="{DC6309F4-03C8-4D48-A124-A9AD6E083FAC}" type="slidenum">
              <a:rPr lang="en-US" smtClean="0"/>
              <a:t>35</a:t>
            </a:fld>
            <a:endParaRPr lang="en-US" dirty="0"/>
          </a:p>
        </p:txBody>
      </p:sp>
      <p:sp>
        <p:nvSpPr>
          <p:cNvPr id="5" name="TextBox 4">
            <a:extLst>
              <a:ext uri="{FF2B5EF4-FFF2-40B4-BE49-F238E27FC236}">
                <a16:creationId xmlns:a16="http://schemas.microsoft.com/office/drawing/2014/main" id="{1D5F0CF8-D1D7-9307-4DAC-BE8F6A581A68}"/>
              </a:ext>
            </a:extLst>
          </p:cNvPr>
          <p:cNvSpPr txBox="1"/>
          <p:nvPr/>
        </p:nvSpPr>
        <p:spPr>
          <a:xfrm>
            <a:off x="3257322" y="2070274"/>
            <a:ext cx="1591974" cy="461665"/>
          </a:xfrm>
          <a:prstGeom prst="rect">
            <a:avLst/>
          </a:prstGeom>
          <a:noFill/>
        </p:spPr>
        <p:txBody>
          <a:bodyPr wrap="none" rtlCol="0">
            <a:spAutoFit/>
          </a:bodyPr>
          <a:lstStyle/>
          <a:p>
            <a:r>
              <a:rPr lang="en-US" sz="2400" b="1" dirty="0"/>
              <a:t>Acronyms</a:t>
            </a:r>
          </a:p>
        </p:txBody>
      </p:sp>
      <p:sp>
        <p:nvSpPr>
          <p:cNvPr id="11" name="TextBox 10">
            <a:extLst>
              <a:ext uri="{FF2B5EF4-FFF2-40B4-BE49-F238E27FC236}">
                <a16:creationId xmlns:a16="http://schemas.microsoft.com/office/drawing/2014/main" id="{AFF4ABFA-9E10-9CBD-7362-74856CFCC5EB}"/>
              </a:ext>
            </a:extLst>
          </p:cNvPr>
          <p:cNvSpPr txBox="1"/>
          <p:nvPr/>
        </p:nvSpPr>
        <p:spPr>
          <a:xfrm>
            <a:off x="7763429" y="2235050"/>
            <a:ext cx="1692836" cy="461665"/>
          </a:xfrm>
          <a:prstGeom prst="rect">
            <a:avLst/>
          </a:prstGeom>
          <a:noFill/>
        </p:spPr>
        <p:txBody>
          <a:bodyPr wrap="none" rtlCol="0">
            <a:spAutoFit/>
          </a:bodyPr>
          <a:lstStyle/>
          <a:p>
            <a:r>
              <a:rPr lang="en-US" sz="2400" b="1" dirty="0"/>
              <a:t>Metaphors</a:t>
            </a:r>
          </a:p>
        </p:txBody>
      </p:sp>
      <p:sp>
        <p:nvSpPr>
          <p:cNvPr id="12" name="TextBox 11">
            <a:extLst>
              <a:ext uri="{FF2B5EF4-FFF2-40B4-BE49-F238E27FC236}">
                <a16:creationId xmlns:a16="http://schemas.microsoft.com/office/drawing/2014/main" id="{3A1C7507-E6DA-7566-3366-3B1D1A13654D}"/>
              </a:ext>
            </a:extLst>
          </p:cNvPr>
          <p:cNvSpPr txBox="1"/>
          <p:nvPr/>
        </p:nvSpPr>
        <p:spPr>
          <a:xfrm>
            <a:off x="2141918" y="2818849"/>
            <a:ext cx="3619664" cy="707886"/>
          </a:xfrm>
          <a:prstGeom prst="rect">
            <a:avLst/>
          </a:prstGeom>
          <a:noFill/>
        </p:spPr>
        <p:txBody>
          <a:bodyPr wrap="square" rtlCol="0">
            <a:spAutoFit/>
          </a:bodyPr>
          <a:lstStyle/>
          <a:p>
            <a:r>
              <a:rPr lang="en-US" sz="2000" dirty="0"/>
              <a:t>e.g. </a:t>
            </a:r>
            <a:r>
              <a:rPr lang="en-US" sz="2000" dirty="0" err="1"/>
              <a:t>Orcid</a:t>
            </a:r>
            <a:r>
              <a:rPr lang="en-US" sz="2000" dirty="0"/>
              <a:t> </a:t>
            </a:r>
            <a:r>
              <a:rPr lang="en-US" sz="2000" dirty="0" err="1"/>
              <a:t>iD</a:t>
            </a:r>
            <a:r>
              <a:rPr lang="en-US" sz="2000" dirty="0"/>
              <a:t> (</a:t>
            </a:r>
            <a:r>
              <a:rPr lang="en-GB" sz="2000" dirty="0"/>
              <a:t>Open Researcher and Contributor ID)</a:t>
            </a:r>
            <a:endParaRPr lang="en-US" sz="2000" dirty="0"/>
          </a:p>
        </p:txBody>
      </p:sp>
      <p:sp>
        <p:nvSpPr>
          <p:cNvPr id="13" name="TextBox 12">
            <a:extLst>
              <a:ext uri="{FF2B5EF4-FFF2-40B4-BE49-F238E27FC236}">
                <a16:creationId xmlns:a16="http://schemas.microsoft.com/office/drawing/2014/main" id="{911320A1-596B-D572-7B69-E5602B2F6BCE}"/>
              </a:ext>
            </a:extLst>
          </p:cNvPr>
          <p:cNvSpPr txBox="1"/>
          <p:nvPr/>
        </p:nvSpPr>
        <p:spPr>
          <a:xfrm>
            <a:off x="6870379" y="2835027"/>
            <a:ext cx="3338286" cy="707886"/>
          </a:xfrm>
          <a:prstGeom prst="rect">
            <a:avLst/>
          </a:prstGeom>
          <a:noFill/>
        </p:spPr>
        <p:txBody>
          <a:bodyPr wrap="none" rtlCol="0">
            <a:spAutoFit/>
          </a:bodyPr>
          <a:lstStyle/>
          <a:p>
            <a:r>
              <a:rPr lang="en-US" sz="2000" dirty="0"/>
              <a:t>e.g. Garden of forking paths, </a:t>
            </a:r>
          </a:p>
          <a:p>
            <a:r>
              <a:rPr lang="en-US" sz="2000" dirty="0"/>
              <a:t>salami slicing</a:t>
            </a:r>
          </a:p>
        </p:txBody>
      </p:sp>
      <p:sp>
        <p:nvSpPr>
          <p:cNvPr id="16" name="TextBox 15">
            <a:extLst>
              <a:ext uri="{FF2B5EF4-FFF2-40B4-BE49-F238E27FC236}">
                <a16:creationId xmlns:a16="http://schemas.microsoft.com/office/drawing/2014/main" id="{8F8E899D-88F7-3816-10B1-A0E47E1F12BD}"/>
              </a:ext>
            </a:extLst>
          </p:cNvPr>
          <p:cNvSpPr txBox="1"/>
          <p:nvPr/>
        </p:nvSpPr>
        <p:spPr>
          <a:xfrm>
            <a:off x="4992723" y="4736164"/>
            <a:ext cx="231154" cy="369332"/>
          </a:xfrm>
          <a:prstGeom prst="rect">
            <a:avLst/>
          </a:prstGeom>
          <a:noFill/>
        </p:spPr>
        <p:txBody>
          <a:bodyPr wrap="none" rtlCol="0">
            <a:spAutoFit/>
          </a:bodyPr>
          <a:lstStyle/>
          <a:p>
            <a:r>
              <a:rPr lang="en-US" dirty="0"/>
              <a:t> </a:t>
            </a:r>
          </a:p>
        </p:txBody>
      </p:sp>
      <p:pic>
        <p:nvPicPr>
          <p:cNvPr id="32" name="Graphic 31" descr="Chat bubble with solid fill">
            <a:extLst>
              <a:ext uri="{FF2B5EF4-FFF2-40B4-BE49-F238E27FC236}">
                <a16:creationId xmlns:a16="http://schemas.microsoft.com/office/drawing/2014/main" id="{61348643-BC18-33B3-EE99-7EC6F88474D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281431" y="1904449"/>
            <a:ext cx="914400" cy="914400"/>
          </a:xfrm>
          <a:prstGeom prst="rect">
            <a:avLst/>
          </a:prstGeom>
        </p:spPr>
      </p:pic>
      <p:pic>
        <p:nvPicPr>
          <p:cNvPr id="34" name="Graphic 33" descr="Chat with solid fill">
            <a:extLst>
              <a:ext uri="{FF2B5EF4-FFF2-40B4-BE49-F238E27FC236}">
                <a16:creationId xmlns:a16="http://schemas.microsoft.com/office/drawing/2014/main" id="{9A066CAB-E526-7635-7CF4-D3AB335BBC3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849029" y="2051085"/>
            <a:ext cx="914400" cy="914400"/>
          </a:xfrm>
          <a:prstGeom prst="rect">
            <a:avLst/>
          </a:prstGeom>
        </p:spPr>
      </p:pic>
      <p:pic>
        <p:nvPicPr>
          <p:cNvPr id="2" name="Graphic 1" descr="Lights On with solid fill">
            <a:extLst>
              <a:ext uri="{FF2B5EF4-FFF2-40B4-BE49-F238E27FC236}">
                <a16:creationId xmlns:a16="http://schemas.microsoft.com/office/drawing/2014/main" id="{4A7A7C6C-8D29-7DE9-BEA0-CC5961321B2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906675" y="1856768"/>
            <a:ext cx="888675" cy="888675"/>
          </a:xfrm>
          <a:prstGeom prst="rect">
            <a:avLst/>
          </a:prstGeom>
        </p:spPr>
      </p:pic>
      <p:sp>
        <p:nvSpPr>
          <p:cNvPr id="6" name="TextBox 5">
            <a:extLst>
              <a:ext uri="{FF2B5EF4-FFF2-40B4-BE49-F238E27FC236}">
                <a16:creationId xmlns:a16="http://schemas.microsoft.com/office/drawing/2014/main" id="{94447906-B8AE-2666-0F95-50F3F02EA9BB}"/>
              </a:ext>
            </a:extLst>
          </p:cNvPr>
          <p:cNvSpPr txBox="1"/>
          <p:nvPr/>
        </p:nvSpPr>
        <p:spPr>
          <a:xfrm>
            <a:off x="117238" y="859845"/>
            <a:ext cx="11598582" cy="830997"/>
          </a:xfrm>
          <a:prstGeom prst="rect">
            <a:avLst/>
          </a:prstGeom>
          <a:noFill/>
        </p:spPr>
        <p:txBody>
          <a:bodyPr wrap="square" rtlCol="0">
            <a:spAutoFit/>
          </a:bodyPr>
          <a:lstStyle/>
          <a:p>
            <a:r>
              <a:rPr lang="en-US" sz="2400" dirty="0"/>
              <a:t>Confusion and lack of shared context of terminology can </a:t>
            </a:r>
            <a:r>
              <a:rPr lang="en-US" sz="2400" b="1" dirty="0"/>
              <a:t>create barriers </a:t>
            </a:r>
            <a:r>
              <a:rPr lang="en-US" sz="2400" dirty="0"/>
              <a:t>for non-native speakers, knowledge transfer and interdisciplinary collaborations (</a:t>
            </a:r>
            <a:r>
              <a:rPr lang="en-US" sz="2400" dirty="0">
                <a:hlinkClick r:id="rId8"/>
              </a:rPr>
              <a:t>Parsons et al. 2022</a:t>
            </a:r>
            <a:r>
              <a:rPr lang="en-US" sz="2400" dirty="0"/>
              <a:t>).</a:t>
            </a:r>
          </a:p>
        </p:txBody>
      </p:sp>
    </p:spTree>
    <p:extLst>
      <p:ext uri="{BB962C8B-B14F-4D97-AF65-F5344CB8AC3E}">
        <p14:creationId xmlns:p14="http://schemas.microsoft.com/office/powerpoint/2010/main" val="1129206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8530E-B661-2258-17C3-2C2DB068DF91}"/>
            </a:ext>
          </a:extLst>
        </p:cNvPr>
        <p:cNvGrpSpPr/>
        <p:nvPr/>
      </p:nvGrpSpPr>
      <p:grpSpPr>
        <a:xfrm>
          <a:off x="0" y="0"/>
          <a:ext cx="0" cy="0"/>
          <a:chOff x="0" y="0"/>
          <a:chExt cx="0" cy="0"/>
        </a:xfrm>
      </p:grpSpPr>
      <p:grpSp>
        <p:nvGrpSpPr>
          <p:cNvPr id="63" name="Group 62">
            <a:extLst>
              <a:ext uri="{FF2B5EF4-FFF2-40B4-BE49-F238E27FC236}">
                <a16:creationId xmlns:a16="http://schemas.microsoft.com/office/drawing/2014/main" id="{ECB54840-6027-AC3A-B7AE-CDAE71F2995B}"/>
              </a:ext>
            </a:extLst>
          </p:cNvPr>
          <p:cNvGrpSpPr/>
          <p:nvPr/>
        </p:nvGrpSpPr>
        <p:grpSpPr>
          <a:xfrm>
            <a:off x="10704849" y="6564312"/>
            <a:ext cx="1362075" cy="273690"/>
            <a:chOff x="19317" y="2690018"/>
            <a:chExt cx="11784755" cy="2025180"/>
          </a:xfrm>
        </p:grpSpPr>
        <p:pic>
          <p:nvPicPr>
            <p:cNvPr id="64" name="Picture 2">
              <a:extLst>
                <a:ext uri="{FF2B5EF4-FFF2-40B4-BE49-F238E27FC236}">
                  <a16:creationId xmlns:a16="http://schemas.microsoft.com/office/drawing/2014/main" id="{73555AD8-692F-EA18-DB00-709DE4812B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4">
              <a:extLst>
                <a:ext uri="{FF2B5EF4-FFF2-40B4-BE49-F238E27FC236}">
                  <a16:creationId xmlns:a16="http://schemas.microsoft.com/office/drawing/2014/main" id="{A3EB1DFC-A309-EBC8-2DB4-E16A412B2C95}"/>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4" name="Title 1">
            <a:extLst>
              <a:ext uri="{FF2B5EF4-FFF2-40B4-BE49-F238E27FC236}">
                <a16:creationId xmlns:a16="http://schemas.microsoft.com/office/drawing/2014/main" id="{41C67E03-D188-97CF-C371-88010474204F}"/>
              </a:ext>
            </a:extLst>
          </p:cNvPr>
          <p:cNvSpPr txBox="1">
            <a:spLocks/>
          </p:cNvSpPr>
          <p:nvPr/>
        </p:nvSpPr>
        <p:spPr>
          <a:xfrm>
            <a:off x="0" y="-11483"/>
            <a:ext cx="12192000" cy="849684"/>
          </a:xfrm>
          <a:prstGeom prst="rect">
            <a:avLst/>
          </a:prstGeom>
          <a:noFill/>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A conceptual challenge in Open Science: terminology</a:t>
            </a:r>
          </a:p>
        </p:txBody>
      </p:sp>
      <p:sp>
        <p:nvSpPr>
          <p:cNvPr id="62" name="Slide Number Placeholder 61">
            <a:extLst>
              <a:ext uri="{FF2B5EF4-FFF2-40B4-BE49-F238E27FC236}">
                <a16:creationId xmlns:a16="http://schemas.microsoft.com/office/drawing/2014/main" id="{3EC7F5C2-188F-7540-D44B-E924EBD5240E}"/>
              </a:ext>
            </a:extLst>
          </p:cNvPr>
          <p:cNvSpPr>
            <a:spLocks noGrp="1"/>
          </p:cNvSpPr>
          <p:nvPr>
            <p:ph type="sldNum" sz="quarter" idx="12"/>
          </p:nvPr>
        </p:nvSpPr>
        <p:spPr>
          <a:xfrm>
            <a:off x="10774254" y="6356350"/>
            <a:ext cx="579546" cy="365125"/>
          </a:xfrm>
        </p:spPr>
        <p:txBody>
          <a:bodyPr/>
          <a:lstStyle/>
          <a:p>
            <a:fld id="{DC6309F4-03C8-4D48-A124-A9AD6E083FAC}" type="slidenum">
              <a:rPr lang="en-US" smtClean="0"/>
              <a:t>36</a:t>
            </a:fld>
            <a:endParaRPr lang="en-US" dirty="0"/>
          </a:p>
        </p:txBody>
      </p:sp>
      <p:sp>
        <p:nvSpPr>
          <p:cNvPr id="5" name="TextBox 4">
            <a:extLst>
              <a:ext uri="{FF2B5EF4-FFF2-40B4-BE49-F238E27FC236}">
                <a16:creationId xmlns:a16="http://schemas.microsoft.com/office/drawing/2014/main" id="{214E8084-9E41-E7BF-5335-26377FBDFB07}"/>
              </a:ext>
            </a:extLst>
          </p:cNvPr>
          <p:cNvSpPr txBox="1"/>
          <p:nvPr/>
        </p:nvSpPr>
        <p:spPr>
          <a:xfrm>
            <a:off x="3257322" y="2070274"/>
            <a:ext cx="1591974" cy="461665"/>
          </a:xfrm>
          <a:prstGeom prst="rect">
            <a:avLst/>
          </a:prstGeom>
          <a:noFill/>
        </p:spPr>
        <p:txBody>
          <a:bodyPr wrap="none" rtlCol="0">
            <a:spAutoFit/>
          </a:bodyPr>
          <a:lstStyle/>
          <a:p>
            <a:r>
              <a:rPr lang="en-US" sz="2400" b="1" dirty="0"/>
              <a:t>Acronyms</a:t>
            </a:r>
          </a:p>
        </p:txBody>
      </p:sp>
      <p:sp>
        <p:nvSpPr>
          <p:cNvPr id="8" name="TextBox 7">
            <a:extLst>
              <a:ext uri="{FF2B5EF4-FFF2-40B4-BE49-F238E27FC236}">
                <a16:creationId xmlns:a16="http://schemas.microsoft.com/office/drawing/2014/main" id="{C14ABDF4-5769-0D75-76F4-D7C18DE50D4B}"/>
              </a:ext>
            </a:extLst>
          </p:cNvPr>
          <p:cNvSpPr txBox="1"/>
          <p:nvPr/>
        </p:nvSpPr>
        <p:spPr>
          <a:xfrm>
            <a:off x="5916529" y="4135407"/>
            <a:ext cx="1780167" cy="830997"/>
          </a:xfrm>
          <a:prstGeom prst="rect">
            <a:avLst/>
          </a:prstGeom>
          <a:noFill/>
        </p:spPr>
        <p:txBody>
          <a:bodyPr wrap="none" rtlCol="0">
            <a:spAutoFit/>
          </a:bodyPr>
          <a:lstStyle/>
          <a:p>
            <a:r>
              <a:rPr lang="en-US" sz="2400" b="1" dirty="0"/>
              <a:t>Usage </a:t>
            </a:r>
          </a:p>
          <a:p>
            <a:r>
              <a:rPr lang="en-US" sz="2400" b="1" dirty="0"/>
              <a:t>differences</a:t>
            </a:r>
          </a:p>
        </p:txBody>
      </p:sp>
      <p:sp>
        <p:nvSpPr>
          <p:cNvPr id="11" name="TextBox 10">
            <a:extLst>
              <a:ext uri="{FF2B5EF4-FFF2-40B4-BE49-F238E27FC236}">
                <a16:creationId xmlns:a16="http://schemas.microsoft.com/office/drawing/2014/main" id="{8A140D20-6097-5AEC-7ABE-369DE8F247F4}"/>
              </a:ext>
            </a:extLst>
          </p:cNvPr>
          <p:cNvSpPr txBox="1"/>
          <p:nvPr/>
        </p:nvSpPr>
        <p:spPr>
          <a:xfrm>
            <a:off x="7763429" y="2235050"/>
            <a:ext cx="1692836" cy="461665"/>
          </a:xfrm>
          <a:prstGeom prst="rect">
            <a:avLst/>
          </a:prstGeom>
          <a:noFill/>
        </p:spPr>
        <p:txBody>
          <a:bodyPr wrap="none" rtlCol="0">
            <a:spAutoFit/>
          </a:bodyPr>
          <a:lstStyle/>
          <a:p>
            <a:r>
              <a:rPr lang="en-US" sz="2400" b="1" dirty="0"/>
              <a:t>Metaphors</a:t>
            </a:r>
          </a:p>
        </p:txBody>
      </p:sp>
      <p:sp>
        <p:nvSpPr>
          <p:cNvPr id="12" name="TextBox 11">
            <a:extLst>
              <a:ext uri="{FF2B5EF4-FFF2-40B4-BE49-F238E27FC236}">
                <a16:creationId xmlns:a16="http://schemas.microsoft.com/office/drawing/2014/main" id="{787A4C14-1942-1A71-8AC8-1F854153C26C}"/>
              </a:ext>
            </a:extLst>
          </p:cNvPr>
          <p:cNvSpPr txBox="1"/>
          <p:nvPr/>
        </p:nvSpPr>
        <p:spPr>
          <a:xfrm>
            <a:off x="2141918" y="2818849"/>
            <a:ext cx="3619664" cy="707886"/>
          </a:xfrm>
          <a:prstGeom prst="rect">
            <a:avLst/>
          </a:prstGeom>
          <a:noFill/>
        </p:spPr>
        <p:txBody>
          <a:bodyPr wrap="square" rtlCol="0">
            <a:spAutoFit/>
          </a:bodyPr>
          <a:lstStyle/>
          <a:p>
            <a:r>
              <a:rPr lang="en-US" sz="2000" dirty="0"/>
              <a:t>e.g. </a:t>
            </a:r>
            <a:r>
              <a:rPr lang="en-US" sz="2000" dirty="0" err="1"/>
              <a:t>Orcid</a:t>
            </a:r>
            <a:r>
              <a:rPr lang="en-US" sz="2000" dirty="0"/>
              <a:t> </a:t>
            </a:r>
            <a:r>
              <a:rPr lang="en-US" sz="2000" dirty="0" err="1"/>
              <a:t>iD</a:t>
            </a:r>
            <a:r>
              <a:rPr lang="en-US" sz="2000" dirty="0"/>
              <a:t> (</a:t>
            </a:r>
            <a:r>
              <a:rPr lang="en-GB" sz="2000" dirty="0"/>
              <a:t>Open Researcher and Contributor ID)</a:t>
            </a:r>
            <a:endParaRPr lang="en-US" sz="2000" dirty="0"/>
          </a:p>
        </p:txBody>
      </p:sp>
      <p:sp>
        <p:nvSpPr>
          <p:cNvPr id="13" name="TextBox 12">
            <a:extLst>
              <a:ext uri="{FF2B5EF4-FFF2-40B4-BE49-F238E27FC236}">
                <a16:creationId xmlns:a16="http://schemas.microsoft.com/office/drawing/2014/main" id="{37FDDB75-B1DD-572F-BFAF-C1318CF32AF1}"/>
              </a:ext>
            </a:extLst>
          </p:cNvPr>
          <p:cNvSpPr txBox="1"/>
          <p:nvPr/>
        </p:nvSpPr>
        <p:spPr>
          <a:xfrm>
            <a:off x="6870379" y="2835027"/>
            <a:ext cx="3338286" cy="707886"/>
          </a:xfrm>
          <a:prstGeom prst="rect">
            <a:avLst/>
          </a:prstGeom>
          <a:noFill/>
        </p:spPr>
        <p:txBody>
          <a:bodyPr wrap="none" rtlCol="0">
            <a:spAutoFit/>
          </a:bodyPr>
          <a:lstStyle/>
          <a:p>
            <a:r>
              <a:rPr lang="en-US" sz="2000" dirty="0"/>
              <a:t>e.g. Garden of forking paths, </a:t>
            </a:r>
          </a:p>
          <a:p>
            <a:r>
              <a:rPr lang="en-US" sz="2000" dirty="0"/>
              <a:t>salami slicing</a:t>
            </a:r>
          </a:p>
        </p:txBody>
      </p:sp>
      <p:sp>
        <p:nvSpPr>
          <p:cNvPr id="15" name="TextBox 14">
            <a:extLst>
              <a:ext uri="{FF2B5EF4-FFF2-40B4-BE49-F238E27FC236}">
                <a16:creationId xmlns:a16="http://schemas.microsoft.com/office/drawing/2014/main" id="{A5AB26F8-7D0C-3815-DEA7-F1E4CA5F3707}"/>
              </a:ext>
            </a:extLst>
          </p:cNvPr>
          <p:cNvSpPr txBox="1"/>
          <p:nvPr/>
        </p:nvSpPr>
        <p:spPr>
          <a:xfrm>
            <a:off x="224603" y="4999041"/>
            <a:ext cx="4754416" cy="1631216"/>
          </a:xfrm>
          <a:prstGeom prst="rect">
            <a:avLst/>
          </a:prstGeom>
          <a:noFill/>
        </p:spPr>
        <p:txBody>
          <a:bodyPr wrap="square" rtlCol="0">
            <a:spAutoFit/>
          </a:bodyPr>
          <a:lstStyle/>
          <a:p>
            <a:r>
              <a:rPr lang="en-US" sz="2000" dirty="0"/>
              <a:t>e.g. Paper mills </a:t>
            </a:r>
          </a:p>
          <a:p>
            <a:pPr marL="285750" indent="-285750">
              <a:buFont typeface="Arial" panose="020B0604020202020204" pitchFamily="34" charset="0"/>
              <a:buChar char="•"/>
            </a:pPr>
            <a:r>
              <a:rPr lang="en-US" sz="2000" dirty="0"/>
              <a:t>Factories manufacturing paper</a:t>
            </a:r>
          </a:p>
          <a:p>
            <a:pPr marL="285750" indent="-285750">
              <a:buFont typeface="Arial" panose="020B0604020202020204" pitchFamily="34" charset="0"/>
              <a:buChar char="•"/>
            </a:pPr>
            <a:r>
              <a:rPr lang="en-US" sz="2000" dirty="0"/>
              <a:t>Organizations involved in science misconduct producing papers with falsified or fabricated data</a:t>
            </a:r>
          </a:p>
        </p:txBody>
      </p:sp>
      <p:sp>
        <p:nvSpPr>
          <p:cNvPr id="16" name="TextBox 15">
            <a:extLst>
              <a:ext uri="{FF2B5EF4-FFF2-40B4-BE49-F238E27FC236}">
                <a16:creationId xmlns:a16="http://schemas.microsoft.com/office/drawing/2014/main" id="{8CD26C01-1F92-8D2E-382B-05949BB823BC}"/>
              </a:ext>
            </a:extLst>
          </p:cNvPr>
          <p:cNvSpPr txBox="1"/>
          <p:nvPr/>
        </p:nvSpPr>
        <p:spPr>
          <a:xfrm>
            <a:off x="4992723" y="4736164"/>
            <a:ext cx="231154" cy="369332"/>
          </a:xfrm>
          <a:prstGeom prst="rect">
            <a:avLst/>
          </a:prstGeom>
          <a:noFill/>
        </p:spPr>
        <p:txBody>
          <a:bodyPr wrap="none" rtlCol="0">
            <a:spAutoFit/>
          </a:bodyPr>
          <a:lstStyle/>
          <a:p>
            <a:r>
              <a:rPr lang="en-US" dirty="0"/>
              <a:t> </a:t>
            </a:r>
          </a:p>
        </p:txBody>
      </p:sp>
      <p:sp>
        <p:nvSpPr>
          <p:cNvPr id="17" name="TextBox 16">
            <a:extLst>
              <a:ext uri="{FF2B5EF4-FFF2-40B4-BE49-F238E27FC236}">
                <a16:creationId xmlns:a16="http://schemas.microsoft.com/office/drawing/2014/main" id="{FA0455ED-CD90-C094-019F-477A628D1C76}"/>
              </a:ext>
            </a:extLst>
          </p:cNvPr>
          <p:cNvSpPr txBox="1"/>
          <p:nvPr/>
        </p:nvSpPr>
        <p:spPr>
          <a:xfrm>
            <a:off x="1009017" y="4372027"/>
            <a:ext cx="3057247" cy="461665"/>
          </a:xfrm>
          <a:prstGeom prst="rect">
            <a:avLst/>
          </a:prstGeom>
          <a:noFill/>
        </p:spPr>
        <p:txBody>
          <a:bodyPr wrap="none" rtlCol="0">
            <a:spAutoFit/>
          </a:bodyPr>
          <a:lstStyle/>
          <a:p>
            <a:r>
              <a:rPr lang="en-US" sz="2400" b="1" dirty="0"/>
              <a:t>Additional meanings</a:t>
            </a:r>
          </a:p>
        </p:txBody>
      </p:sp>
      <p:pic>
        <p:nvPicPr>
          <p:cNvPr id="24" name="Graphic 23" descr="Comment Add with solid fill">
            <a:extLst>
              <a:ext uri="{FF2B5EF4-FFF2-40B4-BE49-F238E27FC236}">
                <a16:creationId xmlns:a16="http://schemas.microsoft.com/office/drawing/2014/main" id="{8DBD0EB3-5944-FDDB-E3FE-E6341D08BFA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58374" y="4163509"/>
            <a:ext cx="914400" cy="914400"/>
          </a:xfrm>
          <a:prstGeom prst="rect">
            <a:avLst/>
          </a:prstGeom>
        </p:spPr>
      </p:pic>
      <p:pic>
        <p:nvPicPr>
          <p:cNvPr id="30" name="Graphic 29" descr="Transfer with solid fill">
            <a:extLst>
              <a:ext uri="{FF2B5EF4-FFF2-40B4-BE49-F238E27FC236}">
                <a16:creationId xmlns:a16="http://schemas.microsoft.com/office/drawing/2014/main" id="{305BCF0D-3221-6B55-C70C-BBEE2233558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955564" y="4147896"/>
            <a:ext cx="806018" cy="806018"/>
          </a:xfrm>
          <a:prstGeom prst="rect">
            <a:avLst/>
          </a:prstGeom>
        </p:spPr>
      </p:pic>
      <p:pic>
        <p:nvPicPr>
          <p:cNvPr id="32" name="Graphic 31" descr="Chat bubble with solid fill">
            <a:extLst>
              <a:ext uri="{FF2B5EF4-FFF2-40B4-BE49-F238E27FC236}">
                <a16:creationId xmlns:a16="http://schemas.microsoft.com/office/drawing/2014/main" id="{D203C064-6448-C1ED-5DA1-9A29CB5B635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281431" y="1904449"/>
            <a:ext cx="914400" cy="914400"/>
          </a:xfrm>
          <a:prstGeom prst="rect">
            <a:avLst/>
          </a:prstGeom>
        </p:spPr>
      </p:pic>
      <p:pic>
        <p:nvPicPr>
          <p:cNvPr id="34" name="Graphic 33" descr="Chat with solid fill">
            <a:extLst>
              <a:ext uri="{FF2B5EF4-FFF2-40B4-BE49-F238E27FC236}">
                <a16:creationId xmlns:a16="http://schemas.microsoft.com/office/drawing/2014/main" id="{B12C6CA4-4EB2-30AD-2209-99B427F31FD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849029" y="2051085"/>
            <a:ext cx="914400" cy="914400"/>
          </a:xfrm>
          <a:prstGeom prst="rect">
            <a:avLst/>
          </a:prstGeom>
        </p:spPr>
      </p:pic>
      <p:sp>
        <p:nvSpPr>
          <p:cNvPr id="36" name="TextBox 35">
            <a:extLst>
              <a:ext uri="{FF2B5EF4-FFF2-40B4-BE49-F238E27FC236}">
                <a16:creationId xmlns:a16="http://schemas.microsoft.com/office/drawing/2014/main" id="{57618375-24D2-E360-518B-B45BEE43588F}"/>
              </a:ext>
            </a:extLst>
          </p:cNvPr>
          <p:cNvSpPr txBox="1"/>
          <p:nvPr/>
        </p:nvSpPr>
        <p:spPr>
          <a:xfrm>
            <a:off x="4906529" y="5092769"/>
            <a:ext cx="3049234" cy="1631216"/>
          </a:xfrm>
          <a:prstGeom prst="rect">
            <a:avLst/>
          </a:prstGeom>
          <a:noFill/>
        </p:spPr>
        <p:txBody>
          <a:bodyPr wrap="square" rtlCol="0">
            <a:spAutoFit/>
          </a:bodyPr>
          <a:lstStyle/>
          <a:p>
            <a:r>
              <a:rPr lang="en-US" sz="2000" dirty="0"/>
              <a:t>e.g. Preregistration as a process and output </a:t>
            </a:r>
          </a:p>
          <a:p>
            <a:r>
              <a:rPr lang="en-US" sz="2000" dirty="0"/>
              <a:t>(</a:t>
            </a:r>
            <a:r>
              <a:rPr lang="en-US" sz="2000" dirty="0">
                <a:hlinkClick r:id="rId9"/>
              </a:rPr>
              <a:t>Mayo-Wilson et al. 2025</a:t>
            </a:r>
            <a:r>
              <a:rPr lang="en-US" sz="2000" dirty="0"/>
              <a:t>), replication-reproducibility confusion</a:t>
            </a:r>
          </a:p>
        </p:txBody>
      </p:sp>
      <p:sp>
        <p:nvSpPr>
          <p:cNvPr id="10" name="TextBox 9">
            <a:extLst>
              <a:ext uri="{FF2B5EF4-FFF2-40B4-BE49-F238E27FC236}">
                <a16:creationId xmlns:a16="http://schemas.microsoft.com/office/drawing/2014/main" id="{C193FEFA-D14B-0610-FB4E-78E46732F301}"/>
              </a:ext>
            </a:extLst>
          </p:cNvPr>
          <p:cNvSpPr txBox="1"/>
          <p:nvPr/>
        </p:nvSpPr>
        <p:spPr>
          <a:xfrm>
            <a:off x="9695688" y="4139072"/>
            <a:ext cx="1655325" cy="830997"/>
          </a:xfrm>
          <a:prstGeom prst="rect">
            <a:avLst/>
          </a:prstGeom>
          <a:noFill/>
        </p:spPr>
        <p:txBody>
          <a:bodyPr wrap="none" rtlCol="0">
            <a:spAutoFit/>
          </a:bodyPr>
          <a:lstStyle/>
          <a:p>
            <a:r>
              <a:rPr lang="en-US" sz="2400" b="1" dirty="0"/>
              <a:t>Creating </a:t>
            </a:r>
          </a:p>
          <a:p>
            <a:r>
              <a:rPr lang="en-US" sz="2400" b="1" dirty="0"/>
              <a:t>new terms</a:t>
            </a:r>
          </a:p>
        </p:txBody>
      </p:sp>
      <p:sp>
        <p:nvSpPr>
          <p:cNvPr id="14" name="TextBox 13">
            <a:extLst>
              <a:ext uri="{FF2B5EF4-FFF2-40B4-BE49-F238E27FC236}">
                <a16:creationId xmlns:a16="http://schemas.microsoft.com/office/drawing/2014/main" id="{00BDE3ED-3AFF-649C-3893-80E050486FE6}"/>
              </a:ext>
            </a:extLst>
          </p:cNvPr>
          <p:cNvSpPr txBox="1"/>
          <p:nvPr/>
        </p:nvSpPr>
        <p:spPr>
          <a:xfrm>
            <a:off x="8687219" y="5194280"/>
            <a:ext cx="2933175" cy="707886"/>
          </a:xfrm>
          <a:prstGeom prst="rect">
            <a:avLst/>
          </a:prstGeom>
          <a:noFill/>
        </p:spPr>
        <p:txBody>
          <a:bodyPr wrap="none" rtlCol="0">
            <a:spAutoFit/>
          </a:bodyPr>
          <a:lstStyle/>
          <a:p>
            <a:r>
              <a:rPr lang="en-US" sz="2000" dirty="0"/>
              <a:t>e.g. #</a:t>
            </a:r>
            <a:r>
              <a:rPr lang="en-US" sz="2000" dirty="0" err="1"/>
              <a:t>Bropenscience</a:t>
            </a:r>
            <a:r>
              <a:rPr lang="en-US" sz="2000" dirty="0"/>
              <a:t> </a:t>
            </a:r>
          </a:p>
          <a:p>
            <a:r>
              <a:rPr lang="en-US" sz="2000" dirty="0"/>
              <a:t>(</a:t>
            </a:r>
            <a:r>
              <a:rPr lang="en-GB" sz="2000" dirty="0">
                <a:hlinkClick r:id="rId10"/>
              </a:rPr>
              <a:t>Whitaker &amp; Guest, 2020</a:t>
            </a:r>
            <a:r>
              <a:rPr lang="en-US" sz="2000" dirty="0"/>
              <a:t>)</a:t>
            </a:r>
          </a:p>
        </p:txBody>
      </p:sp>
      <p:pic>
        <p:nvPicPr>
          <p:cNvPr id="18" name="Graphic 17" descr="Badge New with solid fill">
            <a:extLst>
              <a:ext uri="{FF2B5EF4-FFF2-40B4-BE49-F238E27FC236}">
                <a16:creationId xmlns:a16="http://schemas.microsoft.com/office/drawing/2014/main" id="{6C4E5DB6-A11B-FCE4-B561-6CD2A0A50172}"/>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8686626" y="4118836"/>
            <a:ext cx="914400" cy="914400"/>
          </a:xfrm>
          <a:prstGeom prst="rect">
            <a:avLst/>
          </a:prstGeom>
        </p:spPr>
      </p:pic>
      <p:sp>
        <p:nvSpPr>
          <p:cNvPr id="21" name="Rectangle 20">
            <a:extLst>
              <a:ext uri="{FF2B5EF4-FFF2-40B4-BE49-F238E27FC236}">
                <a16:creationId xmlns:a16="http://schemas.microsoft.com/office/drawing/2014/main" id="{2E749318-3D4D-C9DD-D294-1EEA23A0FD91}"/>
              </a:ext>
            </a:extLst>
          </p:cNvPr>
          <p:cNvSpPr/>
          <p:nvPr/>
        </p:nvSpPr>
        <p:spPr>
          <a:xfrm>
            <a:off x="1422792" y="1888594"/>
            <a:ext cx="9282057" cy="1849607"/>
          </a:xfrm>
          <a:prstGeom prst="rect">
            <a:avLst/>
          </a:prstGeom>
          <a:solidFill>
            <a:schemeClr val="bg1">
              <a:alpha val="6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B4E6BB1B-6401-8E19-1193-66F7FD52B88C}"/>
              </a:ext>
            </a:extLst>
          </p:cNvPr>
          <p:cNvSpPr txBox="1"/>
          <p:nvPr/>
        </p:nvSpPr>
        <p:spPr>
          <a:xfrm>
            <a:off x="117238" y="859845"/>
            <a:ext cx="11598582" cy="830997"/>
          </a:xfrm>
          <a:prstGeom prst="rect">
            <a:avLst/>
          </a:prstGeom>
          <a:noFill/>
        </p:spPr>
        <p:txBody>
          <a:bodyPr wrap="square" rtlCol="0">
            <a:spAutoFit/>
          </a:bodyPr>
          <a:lstStyle/>
          <a:p>
            <a:r>
              <a:rPr lang="en-US" sz="2400" dirty="0"/>
              <a:t>Confusion and lack of shared context of terminology can </a:t>
            </a:r>
            <a:r>
              <a:rPr lang="en-US" sz="2400" b="1" dirty="0"/>
              <a:t>create barriers </a:t>
            </a:r>
            <a:r>
              <a:rPr lang="en-US" sz="2400" dirty="0"/>
              <a:t>for non-native speakers, knowledge transfer and interdisciplinary collaborations (</a:t>
            </a:r>
            <a:r>
              <a:rPr lang="en-US" sz="2400" dirty="0">
                <a:hlinkClick r:id="rId12"/>
              </a:rPr>
              <a:t>Parsons et al. 2022</a:t>
            </a:r>
            <a:r>
              <a:rPr lang="en-US" sz="2400" dirty="0"/>
              <a:t>).</a:t>
            </a:r>
          </a:p>
        </p:txBody>
      </p:sp>
      <p:pic>
        <p:nvPicPr>
          <p:cNvPr id="7" name="Graphic 6" descr="Lights On with solid fill">
            <a:extLst>
              <a:ext uri="{FF2B5EF4-FFF2-40B4-BE49-F238E27FC236}">
                <a16:creationId xmlns:a16="http://schemas.microsoft.com/office/drawing/2014/main" id="{6CA8AA56-3D6B-243C-6F22-F117161A2D7C}"/>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0906675" y="1856768"/>
            <a:ext cx="888675" cy="888675"/>
          </a:xfrm>
          <a:prstGeom prst="rect">
            <a:avLst/>
          </a:prstGeom>
        </p:spPr>
      </p:pic>
    </p:spTree>
    <p:extLst>
      <p:ext uri="{BB962C8B-B14F-4D97-AF65-F5344CB8AC3E}">
        <p14:creationId xmlns:p14="http://schemas.microsoft.com/office/powerpoint/2010/main" val="30667762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A1535-E3A1-EA9F-FB9C-35A2F6BD2C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143D74-8493-3442-8C37-B8730D9DBC0D}"/>
              </a:ext>
            </a:extLst>
          </p:cNvPr>
          <p:cNvSpPr>
            <a:spLocks noGrp="1"/>
          </p:cNvSpPr>
          <p:nvPr>
            <p:ph type="title"/>
          </p:nvPr>
        </p:nvSpPr>
        <p:spPr>
          <a:xfrm>
            <a:off x="0" y="140790"/>
            <a:ext cx="12192000" cy="819599"/>
          </a:xfrm>
        </p:spPr>
        <p:txBody>
          <a:bodyPr>
            <a:normAutofit fontScale="90000"/>
          </a:bodyPr>
          <a:lstStyle/>
          <a:p>
            <a:r>
              <a:rPr lang="en-US" b="1" dirty="0"/>
              <a:t>A practical challenge in Open Science: building accessible and sustainable infrastructure </a:t>
            </a:r>
          </a:p>
        </p:txBody>
      </p:sp>
      <p:grpSp>
        <p:nvGrpSpPr>
          <p:cNvPr id="11" name="Group 10">
            <a:extLst>
              <a:ext uri="{FF2B5EF4-FFF2-40B4-BE49-F238E27FC236}">
                <a16:creationId xmlns:a16="http://schemas.microsoft.com/office/drawing/2014/main" id="{D2128489-46EE-3E80-F101-C5D60BF09E9F}"/>
              </a:ext>
            </a:extLst>
          </p:cNvPr>
          <p:cNvGrpSpPr/>
          <p:nvPr/>
        </p:nvGrpSpPr>
        <p:grpSpPr>
          <a:xfrm>
            <a:off x="10644280" y="6476875"/>
            <a:ext cx="1474613" cy="325672"/>
            <a:chOff x="19317" y="2690018"/>
            <a:chExt cx="11784755" cy="2025180"/>
          </a:xfrm>
        </p:grpSpPr>
        <p:pic>
          <p:nvPicPr>
            <p:cNvPr id="12" name="Picture 2">
              <a:extLst>
                <a:ext uri="{FF2B5EF4-FFF2-40B4-BE49-F238E27FC236}">
                  <a16:creationId xmlns:a16="http://schemas.microsoft.com/office/drawing/2014/main" id="{56EED70E-3CA6-D1E3-71E5-2B178B22F8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04D292DA-E425-4DAE-E91C-5FB081EA0861}"/>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3" name="Slide Number Placeholder 2">
            <a:extLst>
              <a:ext uri="{FF2B5EF4-FFF2-40B4-BE49-F238E27FC236}">
                <a16:creationId xmlns:a16="http://schemas.microsoft.com/office/drawing/2014/main" id="{28C3842D-C217-3B0B-C376-A7E67A590970}"/>
              </a:ext>
            </a:extLst>
          </p:cNvPr>
          <p:cNvSpPr>
            <a:spLocks noGrp="1"/>
          </p:cNvSpPr>
          <p:nvPr>
            <p:ph type="sldNum" sz="quarter" idx="12"/>
          </p:nvPr>
        </p:nvSpPr>
        <p:spPr>
          <a:xfrm>
            <a:off x="10268464" y="6356350"/>
            <a:ext cx="1085335" cy="365125"/>
          </a:xfrm>
        </p:spPr>
        <p:txBody>
          <a:bodyPr/>
          <a:lstStyle/>
          <a:p>
            <a:fld id="{D292B180-B274-DE43-B36F-C827C7616C05}" type="slidenum">
              <a:rPr lang="en-US" smtClean="0"/>
              <a:t>37</a:t>
            </a:fld>
            <a:endParaRPr lang="en-US" dirty="0"/>
          </a:p>
        </p:txBody>
      </p:sp>
      <p:sp>
        <p:nvSpPr>
          <p:cNvPr id="4" name="TextBox 3">
            <a:extLst>
              <a:ext uri="{FF2B5EF4-FFF2-40B4-BE49-F238E27FC236}">
                <a16:creationId xmlns:a16="http://schemas.microsoft.com/office/drawing/2014/main" id="{31ECA199-32AA-5B5D-AB2E-CE5C3F0AAB28}"/>
              </a:ext>
            </a:extLst>
          </p:cNvPr>
          <p:cNvSpPr txBox="1"/>
          <p:nvPr/>
        </p:nvSpPr>
        <p:spPr>
          <a:xfrm>
            <a:off x="22634" y="1134265"/>
            <a:ext cx="10971422" cy="830997"/>
          </a:xfrm>
          <a:prstGeom prst="rect">
            <a:avLst/>
          </a:prstGeom>
          <a:noFill/>
        </p:spPr>
        <p:txBody>
          <a:bodyPr wrap="square" rtlCol="0">
            <a:spAutoFit/>
          </a:bodyPr>
          <a:lstStyle/>
          <a:p>
            <a:r>
              <a:rPr lang="en-US" sz="2400" dirty="0"/>
              <a:t>There are</a:t>
            </a:r>
            <a:r>
              <a:rPr lang="en-US" sz="2400" b="1" dirty="0"/>
              <a:t> technical</a:t>
            </a:r>
            <a:r>
              <a:rPr lang="en-US" sz="2400" dirty="0"/>
              <a:t> and </a:t>
            </a:r>
            <a:r>
              <a:rPr lang="en-US" sz="2400" b="1" dirty="0"/>
              <a:t>organizational infrastructure </a:t>
            </a:r>
            <a:r>
              <a:rPr lang="en-US" sz="2400" dirty="0"/>
              <a:t>challenges in supporting researchers adopt Open Science practices across the research life cycle.</a:t>
            </a:r>
          </a:p>
        </p:txBody>
      </p:sp>
      <p:pic>
        <p:nvPicPr>
          <p:cNvPr id="7" name="Graphic 6" descr="Gears with solid fill">
            <a:extLst>
              <a:ext uri="{FF2B5EF4-FFF2-40B4-BE49-F238E27FC236}">
                <a16:creationId xmlns:a16="http://schemas.microsoft.com/office/drawing/2014/main" id="{4C9D1710-5EF4-0287-30BF-760A2187AC2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617288" y="16496"/>
            <a:ext cx="1261475" cy="1261475"/>
          </a:xfrm>
          <a:prstGeom prst="rect">
            <a:avLst/>
          </a:prstGeom>
        </p:spPr>
      </p:pic>
      <p:pic>
        <p:nvPicPr>
          <p:cNvPr id="5" name="Picture 4">
            <a:extLst>
              <a:ext uri="{FF2B5EF4-FFF2-40B4-BE49-F238E27FC236}">
                <a16:creationId xmlns:a16="http://schemas.microsoft.com/office/drawing/2014/main" id="{79AE1C8D-60BB-732C-2557-BF02B437B33D}"/>
              </a:ext>
            </a:extLst>
          </p:cNvPr>
          <p:cNvPicPr>
            <a:picLocks noChangeAspect="1"/>
          </p:cNvPicPr>
          <p:nvPr/>
        </p:nvPicPr>
        <p:blipFill>
          <a:blip r:embed="rId6"/>
          <a:srcRect l="10664" t="11649" r="5650"/>
          <a:stretch>
            <a:fillRect/>
          </a:stretch>
        </p:blipFill>
        <p:spPr>
          <a:xfrm>
            <a:off x="7641257" y="2109073"/>
            <a:ext cx="3352799" cy="3219118"/>
          </a:xfrm>
          <a:prstGeom prst="rect">
            <a:avLst/>
          </a:prstGeom>
        </p:spPr>
      </p:pic>
      <p:sp>
        <p:nvSpPr>
          <p:cNvPr id="6" name="TextBox 5">
            <a:extLst>
              <a:ext uri="{FF2B5EF4-FFF2-40B4-BE49-F238E27FC236}">
                <a16:creationId xmlns:a16="http://schemas.microsoft.com/office/drawing/2014/main" id="{352D31F3-BDA2-0960-2F05-022B0040F6A1}"/>
              </a:ext>
            </a:extLst>
          </p:cNvPr>
          <p:cNvSpPr txBox="1"/>
          <p:nvPr/>
        </p:nvSpPr>
        <p:spPr>
          <a:xfrm>
            <a:off x="8502368" y="5354403"/>
            <a:ext cx="1630575" cy="369332"/>
          </a:xfrm>
          <a:prstGeom prst="rect">
            <a:avLst/>
          </a:prstGeom>
          <a:noFill/>
        </p:spPr>
        <p:txBody>
          <a:bodyPr wrap="none" rtlCol="0">
            <a:spAutoFit/>
          </a:bodyPr>
          <a:lstStyle/>
          <a:p>
            <a:r>
              <a:rPr lang="en-US" dirty="0">
                <a:solidFill>
                  <a:schemeClr val="bg1">
                    <a:lumMod val="50000"/>
                  </a:schemeClr>
                </a:solidFill>
                <a:hlinkClick r:id="rId7"/>
              </a:rPr>
              <a:t>Ihle et al. 2026</a:t>
            </a:r>
            <a:endParaRPr lang="en-US" dirty="0">
              <a:solidFill>
                <a:schemeClr val="bg1">
                  <a:lumMod val="50000"/>
                </a:schemeClr>
              </a:solidFill>
            </a:endParaRPr>
          </a:p>
        </p:txBody>
      </p:sp>
      <p:sp>
        <p:nvSpPr>
          <p:cNvPr id="8" name="TextBox 7">
            <a:extLst>
              <a:ext uri="{FF2B5EF4-FFF2-40B4-BE49-F238E27FC236}">
                <a16:creationId xmlns:a16="http://schemas.microsoft.com/office/drawing/2014/main" id="{C4248D2B-F6F6-0DB8-A279-BD5AC77F613B}"/>
              </a:ext>
            </a:extLst>
          </p:cNvPr>
          <p:cNvSpPr txBox="1"/>
          <p:nvPr/>
        </p:nvSpPr>
        <p:spPr>
          <a:xfrm>
            <a:off x="8013038" y="1837113"/>
            <a:ext cx="2387705" cy="400110"/>
          </a:xfrm>
          <a:prstGeom prst="rect">
            <a:avLst/>
          </a:prstGeom>
          <a:noFill/>
        </p:spPr>
        <p:txBody>
          <a:bodyPr wrap="none" rtlCol="0">
            <a:spAutoFit/>
          </a:bodyPr>
          <a:lstStyle/>
          <a:p>
            <a:r>
              <a:rPr lang="en-US" sz="2000" b="1" dirty="0"/>
              <a:t>Research life cycle</a:t>
            </a:r>
          </a:p>
        </p:txBody>
      </p:sp>
    </p:spTree>
    <p:extLst>
      <p:ext uri="{BB962C8B-B14F-4D97-AF65-F5344CB8AC3E}">
        <p14:creationId xmlns:p14="http://schemas.microsoft.com/office/powerpoint/2010/main" val="15669193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61A98-1E73-2399-6877-B848697437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FF3673-FEED-C4AB-35D5-13CD47691985}"/>
              </a:ext>
            </a:extLst>
          </p:cNvPr>
          <p:cNvSpPr>
            <a:spLocks noGrp="1"/>
          </p:cNvSpPr>
          <p:nvPr>
            <p:ph type="title"/>
          </p:nvPr>
        </p:nvSpPr>
        <p:spPr>
          <a:xfrm>
            <a:off x="0" y="140790"/>
            <a:ext cx="12192000" cy="819599"/>
          </a:xfrm>
        </p:spPr>
        <p:txBody>
          <a:bodyPr>
            <a:normAutofit fontScale="90000"/>
          </a:bodyPr>
          <a:lstStyle/>
          <a:p>
            <a:r>
              <a:rPr lang="en-US" b="1" dirty="0"/>
              <a:t>A practical challenge in Open Science: building accessible and sustainable infrastructure </a:t>
            </a:r>
          </a:p>
        </p:txBody>
      </p:sp>
      <p:grpSp>
        <p:nvGrpSpPr>
          <p:cNvPr id="11" name="Group 10">
            <a:extLst>
              <a:ext uri="{FF2B5EF4-FFF2-40B4-BE49-F238E27FC236}">
                <a16:creationId xmlns:a16="http://schemas.microsoft.com/office/drawing/2014/main" id="{712464C1-4F2D-685C-12AA-6EDB30B24EDC}"/>
              </a:ext>
            </a:extLst>
          </p:cNvPr>
          <p:cNvGrpSpPr/>
          <p:nvPr/>
        </p:nvGrpSpPr>
        <p:grpSpPr>
          <a:xfrm>
            <a:off x="10644280" y="6476875"/>
            <a:ext cx="1474613" cy="325672"/>
            <a:chOff x="19317" y="2690018"/>
            <a:chExt cx="11784755" cy="2025180"/>
          </a:xfrm>
        </p:grpSpPr>
        <p:pic>
          <p:nvPicPr>
            <p:cNvPr id="12" name="Picture 2">
              <a:extLst>
                <a:ext uri="{FF2B5EF4-FFF2-40B4-BE49-F238E27FC236}">
                  <a16:creationId xmlns:a16="http://schemas.microsoft.com/office/drawing/2014/main" id="{AA05BF4E-C2A3-A011-50CF-2ED8E5B377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FE085675-DB4E-9414-100B-66D54BCD9646}"/>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3" name="Slide Number Placeholder 2">
            <a:extLst>
              <a:ext uri="{FF2B5EF4-FFF2-40B4-BE49-F238E27FC236}">
                <a16:creationId xmlns:a16="http://schemas.microsoft.com/office/drawing/2014/main" id="{6F7A14D6-37BA-82BA-506F-3BB6AC25DBB4}"/>
              </a:ext>
            </a:extLst>
          </p:cNvPr>
          <p:cNvSpPr>
            <a:spLocks noGrp="1"/>
          </p:cNvSpPr>
          <p:nvPr>
            <p:ph type="sldNum" sz="quarter" idx="12"/>
          </p:nvPr>
        </p:nvSpPr>
        <p:spPr>
          <a:xfrm>
            <a:off x="10268464" y="6356350"/>
            <a:ext cx="1085335" cy="365125"/>
          </a:xfrm>
        </p:spPr>
        <p:txBody>
          <a:bodyPr/>
          <a:lstStyle/>
          <a:p>
            <a:fld id="{D292B180-B274-DE43-B36F-C827C7616C05}" type="slidenum">
              <a:rPr lang="en-US" smtClean="0"/>
              <a:t>38</a:t>
            </a:fld>
            <a:endParaRPr lang="en-US" dirty="0"/>
          </a:p>
        </p:txBody>
      </p:sp>
      <p:pic>
        <p:nvPicPr>
          <p:cNvPr id="7" name="Graphic 6" descr="Gears with solid fill">
            <a:extLst>
              <a:ext uri="{FF2B5EF4-FFF2-40B4-BE49-F238E27FC236}">
                <a16:creationId xmlns:a16="http://schemas.microsoft.com/office/drawing/2014/main" id="{564A856F-033B-AD0F-9835-0C6C1078EA9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617288" y="16496"/>
            <a:ext cx="1261475" cy="1261475"/>
          </a:xfrm>
          <a:prstGeom prst="rect">
            <a:avLst/>
          </a:prstGeom>
        </p:spPr>
      </p:pic>
      <p:sp>
        <p:nvSpPr>
          <p:cNvPr id="26" name="TextBox 25">
            <a:extLst>
              <a:ext uri="{FF2B5EF4-FFF2-40B4-BE49-F238E27FC236}">
                <a16:creationId xmlns:a16="http://schemas.microsoft.com/office/drawing/2014/main" id="{5AFADA00-D1AE-21EA-C67C-173A10D35466}"/>
              </a:ext>
            </a:extLst>
          </p:cNvPr>
          <p:cNvSpPr txBox="1"/>
          <p:nvPr/>
        </p:nvSpPr>
        <p:spPr>
          <a:xfrm>
            <a:off x="129832" y="2045468"/>
            <a:ext cx="6096156" cy="3046988"/>
          </a:xfrm>
          <a:prstGeom prst="rect">
            <a:avLst/>
          </a:prstGeom>
          <a:noFill/>
        </p:spPr>
        <p:txBody>
          <a:bodyPr wrap="square" rtlCol="0">
            <a:spAutoFit/>
          </a:bodyPr>
          <a:lstStyle/>
          <a:p>
            <a:r>
              <a:rPr lang="en-US" sz="2400" dirty="0"/>
              <a:t>Stepping into the infrastructure school (</a:t>
            </a:r>
            <a:r>
              <a:rPr lang="en-US" sz="2400" dirty="0">
                <a:hlinkClick r:id="rId6"/>
              </a:rPr>
              <a:t>Fecher &amp; Friesike, 2014</a:t>
            </a:r>
            <a:r>
              <a:rPr lang="en-US" sz="2400" dirty="0"/>
              <a:t>), practical issues:</a:t>
            </a:r>
          </a:p>
          <a:p>
            <a:pPr marL="342900" indent="-342900">
              <a:buFont typeface="Arial" panose="020B0604020202020204" pitchFamily="34" charset="0"/>
              <a:buChar char="•"/>
            </a:pPr>
            <a:r>
              <a:rPr lang="en-US" sz="2400" b="1" dirty="0"/>
              <a:t>Funding </a:t>
            </a:r>
            <a:r>
              <a:rPr lang="en-US" sz="2400" dirty="0"/>
              <a:t>for</a:t>
            </a:r>
            <a:r>
              <a:rPr lang="en-US" sz="2400" b="1" dirty="0"/>
              <a:t> development</a:t>
            </a:r>
          </a:p>
          <a:p>
            <a:pPr marL="342900" indent="-342900">
              <a:buFont typeface="Arial" panose="020B0604020202020204" pitchFamily="34" charset="0"/>
              <a:buChar char="•"/>
            </a:pPr>
            <a:r>
              <a:rPr lang="en-US" sz="2400" b="1" dirty="0"/>
              <a:t>Monitoring </a:t>
            </a:r>
            <a:r>
              <a:rPr lang="en-US" sz="2400" dirty="0"/>
              <a:t>and</a:t>
            </a:r>
            <a:r>
              <a:rPr lang="en-US" sz="2400" b="1" dirty="0"/>
              <a:t> maintenance</a:t>
            </a:r>
          </a:p>
          <a:p>
            <a:pPr marL="342900" indent="-342900">
              <a:buFont typeface="Arial" panose="020B0604020202020204" pitchFamily="34" charset="0"/>
              <a:buChar char="•"/>
            </a:pPr>
            <a:r>
              <a:rPr lang="en-US" sz="2400" b="1" dirty="0"/>
              <a:t>Governance</a:t>
            </a:r>
          </a:p>
          <a:p>
            <a:pPr marL="342900" indent="-342900">
              <a:buFont typeface="Arial" panose="020B0604020202020204" pitchFamily="34" charset="0"/>
              <a:buChar char="•"/>
            </a:pPr>
            <a:r>
              <a:rPr lang="en-US" sz="2400" b="1" dirty="0"/>
              <a:t>FAIR (</a:t>
            </a:r>
            <a:r>
              <a:rPr lang="en-GB" sz="2400" b="1" dirty="0"/>
              <a:t>F</a:t>
            </a:r>
            <a:r>
              <a:rPr lang="en-GB" sz="2400" dirty="0"/>
              <a:t>indability, </a:t>
            </a:r>
            <a:r>
              <a:rPr lang="en-GB" sz="2400" b="1" dirty="0"/>
              <a:t>A</a:t>
            </a:r>
            <a:r>
              <a:rPr lang="en-GB" sz="2400" dirty="0"/>
              <a:t>ccessibility, </a:t>
            </a:r>
            <a:r>
              <a:rPr lang="en-GB" sz="2400" b="1" dirty="0"/>
              <a:t>I</a:t>
            </a:r>
            <a:r>
              <a:rPr lang="en-GB" sz="2400" dirty="0"/>
              <a:t>nteroperability, and </a:t>
            </a:r>
            <a:r>
              <a:rPr lang="en-GB" sz="2400" b="1" dirty="0"/>
              <a:t>R</a:t>
            </a:r>
            <a:r>
              <a:rPr lang="en-GB" sz="2400" dirty="0"/>
              <a:t>euse) </a:t>
            </a:r>
            <a:endParaRPr lang="en-US" sz="2400" b="1" dirty="0"/>
          </a:p>
          <a:p>
            <a:pPr marL="342900" indent="-342900">
              <a:buFont typeface="Arial" panose="020B0604020202020204" pitchFamily="34" charset="0"/>
              <a:buChar char="•"/>
            </a:pPr>
            <a:r>
              <a:rPr lang="en-US" sz="2400" b="1" dirty="0"/>
              <a:t>Global forces </a:t>
            </a:r>
            <a:r>
              <a:rPr lang="en-US" sz="2400" dirty="0"/>
              <a:t>(e.g. geopolitics)</a:t>
            </a:r>
          </a:p>
        </p:txBody>
      </p:sp>
      <p:pic>
        <p:nvPicPr>
          <p:cNvPr id="5" name="Picture 4">
            <a:extLst>
              <a:ext uri="{FF2B5EF4-FFF2-40B4-BE49-F238E27FC236}">
                <a16:creationId xmlns:a16="http://schemas.microsoft.com/office/drawing/2014/main" id="{4366619B-9254-DABF-924A-A8A302A8C21D}"/>
              </a:ext>
            </a:extLst>
          </p:cNvPr>
          <p:cNvPicPr>
            <a:picLocks noChangeAspect="1"/>
          </p:cNvPicPr>
          <p:nvPr/>
        </p:nvPicPr>
        <p:blipFill>
          <a:blip r:embed="rId7"/>
          <a:srcRect l="10664" t="11649" r="5650"/>
          <a:stretch>
            <a:fillRect/>
          </a:stretch>
        </p:blipFill>
        <p:spPr>
          <a:xfrm>
            <a:off x="7641257" y="2109073"/>
            <a:ext cx="3352799" cy="3219118"/>
          </a:xfrm>
          <a:prstGeom prst="rect">
            <a:avLst/>
          </a:prstGeom>
        </p:spPr>
      </p:pic>
      <p:sp>
        <p:nvSpPr>
          <p:cNvPr id="6" name="TextBox 5">
            <a:extLst>
              <a:ext uri="{FF2B5EF4-FFF2-40B4-BE49-F238E27FC236}">
                <a16:creationId xmlns:a16="http://schemas.microsoft.com/office/drawing/2014/main" id="{92C62B8E-DC1F-992D-E274-F4C43547895C}"/>
              </a:ext>
            </a:extLst>
          </p:cNvPr>
          <p:cNvSpPr txBox="1"/>
          <p:nvPr/>
        </p:nvSpPr>
        <p:spPr>
          <a:xfrm>
            <a:off x="8502368" y="5354403"/>
            <a:ext cx="1630575" cy="369332"/>
          </a:xfrm>
          <a:prstGeom prst="rect">
            <a:avLst/>
          </a:prstGeom>
          <a:noFill/>
        </p:spPr>
        <p:txBody>
          <a:bodyPr wrap="none" rtlCol="0">
            <a:spAutoFit/>
          </a:bodyPr>
          <a:lstStyle/>
          <a:p>
            <a:r>
              <a:rPr lang="en-US" dirty="0">
                <a:solidFill>
                  <a:schemeClr val="bg1">
                    <a:lumMod val="50000"/>
                  </a:schemeClr>
                </a:solidFill>
                <a:hlinkClick r:id="rId8"/>
              </a:rPr>
              <a:t>Ihle et al. 2026</a:t>
            </a:r>
            <a:endParaRPr lang="en-US" dirty="0">
              <a:solidFill>
                <a:schemeClr val="bg1">
                  <a:lumMod val="50000"/>
                </a:schemeClr>
              </a:solidFill>
            </a:endParaRPr>
          </a:p>
        </p:txBody>
      </p:sp>
      <p:sp>
        <p:nvSpPr>
          <p:cNvPr id="9" name="TextBox 8">
            <a:extLst>
              <a:ext uri="{FF2B5EF4-FFF2-40B4-BE49-F238E27FC236}">
                <a16:creationId xmlns:a16="http://schemas.microsoft.com/office/drawing/2014/main" id="{A03E752B-20F8-AA9B-21B1-97C4C58C2012}"/>
              </a:ext>
            </a:extLst>
          </p:cNvPr>
          <p:cNvSpPr txBox="1"/>
          <p:nvPr/>
        </p:nvSpPr>
        <p:spPr>
          <a:xfrm>
            <a:off x="8013038" y="1837113"/>
            <a:ext cx="2387705" cy="400110"/>
          </a:xfrm>
          <a:prstGeom prst="rect">
            <a:avLst/>
          </a:prstGeom>
          <a:noFill/>
        </p:spPr>
        <p:txBody>
          <a:bodyPr wrap="none" rtlCol="0">
            <a:spAutoFit/>
          </a:bodyPr>
          <a:lstStyle/>
          <a:p>
            <a:r>
              <a:rPr lang="en-US" sz="2000" b="1" dirty="0"/>
              <a:t>Research life cycle</a:t>
            </a:r>
          </a:p>
        </p:txBody>
      </p:sp>
      <p:sp>
        <p:nvSpPr>
          <p:cNvPr id="10" name="TextBox 9">
            <a:extLst>
              <a:ext uri="{FF2B5EF4-FFF2-40B4-BE49-F238E27FC236}">
                <a16:creationId xmlns:a16="http://schemas.microsoft.com/office/drawing/2014/main" id="{72F5118F-20BB-BC27-19FE-6DECD4229736}"/>
              </a:ext>
            </a:extLst>
          </p:cNvPr>
          <p:cNvSpPr txBox="1"/>
          <p:nvPr/>
        </p:nvSpPr>
        <p:spPr>
          <a:xfrm>
            <a:off x="22634" y="1134265"/>
            <a:ext cx="10971422" cy="830997"/>
          </a:xfrm>
          <a:prstGeom prst="rect">
            <a:avLst/>
          </a:prstGeom>
          <a:noFill/>
        </p:spPr>
        <p:txBody>
          <a:bodyPr wrap="square" rtlCol="0">
            <a:spAutoFit/>
          </a:bodyPr>
          <a:lstStyle/>
          <a:p>
            <a:r>
              <a:rPr lang="en-US" sz="2400" dirty="0"/>
              <a:t>There are</a:t>
            </a:r>
            <a:r>
              <a:rPr lang="en-US" sz="2400" b="1" dirty="0"/>
              <a:t> technical</a:t>
            </a:r>
            <a:r>
              <a:rPr lang="en-US" sz="2400" dirty="0"/>
              <a:t> and </a:t>
            </a:r>
            <a:r>
              <a:rPr lang="en-US" sz="2400" b="1" dirty="0"/>
              <a:t>organizational infrastructure </a:t>
            </a:r>
            <a:r>
              <a:rPr lang="en-US" sz="2400" dirty="0"/>
              <a:t>challenges in supporting researchers adopt Open Science practices across the research life cycle.</a:t>
            </a:r>
          </a:p>
        </p:txBody>
      </p:sp>
    </p:spTree>
    <p:extLst>
      <p:ext uri="{BB962C8B-B14F-4D97-AF65-F5344CB8AC3E}">
        <p14:creationId xmlns:p14="http://schemas.microsoft.com/office/powerpoint/2010/main" val="12464225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981DF-8150-8B20-5A67-ADD7405B9C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15B714-046C-F824-1539-ADF3C856D1B7}"/>
              </a:ext>
            </a:extLst>
          </p:cNvPr>
          <p:cNvSpPr>
            <a:spLocks noGrp="1"/>
          </p:cNvSpPr>
          <p:nvPr>
            <p:ph type="title"/>
          </p:nvPr>
        </p:nvSpPr>
        <p:spPr>
          <a:xfrm>
            <a:off x="0" y="140790"/>
            <a:ext cx="12192000" cy="819599"/>
          </a:xfrm>
        </p:spPr>
        <p:txBody>
          <a:bodyPr>
            <a:normAutofit fontScale="90000"/>
          </a:bodyPr>
          <a:lstStyle/>
          <a:p>
            <a:r>
              <a:rPr lang="en-US" b="1" dirty="0"/>
              <a:t>A practical challenge in Open Science: building accessible and sustainable infrastructure </a:t>
            </a:r>
          </a:p>
        </p:txBody>
      </p:sp>
      <p:grpSp>
        <p:nvGrpSpPr>
          <p:cNvPr id="11" name="Group 10">
            <a:extLst>
              <a:ext uri="{FF2B5EF4-FFF2-40B4-BE49-F238E27FC236}">
                <a16:creationId xmlns:a16="http://schemas.microsoft.com/office/drawing/2014/main" id="{F45FF52C-E840-8CB9-B01E-3BBBBAB2880E}"/>
              </a:ext>
            </a:extLst>
          </p:cNvPr>
          <p:cNvGrpSpPr/>
          <p:nvPr/>
        </p:nvGrpSpPr>
        <p:grpSpPr>
          <a:xfrm>
            <a:off x="10644280" y="6476875"/>
            <a:ext cx="1474613" cy="325672"/>
            <a:chOff x="19317" y="2690018"/>
            <a:chExt cx="11784755" cy="2025180"/>
          </a:xfrm>
        </p:grpSpPr>
        <p:pic>
          <p:nvPicPr>
            <p:cNvPr id="12" name="Picture 2">
              <a:extLst>
                <a:ext uri="{FF2B5EF4-FFF2-40B4-BE49-F238E27FC236}">
                  <a16:creationId xmlns:a16="http://schemas.microsoft.com/office/drawing/2014/main" id="{BB5D9E43-F5B5-972A-EEDA-EDA8073387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5EC9149E-FB82-1A06-6EF5-6D917B333B6E}"/>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3" name="Slide Number Placeholder 2">
            <a:extLst>
              <a:ext uri="{FF2B5EF4-FFF2-40B4-BE49-F238E27FC236}">
                <a16:creationId xmlns:a16="http://schemas.microsoft.com/office/drawing/2014/main" id="{63E29A8D-286F-3FAB-90BF-8F81F7C92140}"/>
              </a:ext>
            </a:extLst>
          </p:cNvPr>
          <p:cNvSpPr>
            <a:spLocks noGrp="1"/>
          </p:cNvSpPr>
          <p:nvPr>
            <p:ph type="sldNum" sz="quarter" idx="12"/>
          </p:nvPr>
        </p:nvSpPr>
        <p:spPr>
          <a:xfrm>
            <a:off x="10268464" y="6356350"/>
            <a:ext cx="1085335" cy="365125"/>
          </a:xfrm>
        </p:spPr>
        <p:txBody>
          <a:bodyPr/>
          <a:lstStyle/>
          <a:p>
            <a:fld id="{D292B180-B274-DE43-B36F-C827C7616C05}" type="slidenum">
              <a:rPr lang="en-US" smtClean="0"/>
              <a:t>39</a:t>
            </a:fld>
            <a:endParaRPr lang="en-US" dirty="0"/>
          </a:p>
        </p:txBody>
      </p:sp>
      <p:pic>
        <p:nvPicPr>
          <p:cNvPr id="7" name="Graphic 6" descr="Gears with solid fill">
            <a:extLst>
              <a:ext uri="{FF2B5EF4-FFF2-40B4-BE49-F238E27FC236}">
                <a16:creationId xmlns:a16="http://schemas.microsoft.com/office/drawing/2014/main" id="{CD457E3D-2297-201B-FDA6-2DF3C83DC45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617288" y="16496"/>
            <a:ext cx="1261475" cy="1261475"/>
          </a:xfrm>
          <a:prstGeom prst="rect">
            <a:avLst/>
          </a:prstGeom>
        </p:spPr>
      </p:pic>
      <p:pic>
        <p:nvPicPr>
          <p:cNvPr id="20" name="Picture 2">
            <a:extLst>
              <a:ext uri="{FF2B5EF4-FFF2-40B4-BE49-F238E27FC236}">
                <a16:creationId xmlns:a16="http://schemas.microsoft.com/office/drawing/2014/main" id="{F701242F-C0CA-52DC-EC73-E5DDEEEF7D5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73084" y="2773022"/>
            <a:ext cx="5577851" cy="2876080"/>
          </a:xfrm>
          <a:prstGeom prst="rect">
            <a:avLst/>
          </a:prstGeom>
          <a:noFill/>
          <a:ln w="47625">
            <a:solidFill>
              <a:srgbClr val="45B08B"/>
            </a:solidFill>
          </a:ln>
          <a:extLst>
            <a:ext uri="{909E8E84-426E-40DD-AFC4-6F175D3DCCD1}">
              <a14:hiddenFill xmlns:a14="http://schemas.microsoft.com/office/drawing/2010/main">
                <a:solidFill>
                  <a:srgbClr val="FFFFFF"/>
                </a:solidFill>
              </a14:hiddenFill>
            </a:ext>
          </a:extLst>
        </p:spPr>
      </p:pic>
      <p:pic>
        <p:nvPicPr>
          <p:cNvPr id="22" name="Graphic 21" descr="Arrow: Slight curve with solid fill">
            <a:extLst>
              <a:ext uri="{FF2B5EF4-FFF2-40B4-BE49-F238E27FC236}">
                <a16:creationId xmlns:a16="http://schemas.microsoft.com/office/drawing/2014/main" id="{078CC97F-3E2E-7E80-1046-E9A76593248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2369651">
            <a:off x="5076950" y="4366003"/>
            <a:ext cx="1308967" cy="1361866"/>
          </a:xfrm>
          <a:prstGeom prst="rect">
            <a:avLst/>
          </a:prstGeom>
        </p:spPr>
      </p:pic>
      <p:sp>
        <p:nvSpPr>
          <p:cNvPr id="23" name="TextBox 22">
            <a:extLst>
              <a:ext uri="{FF2B5EF4-FFF2-40B4-BE49-F238E27FC236}">
                <a16:creationId xmlns:a16="http://schemas.microsoft.com/office/drawing/2014/main" id="{9C212A6D-7FF7-6025-7239-A08D56D666DE}"/>
              </a:ext>
            </a:extLst>
          </p:cNvPr>
          <p:cNvSpPr txBox="1"/>
          <p:nvPr/>
        </p:nvSpPr>
        <p:spPr>
          <a:xfrm>
            <a:off x="6339840" y="2174171"/>
            <a:ext cx="5636905" cy="461665"/>
          </a:xfrm>
          <a:prstGeom prst="rect">
            <a:avLst/>
          </a:prstGeom>
          <a:solidFill>
            <a:srgbClr val="45B08B">
              <a:alpha val="25000"/>
            </a:srgbClr>
          </a:solidFill>
        </p:spPr>
        <p:txBody>
          <a:bodyPr wrap="square" rtlCol="0">
            <a:spAutoFit/>
          </a:bodyPr>
          <a:lstStyle/>
          <a:p>
            <a:pPr algn="ctr"/>
            <a:r>
              <a:rPr lang="en-US" sz="2400" b="1" dirty="0"/>
              <a:t>Culture change pyramid</a:t>
            </a:r>
          </a:p>
        </p:txBody>
      </p:sp>
      <p:sp>
        <p:nvSpPr>
          <p:cNvPr id="25" name="TextBox 24">
            <a:extLst>
              <a:ext uri="{FF2B5EF4-FFF2-40B4-BE49-F238E27FC236}">
                <a16:creationId xmlns:a16="http://schemas.microsoft.com/office/drawing/2014/main" id="{563396B9-B432-AF38-548A-1E0410323138}"/>
              </a:ext>
            </a:extLst>
          </p:cNvPr>
          <p:cNvSpPr txBox="1"/>
          <p:nvPr/>
        </p:nvSpPr>
        <p:spPr>
          <a:xfrm>
            <a:off x="9161909" y="5761761"/>
            <a:ext cx="3664294" cy="369332"/>
          </a:xfrm>
          <a:prstGeom prst="rect">
            <a:avLst/>
          </a:prstGeom>
          <a:noFill/>
        </p:spPr>
        <p:txBody>
          <a:bodyPr wrap="square">
            <a:spAutoFit/>
          </a:bodyPr>
          <a:lstStyle/>
          <a:p>
            <a:r>
              <a:rPr lang="en-US" dirty="0">
                <a:solidFill>
                  <a:schemeClr val="bg2">
                    <a:lumMod val="50000"/>
                  </a:schemeClr>
                </a:solidFill>
              </a:rPr>
              <a:t>Adapted from </a:t>
            </a:r>
            <a:r>
              <a:rPr lang="en-US" dirty="0">
                <a:solidFill>
                  <a:schemeClr val="bg2">
                    <a:lumMod val="50000"/>
                  </a:schemeClr>
                </a:solidFill>
                <a:hlinkClick r:id="rId8"/>
              </a:rPr>
              <a:t>Nosek (2019) </a:t>
            </a:r>
            <a:endParaRPr lang="en-US" dirty="0">
              <a:solidFill>
                <a:schemeClr val="bg2">
                  <a:lumMod val="50000"/>
                </a:schemeClr>
              </a:solidFill>
            </a:endParaRPr>
          </a:p>
        </p:txBody>
      </p:sp>
      <p:sp>
        <p:nvSpPr>
          <p:cNvPr id="26" name="TextBox 25">
            <a:extLst>
              <a:ext uri="{FF2B5EF4-FFF2-40B4-BE49-F238E27FC236}">
                <a16:creationId xmlns:a16="http://schemas.microsoft.com/office/drawing/2014/main" id="{7A223E6E-C984-F26F-E20C-921E1431E714}"/>
              </a:ext>
            </a:extLst>
          </p:cNvPr>
          <p:cNvSpPr txBox="1"/>
          <p:nvPr/>
        </p:nvSpPr>
        <p:spPr>
          <a:xfrm>
            <a:off x="129832" y="2045468"/>
            <a:ext cx="6096156" cy="3046988"/>
          </a:xfrm>
          <a:prstGeom prst="rect">
            <a:avLst/>
          </a:prstGeom>
          <a:noFill/>
        </p:spPr>
        <p:txBody>
          <a:bodyPr wrap="square" rtlCol="0">
            <a:spAutoFit/>
          </a:bodyPr>
          <a:lstStyle/>
          <a:p>
            <a:r>
              <a:rPr lang="en-US" sz="2400" dirty="0"/>
              <a:t>Stepping into the infrastructure school (</a:t>
            </a:r>
            <a:r>
              <a:rPr lang="en-US" sz="2400" dirty="0">
                <a:hlinkClick r:id="rId9"/>
              </a:rPr>
              <a:t>Fecher &amp; Friesike, 2014</a:t>
            </a:r>
            <a:r>
              <a:rPr lang="en-US" sz="2400" dirty="0"/>
              <a:t>), practical issues:</a:t>
            </a:r>
          </a:p>
          <a:p>
            <a:pPr marL="342900" indent="-342900">
              <a:buFont typeface="Arial" panose="020B0604020202020204" pitchFamily="34" charset="0"/>
              <a:buChar char="•"/>
            </a:pPr>
            <a:r>
              <a:rPr lang="en-US" sz="2400" b="1" dirty="0"/>
              <a:t>Funding </a:t>
            </a:r>
            <a:r>
              <a:rPr lang="en-US" sz="2400" dirty="0"/>
              <a:t>for</a:t>
            </a:r>
            <a:r>
              <a:rPr lang="en-US" sz="2400" b="1" dirty="0"/>
              <a:t> development</a:t>
            </a:r>
          </a:p>
          <a:p>
            <a:pPr marL="342900" indent="-342900">
              <a:buFont typeface="Arial" panose="020B0604020202020204" pitchFamily="34" charset="0"/>
              <a:buChar char="•"/>
            </a:pPr>
            <a:r>
              <a:rPr lang="en-US" sz="2400" b="1" dirty="0"/>
              <a:t>Monitoring </a:t>
            </a:r>
            <a:r>
              <a:rPr lang="en-US" sz="2400" dirty="0"/>
              <a:t>and</a:t>
            </a:r>
            <a:r>
              <a:rPr lang="en-US" sz="2400" b="1" dirty="0"/>
              <a:t> maintenance</a:t>
            </a:r>
          </a:p>
          <a:p>
            <a:pPr marL="342900" indent="-342900">
              <a:buFont typeface="Arial" panose="020B0604020202020204" pitchFamily="34" charset="0"/>
              <a:buChar char="•"/>
            </a:pPr>
            <a:r>
              <a:rPr lang="en-US" sz="2400" b="1" dirty="0"/>
              <a:t>Governance</a:t>
            </a:r>
          </a:p>
          <a:p>
            <a:pPr marL="342900" indent="-342900">
              <a:buFont typeface="Arial" panose="020B0604020202020204" pitchFamily="34" charset="0"/>
              <a:buChar char="•"/>
            </a:pPr>
            <a:r>
              <a:rPr lang="en-US" sz="2400" b="1" dirty="0"/>
              <a:t>FAIR (</a:t>
            </a:r>
            <a:r>
              <a:rPr lang="en-GB" sz="2400" b="1" dirty="0"/>
              <a:t>F</a:t>
            </a:r>
            <a:r>
              <a:rPr lang="en-GB" sz="2400" dirty="0"/>
              <a:t>indability, </a:t>
            </a:r>
            <a:r>
              <a:rPr lang="en-GB" sz="2400" b="1" dirty="0"/>
              <a:t>A</a:t>
            </a:r>
            <a:r>
              <a:rPr lang="en-GB" sz="2400" dirty="0"/>
              <a:t>ccessibility, </a:t>
            </a:r>
            <a:r>
              <a:rPr lang="en-GB" sz="2400" b="1" dirty="0"/>
              <a:t>I</a:t>
            </a:r>
            <a:r>
              <a:rPr lang="en-GB" sz="2400" dirty="0"/>
              <a:t>nteroperability, and </a:t>
            </a:r>
            <a:r>
              <a:rPr lang="en-GB" sz="2400" b="1" dirty="0"/>
              <a:t>R</a:t>
            </a:r>
            <a:r>
              <a:rPr lang="en-GB" sz="2400" dirty="0"/>
              <a:t>euse) </a:t>
            </a:r>
            <a:endParaRPr lang="en-US" sz="2400" b="1" dirty="0"/>
          </a:p>
          <a:p>
            <a:pPr marL="342900" indent="-342900">
              <a:buFont typeface="Arial" panose="020B0604020202020204" pitchFamily="34" charset="0"/>
              <a:buChar char="•"/>
            </a:pPr>
            <a:r>
              <a:rPr lang="en-US" sz="2400" b="1" dirty="0"/>
              <a:t>Global forces </a:t>
            </a:r>
            <a:r>
              <a:rPr lang="en-US" sz="2400" dirty="0"/>
              <a:t>(e.g. geopolitics)</a:t>
            </a:r>
          </a:p>
        </p:txBody>
      </p:sp>
      <p:sp>
        <p:nvSpPr>
          <p:cNvPr id="5" name="TextBox 4">
            <a:extLst>
              <a:ext uri="{FF2B5EF4-FFF2-40B4-BE49-F238E27FC236}">
                <a16:creationId xmlns:a16="http://schemas.microsoft.com/office/drawing/2014/main" id="{5DD2EBB2-8E26-07B9-C95F-537C94C1ACAA}"/>
              </a:ext>
            </a:extLst>
          </p:cNvPr>
          <p:cNvSpPr txBox="1"/>
          <p:nvPr/>
        </p:nvSpPr>
        <p:spPr>
          <a:xfrm>
            <a:off x="22634" y="1134265"/>
            <a:ext cx="10971422" cy="830997"/>
          </a:xfrm>
          <a:prstGeom prst="rect">
            <a:avLst/>
          </a:prstGeom>
          <a:noFill/>
        </p:spPr>
        <p:txBody>
          <a:bodyPr wrap="square" rtlCol="0">
            <a:spAutoFit/>
          </a:bodyPr>
          <a:lstStyle/>
          <a:p>
            <a:r>
              <a:rPr lang="en-US" sz="2400" dirty="0"/>
              <a:t>There are</a:t>
            </a:r>
            <a:r>
              <a:rPr lang="en-US" sz="2400" b="1" dirty="0"/>
              <a:t> technical</a:t>
            </a:r>
            <a:r>
              <a:rPr lang="en-US" sz="2400" dirty="0"/>
              <a:t> and </a:t>
            </a:r>
            <a:r>
              <a:rPr lang="en-US" sz="2400" b="1" dirty="0"/>
              <a:t>organizational infrastructure </a:t>
            </a:r>
            <a:r>
              <a:rPr lang="en-US" sz="2400" dirty="0"/>
              <a:t>challenges in supporting researchers adopt Open Science practices across the research life cycle.</a:t>
            </a:r>
          </a:p>
        </p:txBody>
      </p:sp>
    </p:spTree>
    <p:extLst>
      <p:ext uri="{BB962C8B-B14F-4D97-AF65-F5344CB8AC3E}">
        <p14:creationId xmlns:p14="http://schemas.microsoft.com/office/powerpoint/2010/main" val="30750224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E6283-BE85-74AD-2A2B-5060C54D50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5A77FB-F843-7726-E6B1-44C170A78F97}"/>
              </a:ext>
            </a:extLst>
          </p:cNvPr>
          <p:cNvSpPr>
            <a:spLocks noGrp="1"/>
          </p:cNvSpPr>
          <p:nvPr>
            <p:ph type="title"/>
          </p:nvPr>
        </p:nvSpPr>
        <p:spPr>
          <a:xfrm>
            <a:off x="0" y="140790"/>
            <a:ext cx="12192000" cy="819599"/>
          </a:xfrm>
        </p:spPr>
        <p:txBody>
          <a:bodyPr>
            <a:normAutofit fontScale="90000"/>
          </a:bodyPr>
          <a:lstStyle/>
          <a:p>
            <a:r>
              <a:rPr lang="en-US" b="1" dirty="0"/>
              <a:t>A practical challenge in Open Science: building accessible and sustainable infrastructure </a:t>
            </a:r>
          </a:p>
        </p:txBody>
      </p:sp>
      <p:grpSp>
        <p:nvGrpSpPr>
          <p:cNvPr id="11" name="Group 10">
            <a:extLst>
              <a:ext uri="{FF2B5EF4-FFF2-40B4-BE49-F238E27FC236}">
                <a16:creationId xmlns:a16="http://schemas.microsoft.com/office/drawing/2014/main" id="{1E67512C-490A-7AB6-0327-A14775B02FBD}"/>
              </a:ext>
            </a:extLst>
          </p:cNvPr>
          <p:cNvGrpSpPr/>
          <p:nvPr/>
        </p:nvGrpSpPr>
        <p:grpSpPr>
          <a:xfrm>
            <a:off x="10644280" y="6476875"/>
            <a:ext cx="1474613" cy="325672"/>
            <a:chOff x="19317" y="2690018"/>
            <a:chExt cx="11784755" cy="2025180"/>
          </a:xfrm>
        </p:grpSpPr>
        <p:pic>
          <p:nvPicPr>
            <p:cNvPr id="12" name="Picture 2">
              <a:extLst>
                <a:ext uri="{FF2B5EF4-FFF2-40B4-BE49-F238E27FC236}">
                  <a16:creationId xmlns:a16="http://schemas.microsoft.com/office/drawing/2014/main" id="{7A5866DF-3ED2-2627-39B0-EB20F495E3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2F737273-825F-F995-B4E3-D477C298C122}"/>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3" name="Slide Number Placeholder 2">
            <a:extLst>
              <a:ext uri="{FF2B5EF4-FFF2-40B4-BE49-F238E27FC236}">
                <a16:creationId xmlns:a16="http://schemas.microsoft.com/office/drawing/2014/main" id="{7221EDA7-2D1C-EC68-3B48-F172D18A95C8}"/>
              </a:ext>
            </a:extLst>
          </p:cNvPr>
          <p:cNvSpPr>
            <a:spLocks noGrp="1"/>
          </p:cNvSpPr>
          <p:nvPr>
            <p:ph type="sldNum" sz="quarter" idx="12"/>
          </p:nvPr>
        </p:nvSpPr>
        <p:spPr>
          <a:xfrm>
            <a:off x="10268464" y="6356350"/>
            <a:ext cx="1085335" cy="365125"/>
          </a:xfrm>
        </p:spPr>
        <p:txBody>
          <a:bodyPr/>
          <a:lstStyle/>
          <a:p>
            <a:fld id="{D292B180-B274-DE43-B36F-C827C7616C05}" type="slidenum">
              <a:rPr lang="en-US" smtClean="0"/>
              <a:t>40</a:t>
            </a:fld>
            <a:endParaRPr lang="en-US" dirty="0"/>
          </a:p>
        </p:txBody>
      </p:sp>
      <p:pic>
        <p:nvPicPr>
          <p:cNvPr id="7" name="Graphic 6" descr="Gears with solid fill">
            <a:extLst>
              <a:ext uri="{FF2B5EF4-FFF2-40B4-BE49-F238E27FC236}">
                <a16:creationId xmlns:a16="http://schemas.microsoft.com/office/drawing/2014/main" id="{999A2F53-AE18-5379-6903-3BAB4A1FB14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617288" y="16496"/>
            <a:ext cx="1261475" cy="1261475"/>
          </a:xfrm>
          <a:prstGeom prst="rect">
            <a:avLst/>
          </a:prstGeom>
        </p:spPr>
      </p:pic>
      <p:sp>
        <p:nvSpPr>
          <p:cNvPr id="15" name="TextBox 14">
            <a:extLst>
              <a:ext uri="{FF2B5EF4-FFF2-40B4-BE49-F238E27FC236}">
                <a16:creationId xmlns:a16="http://schemas.microsoft.com/office/drawing/2014/main" id="{95C16CE0-60F3-4BF3-8541-3B10016F617D}"/>
              </a:ext>
            </a:extLst>
          </p:cNvPr>
          <p:cNvSpPr txBox="1"/>
          <p:nvPr/>
        </p:nvSpPr>
        <p:spPr>
          <a:xfrm>
            <a:off x="292335" y="6405464"/>
            <a:ext cx="9516644" cy="369332"/>
          </a:xfrm>
          <a:prstGeom prst="rect">
            <a:avLst/>
          </a:prstGeom>
          <a:noFill/>
        </p:spPr>
        <p:txBody>
          <a:bodyPr wrap="none" rtlCol="0">
            <a:spAutoFit/>
          </a:bodyPr>
          <a:lstStyle/>
          <a:p>
            <a:r>
              <a:rPr lang="en-US" dirty="0"/>
              <a:t>See Principles of Open Scholarly Infrastructure (POSI) </a:t>
            </a:r>
            <a:r>
              <a:rPr lang="en-US" dirty="0">
                <a:hlinkClick r:id="rId6"/>
              </a:rPr>
              <a:t>https://openscholarlyinfrastructure.org/</a:t>
            </a:r>
            <a:r>
              <a:rPr lang="en-US" dirty="0"/>
              <a:t>  </a:t>
            </a:r>
          </a:p>
        </p:txBody>
      </p:sp>
      <p:pic>
        <p:nvPicPr>
          <p:cNvPr id="20" name="Picture 2">
            <a:extLst>
              <a:ext uri="{FF2B5EF4-FFF2-40B4-BE49-F238E27FC236}">
                <a16:creationId xmlns:a16="http://schemas.microsoft.com/office/drawing/2014/main" id="{5C6CCC47-9F1B-FA41-07A5-01BD1CF7F51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73084" y="2773022"/>
            <a:ext cx="5577851" cy="2876080"/>
          </a:xfrm>
          <a:prstGeom prst="rect">
            <a:avLst/>
          </a:prstGeom>
          <a:noFill/>
          <a:ln w="47625">
            <a:solidFill>
              <a:srgbClr val="45B08B"/>
            </a:solidFill>
          </a:ln>
          <a:extLst>
            <a:ext uri="{909E8E84-426E-40DD-AFC4-6F175D3DCCD1}">
              <a14:hiddenFill xmlns:a14="http://schemas.microsoft.com/office/drawing/2010/main">
                <a:solidFill>
                  <a:srgbClr val="FFFFFF"/>
                </a:solidFill>
              </a14:hiddenFill>
            </a:ext>
          </a:extLst>
        </p:spPr>
      </p:pic>
      <p:pic>
        <p:nvPicPr>
          <p:cNvPr id="22" name="Graphic 21" descr="Arrow: Slight curve with solid fill">
            <a:extLst>
              <a:ext uri="{FF2B5EF4-FFF2-40B4-BE49-F238E27FC236}">
                <a16:creationId xmlns:a16="http://schemas.microsoft.com/office/drawing/2014/main" id="{3CFEFA98-367D-CD29-39D2-06789948F29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rot="2369651">
            <a:off x="5076950" y="4366003"/>
            <a:ext cx="1308967" cy="1361866"/>
          </a:xfrm>
          <a:prstGeom prst="rect">
            <a:avLst/>
          </a:prstGeom>
        </p:spPr>
      </p:pic>
      <p:sp>
        <p:nvSpPr>
          <p:cNvPr id="23" name="TextBox 22">
            <a:extLst>
              <a:ext uri="{FF2B5EF4-FFF2-40B4-BE49-F238E27FC236}">
                <a16:creationId xmlns:a16="http://schemas.microsoft.com/office/drawing/2014/main" id="{F635ED6E-F72E-7C0D-0131-323AE4084507}"/>
              </a:ext>
            </a:extLst>
          </p:cNvPr>
          <p:cNvSpPr txBox="1"/>
          <p:nvPr/>
        </p:nvSpPr>
        <p:spPr>
          <a:xfrm>
            <a:off x="6339840" y="2174171"/>
            <a:ext cx="5636905" cy="461665"/>
          </a:xfrm>
          <a:prstGeom prst="rect">
            <a:avLst/>
          </a:prstGeom>
          <a:solidFill>
            <a:srgbClr val="45B08B">
              <a:alpha val="25000"/>
            </a:srgbClr>
          </a:solidFill>
        </p:spPr>
        <p:txBody>
          <a:bodyPr wrap="square" rtlCol="0">
            <a:spAutoFit/>
          </a:bodyPr>
          <a:lstStyle/>
          <a:p>
            <a:pPr algn="ctr"/>
            <a:r>
              <a:rPr lang="en-US" sz="2400" b="1" dirty="0"/>
              <a:t>Culture change pyramid</a:t>
            </a:r>
          </a:p>
        </p:txBody>
      </p:sp>
      <p:sp>
        <p:nvSpPr>
          <p:cNvPr id="26" name="TextBox 25">
            <a:extLst>
              <a:ext uri="{FF2B5EF4-FFF2-40B4-BE49-F238E27FC236}">
                <a16:creationId xmlns:a16="http://schemas.microsoft.com/office/drawing/2014/main" id="{65D278B2-635D-9862-4289-FFEFE6FE1AD3}"/>
              </a:ext>
            </a:extLst>
          </p:cNvPr>
          <p:cNvSpPr txBox="1"/>
          <p:nvPr/>
        </p:nvSpPr>
        <p:spPr>
          <a:xfrm>
            <a:off x="129832" y="2045468"/>
            <a:ext cx="6096156" cy="3046988"/>
          </a:xfrm>
          <a:prstGeom prst="rect">
            <a:avLst/>
          </a:prstGeom>
          <a:noFill/>
        </p:spPr>
        <p:txBody>
          <a:bodyPr wrap="square" rtlCol="0">
            <a:spAutoFit/>
          </a:bodyPr>
          <a:lstStyle/>
          <a:p>
            <a:r>
              <a:rPr lang="en-US" sz="2400" dirty="0"/>
              <a:t>Stepping into the infrastructure school (</a:t>
            </a:r>
            <a:r>
              <a:rPr lang="en-US" sz="2400" dirty="0">
                <a:hlinkClick r:id="rId9"/>
              </a:rPr>
              <a:t>Fecher &amp; Friesike, 2014</a:t>
            </a:r>
            <a:r>
              <a:rPr lang="en-US" sz="2400" dirty="0"/>
              <a:t>), practical issues:</a:t>
            </a:r>
          </a:p>
          <a:p>
            <a:pPr marL="342900" indent="-342900">
              <a:buFont typeface="Arial" panose="020B0604020202020204" pitchFamily="34" charset="0"/>
              <a:buChar char="•"/>
            </a:pPr>
            <a:r>
              <a:rPr lang="en-US" sz="2400" b="1" dirty="0"/>
              <a:t>Funding </a:t>
            </a:r>
            <a:r>
              <a:rPr lang="en-US" sz="2400" dirty="0"/>
              <a:t>for</a:t>
            </a:r>
            <a:r>
              <a:rPr lang="en-US" sz="2400" b="1" dirty="0"/>
              <a:t> development</a:t>
            </a:r>
          </a:p>
          <a:p>
            <a:pPr marL="342900" indent="-342900">
              <a:buFont typeface="Arial" panose="020B0604020202020204" pitchFamily="34" charset="0"/>
              <a:buChar char="•"/>
            </a:pPr>
            <a:r>
              <a:rPr lang="en-US" sz="2400" b="1" dirty="0"/>
              <a:t>Monitoring </a:t>
            </a:r>
            <a:r>
              <a:rPr lang="en-US" sz="2400" dirty="0"/>
              <a:t>and</a:t>
            </a:r>
            <a:r>
              <a:rPr lang="en-US" sz="2400" b="1" dirty="0"/>
              <a:t> maintenance</a:t>
            </a:r>
          </a:p>
          <a:p>
            <a:pPr marL="342900" indent="-342900">
              <a:buFont typeface="Arial" panose="020B0604020202020204" pitchFamily="34" charset="0"/>
              <a:buChar char="•"/>
            </a:pPr>
            <a:r>
              <a:rPr lang="en-US" sz="2400" b="1" dirty="0"/>
              <a:t>Governance</a:t>
            </a:r>
          </a:p>
          <a:p>
            <a:pPr marL="342900" indent="-342900">
              <a:buFont typeface="Arial" panose="020B0604020202020204" pitchFamily="34" charset="0"/>
              <a:buChar char="•"/>
            </a:pPr>
            <a:r>
              <a:rPr lang="en-US" sz="2400" b="1" dirty="0"/>
              <a:t>FAIR (</a:t>
            </a:r>
            <a:r>
              <a:rPr lang="en-GB" sz="2400" b="1" dirty="0"/>
              <a:t>F</a:t>
            </a:r>
            <a:r>
              <a:rPr lang="en-GB" sz="2400" dirty="0"/>
              <a:t>indability, </a:t>
            </a:r>
            <a:r>
              <a:rPr lang="en-GB" sz="2400" b="1" dirty="0"/>
              <a:t>A</a:t>
            </a:r>
            <a:r>
              <a:rPr lang="en-GB" sz="2400" dirty="0"/>
              <a:t>ccessibility, </a:t>
            </a:r>
            <a:r>
              <a:rPr lang="en-GB" sz="2400" b="1" dirty="0"/>
              <a:t>I</a:t>
            </a:r>
            <a:r>
              <a:rPr lang="en-GB" sz="2400" dirty="0"/>
              <a:t>nteroperability, and </a:t>
            </a:r>
            <a:r>
              <a:rPr lang="en-GB" sz="2400" b="1" dirty="0"/>
              <a:t>R</a:t>
            </a:r>
            <a:r>
              <a:rPr lang="en-GB" sz="2400" dirty="0"/>
              <a:t>euse) </a:t>
            </a:r>
            <a:endParaRPr lang="en-US" sz="2400" b="1" dirty="0"/>
          </a:p>
          <a:p>
            <a:pPr marL="342900" indent="-342900">
              <a:buFont typeface="Arial" panose="020B0604020202020204" pitchFamily="34" charset="0"/>
              <a:buChar char="•"/>
            </a:pPr>
            <a:r>
              <a:rPr lang="en-US" sz="2400" b="1" dirty="0"/>
              <a:t>Global forces </a:t>
            </a:r>
            <a:r>
              <a:rPr lang="en-US" sz="2400" dirty="0"/>
              <a:t>(e.g. geopolitics)</a:t>
            </a:r>
          </a:p>
        </p:txBody>
      </p:sp>
      <p:sp>
        <p:nvSpPr>
          <p:cNvPr id="5" name="TextBox 4">
            <a:extLst>
              <a:ext uri="{FF2B5EF4-FFF2-40B4-BE49-F238E27FC236}">
                <a16:creationId xmlns:a16="http://schemas.microsoft.com/office/drawing/2014/main" id="{7D08B927-B98C-9ED6-A082-F9714EB26E50}"/>
              </a:ext>
            </a:extLst>
          </p:cNvPr>
          <p:cNvSpPr txBox="1"/>
          <p:nvPr/>
        </p:nvSpPr>
        <p:spPr>
          <a:xfrm>
            <a:off x="241065" y="5340687"/>
            <a:ext cx="5396129" cy="1015663"/>
          </a:xfrm>
          <a:prstGeom prst="rect">
            <a:avLst/>
          </a:prstGeom>
          <a:solidFill>
            <a:schemeClr val="bg2">
              <a:lumMod val="90000"/>
              <a:alpha val="40848"/>
            </a:schemeClr>
          </a:solidFill>
        </p:spPr>
        <p:txBody>
          <a:bodyPr wrap="square" rtlCol="0">
            <a:spAutoFit/>
          </a:bodyPr>
          <a:lstStyle/>
          <a:p>
            <a:r>
              <a:rPr lang="en-US" sz="2000" b="1" dirty="0"/>
              <a:t>Note: </a:t>
            </a:r>
            <a:r>
              <a:rPr lang="en-US" sz="2000" dirty="0"/>
              <a:t>Culture change pyramid has been critiqued due to overemphasis of infrastructure as a technical issue issue in Open Science. </a:t>
            </a:r>
          </a:p>
        </p:txBody>
      </p:sp>
      <p:sp>
        <p:nvSpPr>
          <p:cNvPr id="6" name="TextBox 5">
            <a:extLst>
              <a:ext uri="{FF2B5EF4-FFF2-40B4-BE49-F238E27FC236}">
                <a16:creationId xmlns:a16="http://schemas.microsoft.com/office/drawing/2014/main" id="{656FE453-B28E-A4E5-FA85-52FF52C990F4}"/>
              </a:ext>
            </a:extLst>
          </p:cNvPr>
          <p:cNvSpPr txBox="1"/>
          <p:nvPr/>
        </p:nvSpPr>
        <p:spPr>
          <a:xfrm>
            <a:off x="22634" y="1134265"/>
            <a:ext cx="10971422" cy="830997"/>
          </a:xfrm>
          <a:prstGeom prst="rect">
            <a:avLst/>
          </a:prstGeom>
          <a:noFill/>
        </p:spPr>
        <p:txBody>
          <a:bodyPr wrap="square" rtlCol="0">
            <a:spAutoFit/>
          </a:bodyPr>
          <a:lstStyle/>
          <a:p>
            <a:r>
              <a:rPr lang="en-US" sz="2400" dirty="0"/>
              <a:t>There are</a:t>
            </a:r>
            <a:r>
              <a:rPr lang="en-US" sz="2400" b="1" dirty="0"/>
              <a:t> technical</a:t>
            </a:r>
            <a:r>
              <a:rPr lang="en-US" sz="2400" dirty="0"/>
              <a:t> and </a:t>
            </a:r>
            <a:r>
              <a:rPr lang="en-US" sz="2400" b="1" dirty="0"/>
              <a:t>organizational infrastructure </a:t>
            </a:r>
            <a:r>
              <a:rPr lang="en-US" sz="2400" dirty="0"/>
              <a:t>challenges in supporting researchers adopt Open Science practices across the research life cycle.</a:t>
            </a:r>
          </a:p>
        </p:txBody>
      </p:sp>
      <p:sp>
        <p:nvSpPr>
          <p:cNvPr id="4" name="TextBox 3">
            <a:extLst>
              <a:ext uri="{FF2B5EF4-FFF2-40B4-BE49-F238E27FC236}">
                <a16:creationId xmlns:a16="http://schemas.microsoft.com/office/drawing/2014/main" id="{627BE10E-BE35-833D-C5AA-644255C4693D}"/>
              </a:ext>
            </a:extLst>
          </p:cNvPr>
          <p:cNvSpPr txBox="1"/>
          <p:nvPr/>
        </p:nvSpPr>
        <p:spPr>
          <a:xfrm>
            <a:off x="9161909" y="5761761"/>
            <a:ext cx="3664294" cy="369332"/>
          </a:xfrm>
          <a:prstGeom prst="rect">
            <a:avLst/>
          </a:prstGeom>
          <a:noFill/>
        </p:spPr>
        <p:txBody>
          <a:bodyPr wrap="square">
            <a:spAutoFit/>
          </a:bodyPr>
          <a:lstStyle/>
          <a:p>
            <a:r>
              <a:rPr lang="en-US" dirty="0">
                <a:solidFill>
                  <a:schemeClr val="bg2">
                    <a:lumMod val="50000"/>
                  </a:schemeClr>
                </a:solidFill>
              </a:rPr>
              <a:t>Adapted from </a:t>
            </a:r>
            <a:r>
              <a:rPr lang="en-US" dirty="0">
                <a:solidFill>
                  <a:schemeClr val="bg2">
                    <a:lumMod val="50000"/>
                  </a:schemeClr>
                </a:solidFill>
                <a:hlinkClick r:id="rId10"/>
              </a:rPr>
              <a:t>Nosek (2019) </a:t>
            </a:r>
            <a:endParaRPr lang="en-US" dirty="0">
              <a:solidFill>
                <a:schemeClr val="bg2">
                  <a:lumMod val="50000"/>
                </a:schemeClr>
              </a:solidFill>
            </a:endParaRPr>
          </a:p>
        </p:txBody>
      </p:sp>
    </p:spTree>
    <p:extLst>
      <p:ext uri="{BB962C8B-B14F-4D97-AF65-F5344CB8AC3E}">
        <p14:creationId xmlns:p14="http://schemas.microsoft.com/office/powerpoint/2010/main" val="8452035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AD120-7924-2B08-FC98-DD5C2A2D7320}"/>
            </a:ext>
          </a:extLst>
        </p:cNvPr>
        <p:cNvGrpSpPr/>
        <p:nvPr/>
      </p:nvGrpSpPr>
      <p:grpSpPr>
        <a:xfrm>
          <a:off x="0" y="0"/>
          <a:ext cx="0" cy="0"/>
          <a:chOff x="0" y="0"/>
          <a:chExt cx="0" cy="0"/>
        </a:xfrm>
      </p:grpSpPr>
      <p:pic>
        <p:nvPicPr>
          <p:cNvPr id="6" name="Picture 2">
            <a:extLst>
              <a:ext uri="{FF2B5EF4-FFF2-40B4-BE49-F238E27FC236}">
                <a16:creationId xmlns:a16="http://schemas.microsoft.com/office/drawing/2014/main" id="{A7E81C7F-9AC4-182F-7905-320BE00587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3084" y="2773022"/>
            <a:ext cx="5577851" cy="2876080"/>
          </a:xfrm>
          <a:prstGeom prst="rect">
            <a:avLst/>
          </a:prstGeom>
          <a:noFill/>
          <a:ln w="47625">
            <a:solidFill>
              <a:srgbClr val="45B08B"/>
            </a:solidFill>
          </a:ln>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3791914-030F-423C-049F-A4C40B75F414}"/>
              </a:ext>
            </a:extLst>
          </p:cNvPr>
          <p:cNvSpPr>
            <a:spLocks noGrp="1"/>
          </p:cNvSpPr>
          <p:nvPr>
            <p:ph type="title"/>
          </p:nvPr>
        </p:nvSpPr>
        <p:spPr>
          <a:xfrm>
            <a:off x="0" y="140790"/>
            <a:ext cx="12192000" cy="819599"/>
          </a:xfrm>
        </p:spPr>
        <p:txBody>
          <a:bodyPr>
            <a:normAutofit fontScale="90000"/>
          </a:bodyPr>
          <a:lstStyle/>
          <a:p>
            <a:r>
              <a:rPr lang="en-US" b="1" dirty="0"/>
              <a:t>A practical challenge in Open Science: </a:t>
            </a:r>
            <a:br>
              <a:rPr lang="en-US" b="1" dirty="0"/>
            </a:br>
            <a:r>
              <a:rPr lang="en-US" b="1" dirty="0"/>
              <a:t>Building organizational infrastructure</a:t>
            </a:r>
            <a:endParaRPr lang="en-US" dirty="0"/>
          </a:p>
        </p:txBody>
      </p:sp>
      <p:grpSp>
        <p:nvGrpSpPr>
          <p:cNvPr id="11" name="Group 10">
            <a:extLst>
              <a:ext uri="{FF2B5EF4-FFF2-40B4-BE49-F238E27FC236}">
                <a16:creationId xmlns:a16="http://schemas.microsoft.com/office/drawing/2014/main" id="{75FE6BE1-80D9-B0B8-19D1-B4EC0DA9ED39}"/>
              </a:ext>
            </a:extLst>
          </p:cNvPr>
          <p:cNvGrpSpPr/>
          <p:nvPr/>
        </p:nvGrpSpPr>
        <p:grpSpPr>
          <a:xfrm>
            <a:off x="10644280" y="6476875"/>
            <a:ext cx="1474613" cy="325672"/>
            <a:chOff x="19317" y="2690018"/>
            <a:chExt cx="11784755" cy="2025180"/>
          </a:xfrm>
        </p:grpSpPr>
        <p:pic>
          <p:nvPicPr>
            <p:cNvPr id="12" name="Picture 2">
              <a:extLst>
                <a:ext uri="{FF2B5EF4-FFF2-40B4-BE49-F238E27FC236}">
                  <a16:creationId xmlns:a16="http://schemas.microsoft.com/office/drawing/2014/main" id="{9253D32B-F522-9E8D-1FFE-E9531510A70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B9555FE6-697F-5290-D013-0F4B30FE0F09}"/>
                </a:ext>
              </a:extLst>
            </p:cNvPr>
            <p:cNvPicPr>
              <a:picLocks noChangeAspect="1"/>
            </p:cNvPicPr>
            <p:nvPr/>
          </p:nvPicPr>
          <p:blipFill>
            <a:blip r:embed="rId5"/>
            <a:stretch>
              <a:fillRect/>
            </a:stretch>
          </p:blipFill>
          <p:spPr>
            <a:xfrm>
              <a:off x="5728531" y="2690018"/>
              <a:ext cx="6075541" cy="2025180"/>
            </a:xfrm>
            <a:prstGeom prst="rect">
              <a:avLst/>
            </a:prstGeom>
          </p:spPr>
        </p:pic>
      </p:grpSp>
      <p:sp>
        <p:nvSpPr>
          <p:cNvPr id="3" name="Slide Number Placeholder 2">
            <a:extLst>
              <a:ext uri="{FF2B5EF4-FFF2-40B4-BE49-F238E27FC236}">
                <a16:creationId xmlns:a16="http://schemas.microsoft.com/office/drawing/2014/main" id="{3D01B248-15F3-5AB3-0BA9-0A261927B9C9}"/>
              </a:ext>
            </a:extLst>
          </p:cNvPr>
          <p:cNvSpPr>
            <a:spLocks noGrp="1"/>
          </p:cNvSpPr>
          <p:nvPr>
            <p:ph type="sldNum" sz="quarter" idx="12"/>
          </p:nvPr>
        </p:nvSpPr>
        <p:spPr/>
        <p:txBody>
          <a:bodyPr/>
          <a:lstStyle/>
          <a:p>
            <a:fld id="{D292B180-B274-DE43-B36F-C827C7616C05}" type="slidenum">
              <a:rPr lang="en-US" smtClean="0"/>
              <a:t>41</a:t>
            </a:fld>
            <a:endParaRPr lang="en-US" dirty="0"/>
          </a:p>
        </p:txBody>
      </p:sp>
      <p:sp>
        <p:nvSpPr>
          <p:cNvPr id="9" name="TextBox 8">
            <a:extLst>
              <a:ext uri="{FF2B5EF4-FFF2-40B4-BE49-F238E27FC236}">
                <a16:creationId xmlns:a16="http://schemas.microsoft.com/office/drawing/2014/main" id="{49203815-A667-1F56-B2E9-4BF98171DDC9}"/>
              </a:ext>
            </a:extLst>
          </p:cNvPr>
          <p:cNvSpPr txBox="1"/>
          <p:nvPr/>
        </p:nvSpPr>
        <p:spPr>
          <a:xfrm>
            <a:off x="132876" y="1129058"/>
            <a:ext cx="10511404" cy="830997"/>
          </a:xfrm>
          <a:prstGeom prst="rect">
            <a:avLst/>
          </a:prstGeom>
          <a:noFill/>
        </p:spPr>
        <p:txBody>
          <a:bodyPr wrap="square" rtlCol="0">
            <a:spAutoFit/>
          </a:bodyPr>
          <a:lstStyle/>
          <a:p>
            <a:r>
              <a:rPr lang="en-US" sz="2400" dirty="0"/>
              <a:t>Building</a:t>
            </a:r>
            <a:r>
              <a:rPr lang="en-US" sz="2400" b="1" dirty="0"/>
              <a:t> organizational infrastructure </a:t>
            </a:r>
            <a:r>
              <a:rPr lang="en-US" sz="2400" dirty="0"/>
              <a:t>(e.g. </a:t>
            </a:r>
            <a:r>
              <a:rPr lang="en-US" sz="2400" b="1" dirty="0"/>
              <a:t>workflows, team structure, fora</a:t>
            </a:r>
            <a:r>
              <a:rPr lang="en-US" sz="2400" dirty="0"/>
              <a:t>, etc.) to foster communication and collaboration between domains and scales.</a:t>
            </a:r>
          </a:p>
        </p:txBody>
      </p:sp>
      <p:sp>
        <p:nvSpPr>
          <p:cNvPr id="8" name="TextBox 7">
            <a:extLst>
              <a:ext uri="{FF2B5EF4-FFF2-40B4-BE49-F238E27FC236}">
                <a16:creationId xmlns:a16="http://schemas.microsoft.com/office/drawing/2014/main" id="{BB35CA52-2EFB-7EF2-4DF7-3AC00291777D}"/>
              </a:ext>
            </a:extLst>
          </p:cNvPr>
          <p:cNvSpPr txBox="1"/>
          <p:nvPr/>
        </p:nvSpPr>
        <p:spPr>
          <a:xfrm>
            <a:off x="6339840" y="2174171"/>
            <a:ext cx="5636905" cy="461665"/>
          </a:xfrm>
          <a:prstGeom prst="rect">
            <a:avLst/>
          </a:prstGeom>
          <a:solidFill>
            <a:srgbClr val="45B08B">
              <a:alpha val="25000"/>
            </a:srgbClr>
          </a:solidFill>
        </p:spPr>
        <p:txBody>
          <a:bodyPr wrap="square" rtlCol="0">
            <a:spAutoFit/>
          </a:bodyPr>
          <a:lstStyle/>
          <a:p>
            <a:pPr algn="ctr"/>
            <a:r>
              <a:rPr lang="en-US" sz="2400" b="1" dirty="0"/>
              <a:t>Culture change pyramid</a:t>
            </a:r>
          </a:p>
        </p:txBody>
      </p:sp>
      <p:pic>
        <p:nvPicPr>
          <p:cNvPr id="15" name="Graphic 14" descr="Link with solid fill">
            <a:extLst>
              <a:ext uri="{FF2B5EF4-FFF2-40B4-BE49-F238E27FC236}">
                <a16:creationId xmlns:a16="http://schemas.microsoft.com/office/drawing/2014/main" id="{8B2A289E-797A-90D2-4026-41C0D775A9A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4897361">
            <a:off x="6212365" y="4411860"/>
            <a:ext cx="914400" cy="914400"/>
          </a:xfrm>
          <a:prstGeom prst="rect">
            <a:avLst/>
          </a:prstGeom>
        </p:spPr>
      </p:pic>
      <p:pic>
        <p:nvPicPr>
          <p:cNvPr id="19" name="Graphic 18" descr="Link with solid fill">
            <a:extLst>
              <a:ext uri="{FF2B5EF4-FFF2-40B4-BE49-F238E27FC236}">
                <a16:creationId xmlns:a16="http://schemas.microsoft.com/office/drawing/2014/main" id="{3D237B07-DCB0-23E0-9857-C6D34C10D0C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4904670">
            <a:off x="6710074" y="3642892"/>
            <a:ext cx="914400" cy="914400"/>
          </a:xfrm>
          <a:prstGeom prst="rect">
            <a:avLst/>
          </a:prstGeom>
        </p:spPr>
      </p:pic>
      <p:pic>
        <p:nvPicPr>
          <p:cNvPr id="20" name="Graphic 19" descr="Link with solid fill">
            <a:extLst>
              <a:ext uri="{FF2B5EF4-FFF2-40B4-BE49-F238E27FC236}">
                <a16:creationId xmlns:a16="http://schemas.microsoft.com/office/drawing/2014/main" id="{908C33B9-6A03-7E6F-F616-14C98B42836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4904670">
            <a:off x="7254868" y="2874383"/>
            <a:ext cx="914400" cy="914400"/>
          </a:xfrm>
          <a:prstGeom prst="rect">
            <a:avLst/>
          </a:prstGeom>
        </p:spPr>
      </p:pic>
      <p:pic>
        <p:nvPicPr>
          <p:cNvPr id="104" name="Graphic 103" descr="Gears with solid fill">
            <a:extLst>
              <a:ext uri="{FF2B5EF4-FFF2-40B4-BE49-F238E27FC236}">
                <a16:creationId xmlns:a16="http://schemas.microsoft.com/office/drawing/2014/main" id="{AC50D21B-4016-F2BB-1DA5-FA7C8F44DA5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617288" y="16496"/>
            <a:ext cx="1261475" cy="1261475"/>
          </a:xfrm>
          <a:prstGeom prst="rect">
            <a:avLst/>
          </a:prstGeom>
        </p:spPr>
      </p:pic>
      <p:sp>
        <p:nvSpPr>
          <p:cNvPr id="4" name="TextBox 3">
            <a:extLst>
              <a:ext uri="{FF2B5EF4-FFF2-40B4-BE49-F238E27FC236}">
                <a16:creationId xmlns:a16="http://schemas.microsoft.com/office/drawing/2014/main" id="{5B03F521-A5DC-8D4E-5FAF-FDC6D2C5E58C}"/>
              </a:ext>
            </a:extLst>
          </p:cNvPr>
          <p:cNvSpPr txBox="1"/>
          <p:nvPr/>
        </p:nvSpPr>
        <p:spPr>
          <a:xfrm>
            <a:off x="9161909" y="5761761"/>
            <a:ext cx="3664294" cy="369332"/>
          </a:xfrm>
          <a:prstGeom prst="rect">
            <a:avLst/>
          </a:prstGeom>
          <a:noFill/>
        </p:spPr>
        <p:txBody>
          <a:bodyPr wrap="square">
            <a:spAutoFit/>
          </a:bodyPr>
          <a:lstStyle/>
          <a:p>
            <a:r>
              <a:rPr lang="en-US" dirty="0">
                <a:solidFill>
                  <a:schemeClr val="bg2">
                    <a:lumMod val="50000"/>
                  </a:schemeClr>
                </a:solidFill>
              </a:rPr>
              <a:t>Adapted from </a:t>
            </a:r>
            <a:r>
              <a:rPr lang="en-US" dirty="0">
                <a:solidFill>
                  <a:schemeClr val="bg2">
                    <a:lumMod val="50000"/>
                  </a:schemeClr>
                </a:solidFill>
                <a:hlinkClick r:id="rId8"/>
              </a:rPr>
              <a:t>Nosek (2019) </a:t>
            </a:r>
            <a:endParaRPr lang="en-US" dirty="0">
              <a:solidFill>
                <a:schemeClr val="bg2">
                  <a:lumMod val="50000"/>
                </a:schemeClr>
              </a:solidFill>
            </a:endParaRPr>
          </a:p>
        </p:txBody>
      </p:sp>
    </p:spTree>
    <p:extLst>
      <p:ext uri="{BB962C8B-B14F-4D97-AF65-F5344CB8AC3E}">
        <p14:creationId xmlns:p14="http://schemas.microsoft.com/office/powerpoint/2010/main" val="26749451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99648-ADD9-E2E3-D770-E0C10D679E41}"/>
            </a:ext>
          </a:extLst>
        </p:cNvPr>
        <p:cNvGrpSpPr/>
        <p:nvPr/>
      </p:nvGrpSpPr>
      <p:grpSpPr>
        <a:xfrm>
          <a:off x="0" y="0"/>
          <a:ext cx="0" cy="0"/>
          <a:chOff x="0" y="0"/>
          <a:chExt cx="0" cy="0"/>
        </a:xfrm>
      </p:grpSpPr>
      <p:pic>
        <p:nvPicPr>
          <p:cNvPr id="6" name="Picture 2">
            <a:extLst>
              <a:ext uri="{FF2B5EF4-FFF2-40B4-BE49-F238E27FC236}">
                <a16:creationId xmlns:a16="http://schemas.microsoft.com/office/drawing/2014/main" id="{51F441D6-0255-6F9E-A891-5B234184D4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3084" y="2773022"/>
            <a:ext cx="5577851" cy="2876080"/>
          </a:xfrm>
          <a:prstGeom prst="rect">
            <a:avLst/>
          </a:prstGeom>
          <a:noFill/>
          <a:ln w="47625">
            <a:solidFill>
              <a:srgbClr val="45B08B"/>
            </a:solidFill>
          </a:ln>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AD4E041-A5E7-D4C0-3968-B62F707941C9}"/>
              </a:ext>
            </a:extLst>
          </p:cNvPr>
          <p:cNvSpPr>
            <a:spLocks noGrp="1"/>
          </p:cNvSpPr>
          <p:nvPr>
            <p:ph type="title"/>
          </p:nvPr>
        </p:nvSpPr>
        <p:spPr>
          <a:xfrm>
            <a:off x="0" y="140790"/>
            <a:ext cx="12192000" cy="819599"/>
          </a:xfrm>
        </p:spPr>
        <p:txBody>
          <a:bodyPr>
            <a:normAutofit fontScale="90000"/>
          </a:bodyPr>
          <a:lstStyle/>
          <a:p>
            <a:r>
              <a:rPr lang="en-US" b="1" dirty="0"/>
              <a:t>A practical challenge in Open Science: </a:t>
            </a:r>
            <a:br>
              <a:rPr lang="en-US" b="1" dirty="0"/>
            </a:br>
            <a:r>
              <a:rPr lang="en-US" b="1" dirty="0"/>
              <a:t>Building organizational infrastructure</a:t>
            </a:r>
            <a:endParaRPr lang="en-US" dirty="0"/>
          </a:p>
        </p:txBody>
      </p:sp>
      <p:grpSp>
        <p:nvGrpSpPr>
          <p:cNvPr id="11" name="Group 10">
            <a:extLst>
              <a:ext uri="{FF2B5EF4-FFF2-40B4-BE49-F238E27FC236}">
                <a16:creationId xmlns:a16="http://schemas.microsoft.com/office/drawing/2014/main" id="{4C628B95-500E-87D4-74FA-6FACDB9A4044}"/>
              </a:ext>
            </a:extLst>
          </p:cNvPr>
          <p:cNvGrpSpPr/>
          <p:nvPr/>
        </p:nvGrpSpPr>
        <p:grpSpPr>
          <a:xfrm>
            <a:off x="10644280" y="6476875"/>
            <a:ext cx="1474613" cy="325672"/>
            <a:chOff x="19317" y="2690018"/>
            <a:chExt cx="11784755" cy="2025180"/>
          </a:xfrm>
        </p:grpSpPr>
        <p:pic>
          <p:nvPicPr>
            <p:cNvPr id="12" name="Picture 2">
              <a:extLst>
                <a:ext uri="{FF2B5EF4-FFF2-40B4-BE49-F238E27FC236}">
                  <a16:creationId xmlns:a16="http://schemas.microsoft.com/office/drawing/2014/main" id="{D046A38E-33CE-E831-5EF8-4D55A17C0B2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FD14D401-64A6-6D5A-24FE-1A4C5133E983}"/>
                </a:ext>
              </a:extLst>
            </p:cNvPr>
            <p:cNvPicPr>
              <a:picLocks noChangeAspect="1"/>
            </p:cNvPicPr>
            <p:nvPr/>
          </p:nvPicPr>
          <p:blipFill>
            <a:blip r:embed="rId5"/>
            <a:stretch>
              <a:fillRect/>
            </a:stretch>
          </p:blipFill>
          <p:spPr>
            <a:xfrm>
              <a:off x="5728531" y="2690018"/>
              <a:ext cx="6075541" cy="2025180"/>
            </a:xfrm>
            <a:prstGeom prst="rect">
              <a:avLst/>
            </a:prstGeom>
          </p:spPr>
        </p:pic>
      </p:grpSp>
      <p:sp>
        <p:nvSpPr>
          <p:cNvPr id="3" name="Slide Number Placeholder 2">
            <a:extLst>
              <a:ext uri="{FF2B5EF4-FFF2-40B4-BE49-F238E27FC236}">
                <a16:creationId xmlns:a16="http://schemas.microsoft.com/office/drawing/2014/main" id="{7E6A7D4F-A595-135F-4ECE-BEC46EEECB87}"/>
              </a:ext>
            </a:extLst>
          </p:cNvPr>
          <p:cNvSpPr>
            <a:spLocks noGrp="1"/>
          </p:cNvSpPr>
          <p:nvPr>
            <p:ph type="sldNum" sz="quarter" idx="12"/>
          </p:nvPr>
        </p:nvSpPr>
        <p:spPr/>
        <p:txBody>
          <a:bodyPr/>
          <a:lstStyle/>
          <a:p>
            <a:fld id="{D292B180-B274-DE43-B36F-C827C7616C05}" type="slidenum">
              <a:rPr lang="en-US" smtClean="0"/>
              <a:t>42</a:t>
            </a:fld>
            <a:endParaRPr lang="en-US" dirty="0"/>
          </a:p>
        </p:txBody>
      </p:sp>
      <p:sp>
        <p:nvSpPr>
          <p:cNvPr id="9" name="TextBox 8">
            <a:extLst>
              <a:ext uri="{FF2B5EF4-FFF2-40B4-BE49-F238E27FC236}">
                <a16:creationId xmlns:a16="http://schemas.microsoft.com/office/drawing/2014/main" id="{2D3764F9-734A-38EC-460E-C3B60C9FD4C0}"/>
              </a:ext>
            </a:extLst>
          </p:cNvPr>
          <p:cNvSpPr txBox="1"/>
          <p:nvPr/>
        </p:nvSpPr>
        <p:spPr>
          <a:xfrm>
            <a:off x="132876" y="1129058"/>
            <a:ext cx="10511404" cy="830997"/>
          </a:xfrm>
          <a:prstGeom prst="rect">
            <a:avLst/>
          </a:prstGeom>
          <a:noFill/>
        </p:spPr>
        <p:txBody>
          <a:bodyPr wrap="square" rtlCol="0">
            <a:spAutoFit/>
          </a:bodyPr>
          <a:lstStyle/>
          <a:p>
            <a:r>
              <a:rPr lang="en-US" sz="2400" dirty="0"/>
              <a:t>Building</a:t>
            </a:r>
            <a:r>
              <a:rPr lang="en-US" sz="2400" b="1" dirty="0"/>
              <a:t> organizational infrastructure </a:t>
            </a:r>
            <a:r>
              <a:rPr lang="en-US" sz="2400" dirty="0"/>
              <a:t>(e.g. </a:t>
            </a:r>
            <a:r>
              <a:rPr lang="en-US" sz="2400" b="1" dirty="0"/>
              <a:t>workflows, team structure, fora</a:t>
            </a:r>
            <a:r>
              <a:rPr lang="en-US" sz="2400" dirty="0"/>
              <a:t>, etc.) to foster communication and collaboration between domains and scales.</a:t>
            </a:r>
          </a:p>
        </p:txBody>
      </p:sp>
      <p:sp>
        <p:nvSpPr>
          <p:cNvPr id="8" name="TextBox 7">
            <a:extLst>
              <a:ext uri="{FF2B5EF4-FFF2-40B4-BE49-F238E27FC236}">
                <a16:creationId xmlns:a16="http://schemas.microsoft.com/office/drawing/2014/main" id="{A4CB5AB0-C91B-84BC-DEF8-ACE60C963790}"/>
              </a:ext>
            </a:extLst>
          </p:cNvPr>
          <p:cNvSpPr txBox="1"/>
          <p:nvPr/>
        </p:nvSpPr>
        <p:spPr>
          <a:xfrm>
            <a:off x="6339840" y="2174171"/>
            <a:ext cx="5636905" cy="461665"/>
          </a:xfrm>
          <a:prstGeom prst="rect">
            <a:avLst/>
          </a:prstGeom>
          <a:solidFill>
            <a:srgbClr val="45B08B">
              <a:alpha val="25000"/>
            </a:srgbClr>
          </a:solidFill>
        </p:spPr>
        <p:txBody>
          <a:bodyPr wrap="square" rtlCol="0">
            <a:spAutoFit/>
          </a:bodyPr>
          <a:lstStyle/>
          <a:p>
            <a:pPr algn="ctr"/>
            <a:r>
              <a:rPr lang="en-US" sz="2400" b="1" dirty="0"/>
              <a:t>Culture change pyramid</a:t>
            </a:r>
          </a:p>
        </p:txBody>
      </p:sp>
      <p:pic>
        <p:nvPicPr>
          <p:cNvPr id="15" name="Graphic 14" descr="Link with solid fill">
            <a:extLst>
              <a:ext uri="{FF2B5EF4-FFF2-40B4-BE49-F238E27FC236}">
                <a16:creationId xmlns:a16="http://schemas.microsoft.com/office/drawing/2014/main" id="{49C4CC87-B75D-36CE-6D0A-47DC2AED2E5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4897361">
            <a:off x="6212365" y="4411860"/>
            <a:ext cx="914400" cy="914400"/>
          </a:xfrm>
          <a:prstGeom prst="rect">
            <a:avLst/>
          </a:prstGeom>
        </p:spPr>
      </p:pic>
      <p:pic>
        <p:nvPicPr>
          <p:cNvPr id="19" name="Graphic 18" descr="Link with solid fill">
            <a:extLst>
              <a:ext uri="{FF2B5EF4-FFF2-40B4-BE49-F238E27FC236}">
                <a16:creationId xmlns:a16="http://schemas.microsoft.com/office/drawing/2014/main" id="{AD31437F-0281-3454-E3EF-B2D6A2F1740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4904670">
            <a:off x="6710074" y="3642892"/>
            <a:ext cx="914400" cy="914400"/>
          </a:xfrm>
          <a:prstGeom prst="rect">
            <a:avLst/>
          </a:prstGeom>
        </p:spPr>
      </p:pic>
      <p:pic>
        <p:nvPicPr>
          <p:cNvPr id="20" name="Graphic 19" descr="Link with solid fill">
            <a:extLst>
              <a:ext uri="{FF2B5EF4-FFF2-40B4-BE49-F238E27FC236}">
                <a16:creationId xmlns:a16="http://schemas.microsoft.com/office/drawing/2014/main" id="{672C2CF6-8F2D-9347-D5C0-570DD9D2AE7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4904670">
            <a:off x="7254868" y="2874383"/>
            <a:ext cx="914400" cy="914400"/>
          </a:xfrm>
          <a:prstGeom prst="rect">
            <a:avLst/>
          </a:prstGeom>
        </p:spPr>
      </p:pic>
      <p:sp>
        <p:nvSpPr>
          <p:cNvPr id="103" name="TextBox 102">
            <a:extLst>
              <a:ext uri="{FF2B5EF4-FFF2-40B4-BE49-F238E27FC236}">
                <a16:creationId xmlns:a16="http://schemas.microsoft.com/office/drawing/2014/main" id="{962B4890-8AAE-B808-087B-8C25BB91B9C5}"/>
              </a:ext>
            </a:extLst>
          </p:cNvPr>
          <p:cNvSpPr txBox="1"/>
          <p:nvPr/>
        </p:nvSpPr>
        <p:spPr>
          <a:xfrm>
            <a:off x="226990" y="2184477"/>
            <a:ext cx="5467504" cy="2677656"/>
          </a:xfrm>
          <a:prstGeom prst="rect">
            <a:avLst/>
          </a:prstGeom>
          <a:noFill/>
        </p:spPr>
        <p:txBody>
          <a:bodyPr wrap="square" rtlCol="0">
            <a:spAutoFit/>
          </a:bodyPr>
          <a:lstStyle/>
          <a:p>
            <a:r>
              <a:rPr lang="en-US" sz="2400" dirty="0"/>
              <a:t>Practical issues:</a:t>
            </a:r>
          </a:p>
          <a:p>
            <a:pPr marL="285750" indent="-285750">
              <a:buFont typeface="Arial" panose="020B0604020202020204" pitchFamily="34" charset="0"/>
              <a:buChar char="•"/>
            </a:pPr>
            <a:r>
              <a:rPr lang="en-US" sz="2400" dirty="0"/>
              <a:t>Navigating tensions </a:t>
            </a:r>
          </a:p>
          <a:p>
            <a:pPr marL="285750" indent="-285750">
              <a:buFont typeface="Arial" panose="020B0604020202020204" pitchFamily="34" charset="0"/>
              <a:buChar char="•"/>
            </a:pPr>
            <a:r>
              <a:rPr lang="en-US" sz="2400" b="1" dirty="0"/>
              <a:t>Recognition</a:t>
            </a:r>
          </a:p>
          <a:p>
            <a:pPr marL="285750" indent="-285750">
              <a:buFont typeface="Arial" panose="020B0604020202020204" pitchFamily="34" charset="0"/>
              <a:buChar char="•"/>
            </a:pPr>
            <a:r>
              <a:rPr lang="en-US" sz="2400" dirty="0"/>
              <a:t>Avoiding </a:t>
            </a:r>
            <a:r>
              <a:rPr lang="en-US" sz="2400" b="1" dirty="0"/>
              <a:t>duplicated efforts</a:t>
            </a:r>
          </a:p>
          <a:p>
            <a:pPr marL="285750" indent="-285750">
              <a:buFont typeface="Arial" panose="020B0604020202020204" pitchFamily="34" charset="0"/>
              <a:buChar char="•"/>
            </a:pPr>
            <a:r>
              <a:rPr lang="en-US" sz="2400" b="1" dirty="0"/>
              <a:t>Regulations</a:t>
            </a:r>
            <a:r>
              <a:rPr lang="en-US" sz="2400" dirty="0"/>
              <a:t> </a:t>
            </a:r>
          </a:p>
          <a:p>
            <a:pPr marL="285750" indent="-285750">
              <a:buFont typeface="Arial" panose="020B0604020202020204" pitchFamily="34" charset="0"/>
              <a:buChar char="•"/>
            </a:pPr>
            <a:r>
              <a:rPr lang="en-US" sz="2400" b="1" dirty="0"/>
              <a:t>Digital divide</a:t>
            </a:r>
          </a:p>
          <a:p>
            <a:pPr marL="285750" indent="-285750">
              <a:buFont typeface="Arial" panose="020B0604020202020204" pitchFamily="34" charset="0"/>
              <a:buChar char="•"/>
            </a:pPr>
            <a:r>
              <a:rPr lang="en-US" sz="2400" b="1" dirty="0"/>
              <a:t>Usefulness </a:t>
            </a:r>
            <a:r>
              <a:rPr lang="en-US" sz="2400" dirty="0"/>
              <a:t>and </a:t>
            </a:r>
            <a:r>
              <a:rPr lang="en-US" sz="2400" b="1" dirty="0"/>
              <a:t>effectiveness</a:t>
            </a:r>
            <a:r>
              <a:rPr lang="en-US" sz="2400" dirty="0"/>
              <a:t> </a:t>
            </a:r>
          </a:p>
        </p:txBody>
      </p:sp>
      <p:pic>
        <p:nvPicPr>
          <p:cNvPr id="104" name="Graphic 103" descr="Gears with solid fill">
            <a:extLst>
              <a:ext uri="{FF2B5EF4-FFF2-40B4-BE49-F238E27FC236}">
                <a16:creationId xmlns:a16="http://schemas.microsoft.com/office/drawing/2014/main" id="{DA5980AF-C1D4-BA4C-5F9A-280850A3477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617288" y="16496"/>
            <a:ext cx="1261475" cy="1261475"/>
          </a:xfrm>
          <a:prstGeom prst="rect">
            <a:avLst/>
          </a:prstGeom>
        </p:spPr>
      </p:pic>
      <p:pic>
        <p:nvPicPr>
          <p:cNvPr id="105" name="Graphic 104" descr="Arrow: Slight curve with solid fill">
            <a:extLst>
              <a:ext uri="{FF2B5EF4-FFF2-40B4-BE49-F238E27FC236}">
                <a16:creationId xmlns:a16="http://schemas.microsoft.com/office/drawing/2014/main" id="{8AB26988-B8EA-CF71-BFBF-E5C2D28FD33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rot="2369651">
            <a:off x="4613253" y="3285123"/>
            <a:ext cx="1308967" cy="1361866"/>
          </a:xfrm>
          <a:prstGeom prst="rect">
            <a:avLst/>
          </a:prstGeom>
        </p:spPr>
      </p:pic>
      <p:sp>
        <p:nvSpPr>
          <p:cNvPr id="4" name="TextBox 3">
            <a:extLst>
              <a:ext uri="{FF2B5EF4-FFF2-40B4-BE49-F238E27FC236}">
                <a16:creationId xmlns:a16="http://schemas.microsoft.com/office/drawing/2014/main" id="{F5EB64CD-2DD5-3BD6-E620-0F12428AE91C}"/>
              </a:ext>
            </a:extLst>
          </p:cNvPr>
          <p:cNvSpPr txBox="1"/>
          <p:nvPr/>
        </p:nvSpPr>
        <p:spPr>
          <a:xfrm>
            <a:off x="241065" y="5560393"/>
            <a:ext cx="5396129" cy="707886"/>
          </a:xfrm>
          <a:prstGeom prst="rect">
            <a:avLst/>
          </a:prstGeom>
          <a:solidFill>
            <a:schemeClr val="bg2">
              <a:lumMod val="90000"/>
              <a:alpha val="40848"/>
            </a:schemeClr>
          </a:solidFill>
        </p:spPr>
        <p:txBody>
          <a:bodyPr wrap="square" rtlCol="0">
            <a:spAutoFit/>
          </a:bodyPr>
          <a:lstStyle/>
          <a:p>
            <a:r>
              <a:rPr lang="en-US" sz="2000" dirty="0"/>
              <a:t>Think about all the technical tools or services you use on a daily basis in your work!</a:t>
            </a:r>
          </a:p>
        </p:txBody>
      </p:sp>
      <p:sp>
        <p:nvSpPr>
          <p:cNvPr id="5" name="TextBox 4">
            <a:extLst>
              <a:ext uri="{FF2B5EF4-FFF2-40B4-BE49-F238E27FC236}">
                <a16:creationId xmlns:a16="http://schemas.microsoft.com/office/drawing/2014/main" id="{1504DC60-691C-B2AD-FC5B-65AC9B5A63AF}"/>
              </a:ext>
            </a:extLst>
          </p:cNvPr>
          <p:cNvSpPr txBox="1"/>
          <p:nvPr/>
        </p:nvSpPr>
        <p:spPr>
          <a:xfrm>
            <a:off x="9161909" y="5761761"/>
            <a:ext cx="3664294" cy="369332"/>
          </a:xfrm>
          <a:prstGeom prst="rect">
            <a:avLst/>
          </a:prstGeom>
          <a:noFill/>
        </p:spPr>
        <p:txBody>
          <a:bodyPr wrap="square">
            <a:spAutoFit/>
          </a:bodyPr>
          <a:lstStyle/>
          <a:p>
            <a:r>
              <a:rPr lang="en-US" dirty="0">
                <a:solidFill>
                  <a:schemeClr val="bg2">
                    <a:lumMod val="50000"/>
                  </a:schemeClr>
                </a:solidFill>
              </a:rPr>
              <a:t>Adapted from </a:t>
            </a:r>
            <a:r>
              <a:rPr lang="en-US" dirty="0">
                <a:solidFill>
                  <a:schemeClr val="bg2">
                    <a:lumMod val="50000"/>
                  </a:schemeClr>
                </a:solidFill>
                <a:hlinkClick r:id="rId9"/>
              </a:rPr>
              <a:t>Nosek (2019) </a:t>
            </a:r>
            <a:endParaRPr lang="en-US" dirty="0">
              <a:solidFill>
                <a:schemeClr val="bg2">
                  <a:lumMod val="50000"/>
                </a:schemeClr>
              </a:solidFill>
            </a:endParaRPr>
          </a:p>
        </p:txBody>
      </p:sp>
    </p:spTree>
    <p:extLst>
      <p:ext uri="{BB962C8B-B14F-4D97-AF65-F5344CB8AC3E}">
        <p14:creationId xmlns:p14="http://schemas.microsoft.com/office/powerpoint/2010/main" val="5177725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EC70F-DA57-F23D-C2CF-656E369DC4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98E9C8-A1CE-BA7B-53E1-C359CE9D89DD}"/>
              </a:ext>
            </a:extLst>
          </p:cNvPr>
          <p:cNvSpPr>
            <a:spLocks noGrp="1"/>
          </p:cNvSpPr>
          <p:nvPr>
            <p:ph type="title"/>
          </p:nvPr>
        </p:nvSpPr>
        <p:spPr>
          <a:xfrm>
            <a:off x="0" y="136525"/>
            <a:ext cx="12192000" cy="819599"/>
          </a:xfrm>
        </p:spPr>
        <p:txBody>
          <a:bodyPr>
            <a:normAutofit fontScale="90000"/>
          </a:bodyPr>
          <a:lstStyle/>
          <a:p>
            <a:r>
              <a:rPr lang="en-US" b="1" dirty="0"/>
              <a:t>Importance of sustainable infrastructure: </a:t>
            </a:r>
            <a:br>
              <a:rPr lang="en-US" b="1" dirty="0"/>
            </a:br>
            <a:r>
              <a:rPr lang="en-US" b="1" dirty="0"/>
              <a:t>The case of the Open Science Framework (OSF) </a:t>
            </a:r>
          </a:p>
        </p:txBody>
      </p:sp>
      <p:grpSp>
        <p:nvGrpSpPr>
          <p:cNvPr id="11" name="Group 10">
            <a:extLst>
              <a:ext uri="{FF2B5EF4-FFF2-40B4-BE49-F238E27FC236}">
                <a16:creationId xmlns:a16="http://schemas.microsoft.com/office/drawing/2014/main" id="{CB7D2CB7-D2F6-FDFC-3C0E-0EF11EC59CD7}"/>
              </a:ext>
            </a:extLst>
          </p:cNvPr>
          <p:cNvGrpSpPr/>
          <p:nvPr/>
        </p:nvGrpSpPr>
        <p:grpSpPr>
          <a:xfrm>
            <a:off x="10644280" y="6476875"/>
            <a:ext cx="1474613" cy="325672"/>
            <a:chOff x="19317" y="2690018"/>
            <a:chExt cx="11784755" cy="2025180"/>
          </a:xfrm>
        </p:grpSpPr>
        <p:pic>
          <p:nvPicPr>
            <p:cNvPr id="12" name="Picture 2">
              <a:extLst>
                <a:ext uri="{FF2B5EF4-FFF2-40B4-BE49-F238E27FC236}">
                  <a16:creationId xmlns:a16="http://schemas.microsoft.com/office/drawing/2014/main" id="{4793829F-A4F1-7FF5-4999-3599E085C9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F8BB38E8-A6D8-8464-C788-7EB17E6A367D}"/>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3" name="Slide Number Placeholder 2">
            <a:extLst>
              <a:ext uri="{FF2B5EF4-FFF2-40B4-BE49-F238E27FC236}">
                <a16:creationId xmlns:a16="http://schemas.microsoft.com/office/drawing/2014/main" id="{B6C64552-945E-4A9E-B371-B8CAD181A5C1}"/>
              </a:ext>
            </a:extLst>
          </p:cNvPr>
          <p:cNvSpPr>
            <a:spLocks noGrp="1"/>
          </p:cNvSpPr>
          <p:nvPr>
            <p:ph type="sldNum" sz="quarter" idx="12"/>
          </p:nvPr>
        </p:nvSpPr>
        <p:spPr>
          <a:xfrm>
            <a:off x="10327340" y="6356350"/>
            <a:ext cx="1026459" cy="365125"/>
          </a:xfrm>
        </p:spPr>
        <p:txBody>
          <a:bodyPr/>
          <a:lstStyle/>
          <a:p>
            <a:fld id="{D292B180-B274-DE43-B36F-C827C7616C05}" type="slidenum">
              <a:rPr lang="en-US" smtClean="0"/>
              <a:t>43</a:t>
            </a:fld>
            <a:endParaRPr lang="en-US" dirty="0"/>
          </a:p>
        </p:txBody>
      </p:sp>
      <p:sp>
        <p:nvSpPr>
          <p:cNvPr id="9" name="TextBox 8">
            <a:extLst>
              <a:ext uri="{FF2B5EF4-FFF2-40B4-BE49-F238E27FC236}">
                <a16:creationId xmlns:a16="http://schemas.microsoft.com/office/drawing/2014/main" id="{BA609E4B-A874-0D03-52DB-C04A748A03EC}"/>
              </a:ext>
            </a:extLst>
          </p:cNvPr>
          <p:cNvSpPr txBox="1"/>
          <p:nvPr/>
        </p:nvSpPr>
        <p:spPr>
          <a:xfrm>
            <a:off x="117897" y="1398000"/>
            <a:ext cx="11216937" cy="3416320"/>
          </a:xfrm>
          <a:prstGeom prst="rect">
            <a:avLst/>
          </a:prstGeom>
          <a:noFill/>
        </p:spPr>
        <p:txBody>
          <a:bodyPr wrap="square" rtlCol="0">
            <a:spAutoFit/>
          </a:bodyPr>
          <a:lstStyle/>
          <a:p>
            <a:pPr marL="342900" indent="-342900">
              <a:buFont typeface="Arial" panose="020B0604020202020204" pitchFamily="34" charset="0"/>
              <a:buChar char="•"/>
            </a:pPr>
            <a:r>
              <a:rPr lang="en-US" sz="2400" dirty="0"/>
              <a:t>The Open Science Framework (OSF) publicly launched in 2012 and as of 2026, has 1 million registered users!</a:t>
            </a:r>
          </a:p>
          <a:p>
            <a:endParaRPr lang="en-US" sz="2400" dirty="0"/>
          </a:p>
          <a:p>
            <a:pPr marL="342900" indent="-342900">
              <a:buFont typeface="Arial" panose="020B0604020202020204" pitchFamily="34" charset="0"/>
              <a:buChar char="•"/>
            </a:pPr>
            <a:r>
              <a:rPr lang="en-US" sz="2400" dirty="0"/>
              <a:t>A </a:t>
            </a:r>
            <a:r>
              <a:rPr lang="en-US" sz="2400" b="1" dirty="0"/>
              <a:t>centralized repository </a:t>
            </a:r>
            <a:r>
              <a:rPr lang="en-US" sz="2400" dirty="0"/>
              <a:t>and </a:t>
            </a:r>
            <a:r>
              <a:rPr lang="en-US" sz="2400" b="1" dirty="0"/>
              <a:t>research workflow platform </a:t>
            </a:r>
            <a:r>
              <a:rPr lang="en-US" sz="2400" dirty="0"/>
              <a:t>to support sharing of data and materials in collaborative teams</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From November 2026, OSF projects are to be phased out due to </a:t>
            </a:r>
            <a:r>
              <a:rPr lang="en-US" sz="2400" b="1" dirty="0"/>
              <a:t>increased maintenance costs </a:t>
            </a:r>
            <a:r>
              <a:rPr lang="en-US" sz="2400" dirty="0"/>
              <a:t>($4-5 million USD per year), </a:t>
            </a:r>
            <a:r>
              <a:rPr lang="en-US" sz="2400" b="1" dirty="0"/>
              <a:t>decreased long term funding </a:t>
            </a:r>
            <a:r>
              <a:rPr lang="en-US" sz="2400" dirty="0"/>
              <a:t>and </a:t>
            </a:r>
            <a:r>
              <a:rPr lang="en-US" sz="2400" b="1" dirty="0"/>
              <a:t>scope creep </a:t>
            </a:r>
            <a:r>
              <a:rPr lang="en-US" sz="2400" dirty="0"/>
              <a:t>(</a:t>
            </a:r>
            <a:r>
              <a:rPr lang="en-US" sz="2400" dirty="0">
                <a:hlinkClick r:id="rId5"/>
              </a:rPr>
              <a:t>Nosek, 2026</a:t>
            </a:r>
            <a:r>
              <a:rPr lang="en-US" sz="2400" dirty="0"/>
              <a:t>).</a:t>
            </a:r>
          </a:p>
        </p:txBody>
      </p:sp>
      <p:sp>
        <p:nvSpPr>
          <p:cNvPr id="14" name="TextBox 13">
            <a:extLst>
              <a:ext uri="{FF2B5EF4-FFF2-40B4-BE49-F238E27FC236}">
                <a16:creationId xmlns:a16="http://schemas.microsoft.com/office/drawing/2014/main" id="{BA1212F5-65E8-C13C-635B-BBF4C7E2FC41}"/>
              </a:ext>
            </a:extLst>
          </p:cNvPr>
          <p:cNvSpPr txBox="1"/>
          <p:nvPr/>
        </p:nvSpPr>
        <p:spPr>
          <a:xfrm>
            <a:off x="8697427" y="4979850"/>
            <a:ext cx="3259826" cy="923330"/>
          </a:xfrm>
          <a:prstGeom prst="rect">
            <a:avLst/>
          </a:prstGeom>
          <a:solidFill>
            <a:schemeClr val="bg1">
              <a:lumMod val="85000"/>
            </a:schemeClr>
          </a:solidFill>
        </p:spPr>
        <p:txBody>
          <a:bodyPr wrap="square">
            <a:spAutoFit/>
          </a:bodyPr>
          <a:lstStyle/>
          <a:p>
            <a:r>
              <a:rPr lang="en-US" dirty="0"/>
              <a:t>Read more about the changes: </a:t>
            </a:r>
            <a:r>
              <a:rPr lang="en-US" dirty="0">
                <a:hlinkClick r:id="rId5"/>
              </a:rPr>
              <a:t>https://www.cos.io/blog/osf-changes-a-note-to-users</a:t>
            </a:r>
            <a:r>
              <a:rPr lang="en-US" dirty="0"/>
              <a:t> </a:t>
            </a:r>
          </a:p>
        </p:txBody>
      </p:sp>
      <p:grpSp>
        <p:nvGrpSpPr>
          <p:cNvPr id="17" name="Group 16">
            <a:extLst>
              <a:ext uri="{FF2B5EF4-FFF2-40B4-BE49-F238E27FC236}">
                <a16:creationId xmlns:a16="http://schemas.microsoft.com/office/drawing/2014/main" id="{3AD7C070-7E0F-A043-B641-65943B7F8FAE}"/>
              </a:ext>
            </a:extLst>
          </p:cNvPr>
          <p:cNvGrpSpPr/>
          <p:nvPr/>
        </p:nvGrpSpPr>
        <p:grpSpPr>
          <a:xfrm>
            <a:off x="73107" y="4926043"/>
            <a:ext cx="8371646" cy="1848753"/>
            <a:chOff x="914400" y="4639235"/>
            <a:chExt cx="8579224" cy="1849894"/>
          </a:xfrm>
        </p:grpSpPr>
        <p:pic>
          <p:nvPicPr>
            <p:cNvPr id="7" name="Picture 6">
              <a:extLst>
                <a:ext uri="{FF2B5EF4-FFF2-40B4-BE49-F238E27FC236}">
                  <a16:creationId xmlns:a16="http://schemas.microsoft.com/office/drawing/2014/main" id="{A2B765E7-4103-D942-7312-578215FFA4D1}"/>
                </a:ext>
              </a:extLst>
            </p:cNvPr>
            <p:cNvPicPr>
              <a:picLocks noChangeAspect="1"/>
            </p:cNvPicPr>
            <p:nvPr/>
          </p:nvPicPr>
          <p:blipFill>
            <a:blip r:embed="rId6"/>
            <a:stretch>
              <a:fillRect/>
            </a:stretch>
          </p:blipFill>
          <p:spPr>
            <a:xfrm>
              <a:off x="960301" y="4678105"/>
              <a:ext cx="8518213" cy="1785323"/>
            </a:xfrm>
            <a:prstGeom prst="rect">
              <a:avLst/>
            </a:prstGeom>
          </p:spPr>
        </p:pic>
        <p:sp>
          <p:nvSpPr>
            <p:cNvPr id="16" name="Rectangle 15">
              <a:extLst>
                <a:ext uri="{FF2B5EF4-FFF2-40B4-BE49-F238E27FC236}">
                  <a16:creationId xmlns:a16="http://schemas.microsoft.com/office/drawing/2014/main" id="{25EFAB8B-676B-C179-3E25-A9CB6F0D9485}"/>
                </a:ext>
              </a:extLst>
            </p:cNvPr>
            <p:cNvSpPr/>
            <p:nvPr/>
          </p:nvSpPr>
          <p:spPr>
            <a:xfrm>
              <a:off x="914400" y="4639235"/>
              <a:ext cx="8579224" cy="1849894"/>
            </a:xfrm>
            <a:prstGeom prst="rect">
              <a:avLst/>
            </a:prstGeom>
            <a:solidFill>
              <a:schemeClr val="bg1">
                <a:alpha val="34083"/>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1" name="Graphic 20" descr="Gears with solid fill">
            <a:extLst>
              <a:ext uri="{FF2B5EF4-FFF2-40B4-BE49-F238E27FC236}">
                <a16:creationId xmlns:a16="http://schemas.microsoft.com/office/drawing/2014/main" id="{FCD681F2-DDA6-8A7B-5A39-975C04ADE17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617288" y="16496"/>
            <a:ext cx="1261475" cy="1261475"/>
          </a:xfrm>
          <a:prstGeom prst="rect">
            <a:avLst/>
          </a:prstGeom>
        </p:spPr>
      </p:pic>
    </p:spTree>
    <p:extLst>
      <p:ext uri="{BB962C8B-B14F-4D97-AF65-F5344CB8AC3E}">
        <p14:creationId xmlns:p14="http://schemas.microsoft.com/office/powerpoint/2010/main" val="27920778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EAF75-D525-50E6-7F84-F17688B715C1}"/>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05D0081E-1BC0-AC8E-4554-C8F8FE5D2B29}"/>
              </a:ext>
            </a:extLst>
          </p:cNvPr>
          <p:cNvPicPr>
            <a:picLocks noChangeAspect="1"/>
          </p:cNvPicPr>
          <p:nvPr/>
        </p:nvPicPr>
        <p:blipFill>
          <a:blip r:embed="rId3"/>
          <a:srcRect l="17020" t="2206" r="4735" b="17484"/>
          <a:stretch>
            <a:fillRect/>
          </a:stretch>
        </p:blipFill>
        <p:spPr>
          <a:xfrm>
            <a:off x="7282323" y="2111001"/>
            <a:ext cx="4733366" cy="4463609"/>
          </a:xfrm>
          <a:prstGeom prst="rect">
            <a:avLst/>
          </a:prstGeom>
        </p:spPr>
      </p:pic>
      <p:grpSp>
        <p:nvGrpSpPr>
          <p:cNvPr id="63" name="Group 62">
            <a:extLst>
              <a:ext uri="{FF2B5EF4-FFF2-40B4-BE49-F238E27FC236}">
                <a16:creationId xmlns:a16="http://schemas.microsoft.com/office/drawing/2014/main" id="{04E68CCB-B9E1-C38E-5CE2-60C8A8A16EA5}"/>
              </a:ext>
            </a:extLst>
          </p:cNvPr>
          <p:cNvGrpSpPr/>
          <p:nvPr/>
        </p:nvGrpSpPr>
        <p:grpSpPr>
          <a:xfrm>
            <a:off x="10704849" y="6564312"/>
            <a:ext cx="1362075" cy="273690"/>
            <a:chOff x="19317" y="2690018"/>
            <a:chExt cx="11784755" cy="2025180"/>
          </a:xfrm>
        </p:grpSpPr>
        <p:pic>
          <p:nvPicPr>
            <p:cNvPr id="64" name="Picture 2">
              <a:extLst>
                <a:ext uri="{FF2B5EF4-FFF2-40B4-BE49-F238E27FC236}">
                  <a16:creationId xmlns:a16="http://schemas.microsoft.com/office/drawing/2014/main" id="{FE149A1A-564B-A1D5-847E-B250CA7C52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4">
              <a:extLst>
                <a:ext uri="{FF2B5EF4-FFF2-40B4-BE49-F238E27FC236}">
                  <a16:creationId xmlns:a16="http://schemas.microsoft.com/office/drawing/2014/main" id="{46451D70-692F-90B6-90CE-940B10B9CA7A}"/>
                </a:ext>
              </a:extLst>
            </p:cNvPr>
            <p:cNvPicPr>
              <a:picLocks noChangeAspect="1"/>
            </p:cNvPicPr>
            <p:nvPr/>
          </p:nvPicPr>
          <p:blipFill>
            <a:blip r:embed="rId5"/>
            <a:stretch>
              <a:fillRect/>
            </a:stretch>
          </p:blipFill>
          <p:spPr>
            <a:xfrm>
              <a:off x="5728531" y="2690018"/>
              <a:ext cx="6075541" cy="2025180"/>
            </a:xfrm>
            <a:prstGeom prst="rect">
              <a:avLst/>
            </a:prstGeom>
          </p:spPr>
        </p:pic>
      </p:grpSp>
      <p:sp>
        <p:nvSpPr>
          <p:cNvPr id="4" name="Title 1">
            <a:extLst>
              <a:ext uri="{FF2B5EF4-FFF2-40B4-BE49-F238E27FC236}">
                <a16:creationId xmlns:a16="http://schemas.microsoft.com/office/drawing/2014/main" id="{F562A1D5-3D81-D439-D748-4D376A22A0D1}"/>
              </a:ext>
            </a:extLst>
          </p:cNvPr>
          <p:cNvSpPr txBox="1">
            <a:spLocks/>
          </p:cNvSpPr>
          <p:nvPr/>
        </p:nvSpPr>
        <p:spPr>
          <a:xfrm>
            <a:off x="0" y="-11484"/>
            <a:ext cx="121920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Open Science challenges around equity: contributions, credit and capacity building </a:t>
            </a:r>
          </a:p>
        </p:txBody>
      </p:sp>
      <p:sp>
        <p:nvSpPr>
          <p:cNvPr id="62" name="Slide Number Placeholder 61">
            <a:extLst>
              <a:ext uri="{FF2B5EF4-FFF2-40B4-BE49-F238E27FC236}">
                <a16:creationId xmlns:a16="http://schemas.microsoft.com/office/drawing/2014/main" id="{5ECAC4C5-F8FF-33A2-279C-F41F8FB546C5}"/>
              </a:ext>
            </a:extLst>
          </p:cNvPr>
          <p:cNvSpPr>
            <a:spLocks noGrp="1"/>
          </p:cNvSpPr>
          <p:nvPr>
            <p:ph type="sldNum" sz="quarter" idx="12"/>
          </p:nvPr>
        </p:nvSpPr>
        <p:spPr/>
        <p:txBody>
          <a:bodyPr/>
          <a:lstStyle/>
          <a:p>
            <a:fld id="{DC6309F4-03C8-4D48-A124-A9AD6E083FAC}" type="slidenum">
              <a:rPr lang="en-US" smtClean="0"/>
              <a:t>44</a:t>
            </a:fld>
            <a:endParaRPr lang="en-US"/>
          </a:p>
        </p:txBody>
      </p:sp>
      <p:pic>
        <p:nvPicPr>
          <p:cNvPr id="5" name="Graphic 4" descr="Weights Uneven with solid fill">
            <a:extLst>
              <a:ext uri="{FF2B5EF4-FFF2-40B4-BE49-F238E27FC236}">
                <a16:creationId xmlns:a16="http://schemas.microsoft.com/office/drawing/2014/main" id="{AF16D5B2-6B31-7C8E-68DE-02EDB0D8684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650810" y="168810"/>
            <a:ext cx="1065010" cy="1065010"/>
          </a:xfrm>
          <a:prstGeom prst="rect">
            <a:avLst/>
          </a:prstGeom>
        </p:spPr>
      </p:pic>
      <p:sp>
        <p:nvSpPr>
          <p:cNvPr id="3" name="TextBox 2">
            <a:extLst>
              <a:ext uri="{FF2B5EF4-FFF2-40B4-BE49-F238E27FC236}">
                <a16:creationId xmlns:a16="http://schemas.microsoft.com/office/drawing/2014/main" id="{FDCEC261-CFC0-8D82-74DC-665F6E7F6CF2}"/>
              </a:ext>
            </a:extLst>
          </p:cNvPr>
          <p:cNvSpPr txBox="1"/>
          <p:nvPr/>
        </p:nvSpPr>
        <p:spPr>
          <a:xfrm>
            <a:off x="176311" y="1314079"/>
            <a:ext cx="11384125" cy="830997"/>
          </a:xfrm>
          <a:prstGeom prst="rect">
            <a:avLst/>
          </a:prstGeom>
          <a:noFill/>
        </p:spPr>
        <p:txBody>
          <a:bodyPr wrap="square" rtlCol="0">
            <a:spAutoFit/>
          </a:bodyPr>
          <a:lstStyle/>
          <a:p>
            <a:r>
              <a:rPr lang="en-US" sz="2400" dirty="0"/>
              <a:t>Not considering </a:t>
            </a:r>
            <a:r>
              <a:rPr lang="en-US" sz="2400" b="1" dirty="0"/>
              <a:t>equity</a:t>
            </a:r>
            <a:r>
              <a:rPr lang="en-US" sz="2400" dirty="0"/>
              <a:t> and </a:t>
            </a:r>
            <a:r>
              <a:rPr lang="en-US" sz="2400" b="1" dirty="0"/>
              <a:t>(social) justice, </a:t>
            </a:r>
            <a:r>
              <a:rPr lang="en-US" sz="2400" dirty="0"/>
              <a:t>risks </a:t>
            </a:r>
            <a:r>
              <a:rPr lang="en-US" sz="2400" b="1" dirty="0"/>
              <a:t>replicating</a:t>
            </a:r>
            <a:r>
              <a:rPr lang="en-US" sz="2400" dirty="0"/>
              <a:t> the </a:t>
            </a:r>
            <a:r>
              <a:rPr lang="en-US" sz="2400" b="1" dirty="0"/>
              <a:t>status quo </a:t>
            </a:r>
            <a:r>
              <a:rPr lang="en-US" sz="2400" dirty="0"/>
              <a:t>and perpetuating harm to </a:t>
            </a:r>
            <a:r>
              <a:rPr lang="en-US" sz="2400" b="1" dirty="0"/>
              <a:t>under-represented communities</a:t>
            </a:r>
            <a:r>
              <a:rPr lang="en-US" sz="2400" dirty="0"/>
              <a:t>.</a:t>
            </a:r>
          </a:p>
        </p:txBody>
      </p:sp>
      <p:sp>
        <p:nvSpPr>
          <p:cNvPr id="7" name="TextBox 6">
            <a:extLst>
              <a:ext uri="{FF2B5EF4-FFF2-40B4-BE49-F238E27FC236}">
                <a16:creationId xmlns:a16="http://schemas.microsoft.com/office/drawing/2014/main" id="{B3280240-6B27-AEBA-42A5-87E4382BC266}"/>
              </a:ext>
            </a:extLst>
          </p:cNvPr>
          <p:cNvSpPr txBox="1"/>
          <p:nvPr/>
        </p:nvSpPr>
        <p:spPr>
          <a:xfrm>
            <a:off x="6280583" y="5891351"/>
            <a:ext cx="2251428" cy="923330"/>
          </a:xfrm>
          <a:prstGeom prst="rect">
            <a:avLst/>
          </a:prstGeom>
          <a:noFill/>
        </p:spPr>
        <p:txBody>
          <a:bodyPr wrap="square" rtlCol="0">
            <a:spAutoFit/>
          </a:bodyPr>
          <a:lstStyle/>
          <a:p>
            <a:r>
              <a:rPr lang="en-US" dirty="0">
                <a:solidFill>
                  <a:schemeClr val="bg1">
                    <a:lumMod val="50000"/>
                  </a:schemeClr>
                </a:solidFill>
              </a:rPr>
              <a:t>Adapted from </a:t>
            </a:r>
            <a:r>
              <a:rPr lang="en-US" dirty="0">
                <a:solidFill>
                  <a:schemeClr val="bg1">
                    <a:lumMod val="50000"/>
                  </a:schemeClr>
                </a:solidFill>
                <a:hlinkClick r:id="rId7"/>
              </a:rPr>
              <a:t>Middleton et al. 2026 </a:t>
            </a:r>
            <a:r>
              <a:rPr lang="en-US" dirty="0">
                <a:solidFill>
                  <a:schemeClr val="bg1">
                    <a:lumMod val="50000"/>
                  </a:schemeClr>
                </a:solidFill>
              </a:rPr>
              <a:t>(CC BY NC SA)</a:t>
            </a:r>
          </a:p>
        </p:txBody>
      </p:sp>
      <p:sp>
        <p:nvSpPr>
          <p:cNvPr id="2" name="TextBox 1">
            <a:extLst>
              <a:ext uri="{FF2B5EF4-FFF2-40B4-BE49-F238E27FC236}">
                <a16:creationId xmlns:a16="http://schemas.microsoft.com/office/drawing/2014/main" id="{4AFAEF21-B270-3D5B-85BF-B0069B612E67}"/>
              </a:ext>
            </a:extLst>
          </p:cNvPr>
          <p:cNvSpPr txBox="1"/>
          <p:nvPr/>
        </p:nvSpPr>
        <p:spPr>
          <a:xfrm>
            <a:off x="295834" y="5615582"/>
            <a:ext cx="5835636" cy="1015663"/>
          </a:xfrm>
          <a:prstGeom prst="rect">
            <a:avLst/>
          </a:prstGeom>
          <a:solidFill>
            <a:schemeClr val="bg1">
              <a:lumMod val="85000"/>
            </a:schemeClr>
          </a:solidFill>
        </p:spPr>
        <p:txBody>
          <a:bodyPr wrap="none" rtlCol="0">
            <a:spAutoFit/>
          </a:bodyPr>
          <a:lstStyle/>
          <a:p>
            <a:r>
              <a:rPr lang="en-US" sz="2000" b="1" dirty="0"/>
              <a:t>Equity </a:t>
            </a:r>
            <a:r>
              <a:rPr lang="en-US" sz="2000" dirty="0"/>
              <a:t>= Fairness based on need</a:t>
            </a:r>
          </a:p>
          <a:p>
            <a:r>
              <a:rPr lang="en-US" sz="2000" b="1" dirty="0"/>
              <a:t>Justice</a:t>
            </a:r>
            <a:r>
              <a:rPr lang="en-US" sz="2000" dirty="0"/>
              <a:t> = Transformation of the system by </a:t>
            </a:r>
          </a:p>
          <a:p>
            <a:r>
              <a:rPr lang="en-US" sz="2000" dirty="0"/>
              <a:t>removing cause of inequity to ensure fairness for all</a:t>
            </a:r>
          </a:p>
        </p:txBody>
      </p:sp>
    </p:spTree>
    <p:extLst>
      <p:ext uri="{BB962C8B-B14F-4D97-AF65-F5344CB8AC3E}">
        <p14:creationId xmlns:p14="http://schemas.microsoft.com/office/powerpoint/2010/main" val="16186611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B23AC-CA6A-6588-673B-60C1B6FF4229}"/>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FC7695F8-66A0-03CD-8D8E-5FA3A4853E91}"/>
              </a:ext>
            </a:extLst>
          </p:cNvPr>
          <p:cNvPicPr>
            <a:picLocks noChangeAspect="1"/>
          </p:cNvPicPr>
          <p:nvPr/>
        </p:nvPicPr>
        <p:blipFill>
          <a:blip r:embed="rId3"/>
          <a:srcRect l="17020" t="2206" r="4735" b="17484"/>
          <a:stretch>
            <a:fillRect/>
          </a:stretch>
        </p:blipFill>
        <p:spPr>
          <a:xfrm>
            <a:off x="7282323" y="2111001"/>
            <a:ext cx="4733366" cy="4463609"/>
          </a:xfrm>
          <a:prstGeom prst="rect">
            <a:avLst/>
          </a:prstGeom>
        </p:spPr>
      </p:pic>
      <p:grpSp>
        <p:nvGrpSpPr>
          <p:cNvPr id="63" name="Group 62">
            <a:extLst>
              <a:ext uri="{FF2B5EF4-FFF2-40B4-BE49-F238E27FC236}">
                <a16:creationId xmlns:a16="http://schemas.microsoft.com/office/drawing/2014/main" id="{90FBA2A2-3837-6268-EC1E-05E17F280C7A}"/>
              </a:ext>
            </a:extLst>
          </p:cNvPr>
          <p:cNvGrpSpPr/>
          <p:nvPr/>
        </p:nvGrpSpPr>
        <p:grpSpPr>
          <a:xfrm>
            <a:off x="10704849" y="6564312"/>
            <a:ext cx="1362075" cy="273690"/>
            <a:chOff x="19317" y="2690018"/>
            <a:chExt cx="11784755" cy="2025180"/>
          </a:xfrm>
        </p:grpSpPr>
        <p:pic>
          <p:nvPicPr>
            <p:cNvPr id="64" name="Picture 2">
              <a:extLst>
                <a:ext uri="{FF2B5EF4-FFF2-40B4-BE49-F238E27FC236}">
                  <a16:creationId xmlns:a16="http://schemas.microsoft.com/office/drawing/2014/main" id="{8C5B8683-81B8-C5CD-483F-0340632831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4">
              <a:extLst>
                <a:ext uri="{FF2B5EF4-FFF2-40B4-BE49-F238E27FC236}">
                  <a16:creationId xmlns:a16="http://schemas.microsoft.com/office/drawing/2014/main" id="{88190B50-0FE3-BCA9-CC0F-A8F283B3BBBF}"/>
                </a:ext>
              </a:extLst>
            </p:cNvPr>
            <p:cNvPicPr>
              <a:picLocks noChangeAspect="1"/>
            </p:cNvPicPr>
            <p:nvPr/>
          </p:nvPicPr>
          <p:blipFill>
            <a:blip r:embed="rId5"/>
            <a:stretch>
              <a:fillRect/>
            </a:stretch>
          </p:blipFill>
          <p:spPr>
            <a:xfrm>
              <a:off x="5728531" y="2690018"/>
              <a:ext cx="6075541" cy="2025180"/>
            </a:xfrm>
            <a:prstGeom prst="rect">
              <a:avLst/>
            </a:prstGeom>
          </p:spPr>
        </p:pic>
      </p:grpSp>
      <p:sp>
        <p:nvSpPr>
          <p:cNvPr id="4" name="Title 1">
            <a:extLst>
              <a:ext uri="{FF2B5EF4-FFF2-40B4-BE49-F238E27FC236}">
                <a16:creationId xmlns:a16="http://schemas.microsoft.com/office/drawing/2014/main" id="{596D5776-2669-1123-F5DB-206463BE66BA}"/>
              </a:ext>
            </a:extLst>
          </p:cNvPr>
          <p:cNvSpPr txBox="1">
            <a:spLocks/>
          </p:cNvSpPr>
          <p:nvPr/>
        </p:nvSpPr>
        <p:spPr>
          <a:xfrm>
            <a:off x="0" y="-11484"/>
            <a:ext cx="121920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Open Science challenges around equity: contributions, credit and capacity building </a:t>
            </a:r>
          </a:p>
        </p:txBody>
      </p:sp>
      <p:sp>
        <p:nvSpPr>
          <p:cNvPr id="62" name="Slide Number Placeholder 61">
            <a:extLst>
              <a:ext uri="{FF2B5EF4-FFF2-40B4-BE49-F238E27FC236}">
                <a16:creationId xmlns:a16="http://schemas.microsoft.com/office/drawing/2014/main" id="{D9ED1817-93A6-CC7F-72AA-9077392D7C17}"/>
              </a:ext>
            </a:extLst>
          </p:cNvPr>
          <p:cNvSpPr>
            <a:spLocks noGrp="1"/>
          </p:cNvSpPr>
          <p:nvPr>
            <p:ph type="sldNum" sz="quarter" idx="12"/>
          </p:nvPr>
        </p:nvSpPr>
        <p:spPr/>
        <p:txBody>
          <a:bodyPr/>
          <a:lstStyle/>
          <a:p>
            <a:fld id="{DC6309F4-03C8-4D48-A124-A9AD6E083FAC}" type="slidenum">
              <a:rPr lang="en-US" smtClean="0"/>
              <a:t>45</a:t>
            </a:fld>
            <a:endParaRPr lang="en-US"/>
          </a:p>
        </p:txBody>
      </p:sp>
      <p:pic>
        <p:nvPicPr>
          <p:cNvPr id="5" name="Graphic 4" descr="Weights Uneven with solid fill">
            <a:extLst>
              <a:ext uri="{FF2B5EF4-FFF2-40B4-BE49-F238E27FC236}">
                <a16:creationId xmlns:a16="http://schemas.microsoft.com/office/drawing/2014/main" id="{3C4057CD-557F-9E6C-1772-A0438E85AD0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650810" y="168810"/>
            <a:ext cx="1065010" cy="1065010"/>
          </a:xfrm>
          <a:prstGeom prst="rect">
            <a:avLst/>
          </a:prstGeom>
        </p:spPr>
      </p:pic>
      <p:sp>
        <p:nvSpPr>
          <p:cNvPr id="11" name="TextBox 10">
            <a:extLst>
              <a:ext uri="{FF2B5EF4-FFF2-40B4-BE49-F238E27FC236}">
                <a16:creationId xmlns:a16="http://schemas.microsoft.com/office/drawing/2014/main" id="{FEC7C2AB-CEC1-FB00-72C8-D778AC5A5BDD}"/>
              </a:ext>
            </a:extLst>
          </p:cNvPr>
          <p:cNvSpPr txBox="1"/>
          <p:nvPr/>
        </p:nvSpPr>
        <p:spPr>
          <a:xfrm>
            <a:off x="176311" y="2639642"/>
            <a:ext cx="7436225" cy="2308324"/>
          </a:xfrm>
          <a:prstGeom prst="rect">
            <a:avLst/>
          </a:prstGeom>
          <a:noFill/>
        </p:spPr>
        <p:txBody>
          <a:bodyPr wrap="square" rtlCol="0">
            <a:spAutoFit/>
          </a:bodyPr>
          <a:lstStyle/>
          <a:p>
            <a:r>
              <a:rPr lang="en-US" sz="2400" dirty="0"/>
              <a:t>Equity issues:</a:t>
            </a:r>
          </a:p>
          <a:p>
            <a:pPr marL="342900" indent="-342900">
              <a:buFont typeface="Arial" panose="020B0604020202020204" pitchFamily="34" charset="0"/>
              <a:buChar char="•"/>
            </a:pPr>
            <a:r>
              <a:rPr lang="en-US" sz="2400" b="1" dirty="0"/>
              <a:t>Biases</a:t>
            </a:r>
          </a:p>
          <a:p>
            <a:pPr marL="342900" indent="-342900">
              <a:buFont typeface="Arial" panose="020B0604020202020204" pitchFamily="34" charset="0"/>
              <a:buChar char="•"/>
            </a:pPr>
            <a:r>
              <a:rPr lang="en-US" sz="2400" dirty="0"/>
              <a:t>Who decides the </a:t>
            </a:r>
            <a:r>
              <a:rPr lang="en-US" sz="2400" b="1" dirty="0"/>
              <a:t>standards</a:t>
            </a:r>
            <a:r>
              <a:rPr lang="en-US" sz="2400" dirty="0"/>
              <a:t>?</a:t>
            </a:r>
          </a:p>
          <a:p>
            <a:pPr marL="342900" indent="-342900">
              <a:buFont typeface="Arial" panose="020B0604020202020204" pitchFamily="34" charset="0"/>
              <a:buChar char="•"/>
            </a:pPr>
            <a:r>
              <a:rPr lang="en-US" sz="2400" dirty="0"/>
              <a:t>Whose knowledge do we </a:t>
            </a:r>
            <a:r>
              <a:rPr lang="en-US" sz="2400" b="1" dirty="0"/>
              <a:t>value </a:t>
            </a:r>
            <a:r>
              <a:rPr lang="en-US" sz="2400" dirty="0"/>
              <a:t>and </a:t>
            </a:r>
            <a:r>
              <a:rPr lang="en-US" sz="2400" b="1" dirty="0"/>
              <a:t>acknowledge</a:t>
            </a:r>
            <a:r>
              <a:rPr lang="en-US" sz="2400" dirty="0"/>
              <a:t>? </a:t>
            </a:r>
          </a:p>
          <a:p>
            <a:pPr marL="342900" indent="-342900">
              <a:buFont typeface="Arial" panose="020B0604020202020204" pitchFamily="34" charset="0"/>
              <a:buChar char="•"/>
            </a:pPr>
            <a:r>
              <a:rPr lang="en-US" sz="2400" dirty="0"/>
              <a:t>How are people from </a:t>
            </a:r>
            <a:r>
              <a:rPr lang="en-US" sz="2400" b="1" dirty="0"/>
              <a:t>under-represented communities impacted</a:t>
            </a:r>
            <a:r>
              <a:rPr lang="en-US" sz="2400" dirty="0"/>
              <a:t>?</a:t>
            </a:r>
          </a:p>
        </p:txBody>
      </p:sp>
      <p:sp>
        <p:nvSpPr>
          <p:cNvPr id="6" name="TextBox 5">
            <a:extLst>
              <a:ext uri="{FF2B5EF4-FFF2-40B4-BE49-F238E27FC236}">
                <a16:creationId xmlns:a16="http://schemas.microsoft.com/office/drawing/2014/main" id="{C5464797-6E00-C251-7369-520C5FB018D9}"/>
              </a:ext>
            </a:extLst>
          </p:cNvPr>
          <p:cNvSpPr txBox="1"/>
          <p:nvPr/>
        </p:nvSpPr>
        <p:spPr>
          <a:xfrm>
            <a:off x="295834" y="5615582"/>
            <a:ext cx="5835636" cy="1015663"/>
          </a:xfrm>
          <a:prstGeom prst="rect">
            <a:avLst/>
          </a:prstGeom>
          <a:solidFill>
            <a:schemeClr val="bg1">
              <a:lumMod val="85000"/>
            </a:schemeClr>
          </a:solidFill>
        </p:spPr>
        <p:txBody>
          <a:bodyPr wrap="none" rtlCol="0">
            <a:spAutoFit/>
          </a:bodyPr>
          <a:lstStyle/>
          <a:p>
            <a:r>
              <a:rPr lang="en-US" sz="2000" b="1" dirty="0"/>
              <a:t>Equity </a:t>
            </a:r>
            <a:r>
              <a:rPr lang="en-US" sz="2000" dirty="0"/>
              <a:t>= Fairness based on need</a:t>
            </a:r>
          </a:p>
          <a:p>
            <a:r>
              <a:rPr lang="en-US" sz="2000" b="1" dirty="0"/>
              <a:t>Justice</a:t>
            </a:r>
            <a:r>
              <a:rPr lang="en-US" sz="2000" dirty="0"/>
              <a:t> = Transformation of the system by </a:t>
            </a:r>
          </a:p>
          <a:p>
            <a:r>
              <a:rPr lang="en-US" sz="2000" dirty="0"/>
              <a:t>removing cause of inequity to ensure fairness for all</a:t>
            </a:r>
          </a:p>
        </p:txBody>
      </p:sp>
      <p:sp>
        <p:nvSpPr>
          <p:cNvPr id="8" name="TextBox 7">
            <a:extLst>
              <a:ext uri="{FF2B5EF4-FFF2-40B4-BE49-F238E27FC236}">
                <a16:creationId xmlns:a16="http://schemas.microsoft.com/office/drawing/2014/main" id="{61F01CBF-5654-B872-38BA-5FE38196BDC7}"/>
              </a:ext>
            </a:extLst>
          </p:cNvPr>
          <p:cNvSpPr txBox="1"/>
          <p:nvPr/>
        </p:nvSpPr>
        <p:spPr>
          <a:xfrm>
            <a:off x="176311" y="1314079"/>
            <a:ext cx="11384125" cy="830997"/>
          </a:xfrm>
          <a:prstGeom prst="rect">
            <a:avLst/>
          </a:prstGeom>
          <a:noFill/>
        </p:spPr>
        <p:txBody>
          <a:bodyPr wrap="square" rtlCol="0">
            <a:spAutoFit/>
          </a:bodyPr>
          <a:lstStyle/>
          <a:p>
            <a:r>
              <a:rPr lang="en-US" sz="2400" dirty="0"/>
              <a:t>Not considering </a:t>
            </a:r>
            <a:r>
              <a:rPr lang="en-US" sz="2400" b="1" dirty="0"/>
              <a:t>equity</a:t>
            </a:r>
            <a:r>
              <a:rPr lang="en-US" sz="2400" dirty="0"/>
              <a:t> and </a:t>
            </a:r>
            <a:r>
              <a:rPr lang="en-US" sz="2400" b="1" dirty="0"/>
              <a:t>(social) justice, </a:t>
            </a:r>
            <a:r>
              <a:rPr lang="en-US" sz="2400" dirty="0"/>
              <a:t>risks </a:t>
            </a:r>
            <a:r>
              <a:rPr lang="en-US" sz="2400" b="1" dirty="0"/>
              <a:t>replicating</a:t>
            </a:r>
            <a:r>
              <a:rPr lang="en-US" sz="2400" dirty="0"/>
              <a:t> the </a:t>
            </a:r>
            <a:r>
              <a:rPr lang="en-US" sz="2400" b="1" dirty="0"/>
              <a:t>status quo </a:t>
            </a:r>
            <a:r>
              <a:rPr lang="en-US" sz="2400" dirty="0"/>
              <a:t>and perpetuating harm to </a:t>
            </a:r>
            <a:r>
              <a:rPr lang="en-US" sz="2400" b="1" dirty="0"/>
              <a:t>under-represented communities</a:t>
            </a:r>
            <a:r>
              <a:rPr lang="en-US" sz="2400" dirty="0"/>
              <a:t>.</a:t>
            </a:r>
          </a:p>
        </p:txBody>
      </p:sp>
      <p:sp>
        <p:nvSpPr>
          <p:cNvPr id="2" name="TextBox 1">
            <a:extLst>
              <a:ext uri="{FF2B5EF4-FFF2-40B4-BE49-F238E27FC236}">
                <a16:creationId xmlns:a16="http://schemas.microsoft.com/office/drawing/2014/main" id="{11B09DA5-2FDE-B213-C634-428763B59623}"/>
              </a:ext>
            </a:extLst>
          </p:cNvPr>
          <p:cNvSpPr txBox="1"/>
          <p:nvPr/>
        </p:nvSpPr>
        <p:spPr>
          <a:xfrm>
            <a:off x="6280583" y="5891351"/>
            <a:ext cx="2251428" cy="923330"/>
          </a:xfrm>
          <a:prstGeom prst="rect">
            <a:avLst/>
          </a:prstGeom>
          <a:noFill/>
        </p:spPr>
        <p:txBody>
          <a:bodyPr wrap="square" rtlCol="0">
            <a:spAutoFit/>
          </a:bodyPr>
          <a:lstStyle/>
          <a:p>
            <a:r>
              <a:rPr lang="en-US" dirty="0">
                <a:solidFill>
                  <a:schemeClr val="bg1">
                    <a:lumMod val="50000"/>
                  </a:schemeClr>
                </a:solidFill>
              </a:rPr>
              <a:t>Adapted from </a:t>
            </a:r>
            <a:r>
              <a:rPr lang="en-US" dirty="0">
                <a:solidFill>
                  <a:schemeClr val="bg1">
                    <a:lumMod val="50000"/>
                  </a:schemeClr>
                </a:solidFill>
                <a:hlinkClick r:id="rId7"/>
              </a:rPr>
              <a:t>Middleton et al. 2026 </a:t>
            </a:r>
            <a:r>
              <a:rPr lang="en-US" dirty="0">
                <a:solidFill>
                  <a:schemeClr val="bg1">
                    <a:lumMod val="50000"/>
                  </a:schemeClr>
                </a:solidFill>
              </a:rPr>
              <a:t>(CC BY NC SA)</a:t>
            </a:r>
          </a:p>
        </p:txBody>
      </p:sp>
    </p:spTree>
    <p:extLst>
      <p:ext uri="{BB962C8B-B14F-4D97-AF65-F5344CB8AC3E}">
        <p14:creationId xmlns:p14="http://schemas.microsoft.com/office/powerpoint/2010/main" val="9893487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C0413586-8008-AAC4-5BE4-E958D7738389}"/>
              </a:ext>
            </a:extLst>
          </p:cNvPr>
          <p:cNvSpPr/>
          <p:nvPr/>
        </p:nvSpPr>
        <p:spPr>
          <a:xfrm>
            <a:off x="4774112" y="2376506"/>
            <a:ext cx="5724515" cy="1250110"/>
          </a:xfrm>
          <a:prstGeom prst="rect">
            <a:avLst/>
          </a:prstGeom>
          <a:solidFill>
            <a:schemeClr val="bg1">
              <a:lumMod val="50000"/>
              <a:alpha val="37067"/>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CF3F8EAC-3353-78FD-91AC-7CDD1FCA45F1}"/>
              </a:ext>
            </a:extLst>
          </p:cNvPr>
          <p:cNvSpPr/>
          <p:nvPr/>
        </p:nvSpPr>
        <p:spPr>
          <a:xfrm>
            <a:off x="4774112" y="909055"/>
            <a:ext cx="5724515" cy="1235362"/>
          </a:xfrm>
          <a:prstGeom prst="rect">
            <a:avLst/>
          </a:prstGeom>
          <a:solidFill>
            <a:schemeClr val="bg1">
              <a:lumMod val="50000"/>
              <a:alpha val="37067"/>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 name="Group 10">
            <a:extLst>
              <a:ext uri="{FF2B5EF4-FFF2-40B4-BE49-F238E27FC236}">
                <a16:creationId xmlns:a16="http://schemas.microsoft.com/office/drawing/2014/main" id="{F29EA8D6-720F-B6A4-3953-8AF1EF0685D5}"/>
              </a:ext>
            </a:extLst>
          </p:cNvPr>
          <p:cNvGrpSpPr/>
          <p:nvPr/>
        </p:nvGrpSpPr>
        <p:grpSpPr>
          <a:xfrm>
            <a:off x="10704849" y="6564312"/>
            <a:ext cx="1362075" cy="273690"/>
            <a:chOff x="19317" y="2690018"/>
            <a:chExt cx="11784755" cy="2025180"/>
          </a:xfrm>
        </p:grpSpPr>
        <p:pic>
          <p:nvPicPr>
            <p:cNvPr id="12" name="Picture 2">
              <a:extLst>
                <a:ext uri="{FF2B5EF4-FFF2-40B4-BE49-F238E27FC236}">
                  <a16:creationId xmlns:a16="http://schemas.microsoft.com/office/drawing/2014/main" id="{445FC6BF-1476-D709-F11D-9053940001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5FE15374-8CBF-74EC-C369-6A738302CCC2}"/>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2" name="Title 1">
            <a:extLst>
              <a:ext uri="{FF2B5EF4-FFF2-40B4-BE49-F238E27FC236}">
                <a16:creationId xmlns:a16="http://schemas.microsoft.com/office/drawing/2014/main" id="{601E4D56-B9B9-A7A8-B53A-ACFFB6B391F8}"/>
              </a:ext>
            </a:extLst>
          </p:cNvPr>
          <p:cNvSpPr>
            <a:spLocks noGrp="1"/>
          </p:cNvSpPr>
          <p:nvPr>
            <p:ph type="title"/>
          </p:nvPr>
        </p:nvSpPr>
        <p:spPr>
          <a:xfrm>
            <a:off x="0" y="1"/>
            <a:ext cx="12192000" cy="1060174"/>
          </a:xfrm>
        </p:spPr>
        <p:txBody>
          <a:bodyPr>
            <a:normAutofit/>
          </a:bodyPr>
          <a:lstStyle/>
          <a:p>
            <a:r>
              <a:rPr lang="en-US" b="1" dirty="0"/>
              <a:t>FAIR data management also needs CARE</a:t>
            </a:r>
          </a:p>
        </p:txBody>
      </p:sp>
      <p:sp>
        <p:nvSpPr>
          <p:cNvPr id="4" name="Slide Number Placeholder 3">
            <a:extLst>
              <a:ext uri="{FF2B5EF4-FFF2-40B4-BE49-F238E27FC236}">
                <a16:creationId xmlns:a16="http://schemas.microsoft.com/office/drawing/2014/main" id="{A6CB19FE-AF56-2AA0-E929-E4A9D91B1034}"/>
              </a:ext>
            </a:extLst>
          </p:cNvPr>
          <p:cNvSpPr>
            <a:spLocks noGrp="1"/>
          </p:cNvSpPr>
          <p:nvPr>
            <p:ph type="sldNum" sz="quarter" idx="12"/>
          </p:nvPr>
        </p:nvSpPr>
        <p:spPr/>
        <p:txBody>
          <a:bodyPr/>
          <a:lstStyle/>
          <a:p>
            <a:fld id="{DC6309F4-03C8-4D48-A124-A9AD6E083FAC}" type="slidenum">
              <a:rPr lang="en-US" smtClean="0"/>
              <a:t>46</a:t>
            </a:fld>
            <a:endParaRPr lang="en-US"/>
          </a:p>
        </p:txBody>
      </p:sp>
      <p:pic>
        <p:nvPicPr>
          <p:cNvPr id="5" name="Picture 4">
            <a:extLst>
              <a:ext uri="{FF2B5EF4-FFF2-40B4-BE49-F238E27FC236}">
                <a16:creationId xmlns:a16="http://schemas.microsoft.com/office/drawing/2014/main" id="{E8896BE0-4FD3-2026-B16F-3CA6D1C6E05C}"/>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371613" y="832033"/>
            <a:ext cx="4071979" cy="5524317"/>
          </a:xfrm>
          <a:prstGeom prst="rect">
            <a:avLst/>
          </a:prstGeom>
        </p:spPr>
      </p:pic>
      <p:sp>
        <p:nvSpPr>
          <p:cNvPr id="8" name="TextBox 7">
            <a:extLst>
              <a:ext uri="{FF2B5EF4-FFF2-40B4-BE49-F238E27FC236}">
                <a16:creationId xmlns:a16="http://schemas.microsoft.com/office/drawing/2014/main" id="{BEE26594-2F7A-D3E7-7F60-ED3C48DBA8BC}"/>
              </a:ext>
            </a:extLst>
          </p:cNvPr>
          <p:cNvSpPr txBox="1"/>
          <p:nvPr/>
        </p:nvSpPr>
        <p:spPr>
          <a:xfrm>
            <a:off x="4815205" y="944088"/>
            <a:ext cx="5587309" cy="1200329"/>
          </a:xfrm>
          <a:prstGeom prst="rect">
            <a:avLst/>
          </a:prstGeom>
          <a:noFill/>
        </p:spPr>
        <p:txBody>
          <a:bodyPr wrap="square" rtlCol="0">
            <a:spAutoFit/>
          </a:bodyPr>
          <a:lstStyle/>
          <a:p>
            <a:r>
              <a:rPr lang="en-US" sz="2400" b="1" dirty="0"/>
              <a:t>FAIR </a:t>
            </a:r>
            <a:r>
              <a:rPr lang="en-US" sz="2400" dirty="0"/>
              <a:t>asks: Are people able to access and reuse these data?</a:t>
            </a:r>
          </a:p>
          <a:p>
            <a:r>
              <a:rPr lang="en-US" sz="2400" i="1" dirty="0"/>
              <a:t>Technical infrastructure focus</a:t>
            </a:r>
            <a:endParaRPr lang="en-US" sz="2400" dirty="0"/>
          </a:p>
        </p:txBody>
      </p:sp>
      <p:pic>
        <p:nvPicPr>
          <p:cNvPr id="9" name="Graphic 8" descr="Weights Uneven with solid fill">
            <a:extLst>
              <a:ext uri="{FF2B5EF4-FFF2-40B4-BE49-F238E27FC236}">
                <a16:creationId xmlns:a16="http://schemas.microsoft.com/office/drawing/2014/main" id="{092DCF95-2502-531D-B035-BB551B173B3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650810" y="168810"/>
            <a:ext cx="1065010" cy="1065010"/>
          </a:xfrm>
          <a:prstGeom prst="rect">
            <a:avLst/>
          </a:prstGeom>
        </p:spPr>
      </p:pic>
      <p:sp>
        <p:nvSpPr>
          <p:cNvPr id="10" name="TextBox 9">
            <a:extLst>
              <a:ext uri="{FF2B5EF4-FFF2-40B4-BE49-F238E27FC236}">
                <a16:creationId xmlns:a16="http://schemas.microsoft.com/office/drawing/2014/main" id="{1F20311A-737E-6AF5-0CA8-4A17157643AE}"/>
              </a:ext>
            </a:extLst>
          </p:cNvPr>
          <p:cNvSpPr txBox="1"/>
          <p:nvPr/>
        </p:nvSpPr>
        <p:spPr>
          <a:xfrm>
            <a:off x="782766" y="6356350"/>
            <a:ext cx="3249672" cy="369332"/>
          </a:xfrm>
          <a:prstGeom prst="rect">
            <a:avLst/>
          </a:prstGeom>
          <a:noFill/>
        </p:spPr>
        <p:txBody>
          <a:bodyPr wrap="none" rtlCol="0">
            <a:spAutoFit/>
          </a:bodyPr>
          <a:lstStyle/>
          <a:p>
            <a:r>
              <a:rPr lang="en-US" dirty="0">
                <a:solidFill>
                  <a:schemeClr val="bg1">
                    <a:lumMod val="50000"/>
                  </a:schemeClr>
                </a:solidFill>
              </a:rPr>
              <a:t>Image from </a:t>
            </a:r>
            <a:r>
              <a:rPr lang="en-US" dirty="0">
                <a:solidFill>
                  <a:schemeClr val="bg1">
                    <a:lumMod val="50000"/>
                  </a:schemeClr>
                </a:solidFill>
                <a:hlinkClick r:id="rId7"/>
              </a:rPr>
              <a:t>Carroll et al. (2020)</a:t>
            </a:r>
            <a:endParaRPr lang="en-US" dirty="0">
              <a:solidFill>
                <a:schemeClr val="bg1">
                  <a:lumMod val="50000"/>
                </a:schemeClr>
              </a:solidFill>
            </a:endParaRPr>
          </a:p>
        </p:txBody>
      </p:sp>
      <p:sp>
        <p:nvSpPr>
          <p:cNvPr id="14" name="TextBox 13">
            <a:extLst>
              <a:ext uri="{FF2B5EF4-FFF2-40B4-BE49-F238E27FC236}">
                <a16:creationId xmlns:a16="http://schemas.microsoft.com/office/drawing/2014/main" id="{EF396126-1F5A-7A91-9BED-1F655F09E17B}"/>
              </a:ext>
            </a:extLst>
          </p:cNvPr>
          <p:cNvSpPr txBox="1"/>
          <p:nvPr/>
        </p:nvSpPr>
        <p:spPr>
          <a:xfrm>
            <a:off x="4653556" y="4113419"/>
            <a:ext cx="6189708" cy="1200329"/>
          </a:xfrm>
          <a:prstGeom prst="rect">
            <a:avLst/>
          </a:prstGeom>
          <a:noFill/>
        </p:spPr>
        <p:txBody>
          <a:bodyPr wrap="none" rtlCol="0">
            <a:spAutoFit/>
          </a:bodyPr>
          <a:lstStyle/>
          <a:p>
            <a:r>
              <a:rPr lang="en-US" sz="2400" dirty="0"/>
              <a:t>Consider CARE Principles when working with:</a:t>
            </a:r>
          </a:p>
          <a:p>
            <a:pPr marL="285750" indent="-285750">
              <a:buFont typeface="Arial" panose="020B0604020202020204" pitchFamily="34" charset="0"/>
              <a:buChar char="•"/>
            </a:pPr>
            <a:r>
              <a:rPr lang="en-US" sz="2400" dirty="0"/>
              <a:t>Indigenous communities</a:t>
            </a:r>
          </a:p>
          <a:p>
            <a:pPr marL="285750" indent="-285750">
              <a:buFont typeface="Arial" panose="020B0604020202020204" pitchFamily="34" charset="0"/>
              <a:buChar char="•"/>
            </a:pPr>
            <a:r>
              <a:rPr lang="en-US" sz="2400" dirty="0"/>
              <a:t>Vulnerable or marginalized communities</a:t>
            </a:r>
          </a:p>
        </p:txBody>
      </p:sp>
      <p:sp>
        <p:nvSpPr>
          <p:cNvPr id="20" name="TextBox 19">
            <a:extLst>
              <a:ext uri="{FF2B5EF4-FFF2-40B4-BE49-F238E27FC236}">
                <a16:creationId xmlns:a16="http://schemas.microsoft.com/office/drawing/2014/main" id="{E14F73AC-32D2-B84D-DFE7-AB103ABABAEB}"/>
              </a:ext>
            </a:extLst>
          </p:cNvPr>
          <p:cNvSpPr txBox="1"/>
          <p:nvPr/>
        </p:nvSpPr>
        <p:spPr>
          <a:xfrm>
            <a:off x="4842714" y="2386755"/>
            <a:ext cx="5587309" cy="1200329"/>
          </a:xfrm>
          <a:prstGeom prst="rect">
            <a:avLst/>
          </a:prstGeom>
          <a:noFill/>
        </p:spPr>
        <p:txBody>
          <a:bodyPr wrap="square">
            <a:spAutoFit/>
          </a:bodyPr>
          <a:lstStyle/>
          <a:p>
            <a:r>
              <a:rPr lang="en-US" sz="2400" b="1" dirty="0"/>
              <a:t>CARE</a:t>
            </a:r>
            <a:r>
              <a:rPr lang="en-US" sz="2400" dirty="0"/>
              <a:t> asks: Should these data be accessible and to whom? Who decides?</a:t>
            </a:r>
          </a:p>
          <a:p>
            <a:r>
              <a:rPr lang="en-US" sz="2400" i="1" dirty="0"/>
              <a:t>Equity and ethics focus</a:t>
            </a:r>
          </a:p>
        </p:txBody>
      </p:sp>
      <p:sp>
        <p:nvSpPr>
          <p:cNvPr id="21" name="TextBox 20">
            <a:extLst>
              <a:ext uri="{FF2B5EF4-FFF2-40B4-BE49-F238E27FC236}">
                <a16:creationId xmlns:a16="http://schemas.microsoft.com/office/drawing/2014/main" id="{DE8363CA-4EA5-6597-AD53-8964971BAC54}"/>
              </a:ext>
            </a:extLst>
          </p:cNvPr>
          <p:cNvSpPr txBox="1"/>
          <p:nvPr/>
        </p:nvSpPr>
        <p:spPr>
          <a:xfrm>
            <a:off x="4754642" y="5878874"/>
            <a:ext cx="5936503" cy="1200329"/>
          </a:xfrm>
          <a:prstGeom prst="rect">
            <a:avLst/>
          </a:prstGeom>
          <a:noFill/>
        </p:spPr>
        <p:txBody>
          <a:bodyPr wrap="square">
            <a:spAutoFit/>
          </a:bodyPr>
          <a:lstStyle/>
          <a:p>
            <a:r>
              <a:rPr lang="en-GB" dirty="0"/>
              <a:t>FAIR = Findable, Accessible, Interoperable and Reusable</a:t>
            </a:r>
          </a:p>
          <a:p>
            <a:r>
              <a:rPr lang="en-GB" dirty="0"/>
              <a:t>CARE = Collective Benefit, Authority to Control, Responsibility, and Ethics</a:t>
            </a:r>
            <a:endParaRPr lang="en-US" dirty="0"/>
          </a:p>
          <a:p>
            <a:endParaRPr lang="en-US" dirty="0"/>
          </a:p>
        </p:txBody>
      </p:sp>
    </p:spTree>
    <p:extLst>
      <p:ext uri="{BB962C8B-B14F-4D97-AF65-F5344CB8AC3E}">
        <p14:creationId xmlns:p14="http://schemas.microsoft.com/office/powerpoint/2010/main" val="32329722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27D25-9203-7315-9164-790E9FB68AF1}"/>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AA3BB747-07B7-BA46-1330-93C19F9D803C}"/>
              </a:ext>
            </a:extLst>
          </p:cNvPr>
          <p:cNvPicPr>
            <a:picLocks noChangeAspect="1"/>
          </p:cNvPicPr>
          <p:nvPr/>
        </p:nvPicPr>
        <p:blipFill>
          <a:blip r:embed="rId3"/>
          <a:stretch>
            <a:fillRect/>
          </a:stretch>
        </p:blipFill>
        <p:spPr>
          <a:xfrm>
            <a:off x="6109447" y="4654308"/>
            <a:ext cx="4758509" cy="1932389"/>
          </a:xfrm>
          <a:prstGeom prst="rect">
            <a:avLst/>
          </a:prstGeom>
        </p:spPr>
      </p:pic>
      <p:grpSp>
        <p:nvGrpSpPr>
          <p:cNvPr id="63" name="Group 62">
            <a:extLst>
              <a:ext uri="{FF2B5EF4-FFF2-40B4-BE49-F238E27FC236}">
                <a16:creationId xmlns:a16="http://schemas.microsoft.com/office/drawing/2014/main" id="{CB13E981-BCD6-8FCF-AFDB-AF998040BA85}"/>
              </a:ext>
            </a:extLst>
          </p:cNvPr>
          <p:cNvGrpSpPr/>
          <p:nvPr/>
        </p:nvGrpSpPr>
        <p:grpSpPr>
          <a:xfrm>
            <a:off x="10704849" y="6564312"/>
            <a:ext cx="1362075" cy="273690"/>
            <a:chOff x="19317" y="2690018"/>
            <a:chExt cx="11784755" cy="2025180"/>
          </a:xfrm>
        </p:grpSpPr>
        <p:pic>
          <p:nvPicPr>
            <p:cNvPr id="64" name="Picture 2">
              <a:extLst>
                <a:ext uri="{FF2B5EF4-FFF2-40B4-BE49-F238E27FC236}">
                  <a16:creationId xmlns:a16="http://schemas.microsoft.com/office/drawing/2014/main" id="{3A91F85E-EC5D-134B-4A9C-AAA05F878B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4">
              <a:extLst>
                <a:ext uri="{FF2B5EF4-FFF2-40B4-BE49-F238E27FC236}">
                  <a16:creationId xmlns:a16="http://schemas.microsoft.com/office/drawing/2014/main" id="{3F11CAEF-BB35-7E67-0A05-CC5A9A625482}"/>
                </a:ext>
              </a:extLst>
            </p:cNvPr>
            <p:cNvPicPr>
              <a:picLocks noChangeAspect="1"/>
            </p:cNvPicPr>
            <p:nvPr/>
          </p:nvPicPr>
          <p:blipFill>
            <a:blip r:embed="rId5"/>
            <a:stretch>
              <a:fillRect/>
            </a:stretch>
          </p:blipFill>
          <p:spPr>
            <a:xfrm>
              <a:off x="5728531" y="2690018"/>
              <a:ext cx="6075541" cy="2025180"/>
            </a:xfrm>
            <a:prstGeom prst="rect">
              <a:avLst/>
            </a:prstGeom>
          </p:spPr>
        </p:pic>
      </p:grpSp>
      <p:sp>
        <p:nvSpPr>
          <p:cNvPr id="4" name="Title 1">
            <a:extLst>
              <a:ext uri="{FF2B5EF4-FFF2-40B4-BE49-F238E27FC236}">
                <a16:creationId xmlns:a16="http://schemas.microsoft.com/office/drawing/2014/main" id="{42971644-A380-4FCD-3BC1-CD348BA86B8E}"/>
              </a:ext>
            </a:extLst>
          </p:cNvPr>
          <p:cNvSpPr txBox="1">
            <a:spLocks/>
          </p:cNvSpPr>
          <p:nvPr/>
        </p:nvSpPr>
        <p:spPr>
          <a:xfrm>
            <a:off x="0" y="-11484"/>
            <a:ext cx="12147176" cy="830997"/>
          </a:xfrm>
          <a:prstGeom prst="rect">
            <a:avLst/>
          </a:prstGeom>
          <a:noFill/>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Open Science challenges around equity and (social) justice</a:t>
            </a:r>
          </a:p>
        </p:txBody>
      </p:sp>
      <p:sp>
        <p:nvSpPr>
          <p:cNvPr id="62" name="Slide Number Placeholder 61">
            <a:extLst>
              <a:ext uri="{FF2B5EF4-FFF2-40B4-BE49-F238E27FC236}">
                <a16:creationId xmlns:a16="http://schemas.microsoft.com/office/drawing/2014/main" id="{E5BBB46D-A56D-600D-3AE1-9D859E5207FF}"/>
              </a:ext>
            </a:extLst>
          </p:cNvPr>
          <p:cNvSpPr>
            <a:spLocks noGrp="1"/>
          </p:cNvSpPr>
          <p:nvPr>
            <p:ph type="sldNum" sz="quarter" idx="12"/>
          </p:nvPr>
        </p:nvSpPr>
        <p:spPr/>
        <p:txBody>
          <a:bodyPr/>
          <a:lstStyle/>
          <a:p>
            <a:fld id="{DC6309F4-03C8-4D48-A124-A9AD6E083FAC}" type="slidenum">
              <a:rPr lang="en-US" smtClean="0"/>
              <a:t>47</a:t>
            </a:fld>
            <a:endParaRPr lang="en-US"/>
          </a:p>
        </p:txBody>
      </p:sp>
      <p:pic>
        <p:nvPicPr>
          <p:cNvPr id="9" name="Picture 8">
            <a:extLst>
              <a:ext uri="{FF2B5EF4-FFF2-40B4-BE49-F238E27FC236}">
                <a16:creationId xmlns:a16="http://schemas.microsoft.com/office/drawing/2014/main" id="{59091DC5-8CF3-53E7-79E0-A4F42E2DA167}"/>
              </a:ext>
            </a:extLst>
          </p:cNvPr>
          <p:cNvPicPr>
            <a:picLocks noChangeAspect="1"/>
          </p:cNvPicPr>
          <p:nvPr/>
        </p:nvPicPr>
        <p:blipFill>
          <a:blip r:embed="rId6"/>
          <a:stretch>
            <a:fillRect/>
          </a:stretch>
        </p:blipFill>
        <p:spPr>
          <a:xfrm>
            <a:off x="6288742" y="819513"/>
            <a:ext cx="5382304" cy="3618870"/>
          </a:xfrm>
          <a:prstGeom prst="rect">
            <a:avLst/>
          </a:prstGeom>
        </p:spPr>
      </p:pic>
      <p:sp>
        <p:nvSpPr>
          <p:cNvPr id="7" name="TextBox 6">
            <a:extLst>
              <a:ext uri="{FF2B5EF4-FFF2-40B4-BE49-F238E27FC236}">
                <a16:creationId xmlns:a16="http://schemas.microsoft.com/office/drawing/2014/main" id="{A2CA6A0A-B059-3671-0379-E890AAC739D4}"/>
              </a:ext>
            </a:extLst>
          </p:cNvPr>
          <p:cNvSpPr txBox="1"/>
          <p:nvPr/>
        </p:nvSpPr>
        <p:spPr>
          <a:xfrm>
            <a:off x="125076" y="5620503"/>
            <a:ext cx="5436707" cy="954107"/>
          </a:xfrm>
          <a:prstGeom prst="rect">
            <a:avLst/>
          </a:prstGeom>
          <a:solidFill>
            <a:schemeClr val="bg1">
              <a:lumMod val="85000"/>
            </a:schemeClr>
          </a:solidFill>
        </p:spPr>
        <p:txBody>
          <a:bodyPr wrap="square" rtlCol="0">
            <a:spAutoFit/>
          </a:bodyPr>
          <a:lstStyle/>
          <a:p>
            <a:r>
              <a:rPr lang="en-US" sz="2000" dirty="0"/>
              <a:t>See OSC training module on citation politics:</a:t>
            </a:r>
          </a:p>
          <a:p>
            <a:r>
              <a:rPr lang="en-US" sz="1200" dirty="0">
                <a:hlinkClick r:id="rId7"/>
              </a:rPr>
              <a:t>https://lmu-osc.github.io/train-the-trainer-student-track-pedagogy/materials/PMM-M4/PMM-M4-S3-Citation-Politics/PMM-M4-S3-Citation-Politics.html</a:t>
            </a:r>
            <a:r>
              <a:rPr lang="en-US" sz="1200" dirty="0"/>
              <a:t> </a:t>
            </a:r>
          </a:p>
        </p:txBody>
      </p:sp>
      <p:pic>
        <p:nvPicPr>
          <p:cNvPr id="10" name="Picture 9">
            <a:extLst>
              <a:ext uri="{FF2B5EF4-FFF2-40B4-BE49-F238E27FC236}">
                <a16:creationId xmlns:a16="http://schemas.microsoft.com/office/drawing/2014/main" id="{D8EAED96-DBD3-3B4D-0CC2-781AD918D26F}"/>
              </a:ext>
            </a:extLst>
          </p:cNvPr>
          <p:cNvPicPr>
            <a:picLocks noChangeAspect="1"/>
          </p:cNvPicPr>
          <p:nvPr/>
        </p:nvPicPr>
        <p:blipFill>
          <a:blip r:embed="rId8"/>
          <a:stretch>
            <a:fillRect/>
          </a:stretch>
        </p:blipFill>
        <p:spPr>
          <a:xfrm>
            <a:off x="125076" y="3336026"/>
            <a:ext cx="5567128" cy="1689234"/>
          </a:xfrm>
          <a:prstGeom prst="rect">
            <a:avLst/>
          </a:prstGeom>
        </p:spPr>
      </p:pic>
      <p:pic>
        <p:nvPicPr>
          <p:cNvPr id="2" name="Picture 1">
            <a:extLst>
              <a:ext uri="{FF2B5EF4-FFF2-40B4-BE49-F238E27FC236}">
                <a16:creationId xmlns:a16="http://schemas.microsoft.com/office/drawing/2014/main" id="{723B1F8B-6380-5799-4D27-DC3FE6525317}"/>
              </a:ext>
            </a:extLst>
          </p:cNvPr>
          <p:cNvPicPr>
            <a:picLocks noChangeAspect="1"/>
          </p:cNvPicPr>
          <p:nvPr/>
        </p:nvPicPr>
        <p:blipFill>
          <a:blip r:embed="rId9"/>
          <a:stretch>
            <a:fillRect/>
          </a:stretch>
        </p:blipFill>
        <p:spPr>
          <a:xfrm>
            <a:off x="44824" y="667148"/>
            <a:ext cx="5858436" cy="2436842"/>
          </a:xfrm>
          <a:prstGeom prst="rect">
            <a:avLst/>
          </a:prstGeom>
        </p:spPr>
      </p:pic>
    </p:spTree>
    <p:extLst>
      <p:ext uri="{BB962C8B-B14F-4D97-AF65-F5344CB8AC3E}">
        <p14:creationId xmlns:p14="http://schemas.microsoft.com/office/powerpoint/2010/main" val="36254363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F8EFF-93F7-D4EE-FF6F-CA62A66E2BB3}"/>
            </a:ext>
          </a:extLst>
        </p:cNvPr>
        <p:cNvGrpSpPr/>
        <p:nvPr/>
      </p:nvGrpSpPr>
      <p:grpSpPr>
        <a:xfrm>
          <a:off x="0" y="0"/>
          <a:ext cx="0" cy="0"/>
          <a:chOff x="0" y="0"/>
          <a:chExt cx="0" cy="0"/>
        </a:xfrm>
      </p:grpSpPr>
      <p:grpSp>
        <p:nvGrpSpPr>
          <p:cNvPr id="16" name="Group 15">
            <a:extLst>
              <a:ext uri="{FF2B5EF4-FFF2-40B4-BE49-F238E27FC236}">
                <a16:creationId xmlns:a16="http://schemas.microsoft.com/office/drawing/2014/main" id="{29BD0CAE-1B10-F787-5497-81818171B3B2}"/>
              </a:ext>
            </a:extLst>
          </p:cNvPr>
          <p:cNvGrpSpPr/>
          <p:nvPr/>
        </p:nvGrpSpPr>
        <p:grpSpPr>
          <a:xfrm>
            <a:off x="10704849" y="6564312"/>
            <a:ext cx="1362075" cy="273690"/>
            <a:chOff x="19317" y="2690018"/>
            <a:chExt cx="11784755" cy="2025180"/>
          </a:xfrm>
        </p:grpSpPr>
        <p:pic>
          <p:nvPicPr>
            <p:cNvPr id="17" name="Picture 2">
              <a:extLst>
                <a:ext uri="{FF2B5EF4-FFF2-40B4-BE49-F238E27FC236}">
                  <a16:creationId xmlns:a16="http://schemas.microsoft.com/office/drawing/2014/main" id="{0E63DCA7-285D-58A1-D2B6-C4CA48AF43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1567BAE-A72D-F3C8-619D-2E0E95894320}"/>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4" name="Title 1">
            <a:extLst>
              <a:ext uri="{FF2B5EF4-FFF2-40B4-BE49-F238E27FC236}">
                <a16:creationId xmlns:a16="http://schemas.microsoft.com/office/drawing/2014/main" id="{0D5A5623-C478-C706-F8D4-97386A9BB481}"/>
              </a:ext>
            </a:extLst>
          </p:cNvPr>
          <p:cNvSpPr txBox="1">
            <a:spLocks/>
          </p:cNvSpPr>
          <p:nvPr/>
        </p:nvSpPr>
        <p:spPr>
          <a:xfrm>
            <a:off x="0" y="0"/>
            <a:ext cx="121920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Challenges in Open Science: AI technologies</a:t>
            </a:r>
          </a:p>
        </p:txBody>
      </p:sp>
      <p:sp>
        <p:nvSpPr>
          <p:cNvPr id="3" name="Slide Number Placeholder 2">
            <a:extLst>
              <a:ext uri="{FF2B5EF4-FFF2-40B4-BE49-F238E27FC236}">
                <a16:creationId xmlns:a16="http://schemas.microsoft.com/office/drawing/2014/main" id="{76ABA08F-6894-CE4C-DD3B-679750CA52C7}"/>
              </a:ext>
            </a:extLst>
          </p:cNvPr>
          <p:cNvSpPr>
            <a:spLocks noGrp="1"/>
          </p:cNvSpPr>
          <p:nvPr>
            <p:ph type="sldNum" sz="quarter" idx="12"/>
          </p:nvPr>
        </p:nvSpPr>
        <p:spPr/>
        <p:txBody>
          <a:bodyPr/>
          <a:lstStyle/>
          <a:p>
            <a:fld id="{DC6309F4-03C8-4D48-A124-A9AD6E083FAC}" type="slidenum">
              <a:rPr lang="en-US" smtClean="0"/>
              <a:t>48</a:t>
            </a:fld>
            <a:endParaRPr lang="en-US"/>
          </a:p>
        </p:txBody>
      </p:sp>
      <p:sp>
        <p:nvSpPr>
          <p:cNvPr id="19" name="TextBox 18">
            <a:extLst>
              <a:ext uri="{FF2B5EF4-FFF2-40B4-BE49-F238E27FC236}">
                <a16:creationId xmlns:a16="http://schemas.microsoft.com/office/drawing/2014/main" id="{92E65DCD-09BE-7EC0-AB90-B2C44C780151}"/>
              </a:ext>
            </a:extLst>
          </p:cNvPr>
          <p:cNvSpPr txBox="1"/>
          <p:nvPr/>
        </p:nvSpPr>
        <p:spPr>
          <a:xfrm>
            <a:off x="167046" y="1163286"/>
            <a:ext cx="11905683" cy="954107"/>
          </a:xfrm>
          <a:prstGeom prst="rect">
            <a:avLst/>
          </a:prstGeom>
          <a:noFill/>
        </p:spPr>
        <p:txBody>
          <a:bodyPr wrap="square" rtlCol="0">
            <a:spAutoFit/>
          </a:bodyPr>
          <a:lstStyle/>
          <a:p>
            <a:r>
              <a:rPr lang="en-US" sz="2800" dirty="0"/>
              <a:t>Rapid usage of artificial intelligence (</a:t>
            </a:r>
            <a:r>
              <a:rPr lang="en-US" sz="2800" b="1" dirty="0"/>
              <a:t>AI) technologies </a:t>
            </a:r>
            <a:r>
              <a:rPr lang="en-US" sz="2800" dirty="0"/>
              <a:t>throughout the </a:t>
            </a:r>
            <a:r>
              <a:rPr lang="en-US" sz="2800" b="1" dirty="0"/>
              <a:t>research life cycle </a:t>
            </a:r>
            <a:r>
              <a:rPr lang="en-US" sz="2800" dirty="0"/>
              <a:t>presents</a:t>
            </a:r>
            <a:r>
              <a:rPr lang="en-US" sz="2800" b="1" dirty="0"/>
              <a:t> conceptual, practical</a:t>
            </a:r>
            <a:r>
              <a:rPr lang="en-US" sz="2800" dirty="0"/>
              <a:t> and </a:t>
            </a:r>
            <a:r>
              <a:rPr lang="en-US" sz="2800" b="1" dirty="0"/>
              <a:t>equity challenges</a:t>
            </a:r>
          </a:p>
        </p:txBody>
      </p:sp>
      <p:sp>
        <p:nvSpPr>
          <p:cNvPr id="9" name="TextBox 8">
            <a:extLst>
              <a:ext uri="{FF2B5EF4-FFF2-40B4-BE49-F238E27FC236}">
                <a16:creationId xmlns:a16="http://schemas.microsoft.com/office/drawing/2014/main" id="{6CF7E634-D48B-707F-B5F3-D191739E79A0}"/>
              </a:ext>
            </a:extLst>
          </p:cNvPr>
          <p:cNvSpPr txBox="1"/>
          <p:nvPr/>
        </p:nvSpPr>
        <p:spPr>
          <a:xfrm>
            <a:off x="266680" y="3586446"/>
            <a:ext cx="3774226" cy="3416320"/>
          </a:xfrm>
          <a:prstGeom prst="rect">
            <a:avLst/>
          </a:prstGeom>
          <a:noFill/>
        </p:spPr>
        <p:txBody>
          <a:bodyPr wrap="square" rtlCol="0">
            <a:spAutoFit/>
          </a:bodyPr>
          <a:lstStyle/>
          <a:p>
            <a:r>
              <a:rPr lang="en-US" sz="2400" b="1" dirty="0"/>
              <a:t>Ambiguity</a:t>
            </a:r>
            <a:r>
              <a:rPr lang="en-US" sz="2400" dirty="0"/>
              <a:t> around AI </a:t>
            </a:r>
            <a:r>
              <a:rPr lang="en-US" sz="2400" b="1" dirty="0"/>
              <a:t>terminology</a:t>
            </a:r>
            <a:r>
              <a:rPr lang="en-US" sz="2400" dirty="0"/>
              <a:t> (e.g. large language models vs chatbots).</a:t>
            </a:r>
          </a:p>
          <a:p>
            <a:endParaRPr lang="en-US" sz="2400" dirty="0"/>
          </a:p>
          <a:p>
            <a:r>
              <a:rPr lang="en-US" sz="2400" dirty="0"/>
              <a:t>Implications for scientific understanding?  </a:t>
            </a:r>
          </a:p>
          <a:p>
            <a:endParaRPr lang="en-US" sz="2400" dirty="0"/>
          </a:p>
          <a:p>
            <a:endParaRPr lang="en-US" sz="2400" dirty="0"/>
          </a:p>
        </p:txBody>
      </p:sp>
      <p:pic>
        <p:nvPicPr>
          <p:cNvPr id="11" name="Graphic 10" descr="Lights On with solid fill">
            <a:extLst>
              <a:ext uri="{FF2B5EF4-FFF2-40B4-BE49-F238E27FC236}">
                <a16:creationId xmlns:a16="http://schemas.microsoft.com/office/drawing/2014/main" id="{AF1E437E-A9E8-B257-7210-8E7D2E6C988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89892" y="2310014"/>
            <a:ext cx="1058877" cy="1058877"/>
          </a:xfrm>
          <a:prstGeom prst="rect">
            <a:avLst/>
          </a:prstGeom>
        </p:spPr>
      </p:pic>
      <p:pic>
        <p:nvPicPr>
          <p:cNvPr id="12" name="Graphic 11" descr="Gears with solid fill">
            <a:extLst>
              <a:ext uri="{FF2B5EF4-FFF2-40B4-BE49-F238E27FC236}">
                <a16:creationId xmlns:a16="http://schemas.microsoft.com/office/drawing/2014/main" id="{555AAFEC-17A8-6BEC-2FB9-14E303DE7D4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064277" y="2295073"/>
            <a:ext cx="1261475" cy="1261475"/>
          </a:xfrm>
          <a:prstGeom prst="rect">
            <a:avLst/>
          </a:prstGeom>
        </p:spPr>
      </p:pic>
      <p:pic>
        <p:nvPicPr>
          <p:cNvPr id="13" name="Graphic 12" descr="Weights Uneven with solid fill">
            <a:extLst>
              <a:ext uri="{FF2B5EF4-FFF2-40B4-BE49-F238E27FC236}">
                <a16:creationId xmlns:a16="http://schemas.microsoft.com/office/drawing/2014/main" id="{6FA49F22-BC76-CDCD-9FB9-19749599D52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341260" y="2378588"/>
            <a:ext cx="1065010" cy="1065010"/>
          </a:xfrm>
          <a:prstGeom prst="rect">
            <a:avLst/>
          </a:prstGeom>
        </p:spPr>
      </p:pic>
      <p:sp>
        <p:nvSpPr>
          <p:cNvPr id="14" name="TextBox 13">
            <a:extLst>
              <a:ext uri="{FF2B5EF4-FFF2-40B4-BE49-F238E27FC236}">
                <a16:creationId xmlns:a16="http://schemas.microsoft.com/office/drawing/2014/main" id="{1E168E70-5491-F2AE-B5C5-EFE7C82C532B}"/>
              </a:ext>
            </a:extLst>
          </p:cNvPr>
          <p:cNvSpPr txBox="1"/>
          <p:nvPr/>
        </p:nvSpPr>
        <p:spPr>
          <a:xfrm>
            <a:off x="4073068" y="3561513"/>
            <a:ext cx="3774226" cy="3046988"/>
          </a:xfrm>
          <a:prstGeom prst="rect">
            <a:avLst/>
          </a:prstGeom>
          <a:noFill/>
        </p:spPr>
        <p:txBody>
          <a:bodyPr wrap="square" rtlCol="0">
            <a:spAutoFit/>
          </a:bodyPr>
          <a:lstStyle/>
          <a:p>
            <a:r>
              <a:rPr lang="en-US" sz="2400" dirty="0"/>
              <a:t>Large volume of AI- generated work affecting the </a:t>
            </a:r>
            <a:r>
              <a:rPr lang="en-US" sz="2400" b="1" dirty="0"/>
              <a:t>evaluation</a:t>
            </a:r>
            <a:r>
              <a:rPr lang="en-US" sz="2400" dirty="0"/>
              <a:t> of research outputs.</a:t>
            </a:r>
          </a:p>
          <a:p>
            <a:endParaRPr lang="en-US" sz="2400" dirty="0"/>
          </a:p>
          <a:p>
            <a:r>
              <a:rPr lang="en-US" sz="2400" dirty="0"/>
              <a:t>Implications for preprint servers, peer review, funding panels?</a:t>
            </a:r>
          </a:p>
        </p:txBody>
      </p:sp>
      <p:sp>
        <p:nvSpPr>
          <p:cNvPr id="20" name="TextBox 19">
            <a:extLst>
              <a:ext uri="{FF2B5EF4-FFF2-40B4-BE49-F238E27FC236}">
                <a16:creationId xmlns:a16="http://schemas.microsoft.com/office/drawing/2014/main" id="{185C1623-CBCE-7EFB-D891-EE4D10D1D3FD}"/>
              </a:ext>
            </a:extLst>
          </p:cNvPr>
          <p:cNvSpPr txBox="1"/>
          <p:nvPr/>
        </p:nvSpPr>
        <p:spPr>
          <a:xfrm>
            <a:off x="7145022" y="6445349"/>
            <a:ext cx="3467872" cy="369332"/>
          </a:xfrm>
          <a:prstGeom prst="rect">
            <a:avLst/>
          </a:prstGeom>
          <a:noFill/>
        </p:spPr>
        <p:txBody>
          <a:bodyPr wrap="none" rtlCol="0">
            <a:spAutoFit/>
          </a:bodyPr>
          <a:lstStyle/>
          <a:p>
            <a:r>
              <a:rPr lang="en-US" dirty="0">
                <a:solidFill>
                  <a:schemeClr val="bg1">
                    <a:lumMod val="50000"/>
                  </a:schemeClr>
                </a:solidFill>
                <a:hlinkClick r:id="rId8"/>
              </a:rPr>
              <a:t>Guest et al. 2026</a:t>
            </a:r>
            <a:r>
              <a:rPr lang="en-US" dirty="0">
                <a:solidFill>
                  <a:schemeClr val="bg1">
                    <a:lumMod val="50000"/>
                  </a:schemeClr>
                </a:solidFill>
              </a:rPr>
              <a:t>, </a:t>
            </a:r>
            <a:r>
              <a:rPr lang="en-US" dirty="0">
                <a:solidFill>
                  <a:schemeClr val="bg1">
                    <a:lumMod val="50000"/>
                  </a:schemeClr>
                </a:solidFill>
                <a:hlinkClick r:id="rId9"/>
              </a:rPr>
              <a:t>Hao et al. 2026</a:t>
            </a:r>
            <a:endParaRPr lang="en-US" dirty="0">
              <a:solidFill>
                <a:schemeClr val="bg1">
                  <a:lumMod val="50000"/>
                </a:schemeClr>
              </a:solidFill>
            </a:endParaRPr>
          </a:p>
        </p:txBody>
      </p:sp>
      <p:sp>
        <p:nvSpPr>
          <p:cNvPr id="21" name="TextBox 20">
            <a:extLst>
              <a:ext uri="{FF2B5EF4-FFF2-40B4-BE49-F238E27FC236}">
                <a16:creationId xmlns:a16="http://schemas.microsoft.com/office/drawing/2014/main" id="{9D85A320-A375-FF96-0241-859698FCDD41}"/>
              </a:ext>
            </a:extLst>
          </p:cNvPr>
          <p:cNvSpPr txBox="1"/>
          <p:nvPr/>
        </p:nvSpPr>
        <p:spPr>
          <a:xfrm>
            <a:off x="7811746" y="3569872"/>
            <a:ext cx="4380254" cy="2677656"/>
          </a:xfrm>
          <a:prstGeom prst="rect">
            <a:avLst/>
          </a:prstGeom>
          <a:noFill/>
        </p:spPr>
        <p:txBody>
          <a:bodyPr wrap="square" rtlCol="0">
            <a:spAutoFit/>
          </a:bodyPr>
          <a:lstStyle/>
          <a:p>
            <a:r>
              <a:rPr lang="en-US" sz="2400" dirty="0"/>
              <a:t>AI reduces </a:t>
            </a:r>
            <a:r>
              <a:rPr lang="en-US" sz="2400" b="1" dirty="0"/>
              <a:t>engagement</a:t>
            </a:r>
            <a:r>
              <a:rPr lang="en-US" sz="2400" dirty="0"/>
              <a:t> (e.g. </a:t>
            </a:r>
            <a:r>
              <a:rPr lang="en-US" sz="2400" b="1" dirty="0"/>
              <a:t>outsourcing</a:t>
            </a:r>
            <a:r>
              <a:rPr lang="en-US" sz="2400" dirty="0"/>
              <a:t> questions to AI chatbot vs talking with an expert).</a:t>
            </a:r>
          </a:p>
          <a:p>
            <a:endParaRPr lang="en-US" sz="2400" dirty="0"/>
          </a:p>
          <a:p>
            <a:r>
              <a:rPr lang="en-US" sz="2400" dirty="0"/>
              <a:t>Implications for value of human expertise, team dynamics?</a:t>
            </a:r>
          </a:p>
        </p:txBody>
      </p:sp>
    </p:spTree>
    <p:extLst>
      <p:ext uri="{BB962C8B-B14F-4D97-AF65-F5344CB8AC3E}">
        <p14:creationId xmlns:p14="http://schemas.microsoft.com/office/powerpoint/2010/main" val="12458457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A73C1-1B77-8D8E-57C2-2C375301FA2B}"/>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635AFFA7-59BF-43F0-F905-3D5452614A22}"/>
              </a:ext>
            </a:extLst>
          </p:cNvPr>
          <p:cNvGrpSpPr/>
          <p:nvPr/>
        </p:nvGrpSpPr>
        <p:grpSpPr>
          <a:xfrm>
            <a:off x="10704849" y="6564312"/>
            <a:ext cx="1362075" cy="273690"/>
            <a:chOff x="19317" y="2690018"/>
            <a:chExt cx="11784755" cy="2025180"/>
          </a:xfrm>
        </p:grpSpPr>
        <p:pic>
          <p:nvPicPr>
            <p:cNvPr id="14" name="Picture 2">
              <a:extLst>
                <a:ext uri="{FF2B5EF4-FFF2-40B4-BE49-F238E27FC236}">
                  <a16:creationId xmlns:a16="http://schemas.microsoft.com/office/drawing/2014/main" id="{480E4208-AB78-B430-9E82-D2A2F560CF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387FD6BC-8BA2-4A82-8BA1-EFF8AACE7A3C}"/>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4" name="Title 1">
            <a:extLst>
              <a:ext uri="{FF2B5EF4-FFF2-40B4-BE49-F238E27FC236}">
                <a16:creationId xmlns:a16="http://schemas.microsoft.com/office/drawing/2014/main" id="{86D5483C-6A54-ECDD-B191-60C4C0ADD62F}"/>
              </a:ext>
            </a:extLst>
          </p:cNvPr>
          <p:cNvSpPr txBox="1">
            <a:spLocks/>
          </p:cNvSpPr>
          <p:nvPr/>
        </p:nvSpPr>
        <p:spPr>
          <a:xfrm>
            <a:off x="0" y="1"/>
            <a:ext cx="12192000" cy="914400"/>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Recap on Open Science challenges</a:t>
            </a:r>
          </a:p>
        </p:txBody>
      </p:sp>
      <p:sp>
        <p:nvSpPr>
          <p:cNvPr id="10" name="Slide Number Placeholder 9">
            <a:extLst>
              <a:ext uri="{FF2B5EF4-FFF2-40B4-BE49-F238E27FC236}">
                <a16:creationId xmlns:a16="http://schemas.microsoft.com/office/drawing/2014/main" id="{DBC0B64D-FF5B-D9F8-F8DD-EDCAB1856C07}"/>
              </a:ext>
            </a:extLst>
          </p:cNvPr>
          <p:cNvSpPr>
            <a:spLocks noGrp="1"/>
          </p:cNvSpPr>
          <p:nvPr>
            <p:ph type="sldNum" sz="quarter" idx="12"/>
          </p:nvPr>
        </p:nvSpPr>
        <p:spPr/>
        <p:txBody>
          <a:bodyPr/>
          <a:lstStyle/>
          <a:p>
            <a:fld id="{DC6309F4-03C8-4D48-A124-A9AD6E083FAC}" type="slidenum">
              <a:rPr lang="en-US" smtClean="0"/>
              <a:t>49</a:t>
            </a:fld>
            <a:endParaRPr lang="en-US"/>
          </a:p>
        </p:txBody>
      </p:sp>
      <p:grpSp>
        <p:nvGrpSpPr>
          <p:cNvPr id="11" name="Group 10">
            <a:extLst>
              <a:ext uri="{FF2B5EF4-FFF2-40B4-BE49-F238E27FC236}">
                <a16:creationId xmlns:a16="http://schemas.microsoft.com/office/drawing/2014/main" id="{5D967B52-394A-5F5D-8E02-BC53F64B496E}"/>
              </a:ext>
            </a:extLst>
          </p:cNvPr>
          <p:cNvGrpSpPr/>
          <p:nvPr/>
        </p:nvGrpSpPr>
        <p:grpSpPr>
          <a:xfrm>
            <a:off x="5069788" y="3410972"/>
            <a:ext cx="2052423" cy="1712148"/>
            <a:chOff x="1898557" y="878352"/>
            <a:chExt cx="6432007" cy="5616769"/>
          </a:xfrm>
        </p:grpSpPr>
        <p:sp>
          <p:nvSpPr>
            <p:cNvPr id="18" name="Oval 17">
              <a:extLst>
                <a:ext uri="{FF2B5EF4-FFF2-40B4-BE49-F238E27FC236}">
                  <a16:creationId xmlns:a16="http://schemas.microsoft.com/office/drawing/2014/main" id="{ACB5E095-09FE-686C-B59B-68BD26E026A3}"/>
                </a:ext>
              </a:extLst>
            </p:cNvPr>
            <p:cNvSpPr/>
            <p:nvPr/>
          </p:nvSpPr>
          <p:spPr>
            <a:xfrm>
              <a:off x="1952927" y="878352"/>
              <a:ext cx="3834040" cy="3651313"/>
            </a:xfrm>
            <a:prstGeom prst="ellipse">
              <a:avLst/>
            </a:prstGeom>
            <a:solidFill>
              <a:srgbClr val="FFC000">
                <a:alpha val="4413"/>
              </a:srgbClr>
            </a:solidFill>
            <a:ln>
              <a:solidFill>
                <a:srgbClr val="FFC000">
                  <a:alpha val="6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7A026BBA-8EF2-02B7-8BAC-04092F922C17}"/>
                </a:ext>
              </a:extLst>
            </p:cNvPr>
            <p:cNvSpPr/>
            <p:nvPr/>
          </p:nvSpPr>
          <p:spPr>
            <a:xfrm>
              <a:off x="4443191" y="878352"/>
              <a:ext cx="3887373" cy="3651313"/>
            </a:xfrm>
            <a:prstGeom prst="ellipse">
              <a:avLst/>
            </a:prstGeom>
            <a:solidFill>
              <a:srgbClr val="92D050">
                <a:alpha val="5552"/>
              </a:srgbClr>
            </a:solidFill>
            <a:ln>
              <a:solidFill>
                <a:srgbClr val="92D050">
                  <a:alpha val="6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90A592F4-F7F7-1C2E-6352-9B9AFECB08A5}"/>
                </a:ext>
              </a:extLst>
            </p:cNvPr>
            <p:cNvSpPr/>
            <p:nvPr/>
          </p:nvSpPr>
          <p:spPr>
            <a:xfrm>
              <a:off x="4415332" y="2843808"/>
              <a:ext cx="3834040" cy="3651313"/>
            </a:xfrm>
            <a:prstGeom prst="ellipse">
              <a:avLst/>
            </a:prstGeom>
            <a:solidFill>
              <a:schemeClr val="tx2">
                <a:lumMod val="50000"/>
                <a:lumOff val="50000"/>
                <a:alpha val="4700"/>
              </a:schemeClr>
            </a:solidFill>
            <a:ln>
              <a:solidFill>
                <a:schemeClr val="tx2">
                  <a:lumMod val="75000"/>
                  <a:lumOff val="25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69A373-DD07-84BA-1FF9-021E7AF4C04F}"/>
                </a:ext>
              </a:extLst>
            </p:cNvPr>
            <p:cNvSpPr/>
            <p:nvPr/>
          </p:nvSpPr>
          <p:spPr>
            <a:xfrm>
              <a:off x="1898557" y="2827864"/>
              <a:ext cx="3975268" cy="3642123"/>
            </a:xfrm>
            <a:prstGeom prst="ellipse">
              <a:avLst/>
            </a:prstGeom>
            <a:solidFill>
              <a:srgbClr val="7030A0">
                <a:alpha val="5000"/>
              </a:srgbClr>
            </a:solidFill>
            <a:ln>
              <a:solidFill>
                <a:srgbClr val="7030A0">
                  <a:alpha val="6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AutoShape 40" descr="Zenodo home">
              <a:extLst>
                <a:ext uri="{FF2B5EF4-FFF2-40B4-BE49-F238E27FC236}">
                  <a16:creationId xmlns:a16="http://schemas.microsoft.com/office/drawing/2014/main" id="{58C65F4E-D683-35C2-E651-E987340974F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AutoShape 58" descr="R (programming language) - Wikipedia">
              <a:extLst>
                <a:ext uri="{FF2B5EF4-FFF2-40B4-BE49-F238E27FC236}">
                  <a16:creationId xmlns:a16="http://schemas.microsoft.com/office/drawing/2014/main" id="{D469ED17-C408-7D39-4B90-A91A3D182EF3}"/>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28" name="Group 27">
            <a:extLst>
              <a:ext uri="{FF2B5EF4-FFF2-40B4-BE49-F238E27FC236}">
                <a16:creationId xmlns:a16="http://schemas.microsoft.com/office/drawing/2014/main" id="{3D48B227-F1F4-B771-180F-F99140E49377}"/>
              </a:ext>
            </a:extLst>
          </p:cNvPr>
          <p:cNvGrpSpPr/>
          <p:nvPr/>
        </p:nvGrpSpPr>
        <p:grpSpPr>
          <a:xfrm>
            <a:off x="7916843" y="3681943"/>
            <a:ext cx="3112742" cy="1261475"/>
            <a:chOff x="8274670" y="1292703"/>
            <a:chExt cx="3112742" cy="1261475"/>
          </a:xfrm>
        </p:grpSpPr>
        <p:pic>
          <p:nvPicPr>
            <p:cNvPr id="29" name="Graphic 28" descr="Lights On with solid fill">
              <a:extLst>
                <a:ext uri="{FF2B5EF4-FFF2-40B4-BE49-F238E27FC236}">
                  <a16:creationId xmlns:a16="http://schemas.microsoft.com/office/drawing/2014/main" id="{DDEADAAC-F893-7F19-4416-CF2048CC778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274670" y="1435685"/>
              <a:ext cx="888675" cy="888675"/>
            </a:xfrm>
            <a:prstGeom prst="rect">
              <a:avLst/>
            </a:prstGeom>
          </p:spPr>
        </p:pic>
        <p:pic>
          <p:nvPicPr>
            <p:cNvPr id="30" name="Graphic 29" descr="Gears with solid fill">
              <a:extLst>
                <a:ext uri="{FF2B5EF4-FFF2-40B4-BE49-F238E27FC236}">
                  <a16:creationId xmlns:a16="http://schemas.microsoft.com/office/drawing/2014/main" id="{611B1E60-186B-8868-BBAD-6742C70058A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051235" y="1292703"/>
              <a:ext cx="1261475" cy="1261475"/>
            </a:xfrm>
            <a:prstGeom prst="rect">
              <a:avLst/>
            </a:prstGeom>
          </p:spPr>
        </p:pic>
        <p:pic>
          <p:nvPicPr>
            <p:cNvPr id="31" name="Graphic 30" descr="Weights Uneven with solid fill">
              <a:extLst>
                <a:ext uri="{FF2B5EF4-FFF2-40B4-BE49-F238E27FC236}">
                  <a16:creationId xmlns:a16="http://schemas.microsoft.com/office/drawing/2014/main" id="{894B07F4-6E83-65BD-6B95-751777EFA07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322402" y="1357310"/>
              <a:ext cx="1065010" cy="1065010"/>
            </a:xfrm>
            <a:prstGeom prst="rect">
              <a:avLst/>
            </a:prstGeom>
          </p:spPr>
        </p:pic>
      </p:grpSp>
      <p:sp>
        <p:nvSpPr>
          <p:cNvPr id="32" name="TextBox 31">
            <a:extLst>
              <a:ext uri="{FF2B5EF4-FFF2-40B4-BE49-F238E27FC236}">
                <a16:creationId xmlns:a16="http://schemas.microsoft.com/office/drawing/2014/main" id="{8803C7FF-67B8-F8E1-DC71-30B11F3114DD}"/>
              </a:ext>
            </a:extLst>
          </p:cNvPr>
          <p:cNvSpPr txBox="1"/>
          <p:nvPr/>
        </p:nvSpPr>
        <p:spPr>
          <a:xfrm>
            <a:off x="8114800" y="5029820"/>
            <a:ext cx="3334663" cy="707886"/>
          </a:xfrm>
          <a:prstGeom prst="rect">
            <a:avLst/>
          </a:prstGeom>
          <a:noFill/>
        </p:spPr>
        <p:txBody>
          <a:bodyPr wrap="square" rtlCol="0">
            <a:spAutoFit/>
          </a:bodyPr>
          <a:lstStyle/>
          <a:p>
            <a:r>
              <a:rPr lang="en-US" sz="2000" dirty="0"/>
              <a:t>Conceptual, practical and equity challenges</a:t>
            </a:r>
          </a:p>
        </p:txBody>
      </p:sp>
      <p:sp>
        <p:nvSpPr>
          <p:cNvPr id="33" name="TextBox 32">
            <a:extLst>
              <a:ext uri="{FF2B5EF4-FFF2-40B4-BE49-F238E27FC236}">
                <a16:creationId xmlns:a16="http://schemas.microsoft.com/office/drawing/2014/main" id="{FE15451B-CA03-9217-CA25-48403F55B1A4}"/>
              </a:ext>
            </a:extLst>
          </p:cNvPr>
          <p:cNvSpPr txBox="1"/>
          <p:nvPr/>
        </p:nvSpPr>
        <p:spPr>
          <a:xfrm>
            <a:off x="5104950" y="5237435"/>
            <a:ext cx="3103523" cy="400110"/>
          </a:xfrm>
          <a:prstGeom prst="rect">
            <a:avLst/>
          </a:prstGeom>
          <a:noFill/>
        </p:spPr>
        <p:txBody>
          <a:bodyPr wrap="square" rtlCol="0">
            <a:spAutoFit/>
          </a:bodyPr>
          <a:lstStyle/>
          <a:p>
            <a:r>
              <a:rPr lang="en-US" sz="2000" dirty="0"/>
              <a:t>Diversity of domains</a:t>
            </a:r>
          </a:p>
        </p:txBody>
      </p:sp>
      <p:sp>
        <p:nvSpPr>
          <p:cNvPr id="35" name="TextBox 34">
            <a:extLst>
              <a:ext uri="{FF2B5EF4-FFF2-40B4-BE49-F238E27FC236}">
                <a16:creationId xmlns:a16="http://schemas.microsoft.com/office/drawing/2014/main" id="{8CC90B5E-BDE7-016B-6FF2-22E9BED33913}"/>
              </a:ext>
            </a:extLst>
          </p:cNvPr>
          <p:cNvSpPr txBox="1"/>
          <p:nvPr/>
        </p:nvSpPr>
        <p:spPr>
          <a:xfrm>
            <a:off x="221342" y="1083014"/>
            <a:ext cx="11129671" cy="830997"/>
          </a:xfrm>
          <a:prstGeom prst="rect">
            <a:avLst/>
          </a:prstGeom>
          <a:noFill/>
        </p:spPr>
        <p:txBody>
          <a:bodyPr wrap="square">
            <a:spAutoFit/>
          </a:bodyPr>
          <a:lstStyle/>
          <a:p>
            <a:pPr rtl="0">
              <a:buNone/>
            </a:pPr>
            <a:r>
              <a:rPr lang="en-GB" sz="2400" b="1" i="0" u="none" strike="noStrike" dirty="0">
                <a:solidFill>
                  <a:srgbClr val="000000"/>
                </a:solidFill>
                <a:effectLst/>
                <a:latin typeface="Calibri" panose="020F0502020204030204" pitchFamily="34" charset="0"/>
              </a:rPr>
              <a:t>We’ve Identified </a:t>
            </a:r>
            <a:r>
              <a:rPr lang="en-GB" sz="2400" b="0" i="0" u="none" strike="noStrike" dirty="0">
                <a:solidFill>
                  <a:srgbClr val="000000"/>
                </a:solidFill>
                <a:effectLst/>
                <a:latin typeface="Calibri" panose="020F0502020204030204" pitchFamily="34" charset="0"/>
              </a:rPr>
              <a:t>challenges in adopting Open Science practices </a:t>
            </a:r>
          </a:p>
          <a:p>
            <a:pPr rtl="0">
              <a:buNone/>
            </a:pPr>
            <a:endParaRPr lang="en-GB" sz="2400" dirty="0">
              <a:solidFill>
                <a:srgbClr val="000000"/>
              </a:solidFill>
              <a:latin typeface="Calibri" panose="020F0502020204030204" pitchFamily="34" charset="0"/>
            </a:endParaRPr>
          </a:p>
        </p:txBody>
      </p:sp>
      <p:grpSp>
        <p:nvGrpSpPr>
          <p:cNvPr id="36" name="Group 35">
            <a:extLst>
              <a:ext uri="{FF2B5EF4-FFF2-40B4-BE49-F238E27FC236}">
                <a16:creationId xmlns:a16="http://schemas.microsoft.com/office/drawing/2014/main" id="{28E4EA72-D650-2DA9-670B-C90B7B2903AF}"/>
              </a:ext>
            </a:extLst>
          </p:cNvPr>
          <p:cNvGrpSpPr/>
          <p:nvPr/>
        </p:nvGrpSpPr>
        <p:grpSpPr>
          <a:xfrm rot="16200000">
            <a:off x="1671262" y="635008"/>
            <a:ext cx="1446826" cy="3647241"/>
            <a:chOff x="7466570" y="1429795"/>
            <a:chExt cx="1741146" cy="4799511"/>
          </a:xfrm>
        </p:grpSpPr>
        <p:pic>
          <p:nvPicPr>
            <p:cNvPr id="37" name="Graphic 36" descr="Stopwatch 75% with solid fill">
              <a:extLst>
                <a:ext uri="{FF2B5EF4-FFF2-40B4-BE49-F238E27FC236}">
                  <a16:creationId xmlns:a16="http://schemas.microsoft.com/office/drawing/2014/main" id="{02BEAD00-F7CF-DF64-2FFB-3E5D45EBB00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rot="5400000">
              <a:off x="8245147" y="1503897"/>
              <a:ext cx="747961" cy="599758"/>
            </a:xfrm>
            <a:prstGeom prst="rect">
              <a:avLst/>
            </a:prstGeom>
          </p:spPr>
        </p:pic>
        <p:pic>
          <p:nvPicPr>
            <p:cNvPr id="38" name="Graphic 37" descr="Medal with solid fill">
              <a:extLst>
                <a:ext uri="{FF2B5EF4-FFF2-40B4-BE49-F238E27FC236}">
                  <a16:creationId xmlns:a16="http://schemas.microsoft.com/office/drawing/2014/main" id="{8B31ED14-FC95-CDA9-CB75-08CBC74D558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rot="5400000">
              <a:off x="8307235" y="2159726"/>
              <a:ext cx="747961" cy="599758"/>
            </a:xfrm>
            <a:prstGeom prst="rect">
              <a:avLst/>
            </a:prstGeom>
          </p:spPr>
        </p:pic>
        <p:pic>
          <p:nvPicPr>
            <p:cNvPr id="39" name="Graphic 38" descr="Tired face with solid fill with solid fill">
              <a:extLst>
                <a:ext uri="{FF2B5EF4-FFF2-40B4-BE49-F238E27FC236}">
                  <a16:creationId xmlns:a16="http://schemas.microsoft.com/office/drawing/2014/main" id="{2F6FF6DB-6C3C-EDED-3D50-F541D64220F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rot="5400000">
              <a:off x="7402137" y="1499948"/>
              <a:ext cx="700149" cy="561419"/>
            </a:xfrm>
            <a:prstGeom prst="rect">
              <a:avLst/>
            </a:prstGeom>
          </p:spPr>
        </p:pic>
        <p:pic>
          <p:nvPicPr>
            <p:cNvPr id="40" name="Graphic 39" descr="No Touch with solid fill">
              <a:extLst>
                <a:ext uri="{FF2B5EF4-FFF2-40B4-BE49-F238E27FC236}">
                  <a16:creationId xmlns:a16="http://schemas.microsoft.com/office/drawing/2014/main" id="{F40CC531-DEA3-A263-7C80-FB685ADB0314}"/>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rot="5400000">
              <a:off x="8335246" y="3798003"/>
              <a:ext cx="747962" cy="599758"/>
            </a:xfrm>
            <a:prstGeom prst="rect">
              <a:avLst/>
            </a:prstGeom>
          </p:spPr>
        </p:pic>
        <p:pic>
          <p:nvPicPr>
            <p:cNvPr id="41" name="Graphic 40" descr="Normal Distribution with solid fill">
              <a:extLst>
                <a:ext uri="{FF2B5EF4-FFF2-40B4-BE49-F238E27FC236}">
                  <a16:creationId xmlns:a16="http://schemas.microsoft.com/office/drawing/2014/main" id="{B29DAC70-420C-450E-6277-27AED0811D57}"/>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rot="5400000">
              <a:off x="8273247" y="2804232"/>
              <a:ext cx="946327" cy="922610"/>
            </a:xfrm>
            <a:prstGeom prst="rect">
              <a:avLst/>
            </a:prstGeom>
          </p:spPr>
        </p:pic>
        <p:pic>
          <p:nvPicPr>
            <p:cNvPr id="42" name="Graphic 41" descr="Books with solid fill">
              <a:extLst>
                <a:ext uri="{FF2B5EF4-FFF2-40B4-BE49-F238E27FC236}">
                  <a16:creationId xmlns:a16="http://schemas.microsoft.com/office/drawing/2014/main" id="{F0CB74E5-B7A8-5EC3-A33E-B7C6238E4ED6}"/>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rot="5400000">
              <a:off x="7413717" y="2241448"/>
              <a:ext cx="700149" cy="561419"/>
            </a:xfrm>
            <a:prstGeom prst="rect">
              <a:avLst/>
            </a:prstGeom>
          </p:spPr>
        </p:pic>
        <p:pic>
          <p:nvPicPr>
            <p:cNvPr id="43" name="Graphic 42" descr="Care with solid fill">
              <a:extLst>
                <a:ext uri="{FF2B5EF4-FFF2-40B4-BE49-F238E27FC236}">
                  <a16:creationId xmlns:a16="http://schemas.microsoft.com/office/drawing/2014/main" id="{D9BD4096-C656-B0E4-15AA-E5615356BF41}"/>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rot="4838963">
              <a:off x="7397205" y="2995881"/>
              <a:ext cx="700149" cy="561419"/>
            </a:xfrm>
            <a:prstGeom prst="rect">
              <a:avLst/>
            </a:prstGeom>
          </p:spPr>
        </p:pic>
        <p:pic>
          <p:nvPicPr>
            <p:cNvPr id="44" name="Graphic 43" descr="Spinning Plates with solid fill">
              <a:extLst>
                <a:ext uri="{FF2B5EF4-FFF2-40B4-BE49-F238E27FC236}">
                  <a16:creationId xmlns:a16="http://schemas.microsoft.com/office/drawing/2014/main" id="{21D84369-43E1-EA16-392F-9F7011D56FB8}"/>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rot="5400000">
              <a:off x="8305720" y="4608138"/>
              <a:ext cx="839281" cy="672982"/>
            </a:xfrm>
            <a:prstGeom prst="rect">
              <a:avLst/>
            </a:prstGeom>
          </p:spPr>
        </p:pic>
        <p:pic>
          <p:nvPicPr>
            <p:cNvPr id="45" name="Graphic 44" descr="Coins with solid fill">
              <a:extLst>
                <a:ext uri="{FF2B5EF4-FFF2-40B4-BE49-F238E27FC236}">
                  <a16:creationId xmlns:a16="http://schemas.microsoft.com/office/drawing/2014/main" id="{271B7DB8-59E0-AC98-DE3D-47CEFE5E96CC}"/>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rot="5400000">
              <a:off x="7420340" y="3894366"/>
              <a:ext cx="700148" cy="561419"/>
            </a:xfrm>
            <a:prstGeom prst="rect">
              <a:avLst/>
            </a:prstGeom>
          </p:spPr>
        </p:pic>
        <p:pic>
          <p:nvPicPr>
            <p:cNvPr id="46" name="Graphic 45" descr="Plug with solid fill">
              <a:extLst>
                <a:ext uri="{FF2B5EF4-FFF2-40B4-BE49-F238E27FC236}">
                  <a16:creationId xmlns:a16="http://schemas.microsoft.com/office/drawing/2014/main" id="{7D8AB75E-2A96-F28B-A5F9-6AB9DF81DBBF}"/>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rot="5400000">
              <a:off x="7547506" y="5437046"/>
              <a:ext cx="700148" cy="561419"/>
            </a:xfrm>
            <a:prstGeom prst="rect">
              <a:avLst/>
            </a:prstGeom>
          </p:spPr>
        </p:pic>
        <p:pic>
          <p:nvPicPr>
            <p:cNvPr id="47" name="Graphic 46" descr="Weights Uneven with solid fill">
              <a:extLst>
                <a:ext uri="{FF2B5EF4-FFF2-40B4-BE49-F238E27FC236}">
                  <a16:creationId xmlns:a16="http://schemas.microsoft.com/office/drawing/2014/main" id="{397CBE93-3FA2-287B-86BA-7F9B135F66E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5400000">
              <a:off x="8358311" y="5519521"/>
              <a:ext cx="807280" cy="612289"/>
            </a:xfrm>
            <a:prstGeom prst="rect">
              <a:avLst/>
            </a:prstGeom>
          </p:spPr>
        </p:pic>
        <p:pic>
          <p:nvPicPr>
            <p:cNvPr id="48" name="Graphic 47" descr="Briefcase with solid fill">
              <a:extLst>
                <a:ext uri="{FF2B5EF4-FFF2-40B4-BE49-F238E27FC236}">
                  <a16:creationId xmlns:a16="http://schemas.microsoft.com/office/drawing/2014/main" id="{1E547C74-C9DD-A374-00CF-6FCB06095594}"/>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rot="5400000">
              <a:off x="7510110" y="4695547"/>
              <a:ext cx="700148" cy="561419"/>
            </a:xfrm>
            <a:prstGeom prst="rect">
              <a:avLst/>
            </a:prstGeom>
          </p:spPr>
        </p:pic>
      </p:grpSp>
      <p:sp>
        <p:nvSpPr>
          <p:cNvPr id="50" name="TextBox 49">
            <a:extLst>
              <a:ext uri="{FF2B5EF4-FFF2-40B4-BE49-F238E27FC236}">
                <a16:creationId xmlns:a16="http://schemas.microsoft.com/office/drawing/2014/main" id="{C79D0F59-F524-2D17-B156-62D9A7175EB6}"/>
              </a:ext>
            </a:extLst>
          </p:cNvPr>
          <p:cNvSpPr txBox="1"/>
          <p:nvPr/>
        </p:nvSpPr>
        <p:spPr>
          <a:xfrm>
            <a:off x="5275832" y="2754490"/>
            <a:ext cx="6439988" cy="461665"/>
          </a:xfrm>
          <a:prstGeom prst="rect">
            <a:avLst/>
          </a:prstGeom>
          <a:noFill/>
        </p:spPr>
        <p:txBody>
          <a:bodyPr wrap="square">
            <a:spAutoFit/>
          </a:bodyPr>
          <a:lstStyle/>
          <a:p>
            <a:pPr rtl="0">
              <a:buNone/>
            </a:pPr>
            <a:r>
              <a:rPr lang="en-GB" sz="2400" b="0" i="0" u="none" strike="noStrike" dirty="0">
                <a:solidFill>
                  <a:srgbClr val="000000"/>
                </a:solidFill>
                <a:effectLst/>
                <a:latin typeface="Calibri" panose="020F0502020204030204" pitchFamily="34" charset="0"/>
              </a:rPr>
              <a:t>and </a:t>
            </a:r>
            <a:r>
              <a:rPr lang="en-GB" sz="2400" b="1" i="0" u="none" strike="noStrike" dirty="0">
                <a:solidFill>
                  <a:srgbClr val="000000"/>
                </a:solidFill>
                <a:effectLst/>
                <a:latin typeface="Calibri" panose="020F0502020204030204" pitchFamily="34" charset="0"/>
              </a:rPr>
              <a:t>examined</a:t>
            </a:r>
            <a:r>
              <a:rPr lang="en-GB" sz="2400" b="0" i="0" u="none" strike="noStrike" dirty="0">
                <a:solidFill>
                  <a:srgbClr val="000000"/>
                </a:solidFill>
                <a:effectLst/>
                <a:latin typeface="Calibri" panose="020F0502020204030204" pitchFamily="34" charset="0"/>
              </a:rPr>
              <a:t> some reasons behind them</a:t>
            </a:r>
            <a:endParaRPr lang="en-GB" sz="2400" dirty="0">
              <a:effectLst/>
            </a:endParaRPr>
          </a:p>
        </p:txBody>
      </p:sp>
    </p:spTree>
    <p:extLst>
      <p:ext uri="{BB962C8B-B14F-4D97-AF65-F5344CB8AC3E}">
        <p14:creationId xmlns:p14="http://schemas.microsoft.com/office/powerpoint/2010/main" val="37496219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2678517C-E664-0B58-461C-2156C5DF23C1}"/>
              </a:ext>
            </a:extLst>
          </p:cNvPr>
          <p:cNvGrpSpPr/>
          <p:nvPr/>
        </p:nvGrpSpPr>
        <p:grpSpPr>
          <a:xfrm>
            <a:off x="10704849" y="6564312"/>
            <a:ext cx="1362075" cy="273690"/>
            <a:chOff x="19317" y="2690018"/>
            <a:chExt cx="11784755" cy="2025180"/>
          </a:xfrm>
        </p:grpSpPr>
        <p:pic>
          <p:nvPicPr>
            <p:cNvPr id="9" name="Picture 2">
              <a:extLst>
                <a:ext uri="{FF2B5EF4-FFF2-40B4-BE49-F238E27FC236}">
                  <a16:creationId xmlns:a16="http://schemas.microsoft.com/office/drawing/2014/main" id="{87A079C1-BEA3-5FDD-F970-68E6582DFC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F8D671C7-07C4-EBB7-E530-3A6C378234BB}"/>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4" name="Slide Number Placeholder 3">
            <a:extLst>
              <a:ext uri="{FF2B5EF4-FFF2-40B4-BE49-F238E27FC236}">
                <a16:creationId xmlns:a16="http://schemas.microsoft.com/office/drawing/2014/main" id="{F14A7965-91FF-7F89-2DC4-E4579850B00A}"/>
              </a:ext>
            </a:extLst>
          </p:cNvPr>
          <p:cNvSpPr>
            <a:spLocks noGrp="1"/>
          </p:cNvSpPr>
          <p:nvPr>
            <p:ph type="sldNum" sz="quarter" idx="12"/>
          </p:nvPr>
        </p:nvSpPr>
        <p:spPr/>
        <p:txBody>
          <a:bodyPr/>
          <a:lstStyle/>
          <a:p>
            <a:fld id="{DC6309F4-03C8-4D48-A124-A9AD6E083FAC}" type="slidenum">
              <a:rPr lang="en-US" smtClean="0"/>
              <a:t>50</a:t>
            </a:fld>
            <a:endParaRPr lang="en-US"/>
          </a:p>
        </p:txBody>
      </p:sp>
      <p:pic>
        <p:nvPicPr>
          <p:cNvPr id="12" name="Picture 11">
            <a:extLst>
              <a:ext uri="{FF2B5EF4-FFF2-40B4-BE49-F238E27FC236}">
                <a16:creationId xmlns:a16="http://schemas.microsoft.com/office/drawing/2014/main" id="{22FD993D-655A-8B4F-A162-6EA05A94C554}"/>
              </a:ext>
            </a:extLst>
          </p:cNvPr>
          <p:cNvPicPr>
            <a:picLocks noChangeAspect="1"/>
          </p:cNvPicPr>
          <p:nvPr/>
        </p:nvPicPr>
        <p:blipFill>
          <a:blip r:embed="rId5"/>
          <a:srcRect b="6216"/>
          <a:stretch>
            <a:fillRect/>
          </a:stretch>
        </p:blipFill>
        <p:spPr>
          <a:xfrm>
            <a:off x="154025" y="136525"/>
            <a:ext cx="11883949" cy="6219825"/>
          </a:xfrm>
          <a:prstGeom prst="rect">
            <a:avLst/>
          </a:prstGeom>
        </p:spPr>
      </p:pic>
    </p:spTree>
    <p:extLst>
      <p:ext uri="{BB962C8B-B14F-4D97-AF65-F5344CB8AC3E}">
        <p14:creationId xmlns:p14="http://schemas.microsoft.com/office/powerpoint/2010/main" val="33667659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7B334-FF1C-33C1-31EA-EE0FD0C3DA6F}"/>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918CD48A-6EB7-87E4-D7EE-E28B18696831}"/>
              </a:ext>
            </a:extLst>
          </p:cNvPr>
          <p:cNvGrpSpPr/>
          <p:nvPr/>
        </p:nvGrpSpPr>
        <p:grpSpPr>
          <a:xfrm>
            <a:off x="10704849" y="6564312"/>
            <a:ext cx="1362075" cy="273690"/>
            <a:chOff x="19317" y="2690018"/>
            <a:chExt cx="11784755" cy="2025180"/>
          </a:xfrm>
        </p:grpSpPr>
        <p:pic>
          <p:nvPicPr>
            <p:cNvPr id="14" name="Picture 2">
              <a:extLst>
                <a:ext uri="{FF2B5EF4-FFF2-40B4-BE49-F238E27FC236}">
                  <a16:creationId xmlns:a16="http://schemas.microsoft.com/office/drawing/2014/main" id="{95240CB6-8146-4672-2B3E-582E468CD4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61063C87-C7C1-5443-A84C-78290BE1D4BA}"/>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4" name="Title 1">
            <a:extLst>
              <a:ext uri="{FF2B5EF4-FFF2-40B4-BE49-F238E27FC236}">
                <a16:creationId xmlns:a16="http://schemas.microsoft.com/office/drawing/2014/main" id="{735B4DDB-5048-9040-34B0-87ECD3CE8449}"/>
              </a:ext>
            </a:extLst>
          </p:cNvPr>
          <p:cNvSpPr txBox="1">
            <a:spLocks/>
          </p:cNvSpPr>
          <p:nvPr/>
        </p:nvSpPr>
        <p:spPr>
          <a:xfrm>
            <a:off x="0" y="0"/>
            <a:ext cx="121920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The scale of the challenges</a:t>
            </a:r>
          </a:p>
        </p:txBody>
      </p:sp>
      <p:sp>
        <p:nvSpPr>
          <p:cNvPr id="3" name="TextBox 2">
            <a:extLst>
              <a:ext uri="{FF2B5EF4-FFF2-40B4-BE49-F238E27FC236}">
                <a16:creationId xmlns:a16="http://schemas.microsoft.com/office/drawing/2014/main" id="{4781D068-3E59-B021-0E9C-B41BEAF32DD7}"/>
              </a:ext>
            </a:extLst>
          </p:cNvPr>
          <p:cNvSpPr txBox="1"/>
          <p:nvPr/>
        </p:nvSpPr>
        <p:spPr>
          <a:xfrm>
            <a:off x="165339" y="1903996"/>
            <a:ext cx="1477520" cy="461665"/>
          </a:xfrm>
          <a:prstGeom prst="rect">
            <a:avLst/>
          </a:prstGeom>
          <a:noFill/>
        </p:spPr>
        <p:txBody>
          <a:bodyPr wrap="none" rtlCol="0">
            <a:spAutoFit/>
          </a:bodyPr>
          <a:lstStyle/>
          <a:p>
            <a:r>
              <a:rPr lang="en-GB" sz="2400" b="1" dirty="0"/>
              <a:t>Systemic</a:t>
            </a:r>
            <a:endParaRPr lang="en-US" sz="2400" dirty="0"/>
          </a:p>
        </p:txBody>
      </p:sp>
      <p:sp>
        <p:nvSpPr>
          <p:cNvPr id="5" name="TextBox 4">
            <a:extLst>
              <a:ext uri="{FF2B5EF4-FFF2-40B4-BE49-F238E27FC236}">
                <a16:creationId xmlns:a16="http://schemas.microsoft.com/office/drawing/2014/main" id="{194E353C-62FD-B7EA-6A3A-8D4090CA80D3}"/>
              </a:ext>
            </a:extLst>
          </p:cNvPr>
          <p:cNvSpPr txBox="1"/>
          <p:nvPr/>
        </p:nvSpPr>
        <p:spPr>
          <a:xfrm>
            <a:off x="10002" y="3405761"/>
            <a:ext cx="1894108" cy="461665"/>
          </a:xfrm>
          <a:prstGeom prst="rect">
            <a:avLst/>
          </a:prstGeom>
          <a:noFill/>
        </p:spPr>
        <p:txBody>
          <a:bodyPr wrap="none" rtlCol="0">
            <a:spAutoFit/>
          </a:bodyPr>
          <a:lstStyle/>
          <a:p>
            <a:r>
              <a:rPr lang="en-GB" sz="2400" b="1" dirty="0"/>
              <a:t>Institutional</a:t>
            </a:r>
            <a:endParaRPr lang="en-US" sz="2400" dirty="0"/>
          </a:p>
        </p:txBody>
      </p:sp>
      <p:sp>
        <p:nvSpPr>
          <p:cNvPr id="6" name="TextBox 5">
            <a:extLst>
              <a:ext uri="{FF2B5EF4-FFF2-40B4-BE49-F238E27FC236}">
                <a16:creationId xmlns:a16="http://schemas.microsoft.com/office/drawing/2014/main" id="{0B7E0537-0D5A-9433-3E1C-47744CC9B259}"/>
              </a:ext>
            </a:extLst>
          </p:cNvPr>
          <p:cNvSpPr txBox="1"/>
          <p:nvPr/>
        </p:nvSpPr>
        <p:spPr>
          <a:xfrm>
            <a:off x="0" y="4725623"/>
            <a:ext cx="2182329" cy="461665"/>
          </a:xfrm>
          <a:prstGeom prst="rect">
            <a:avLst/>
          </a:prstGeom>
          <a:noFill/>
        </p:spPr>
        <p:txBody>
          <a:bodyPr wrap="none" rtlCol="0">
            <a:spAutoFit/>
          </a:bodyPr>
          <a:lstStyle/>
          <a:p>
            <a:r>
              <a:rPr lang="en-GB" sz="2400" b="1" dirty="0"/>
              <a:t>Inter-personal</a:t>
            </a:r>
            <a:endParaRPr lang="en-US" sz="2400" dirty="0"/>
          </a:p>
        </p:txBody>
      </p:sp>
      <p:sp>
        <p:nvSpPr>
          <p:cNvPr id="7" name="TextBox 6">
            <a:extLst>
              <a:ext uri="{FF2B5EF4-FFF2-40B4-BE49-F238E27FC236}">
                <a16:creationId xmlns:a16="http://schemas.microsoft.com/office/drawing/2014/main" id="{78BA3AFB-6356-781E-C46E-130328788531}"/>
              </a:ext>
            </a:extLst>
          </p:cNvPr>
          <p:cNvSpPr txBox="1"/>
          <p:nvPr/>
        </p:nvSpPr>
        <p:spPr>
          <a:xfrm>
            <a:off x="189892" y="6141802"/>
            <a:ext cx="1571264" cy="461665"/>
          </a:xfrm>
          <a:prstGeom prst="rect">
            <a:avLst/>
          </a:prstGeom>
          <a:noFill/>
        </p:spPr>
        <p:txBody>
          <a:bodyPr wrap="none" rtlCol="0">
            <a:spAutoFit/>
          </a:bodyPr>
          <a:lstStyle/>
          <a:p>
            <a:r>
              <a:rPr lang="en-GB" sz="2400" b="1" dirty="0"/>
              <a:t>Individual</a:t>
            </a:r>
            <a:endParaRPr lang="en-US" sz="2400" dirty="0"/>
          </a:p>
        </p:txBody>
      </p:sp>
      <p:sp>
        <p:nvSpPr>
          <p:cNvPr id="21" name="TextBox 20">
            <a:extLst>
              <a:ext uri="{FF2B5EF4-FFF2-40B4-BE49-F238E27FC236}">
                <a16:creationId xmlns:a16="http://schemas.microsoft.com/office/drawing/2014/main" id="{B10A8189-B6B3-1540-5C49-5953DCE9CB24}"/>
              </a:ext>
            </a:extLst>
          </p:cNvPr>
          <p:cNvSpPr txBox="1"/>
          <p:nvPr/>
        </p:nvSpPr>
        <p:spPr>
          <a:xfrm>
            <a:off x="2152582" y="1591291"/>
            <a:ext cx="5817683" cy="461665"/>
          </a:xfrm>
          <a:prstGeom prst="rect">
            <a:avLst/>
          </a:prstGeom>
          <a:noFill/>
        </p:spPr>
        <p:txBody>
          <a:bodyPr wrap="none" rtlCol="0">
            <a:spAutoFit/>
          </a:bodyPr>
          <a:lstStyle/>
          <a:p>
            <a:r>
              <a:rPr lang="en-GB" sz="2400" dirty="0"/>
              <a:t>Whole systems (e.g. academic ecosystem)</a:t>
            </a:r>
            <a:endParaRPr lang="en-US" sz="2400" dirty="0"/>
          </a:p>
        </p:txBody>
      </p:sp>
      <p:sp>
        <p:nvSpPr>
          <p:cNvPr id="22" name="TextBox 21">
            <a:extLst>
              <a:ext uri="{FF2B5EF4-FFF2-40B4-BE49-F238E27FC236}">
                <a16:creationId xmlns:a16="http://schemas.microsoft.com/office/drawing/2014/main" id="{3E32AAAB-0D31-663B-39CB-579170506F61}"/>
              </a:ext>
            </a:extLst>
          </p:cNvPr>
          <p:cNvSpPr txBox="1"/>
          <p:nvPr/>
        </p:nvSpPr>
        <p:spPr>
          <a:xfrm>
            <a:off x="2204187" y="2957995"/>
            <a:ext cx="5459680" cy="830997"/>
          </a:xfrm>
          <a:prstGeom prst="rect">
            <a:avLst/>
          </a:prstGeom>
          <a:noFill/>
        </p:spPr>
        <p:txBody>
          <a:bodyPr wrap="square" rtlCol="0">
            <a:spAutoFit/>
          </a:bodyPr>
          <a:lstStyle/>
          <a:p>
            <a:r>
              <a:rPr lang="en-GB" sz="2400" dirty="0"/>
              <a:t>Embedded policies/practices that provide scaffolding of systems</a:t>
            </a:r>
            <a:endParaRPr lang="en-US" sz="2400" dirty="0"/>
          </a:p>
        </p:txBody>
      </p:sp>
      <p:sp>
        <p:nvSpPr>
          <p:cNvPr id="23" name="TextBox 22">
            <a:extLst>
              <a:ext uri="{FF2B5EF4-FFF2-40B4-BE49-F238E27FC236}">
                <a16:creationId xmlns:a16="http://schemas.microsoft.com/office/drawing/2014/main" id="{57C3D3AA-C285-7083-A515-240F24A6CBCA}"/>
              </a:ext>
            </a:extLst>
          </p:cNvPr>
          <p:cNvSpPr txBox="1"/>
          <p:nvPr/>
        </p:nvSpPr>
        <p:spPr>
          <a:xfrm>
            <a:off x="2204188" y="4368741"/>
            <a:ext cx="5014030" cy="830997"/>
          </a:xfrm>
          <a:prstGeom prst="rect">
            <a:avLst/>
          </a:prstGeom>
          <a:noFill/>
        </p:spPr>
        <p:txBody>
          <a:bodyPr wrap="square" rtlCol="0">
            <a:spAutoFit/>
          </a:bodyPr>
          <a:lstStyle/>
          <a:p>
            <a:r>
              <a:rPr lang="en-GB" sz="2400" dirty="0"/>
              <a:t>Interactions and </a:t>
            </a:r>
            <a:r>
              <a:rPr lang="en-GB" sz="2400" dirty="0" err="1"/>
              <a:t>behaviors</a:t>
            </a:r>
            <a:r>
              <a:rPr lang="en-GB" sz="2400" dirty="0"/>
              <a:t> between people and teams</a:t>
            </a:r>
            <a:endParaRPr lang="en-US" sz="2400" dirty="0"/>
          </a:p>
        </p:txBody>
      </p:sp>
      <p:sp>
        <p:nvSpPr>
          <p:cNvPr id="24" name="TextBox 23">
            <a:extLst>
              <a:ext uri="{FF2B5EF4-FFF2-40B4-BE49-F238E27FC236}">
                <a16:creationId xmlns:a16="http://schemas.microsoft.com/office/drawing/2014/main" id="{31B1ED9A-FCB0-F16F-3592-C28D22B48820}"/>
              </a:ext>
            </a:extLst>
          </p:cNvPr>
          <p:cNvSpPr txBox="1"/>
          <p:nvPr/>
        </p:nvSpPr>
        <p:spPr>
          <a:xfrm>
            <a:off x="2152582" y="5827839"/>
            <a:ext cx="3587011" cy="461665"/>
          </a:xfrm>
          <a:prstGeom prst="rect">
            <a:avLst/>
          </a:prstGeom>
          <a:noFill/>
        </p:spPr>
        <p:txBody>
          <a:bodyPr wrap="square" rtlCol="0">
            <a:spAutoFit/>
          </a:bodyPr>
          <a:lstStyle/>
          <a:p>
            <a:r>
              <a:rPr lang="en-GB" sz="2400" dirty="0"/>
              <a:t>Personal </a:t>
            </a:r>
            <a:r>
              <a:rPr lang="en-GB" sz="2400" dirty="0" err="1"/>
              <a:t>behaviors</a:t>
            </a:r>
            <a:endParaRPr lang="en-US" sz="2400" dirty="0"/>
          </a:p>
        </p:txBody>
      </p:sp>
      <p:sp>
        <p:nvSpPr>
          <p:cNvPr id="8" name="TextBox 7">
            <a:extLst>
              <a:ext uri="{FF2B5EF4-FFF2-40B4-BE49-F238E27FC236}">
                <a16:creationId xmlns:a16="http://schemas.microsoft.com/office/drawing/2014/main" id="{6DF2C73B-6FFD-C62E-0AEC-C93BEEEAC8FA}"/>
              </a:ext>
            </a:extLst>
          </p:cNvPr>
          <p:cNvSpPr txBox="1"/>
          <p:nvPr/>
        </p:nvSpPr>
        <p:spPr>
          <a:xfrm>
            <a:off x="8127642" y="3126711"/>
            <a:ext cx="3926728" cy="1200329"/>
          </a:xfrm>
          <a:prstGeom prst="rect">
            <a:avLst/>
          </a:prstGeom>
          <a:solidFill>
            <a:schemeClr val="bg1">
              <a:lumMod val="85000"/>
            </a:schemeClr>
          </a:solidFill>
        </p:spPr>
        <p:txBody>
          <a:bodyPr wrap="square">
            <a:spAutoFit/>
          </a:bodyPr>
          <a:lstStyle/>
          <a:p>
            <a:r>
              <a:rPr lang="en-US" sz="2400" b="1" dirty="0"/>
              <a:t>Note:</a:t>
            </a:r>
          </a:p>
          <a:p>
            <a:r>
              <a:rPr lang="en-US" sz="2400" dirty="0"/>
              <a:t>Identifying which scale the challenge is -&gt; addressing it </a:t>
            </a:r>
          </a:p>
        </p:txBody>
      </p:sp>
      <p:sp>
        <p:nvSpPr>
          <p:cNvPr id="10" name="Slide Number Placeholder 9">
            <a:extLst>
              <a:ext uri="{FF2B5EF4-FFF2-40B4-BE49-F238E27FC236}">
                <a16:creationId xmlns:a16="http://schemas.microsoft.com/office/drawing/2014/main" id="{7AD55273-443D-58C9-C139-497C368D219A}"/>
              </a:ext>
            </a:extLst>
          </p:cNvPr>
          <p:cNvSpPr>
            <a:spLocks noGrp="1"/>
          </p:cNvSpPr>
          <p:nvPr>
            <p:ph type="sldNum" sz="quarter" idx="12"/>
          </p:nvPr>
        </p:nvSpPr>
        <p:spPr/>
        <p:txBody>
          <a:bodyPr/>
          <a:lstStyle/>
          <a:p>
            <a:fld id="{DC6309F4-03C8-4D48-A124-A9AD6E083FAC}" type="slidenum">
              <a:rPr lang="en-US" smtClean="0"/>
              <a:t>51</a:t>
            </a:fld>
            <a:endParaRPr lang="en-US"/>
          </a:p>
        </p:txBody>
      </p:sp>
      <p:pic>
        <p:nvPicPr>
          <p:cNvPr id="2" name="Graphic 1" descr="Solar system with solid fill">
            <a:extLst>
              <a:ext uri="{FF2B5EF4-FFF2-40B4-BE49-F238E27FC236}">
                <a16:creationId xmlns:a16="http://schemas.microsoft.com/office/drawing/2014/main" id="{0FC05AEE-0B79-2509-79A1-3C34253F43A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46899" y="1066798"/>
            <a:ext cx="914400" cy="914400"/>
          </a:xfrm>
          <a:prstGeom prst="rect">
            <a:avLst/>
          </a:prstGeom>
        </p:spPr>
      </p:pic>
      <p:pic>
        <p:nvPicPr>
          <p:cNvPr id="11" name="Graphic 10" descr="User with solid fill">
            <a:extLst>
              <a:ext uri="{FF2B5EF4-FFF2-40B4-BE49-F238E27FC236}">
                <a16:creationId xmlns:a16="http://schemas.microsoft.com/office/drawing/2014/main" id="{6A8931E4-AFAA-DE9B-01A8-BBEB74389D2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46899" y="3867426"/>
            <a:ext cx="914400" cy="914400"/>
          </a:xfrm>
          <a:prstGeom prst="rect">
            <a:avLst/>
          </a:prstGeom>
        </p:spPr>
      </p:pic>
      <p:pic>
        <p:nvPicPr>
          <p:cNvPr id="18" name="Graphic 17" descr="Schoolhouse with solid fill">
            <a:extLst>
              <a:ext uri="{FF2B5EF4-FFF2-40B4-BE49-F238E27FC236}">
                <a16:creationId xmlns:a16="http://schemas.microsoft.com/office/drawing/2014/main" id="{92228D73-DE86-AF82-57A3-44237338453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71156" y="5187288"/>
            <a:ext cx="990143" cy="990143"/>
          </a:xfrm>
          <a:prstGeom prst="rect">
            <a:avLst/>
          </a:prstGeom>
        </p:spPr>
      </p:pic>
      <p:pic>
        <p:nvPicPr>
          <p:cNvPr id="19" name="Graphic 18" descr="Schoolhouse with solid fill">
            <a:extLst>
              <a:ext uri="{FF2B5EF4-FFF2-40B4-BE49-F238E27FC236}">
                <a16:creationId xmlns:a16="http://schemas.microsoft.com/office/drawing/2014/main" id="{CB3BF6C3-523C-82FA-FD62-B4C504A8223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28015" y="2428511"/>
            <a:ext cx="914400" cy="914400"/>
          </a:xfrm>
          <a:prstGeom prst="rect">
            <a:avLst/>
          </a:prstGeom>
        </p:spPr>
      </p:pic>
    </p:spTree>
    <p:extLst>
      <p:ext uri="{BB962C8B-B14F-4D97-AF65-F5344CB8AC3E}">
        <p14:creationId xmlns:p14="http://schemas.microsoft.com/office/powerpoint/2010/main" val="30775762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DAA46-42A4-078C-68A2-25137F6D08C6}"/>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E085BB87-80FE-4BE0-FE53-FFAF7AD1521D}"/>
              </a:ext>
            </a:extLst>
          </p:cNvPr>
          <p:cNvGrpSpPr/>
          <p:nvPr/>
        </p:nvGrpSpPr>
        <p:grpSpPr>
          <a:xfrm>
            <a:off x="10704849" y="6564312"/>
            <a:ext cx="1362075" cy="273690"/>
            <a:chOff x="19317" y="2690018"/>
            <a:chExt cx="11784755" cy="2025180"/>
          </a:xfrm>
        </p:grpSpPr>
        <p:pic>
          <p:nvPicPr>
            <p:cNvPr id="11" name="Picture 2">
              <a:extLst>
                <a:ext uri="{FF2B5EF4-FFF2-40B4-BE49-F238E27FC236}">
                  <a16:creationId xmlns:a16="http://schemas.microsoft.com/office/drawing/2014/main" id="{C05B1715-C9EF-61A6-A3DA-7FFAF98B97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a:extLst>
                <a:ext uri="{FF2B5EF4-FFF2-40B4-BE49-F238E27FC236}">
                  <a16:creationId xmlns:a16="http://schemas.microsoft.com/office/drawing/2014/main" id="{5A783874-98B4-CC8C-D1DA-995701D16D16}"/>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4" name="Title 1">
            <a:extLst>
              <a:ext uri="{FF2B5EF4-FFF2-40B4-BE49-F238E27FC236}">
                <a16:creationId xmlns:a16="http://schemas.microsoft.com/office/drawing/2014/main" id="{240C99B6-B8A2-C6F2-FB22-F8B8339BDE6A}"/>
              </a:ext>
            </a:extLst>
          </p:cNvPr>
          <p:cNvSpPr txBox="1">
            <a:spLocks/>
          </p:cNvSpPr>
          <p:nvPr/>
        </p:nvSpPr>
        <p:spPr>
          <a:xfrm>
            <a:off x="0" y="0"/>
            <a:ext cx="121920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The scale of the challenges</a:t>
            </a:r>
          </a:p>
        </p:txBody>
      </p:sp>
      <p:sp>
        <p:nvSpPr>
          <p:cNvPr id="3" name="TextBox 2">
            <a:extLst>
              <a:ext uri="{FF2B5EF4-FFF2-40B4-BE49-F238E27FC236}">
                <a16:creationId xmlns:a16="http://schemas.microsoft.com/office/drawing/2014/main" id="{95F43ECD-CC08-07D1-7C40-0578A5B140BF}"/>
              </a:ext>
            </a:extLst>
          </p:cNvPr>
          <p:cNvSpPr txBox="1"/>
          <p:nvPr/>
        </p:nvSpPr>
        <p:spPr>
          <a:xfrm>
            <a:off x="165339" y="1903996"/>
            <a:ext cx="1477520" cy="461665"/>
          </a:xfrm>
          <a:prstGeom prst="rect">
            <a:avLst/>
          </a:prstGeom>
          <a:noFill/>
        </p:spPr>
        <p:txBody>
          <a:bodyPr wrap="none" rtlCol="0">
            <a:spAutoFit/>
          </a:bodyPr>
          <a:lstStyle/>
          <a:p>
            <a:r>
              <a:rPr lang="en-GB" sz="2400" b="1" dirty="0"/>
              <a:t>Systemic</a:t>
            </a:r>
            <a:endParaRPr lang="en-US" sz="2400" dirty="0"/>
          </a:p>
        </p:txBody>
      </p:sp>
      <p:sp>
        <p:nvSpPr>
          <p:cNvPr id="5" name="TextBox 4">
            <a:extLst>
              <a:ext uri="{FF2B5EF4-FFF2-40B4-BE49-F238E27FC236}">
                <a16:creationId xmlns:a16="http://schemas.microsoft.com/office/drawing/2014/main" id="{B4D4B072-0F24-ADFA-B3EE-DADB5B718998}"/>
              </a:ext>
            </a:extLst>
          </p:cNvPr>
          <p:cNvSpPr txBox="1"/>
          <p:nvPr/>
        </p:nvSpPr>
        <p:spPr>
          <a:xfrm>
            <a:off x="10002" y="3405761"/>
            <a:ext cx="1894108" cy="461665"/>
          </a:xfrm>
          <a:prstGeom prst="rect">
            <a:avLst/>
          </a:prstGeom>
          <a:noFill/>
        </p:spPr>
        <p:txBody>
          <a:bodyPr wrap="none" rtlCol="0">
            <a:spAutoFit/>
          </a:bodyPr>
          <a:lstStyle/>
          <a:p>
            <a:r>
              <a:rPr lang="en-GB" sz="2400" b="1" dirty="0"/>
              <a:t>Institutional</a:t>
            </a:r>
            <a:endParaRPr lang="en-US" sz="2400" dirty="0"/>
          </a:p>
        </p:txBody>
      </p:sp>
      <p:sp>
        <p:nvSpPr>
          <p:cNvPr id="6" name="TextBox 5">
            <a:extLst>
              <a:ext uri="{FF2B5EF4-FFF2-40B4-BE49-F238E27FC236}">
                <a16:creationId xmlns:a16="http://schemas.microsoft.com/office/drawing/2014/main" id="{409E1322-2F2E-0B75-86D3-5C9730E7BC52}"/>
              </a:ext>
            </a:extLst>
          </p:cNvPr>
          <p:cNvSpPr txBox="1"/>
          <p:nvPr/>
        </p:nvSpPr>
        <p:spPr>
          <a:xfrm>
            <a:off x="0" y="4725623"/>
            <a:ext cx="2182329" cy="461665"/>
          </a:xfrm>
          <a:prstGeom prst="rect">
            <a:avLst/>
          </a:prstGeom>
          <a:noFill/>
        </p:spPr>
        <p:txBody>
          <a:bodyPr wrap="none" rtlCol="0">
            <a:spAutoFit/>
          </a:bodyPr>
          <a:lstStyle/>
          <a:p>
            <a:r>
              <a:rPr lang="en-GB" sz="2400" b="1" dirty="0"/>
              <a:t>Inter-personal</a:t>
            </a:r>
            <a:endParaRPr lang="en-US" sz="2400" dirty="0"/>
          </a:p>
        </p:txBody>
      </p:sp>
      <p:sp>
        <p:nvSpPr>
          <p:cNvPr id="7" name="TextBox 6">
            <a:extLst>
              <a:ext uri="{FF2B5EF4-FFF2-40B4-BE49-F238E27FC236}">
                <a16:creationId xmlns:a16="http://schemas.microsoft.com/office/drawing/2014/main" id="{5F30D9A9-52AD-A4C3-6BE0-EEA0031DF77F}"/>
              </a:ext>
            </a:extLst>
          </p:cNvPr>
          <p:cNvSpPr txBox="1"/>
          <p:nvPr/>
        </p:nvSpPr>
        <p:spPr>
          <a:xfrm>
            <a:off x="189892" y="6141802"/>
            <a:ext cx="1571264" cy="461665"/>
          </a:xfrm>
          <a:prstGeom prst="rect">
            <a:avLst/>
          </a:prstGeom>
          <a:noFill/>
        </p:spPr>
        <p:txBody>
          <a:bodyPr wrap="none" rtlCol="0">
            <a:spAutoFit/>
          </a:bodyPr>
          <a:lstStyle/>
          <a:p>
            <a:r>
              <a:rPr lang="en-GB" sz="2400" b="1" dirty="0"/>
              <a:t>Individual</a:t>
            </a:r>
            <a:endParaRPr lang="en-US" sz="2400" dirty="0"/>
          </a:p>
        </p:txBody>
      </p:sp>
      <p:pic>
        <p:nvPicPr>
          <p:cNvPr id="17" name="Graphic 16" descr="User with solid fill">
            <a:extLst>
              <a:ext uri="{FF2B5EF4-FFF2-40B4-BE49-F238E27FC236}">
                <a16:creationId xmlns:a16="http://schemas.microsoft.com/office/drawing/2014/main" id="{72E7290B-74D2-F07F-4CBF-100FE12F73A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46899" y="3867426"/>
            <a:ext cx="914400" cy="914400"/>
          </a:xfrm>
          <a:prstGeom prst="rect">
            <a:avLst/>
          </a:prstGeom>
        </p:spPr>
      </p:pic>
      <p:grpSp>
        <p:nvGrpSpPr>
          <p:cNvPr id="2" name="Group 1">
            <a:extLst>
              <a:ext uri="{FF2B5EF4-FFF2-40B4-BE49-F238E27FC236}">
                <a16:creationId xmlns:a16="http://schemas.microsoft.com/office/drawing/2014/main" id="{96697CF9-9E79-FFD4-7979-30299C173243}"/>
              </a:ext>
            </a:extLst>
          </p:cNvPr>
          <p:cNvGrpSpPr/>
          <p:nvPr/>
        </p:nvGrpSpPr>
        <p:grpSpPr>
          <a:xfrm>
            <a:off x="2826558" y="932167"/>
            <a:ext cx="1275029" cy="1552016"/>
            <a:chOff x="7918976" y="1325563"/>
            <a:chExt cx="1275029" cy="1552016"/>
          </a:xfrm>
        </p:grpSpPr>
        <p:pic>
          <p:nvPicPr>
            <p:cNvPr id="10" name="Graphic 9" descr="Medal with solid fill">
              <a:extLst>
                <a:ext uri="{FF2B5EF4-FFF2-40B4-BE49-F238E27FC236}">
                  <a16:creationId xmlns:a16="http://schemas.microsoft.com/office/drawing/2014/main" id="{ADA3D69A-6ABC-2399-1DD5-4D43171123C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099611" y="1325563"/>
              <a:ext cx="914400" cy="914400"/>
            </a:xfrm>
            <a:prstGeom prst="rect">
              <a:avLst/>
            </a:prstGeom>
          </p:spPr>
        </p:pic>
        <p:sp>
          <p:nvSpPr>
            <p:cNvPr id="12" name="TextBox 11">
              <a:extLst>
                <a:ext uri="{FF2B5EF4-FFF2-40B4-BE49-F238E27FC236}">
                  <a16:creationId xmlns:a16="http://schemas.microsoft.com/office/drawing/2014/main" id="{BED42793-1552-327C-AB21-C7964264AB86}"/>
                </a:ext>
              </a:extLst>
            </p:cNvPr>
            <p:cNvSpPr txBox="1"/>
            <p:nvPr/>
          </p:nvSpPr>
          <p:spPr>
            <a:xfrm>
              <a:off x="7918976" y="2231248"/>
              <a:ext cx="1275029" cy="646331"/>
            </a:xfrm>
            <a:prstGeom prst="rect">
              <a:avLst/>
            </a:prstGeom>
            <a:noFill/>
          </p:spPr>
          <p:txBody>
            <a:bodyPr wrap="none" rtlCol="0">
              <a:spAutoFit/>
            </a:bodyPr>
            <a:lstStyle/>
            <a:p>
              <a:r>
                <a:rPr lang="en-GB" b="1" dirty="0"/>
                <a:t>Incentive </a:t>
              </a:r>
            </a:p>
            <a:p>
              <a:r>
                <a:rPr lang="en-GB" b="1" dirty="0"/>
                <a:t>structures</a:t>
              </a:r>
              <a:endParaRPr lang="en-US" dirty="0"/>
            </a:p>
          </p:txBody>
        </p:sp>
      </p:grpSp>
      <p:grpSp>
        <p:nvGrpSpPr>
          <p:cNvPr id="31" name="Group 30">
            <a:extLst>
              <a:ext uri="{FF2B5EF4-FFF2-40B4-BE49-F238E27FC236}">
                <a16:creationId xmlns:a16="http://schemas.microsoft.com/office/drawing/2014/main" id="{90D90B56-5C8E-C58A-A217-7B748759D85B}"/>
              </a:ext>
            </a:extLst>
          </p:cNvPr>
          <p:cNvGrpSpPr/>
          <p:nvPr/>
        </p:nvGrpSpPr>
        <p:grpSpPr>
          <a:xfrm>
            <a:off x="7145426" y="1898346"/>
            <a:ext cx="914400" cy="3934552"/>
            <a:chOff x="4776537" y="1866992"/>
            <a:chExt cx="914400" cy="3934552"/>
          </a:xfrm>
        </p:grpSpPr>
        <p:grpSp>
          <p:nvGrpSpPr>
            <p:cNvPr id="25" name="Group 24">
              <a:extLst>
                <a:ext uri="{FF2B5EF4-FFF2-40B4-BE49-F238E27FC236}">
                  <a16:creationId xmlns:a16="http://schemas.microsoft.com/office/drawing/2014/main" id="{E1C515F2-26B3-32F3-B9DE-F5047A14E591}"/>
                </a:ext>
              </a:extLst>
            </p:cNvPr>
            <p:cNvGrpSpPr/>
            <p:nvPr/>
          </p:nvGrpSpPr>
          <p:grpSpPr>
            <a:xfrm>
              <a:off x="4776537" y="3188403"/>
              <a:ext cx="914400" cy="1283732"/>
              <a:chOff x="1078156" y="1850572"/>
              <a:chExt cx="914400" cy="1283732"/>
            </a:xfrm>
          </p:grpSpPr>
          <p:sp>
            <p:nvSpPr>
              <p:cNvPr id="26" name="TextBox 25">
                <a:extLst>
                  <a:ext uri="{FF2B5EF4-FFF2-40B4-BE49-F238E27FC236}">
                    <a16:creationId xmlns:a16="http://schemas.microsoft.com/office/drawing/2014/main" id="{1FDB2BCF-B575-4F91-D1F4-D68DFE81C902}"/>
                  </a:ext>
                </a:extLst>
              </p:cNvPr>
              <p:cNvSpPr txBox="1"/>
              <p:nvPr/>
            </p:nvSpPr>
            <p:spPr>
              <a:xfrm>
                <a:off x="1186542" y="2764972"/>
                <a:ext cx="697627" cy="369332"/>
              </a:xfrm>
              <a:prstGeom prst="rect">
                <a:avLst/>
              </a:prstGeom>
              <a:noFill/>
            </p:spPr>
            <p:txBody>
              <a:bodyPr wrap="none" rtlCol="0">
                <a:spAutoFit/>
              </a:bodyPr>
              <a:lstStyle/>
              <a:p>
                <a:r>
                  <a:rPr lang="en-GB" b="1" dirty="0"/>
                  <a:t>Time</a:t>
                </a:r>
                <a:endParaRPr lang="en-US" dirty="0"/>
              </a:p>
            </p:txBody>
          </p:sp>
          <p:pic>
            <p:nvPicPr>
              <p:cNvPr id="27" name="Graphic 26" descr="Stopwatch 75% with solid fill">
                <a:extLst>
                  <a:ext uri="{FF2B5EF4-FFF2-40B4-BE49-F238E27FC236}">
                    <a16:creationId xmlns:a16="http://schemas.microsoft.com/office/drawing/2014/main" id="{F2D97194-BE85-C212-962C-1AAF44C1D2C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78156" y="1850572"/>
                <a:ext cx="914400" cy="914400"/>
              </a:xfrm>
              <a:prstGeom prst="rect">
                <a:avLst/>
              </a:prstGeom>
            </p:spPr>
          </p:pic>
        </p:grpSp>
        <p:sp>
          <p:nvSpPr>
            <p:cNvPr id="29" name="Up Arrow 28">
              <a:extLst>
                <a:ext uri="{FF2B5EF4-FFF2-40B4-BE49-F238E27FC236}">
                  <a16:creationId xmlns:a16="http://schemas.microsoft.com/office/drawing/2014/main" id="{534A29A2-6BB4-1190-114C-C37315A56C88}"/>
                </a:ext>
              </a:extLst>
            </p:cNvPr>
            <p:cNvSpPr/>
            <p:nvPr/>
          </p:nvSpPr>
          <p:spPr>
            <a:xfrm>
              <a:off x="5033739" y="1866992"/>
              <a:ext cx="399993" cy="1207353"/>
            </a:xfrm>
            <a:prstGeom prst="upArrow">
              <a:avLst>
                <a:gd name="adj1" fmla="val 36145"/>
                <a:gd name="adj2" fmla="val 88101"/>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Up Arrow 29">
              <a:extLst>
                <a:ext uri="{FF2B5EF4-FFF2-40B4-BE49-F238E27FC236}">
                  <a16:creationId xmlns:a16="http://schemas.microsoft.com/office/drawing/2014/main" id="{BDAE5A54-A729-2DDC-AA25-1059E1C89B92}"/>
                </a:ext>
              </a:extLst>
            </p:cNvPr>
            <p:cNvSpPr/>
            <p:nvPr/>
          </p:nvSpPr>
          <p:spPr>
            <a:xfrm rot="10800000">
              <a:off x="4997595" y="4594191"/>
              <a:ext cx="399993" cy="1207353"/>
            </a:xfrm>
            <a:prstGeom prst="upArrow">
              <a:avLst>
                <a:gd name="adj1" fmla="val 36145"/>
                <a:gd name="adj2" fmla="val 88101"/>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0" name="Group 39">
            <a:extLst>
              <a:ext uri="{FF2B5EF4-FFF2-40B4-BE49-F238E27FC236}">
                <a16:creationId xmlns:a16="http://schemas.microsoft.com/office/drawing/2014/main" id="{4FA19FDC-99FB-7357-425A-78596036B934}"/>
              </a:ext>
            </a:extLst>
          </p:cNvPr>
          <p:cNvGrpSpPr/>
          <p:nvPr/>
        </p:nvGrpSpPr>
        <p:grpSpPr>
          <a:xfrm>
            <a:off x="5689003" y="3267429"/>
            <a:ext cx="1070678" cy="3368524"/>
            <a:chOff x="6308497" y="3309851"/>
            <a:chExt cx="1070678" cy="3368524"/>
          </a:xfrm>
        </p:grpSpPr>
        <p:grpSp>
          <p:nvGrpSpPr>
            <p:cNvPr id="14" name="Group 13">
              <a:extLst>
                <a:ext uri="{FF2B5EF4-FFF2-40B4-BE49-F238E27FC236}">
                  <a16:creationId xmlns:a16="http://schemas.microsoft.com/office/drawing/2014/main" id="{0AAB3C67-0F09-9E2D-C664-1021C3CD4406}"/>
                </a:ext>
              </a:extLst>
            </p:cNvPr>
            <p:cNvGrpSpPr/>
            <p:nvPr/>
          </p:nvGrpSpPr>
          <p:grpSpPr>
            <a:xfrm>
              <a:off x="6308497" y="4037590"/>
              <a:ext cx="1070678" cy="1837730"/>
              <a:chOff x="5056184" y="4169854"/>
              <a:chExt cx="1070678" cy="1837730"/>
            </a:xfrm>
          </p:grpSpPr>
          <p:pic>
            <p:nvPicPr>
              <p:cNvPr id="15" name="Graphic 14" descr="Books with solid fill">
                <a:extLst>
                  <a:ext uri="{FF2B5EF4-FFF2-40B4-BE49-F238E27FC236}">
                    <a16:creationId xmlns:a16="http://schemas.microsoft.com/office/drawing/2014/main" id="{93366ABC-C67E-6060-AB24-B3EAF4302B3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084500" y="4169854"/>
                <a:ext cx="914400" cy="914400"/>
              </a:xfrm>
              <a:prstGeom prst="rect">
                <a:avLst/>
              </a:prstGeom>
            </p:spPr>
          </p:pic>
          <p:sp>
            <p:nvSpPr>
              <p:cNvPr id="16" name="TextBox 15">
                <a:extLst>
                  <a:ext uri="{FF2B5EF4-FFF2-40B4-BE49-F238E27FC236}">
                    <a16:creationId xmlns:a16="http://schemas.microsoft.com/office/drawing/2014/main" id="{42546F6E-FF2F-D66F-6845-A5F7F4D7B472}"/>
                  </a:ext>
                </a:extLst>
              </p:cNvPr>
              <p:cNvSpPr txBox="1"/>
              <p:nvPr/>
            </p:nvSpPr>
            <p:spPr>
              <a:xfrm>
                <a:off x="5056184" y="5084254"/>
                <a:ext cx="1070678" cy="923330"/>
              </a:xfrm>
              <a:prstGeom prst="rect">
                <a:avLst/>
              </a:prstGeom>
              <a:noFill/>
            </p:spPr>
            <p:txBody>
              <a:bodyPr wrap="none" rtlCol="0">
                <a:spAutoFit/>
              </a:bodyPr>
              <a:lstStyle/>
              <a:p>
                <a:r>
                  <a:rPr lang="en-GB" b="1" dirty="0"/>
                  <a:t>Lack of </a:t>
                </a:r>
              </a:p>
              <a:p>
                <a:r>
                  <a:rPr lang="en-GB" b="1" dirty="0"/>
                  <a:t>training/</a:t>
                </a:r>
              </a:p>
              <a:p>
                <a:r>
                  <a:rPr lang="en-GB" b="1" dirty="0"/>
                  <a:t>skills</a:t>
                </a:r>
                <a:endParaRPr lang="en-US" dirty="0"/>
              </a:p>
            </p:txBody>
          </p:sp>
        </p:grpSp>
        <p:sp>
          <p:nvSpPr>
            <p:cNvPr id="32" name="Up Arrow 31">
              <a:extLst>
                <a:ext uri="{FF2B5EF4-FFF2-40B4-BE49-F238E27FC236}">
                  <a16:creationId xmlns:a16="http://schemas.microsoft.com/office/drawing/2014/main" id="{D657519A-F5E4-70B0-C131-835387749DC9}"/>
                </a:ext>
              </a:extLst>
            </p:cNvPr>
            <p:cNvSpPr/>
            <p:nvPr/>
          </p:nvSpPr>
          <p:spPr>
            <a:xfrm>
              <a:off x="6588839" y="3309851"/>
              <a:ext cx="399993" cy="646331"/>
            </a:xfrm>
            <a:prstGeom prst="upArrow">
              <a:avLst>
                <a:gd name="adj1" fmla="val 36145"/>
                <a:gd name="adj2" fmla="val 88101"/>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Up Arrow 32">
              <a:extLst>
                <a:ext uri="{FF2B5EF4-FFF2-40B4-BE49-F238E27FC236}">
                  <a16:creationId xmlns:a16="http://schemas.microsoft.com/office/drawing/2014/main" id="{B6F13AFE-68E1-FC6F-E67C-BDB077F24EC4}"/>
                </a:ext>
              </a:extLst>
            </p:cNvPr>
            <p:cNvSpPr/>
            <p:nvPr/>
          </p:nvSpPr>
          <p:spPr>
            <a:xfrm rot="10800000">
              <a:off x="6552888" y="6032044"/>
              <a:ext cx="399993" cy="646331"/>
            </a:xfrm>
            <a:prstGeom prst="upArrow">
              <a:avLst>
                <a:gd name="adj1" fmla="val 36145"/>
                <a:gd name="adj2" fmla="val 88101"/>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9" name="Group 38">
            <a:extLst>
              <a:ext uri="{FF2B5EF4-FFF2-40B4-BE49-F238E27FC236}">
                <a16:creationId xmlns:a16="http://schemas.microsoft.com/office/drawing/2014/main" id="{FFB8EF02-C58F-D1FF-47D2-369D69E432E9}"/>
              </a:ext>
            </a:extLst>
          </p:cNvPr>
          <p:cNvGrpSpPr/>
          <p:nvPr/>
        </p:nvGrpSpPr>
        <p:grpSpPr>
          <a:xfrm>
            <a:off x="4177140" y="2365661"/>
            <a:ext cx="1292155" cy="2236852"/>
            <a:chOff x="4528187" y="2365661"/>
            <a:chExt cx="1292155" cy="2236852"/>
          </a:xfrm>
        </p:grpSpPr>
        <p:grpSp>
          <p:nvGrpSpPr>
            <p:cNvPr id="18" name="Group 17">
              <a:extLst>
                <a:ext uri="{FF2B5EF4-FFF2-40B4-BE49-F238E27FC236}">
                  <a16:creationId xmlns:a16="http://schemas.microsoft.com/office/drawing/2014/main" id="{1C463CE0-09A5-2B4C-371F-5347FBA70CA8}"/>
                </a:ext>
              </a:extLst>
            </p:cNvPr>
            <p:cNvGrpSpPr/>
            <p:nvPr/>
          </p:nvGrpSpPr>
          <p:grpSpPr>
            <a:xfrm>
              <a:off x="4528187" y="2365661"/>
              <a:ext cx="1292155" cy="1572108"/>
              <a:chOff x="8048654" y="1809106"/>
              <a:chExt cx="1292155" cy="1572108"/>
            </a:xfrm>
          </p:grpSpPr>
          <p:sp>
            <p:nvSpPr>
              <p:cNvPr id="19" name="TextBox 18">
                <a:extLst>
                  <a:ext uri="{FF2B5EF4-FFF2-40B4-BE49-F238E27FC236}">
                    <a16:creationId xmlns:a16="http://schemas.microsoft.com/office/drawing/2014/main" id="{6E385394-AC49-32B9-77F9-3F780BFDF745}"/>
                  </a:ext>
                </a:extLst>
              </p:cNvPr>
              <p:cNvSpPr txBox="1"/>
              <p:nvPr/>
            </p:nvSpPr>
            <p:spPr>
              <a:xfrm>
                <a:off x="8065140" y="2734883"/>
                <a:ext cx="1275669" cy="646331"/>
              </a:xfrm>
              <a:prstGeom prst="rect">
                <a:avLst/>
              </a:prstGeom>
              <a:noFill/>
            </p:spPr>
            <p:txBody>
              <a:bodyPr wrap="square" rtlCol="0">
                <a:spAutoFit/>
              </a:bodyPr>
              <a:lstStyle/>
              <a:p>
                <a:r>
                  <a:rPr lang="en-GB" b="1" dirty="0"/>
                  <a:t>Lack of support</a:t>
                </a:r>
                <a:endParaRPr lang="en-US" dirty="0"/>
              </a:p>
            </p:txBody>
          </p:sp>
          <p:pic>
            <p:nvPicPr>
              <p:cNvPr id="20" name="Graphic 19" descr="Care with solid fill">
                <a:extLst>
                  <a:ext uri="{FF2B5EF4-FFF2-40B4-BE49-F238E27FC236}">
                    <a16:creationId xmlns:a16="http://schemas.microsoft.com/office/drawing/2014/main" id="{ED6C76E3-7122-7B76-80B7-0D5F373222A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048654" y="1809106"/>
                <a:ext cx="914400" cy="914400"/>
              </a:xfrm>
              <a:prstGeom prst="rect">
                <a:avLst/>
              </a:prstGeom>
            </p:spPr>
          </p:pic>
        </p:grpSp>
        <p:sp>
          <p:nvSpPr>
            <p:cNvPr id="37" name="Up Arrow 36">
              <a:extLst>
                <a:ext uri="{FF2B5EF4-FFF2-40B4-BE49-F238E27FC236}">
                  <a16:creationId xmlns:a16="http://schemas.microsoft.com/office/drawing/2014/main" id="{721BEFA8-81FA-F8F8-BCE8-0585A8BB925A}"/>
                </a:ext>
              </a:extLst>
            </p:cNvPr>
            <p:cNvSpPr/>
            <p:nvPr/>
          </p:nvSpPr>
          <p:spPr>
            <a:xfrm rot="10800000">
              <a:off x="4825428" y="3956182"/>
              <a:ext cx="399993" cy="646331"/>
            </a:xfrm>
            <a:prstGeom prst="upArrow">
              <a:avLst>
                <a:gd name="adj1" fmla="val 36145"/>
                <a:gd name="adj2" fmla="val 88101"/>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TextBox 37">
            <a:extLst>
              <a:ext uri="{FF2B5EF4-FFF2-40B4-BE49-F238E27FC236}">
                <a16:creationId xmlns:a16="http://schemas.microsoft.com/office/drawing/2014/main" id="{BCD7D14D-B291-00BC-5C32-0BC74276975A}"/>
              </a:ext>
            </a:extLst>
          </p:cNvPr>
          <p:cNvSpPr txBox="1"/>
          <p:nvPr/>
        </p:nvSpPr>
        <p:spPr>
          <a:xfrm>
            <a:off x="8725916" y="2659771"/>
            <a:ext cx="3285543" cy="1569660"/>
          </a:xfrm>
          <a:prstGeom prst="rect">
            <a:avLst/>
          </a:prstGeom>
          <a:solidFill>
            <a:schemeClr val="bg1">
              <a:lumMod val="85000"/>
            </a:schemeClr>
          </a:solidFill>
        </p:spPr>
        <p:txBody>
          <a:bodyPr wrap="square">
            <a:spAutoFit/>
          </a:bodyPr>
          <a:lstStyle/>
          <a:p>
            <a:r>
              <a:rPr lang="en-US" sz="2400" b="1" dirty="0"/>
              <a:t>Note:</a:t>
            </a:r>
          </a:p>
          <a:p>
            <a:r>
              <a:rPr lang="en-US" sz="2400" dirty="0"/>
              <a:t>Challenges don’t always fit neatly onto the scale!</a:t>
            </a:r>
          </a:p>
        </p:txBody>
      </p:sp>
      <p:sp>
        <p:nvSpPr>
          <p:cNvPr id="49" name="Slide Number Placeholder 48">
            <a:extLst>
              <a:ext uri="{FF2B5EF4-FFF2-40B4-BE49-F238E27FC236}">
                <a16:creationId xmlns:a16="http://schemas.microsoft.com/office/drawing/2014/main" id="{C6A3C3E0-5615-DB4C-004B-B4B44BEB2585}"/>
              </a:ext>
            </a:extLst>
          </p:cNvPr>
          <p:cNvSpPr>
            <a:spLocks noGrp="1"/>
          </p:cNvSpPr>
          <p:nvPr>
            <p:ph type="sldNum" sz="quarter" idx="12"/>
          </p:nvPr>
        </p:nvSpPr>
        <p:spPr/>
        <p:txBody>
          <a:bodyPr/>
          <a:lstStyle/>
          <a:p>
            <a:fld id="{DC6309F4-03C8-4D48-A124-A9AD6E083FAC}" type="slidenum">
              <a:rPr lang="en-US" smtClean="0"/>
              <a:t>52</a:t>
            </a:fld>
            <a:endParaRPr lang="en-US"/>
          </a:p>
        </p:txBody>
      </p:sp>
      <p:pic>
        <p:nvPicPr>
          <p:cNvPr id="50" name="Graphic 49" descr="Schoolhouse with solid fill">
            <a:extLst>
              <a:ext uri="{FF2B5EF4-FFF2-40B4-BE49-F238E27FC236}">
                <a16:creationId xmlns:a16="http://schemas.microsoft.com/office/drawing/2014/main" id="{C637342E-BBD6-BA76-F742-CA6E50D371BF}"/>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71156" y="5187288"/>
            <a:ext cx="990143" cy="990143"/>
          </a:xfrm>
          <a:prstGeom prst="rect">
            <a:avLst/>
          </a:prstGeom>
        </p:spPr>
      </p:pic>
      <p:pic>
        <p:nvPicPr>
          <p:cNvPr id="22" name="Graphic 21" descr="Solar system with solid fill">
            <a:extLst>
              <a:ext uri="{FF2B5EF4-FFF2-40B4-BE49-F238E27FC236}">
                <a16:creationId xmlns:a16="http://schemas.microsoft.com/office/drawing/2014/main" id="{087D0329-25A0-78EF-B683-AAE60A4B2BEB}"/>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46899" y="1066798"/>
            <a:ext cx="914400" cy="914400"/>
          </a:xfrm>
          <a:prstGeom prst="rect">
            <a:avLst/>
          </a:prstGeom>
        </p:spPr>
      </p:pic>
      <p:pic>
        <p:nvPicPr>
          <p:cNvPr id="23" name="Graphic 22" descr="Schoolhouse with solid fill">
            <a:extLst>
              <a:ext uri="{FF2B5EF4-FFF2-40B4-BE49-F238E27FC236}">
                <a16:creationId xmlns:a16="http://schemas.microsoft.com/office/drawing/2014/main" id="{0C8B614A-E013-4DBE-4C92-984E4DF8B5F0}"/>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28015" y="2428511"/>
            <a:ext cx="914400" cy="914400"/>
          </a:xfrm>
          <a:prstGeom prst="rect">
            <a:avLst/>
          </a:prstGeom>
        </p:spPr>
      </p:pic>
    </p:spTree>
    <p:extLst>
      <p:ext uri="{BB962C8B-B14F-4D97-AF65-F5344CB8AC3E}">
        <p14:creationId xmlns:p14="http://schemas.microsoft.com/office/powerpoint/2010/main" val="388913814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3BB92-E14B-C6AD-0897-939AA2A31F86}"/>
            </a:ext>
          </a:extLst>
        </p:cNvPr>
        <p:cNvGrpSpPr/>
        <p:nvPr/>
      </p:nvGrpSpPr>
      <p:grpSpPr>
        <a:xfrm>
          <a:off x="0" y="0"/>
          <a:ext cx="0" cy="0"/>
          <a:chOff x="0" y="0"/>
          <a:chExt cx="0" cy="0"/>
        </a:xfrm>
      </p:grpSpPr>
      <p:grpSp>
        <p:nvGrpSpPr>
          <p:cNvPr id="16" name="Group 15">
            <a:extLst>
              <a:ext uri="{FF2B5EF4-FFF2-40B4-BE49-F238E27FC236}">
                <a16:creationId xmlns:a16="http://schemas.microsoft.com/office/drawing/2014/main" id="{93B871D6-F967-0F0E-30DC-EAFA3BAE6D12}"/>
              </a:ext>
            </a:extLst>
          </p:cNvPr>
          <p:cNvGrpSpPr/>
          <p:nvPr/>
        </p:nvGrpSpPr>
        <p:grpSpPr>
          <a:xfrm>
            <a:off x="10704849" y="6564312"/>
            <a:ext cx="1362075" cy="273690"/>
            <a:chOff x="19317" y="2690018"/>
            <a:chExt cx="11784755" cy="2025180"/>
          </a:xfrm>
        </p:grpSpPr>
        <p:pic>
          <p:nvPicPr>
            <p:cNvPr id="18" name="Picture 2">
              <a:extLst>
                <a:ext uri="{FF2B5EF4-FFF2-40B4-BE49-F238E27FC236}">
                  <a16:creationId xmlns:a16="http://schemas.microsoft.com/office/drawing/2014/main" id="{8D2D621A-0082-1A8D-6420-6655CE069D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a:extLst>
                <a:ext uri="{FF2B5EF4-FFF2-40B4-BE49-F238E27FC236}">
                  <a16:creationId xmlns:a16="http://schemas.microsoft.com/office/drawing/2014/main" id="{0B4F096C-891C-8B37-5423-BD8BC8A17D93}"/>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4" name="Title 1">
            <a:extLst>
              <a:ext uri="{FF2B5EF4-FFF2-40B4-BE49-F238E27FC236}">
                <a16:creationId xmlns:a16="http://schemas.microsoft.com/office/drawing/2014/main" id="{27D8BDBC-4EAE-3CB1-F345-CE43D3861802}"/>
              </a:ext>
            </a:extLst>
          </p:cNvPr>
          <p:cNvSpPr txBox="1">
            <a:spLocks/>
          </p:cNvSpPr>
          <p:nvPr/>
        </p:nvSpPr>
        <p:spPr>
          <a:xfrm>
            <a:off x="0" y="0"/>
            <a:ext cx="121920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Sphere of influence</a:t>
            </a:r>
          </a:p>
        </p:txBody>
      </p:sp>
      <p:sp>
        <p:nvSpPr>
          <p:cNvPr id="2" name="TextBox 1">
            <a:extLst>
              <a:ext uri="{FF2B5EF4-FFF2-40B4-BE49-F238E27FC236}">
                <a16:creationId xmlns:a16="http://schemas.microsoft.com/office/drawing/2014/main" id="{F947E7F2-2A02-6D8D-0829-44D5436B9CFA}"/>
              </a:ext>
            </a:extLst>
          </p:cNvPr>
          <p:cNvSpPr txBox="1"/>
          <p:nvPr/>
        </p:nvSpPr>
        <p:spPr>
          <a:xfrm>
            <a:off x="314766" y="1113308"/>
            <a:ext cx="9325556" cy="461665"/>
          </a:xfrm>
          <a:prstGeom prst="rect">
            <a:avLst/>
          </a:prstGeom>
          <a:noFill/>
        </p:spPr>
        <p:txBody>
          <a:bodyPr wrap="square" rtlCol="0">
            <a:spAutoFit/>
          </a:bodyPr>
          <a:lstStyle/>
          <a:p>
            <a:r>
              <a:rPr lang="en-US" sz="2400" dirty="0"/>
              <a:t>Which challenges are in our control or influence to address?</a:t>
            </a:r>
          </a:p>
        </p:txBody>
      </p:sp>
      <p:sp>
        <p:nvSpPr>
          <p:cNvPr id="15" name="Slide Number Placeholder 14">
            <a:extLst>
              <a:ext uri="{FF2B5EF4-FFF2-40B4-BE49-F238E27FC236}">
                <a16:creationId xmlns:a16="http://schemas.microsoft.com/office/drawing/2014/main" id="{98F07945-323C-F678-01C0-E8C6589A71A8}"/>
              </a:ext>
            </a:extLst>
          </p:cNvPr>
          <p:cNvSpPr>
            <a:spLocks noGrp="1"/>
          </p:cNvSpPr>
          <p:nvPr>
            <p:ph type="sldNum" sz="quarter" idx="12"/>
          </p:nvPr>
        </p:nvSpPr>
        <p:spPr/>
        <p:txBody>
          <a:bodyPr/>
          <a:lstStyle/>
          <a:p>
            <a:fld id="{DC6309F4-03C8-4D48-A124-A9AD6E083FAC}" type="slidenum">
              <a:rPr lang="en-US" smtClean="0"/>
              <a:t>53</a:t>
            </a:fld>
            <a:endParaRPr lang="en-US"/>
          </a:p>
        </p:txBody>
      </p:sp>
      <p:sp>
        <p:nvSpPr>
          <p:cNvPr id="20" name="TextBox 19">
            <a:extLst>
              <a:ext uri="{FF2B5EF4-FFF2-40B4-BE49-F238E27FC236}">
                <a16:creationId xmlns:a16="http://schemas.microsoft.com/office/drawing/2014/main" id="{2B134E2C-5611-0479-8DBC-490E3F19FCDF}"/>
              </a:ext>
            </a:extLst>
          </p:cNvPr>
          <p:cNvSpPr txBox="1"/>
          <p:nvPr/>
        </p:nvSpPr>
        <p:spPr>
          <a:xfrm>
            <a:off x="636104" y="5156021"/>
            <a:ext cx="9840717" cy="1200329"/>
          </a:xfrm>
          <a:prstGeom prst="rect">
            <a:avLst/>
          </a:prstGeom>
          <a:solidFill>
            <a:schemeClr val="bg1">
              <a:lumMod val="85000"/>
            </a:schemeClr>
          </a:solidFill>
        </p:spPr>
        <p:txBody>
          <a:bodyPr wrap="square" rtlCol="0">
            <a:spAutoFit/>
          </a:bodyPr>
          <a:lstStyle/>
          <a:p>
            <a:r>
              <a:rPr lang="en-US" sz="2400" b="1" dirty="0"/>
              <a:t>Reflection question:</a:t>
            </a:r>
          </a:p>
          <a:p>
            <a:r>
              <a:rPr lang="en-US" sz="2400" dirty="0"/>
              <a:t>For a given challenge, am I able to address it by myself or can I partly influence (via my actions and behavior) how the challenge impacts me?</a:t>
            </a:r>
          </a:p>
        </p:txBody>
      </p:sp>
      <p:grpSp>
        <p:nvGrpSpPr>
          <p:cNvPr id="5" name="Group 4">
            <a:extLst>
              <a:ext uri="{FF2B5EF4-FFF2-40B4-BE49-F238E27FC236}">
                <a16:creationId xmlns:a16="http://schemas.microsoft.com/office/drawing/2014/main" id="{DBF450E1-47C4-2219-057C-A37E27836357}"/>
              </a:ext>
            </a:extLst>
          </p:cNvPr>
          <p:cNvGrpSpPr/>
          <p:nvPr/>
        </p:nvGrpSpPr>
        <p:grpSpPr>
          <a:xfrm>
            <a:off x="9123392" y="934221"/>
            <a:ext cx="831696" cy="875891"/>
            <a:chOff x="4435504" y="1964618"/>
            <a:chExt cx="1641987" cy="1614426"/>
          </a:xfrm>
        </p:grpSpPr>
        <p:sp>
          <p:nvSpPr>
            <p:cNvPr id="6" name="Oval 5">
              <a:extLst>
                <a:ext uri="{FF2B5EF4-FFF2-40B4-BE49-F238E27FC236}">
                  <a16:creationId xmlns:a16="http://schemas.microsoft.com/office/drawing/2014/main" id="{3729FE5C-6FF3-1C69-4B98-4D0BAF91E42C}"/>
                </a:ext>
              </a:extLst>
            </p:cNvPr>
            <p:cNvSpPr/>
            <p:nvPr/>
          </p:nvSpPr>
          <p:spPr>
            <a:xfrm>
              <a:off x="4435504" y="1964618"/>
              <a:ext cx="1641987" cy="161442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Graphic 6" descr="User with solid fill">
              <a:extLst>
                <a:ext uri="{FF2B5EF4-FFF2-40B4-BE49-F238E27FC236}">
                  <a16:creationId xmlns:a16="http://schemas.microsoft.com/office/drawing/2014/main" id="{F6B50AAE-D718-5BA1-5F7E-EE3E48F5D0A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645029" y="2134541"/>
              <a:ext cx="1196343" cy="1196343"/>
            </a:xfrm>
            <a:prstGeom prst="rect">
              <a:avLst/>
            </a:prstGeom>
          </p:spPr>
        </p:pic>
      </p:grpSp>
      <p:sp>
        <p:nvSpPr>
          <p:cNvPr id="8" name="TextBox 7">
            <a:extLst>
              <a:ext uri="{FF2B5EF4-FFF2-40B4-BE49-F238E27FC236}">
                <a16:creationId xmlns:a16="http://schemas.microsoft.com/office/drawing/2014/main" id="{9855DFD7-6F8A-F9BC-3C80-5B08322AB590}"/>
              </a:ext>
            </a:extLst>
          </p:cNvPr>
          <p:cNvSpPr txBox="1"/>
          <p:nvPr/>
        </p:nvSpPr>
        <p:spPr>
          <a:xfrm>
            <a:off x="10039928" y="1172111"/>
            <a:ext cx="1033616" cy="400110"/>
          </a:xfrm>
          <a:prstGeom prst="rect">
            <a:avLst/>
          </a:prstGeom>
          <a:noFill/>
        </p:spPr>
        <p:txBody>
          <a:bodyPr wrap="none" rtlCol="0">
            <a:spAutoFit/>
          </a:bodyPr>
          <a:lstStyle/>
          <a:p>
            <a:r>
              <a:rPr lang="en-US" sz="2000" b="1" dirty="0"/>
              <a:t>Agency</a:t>
            </a:r>
          </a:p>
        </p:txBody>
      </p:sp>
      <p:pic>
        <p:nvPicPr>
          <p:cNvPr id="9" name="Graphic 8" descr="Ripple with solid fill">
            <a:extLst>
              <a:ext uri="{FF2B5EF4-FFF2-40B4-BE49-F238E27FC236}">
                <a16:creationId xmlns:a16="http://schemas.microsoft.com/office/drawing/2014/main" id="{04DE4B9F-8BD2-8C99-D052-1F181174FB0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599709" y="1733041"/>
            <a:ext cx="2992582" cy="2992582"/>
          </a:xfrm>
          <a:prstGeom prst="rect">
            <a:avLst/>
          </a:prstGeom>
        </p:spPr>
      </p:pic>
    </p:spTree>
    <p:extLst>
      <p:ext uri="{BB962C8B-B14F-4D97-AF65-F5344CB8AC3E}">
        <p14:creationId xmlns:p14="http://schemas.microsoft.com/office/powerpoint/2010/main" val="8940173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67C48-23DA-D76A-BB2F-33819ED6C0D7}"/>
            </a:ext>
          </a:extLst>
        </p:cNvPr>
        <p:cNvGrpSpPr/>
        <p:nvPr/>
      </p:nvGrpSpPr>
      <p:grpSpPr>
        <a:xfrm>
          <a:off x="0" y="0"/>
          <a:ext cx="0" cy="0"/>
          <a:chOff x="0" y="0"/>
          <a:chExt cx="0" cy="0"/>
        </a:xfrm>
      </p:grpSpPr>
      <p:grpSp>
        <p:nvGrpSpPr>
          <p:cNvPr id="40" name="Group 39">
            <a:extLst>
              <a:ext uri="{FF2B5EF4-FFF2-40B4-BE49-F238E27FC236}">
                <a16:creationId xmlns:a16="http://schemas.microsoft.com/office/drawing/2014/main" id="{AF6130BF-0235-CA05-E17A-D6BC6E314B96}"/>
              </a:ext>
            </a:extLst>
          </p:cNvPr>
          <p:cNvGrpSpPr/>
          <p:nvPr/>
        </p:nvGrpSpPr>
        <p:grpSpPr>
          <a:xfrm>
            <a:off x="10704849" y="6564312"/>
            <a:ext cx="1362075" cy="273690"/>
            <a:chOff x="19317" y="2690018"/>
            <a:chExt cx="11784755" cy="2025180"/>
          </a:xfrm>
        </p:grpSpPr>
        <p:pic>
          <p:nvPicPr>
            <p:cNvPr id="41" name="Picture 2">
              <a:extLst>
                <a:ext uri="{FF2B5EF4-FFF2-40B4-BE49-F238E27FC236}">
                  <a16:creationId xmlns:a16="http://schemas.microsoft.com/office/drawing/2014/main" id="{1CBEE800-FFAE-D382-DD2F-66E7D54BB6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1">
              <a:extLst>
                <a:ext uri="{FF2B5EF4-FFF2-40B4-BE49-F238E27FC236}">
                  <a16:creationId xmlns:a16="http://schemas.microsoft.com/office/drawing/2014/main" id="{F51BF160-AE09-7B3B-404A-1C9E2DBE0666}"/>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4" name="Title 1">
            <a:extLst>
              <a:ext uri="{FF2B5EF4-FFF2-40B4-BE49-F238E27FC236}">
                <a16:creationId xmlns:a16="http://schemas.microsoft.com/office/drawing/2014/main" id="{92366A78-B292-037C-674F-519D3277C35A}"/>
              </a:ext>
            </a:extLst>
          </p:cNvPr>
          <p:cNvSpPr txBox="1">
            <a:spLocks/>
          </p:cNvSpPr>
          <p:nvPr/>
        </p:nvSpPr>
        <p:spPr>
          <a:xfrm>
            <a:off x="0" y="0"/>
            <a:ext cx="121920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Where is our sphere of influence?</a:t>
            </a:r>
          </a:p>
        </p:txBody>
      </p:sp>
      <p:grpSp>
        <p:nvGrpSpPr>
          <p:cNvPr id="17" name="Group 16">
            <a:extLst>
              <a:ext uri="{FF2B5EF4-FFF2-40B4-BE49-F238E27FC236}">
                <a16:creationId xmlns:a16="http://schemas.microsoft.com/office/drawing/2014/main" id="{9AC65FDF-69DC-2AB7-118C-9F28AC448EB8}"/>
              </a:ext>
            </a:extLst>
          </p:cNvPr>
          <p:cNvGrpSpPr/>
          <p:nvPr/>
        </p:nvGrpSpPr>
        <p:grpSpPr>
          <a:xfrm>
            <a:off x="0" y="1066798"/>
            <a:ext cx="2182329" cy="5536669"/>
            <a:chOff x="0" y="1066798"/>
            <a:chExt cx="2182329" cy="5536669"/>
          </a:xfrm>
        </p:grpSpPr>
        <p:sp>
          <p:nvSpPr>
            <p:cNvPr id="7" name="TextBox 6">
              <a:extLst>
                <a:ext uri="{FF2B5EF4-FFF2-40B4-BE49-F238E27FC236}">
                  <a16:creationId xmlns:a16="http://schemas.microsoft.com/office/drawing/2014/main" id="{C1CBF1C0-106D-71F0-7679-27027DB349FA}"/>
                </a:ext>
              </a:extLst>
            </p:cNvPr>
            <p:cNvSpPr txBox="1"/>
            <p:nvPr/>
          </p:nvSpPr>
          <p:spPr>
            <a:xfrm>
              <a:off x="165339" y="1903996"/>
              <a:ext cx="1477520" cy="461665"/>
            </a:xfrm>
            <a:prstGeom prst="rect">
              <a:avLst/>
            </a:prstGeom>
            <a:noFill/>
          </p:spPr>
          <p:txBody>
            <a:bodyPr wrap="none" rtlCol="0">
              <a:spAutoFit/>
            </a:bodyPr>
            <a:lstStyle/>
            <a:p>
              <a:r>
                <a:rPr lang="en-GB" sz="2400" b="1" dirty="0"/>
                <a:t>Systemic</a:t>
              </a:r>
              <a:endParaRPr lang="en-US" sz="2400" dirty="0"/>
            </a:p>
          </p:txBody>
        </p:sp>
        <p:sp>
          <p:nvSpPr>
            <p:cNvPr id="8" name="TextBox 7">
              <a:extLst>
                <a:ext uri="{FF2B5EF4-FFF2-40B4-BE49-F238E27FC236}">
                  <a16:creationId xmlns:a16="http://schemas.microsoft.com/office/drawing/2014/main" id="{0B38CB63-9904-9625-2C9F-069C23F69B2E}"/>
                </a:ext>
              </a:extLst>
            </p:cNvPr>
            <p:cNvSpPr txBox="1"/>
            <p:nvPr/>
          </p:nvSpPr>
          <p:spPr>
            <a:xfrm>
              <a:off x="10002" y="3405761"/>
              <a:ext cx="1894108" cy="461665"/>
            </a:xfrm>
            <a:prstGeom prst="rect">
              <a:avLst/>
            </a:prstGeom>
            <a:noFill/>
          </p:spPr>
          <p:txBody>
            <a:bodyPr wrap="none" rtlCol="0">
              <a:spAutoFit/>
            </a:bodyPr>
            <a:lstStyle/>
            <a:p>
              <a:r>
                <a:rPr lang="en-GB" sz="2400" b="1" dirty="0"/>
                <a:t>Institutional</a:t>
              </a:r>
              <a:endParaRPr lang="en-US" sz="2400" dirty="0"/>
            </a:p>
          </p:txBody>
        </p:sp>
        <p:sp>
          <p:nvSpPr>
            <p:cNvPr id="9" name="TextBox 8">
              <a:extLst>
                <a:ext uri="{FF2B5EF4-FFF2-40B4-BE49-F238E27FC236}">
                  <a16:creationId xmlns:a16="http://schemas.microsoft.com/office/drawing/2014/main" id="{DD92430B-4AFE-4EA0-886D-E8FB71836EC6}"/>
                </a:ext>
              </a:extLst>
            </p:cNvPr>
            <p:cNvSpPr txBox="1"/>
            <p:nvPr/>
          </p:nvSpPr>
          <p:spPr>
            <a:xfrm>
              <a:off x="0" y="4725623"/>
              <a:ext cx="2182329" cy="461665"/>
            </a:xfrm>
            <a:prstGeom prst="rect">
              <a:avLst/>
            </a:prstGeom>
            <a:noFill/>
          </p:spPr>
          <p:txBody>
            <a:bodyPr wrap="none" rtlCol="0">
              <a:spAutoFit/>
            </a:bodyPr>
            <a:lstStyle/>
            <a:p>
              <a:r>
                <a:rPr lang="en-GB" sz="2400" b="1" dirty="0"/>
                <a:t>Inter-personal</a:t>
              </a:r>
              <a:endParaRPr lang="en-US" sz="2400" dirty="0"/>
            </a:p>
          </p:txBody>
        </p:sp>
        <p:sp>
          <p:nvSpPr>
            <p:cNvPr id="10" name="TextBox 9">
              <a:extLst>
                <a:ext uri="{FF2B5EF4-FFF2-40B4-BE49-F238E27FC236}">
                  <a16:creationId xmlns:a16="http://schemas.microsoft.com/office/drawing/2014/main" id="{C733E704-955C-D485-B63B-45BD4A73F934}"/>
                </a:ext>
              </a:extLst>
            </p:cNvPr>
            <p:cNvSpPr txBox="1"/>
            <p:nvPr/>
          </p:nvSpPr>
          <p:spPr>
            <a:xfrm>
              <a:off x="189892" y="6141802"/>
              <a:ext cx="1571264" cy="461665"/>
            </a:xfrm>
            <a:prstGeom prst="rect">
              <a:avLst/>
            </a:prstGeom>
            <a:noFill/>
          </p:spPr>
          <p:txBody>
            <a:bodyPr wrap="none" rtlCol="0">
              <a:spAutoFit/>
            </a:bodyPr>
            <a:lstStyle/>
            <a:p>
              <a:r>
                <a:rPr lang="en-GB" sz="2400" b="1" dirty="0"/>
                <a:t>Individual</a:t>
              </a:r>
              <a:endParaRPr lang="en-US" sz="2400" dirty="0"/>
            </a:p>
          </p:txBody>
        </p:sp>
        <p:pic>
          <p:nvPicPr>
            <p:cNvPr id="11" name="Graphic 10" descr="Solar system with solid fill">
              <a:extLst>
                <a:ext uri="{FF2B5EF4-FFF2-40B4-BE49-F238E27FC236}">
                  <a16:creationId xmlns:a16="http://schemas.microsoft.com/office/drawing/2014/main" id="{66B78F97-60E1-F77D-5D34-C5F3C096C9F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46899" y="1066798"/>
              <a:ext cx="914400" cy="914400"/>
            </a:xfrm>
            <a:prstGeom prst="rect">
              <a:avLst/>
            </a:prstGeom>
          </p:spPr>
        </p:pic>
        <p:pic>
          <p:nvPicPr>
            <p:cNvPr id="13" name="Graphic 12" descr="Cycle with people with solid fill">
              <a:extLst>
                <a:ext uri="{FF2B5EF4-FFF2-40B4-BE49-F238E27FC236}">
                  <a16:creationId xmlns:a16="http://schemas.microsoft.com/office/drawing/2014/main" id="{32E3A7D7-488A-9E01-4DE9-53E685661DD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37741" y="3911541"/>
              <a:ext cx="914400" cy="914400"/>
            </a:xfrm>
            <a:prstGeom prst="rect">
              <a:avLst/>
            </a:prstGeom>
          </p:spPr>
        </p:pic>
        <p:pic>
          <p:nvPicPr>
            <p:cNvPr id="14" name="Graphic 13" descr="User with solid fill">
              <a:extLst>
                <a:ext uri="{FF2B5EF4-FFF2-40B4-BE49-F238E27FC236}">
                  <a16:creationId xmlns:a16="http://schemas.microsoft.com/office/drawing/2014/main" id="{1DDD79F7-9013-E02A-9026-2A6ABF8A965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5498" y="5288068"/>
              <a:ext cx="914400" cy="914400"/>
            </a:xfrm>
            <a:prstGeom prst="rect">
              <a:avLst/>
            </a:prstGeom>
          </p:spPr>
        </p:pic>
      </p:grpSp>
      <p:sp>
        <p:nvSpPr>
          <p:cNvPr id="36" name="Left Brace 35">
            <a:extLst>
              <a:ext uri="{FF2B5EF4-FFF2-40B4-BE49-F238E27FC236}">
                <a16:creationId xmlns:a16="http://schemas.microsoft.com/office/drawing/2014/main" id="{55E71348-857C-EF5C-08CE-14F583D101A6}"/>
              </a:ext>
            </a:extLst>
          </p:cNvPr>
          <p:cNvSpPr/>
          <p:nvPr/>
        </p:nvSpPr>
        <p:spPr>
          <a:xfrm rot="10800000">
            <a:off x="2064271" y="4166258"/>
            <a:ext cx="1592456" cy="2206376"/>
          </a:xfrm>
          <a:prstGeom prst="leftBrace">
            <a:avLst>
              <a:gd name="adj1" fmla="val 15293"/>
              <a:gd name="adj2" fmla="val 51256"/>
            </a:avLst>
          </a:prstGeom>
          <a:ln w="85725">
            <a:solidFill>
              <a:schemeClr val="bg2">
                <a:lumMod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7" name="TextBox 36">
            <a:extLst>
              <a:ext uri="{FF2B5EF4-FFF2-40B4-BE49-F238E27FC236}">
                <a16:creationId xmlns:a16="http://schemas.microsoft.com/office/drawing/2014/main" id="{5D8FCD79-D378-1615-AD09-A70C98DC8980}"/>
              </a:ext>
            </a:extLst>
          </p:cNvPr>
          <p:cNvSpPr txBox="1"/>
          <p:nvPr/>
        </p:nvSpPr>
        <p:spPr>
          <a:xfrm>
            <a:off x="3734220" y="4725623"/>
            <a:ext cx="4135162" cy="1200329"/>
          </a:xfrm>
          <a:prstGeom prst="rect">
            <a:avLst/>
          </a:prstGeom>
          <a:noFill/>
        </p:spPr>
        <p:txBody>
          <a:bodyPr wrap="square" rtlCol="0">
            <a:spAutoFit/>
          </a:bodyPr>
          <a:lstStyle/>
          <a:p>
            <a:r>
              <a:rPr lang="en-US" sz="2400" dirty="0"/>
              <a:t>We generally have more control and influence for challenges at this scale</a:t>
            </a:r>
          </a:p>
        </p:txBody>
      </p:sp>
      <p:sp>
        <p:nvSpPr>
          <p:cNvPr id="38" name="Slide Number Placeholder 37">
            <a:extLst>
              <a:ext uri="{FF2B5EF4-FFF2-40B4-BE49-F238E27FC236}">
                <a16:creationId xmlns:a16="http://schemas.microsoft.com/office/drawing/2014/main" id="{BD580611-EFB1-39AA-B27D-500A15C961C2}"/>
              </a:ext>
            </a:extLst>
          </p:cNvPr>
          <p:cNvSpPr>
            <a:spLocks noGrp="1"/>
          </p:cNvSpPr>
          <p:nvPr>
            <p:ph type="sldNum" sz="quarter" idx="12"/>
          </p:nvPr>
        </p:nvSpPr>
        <p:spPr/>
        <p:txBody>
          <a:bodyPr/>
          <a:lstStyle/>
          <a:p>
            <a:fld id="{DC6309F4-03C8-4D48-A124-A9AD6E083FAC}" type="slidenum">
              <a:rPr lang="en-US" smtClean="0"/>
              <a:t>54</a:t>
            </a:fld>
            <a:endParaRPr lang="en-US"/>
          </a:p>
        </p:txBody>
      </p:sp>
      <p:pic>
        <p:nvPicPr>
          <p:cNvPr id="43" name="Graphic 42" descr="Schoolhouse with solid fill">
            <a:extLst>
              <a:ext uri="{FF2B5EF4-FFF2-40B4-BE49-F238E27FC236}">
                <a16:creationId xmlns:a16="http://schemas.microsoft.com/office/drawing/2014/main" id="{3F09D236-2473-546D-011B-D58CDC8988E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61997" y="2418961"/>
            <a:ext cx="990143" cy="990143"/>
          </a:xfrm>
          <a:prstGeom prst="rect">
            <a:avLst/>
          </a:prstGeom>
        </p:spPr>
      </p:pic>
      <p:pic>
        <p:nvPicPr>
          <p:cNvPr id="2" name="Graphic 1" descr="Ripple with solid fill">
            <a:extLst>
              <a:ext uri="{FF2B5EF4-FFF2-40B4-BE49-F238E27FC236}">
                <a16:creationId xmlns:a16="http://schemas.microsoft.com/office/drawing/2014/main" id="{0BEE53E0-53C0-3F27-3DC1-6423368375B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599709" y="1733041"/>
            <a:ext cx="2992582" cy="2992582"/>
          </a:xfrm>
          <a:prstGeom prst="rect">
            <a:avLst/>
          </a:prstGeom>
        </p:spPr>
      </p:pic>
      <p:pic>
        <p:nvPicPr>
          <p:cNvPr id="12" name="Picture 11">
            <a:extLst>
              <a:ext uri="{FF2B5EF4-FFF2-40B4-BE49-F238E27FC236}">
                <a16:creationId xmlns:a16="http://schemas.microsoft.com/office/drawing/2014/main" id="{49FDF957-1EC4-0E7B-69F3-AE3B48A64AD9}"/>
              </a:ext>
            </a:extLst>
          </p:cNvPr>
          <p:cNvPicPr>
            <a:picLocks noChangeAspect="1"/>
          </p:cNvPicPr>
          <p:nvPr/>
        </p:nvPicPr>
        <p:blipFill>
          <a:blip r:embed="rId10"/>
          <a:srcRect l="18736" r="22413" b="8505"/>
          <a:stretch>
            <a:fillRect/>
          </a:stretch>
        </p:blipFill>
        <p:spPr>
          <a:xfrm>
            <a:off x="8142578" y="369294"/>
            <a:ext cx="3679244" cy="5720076"/>
          </a:xfrm>
          <a:prstGeom prst="rect">
            <a:avLst/>
          </a:prstGeom>
        </p:spPr>
      </p:pic>
    </p:spTree>
    <p:extLst>
      <p:ext uri="{BB962C8B-B14F-4D97-AF65-F5344CB8AC3E}">
        <p14:creationId xmlns:p14="http://schemas.microsoft.com/office/powerpoint/2010/main" val="20393216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A3FB9-805A-6F14-C81C-B9C26FE9B7B8}"/>
            </a:ext>
          </a:extLst>
        </p:cNvPr>
        <p:cNvGrpSpPr/>
        <p:nvPr/>
      </p:nvGrpSpPr>
      <p:grpSpPr>
        <a:xfrm>
          <a:off x="0" y="0"/>
          <a:ext cx="0" cy="0"/>
          <a:chOff x="0" y="0"/>
          <a:chExt cx="0" cy="0"/>
        </a:xfrm>
      </p:grpSpPr>
      <p:grpSp>
        <p:nvGrpSpPr>
          <p:cNvPr id="46" name="Group 45">
            <a:extLst>
              <a:ext uri="{FF2B5EF4-FFF2-40B4-BE49-F238E27FC236}">
                <a16:creationId xmlns:a16="http://schemas.microsoft.com/office/drawing/2014/main" id="{CB8048A6-BA4D-B236-3E2C-AD35E41AAB34}"/>
              </a:ext>
            </a:extLst>
          </p:cNvPr>
          <p:cNvGrpSpPr/>
          <p:nvPr/>
        </p:nvGrpSpPr>
        <p:grpSpPr>
          <a:xfrm>
            <a:off x="10704849" y="6564312"/>
            <a:ext cx="1362075" cy="273690"/>
            <a:chOff x="19317" y="2690018"/>
            <a:chExt cx="11784755" cy="2025180"/>
          </a:xfrm>
        </p:grpSpPr>
        <p:pic>
          <p:nvPicPr>
            <p:cNvPr id="47" name="Picture 2">
              <a:extLst>
                <a:ext uri="{FF2B5EF4-FFF2-40B4-BE49-F238E27FC236}">
                  <a16:creationId xmlns:a16="http://schemas.microsoft.com/office/drawing/2014/main" id="{A453725A-3F3D-134C-1D2C-75981451F8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47">
              <a:extLst>
                <a:ext uri="{FF2B5EF4-FFF2-40B4-BE49-F238E27FC236}">
                  <a16:creationId xmlns:a16="http://schemas.microsoft.com/office/drawing/2014/main" id="{AE3376DA-1962-6F9A-2C20-B8840EA8F6F4}"/>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4" name="Title 1">
            <a:extLst>
              <a:ext uri="{FF2B5EF4-FFF2-40B4-BE49-F238E27FC236}">
                <a16:creationId xmlns:a16="http://schemas.microsoft.com/office/drawing/2014/main" id="{695464B9-51EB-FF93-47BD-1D394A06DC99}"/>
              </a:ext>
            </a:extLst>
          </p:cNvPr>
          <p:cNvSpPr txBox="1">
            <a:spLocks/>
          </p:cNvSpPr>
          <p:nvPr/>
        </p:nvSpPr>
        <p:spPr>
          <a:xfrm>
            <a:off x="0" y="-26541"/>
            <a:ext cx="9051235" cy="938562"/>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To act or not to act?</a:t>
            </a:r>
          </a:p>
        </p:txBody>
      </p:sp>
      <p:pic>
        <p:nvPicPr>
          <p:cNvPr id="9" name="Graphic 8" descr="Stopwatch 75% with solid fill">
            <a:extLst>
              <a:ext uri="{FF2B5EF4-FFF2-40B4-BE49-F238E27FC236}">
                <a16:creationId xmlns:a16="http://schemas.microsoft.com/office/drawing/2014/main" id="{E4DECA25-CAFC-47DD-DD32-F2B917465F1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277120" y="1475863"/>
            <a:ext cx="684015" cy="655828"/>
          </a:xfrm>
          <a:prstGeom prst="rect">
            <a:avLst/>
          </a:prstGeom>
        </p:spPr>
      </p:pic>
      <p:pic>
        <p:nvPicPr>
          <p:cNvPr id="11" name="Graphic 10" descr="Medal with solid fill">
            <a:extLst>
              <a:ext uri="{FF2B5EF4-FFF2-40B4-BE49-F238E27FC236}">
                <a16:creationId xmlns:a16="http://schemas.microsoft.com/office/drawing/2014/main" id="{43FE6888-904D-A938-6FD7-24235E8D41B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339208" y="2131691"/>
            <a:ext cx="684015" cy="655828"/>
          </a:xfrm>
          <a:prstGeom prst="rect">
            <a:avLst/>
          </a:prstGeom>
        </p:spPr>
      </p:pic>
      <p:pic>
        <p:nvPicPr>
          <p:cNvPr id="14" name="Graphic 13" descr="Tired face with solid fill with solid fill">
            <a:extLst>
              <a:ext uri="{FF2B5EF4-FFF2-40B4-BE49-F238E27FC236}">
                <a16:creationId xmlns:a16="http://schemas.microsoft.com/office/drawing/2014/main" id="{BA616F62-6CAB-E78F-31EB-91C91A8E403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370922" y="1527242"/>
            <a:ext cx="640290" cy="613905"/>
          </a:xfrm>
          <a:prstGeom prst="rect">
            <a:avLst/>
          </a:prstGeom>
        </p:spPr>
      </p:pic>
      <p:pic>
        <p:nvPicPr>
          <p:cNvPr id="17" name="Graphic 16" descr="No Touch with solid fill">
            <a:extLst>
              <a:ext uri="{FF2B5EF4-FFF2-40B4-BE49-F238E27FC236}">
                <a16:creationId xmlns:a16="http://schemas.microsoft.com/office/drawing/2014/main" id="{F457204E-C706-5A58-3F8B-C7AB62D2592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367220" y="3769968"/>
            <a:ext cx="684015" cy="655827"/>
          </a:xfrm>
          <a:prstGeom prst="rect">
            <a:avLst/>
          </a:prstGeom>
        </p:spPr>
      </p:pic>
      <p:pic>
        <p:nvPicPr>
          <p:cNvPr id="20" name="Graphic 19" descr="Normal Distribution with solid fill">
            <a:extLst>
              <a:ext uri="{FF2B5EF4-FFF2-40B4-BE49-F238E27FC236}">
                <a16:creationId xmlns:a16="http://schemas.microsoft.com/office/drawing/2014/main" id="{3CACA098-19F1-3A07-A4D7-DA81075537F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313700" y="2761106"/>
            <a:ext cx="865421" cy="1008862"/>
          </a:xfrm>
          <a:prstGeom prst="rect">
            <a:avLst/>
          </a:prstGeom>
        </p:spPr>
      </p:pic>
      <p:pic>
        <p:nvPicPr>
          <p:cNvPr id="23" name="Graphic 22" descr="Books with solid fill">
            <a:extLst>
              <a:ext uri="{FF2B5EF4-FFF2-40B4-BE49-F238E27FC236}">
                <a16:creationId xmlns:a16="http://schemas.microsoft.com/office/drawing/2014/main" id="{C29FC8D7-6AC6-708D-6769-8948364455FF}"/>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443647" y="2215205"/>
            <a:ext cx="640290" cy="613905"/>
          </a:xfrm>
          <a:prstGeom prst="rect">
            <a:avLst/>
          </a:prstGeom>
        </p:spPr>
      </p:pic>
      <p:pic>
        <p:nvPicPr>
          <p:cNvPr id="27" name="Graphic 26" descr="Care with solid fill">
            <a:extLst>
              <a:ext uri="{FF2B5EF4-FFF2-40B4-BE49-F238E27FC236}">
                <a16:creationId xmlns:a16="http://schemas.microsoft.com/office/drawing/2014/main" id="{57220FAF-CD74-844B-E56C-22E33F4EB8E9}"/>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427135" y="2969638"/>
            <a:ext cx="640290" cy="613905"/>
          </a:xfrm>
          <a:prstGeom prst="rect">
            <a:avLst/>
          </a:prstGeom>
        </p:spPr>
      </p:pic>
      <p:pic>
        <p:nvPicPr>
          <p:cNvPr id="29" name="Graphic 28" descr="Spinning Plates with solid fill">
            <a:extLst>
              <a:ext uri="{FF2B5EF4-FFF2-40B4-BE49-F238E27FC236}">
                <a16:creationId xmlns:a16="http://schemas.microsoft.com/office/drawing/2014/main" id="{9422495B-1061-4B24-DCD9-60DDC7B09302}"/>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341597" y="4576680"/>
            <a:ext cx="767527" cy="735898"/>
          </a:xfrm>
          <a:prstGeom prst="rect">
            <a:avLst/>
          </a:prstGeom>
        </p:spPr>
      </p:pic>
      <p:pic>
        <p:nvPicPr>
          <p:cNvPr id="33" name="Graphic 32" descr="Coins with solid fill">
            <a:extLst>
              <a:ext uri="{FF2B5EF4-FFF2-40B4-BE49-F238E27FC236}">
                <a16:creationId xmlns:a16="http://schemas.microsoft.com/office/drawing/2014/main" id="{84E8FAC2-1CFC-C869-0B57-7196C0D4EAB1}"/>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450270" y="3868124"/>
            <a:ext cx="640289" cy="613904"/>
          </a:xfrm>
          <a:prstGeom prst="rect">
            <a:avLst/>
          </a:prstGeom>
        </p:spPr>
      </p:pic>
      <p:pic>
        <p:nvPicPr>
          <p:cNvPr id="35" name="Graphic 34" descr="Plug with solid fill">
            <a:extLst>
              <a:ext uri="{FF2B5EF4-FFF2-40B4-BE49-F238E27FC236}">
                <a16:creationId xmlns:a16="http://schemas.microsoft.com/office/drawing/2014/main" id="{675373DF-21DA-6812-88AD-657862BED484}"/>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7577436" y="5410803"/>
            <a:ext cx="640289" cy="613904"/>
          </a:xfrm>
          <a:prstGeom prst="rect">
            <a:avLst/>
          </a:prstGeom>
        </p:spPr>
      </p:pic>
      <p:pic>
        <p:nvPicPr>
          <p:cNvPr id="37" name="Graphic 36" descr="Weights Uneven with solid fill">
            <a:extLst>
              <a:ext uri="{FF2B5EF4-FFF2-40B4-BE49-F238E27FC236}">
                <a16:creationId xmlns:a16="http://schemas.microsoft.com/office/drawing/2014/main" id="{C8A8003D-F2F1-52C9-597D-71554D726A17}"/>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8392820" y="5490900"/>
            <a:ext cx="738262" cy="669530"/>
          </a:xfrm>
          <a:prstGeom prst="rect">
            <a:avLst/>
          </a:prstGeom>
        </p:spPr>
      </p:pic>
      <p:pic>
        <p:nvPicPr>
          <p:cNvPr id="40" name="Graphic 39" descr="Briefcase with solid fill">
            <a:extLst>
              <a:ext uri="{FF2B5EF4-FFF2-40B4-BE49-F238E27FC236}">
                <a16:creationId xmlns:a16="http://schemas.microsoft.com/office/drawing/2014/main" id="{C0F7A0B9-7354-E274-DE0F-EC4C4E7878DA}"/>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7540039" y="4669305"/>
            <a:ext cx="640289" cy="613904"/>
          </a:xfrm>
          <a:prstGeom prst="rect">
            <a:avLst/>
          </a:prstGeom>
        </p:spPr>
      </p:pic>
      <p:sp>
        <p:nvSpPr>
          <p:cNvPr id="44" name="Left Brace 43">
            <a:extLst>
              <a:ext uri="{FF2B5EF4-FFF2-40B4-BE49-F238E27FC236}">
                <a16:creationId xmlns:a16="http://schemas.microsoft.com/office/drawing/2014/main" id="{D59157C7-DFEB-9F5C-886E-8860856B0334}"/>
              </a:ext>
            </a:extLst>
          </p:cNvPr>
          <p:cNvSpPr/>
          <p:nvPr/>
        </p:nvSpPr>
        <p:spPr>
          <a:xfrm rot="10800000">
            <a:off x="5755482" y="1718732"/>
            <a:ext cx="1592456" cy="4298784"/>
          </a:xfrm>
          <a:prstGeom prst="leftBrace">
            <a:avLst>
              <a:gd name="adj1" fmla="val 15293"/>
              <a:gd name="adj2" fmla="val 51256"/>
            </a:avLst>
          </a:prstGeom>
          <a:ln w="85725">
            <a:solidFill>
              <a:schemeClr val="bg2">
                <a:lumMod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5" name="Slide Number Placeholder 44">
            <a:extLst>
              <a:ext uri="{FF2B5EF4-FFF2-40B4-BE49-F238E27FC236}">
                <a16:creationId xmlns:a16="http://schemas.microsoft.com/office/drawing/2014/main" id="{1B8B2A15-886F-E272-2AC5-0AA70212C780}"/>
              </a:ext>
            </a:extLst>
          </p:cNvPr>
          <p:cNvSpPr>
            <a:spLocks noGrp="1"/>
          </p:cNvSpPr>
          <p:nvPr>
            <p:ph type="sldNum" sz="quarter" idx="12"/>
          </p:nvPr>
        </p:nvSpPr>
        <p:spPr>
          <a:xfrm>
            <a:off x="10651592" y="6356350"/>
            <a:ext cx="702208" cy="365125"/>
          </a:xfrm>
        </p:spPr>
        <p:txBody>
          <a:bodyPr/>
          <a:lstStyle/>
          <a:p>
            <a:fld id="{DC6309F4-03C8-4D48-A124-A9AD6E083FAC}" type="slidenum">
              <a:rPr lang="en-US" smtClean="0"/>
              <a:t>55</a:t>
            </a:fld>
            <a:endParaRPr lang="en-US"/>
          </a:p>
        </p:txBody>
      </p:sp>
      <p:pic>
        <p:nvPicPr>
          <p:cNvPr id="6" name="Picture 5">
            <a:extLst>
              <a:ext uri="{FF2B5EF4-FFF2-40B4-BE49-F238E27FC236}">
                <a16:creationId xmlns:a16="http://schemas.microsoft.com/office/drawing/2014/main" id="{97D35E80-A301-1D60-2DD2-E181D9045073}"/>
              </a:ext>
            </a:extLst>
          </p:cNvPr>
          <p:cNvPicPr>
            <a:picLocks noChangeAspect="1"/>
          </p:cNvPicPr>
          <p:nvPr/>
        </p:nvPicPr>
        <p:blipFill>
          <a:blip r:embed="rId17"/>
          <a:stretch>
            <a:fillRect/>
          </a:stretch>
        </p:blipFill>
        <p:spPr>
          <a:xfrm>
            <a:off x="105735" y="1352780"/>
            <a:ext cx="5489817" cy="4807650"/>
          </a:xfrm>
          <a:prstGeom prst="rect">
            <a:avLst/>
          </a:prstGeom>
        </p:spPr>
      </p:pic>
      <p:sp>
        <p:nvSpPr>
          <p:cNvPr id="7" name="TextBox 6">
            <a:extLst>
              <a:ext uri="{FF2B5EF4-FFF2-40B4-BE49-F238E27FC236}">
                <a16:creationId xmlns:a16="http://schemas.microsoft.com/office/drawing/2014/main" id="{A084C3D7-EFC1-9323-B9F8-F2BBC198E576}"/>
              </a:ext>
            </a:extLst>
          </p:cNvPr>
          <p:cNvSpPr txBox="1"/>
          <p:nvPr/>
        </p:nvSpPr>
        <p:spPr>
          <a:xfrm>
            <a:off x="105735" y="763068"/>
            <a:ext cx="11591315" cy="430887"/>
          </a:xfrm>
          <a:prstGeom prst="rect">
            <a:avLst/>
          </a:prstGeom>
          <a:noFill/>
        </p:spPr>
        <p:txBody>
          <a:bodyPr wrap="none" rtlCol="0">
            <a:spAutoFit/>
          </a:bodyPr>
          <a:lstStyle/>
          <a:p>
            <a:r>
              <a:rPr lang="en-US" sz="2200" b="1" dirty="0"/>
              <a:t>Categorizing</a:t>
            </a:r>
            <a:r>
              <a:rPr lang="en-US" sz="2200" dirty="0"/>
              <a:t> the list of challenges can help us with </a:t>
            </a:r>
            <a:r>
              <a:rPr lang="en-US" sz="2200" b="1" dirty="0"/>
              <a:t>decision making </a:t>
            </a:r>
            <a:r>
              <a:rPr lang="en-US" sz="2200" dirty="0"/>
              <a:t>and </a:t>
            </a:r>
            <a:r>
              <a:rPr lang="en-US" sz="2200" b="1" dirty="0"/>
              <a:t>reduce overwhelm</a:t>
            </a:r>
            <a:r>
              <a:rPr lang="en-US" sz="2200" dirty="0"/>
              <a:t>!</a:t>
            </a:r>
          </a:p>
        </p:txBody>
      </p:sp>
    </p:spTree>
    <p:extLst>
      <p:ext uri="{BB962C8B-B14F-4D97-AF65-F5344CB8AC3E}">
        <p14:creationId xmlns:p14="http://schemas.microsoft.com/office/powerpoint/2010/main" val="208152717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BFE6D-D635-6977-95DF-CD7BDD333502}"/>
            </a:ext>
          </a:extLst>
        </p:cNvPr>
        <p:cNvGrpSpPr/>
        <p:nvPr/>
      </p:nvGrpSpPr>
      <p:grpSpPr>
        <a:xfrm>
          <a:off x="0" y="0"/>
          <a:ext cx="0" cy="0"/>
          <a:chOff x="0" y="0"/>
          <a:chExt cx="0" cy="0"/>
        </a:xfrm>
      </p:grpSpPr>
      <p:grpSp>
        <p:nvGrpSpPr>
          <p:cNvPr id="46" name="Group 45">
            <a:extLst>
              <a:ext uri="{FF2B5EF4-FFF2-40B4-BE49-F238E27FC236}">
                <a16:creationId xmlns:a16="http://schemas.microsoft.com/office/drawing/2014/main" id="{9BA2F2E0-A0F7-22A7-BDDC-72638C140F49}"/>
              </a:ext>
            </a:extLst>
          </p:cNvPr>
          <p:cNvGrpSpPr/>
          <p:nvPr/>
        </p:nvGrpSpPr>
        <p:grpSpPr>
          <a:xfrm>
            <a:off x="10704849" y="6564312"/>
            <a:ext cx="1362075" cy="273690"/>
            <a:chOff x="19317" y="2690018"/>
            <a:chExt cx="11784755" cy="2025180"/>
          </a:xfrm>
        </p:grpSpPr>
        <p:pic>
          <p:nvPicPr>
            <p:cNvPr id="47" name="Picture 2">
              <a:extLst>
                <a:ext uri="{FF2B5EF4-FFF2-40B4-BE49-F238E27FC236}">
                  <a16:creationId xmlns:a16="http://schemas.microsoft.com/office/drawing/2014/main" id="{E5CE6CA0-4564-C1FD-F7E9-7ECAE28C7E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47">
              <a:extLst>
                <a:ext uri="{FF2B5EF4-FFF2-40B4-BE49-F238E27FC236}">
                  <a16:creationId xmlns:a16="http://schemas.microsoft.com/office/drawing/2014/main" id="{9FB2F13A-6486-DEF9-17D7-72ACA0BAAD9E}"/>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4" name="Title 1">
            <a:extLst>
              <a:ext uri="{FF2B5EF4-FFF2-40B4-BE49-F238E27FC236}">
                <a16:creationId xmlns:a16="http://schemas.microsoft.com/office/drawing/2014/main" id="{7D753D97-EFD8-53A0-BE72-821E0B32381D}"/>
              </a:ext>
            </a:extLst>
          </p:cNvPr>
          <p:cNvSpPr txBox="1">
            <a:spLocks/>
          </p:cNvSpPr>
          <p:nvPr/>
        </p:nvSpPr>
        <p:spPr>
          <a:xfrm>
            <a:off x="0" y="-26542"/>
            <a:ext cx="9051235"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Exercise in mapping our challenges</a:t>
            </a:r>
          </a:p>
        </p:txBody>
      </p:sp>
      <p:sp>
        <p:nvSpPr>
          <p:cNvPr id="45" name="Slide Number Placeholder 44">
            <a:extLst>
              <a:ext uri="{FF2B5EF4-FFF2-40B4-BE49-F238E27FC236}">
                <a16:creationId xmlns:a16="http://schemas.microsoft.com/office/drawing/2014/main" id="{997A3FA2-FD57-32F4-2E56-842D8BC1A7F0}"/>
              </a:ext>
            </a:extLst>
          </p:cNvPr>
          <p:cNvSpPr>
            <a:spLocks noGrp="1"/>
          </p:cNvSpPr>
          <p:nvPr>
            <p:ph type="sldNum" sz="quarter" idx="12"/>
          </p:nvPr>
        </p:nvSpPr>
        <p:spPr/>
        <p:txBody>
          <a:bodyPr/>
          <a:lstStyle/>
          <a:p>
            <a:fld id="{DC6309F4-03C8-4D48-A124-A9AD6E083FAC}" type="slidenum">
              <a:rPr lang="en-US" smtClean="0"/>
              <a:t>56</a:t>
            </a:fld>
            <a:endParaRPr lang="en-US" dirty="0"/>
          </a:p>
        </p:txBody>
      </p:sp>
      <p:sp>
        <p:nvSpPr>
          <p:cNvPr id="51" name="TextBox 50">
            <a:extLst>
              <a:ext uri="{FF2B5EF4-FFF2-40B4-BE49-F238E27FC236}">
                <a16:creationId xmlns:a16="http://schemas.microsoft.com/office/drawing/2014/main" id="{03270693-3142-8162-CAAF-690A6BCDBC7B}"/>
              </a:ext>
            </a:extLst>
          </p:cNvPr>
          <p:cNvSpPr txBox="1"/>
          <p:nvPr/>
        </p:nvSpPr>
        <p:spPr>
          <a:xfrm>
            <a:off x="4631634" y="1059971"/>
            <a:ext cx="7435290" cy="4524315"/>
          </a:xfrm>
          <a:prstGeom prst="rect">
            <a:avLst/>
          </a:prstGeom>
          <a:noFill/>
        </p:spPr>
        <p:txBody>
          <a:bodyPr wrap="square">
            <a:spAutoFit/>
          </a:bodyPr>
          <a:lstStyle/>
          <a:p>
            <a:pPr marL="514350" indent="-514350">
              <a:buAutoNum type="arabicPeriod"/>
            </a:pPr>
            <a:r>
              <a:rPr lang="en-US" sz="2400" b="1" dirty="0"/>
              <a:t>Write</a:t>
            </a:r>
            <a:r>
              <a:rPr lang="en-US" sz="2400" dirty="0"/>
              <a:t> down a couple Open Science challenges in section 8.1 of the workbook: </a:t>
            </a:r>
            <a:r>
              <a:rPr lang="en-GB" sz="2400" dirty="0">
                <a:hlinkClick r:id="rId5"/>
              </a:rPr>
              <a:t>https://lmu-osc.github.io/train-the-trainer-open-research/workshop-design-workbook/</a:t>
            </a:r>
            <a:r>
              <a:rPr lang="en-GB" sz="2400" dirty="0"/>
              <a:t> </a:t>
            </a:r>
            <a:endParaRPr lang="en-US" sz="2400" dirty="0"/>
          </a:p>
          <a:p>
            <a:pPr marL="514350" indent="-514350">
              <a:buAutoNum type="arabicPeriod"/>
            </a:pPr>
            <a:endParaRPr lang="en-US" sz="2400" dirty="0"/>
          </a:p>
          <a:p>
            <a:pPr marL="514350" indent="-514350">
              <a:buAutoNum type="arabicPeriod"/>
            </a:pPr>
            <a:r>
              <a:rPr lang="en-US" sz="2400" dirty="0"/>
              <a:t>For each challenge, </a:t>
            </a:r>
            <a:r>
              <a:rPr lang="en-US" sz="2400" b="1" dirty="0"/>
              <a:t>categorize</a:t>
            </a:r>
            <a:r>
              <a:rPr lang="en-US" sz="2400" dirty="0"/>
              <a:t> them into the grid (use the reflection question to help you in section 8.2)</a:t>
            </a:r>
          </a:p>
          <a:p>
            <a:pPr marL="514350" indent="-514350">
              <a:buAutoNum type="arabicPeriod"/>
            </a:pPr>
            <a:endParaRPr lang="en-US" sz="2400" dirty="0"/>
          </a:p>
          <a:p>
            <a:pPr marL="514350" indent="-514350">
              <a:buAutoNum type="arabicPeriod"/>
            </a:pPr>
            <a:r>
              <a:rPr lang="en-US" sz="2400" b="1" dirty="0"/>
              <a:t>Extension: </a:t>
            </a:r>
            <a:r>
              <a:rPr lang="en-US" sz="2400" dirty="0"/>
              <a:t>For one challenge in the green zone </a:t>
            </a:r>
            <a:r>
              <a:rPr lang="en-GB" sz="2400" dirty="0"/>
              <a:t>set out a </a:t>
            </a:r>
            <a:r>
              <a:rPr lang="en-GB" sz="2400" b="1" dirty="0"/>
              <a:t>next step </a:t>
            </a:r>
            <a:r>
              <a:rPr lang="en-GB" sz="2400" dirty="0"/>
              <a:t>to address the challenge</a:t>
            </a:r>
            <a:endParaRPr lang="en-US" sz="2400" dirty="0"/>
          </a:p>
          <a:p>
            <a:endParaRPr lang="en-US" sz="2400" b="1" dirty="0"/>
          </a:p>
        </p:txBody>
      </p:sp>
      <p:sp>
        <p:nvSpPr>
          <p:cNvPr id="52" name="TextBox 51">
            <a:extLst>
              <a:ext uri="{FF2B5EF4-FFF2-40B4-BE49-F238E27FC236}">
                <a16:creationId xmlns:a16="http://schemas.microsoft.com/office/drawing/2014/main" id="{D8548255-914E-E2AA-0E11-A596052A706D}"/>
              </a:ext>
            </a:extLst>
          </p:cNvPr>
          <p:cNvSpPr txBox="1"/>
          <p:nvPr/>
        </p:nvSpPr>
        <p:spPr>
          <a:xfrm>
            <a:off x="404725" y="5277383"/>
            <a:ext cx="9659943" cy="1200329"/>
          </a:xfrm>
          <a:prstGeom prst="rect">
            <a:avLst/>
          </a:prstGeom>
          <a:solidFill>
            <a:schemeClr val="bg1">
              <a:lumMod val="85000"/>
            </a:schemeClr>
          </a:solidFill>
        </p:spPr>
        <p:txBody>
          <a:bodyPr wrap="square" rtlCol="0">
            <a:spAutoFit/>
          </a:bodyPr>
          <a:lstStyle/>
          <a:p>
            <a:r>
              <a:rPr lang="en-US" sz="2400" b="1" dirty="0"/>
              <a:t>Reflection question:</a:t>
            </a:r>
          </a:p>
          <a:p>
            <a:r>
              <a:rPr lang="en-US" sz="2400" dirty="0"/>
              <a:t>For a given challenge, am I able to address it by myself or can I partly influence (via my actions and behavior) how the challenge impacts me?</a:t>
            </a:r>
          </a:p>
        </p:txBody>
      </p:sp>
      <p:sp>
        <p:nvSpPr>
          <p:cNvPr id="54" name="TextBox 53">
            <a:extLst>
              <a:ext uri="{FF2B5EF4-FFF2-40B4-BE49-F238E27FC236}">
                <a16:creationId xmlns:a16="http://schemas.microsoft.com/office/drawing/2014/main" id="{E91714CE-F537-C667-2EC1-EAEA43B96B86}"/>
              </a:ext>
            </a:extLst>
          </p:cNvPr>
          <p:cNvSpPr txBox="1"/>
          <p:nvPr/>
        </p:nvSpPr>
        <p:spPr>
          <a:xfrm>
            <a:off x="10353885" y="5584286"/>
            <a:ext cx="1414490" cy="400110"/>
          </a:xfrm>
          <a:prstGeom prst="rect">
            <a:avLst/>
          </a:prstGeom>
          <a:noFill/>
        </p:spPr>
        <p:txBody>
          <a:bodyPr wrap="none" rtlCol="0">
            <a:spAutoFit/>
          </a:bodyPr>
          <a:lstStyle/>
          <a:p>
            <a:r>
              <a:rPr lang="en-US" sz="2000" dirty="0"/>
              <a:t>~8 minutes</a:t>
            </a:r>
          </a:p>
        </p:txBody>
      </p:sp>
      <p:pic>
        <p:nvPicPr>
          <p:cNvPr id="2" name="Picture 1">
            <a:extLst>
              <a:ext uri="{FF2B5EF4-FFF2-40B4-BE49-F238E27FC236}">
                <a16:creationId xmlns:a16="http://schemas.microsoft.com/office/drawing/2014/main" id="{C60B083D-F158-A954-5D99-A542DBE6812E}"/>
              </a:ext>
            </a:extLst>
          </p:cNvPr>
          <p:cNvPicPr>
            <a:picLocks noChangeAspect="1"/>
          </p:cNvPicPr>
          <p:nvPr/>
        </p:nvPicPr>
        <p:blipFill>
          <a:blip r:embed="rId6"/>
          <a:stretch>
            <a:fillRect/>
          </a:stretch>
        </p:blipFill>
        <p:spPr>
          <a:xfrm>
            <a:off x="404725" y="1299021"/>
            <a:ext cx="4129406" cy="3616285"/>
          </a:xfrm>
          <a:prstGeom prst="rect">
            <a:avLst/>
          </a:prstGeom>
        </p:spPr>
      </p:pic>
    </p:spTree>
    <p:extLst>
      <p:ext uri="{BB962C8B-B14F-4D97-AF65-F5344CB8AC3E}">
        <p14:creationId xmlns:p14="http://schemas.microsoft.com/office/powerpoint/2010/main" val="34985067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4F5F1-E9DD-E970-07FE-AF55ECD055C5}"/>
            </a:ext>
          </a:extLst>
        </p:cNvPr>
        <p:cNvGrpSpPr/>
        <p:nvPr/>
      </p:nvGrpSpPr>
      <p:grpSpPr>
        <a:xfrm>
          <a:off x="0" y="0"/>
          <a:ext cx="0" cy="0"/>
          <a:chOff x="0" y="0"/>
          <a:chExt cx="0" cy="0"/>
        </a:xfrm>
      </p:grpSpPr>
      <p:grpSp>
        <p:nvGrpSpPr>
          <p:cNvPr id="63" name="Group 62">
            <a:extLst>
              <a:ext uri="{FF2B5EF4-FFF2-40B4-BE49-F238E27FC236}">
                <a16:creationId xmlns:a16="http://schemas.microsoft.com/office/drawing/2014/main" id="{45131482-B59F-722C-ADA3-3CA527677E38}"/>
              </a:ext>
            </a:extLst>
          </p:cNvPr>
          <p:cNvGrpSpPr/>
          <p:nvPr/>
        </p:nvGrpSpPr>
        <p:grpSpPr>
          <a:xfrm>
            <a:off x="10704849" y="6564312"/>
            <a:ext cx="1362075" cy="273690"/>
            <a:chOff x="19317" y="2690018"/>
            <a:chExt cx="11784755" cy="2025180"/>
          </a:xfrm>
        </p:grpSpPr>
        <p:pic>
          <p:nvPicPr>
            <p:cNvPr id="64" name="Picture 2">
              <a:extLst>
                <a:ext uri="{FF2B5EF4-FFF2-40B4-BE49-F238E27FC236}">
                  <a16:creationId xmlns:a16="http://schemas.microsoft.com/office/drawing/2014/main" id="{C8B6DA6F-1FEE-1F36-099B-3BBFCFE863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4">
              <a:extLst>
                <a:ext uri="{FF2B5EF4-FFF2-40B4-BE49-F238E27FC236}">
                  <a16:creationId xmlns:a16="http://schemas.microsoft.com/office/drawing/2014/main" id="{A17F39AA-1DCF-AADA-426F-BB5AEA44F3EC}"/>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62" name="Slide Number Placeholder 61">
            <a:extLst>
              <a:ext uri="{FF2B5EF4-FFF2-40B4-BE49-F238E27FC236}">
                <a16:creationId xmlns:a16="http://schemas.microsoft.com/office/drawing/2014/main" id="{AED15886-6D30-F13A-1A47-C420CD85239F}"/>
              </a:ext>
            </a:extLst>
          </p:cNvPr>
          <p:cNvSpPr>
            <a:spLocks noGrp="1"/>
          </p:cNvSpPr>
          <p:nvPr>
            <p:ph type="sldNum" sz="quarter" idx="12"/>
          </p:nvPr>
        </p:nvSpPr>
        <p:spPr/>
        <p:txBody>
          <a:bodyPr/>
          <a:lstStyle/>
          <a:p>
            <a:fld id="{DC6309F4-03C8-4D48-A124-A9AD6E083FAC}" type="slidenum">
              <a:rPr lang="en-US" smtClean="0"/>
              <a:t>57</a:t>
            </a:fld>
            <a:endParaRPr lang="en-US"/>
          </a:p>
        </p:txBody>
      </p:sp>
      <p:sp>
        <p:nvSpPr>
          <p:cNvPr id="4" name="Title 1">
            <a:extLst>
              <a:ext uri="{FF2B5EF4-FFF2-40B4-BE49-F238E27FC236}">
                <a16:creationId xmlns:a16="http://schemas.microsoft.com/office/drawing/2014/main" id="{B1CF7347-63F7-48F4-DEB6-E49B150E0410}"/>
              </a:ext>
            </a:extLst>
          </p:cNvPr>
          <p:cNvSpPr txBox="1">
            <a:spLocks/>
          </p:cNvSpPr>
          <p:nvPr/>
        </p:nvSpPr>
        <p:spPr>
          <a:xfrm>
            <a:off x="0" y="-26542"/>
            <a:ext cx="9051235" cy="983057"/>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Final summary</a:t>
            </a:r>
          </a:p>
        </p:txBody>
      </p:sp>
      <p:grpSp>
        <p:nvGrpSpPr>
          <p:cNvPr id="15" name="Group 14">
            <a:extLst>
              <a:ext uri="{FF2B5EF4-FFF2-40B4-BE49-F238E27FC236}">
                <a16:creationId xmlns:a16="http://schemas.microsoft.com/office/drawing/2014/main" id="{9C8457FF-E2DB-8643-DB50-50CA9CF968C0}"/>
              </a:ext>
            </a:extLst>
          </p:cNvPr>
          <p:cNvGrpSpPr/>
          <p:nvPr/>
        </p:nvGrpSpPr>
        <p:grpSpPr>
          <a:xfrm>
            <a:off x="594162" y="1174151"/>
            <a:ext cx="2052423" cy="1712148"/>
            <a:chOff x="1898557" y="878352"/>
            <a:chExt cx="6432007" cy="5616769"/>
          </a:xfrm>
        </p:grpSpPr>
        <p:sp>
          <p:nvSpPr>
            <p:cNvPr id="20" name="Oval 19">
              <a:extLst>
                <a:ext uri="{FF2B5EF4-FFF2-40B4-BE49-F238E27FC236}">
                  <a16:creationId xmlns:a16="http://schemas.microsoft.com/office/drawing/2014/main" id="{04B6357E-D55D-4DFB-B8C6-8F4B86D3695C}"/>
                </a:ext>
              </a:extLst>
            </p:cNvPr>
            <p:cNvSpPr/>
            <p:nvPr/>
          </p:nvSpPr>
          <p:spPr>
            <a:xfrm>
              <a:off x="1952927" y="878352"/>
              <a:ext cx="3834040" cy="3651313"/>
            </a:xfrm>
            <a:prstGeom prst="ellipse">
              <a:avLst/>
            </a:prstGeom>
            <a:solidFill>
              <a:srgbClr val="FFC000">
                <a:alpha val="4413"/>
              </a:srgbClr>
            </a:solidFill>
            <a:ln>
              <a:solidFill>
                <a:srgbClr val="FFC000">
                  <a:alpha val="6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D33CE5CD-1606-399A-2366-BA5137B7749F}"/>
                </a:ext>
              </a:extLst>
            </p:cNvPr>
            <p:cNvSpPr/>
            <p:nvPr/>
          </p:nvSpPr>
          <p:spPr>
            <a:xfrm>
              <a:off x="4443191" y="878352"/>
              <a:ext cx="3887373" cy="3651313"/>
            </a:xfrm>
            <a:prstGeom prst="ellipse">
              <a:avLst/>
            </a:prstGeom>
            <a:solidFill>
              <a:srgbClr val="92D050">
                <a:alpha val="5552"/>
              </a:srgbClr>
            </a:solidFill>
            <a:ln>
              <a:solidFill>
                <a:srgbClr val="92D050">
                  <a:alpha val="6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D5E69F89-430A-8D5B-1D9D-ADA22ACB53C9}"/>
                </a:ext>
              </a:extLst>
            </p:cNvPr>
            <p:cNvSpPr/>
            <p:nvPr/>
          </p:nvSpPr>
          <p:spPr>
            <a:xfrm>
              <a:off x="4415332" y="2843808"/>
              <a:ext cx="3834040" cy="3651313"/>
            </a:xfrm>
            <a:prstGeom prst="ellipse">
              <a:avLst/>
            </a:prstGeom>
            <a:solidFill>
              <a:schemeClr val="tx2">
                <a:lumMod val="50000"/>
                <a:lumOff val="50000"/>
                <a:alpha val="4700"/>
              </a:schemeClr>
            </a:solidFill>
            <a:ln>
              <a:solidFill>
                <a:schemeClr val="tx2">
                  <a:lumMod val="75000"/>
                  <a:lumOff val="25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F473B9C0-F391-7855-D000-392A656C9D82}"/>
                </a:ext>
              </a:extLst>
            </p:cNvPr>
            <p:cNvSpPr/>
            <p:nvPr/>
          </p:nvSpPr>
          <p:spPr>
            <a:xfrm>
              <a:off x="1898557" y="2827864"/>
              <a:ext cx="3975268" cy="3642123"/>
            </a:xfrm>
            <a:prstGeom prst="ellipse">
              <a:avLst/>
            </a:prstGeom>
            <a:solidFill>
              <a:srgbClr val="7030A0">
                <a:alpha val="5000"/>
              </a:srgbClr>
            </a:solidFill>
            <a:ln>
              <a:solidFill>
                <a:srgbClr val="7030A0">
                  <a:alpha val="6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AutoShape 40" descr="Zenodo home">
              <a:extLst>
                <a:ext uri="{FF2B5EF4-FFF2-40B4-BE49-F238E27FC236}">
                  <a16:creationId xmlns:a16="http://schemas.microsoft.com/office/drawing/2014/main" id="{D555B9FB-D8B5-1B1E-6AB6-5429ADD2F07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AutoShape 58" descr="R (programming language) - Wikipedia">
              <a:extLst>
                <a:ext uri="{FF2B5EF4-FFF2-40B4-BE49-F238E27FC236}">
                  <a16:creationId xmlns:a16="http://schemas.microsoft.com/office/drawing/2014/main" id="{8001AF5D-9524-94E8-4280-ABCD5A844DD1}"/>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31" name="TextBox 30">
            <a:extLst>
              <a:ext uri="{FF2B5EF4-FFF2-40B4-BE49-F238E27FC236}">
                <a16:creationId xmlns:a16="http://schemas.microsoft.com/office/drawing/2014/main" id="{4F6A2228-4D3E-4C0C-183D-7BEE61EA7F86}"/>
              </a:ext>
            </a:extLst>
          </p:cNvPr>
          <p:cNvSpPr txBox="1"/>
          <p:nvPr/>
        </p:nvSpPr>
        <p:spPr>
          <a:xfrm>
            <a:off x="4354769" y="3064433"/>
            <a:ext cx="4409189" cy="1569660"/>
          </a:xfrm>
          <a:prstGeom prst="rect">
            <a:avLst/>
          </a:prstGeom>
          <a:noFill/>
        </p:spPr>
        <p:txBody>
          <a:bodyPr wrap="square" rtlCol="0">
            <a:spAutoFit/>
          </a:bodyPr>
          <a:lstStyle/>
          <a:p>
            <a:r>
              <a:rPr lang="en-US" sz="2400" b="1" dirty="0"/>
              <a:t>Conceptual</a:t>
            </a:r>
            <a:r>
              <a:rPr lang="en-US" sz="2400" dirty="0"/>
              <a:t>, </a:t>
            </a:r>
            <a:r>
              <a:rPr lang="en-US" sz="2400" b="1" dirty="0"/>
              <a:t>practical</a:t>
            </a:r>
            <a:r>
              <a:rPr lang="en-US" sz="2400" dirty="0"/>
              <a:t> and </a:t>
            </a:r>
            <a:r>
              <a:rPr lang="en-US" sz="2400" b="1" dirty="0"/>
              <a:t>equity</a:t>
            </a:r>
            <a:r>
              <a:rPr lang="en-US" sz="2400" dirty="0"/>
              <a:t> </a:t>
            </a:r>
            <a:r>
              <a:rPr lang="en-US" sz="2400" b="1" dirty="0"/>
              <a:t>challenges </a:t>
            </a:r>
            <a:r>
              <a:rPr lang="en-US" sz="2400" dirty="0"/>
              <a:t>remain in Open science (e.g. terminology, infrastructure and credit)</a:t>
            </a:r>
          </a:p>
        </p:txBody>
      </p:sp>
      <p:sp>
        <p:nvSpPr>
          <p:cNvPr id="32" name="TextBox 31">
            <a:extLst>
              <a:ext uri="{FF2B5EF4-FFF2-40B4-BE49-F238E27FC236}">
                <a16:creationId xmlns:a16="http://schemas.microsoft.com/office/drawing/2014/main" id="{2E958C4F-0189-72BE-7826-B23602776675}"/>
              </a:ext>
            </a:extLst>
          </p:cNvPr>
          <p:cNvSpPr txBox="1"/>
          <p:nvPr/>
        </p:nvSpPr>
        <p:spPr>
          <a:xfrm>
            <a:off x="116427" y="3064433"/>
            <a:ext cx="4409190" cy="1569660"/>
          </a:xfrm>
          <a:prstGeom prst="rect">
            <a:avLst/>
          </a:prstGeom>
          <a:noFill/>
        </p:spPr>
        <p:txBody>
          <a:bodyPr wrap="square" rtlCol="0">
            <a:spAutoFit/>
          </a:bodyPr>
          <a:lstStyle/>
          <a:p>
            <a:r>
              <a:rPr lang="en-US" sz="2400" dirty="0"/>
              <a:t>How Open Science is </a:t>
            </a:r>
            <a:r>
              <a:rPr lang="en-US" sz="2400" b="1" dirty="0"/>
              <a:t>understood </a:t>
            </a:r>
            <a:r>
              <a:rPr lang="en-US" sz="2400" dirty="0"/>
              <a:t>and</a:t>
            </a:r>
            <a:r>
              <a:rPr lang="en-US" sz="2400" b="1" dirty="0"/>
              <a:t> practiced </a:t>
            </a:r>
            <a:r>
              <a:rPr lang="en-US" sz="2400" dirty="0"/>
              <a:t>differs across the domains </a:t>
            </a:r>
          </a:p>
          <a:p>
            <a:r>
              <a:rPr lang="en-US" sz="2400" dirty="0"/>
              <a:t>(e.g. a student vs policymaker)</a:t>
            </a:r>
          </a:p>
        </p:txBody>
      </p:sp>
      <p:grpSp>
        <p:nvGrpSpPr>
          <p:cNvPr id="36" name="Group 35">
            <a:extLst>
              <a:ext uri="{FF2B5EF4-FFF2-40B4-BE49-F238E27FC236}">
                <a16:creationId xmlns:a16="http://schemas.microsoft.com/office/drawing/2014/main" id="{311C4C80-E033-28ED-AA9D-4E158671F09B}"/>
              </a:ext>
            </a:extLst>
          </p:cNvPr>
          <p:cNvGrpSpPr/>
          <p:nvPr/>
        </p:nvGrpSpPr>
        <p:grpSpPr>
          <a:xfrm>
            <a:off x="4690090" y="1406342"/>
            <a:ext cx="3112742" cy="1261475"/>
            <a:chOff x="8274670" y="1292703"/>
            <a:chExt cx="3112742" cy="1261475"/>
          </a:xfrm>
        </p:grpSpPr>
        <p:pic>
          <p:nvPicPr>
            <p:cNvPr id="28" name="Graphic 27" descr="Lights On with solid fill">
              <a:extLst>
                <a:ext uri="{FF2B5EF4-FFF2-40B4-BE49-F238E27FC236}">
                  <a16:creationId xmlns:a16="http://schemas.microsoft.com/office/drawing/2014/main" id="{BFD97B36-A0B7-5B91-ABA8-4C5A9ADCB12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274670" y="1435685"/>
              <a:ext cx="888675" cy="888675"/>
            </a:xfrm>
            <a:prstGeom prst="rect">
              <a:avLst/>
            </a:prstGeom>
          </p:spPr>
        </p:pic>
        <p:pic>
          <p:nvPicPr>
            <p:cNvPr id="30" name="Graphic 29" descr="Gears with solid fill">
              <a:extLst>
                <a:ext uri="{FF2B5EF4-FFF2-40B4-BE49-F238E27FC236}">
                  <a16:creationId xmlns:a16="http://schemas.microsoft.com/office/drawing/2014/main" id="{6BA812E1-1E4A-2B54-76B8-40B205895FC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051235" y="1292703"/>
              <a:ext cx="1261475" cy="1261475"/>
            </a:xfrm>
            <a:prstGeom prst="rect">
              <a:avLst/>
            </a:prstGeom>
          </p:spPr>
        </p:pic>
        <p:pic>
          <p:nvPicPr>
            <p:cNvPr id="33" name="Graphic 32" descr="Weights Uneven with solid fill">
              <a:extLst>
                <a:ext uri="{FF2B5EF4-FFF2-40B4-BE49-F238E27FC236}">
                  <a16:creationId xmlns:a16="http://schemas.microsoft.com/office/drawing/2014/main" id="{4C652BB3-8E18-A3FF-73E6-E7C3335764D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322402" y="1357310"/>
              <a:ext cx="1065010" cy="1065010"/>
            </a:xfrm>
            <a:prstGeom prst="rect">
              <a:avLst/>
            </a:prstGeom>
          </p:spPr>
        </p:pic>
      </p:grpSp>
      <p:sp>
        <p:nvSpPr>
          <p:cNvPr id="35" name="TextBox 34">
            <a:extLst>
              <a:ext uri="{FF2B5EF4-FFF2-40B4-BE49-F238E27FC236}">
                <a16:creationId xmlns:a16="http://schemas.microsoft.com/office/drawing/2014/main" id="{F297A1CE-D28C-3177-54DE-333703C21815}"/>
              </a:ext>
            </a:extLst>
          </p:cNvPr>
          <p:cNvSpPr txBox="1"/>
          <p:nvPr/>
        </p:nvSpPr>
        <p:spPr>
          <a:xfrm>
            <a:off x="8904848" y="2886299"/>
            <a:ext cx="3287151" cy="1938992"/>
          </a:xfrm>
          <a:prstGeom prst="rect">
            <a:avLst/>
          </a:prstGeom>
          <a:noFill/>
        </p:spPr>
        <p:txBody>
          <a:bodyPr wrap="square" rtlCol="0">
            <a:spAutoFit/>
          </a:bodyPr>
          <a:lstStyle/>
          <a:p>
            <a:r>
              <a:rPr lang="en-US" sz="2400" b="1" dirty="0"/>
              <a:t>Mapping</a:t>
            </a:r>
            <a:r>
              <a:rPr lang="en-US" sz="2400" dirty="0"/>
              <a:t> challenges and identifying </a:t>
            </a:r>
            <a:r>
              <a:rPr lang="en-US" sz="2400" b="1" dirty="0"/>
              <a:t>sphere of influence</a:t>
            </a:r>
            <a:r>
              <a:rPr lang="en-US" sz="2400" dirty="0"/>
              <a:t> is a step towards addressing barriers</a:t>
            </a:r>
          </a:p>
        </p:txBody>
      </p:sp>
      <p:pic>
        <p:nvPicPr>
          <p:cNvPr id="3" name="Graphic 2" descr="Ripple with solid fill">
            <a:extLst>
              <a:ext uri="{FF2B5EF4-FFF2-40B4-BE49-F238E27FC236}">
                <a16:creationId xmlns:a16="http://schemas.microsoft.com/office/drawing/2014/main" id="{23C21303-2AE8-4A4C-F41E-C530E6C9E12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202772" y="827930"/>
            <a:ext cx="2377717" cy="2377717"/>
          </a:xfrm>
          <a:prstGeom prst="rect">
            <a:avLst/>
          </a:prstGeom>
        </p:spPr>
      </p:pic>
    </p:spTree>
    <p:extLst>
      <p:ext uri="{BB962C8B-B14F-4D97-AF65-F5344CB8AC3E}">
        <p14:creationId xmlns:p14="http://schemas.microsoft.com/office/powerpoint/2010/main" val="61821711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16CF5-C9F3-8BF7-8308-E8A1DD5927BF}"/>
            </a:ext>
          </a:extLst>
        </p:cNvPr>
        <p:cNvGrpSpPr/>
        <p:nvPr/>
      </p:nvGrpSpPr>
      <p:grpSpPr>
        <a:xfrm>
          <a:off x="0" y="0"/>
          <a:ext cx="0" cy="0"/>
          <a:chOff x="0" y="0"/>
          <a:chExt cx="0" cy="0"/>
        </a:xfrm>
      </p:grpSpPr>
      <p:grpSp>
        <p:nvGrpSpPr>
          <p:cNvPr id="63" name="Group 62">
            <a:extLst>
              <a:ext uri="{FF2B5EF4-FFF2-40B4-BE49-F238E27FC236}">
                <a16:creationId xmlns:a16="http://schemas.microsoft.com/office/drawing/2014/main" id="{740F5F6F-FD1A-9C3B-0154-4346FB7CF837}"/>
              </a:ext>
            </a:extLst>
          </p:cNvPr>
          <p:cNvGrpSpPr/>
          <p:nvPr/>
        </p:nvGrpSpPr>
        <p:grpSpPr>
          <a:xfrm>
            <a:off x="10704849" y="6564312"/>
            <a:ext cx="1362075" cy="273690"/>
            <a:chOff x="19317" y="2690018"/>
            <a:chExt cx="11784755" cy="2025180"/>
          </a:xfrm>
        </p:grpSpPr>
        <p:pic>
          <p:nvPicPr>
            <p:cNvPr id="64" name="Picture 2">
              <a:extLst>
                <a:ext uri="{FF2B5EF4-FFF2-40B4-BE49-F238E27FC236}">
                  <a16:creationId xmlns:a16="http://schemas.microsoft.com/office/drawing/2014/main" id="{C4AD7B80-7C36-1144-C65B-A629DB485C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4">
              <a:extLst>
                <a:ext uri="{FF2B5EF4-FFF2-40B4-BE49-F238E27FC236}">
                  <a16:creationId xmlns:a16="http://schemas.microsoft.com/office/drawing/2014/main" id="{1F996EE4-4BF2-FFB5-3CF9-E7103D6600AA}"/>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62" name="Slide Number Placeholder 61">
            <a:extLst>
              <a:ext uri="{FF2B5EF4-FFF2-40B4-BE49-F238E27FC236}">
                <a16:creationId xmlns:a16="http://schemas.microsoft.com/office/drawing/2014/main" id="{28CED909-26F6-2B29-0018-7BE1C9226D12}"/>
              </a:ext>
            </a:extLst>
          </p:cNvPr>
          <p:cNvSpPr>
            <a:spLocks noGrp="1"/>
          </p:cNvSpPr>
          <p:nvPr>
            <p:ph type="sldNum" sz="quarter" idx="12"/>
          </p:nvPr>
        </p:nvSpPr>
        <p:spPr/>
        <p:txBody>
          <a:bodyPr/>
          <a:lstStyle/>
          <a:p>
            <a:fld id="{DC6309F4-03C8-4D48-A124-A9AD6E083FAC}" type="slidenum">
              <a:rPr lang="en-US" smtClean="0"/>
              <a:t>58</a:t>
            </a:fld>
            <a:endParaRPr lang="en-US"/>
          </a:p>
        </p:txBody>
      </p:sp>
      <p:sp>
        <p:nvSpPr>
          <p:cNvPr id="4" name="Title 1">
            <a:extLst>
              <a:ext uri="{FF2B5EF4-FFF2-40B4-BE49-F238E27FC236}">
                <a16:creationId xmlns:a16="http://schemas.microsoft.com/office/drawing/2014/main" id="{5088C124-2380-0E83-76E7-426877BF5D6B}"/>
              </a:ext>
            </a:extLst>
          </p:cNvPr>
          <p:cNvSpPr txBox="1">
            <a:spLocks/>
          </p:cNvSpPr>
          <p:nvPr/>
        </p:nvSpPr>
        <p:spPr>
          <a:xfrm>
            <a:off x="49582" y="0"/>
            <a:ext cx="9051235" cy="111259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Leadership qualities we practiced</a:t>
            </a:r>
          </a:p>
        </p:txBody>
      </p:sp>
      <p:grpSp>
        <p:nvGrpSpPr>
          <p:cNvPr id="2" name="Group 1">
            <a:extLst>
              <a:ext uri="{FF2B5EF4-FFF2-40B4-BE49-F238E27FC236}">
                <a16:creationId xmlns:a16="http://schemas.microsoft.com/office/drawing/2014/main" id="{9D60DBAE-7BEE-4025-833D-83126281BA1A}"/>
              </a:ext>
            </a:extLst>
          </p:cNvPr>
          <p:cNvGrpSpPr/>
          <p:nvPr/>
        </p:nvGrpSpPr>
        <p:grpSpPr>
          <a:xfrm>
            <a:off x="732554" y="3587478"/>
            <a:ext cx="7088432" cy="1295049"/>
            <a:chOff x="1249262" y="2926161"/>
            <a:chExt cx="4622466" cy="888586"/>
          </a:xfrm>
        </p:grpSpPr>
        <p:grpSp>
          <p:nvGrpSpPr>
            <p:cNvPr id="3" name="Group 2">
              <a:extLst>
                <a:ext uri="{FF2B5EF4-FFF2-40B4-BE49-F238E27FC236}">
                  <a16:creationId xmlns:a16="http://schemas.microsoft.com/office/drawing/2014/main" id="{B6DCFEB0-84C5-BC2E-031C-5335B81A868D}"/>
                </a:ext>
              </a:extLst>
            </p:cNvPr>
            <p:cNvGrpSpPr/>
            <p:nvPr/>
          </p:nvGrpSpPr>
          <p:grpSpPr>
            <a:xfrm>
              <a:off x="5040033" y="2931787"/>
              <a:ext cx="831695" cy="875891"/>
              <a:chOff x="9256513" y="1773566"/>
              <a:chExt cx="1646013" cy="1666134"/>
            </a:xfrm>
          </p:grpSpPr>
          <p:sp>
            <p:nvSpPr>
              <p:cNvPr id="17" name="Oval 16">
                <a:extLst>
                  <a:ext uri="{FF2B5EF4-FFF2-40B4-BE49-F238E27FC236}">
                    <a16:creationId xmlns:a16="http://schemas.microsoft.com/office/drawing/2014/main" id="{6C377D86-6B7E-B9E6-BC4C-9BC552FDDDB8}"/>
                  </a:ext>
                </a:extLst>
              </p:cNvPr>
              <p:cNvSpPr/>
              <p:nvPr/>
            </p:nvSpPr>
            <p:spPr>
              <a:xfrm>
                <a:off x="9256514" y="1773566"/>
                <a:ext cx="1646012" cy="1666134"/>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8" name="Graphic 17" descr="Checkbox Ticked with solid fill">
                <a:extLst>
                  <a:ext uri="{FF2B5EF4-FFF2-40B4-BE49-F238E27FC236}">
                    <a16:creationId xmlns:a16="http://schemas.microsoft.com/office/drawing/2014/main" id="{09334CC8-C1AE-BC43-339F-6031DB3D27C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256513" y="1787012"/>
                <a:ext cx="1641987" cy="1641987"/>
              </a:xfrm>
              <a:prstGeom prst="rect">
                <a:avLst/>
              </a:prstGeom>
            </p:spPr>
          </p:pic>
        </p:grpSp>
        <p:grpSp>
          <p:nvGrpSpPr>
            <p:cNvPr id="5" name="Group 4">
              <a:extLst>
                <a:ext uri="{FF2B5EF4-FFF2-40B4-BE49-F238E27FC236}">
                  <a16:creationId xmlns:a16="http://schemas.microsoft.com/office/drawing/2014/main" id="{43833114-6C8E-9756-9D0D-7689B997D7D1}"/>
                </a:ext>
              </a:extLst>
            </p:cNvPr>
            <p:cNvGrpSpPr/>
            <p:nvPr/>
          </p:nvGrpSpPr>
          <p:grpSpPr>
            <a:xfrm>
              <a:off x="4097822" y="2931787"/>
              <a:ext cx="831696" cy="875891"/>
              <a:chOff x="6606024" y="1721448"/>
              <a:chExt cx="1641987" cy="1666134"/>
            </a:xfrm>
          </p:grpSpPr>
          <p:sp>
            <p:nvSpPr>
              <p:cNvPr id="15" name="Oval 14">
                <a:extLst>
                  <a:ext uri="{FF2B5EF4-FFF2-40B4-BE49-F238E27FC236}">
                    <a16:creationId xmlns:a16="http://schemas.microsoft.com/office/drawing/2014/main" id="{C4052CD4-CAF5-6D87-932D-1E67DDEB544F}"/>
                  </a:ext>
                </a:extLst>
              </p:cNvPr>
              <p:cNvSpPr/>
              <p:nvPr/>
            </p:nvSpPr>
            <p:spPr>
              <a:xfrm>
                <a:off x="6606024" y="1721448"/>
                <a:ext cx="1641987" cy="1666134"/>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Graphic 15" descr="Clapper board with solid fill">
                <a:extLst>
                  <a:ext uri="{FF2B5EF4-FFF2-40B4-BE49-F238E27FC236}">
                    <a16:creationId xmlns:a16="http://schemas.microsoft.com/office/drawing/2014/main" id="{BE8AE4DB-2A13-F89B-5A51-DB590528BCE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824209" y="1910345"/>
                <a:ext cx="1151526" cy="1151526"/>
              </a:xfrm>
              <a:prstGeom prst="rect">
                <a:avLst/>
              </a:prstGeom>
            </p:spPr>
          </p:pic>
        </p:grpSp>
        <p:grpSp>
          <p:nvGrpSpPr>
            <p:cNvPr id="6" name="Group 5">
              <a:extLst>
                <a:ext uri="{FF2B5EF4-FFF2-40B4-BE49-F238E27FC236}">
                  <a16:creationId xmlns:a16="http://schemas.microsoft.com/office/drawing/2014/main" id="{53913D82-8EB8-5F0D-1B32-A89FE6EF5FBB}"/>
                </a:ext>
              </a:extLst>
            </p:cNvPr>
            <p:cNvGrpSpPr/>
            <p:nvPr/>
          </p:nvGrpSpPr>
          <p:grpSpPr>
            <a:xfrm>
              <a:off x="3155610" y="2926162"/>
              <a:ext cx="831696" cy="875891"/>
              <a:chOff x="4435504" y="1964618"/>
              <a:chExt cx="1641987" cy="1614426"/>
            </a:xfrm>
          </p:grpSpPr>
          <p:sp>
            <p:nvSpPr>
              <p:cNvPr id="13" name="Oval 12">
                <a:extLst>
                  <a:ext uri="{FF2B5EF4-FFF2-40B4-BE49-F238E27FC236}">
                    <a16:creationId xmlns:a16="http://schemas.microsoft.com/office/drawing/2014/main" id="{73DC7E26-75BE-5026-9E32-C4263602ACAB}"/>
                  </a:ext>
                </a:extLst>
              </p:cNvPr>
              <p:cNvSpPr/>
              <p:nvPr/>
            </p:nvSpPr>
            <p:spPr>
              <a:xfrm>
                <a:off x="4435504" y="1964618"/>
                <a:ext cx="1641987" cy="161442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Graphic 13" descr="User with solid fill">
                <a:extLst>
                  <a:ext uri="{FF2B5EF4-FFF2-40B4-BE49-F238E27FC236}">
                    <a16:creationId xmlns:a16="http://schemas.microsoft.com/office/drawing/2014/main" id="{54A0354E-CC78-F5BB-7129-DBA7BE24B83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645029" y="2134541"/>
                <a:ext cx="1196343" cy="1196343"/>
              </a:xfrm>
              <a:prstGeom prst="rect">
                <a:avLst/>
              </a:prstGeom>
            </p:spPr>
          </p:pic>
        </p:grpSp>
        <p:grpSp>
          <p:nvGrpSpPr>
            <p:cNvPr id="7" name="Group 6">
              <a:extLst>
                <a:ext uri="{FF2B5EF4-FFF2-40B4-BE49-F238E27FC236}">
                  <a16:creationId xmlns:a16="http://schemas.microsoft.com/office/drawing/2014/main" id="{27E6575F-157E-A6C3-A82F-6D8E557AEC78}"/>
                </a:ext>
              </a:extLst>
            </p:cNvPr>
            <p:cNvGrpSpPr/>
            <p:nvPr/>
          </p:nvGrpSpPr>
          <p:grpSpPr>
            <a:xfrm>
              <a:off x="1249262" y="2938856"/>
              <a:ext cx="844494" cy="875891"/>
              <a:chOff x="316947" y="2007971"/>
              <a:chExt cx="1641987" cy="1614426"/>
            </a:xfrm>
          </p:grpSpPr>
          <p:sp>
            <p:nvSpPr>
              <p:cNvPr id="11" name="Oval 10">
                <a:extLst>
                  <a:ext uri="{FF2B5EF4-FFF2-40B4-BE49-F238E27FC236}">
                    <a16:creationId xmlns:a16="http://schemas.microsoft.com/office/drawing/2014/main" id="{2CDDF120-4A57-50C1-5410-9C40EACA7494}"/>
                  </a:ext>
                </a:extLst>
              </p:cNvPr>
              <p:cNvSpPr/>
              <p:nvPr/>
            </p:nvSpPr>
            <p:spPr>
              <a:xfrm>
                <a:off x="316947" y="2007971"/>
                <a:ext cx="1641987" cy="161442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descr="Magnifying glass with solid fill">
                <a:extLst>
                  <a:ext uri="{FF2B5EF4-FFF2-40B4-BE49-F238E27FC236}">
                    <a16:creationId xmlns:a16="http://schemas.microsoft.com/office/drawing/2014/main" id="{A249EFF9-901B-BB39-1399-21E37A895CC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37761" y="2261216"/>
                <a:ext cx="1080886" cy="1080886"/>
              </a:xfrm>
              <a:prstGeom prst="rect">
                <a:avLst/>
              </a:prstGeom>
            </p:spPr>
          </p:pic>
        </p:grpSp>
        <p:grpSp>
          <p:nvGrpSpPr>
            <p:cNvPr id="8" name="Group 7">
              <a:extLst>
                <a:ext uri="{FF2B5EF4-FFF2-40B4-BE49-F238E27FC236}">
                  <a16:creationId xmlns:a16="http://schemas.microsoft.com/office/drawing/2014/main" id="{A7D45535-BB2F-2D98-E830-7C7F20AF5C40}"/>
                </a:ext>
              </a:extLst>
            </p:cNvPr>
            <p:cNvGrpSpPr/>
            <p:nvPr/>
          </p:nvGrpSpPr>
          <p:grpSpPr>
            <a:xfrm>
              <a:off x="2204272" y="2926161"/>
              <a:ext cx="831696" cy="875891"/>
              <a:chOff x="2627760" y="2015531"/>
              <a:chExt cx="1641987" cy="1614426"/>
            </a:xfrm>
          </p:grpSpPr>
          <p:sp>
            <p:nvSpPr>
              <p:cNvPr id="9" name="Oval 8">
                <a:extLst>
                  <a:ext uri="{FF2B5EF4-FFF2-40B4-BE49-F238E27FC236}">
                    <a16:creationId xmlns:a16="http://schemas.microsoft.com/office/drawing/2014/main" id="{E1707568-26EF-EDC7-155B-8DF0A3749700}"/>
                  </a:ext>
                </a:extLst>
              </p:cNvPr>
              <p:cNvSpPr/>
              <p:nvPr/>
            </p:nvSpPr>
            <p:spPr>
              <a:xfrm>
                <a:off x="2627760" y="2015531"/>
                <a:ext cx="1641987" cy="161442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Graphic 9" descr="Thumbs up sign with solid fill">
                <a:extLst>
                  <a:ext uri="{FF2B5EF4-FFF2-40B4-BE49-F238E27FC236}">
                    <a16:creationId xmlns:a16="http://schemas.microsoft.com/office/drawing/2014/main" id="{479ACD8D-0AD2-06A7-5C8A-69381F1B1A9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949859" y="2357984"/>
                <a:ext cx="914400" cy="914400"/>
              </a:xfrm>
              <a:prstGeom prst="rect">
                <a:avLst/>
              </a:prstGeom>
            </p:spPr>
          </p:pic>
        </p:grpSp>
      </p:grpSp>
      <p:sp>
        <p:nvSpPr>
          <p:cNvPr id="19" name="Left Brace 18">
            <a:extLst>
              <a:ext uri="{FF2B5EF4-FFF2-40B4-BE49-F238E27FC236}">
                <a16:creationId xmlns:a16="http://schemas.microsoft.com/office/drawing/2014/main" id="{0F9532E4-5756-8AD1-348D-1C438C41F5FB}"/>
              </a:ext>
            </a:extLst>
          </p:cNvPr>
          <p:cNvSpPr/>
          <p:nvPr/>
        </p:nvSpPr>
        <p:spPr>
          <a:xfrm rot="5400000">
            <a:off x="2654977" y="1344592"/>
            <a:ext cx="430200" cy="3810790"/>
          </a:xfrm>
          <a:prstGeom prst="leftBrace">
            <a:avLst>
              <a:gd name="adj1" fmla="val 15293"/>
              <a:gd name="adj2" fmla="val 51256"/>
            </a:avLst>
          </a:prstGeom>
          <a:ln w="85725">
            <a:solidFill>
              <a:schemeClr val="bg2">
                <a:lumMod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TextBox 20">
            <a:extLst>
              <a:ext uri="{FF2B5EF4-FFF2-40B4-BE49-F238E27FC236}">
                <a16:creationId xmlns:a16="http://schemas.microsoft.com/office/drawing/2014/main" id="{6361F054-377F-2A1B-1889-940401548117}"/>
              </a:ext>
            </a:extLst>
          </p:cNvPr>
          <p:cNvSpPr txBox="1"/>
          <p:nvPr/>
        </p:nvSpPr>
        <p:spPr>
          <a:xfrm>
            <a:off x="165640" y="1034798"/>
            <a:ext cx="11401326" cy="461665"/>
          </a:xfrm>
          <a:prstGeom prst="rect">
            <a:avLst/>
          </a:prstGeom>
          <a:noFill/>
        </p:spPr>
        <p:txBody>
          <a:bodyPr wrap="none" rtlCol="0">
            <a:spAutoFit/>
          </a:bodyPr>
          <a:lstStyle/>
          <a:p>
            <a:r>
              <a:rPr lang="en-US" sz="2400" dirty="0"/>
              <a:t>Using the 5A framework we worked on increasing our </a:t>
            </a:r>
            <a:r>
              <a:rPr lang="en-US" sz="2400" b="1" dirty="0"/>
              <a:t>self-awareness</a:t>
            </a:r>
            <a:r>
              <a:rPr lang="en-US" sz="2400" dirty="0"/>
              <a:t> and </a:t>
            </a:r>
            <a:r>
              <a:rPr lang="en-US" sz="2400" b="1" dirty="0"/>
              <a:t>knowledge</a:t>
            </a:r>
          </a:p>
        </p:txBody>
      </p:sp>
      <p:pic>
        <p:nvPicPr>
          <p:cNvPr id="22" name="Graphic 21" descr="Reflection with solid fill">
            <a:extLst>
              <a:ext uri="{FF2B5EF4-FFF2-40B4-BE49-F238E27FC236}">
                <a16:creationId xmlns:a16="http://schemas.microsoft.com/office/drawing/2014/main" id="{D272E847-9362-5585-28F7-FE5FD198043A}"/>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12518" y="1653617"/>
            <a:ext cx="914400" cy="914400"/>
          </a:xfrm>
          <a:prstGeom prst="rect">
            <a:avLst/>
          </a:prstGeom>
        </p:spPr>
      </p:pic>
      <p:sp>
        <p:nvSpPr>
          <p:cNvPr id="25" name="TextBox 24">
            <a:extLst>
              <a:ext uri="{FF2B5EF4-FFF2-40B4-BE49-F238E27FC236}">
                <a16:creationId xmlns:a16="http://schemas.microsoft.com/office/drawing/2014/main" id="{3AB88715-4354-EC68-76C7-A9D1B2EF8CE6}"/>
              </a:ext>
            </a:extLst>
          </p:cNvPr>
          <p:cNvSpPr txBox="1"/>
          <p:nvPr/>
        </p:nvSpPr>
        <p:spPr>
          <a:xfrm>
            <a:off x="467728" y="2492911"/>
            <a:ext cx="2233497" cy="461665"/>
          </a:xfrm>
          <a:prstGeom prst="rect">
            <a:avLst/>
          </a:prstGeom>
          <a:noFill/>
        </p:spPr>
        <p:txBody>
          <a:bodyPr wrap="none" rtlCol="0">
            <a:spAutoFit/>
          </a:bodyPr>
          <a:lstStyle/>
          <a:p>
            <a:r>
              <a:rPr lang="en-US" sz="2400" dirty="0"/>
              <a:t>Self-awareness</a:t>
            </a:r>
          </a:p>
        </p:txBody>
      </p:sp>
      <p:pic>
        <p:nvPicPr>
          <p:cNvPr id="26" name="Graphic 25" descr="Books with solid fill">
            <a:extLst>
              <a:ext uri="{FF2B5EF4-FFF2-40B4-BE49-F238E27FC236}">
                <a16:creationId xmlns:a16="http://schemas.microsoft.com/office/drawing/2014/main" id="{C101BF40-AF57-8E58-9A6B-D64E1ECD12B0}"/>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306537" y="1736904"/>
            <a:ext cx="807522" cy="807522"/>
          </a:xfrm>
          <a:prstGeom prst="rect">
            <a:avLst/>
          </a:prstGeom>
        </p:spPr>
      </p:pic>
      <p:sp>
        <p:nvSpPr>
          <p:cNvPr id="27" name="TextBox 26">
            <a:extLst>
              <a:ext uri="{FF2B5EF4-FFF2-40B4-BE49-F238E27FC236}">
                <a16:creationId xmlns:a16="http://schemas.microsoft.com/office/drawing/2014/main" id="{B298AB26-AFD8-ABD0-E89E-E21F23B2895B}"/>
              </a:ext>
            </a:extLst>
          </p:cNvPr>
          <p:cNvSpPr txBox="1"/>
          <p:nvPr/>
        </p:nvSpPr>
        <p:spPr>
          <a:xfrm>
            <a:off x="2887150" y="2509298"/>
            <a:ext cx="2281330" cy="461665"/>
          </a:xfrm>
          <a:prstGeom prst="rect">
            <a:avLst/>
          </a:prstGeom>
          <a:noFill/>
        </p:spPr>
        <p:txBody>
          <a:bodyPr wrap="none" rtlCol="0">
            <a:spAutoFit/>
          </a:bodyPr>
          <a:lstStyle/>
          <a:p>
            <a:r>
              <a:rPr lang="en-US" sz="2400" dirty="0"/>
              <a:t>Knowledgeable </a:t>
            </a:r>
          </a:p>
        </p:txBody>
      </p:sp>
      <p:sp>
        <p:nvSpPr>
          <p:cNvPr id="32" name="TextBox 31">
            <a:extLst>
              <a:ext uri="{FF2B5EF4-FFF2-40B4-BE49-F238E27FC236}">
                <a16:creationId xmlns:a16="http://schemas.microsoft.com/office/drawing/2014/main" id="{EB6AB56E-02FA-CE9C-3CDF-13684426B8BF}"/>
              </a:ext>
            </a:extLst>
          </p:cNvPr>
          <p:cNvSpPr txBox="1"/>
          <p:nvPr/>
        </p:nvSpPr>
        <p:spPr>
          <a:xfrm>
            <a:off x="774211" y="4861138"/>
            <a:ext cx="1276568" cy="369332"/>
          </a:xfrm>
          <a:prstGeom prst="rect">
            <a:avLst/>
          </a:prstGeom>
          <a:noFill/>
        </p:spPr>
        <p:txBody>
          <a:bodyPr wrap="none" rtlCol="0">
            <a:spAutoFit/>
          </a:bodyPr>
          <a:lstStyle/>
          <a:p>
            <a:r>
              <a:rPr lang="en-US" dirty="0"/>
              <a:t>Awareness</a:t>
            </a:r>
          </a:p>
        </p:txBody>
      </p:sp>
      <p:sp>
        <p:nvSpPr>
          <p:cNvPr id="33" name="TextBox 32">
            <a:extLst>
              <a:ext uri="{FF2B5EF4-FFF2-40B4-BE49-F238E27FC236}">
                <a16:creationId xmlns:a16="http://schemas.microsoft.com/office/drawing/2014/main" id="{62B0A6C5-7D19-EBB3-B71A-3DFAB1E4F411}"/>
              </a:ext>
            </a:extLst>
          </p:cNvPr>
          <p:cNvSpPr txBox="1"/>
          <p:nvPr/>
        </p:nvSpPr>
        <p:spPr>
          <a:xfrm>
            <a:off x="2073994" y="4882527"/>
            <a:ext cx="1516056" cy="369332"/>
          </a:xfrm>
          <a:prstGeom prst="rect">
            <a:avLst/>
          </a:prstGeom>
          <a:noFill/>
        </p:spPr>
        <p:txBody>
          <a:bodyPr wrap="none" rtlCol="0">
            <a:spAutoFit/>
          </a:bodyPr>
          <a:lstStyle/>
          <a:p>
            <a:r>
              <a:rPr lang="en-US" dirty="0"/>
              <a:t>Acknowledge</a:t>
            </a:r>
          </a:p>
        </p:txBody>
      </p:sp>
      <p:sp>
        <p:nvSpPr>
          <p:cNvPr id="34" name="TextBox 33">
            <a:extLst>
              <a:ext uri="{FF2B5EF4-FFF2-40B4-BE49-F238E27FC236}">
                <a16:creationId xmlns:a16="http://schemas.microsoft.com/office/drawing/2014/main" id="{D0DF477D-C53F-4CCA-9AED-04EAAF4E2CBD}"/>
              </a:ext>
            </a:extLst>
          </p:cNvPr>
          <p:cNvSpPr txBox="1"/>
          <p:nvPr/>
        </p:nvSpPr>
        <p:spPr>
          <a:xfrm>
            <a:off x="3904147" y="4882506"/>
            <a:ext cx="909801" cy="369332"/>
          </a:xfrm>
          <a:prstGeom prst="rect">
            <a:avLst/>
          </a:prstGeom>
          <a:noFill/>
        </p:spPr>
        <p:txBody>
          <a:bodyPr wrap="none" rtlCol="0">
            <a:spAutoFit/>
          </a:bodyPr>
          <a:lstStyle/>
          <a:p>
            <a:r>
              <a:rPr lang="en-US" dirty="0"/>
              <a:t>Agency</a:t>
            </a:r>
          </a:p>
        </p:txBody>
      </p:sp>
      <p:sp>
        <p:nvSpPr>
          <p:cNvPr id="35" name="TextBox 34">
            <a:extLst>
              <a:ext uri="{FF2B5EF4-FFF2-40B4-BE49-F238E27FC236}">
                <a16:creationId xmlns:a16="http://schemas.microsoft.com/office/drawing/2014/main" id="{9C80B14B-3C19-FA13-3049-9C503A767295}"/>
              </a:ext>
            </a:extLst>
          </p:cNvPr>
          <p:cNvSpPr txBox="1"/>
          <p:nvPr/>
        </p:nvSpPr>
        <p:spPr>
          <a:xfrm>
            <a:off x="5289033" y="4921975"/>
            <a:ext cx="825867" cy="369332"/>
          </a:xfrm>
          <a:prstGeom prst="rect">
            <a:avLst/>
          </a:prstGeom>
          <a:noFill/>
        </p:spPr>
        <p:txBody>
          <a:bodyPr wrap="none" rtlCol="0">
            <a:spAutoFit/>
          </a:bodyPr>
          <a:lstStyle/>
          <a:p>
            <a:r>
              <a:rPr lang="en-US" dirty="0"/>
              <a:t>Action</a:t>
            </a:r>
          </a:p>
        </p:txBody>
      </p:sp>
      <p:sp>
        <p:nvSpPr>
          <p:cNvPr id="36" name="TextBox 35">
            <a:extLst>
              <a:ext uri="{FF2B5EF4-FFF2-40B4-BE49-F238E27FC236}">
                <a16:creationId xmlns:a16="http://schemas.microsoft.com/office/drawing/2014/main" id="{A35E2F60-6064-72FB-8D76-8B7660ABF286}"/>
              </a:ext>
            </a:extLst>
          </p:cNvPr>
          <p:cNvSpPr txBox="1"/>
          <p:nvPr/>
        </p:nvSpPr>
        <p:spPr>
          <a:xfrm>
            <a:off x="6793668" y="4893588"/>
            <a:ext cx="894732" cy="369332"/>
          </a:xfrm>
          <a:prstGeom prst="rect">
            <a:avLst/>
          </a:prstGeom>
          <a:noFill/>
        </p:spPr>
        <p:txBody>
          <a:bodyPr wrap="none" rtlCol="0">
            <a:spAutoFit/>
          </a:bodyPr>
          <a:lstStyle/>
          <a:p>
            <a:r>
              <a:rPr lang="en-US" dirty="0"/>
              <a:t>Assess</a:t>
            </a:r>
          </a:p>
        </p:txBody>
      </p:sp>
    </p:spTree>
    <p:extLst>
      <p:ext uri="{BB962C8B-B14F-4D97-AF65-F5344CB8AC3E}">
        <p14:creationId xmlns:p14="http://schemas.microsoft.com/office/powerpoint/2010/main" val="279200129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71F80-30BF-6A04-C68F-0A37C1CEC313}"/>
            </a:ext>
          </a:extLst>
        </p:cNvPr>
        <p:cNvGrpSpPr/>
        <p:nvPr/>
      </p:nvGrpSpPr>
      <p:grpSpPr>
        <a:xfrm>
          <a:off x="0" y="0"/>
          <a:ext cx="0" cy="0"/>
          <a:chOff x="0" y="0"/>
          <a:chExt cx="0" cy="0"/>
        </a:xfrm>
      </p:grpSpPr>
      <p:grpSp>
        <p:nvGrpSpPr>
          <p:cNvPr id="63" name="Group 62">
            <a:extLst>
              <a:ext uri="{FF2B5EF4-FFF2-40B4-BE49-F238E27FC236}">
                <a16:creationId xmlns:a16="http://schemas.microsoft.com/office/drawing/2014/main" id="{A907A298-E77F-9A84-9F0D-9B023F7EEB27}"/>
              </a:ext>
            </a:extLst>
          </p:cNvPr>
          <p:cNvGrpSpPr/>
          <p:nvPr/>
        </p:nvGrpSpPr>
        <p:grpSpPr>
          <a:xfrm>
            <a:off x="10704849" y="6564312"/>
            <a:ext cx="1362075" cy="273690"/>
            <a:chOff x="19317" y="2690018"/>
            <a:chExt cx="11784755" cy="2025180"/>
          </a:xfrm>
        </p:grpSpPr>
        <p:pic>
          <p:nvPicPr>
            <p:cNvPr id="64" name="Picture 2">
              <a:extLst>
                <a:ext uri="{FF2B5EF4-FFF2-40B4-BE49-F238E27FC236}">
                  <a16:creationId xmlns:a16="http://schemas.microsoft.com/office/drawing/2014/main" id="{C66E6E56-755F-3481-041E-CFFF5D5927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4">
              <a:extLst>
                <a:ext uri="{FF2B5EF4-FFF2-40B4-BE49-F238E27FC236}">
                  <a16:creationId xmlns:a16="http://schemas.microsoft.com/office/drawing/2014/main" id="{590E5B3A-A4DE-FC42-8413-BC2CD4C528DD}"/>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62" name="Slide Number Placeholder 61">
            <a:extLst>
              <a:ext uri="{FF2B5EF4-FFF2-40B4-BE49-F238E27FC236}">
                <a16:creationId xmlns:a16="http://schemas.microsoft.com/office/drawing/2014/main" id="{03774ADC-14F6-0915-70F9-41A835597E8E}"/>
              </a:ext>
            </a:extLst>
          </p:cNvPr>
          <p:cNvSpPr>
            <a:spLocks noGrp="1"/>
          </p:cNvSpPr>
          <p:nvPr>
            <p:ph type="sldNum" sz="quarter" idx="12"/>
          </p:nvPr>
        </p:nvSpPr>
        <p:spPr/>
        <p:txBody>
          <a:bodyPr/>
          <a:lstStyle/>
          <a:p>
            <a:fld id="{DC6309F4-03C8-4D48-A124-A9AD6E083FAC}" type="slidenum">
              <a:rPr lang="en-US" smtClean="0"/>
              <a:t>59</a:t>
            </a:fld>
            <a:endParaRPr lang="en-US"/>
          </a:p>
        </p:txBody>
      </p:sp>
      <p:sp>
        <p:nvSpPr>
          <p:cNvPr id="4" name="Title 1">
            <a:extLst>
              <a:ext uri="{FF2B5EF4-FFF2-40B4-BE49-F238E27FC236}">
                <a16:creationId xmlns:a16="http://schemas.microsoft.com/office/drawing/2014/main" id="{B649E45B-BCF7-58BA-5EC9-D8ED4A6F64CD}"/>
              </a:ext>
            </a:extLst>
          </p:cNvPr>
          <p:cNvSpPr txBox="1">
            <a:spLocks/>
          </p:cNvSpPr>
          <p:nvPr/>
        </p:nvSpPr>
        <p:spPr>
          <a:xfrm>
            <a:off x="49582" y="0"/>
            <a:ext cx="9051235" cy="111259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Leadership qualities we practiced</a:t>
            </a:r>
          </a:p>
        </p:txBody>
      </p:sp>
      <p:grpSp>
        <p:nvGrpSpPr>
          <p:cNvPr id="2" name="Group 1">
            <a:extLst>
              <a:ext uri="{FF2B5EF4-FFF2-40B4-BE49-F238E27FC236}">
                <a16:creationId xmlns:a16="http://schemas.microsoft.com/office/drawing/2014/main" id="{69594EC8-EA11-E627-6E30-3D0AF7C69159}"/>
              </a:ext>
            </a:extLst>
          </p:cNvPr>
          <p:cNvGrpSpPr/>
          <p:nvPr/>
        </p:nvGrpSpPr>
        <p:grpSpPr>
          <a:xfrm>
            <a:off x="732554" y="3587478"/>
            <a:ext cx="7088432" cy="1295049"/>
            <a:chOff x="1249262" y="2926161"/>
            <a:chExt cx="4622466" cy="888586"/>
          </a:xfrm>
        </p:grpSpPr>
        <p:grpSp>
          <p:nvGrpSpPr>
            <p:cNvPr id="3" name="Group 2">
              <a:extLst>
                <a:ext uri="{FF2B5EF4-FFF2-40B4-BE49-F238E27FC236}">
                  <a16:creationId xmlns:a16="http://schemas.microsoft.com/office/drawing/2014/main" id="{AA85E77D-4277-6428-5684-AFAA608D853C}"/>
                </a:ext>
              </a:extLst>
            </p:cNvPr>
            <p:cNvGrpSpPr/>
            <p:nvPr/>
          </p:nvGrpSpPr>
          <p:grpSpPr>
            <a:xfrm>
              <a:off x="5040033" y="2931787"/>
              <a:ext cx="831695" cy="875891"/>
              <a:chOff x="9256513" y="1773566"/>
              <a:chExt cx="1646013" cy="1666134"/>
            </a:xfrm>
          </p:grpSpPr>
          <p:sp>
            <p:nvSpPr>
              <p:cNvPr id="17" name="Oval 16">
                <a:extLst>
                  <a:ext uri="{FF2B5EF4-FFF2-40B4-BE49-F238E27FC236}">
                    <a16:creationId xmlns:a16="http://schemas.microsoft.com/office/drawing/2014/main" id="{90A907D4-1843-00EB-1E1C-429D43CE49D2}"/>
                  </a:ext>
                </a:extLst>
              </p:cNvPr>
              <p:cNvSpPr/>
              <p:nvPr/>
            </p:nvSpPr>
            <p:spPr>
              <a:xfrm>
                <a:off x="9256514" y="1773566"/>
                <a:ext cx="1646012" cy="1666134"/>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8" name="Graphic 17" descr="Checkbox Ticked with solid fill">
                <a:extLst>
                  <a:ext uri="{FF2B5EF4-FFF2-40B4-BE49-F238E27FC236}">
                    <a16:creationId xmlns:a16="http://schemas.microsoft.com/office/drawing/2014/main" id="{26B47767-D531-4F8C-96E1-FB38A4861EB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256513" y="1787012"/>
                <a:ext cx="1641987" cy="1641987"/>
              </a:xfrm>
              <a:prstGeom prst="rect">
                <a:avLst/>
              </a:prstGeom>
            </p:spPr>
          </p:pic>
        </p:grpSp>
        <p:grpSp>
          <p:nvGrpSpPr>
            <p:cNvPr id="5" name="Group 4">
              <a:extLst>
                <a:ext uri="{FF2B5EF4-FFF2-40B4-BE49-F238E27FC236}">
                  <a16:creationId xmlns:a16="http://schemas.microsoft.com/office/drawing/2014/main" id="{65A1D3C1-6B26-09D0-CC41-EC9441900334}"/>
                </a:ext>
              </a:extLst>
            </p:cNvPr>
            <p:cNvGrpSpPr/>
            <p:nvPr/>
          </p:nvGrpSpPr>
          <p:grpSpPr>
            <a:xfrm>
              <a:off x="4097822" y="2931787"/>
              <a:ext cx="831696" cy="875891"/>
              <a:chOff x="6606024" y="1721448"/>
              <a:chExt cx="1641987" cy="1666134"/>
            </a:xfrm>
          </p:grpSpPr>
          <p:sp>
            <p:nvSpPr>
              <p:cNvPr id="15" name="Oval 14">
                <a:extLst>
                  <a:ext uri="{FF2B5EF4-FFF2-40B4-BE49-F238E27FC236}">
                    <a16:creationId xmlns:a16="http://schemas.microsoft.com/office/drawing/2014/main" id="{DB3C9796-81BF-608E-3DC7-5947A9025D35}"/>
                  </a:ext>
                </a:extLst>
              </p:cNvPr>
              <p:cNvSpPr/>
              <p:nvPr/>
            </p:nvSpPr>
            <p:spPr>
              <a:xfrm>
                <a:off x="6606024" y="1721448"/>
                <a:ext cx="1641987" cy="1666134"/>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Graphic 15" descr="Clapper board with solid fill">
                <a:extLst>
                  <a:ext uri="{FF2B5EF4-FFF2-40B4-BE49-F238E27FC236}">
                    <a16:creationId xmlns:a16="http://schemas.microsoft.com/office/drawing/2014/main" id="{9BED0BF7-540B-75A4-22F6-40F9F26A656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824209" y="1910345"/>
                <a:ext cx="1151526" cy="1151526"/>
              </a:xfrm>
              <a:prstGeom prst="rect">
                <a:avLst/>
              </a:prstGeom>
            </p:spPr>
          </p:pic>
        </p:grpSp>
        <p:grpSp>
          <p:nvGrpSpPr>
            <p:cNvPr id="6" name="Group 5">
              <a:extLst>
                <a:ext uri="{FF2B5EF4-FFF2-40B4-BE49-F238E27FC236}">
                  <a16:creationId xmlns:a16="http://schemas.microsoft.com/office/drawing/2014/main" id="{E705E133-A146-45D8-E4AE-912E833BCB35}"/>
                </a:ext>
              </a:extLst>
            </p:cNvPr>
            <p:cNvGrpSpPr/>
            <p:nvPr/>
          </p:nvGrpSpPr>
          <p:grpSpPr>
            <a:xfrm>
              <a:off x="3155610" y="2926162"/>
              <a:ext cx="831696" cy="875891"/>
              <a:chOff x="4435504" y="1964618"/>
              <a:chExt cx="1641987" cy="1614426"/>
            </a:xfrm>
          </p:grpSpPr>
          <p:sp>
            <p:nvSpPr>
              <p:cNvPr id="13" name="Oval 12">
                <a:extLst>
                  <a:ext uri="{FF2B5EF4-FFF2-40B4-BE49-F238E27FC236}">
                    <a16:creationId xmlns:a16="http://schemas.microsoft.com/office/drawing/2014/main" id="{AEF73FE4-4BE8-AC1E-B8E1-9F464D172346}"/>
                  </a:ext>
                </a:extLst>
              </p:cNvPr>
              <p:cNvSpPr/>
              <p:nvPr/>
            </p:nvSpPr>
            <p:spPr>
              <a:xfrm>
                <a:off x="4435504" y="1964618"/>
                <a:ext cx="1641987" cy="161442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Graphic 13" descr="User with solid fill">
                <a:extLst>
                  <a:ext uri="{FF2B5EF4-FFF2-40B4-BE49-F238E27FC236}">
                    <a16:creationId xmlns:a16="http://schemas.microsoft.com/office/drawing/2014/main" id="{CB407B63-BCB1-C56A-D254-83D6A15D9F2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645029" y="2134541"/>
                <a:ext cx="1196343" cy="1196343"/>
              </a:xfrm>
              <a:prstGeom prst="rect">
                <a:avLst/>
              </a:prstGeom>
            </p:spPr>
          </p:pic>
        </p:grpSp>
        <p:grpSp>
          <p:nvGrpSpPr>
            <p:cNvPr id="7" name="Group 6">
              <a:extLst>
                <a:ext uri="{FF2B5EF4-FFF2-40B4-BE49-F238E27FC236}">
                  <a16:creationId xmlns:a16="http://schemas.microsoft.com/office/drawing/2014/main" id="{6FFCF5F0-6498-65F5-A602-5FC244A77B0C}"/>
                </a:ext>
              </a:extLst>
            </p:cNvPr>
            <p:cNvGrpSpPr/>
            <p:nvPr/>
          </p:nvGrpSpPr>
          <p:grpSpPr>
            <a:xfrm>
              <a:off x="1249262" y="2938856"/>
              <a:ext cx="844494" cy="875891"/>
              <a:chOff x="316947" y="2007971"/>
              <a:chExt cx="1641987" cy="1614426"/>
            </a:xfrm>
          </p:grpSpPr>
          <p:sp>
            <p:nvSpPr>
              <p:cNvPr id="11" name="Oval 10">
                <a:extLst>
                  <a:ext uri="{FF2B5EF4-FFF2-40B4-BE49-F238E27FC236}">
                    <a16:creationId xmlns:a16="http://schemas.microsoft.com/office/drawing/2014/main" id="{8FA2A27E-502B-3A51-E591-AB5344375CAB}"/>
                  </a:ext>
                </a:extLst>
              </p:cNvPr>
              <p:cNvSpPr/>
              <p:nvPr/>
            </p:nvSpPr>
            <p:spPr>
              <a:xfrm>
                <a:off x="316947" y="2007971"/>
                <a:ext cx="1641987" cy="161442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descr="Magnifying glass with solid fill">
                <a:extLst>
                  <a:ext uri="{FF2B5EF4-FFF2-40B4-BE49-F238E27FC236}">
                    <a16:creationId xmlns:a16="http://schemas.microsoft.com/office/drawing/2014/main" id="{390209DC-05D8-97B1-D940-0C5D119CD74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37761" y="2261216"/>
                <a:ext cx="1080886" cy="1080886"/>
              </a:xfrm>
              <a:prstGeom prst="rect">
                <a:avLst/>
              </a:prstGeom>
            </p:spPr>
          </p:pic>
        </p:grpSp>
        <p:grpSp>
          <p:nvGrpSpPr>
            <p:cNvPr id="8" name="Group 7">
              <a:extLst>
                <a:ext uri="{FF2B5EF4-FFF2-40B4-BE49-F238E27FC236}">
                  <a16:creationId xmlns:a16="http://schemas.microsoft.com/office/drawing/2014/main" id="{006A08E7-C4ED-2586-3AA0-4B9BB555E9E7}"/>
                </a:ext>
              </a:extLst>
            </p:cNvPr>
            <p:cNvGrpSpPr/>
            <p:nvPr/>
          </p:nvGrpSpPr>
          <p:grpSpPr>
            <a:xfrm>
              <a:off x="2204272" y="2926161"/>
              <a:ext cx="831696" cy="875891"/>
              <a:chOff x="2627760" y="2015531"/>
              <a:chExt cx="1641987" cy="1614426"/>
            </a:xfrm>
          </p:grpSpPr>
          <p:sp>
            <p:nvSpPr>
              <p:cNvPr id="9" name="Oval 8">
                <a:extLst>
                  <a:ext uri="{FF2B5EF4-FFF2-40B4-BE49-F238E27FC236}">
                    <a16:creationId xmlns:a16="http://schemas.microsoft.com/office/drawing/2014/main" id="{01EBDA5C-C83B-78B5-6D5A-2A52523C5B2B}"/>
                  </a:ext>
                </a:extLst>
              </p:cNvPr>
              <p:cNvSpPr/>
              <p:nvPr/>
            </p:nvSpPr>
            <p:spPr>
              <a:xfrm>
                <a:off x="2627760" y="2015531"/>
                <a:ext cx="1641987" cy="161442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Graphic 9" descr="Thumbs up sign with solid fill">
                <a:extLst>
                  <a:ext uri="{FF2B5EF4-FFF2-40B4-BE49-F238E27FC236}">
                    <a16:creationId xmlns:a16="http://schemas.microsoft.com/office/drawing/2014/main" id="{D34570B6-25F7-B7C5-0A41-338C43A60E3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949859" y="2357984"/>
                <a:ext cx="914400" cy="914400"/>
              </a:xfrm>
              <a:prstGeom prst="rect">
                <a:avLst/>
              </a:prstGeom>
            </p:spPr>
          </p:pic>
        </p:grpSp>
      </p:grpSp>
      <p:sp>
        <p:nvSpPr>
          <p:cNvPr id="19" name="Left Brace 18">
            <a:extLst>
              <a:ext uri="{FF2B5EF4-FFF2-40B4-BE49-F238E27FC236}">
                <a16:creationId xmlns:a16="http://schemas.microsoft.com/office/drawing/2014/main" id="{4B4AE745-6827-2578-8250-BF1671287A39}"/>
              </a:ext>
            </a:extLst>
          </p:cNvPr>
          <p:cNvSpPr/>
          <p:nvPr/>
        </p:nvSpPr>
        <p:spPr>
          <a:xfrm rot="5400000">
            <a:off x="2654977" y="1344592"/>
            <a:ext cx="430200" cy="3810790"/>
          </a:xfrm>
          <a:prstGeom prst="leftBrace">
            <a:avLst>
              <a:gd name="adj1" fmla="val 15293"/>
              <a:gd name="adj2" fmla="val 51256"/>
            </a:avLst>
          </a:prstGeom>
          <a:ln w="85725">
            <a:solidFill>
              <a:schemeClr val="bg2">
                <a:lumMod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TextBox 20">
            <a:extLst>
              <a:ext uri="{FF2B5EF4-FFF2-40B4-BE49-F238E27FC236}">
                <a16:creationId xmlns:a16="http://schemas.microsoft.com/office/drawing/2014/main" id="{7355A55F-EEFA-3F5D-9360-B62D4071CE34}"/>
              </a:ext>
            </a:extLst>
          </p:cNvPr>
          <p:cNvSpPr txBox="1"/>
          <p:nvPr/>
        </p:nvSpPr>
        <p:spPr>
          <a:xfrm>
            <a:off x="165640" y="1034798"/>
            <a:ext cx="11401326" cy="461665"/>
          </a:xfrm>
          <a:prstGeom prst="rect">
            <a:avLst/>
          </a:prstGeom>
          <a:noFill/>
        </p:spPr>
        <p:txBody>
          <a:bodyPr wrap="none" rtlCol="0">
            <a:spAutoFit/>
          </a:bodyPr>
          <a:lstStyle/>
          <a:p>
            <a:r>
              <a:rPr lang="en-US" sz="2400" dirty="0"/>
              <a:t>Using the 5A framework we worked on increasing our </a:t>
            </a:r>
            <a:r>
              <a:rPr lang="en-US" sz="2400" b="1" dirty="0"/>
              <a:t>self-awareness</a:t>
            </a:r>
            <a:r>
              <a:rPr lang="en-US" sz="2400" dirty="0"/>
              <a:t> and </a:t>
            </a:r>
            <a:r>
              <a:rPr lang="en-US" sz="2400" b="1" dirty="0"/>
              <a:t>knowledge</a:t>
            </a:r>
          </a:p>
        </p:txBody>
      </p:sp>
      <p:pic>
        <p:nvPicPr>
          <p:cNvPr id="22" name="Graphic 21" descr="Reflection with solid fill">
            <a:extLst>
              <a:ext uri="{FF2B5EF4-FFF2-40B4-BE49-F238E27FC236}">
                <a16:creationId xmlns:a16="http://schemas.microsoft.com/office/drawing/2014/main" id="{AAF26FE0-FD4B-7CAE-AD9F-9BFAE58AE26D}"/>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12518" y="1653617"/>
            <a:ext cx="914400" cy="914400"/>
          </a:xfrm>
          <a:prstGeom prst="rect">
            <a:avLst/>
          </a:prstGeom>
        </p:spPr>
      </p:pic>
      <p:sp>
        <p:nvSpPr>
          <p:cNvPr id="23" name="TextBox 22">
            <a:extLst>
              <a:ext uri="{FF2B5EF4-FFF2-40B4-BE49-F238E27FC236}">
                <a16:creationId xmlns:a16="http://schemas.microsoft.com/office/drawing/2014/main" id="{11E3C48E-EBFC-F685-10FB-18F0AA224F51}"/>
              </a:ext>
            </a:extLst>
          </p:cNvPr>
          <p:cNvSpPr txBox="1"/>
          <p:nvPr/>
        </p:nvSpPr>
        <p:spPr>
          <a:xfrm>
            <a:off x="7589415" y="5966383"/>
            <a:ext cx="2299797" cy="461665"/>
          </a:xfrm>
          <a:prstGeom prst="rect">
            <a:avLst/>
          </a:prstGeom>
          <a:noFill/>
        </p:spPr>
        <p:txBody>
          <a:bodyPr wrap="none" rtlCol="0">
            <a:spAutoFit/>
          </a:bodyPr>
          <a:lstStyle/>
          <a:p>
            <a:r>
              <a:rPr lang="en-US" sz="2400" dirty="0"/>
              <a:t>Problem solving</a:t>
            </a:r>
          </a:p>
        </p:txBody>
      </p:sp>
      <p:pic>
        <p:nvPicPr>
          <p:cNvPr id="24" name="Graphic 23" descr="Puzzle pieces with solid fill">
            <a:extLst>
              <a:ext uri="{FF2B5EF4-FFF2-40B4-BE49-F238E27FC236}">
                <a16:creationId xmlns:a16="http://schemas.microsoft.com/office/drawing/2014/main" id="{4D7CEA37-D1AC-CE0E-DE49-418E1BEA8F2A}"/>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8153400" y="5021973"/>
            <a:ext cx="914400" cy="914400"/>
          </a:xfrm>
          <a:prstGeom prst="rect">
            <a:avLst/>
          </a:prstGeom>
        </p:spPr>
      </p:pic>
      <p:sp>
        <p:nvSpPr>
          <p:cNvPr id="25" name="TextBox 24">
            <a:extLst>
              <a:ext uri="{FF2B5EF4-FFF2-40B4-BE49-F238E27FC236}">
                <a16:creationId xmlns:a16="http://schemas.microsoft.com/office/drawing/2014/main" id="{7DBEF7F4-F427-254E-DFA8-6EB506408F4B}"/>
              </a:ext>
            </a:extLst>
          </p:cNvPr>
          <p:cNvSpPr txBox="1"/>
          <p:nvPr/>
        </p:nvSpPr>
        <p:spPr>
          <a:xfrm>
            <a:off x="467728" y="2492911"/>
            <a:ext cx="2233497" cy="461665"/>
          </a:xfrm>
          <a:prstGeom prst="rect">
            <a:avLst/>
          </a:prstGeom>
          <a:noFill/>
        </p:spPr>
        <p:txBody>
          <a:bodyPr wrap="none" rtlCol="0">
            <a:spAutoFit/>
          </a:bodyPr>
          <a:lstStyle/>
          <a:p>
            <a:r>
              <a:rPr lang="en-US" sz="2400" dirty="0"/>
              <a:t>Self-awareness</a:t>
            </a:r>
          </a:p>
        </p:txBody>
      </p:sp>
      <p:pic>
        <p:nvPicPr>
          <p:cNvPr id="26" name="Graphic 25" descr="Books with solid fill">
            <a:extLst>
              <a:ext uri="{FF2B5EF4-FFF2-40B4-BE49-F238E27FC236}">
                <a16:creationId xmlns:a16="http://schemas.microsoft.com/office/drawing/2014/main" id="{C8EB4111-B98B-6B7A-866E-A9D3A84CC0D9}"/>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3306537" y="1736904"/>
            <a:ext cx="807522" cy="807522"/>
          </a:xfrm>
          <a:prstGeom prst="rect">
            <a:avLst/>
          </a:prstGeom>
        </p:spPr>
      </p:pic>
      <p:sp>
        <p:nvSpPr>
          <p:cNvPr id="27" name="TextBox 26">
            <a:extLst>
              <a:ext uri="{FF2B5EF4-FFF2-40B4-BE49-F238E27FC236}">
                <a16:creationId xmlns:a16="http://schemas.microsoft.com/office/drawing/2014/main" id="{AF3BF117-7080-BE16-977D-40B19C9408D3}"/>
              </a:ext>
            </a:extLst>
          </p:cNvPr>
          <p:cNvSpPr txBox="1"/>
          <p:nvPr/>
        </p:nvSpPr>
        <p:spPr>
          <a:xfrm>
            <a:off x="2887150" y="2509298"/>
            <a:ext cx="2281330" cy="461665"/>
          </a:xfrm>
          <a:prstGeom prst="rect">
            <a:avLst/>
          </a:prstGeom>
          <a:noFill/>
        </p:spPr>
        <p:txBody>
          <a:bodyPr wrap="none" rtlCol="0">
            <a:spAutoFit/>
          </a:bodyPr>
          <a:lstStyle/>
          <a:p>
            <a:r>
              <a:rPr lang="en-US" sz="2400" dirty="0"/>
              <a:t>Knowledgeable </a:t>
            </a:r>
          </a:p>
        </p:txBody>
      </p:sp>
      <p:sp>
        <p:nvSpPr>
          <p:cNvPr id="30" name="TextBox 29">
            <a:extLst>
              <a:ext uri="{FF2B5EF4-FFF2-40B4-BE49-F238E27FC236}">
                <a16:creationId xmlns:a16="http://schemas.microsoft.com/office/drawing/2014/main" id="{CF1EDDE5-C96D-A6C2-EFFC-79B545553F1E}"/>
              </a:ext>
            </a:extLst>
          </p:cNvPr>
          <p:cNvSpPr txBox="1"/>
          <p:nvPr/>
        </p:nvSpPr>
        <p:spPr>
          <a:xfrm>
            <a:off x="9900129" y="5967226"/>
            <a:ext cx="2001830" cy="461665"/>
          </a:xfrm>
          <a:prstGeom prst="rect">
            <a:avLst/>
          </a:prstGeom>
          <a:noFill/>
        </p:spPr>
        <p:txBody>
          <a:bodyPr wrap="none" rtlCol="0">
            <a:spAutoFit/>
          </a:bodyPr>
          <a:lstStyle/>
          <a:p>
            <a:r>
              <a:rPr lang="en-US" sz="2400" dirty="0"/>
              <a:t>Collaboration</a:t>
            </a:r>
          </a:p>
        </p:txBody>
      </p:sp>
      <p:pic>
        <p:nvPicPr>
          <p:cNvPr id="31" name="Graphic 30" descr="Cheers with solid fill">
            <a:extLst>
              <a:ext uri="{FF2B5EF4-FFF2-40B4-BE49-F238E27FC236}">
                <a16:creationId xmlns:a16="http://schemas.microsoft.com/office/drawing/2014/main" id="{B958867D-5B0F-4CC5-1F89-A4E5AE27BF5B}"/>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0424694" y="5078254"/>
            <a:ext cx="914400" cy="914400"/>
          </a:xfrm>
          <a:prstGeom prst="rect">
            <a:avLst/>
          </a:prstGeom>
        </p:spPr>
      </p:pic>
      <p:sp>
        <p:nvSpPr>
          <p:cNvPr id="20" name="TextBox 19">
            <a:extLst>
              <a:ext uri="{FF2B5EF4-FFF2-40B4-BE49-F238E27FC236}">
                <a16:creationId xmlns:a16="http://schemas.microsoft.com/office/drawing/2014/main" id="{7DF994DE-A252-157E-4B95-418E7DD7D9E9}"/>
              </a:ext>
            </a:extLst>
          </p:cNvPr>
          <p:cNvSpPr txBox="1"/>
          <p:nvPr/>
        </p:nvSpPr>
        <p:spPr>
          <a:xfrm>
            <a:off x="8075203" y="3732628"/>
            <a:ext cx="3813993" cy="830997"/>
          </a:xfrm>
          <a:prstGeom prst="rect">
            <a:avLst/>
          </a:prstGeom>
          <a:noFill/>
        </p:spPr>
        <p:txBody>
          <a:bodyPr wrap="square" rtlCol="0">
            <a:spAutoFit/>
          </a:bodyPr>
          <a:lstStyle/>
          <a:p>
            <a:r>
              <a:rPr lang="en-US" sz="2400" dirty="0"/>
              <a:t>In the next session we will work on:</a:t>
            </a:r>
            <a:endParaRPr lang="en-US" sz="2400" b="1" dirty="0"/>
          </a:p>
        </p:txBody>
      </p:sp>
      <p:pic>
        <p:nvPicPr>
          <p:cNvPr id="32" name="Graphic 31" descr="Arrow: Slight curve with solid fill">
            <a:extLst>
              <a:ext uri="{FF2B5EF4-FFF2-40B4-BE49-F238E27FC236}">
                <a16:creationId xmlns:a16="http://schemas.microsoft.com/office/drawing/2014/main" id="{BBA75B09-4EB9-D986-0BA8-C9B58CC08859}"/>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rot="1442683">
            <a:off x="5434636" y="4966733"/>
            <a:ext cx="2126525" cy="1712937"/>
          </a:xfrm>
          <a:prstGeom prst="rect">
            <a:avLst/>
          </a:prstGeom>
        </p:spPr>
      </p:pic>
      <p:sp>
        <p:nvSpPr>
          <p:cNvPr id="33" name="TextBox 32">
            <a:extLst>
              <a:ext uri="{FF2B5EF4-FFF2-40B4-BE49-F238E27FC236}">
                <a16:creationId xmlns:a16="http://schemas.microsoft.com/office/drawing/2014/main" id="{21E05D7F-A403-EC34-448D-BA12110BAE43}"/>
              </a:ext>
            </a:extLst>
          </p:cNvPr>
          <p:cNvSpPr txBox="1"/>
          <p:nvPr/>
        </p:nvSpPr>
        <p:spPr>
          <a:xfrm>
            <a:off x="774211" y="4861138"/>
            <a:ext cx="1276568" cy="369332"/>
          </a:xfrm>
          <a:prstGeom prst="rect">
            <a:avLst/>
          </a:prstGeom>
          <a:noFill/>
        </p:spPr>
        <p:txBody>
          <a:bodyPr wrap="none" rtlCol="0">
            <a:spAutoFit/>
          </a:bodyPr>
          <a:lstStyle/>
          <a:p>
            <a:r>
              <a:rPr lang="en-US" dirty="0"/>
              <a:t>Awareness</a:t>
            </a:r>
          </a:p>
        </p:txBody>
      </p:sp>
      <p:sp>
        <p:nvSpPr>
          <p:cNvPr id="34" name="TextBox 33">
            <a:extLst>
              <a:ext uri="{FF2B5EF4-FFF2-40B4-BE49-F238E27FC236}">
                <a16:creationId xmlns:a16="http://schemas.microsoft.com/office/drawing/2014/main" id="{403F7B6F-0BDC-FA9D-AF0A-3365DB784E00}"/>
              </a:ext>
            </a:extLst>
          </p:cNvPr>
          <p:cNvSpPr txBox="1"/>
          <p:nvPr/>
        </p:nvSpPr>
        <p:spPr>
          <a:xfrm>
            <a:off x="2073994" y="4882527"/>
            <a:ext cx="1516056" cy="369332"/>
          </a:xfrm>
          <a:prstGeom prst="rect">
            <a:avLst/>
          </a:prstGeom>
          <a:noFill/>
        </p:spPr>
        <p:txBody>
          <a:bodyPr wrap="none" rtlCol="0">
            <a:spAutoFit/>
          </a:bodyPr>
          <a:lstStyle/>
          <a:p>
            <a:r>
              <a:rPr lang="en-US" dirty="0"/>
              <a:t>Acknowledge</a:t>
            </a:r>
          </a:p>
        </p:txBody>
      </p:sp>
      <p:sp>
        <p:nvSpPr>
          <p:cNvPr id="35" name="TextBox 34">
            <a:extLst>
              <a:ext uri="{FF2B5EF4-FFF2-40B4-BE49-F238E27FC236}">
                <a16:creationId xmlns:a16="http://schemas.microsoft.com/office/drawing/2014/main" id="{5A7A3033-7552-8C0B-8A2A-D693D8A8BC96}"/>
              </a:ext>
            </a:extLst>
          </p:cNvPr>
          <p:cNvSpPr txBox="1"/>
          <p:nvPr/>
        </p:nvSpPr>
        <p:spPr>
          <a:xfrm>
            <a:off x="3904147" y="4882506"/>
            <a:ext cx="909801" cy="369332"/>
          </a:xfrm>
          <a:prstGeom prst="rect">
            <a:avLst/>
          </a:prstGeom>
          <a:noFill/>
        </p:spPr>
        <p:txBody>
          <a:bodyPr wrap="none" rtlCol="0">
            <a:spAutoFit/>
          </a:bodyPr>
          <a:lstStyle/>
          <a:p>
            <a:r>
              <a:rPr lang="en-US" dirty="0"/>
              <a:t>Agency</a:t>
            </a:r>
          </a:p>
        </p:txBody>
      </p:sp>
      <p:sp>
        <p:nvSpPr>
          <p:cNvPr id="36" name="TextBox 35">
            <a:extLst>
              <a:ext uri="{FF2B5EF4-FFF2-40B4-BE49-F238E27FC236}">
                <a16:creationId xmlns:a16="http://schemas.microsoft.com/office/drawing/2014/main" id="{CD43927C-481D-5B01-6C2E-B833C6DD4CC7}"/>
              </a:ext>
            </a:extLst>
          </p:cNvPr>
          <p:cNvSpPr txBox="1"/>
          <p:nvPr/>
        </p:nvSpPr>
        <p:spPr>
          <a:xfrm>
            <a:off x="5289033" y="4921975"/>
            <a:ext cx="825867" cy="369332"/>
          </a:xfrm>
          <a:prstGeom prst="rect">
            <a:avLst/>
          </a:prstGeom>
          <a:noFill/>
        </p:spPr>
        <p:txBody>
          <a:bodyPr wrap="none" rtlCol="0">
            <a:spAutoFit/>
          </a:bodyPr>
          <a:lstStyle/>
          <a:p>
            <a:r>
              <a:rPr lang="en-US" dirty="0"/>
              <a:t>Action</a:t>
            </a:r>
          </a:p>
        </p:txBody>
      </p:sp>
      <p:sp>
        <p:nvSpPr>
          <p:cNvPr id="37" name="TextBox 36">
            <a:extLst>
              <a:ext uri="{FF2B5EF4-FFF2-40B4-BE49-F238E27FC236}">
                <a16:creationId xmlns:a16="http://schemas.microsoft.com/office/drawing/2014/main" id="{4B6B16FC-ABD1-A40E-6A72-9609FE0544E3}"/>
              </a:ext>
            </a:extLst>
          </p:cNvPr>
          <p:cNvSpPr txBox="1"/>
          <p:nvPr/>
        </p:nvSpPr>
        <p:spPr>
          <a:xfrm>
            <a:off x="6793668" y="4893588"/>
            <a:ext cx="894732" cy="369332"/>
          </a:xfrm>
          <a:prstGeom prst="rect">
            <a:avLst/>
          </a:prstGeom>
          <a:noFill/>
        </p:spPr>
        <p:txBody>
          <a:bodyPr wrap="none" rtlCol="0">
            <a:spAutoFit/>
          </a:bodyPr>
          <a:lstStyle/>
          <a:p>
            <a:r>
              <a:rPr lang="en-US" dirty="0"/>
              <a:t>Assess</a:t>
            </a:r>
          </a:p>
        </p:txBody>
      </p:sp>
      <p:sp>
        <p:nvSpPr>
          <p:cNvPr id="28" name="TextBox 27">
            <a:extLst>
              <a:ext uri="{FF2B5EF4-FFF2-40B4-BE49-F238E27FC236}">
                <a16:creationId xmlns:a16="http://schemas.microsoft.com/office/drawing/2014/main" id="{33537394-4135-AD87-95C2-09795E130814}"/>
              </a:ext>
            </a:extLst>
          </p:cNvPr>
          <p:cNvSpPr txBox="1"/>
          <p:nvPr/>
        </p:nvSpPr>
        <p:spPr>
          <a:xfrm>
            <a:off x="210851" y="5724390"/>
            <a:ext cx="4631546" cy="707886"/>
          </a:xfrm>
          <a:prstGeom prst="rect">
            <a:avLst/>
          </a:prstGeom>
          <a:solidFill>
            <a:schemeClr val="bg1">
              <a:lumMod val="75000"/>
              <a:alpha val="21259"/>
            </a:schemeClr>
          </a:solidFill>
        </p:spPr>
        <p:txBody>
          <a:bodyPr wrap="square" rtlCol="0">
            <a:spAutoFit/>
          </a:bodyPr>
          <a:lstStyle/>
          <a:p>
            <a:r>
              <a:rPr lang="en-US" sz="2000" b="1" dirty="0"/>
              <a:t>Next session:</a:t>
            </a:r>
          </a:p>
          <a:p>
            <a:r>
              <a:rPr lang="en-US" sz="2000" dirty="0"/>
              <a:t>Strategies in leadership: access </a:t>
            </a:r>
            <a:r>
              <a:rPr lang="en-US" sz="2000" dirty="0">
                <a:hlinkClick r:id="rId15"/>
              </a:rPr>
              <a:t>here</a:t>
            </a:r>
            <a:endParaRPr lang="en-US" sz="2000" dirty="0"/>
          </a:p>
        </p:txBody>
      </p:sp>
    </p:spTree>
    <p:extLst>
      <p:ext uri="{BB962C8B-B14F-4D97-AF65-F5344CB8AC3E}">
        <p14:creationId xmlns:p14="http://schemas.microsoft.com/office/powerpoint/2010/main" val="177425120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4BC202AE-11CE-4F8E-0025-83A831E57C1E}"/>
              </a:ext>
            </a:extLst>
          </p:cNvPr>
          <p:cNvGrpSpPr/>
          <p:nvPr/>
        </p:nvGrpSpPr>
        <p:grpSpPr>
          <a:xfrm>
            <a:off x="10704849" y="6564312"/>
            <a:ext cx="1362075" cy="273690"/>
            <a:chOff x="19317" y="2690018"/>
            <a:chExt cx="11784755" cy="2025180"/>
          </a:xfrm>
        </p:grpSpPr>
        <p:pic>
          <p:nvPicPr>
            <p:cNvPr id="6" name="Picture 2">
              <a:extLst>
                <a:ext uri="{FF2B5EF4-FFF2-40B4-BE49-F238E27FC236}">
                  <a16:creationId xmlns:a16="http://schemas.microsoft.com/office/drawing/2014/main" id="{17E22C63-5DFE-4611-541D-30E2B7E664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8203AD56-3D05-8F59-B3A1-0047CF97EA78}"/>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4" name="Slide Number Placeholder 3">
            <a:extLst>
              <a:ext uri="{FF2B5EF4-FFF2-40B4-BE49-F238E27FC236}">
                <a16:creationId xmlns:a16="http://schemas.microsoft.com/office/drawing/2014/main" id="{D698C523-3BC3-5668-67C8-6AD05AC8F092}"/>
              </a:ext>
            </a:extLst>
          </p:cNvPr>
          <p:cNvSpPr>
            <a:spLocks noGrp="1"/>
          </p:cNvSpPr>
          <p:nvPr>
            <p:ph type="sldNum" sz="quarter" idx="12"/>
          </p:nvPr>
        </p:nvSpPr>
        <p:spPr/>
        <p:txBody>
          <a:bodyPr/>
          <a:lstStyle/>
          <a:p>
            <a:fld id="{DC6309F4-03C8-4D48-A124-A9AD6E083FAC}" type="slidenum">
              <a:rPr lang="en-US" smtClean="0"/>
              <a:t>60</a:t>
            </a:fld>
            <a:endParaRPr lang="en-US"/>
          </a:p>
        </p:txBody>
      </p:sp>
      <p:pic>
        <p:nvPicPr>
          <p:cNvPr id="11" name="Picture 10">
            <a:extLst>
              <a:ext uri="{FF2B5EF4-FFF2-40B4-BE49-F238E27FC236}">
                <a16:creationId xmlns:a16="http://schemas.microsoft.com/office/drawing/2014/main" id="{FECBF51F-B339-88EC-397F-0450BDC36DEE}"/>
              </a:ext>
            </a:extLst>
          </p:cNvPr>
          <p:cNvPicPr>
            <a:picLocks noChangeAspect="1"/>
          </p:cNvPicPr>
          <p:nvPr/>
        </p:nvPicPr>
        <p:blipFill>
          <a:blip r:embed="rId5"/>
          <a:stretch>
            <a:fillRect/>
          </a:stretch>
        </p:blipFill>
        <p:spPr>
          <a:xfrm>
            <a:off x="353066" y="136525"/>
            <a:ext cx="11361813" cy="6334581"/>
          </a:xfrm>
          <a:prstGeom prst="rect">
            <a:avLst/>
          </a:prstGeom>
        </p:spPr>
      </p:pic>
    </p:spTree>
    <p:extLst>
      <p:ext uri="{BB962C8B-B14F-4D97-AF65-F5344CB8AC3E}">
        <p14:creationId xmlns:p14="http://schemas.microsoft.com/office/powerpoint/2010/main" val="370322084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9FF9C-7852-FFAE-9DFB-83577B573CAF}"/>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D414931A-0E10-9B8D-37D7-A9FBB8CC7541}"/>
              </a:ext>
            </a:extLst>
          </p:cNvPr>
          <p:cNvGrpSpPr/>
          <p:nvPr/>
        </p:nvGrpSpPr>
        <p:grpSpPr>
          <a:xfrm>
            <a:off x="10704849" y="6564312"/>
            <a:ext cx="1362075" cy="273690"/>
            <a:chOff x="19317" y="2690018"/>
            <a:chExt cx="11784755" cy="2025180"/>
          </a:xfrm>
        </p:grpSpPr>
        <p:pic>
          <p:nvPicPr>
            <p:cNvPr id="6" name="Picture 2">
              <a:extLst>
                <a:ext uri="{FF2B5EF4-FFF2-40B4-BE49-F238E27FC236}">
                  <a16:creationId xmlns:a16="http://schemas.microsoft.com/office/drawing/2014/main" id="{3D795128-7345-25AD-2764-4A34D5A5F3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FBAA9AD5-98EB-0C53-F3E4-1A5064513ACD}"/>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8" name="Title 1">
            <a:extLst>
              <a:ext uri="{FF2B5EF4-FFF2-40B4-BE49-F238E27FC236}">
                <a16:creationId xmlns:a16="http://schemas.microsoft.com/office/drawing/2014/main" id="{AC0ADB21-AD84-D9EA-561E-2FDC3136F1E6}"/>
              </a:ext>
            </a:extLst>
          </p:cNvPr>
          <p:cNvSpPr txBox="1">
            <a:spLocks/>
          </p:cNvSpPr>
          <p:nvPr/>
        </p:nvSpPr>
        <p:spPr>
          <a:xfrm>
            <a:off x="0" y="1"/>
            <a:ext cx="12192000" cy="830998"/>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Survey</a:t>
            </a:r>
          </a:p>
        </p:txBody>
      </p:sp>
      <p:sp>
        <p:nvSpPr>
          <p:cNvPr id="9" name="Slide Number Placeholder 1">
            <a:extLst>
              <a:ext uri="{FF2B5EF4-FFF2-40B4-BE49-F238E27FC236}">
                <a16:creationId xmlns:a16="http://schemas.microsoft.com/office/drawing/2014/main" id="{B64D38C4-D7EE-FE04-40F2-B4F3D90AE9CE}"/>
              </a:ext>
            </a:extLst>
          </p:cNvPr>
          <p:cNvSpPr>
            <a:spLocks noGrp="1"/>
          </p:cNvSpPr>
          <p:nvPr>
            <p:ph type="sldNum" sz="quarter" idx="12"/>
          </p:nvPr>
        </p:nvSpPr>
        <p:spPr>
          <a:xfrm>
            <a:off x="8610600" y="6356350"/>
            <a:ext cx="2743200" cy="365125"/>
          </a:xfrm>
        </p:spPr>
        <p:txBody>
          <a:bodyPr/>
          <a:lstStyle/>
          <a:p>
            <a:fld id="{D292B180-B274-DE43-B36F-C827C7616C05}" type="slidenum">
              <a:rPr lang="en-US" smtClean="0"/>
              <a:t>61</a:t>
            </a:fld>
            <a:endParaRPr lang="en-US"/>
          </a:p>
        </p:txBody>
      </p:sp>
      <p:sp>
        <p:nvSpPr>
          <p:cNvPr id="11" name="TextBox 10">
            <a:extLst>
              <a:ext uri="{FF2B5EF4-FFF2-40B4-BE49-F238E27FC236}">
                <a16:creationId xmlns:a16="http://schemas.microsoft.com/office/drawing/2014/main" id="{72E8F6CD-2EAE-AA77-95F7-1585816877ED}"/>
              </a:ext>
            </a:extLst>
          </p:cNvPr>
          <p:cNvSpPr txBox="1"/>
          <p:nvPr/>
        </p:nvSpPr>
        <p:spPr>
          <a:xfrm>
            <a:off x="699053" y="3546074"/>
            <a:ext cx="10459279" cy="830997"/>
          </a:xfrm>
          <a:prstGeom prst="rect">
            <a:avLst/>
          </a:prstGeom>
          <a:noFill/>
        </p:spPr>
        <p:txBody>
          <a:bodyPr wrap="square">
            <a:spAutoFit/>
          </a:bodyPr>
          <a:lstStyle/>
          <a:p>
            <a:r>
              <a:rPr lang="en-US" sz="2400" dirty="0"/>
              <a:t>2. identify which Open Science challenges are within my sphere of influence/control to address? </a:t>
            </a:r>
          </a:p>
        </p:txBody>
      </p:sp>
      <p:sp>
        <p:nvSpPr>
          <p:cNvPr id="12" name="TextBox 11">
            <a:extLst>
              <a:ext uri="{FF2B5EF4-FFF2-40B4-BE49-F238E27FC236}">
                <a16:creationId xmlns:a16="http://schemas.microsoft.com/office/drawing/2014/main" id="{5EEE5848-2949-DA0A-3773-8E19D56DD38D}"/>
              </a:ext>
            </a:extLst>
          </p:cNvPr>
          <p:cNvSpPr txBox="1"/>
          <p:nvPr/>
        </p:nvSpPr>
        <p:spPr>
          <a:xfrm>
            <a:off x="699053" y="2441736"/>
            <a:ext cx="5386090" cy="830997"/>
          </a:xfrm>
          <a:prstGeom prst="rect">
            <a:avLst/>
          </a:prstGeom>
          <a:noFill/>
        </p:spPr>
        <p:txBody>
          <a:bodyPr wrap="none" rtlCol="0">
            <a:spAutoFit/>
          </a:bodyPr>
          <a:lstStyle/>
          <a:p>
            <a:r>
              <a:rPr lang="en-US" sz="2400" dirty="0"/>
              <a:t>How confident are you in your ability to:</a:t>
            </a:r>
          </a:p>
          <a:p>
            <a:r>
              <a:rPr lang="en-US" sz="2400" dirty="0"/>
              <a:t> </a:t>
            </a:r>
          </a:p>
        </p:txBody>
      </p:sp>
      <p:sp>
        <p:nvSpPr>
          <p:cNvPr id="13" name="TextBox 12">
            <a:extLst>
              <a:ext uri="{FF2B5EF4-FFF2-40B4-BE49-F238E27FC236}">
                <a16:creationId xmlns:a16="http://schemas.microsoft.com/office/drawing/2014/main" id="{08D64B3B-8A27-0307-2D44-B1DFC3FF814F}"/>
              </a:ext>
            </a:extLst>
          </p:cNvPr>
          <p:cNvSpPr txBox="1"/>
          <p:nvPr/>
        </p:nvSpPr>
        <p:spPr>
          <a:xfrm>
            <a:off x="699053" y="2903401"/>
            <a:ext cx="9165009" cy="369332"/>
          </a:xfrm>
          <a:prstGeom prst="rect">
            <a:avLst/>
          </a:prstGeom>
          <a:noFill/>
        </p:spPr>
        <p:txBody>
          <a:bodyPr wrap="none" rtlCol="0">
            <a:spAutoFit/>
          </a:bodyPr>
          <a:lstStyle/>
          <a:p>
            <a:r>
              <a:rPr lang="en-US" i="1" dirty="0"/>
              <a:t>0 = not confident at all, 1 = mostly not confident, 2 = somewhat confident, 3 = very confident</a:t>
            </a:r>
          </a:p>
        </p:txBody>
      </p:sp>
      <p:sp>
        <p:nvSpPr>
          <p:cNvPr id="15" name="TextBox 14">
            <a:extLst>
              <a:ext uri="{FF2B5EF4-FFF2-40B4-BE49-F238E27FC236}">
                <a16:creationId xmlns:a16="http://schemas.microsoft.com/office/drawing/2014/main" id="{33515272-B4DD-DE43-329C-039367D9AC28}"/>
              </a:ext>
            </a:extLst>
          </p:cNvPr>
          <p:cNvSpPr txBox="1"/>
          <p:nvPr/>
        </p:nvSpPr>
        <p:spPr>
          <a:xfrm>
            <a:off x="699053" y="1104340"/>
            <a:ext cx="8564217" cy="830997"/>
          </a:xfrm>
          <a:prstGeom prst="rect">
            <a:avLst/>
          </a:prstGeom>
          <a:noFill/>
        </p:spPr>
        <p:txBody>
          <a:bodyPr wrap="square">
            <a:spAutoFit/>
          </a:bodyPr>
          <a:lstStyle/>
          <a:p>
            <a:r>
              <a:rPr lang="en-GB" sz="2400" i="0" u="none" strike="noStrike" dirty="0">
                <a:solidFill>
                  <a:schemeClr val="tx1"/>
                </a:solidFill>
                <a:effectLst/>
                <a:latin typeface="+mn-lt"/>
              </a:rPr>
              <a:t>1. What is a particular challenge you have when it comes to adopting Open Science practices?</a:t>
            </a:r>
            <a:endParaRPr lang="en-US" sz="2400" dirty="0"/>
          </a:p>
        </p:txBody>
      </p:sp>
    </p:spTree>
    <p:extLst>
      <p:ext uri="{BB962C8B-B14F-4D97-AF65-F5344CB8AC3E}">
        <p14:creationId xmlns:p14="http://schemas.microsoft.com/office/powerpoint/2010/main" val="343234511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4CC7C-B7CD-99D9-4915-4CCDCBC0697D}"/>
            </a:ext>
          </a:extLst>
        </p:cNvPr>
        <p:cNvGrpSpPr/>
        <p:nvPr/>
      </p:nvGrpSpPr>
      <p:grpSpPr>
        <a:xfrm>
          <a:off x="0" y="0"/>
          <a:ext cx="0" cy="0"/>
          <a:chOff x="0" y="0"/>
          <a:chExt cx="0" cy="0"/>
        </a:xfrm>
      </p:grpSpPr>
      <p:grpSp>
        <p:nvGrpSpPr>
          <p:cNvPr id="13" name="Group 12">
            <a:extLst>
              <a:ext uri="{FF2B5EF4-FFF2-40B4-BE49-F238E27FC236}">
                <a16:creationId xmlns:a16="http://schemas.microsoft.com/office/drawing/2014/main" id="{E16D4F22-9FBE-A0C0-4779-212D8E48E870}"/>
              </a:ext>
            </a:extLst>
          </p:cNvPr>
          <p:cNvGrpSpPr/>
          <p:nvPr/>
        </p:nvGrpSpPr>
        <p:grpSpPr>
          <a:xfrm>
            <a:off x="10704849" y="6564312"/>
            <a:ext cx="1362075" cy="273690"/>
            <a:chOff x="19317" y="2690018"/>
            <a:chExt cx="11784755" cy="2025180"/>
          </a:xfrm>
        </p:grpSpPr>
        <p:pic>
          <p:nvPicPr>
            <p:cNvPr id="14" name="Picture 13">
              <a:extLst>
                <a:ext uri="{FF2B5EF4-FFF2-40B4-BE49-F238E27FC236}">
                  <a16:creationId xmlns:a16="http://schemas.microsoft.com/office/drawing/2014/main" id="{53F8E2E0-9BB8-F139-C04D-0BC0E6911F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FCBA12C2-CDE3-2439-FA95-8A5820B844DE}"/>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2" name="Title 1">
            <a:extLst>
              <a:ext uri="{FF2B5EF4-FFF2-40B4-BE49-F238E27FC236}">
                <a16:creationId xmlns:a16="http://schemas.microsoft.com/office/drawing/2014/main" id="{E1E09616-0710-1DAB-241D-7F25A8C9BC7D}"/>
              </a:ext>
            </a:extLst>
          </p:cNvPr>
          <p:cNvSpPr>
            <a:spLocks noGrp="1"/>
          </p:cNvSpPr>
          <p:nvPr>
            <p:ph type="title"/>
          </p:nvPr>
        </p:nvSpPr>
        <p:spPr>
          <a:xfrm>
            <a:off x="0" y="-3059"/>
            <a:ext cx="12192000" cy="1025036"/>
          </a:xfrm>
        </p:spPr>
        <p:txBody>
          <a:bodyPr>
            <a:normAutofit/>
          </a:bodyPr>
          <a:lstStyle/>
          <a:p>
            <a:r>
              <a:rPr lang="en-US" b="1" dirty="0"/>
              <a:t>Questions</a:t>
            </a:r>
          </a:p>
        </p:txBody>
      </p:sp>
      <p:sp>
        <p:nvSpPr>
          <p:cNvPr id="4" name="Slide Number Placeholder 3">
            <a:extLst>
              <a:ext uri="{FF2B5EF4-FFF2-40B4-BE49-F238E27FC236}">
                <a16:creationId xmlns:a16="http://schemas.microsoft.com/office/drawing/2014/main" id="{68C45F41-76B2-42F4-253C-47F9C3735A83}"/>
              </a:ext>
            </a:extLst>
          </p:cNvPr>
          <p:cNvSpPr>
            <a:spLocks noGrp="1"/>
          </p:cNvSpPr>
          <p:nvPr>
            <p:ph type="sldNum" sz="quarter" idx="12"/>
          </p:nvPr>
        </p:nvSpPr>
        <p:spPr/>
        <p:txBody>
          <a:bodyPr/>
          <a:lstStyle/>
          <a:p>
            <a:fld id="{01E105D4-D357-B14D-804D-1EE3D58285EA}" type="slidenum">
              <a:rPr lang="en-US" smtClean="0"/>
              <a:t>62</a:t>
            </a:fld>
            <a:endParaRPr lang="en-US"/>
          </a:p>
        </p:txBody>
      </p:sp>
    </p:spTree>
    <p:extLst>
      <p:ext uri="{BB962C8B-B14F-4D97-AF65-F5344CB8AC3E}">
        <p14:creationId xmlns:p14="http://schemas.microsoft.com/office/powerpoint/2010/main" val="309796054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96532-5112-7EE6-60BA-22DE1890DD16}"/>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1F657B58-D3B3-1783-3557-D8567348099B}"/>
              </a:ext>
            </a:extLst>
          </p:cNvPr>
          <p:cNvGrpSpPr/>
          <p:nvPr/>
        </p:nvGrpSpPr>
        <p:grpSpPr>
          <a:xfrm>
            <a:off x="10704849" y="6564312"/>
            <a:ext cx="1362075" cy="273690"/>
            <a:chOff x="19317" y="2690018"/>
            <a:chExt cx="11784755" cy="2025180"/>
          </a:xfrm>
        </p:grpSpPr>
        <p:pic>
          <p:nvPicPr>
            <p:cNvPr id="7" name="Picture 2">
              <a:extLst>
                <a:ext uri="{FF2B5EF4-FFF2-40B4-BE49-F238E27FC236}">
                  <a16:creationId xmlns:a16="http://schemas.microsoft.com/office/drawing/2014/main" id="{DB7AC062-A284-AD7C-DB2E-06F8AF373D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58A1A974-FFC6-E6B2-2548-3D8FFA05A3B0}"/>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15" name="Title 1">
            <a:extLst>
              <a:ext uri="{FF2B5EF4-FFF2-40B4-BE49-F238E27FC236}">
                <a16:creationId xmlns:a16="http://schemas.microsoft.com/office/drawing/2014/main" id="{56770A85-1241-BE18-DE84-153679E17A1D}"/>
              </a:ext>
            </a:extLst>
          </p:cNvPr>
          <p:cNvSpPr txBox="1">
            <a:spLocks/>
          </p:cNvSpPr>
          <p:nvPr/>
        </p:nvSpPr>
        <p:spPr>
          <a:xfrm>
            <a:off x="0" y="0"/>
            <a:ext cx="121920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Contribution statement</a:t>
            </a:r>
          </a:p>
        </p:txBody>
      </p:sp>
      <p:sp>
        <p:nvSpPr>
          <p:cNvPr id="2" name="Slide Number Placeholder 1">
            <a:extLst>
              <a:ext uri="{FF2B5EF4-FFF2-40B4-BE49-F238E27FC236}">
                <a16:creationId xmlns:a16="http://schemas.microsoft.com/office/drawing/2014/main" id="{88A7F22A-791C-9EF1-D703-B38DAA3FC2ED}"/>
              </a:ext>
            </a:extLst>
          </p:cNvPr>
          <p:cNvSpPr>
            <a:spLocks noGrp="1"/>
          </p:cNvSpPr>
          <p:nvPr>
            <p:ph type="sldNum" sz="quarter" idx="12"/>
          </p:nvPr>
        </p:nvSpPr>
        <p:spPr/>
        <p:txBody>
          <a:bodyPr/>
          <a:lstStyle/>
          <a:p>
            <a:fld id="{D292B180-B274-DE43-B36F-C827C7616C05}" type="slidenum">
              <a:rPr lang="en-US" smtClean="0"/>
              <a:t>63</a:t>
            </a:fld>
            <a:endParaRPr lang="en-US"/>
          </a:p>
        </p:txBody>
      </p:sp>
      <p:sp>
        <p:nvSpPr>
          <p:cNvPr id="5" name="TextBox 4">
            <a:extLst>
              <a:ext uri="{FF2B5EF4-FFF2-40B4-BE49-F238E27FC236}">
                <a16:creationId xmlns:a16="http://schemas.microsoft.com/office/drawing/2014/main" id="{92EA5BCF-D994-6E35-8717-B22BDCEADA9F}"/>
              </a:ext>
            </a:extLst>
          </p:cNvPr>
          <p:cNvSpPr txBox="1"/>
          <p:nvPr/>
        </p:nvSpPr>
        <p:spPr>
          <a:xfrm>
            <a:off x="190460" y="1859340"/>
            <a:ext cx="8420140" cy="1200329"/>
          </a:xfrm>
          <a:prstGeom prst="rect">
            <a:avLst/>
          </a:prstGeom>
          <a:noFill/>
        </p:spPr>
        <p:txBody>
          <a:bodyPr wrap="square">
            <a:spAutoFit/>
          </a:bodyPr>
          <a:lstStyle/>
          <a:p>
            <a:r>
              <a:rPr lang="en-GB" sz="2400" b="1" i="0" u="none" strike="noStrike" dirty="0">
                <a:solidFill>
                  <a:srgbClr val="000000"/>
                </a:solidFill>
                <a:effectLst/>
              </a:rPr>
              <a:t>Creator: </a:t>
            </a:r>
            <a:r>
              <a:rPr lang="en-GB" sz="2400" dirty="0">
                <a:solidFill>
                  <a:srgbClr val="000000"/>
                </a:solidFill>
              </a:rPr>
              <a:t>Middleton, Sara Lil </a:t>
            </a:r>
            <a:r>
              <a:rPr lang="en-GB" sz="2400" dirty="0"/>
              <a:t>(      </a:t>
            </a:r>
            <a:r>
              <a:rPr lang="en-GB" sz="2400" dirty="0">
                <a:hlinkClick r:id="rId5"/>
              </a:rPr>
              <a:t>0000-0001-5307-8029</a:t>
            </a:r>
            <a:r>
              <a:rPr lang="en-GB" sz="2400" dirty="0"/>
              <a:t>)</a:t>
            </a:r>
          </a:p>
          <a:p>
            <a:r>
              <a:rPr lang="en-GB" sz="2400" b="1" dirty="0"/>
              <a:t>Reviewer:</a:t>
            </a:r>
            <a:r>
              <a:rPr lang="en-GB" sz="2400" dirty="0"/>
              <a:t> Verheyen, Steven (      </a:t>
            </a:r>
            <a:r>
              <a:rPr lang="en-GB" sz="2400" dirty="0">
                <a:hlinkClick r:id="rId6"/>
              </a:rPr>
              <a:t>0000-0002-6778-6744</a:t>
            </a:r>
            <a:r>
              <a:rPr lang="en-GB" sz="2400" dirty="0"/>
              <a:t>),</a:t>
            </a:r>
          </a:p>
          <a:p>
            <a:r>
              <a:rPr lang="en-GB" sz="2400" dirty="0"/>
              <a:t> von </a:t>
            </a:r>
            <a:r>
              <a:rPr lang="en-GB" sz="2400" dirty="0" err="1"/>
              <a:t>Grebmer</a:t>
            </a:r>
            <a:r>
              <a:rPr lang="en-GB" sz="2400" dirty="0"/>
              <a:t> </a:t>
            </a:r>
            <a:r>
              <a:rPr lang="en-GB" sz="2400" dirty="0" err="1"/>
              <a:t>zu</a:t>
            </a:r>
            <a:r>
              <a:rPr lang="en-GB" sz="2400" dirty="0"/>
              <a:t> </a:t>
            </a:r>
            <a:r>
              <a:rPr lang="en-GB" sz="2400" dirty="0" err="1"/>
              <a:t>Wolfsthurn</a:t>
            </a:r>
            <a:r>
              <a:rPr lang="en-GB" sz="2400" dirty="0"/>
              <a:t>, Sarah (      </a:t>
            </a:r>
            <a:r>
              <a:rPr lang="en-GB" sz="2400" dirty="0">
                <a:hlinkClick r:id="rId7"/>
              </a:rPr>
              <a:t>0000-0002-6413-3895</a:t>
            </a:r>
            <a:r>
              <a:rPr lang="en-GB" sz="2400" dirty="0"/>
              <a:t>)</a:t>
            </a:r>
          </a:p>
        </p:txBody>
      </p:sp>
      <p:pic>
        <p:nvPicPr>
          <p:cNvPr id="4" name="Picture 3" descr="orcid logo">
            <a:extLst>
              <a:ext uri="{FF2B5EF4-FFF2-40B4-BE49-F238E27FC236}">
                <a16:creationId xmlns:a16="http://schemas.microsoft.com/office/drawing/2014/main" id="{D42C5C4C-AD1B-1C14-4CA3-22F18CCD461E}"/>
              </a:ext>
            </a:extLst>
          </p:cNvPr>
          <p:cNvPicPr>
            <a:picLocks noChangeAspect="1"/>
          </p:cNvPicPr>
          <p:nvPr/>
        </p:nvPicPr>
        <p:blipFill>
          <a:blip r:embed="rId8"/>
          <a:stretch>
            <a:fillRect/>
          </a:stretch>
        </p:blipFill>
        <p:spPr>
          <a:xfrm>
            <a:off x="4078060" y="1938852"/>
            <a:ext cx="322470" cy="322470"/>
          </a:xfrm>
          <a:prstGeom prst="rect">
            <a:avLst/>
          </a:prstGeom>
        </p:spPr>
      </p:pic>
      <p:pic>
        <p:nvPicPr>
          <p:cNvPr id="9" name="Picture 8" descr="orcid logo">
            <a:extLst>
              <a:ext uri="{FF2B5EF4-FFF2-40B4-BE49-F238E27FC236}">
                <a16:creationId xmlns:a16="http://schemas.microsoft.com/office/drawing/2014/main" id="{03D15B71-6DED-A5DB-552B-4A32F7CB2C34}"/>
              </a:ext>
            </a:extLst>
          </p:cNvPr>
          <p:cNvPicPr>
            <a:picLocks noChangeAspect="1"/>
          </p:cNvPicPr>
          <p:nvPr/>
        </p:nvPicPr>
        <p:blipFill>
          <a:blip r:embed="rId8"/>
          <a:stretch>
            <a:fillRect/>
          </a:stretch>
        </p:blipFill>
        <p:spPr>
          <a:xfrm>
            <a:off x="5015355" y="2644170"/>
            <a:ext cx="322470" cy="322470"/>
          </a:xfrm>
          <a:prstGeom prst="rect">
            <a:avLst/>
          </a:prstGeom>
        </p:spPr>
      </p:pic>
      <p:pic>
        <p:nvPicPr>
          <p:cNvPr id="10" name="Picture 9" descr="orcid logo">
            <a:extLst>
              <a:ext uri="{FF2B5EF4-FFF2-40B4-BE49-F238E27FC236}">
                <a16:creationId xmlns:a16="http://schemas.microsoft.com/office/drawing/2014/main" id="{45D3BC8F-C731-177F-7E65-47704F5B5EF8}"/>
              </a:ext>
            </a:extLst>
          </p:cNvPr>
          <p:cNvPicPr>
            <a:picLocks noChangeAspect="1"/>
          </p:cNvPicPr>
          <p:nvPr/>
        </p:nvPicPr>
        <p:blipFill>
          <a:blip r:embed="rId8"/>
          <a:stretch>
            <a:fillRect/>
          </a:stretch>
        </p:blipFill>
        <p:spPr>
          <a:xfrm>
            <a:off x="4101763" y="2305533"/>
            <a:ext cx="322470" cy="322470"/>
          </a:xfrm>
          <a:prstGeom prst="rect">
            <a:avLst/>
          </a:prstGeom>
        </p:spPr>
      </p:pic>
      <p:sp>
        <p:nvSpPr>
          <p:cNvPr id="8" name="TextBox 7">
            <a:extLst>
              <a:ext uri="{FF2B5EF4-FFF2-40B4-BE49-F238E27FC236}">
                <a16:creationId xmlns:a16="http://schemas.microsoft.com/office/drawing/2014/main" id="{B695C40E-8046-7636-D2D1-B496FCCB597A}"/>
              </a:ext>
            </a:extLst>
          </p:cNvPr>
          <p:cNvSpPr txBox="1"/>
          <p:nvPr/>
        </p:nvSpPr>
        <p:spPr>
          <a:xfrm>
            <a:off x="190460" y="3475166"/>
            <a:ext cx="9633764" cy="1200329"/>
          </a:xfrm>
          <a:prstGeom prst="rect">
            <a:avLst/>
          </a:prstGeom>
          <a:noFill/>
        </p:spPr>
        <p:txBody>
          <a:bodyPr wrap="square">
            <a:spAutoFit/>
          </a:bodyPr>
          <a:lstStyle/>
          <a:p>
            <a:r>
              <a:rPr lang="en-GB" sz="2400" b="1" dirty="0"/>
              <a:t>Acknowledgements</a:t>
            </a:r>
            <a:r>
              <a:rPr lang="en-GB" sz="2400" dirty="0"/>
              <a:t>:</a:t>
            </a:r>
          </a:p>
          <a:p>
            <a:r>
              <a:rPr lang="en-US" sz="2400" b="1" dirty="0"/>
              <a:t>Sharing leadership expertise:</a:t>
            </a:r>
          </a:p>
          <a:p>
            <a:r>
              <a:rPr lang="en-GB" sz="2400" dirty="0"/>
              <a:t>Richard </a:t>
            </a:r>
            <a:r>
              <a:rPr lang="en-GB" sz="2400" dirty="0" err="1"/>
              <a:t>Dushime</a:t>
            </a:r>
            <a:r>
              <a:rPr lang="en-GB" sz="2400" dirty="0"/>
              <a:t> </a:t>
            </a:r>
            <a:r>
              <a:rPr lang="en-GB" sz="2400" dirty="0" err="1"/>
              <a:t>Mudahera</a:t>
            </a:r>
            <a:r>
              <a:rPr lang="en-GB" sz="2400" dirty="0"/>
              <a:t>, Brian Nosek</a:t>
            </a:r>
            <a:endParaRPr lang="en-US" sz="2400" dirty="0"/>
          </a:p>
        </p:txBody>
      </p:sp>
    </p:spTree>
    <p:extLst>
      <p:ext uri="{BB962C8B-B14F-4D97-AF65-F5344CB8AC3E}">
        <p14:creationId xmlns:p14="http://schemas.microsoft.com/office/powerpoint/2010/main" val="181448835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AFA96-CED9-BA09-F9C0-CCF753970DF5}"/>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740470B7-9A19-B313-E4C7-2598A46CDC7B}"/>
              </a:ext>
            </a:extLst>
          </p:cNvPr>
          <p:cNvGrpSpPr/>
          <p:nvPr/>
        </p:nvGrpSpPr>
        <p:grpSpPr>
          <a:xfrm>
            <a:off x="10704849" y="6564312"/>
            <a:ext cx="1362075" cy="273690"/>
            <a:chOff x="19317" y="2690018"/>
            <a:chExt cx="11784755" cy="2025180"/>
          </a:xfrm>
        </p:grpSpPr>
        <p:pic>
          <p:nvPicPr>
            <p:cNvPr id="7" name="Picture 2">
              <a:extLst>
                <a:ext uri="{FF2B5EF4-FFF2-40B4-BE49-F238E27FC236}">
                  <a16:creationId xmlns:a16="http://schemas.microsoft.com/office/drawing/2014/main" id="{37A66174-7F85-7D2C-A194-D5DF41B624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8EAAA4A6-CA4C-DCE0-698A-E63CE69ED5A7}"/>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15" name="Title 1">
            <a:extLst>
              <a:ext uri="{FF2B5EF4-FFF2-40B4-BE49-F238E27FC236}">
                <a16:creationId xmlns:a16="http://schemas.microsoft.com/office/drawing/2014/main" id="{3FD3F697-889F-7091-1505-A39A3F2A988F}"/>
              </a:ext>
            </a:extLst>
          </p:cNvPr>
          <p:cNvSpPr txBox="1">
            <a:spLocks/>
          </p:cNvSpPr>
          <p:nvPr/>
        </p:nvSpPr>
        <p:spPr>
          <a:xfrm>
            <a:off x="0" y="0"/>
            <a:ext cx="12192000" cy="981091"/>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License and citation statement</a:t>
            </a:r>
          </a:p>
        </p:txBody>
      </p:sp>
      <p:sp>
        <p:nvSpPr>
          <p:cNvPr id="2" name="Slide Number Placeholder 1">
            <a:extLst>
              <a:ext uri="{FF2B5EF4-FFF2-40B4-BE49-F238E27FC236}">
                <a16:creationId xmlns:a16="http://schemas.microsoft.com/office/drawing/2014/main" id="{731AE89B-2271-D166-B69F-29F451834D5B}"/>
              </a:ext>
            </a:extLst>
          </p:cNvPr>
          <p:cNvSpPr>
            <a:spLocks noGrp="1"/>
          </p:cNvSpPr>
          <p:nvPr>
            <p:ph type="sldNum" sz="quarter" idx="12"/>
          </p:nvPr>
        </p:nvSpPr>
        <p:spPr/>
        <p:txBody>
          <a:bodyPr/>
          <a:lstStyle/>
          <a:p>
            <a:fld id="{D292B180-B274-DE43-B36F-C827C7616C05}" type="slidenum">
              <a:rPr lang="en-US" smtClean="0"/>
              <a:t>64</a:t>
            </a:fld>
            <a:endParaRPr lang="en-US"/>
          </a:p>
        </p:txBody>
      </p:sp>
      <p:sp>
        <p:nvSpPr>
          <p:cNvPr id="5" name="TextBox 4">
            <a:extLst>
              <a:ext uri="{FF2B5EF4-FFF2-40B4-BE49-F238E27FC236}">
                <a16:creationId xmlns:a16="http://schemas.microsoft.com/office/drawing/2014/main" id="{E30D9EE9-7588-E80F-5EB9-85C15B961EC0}"/>
              </a:ext>
            </a:extLst>
          </p:cNvPr>
          <p:cNvSpPr txBox="1"/>
          <p:nvPr/>
        </p:nvSpPr>
        <p:spPr>
          <a:xfrm>
            <a:off x="462656" y="1682780"/>
            <a:ext cx="10888357" cy="4893647"/>
          </a:xfrm>
          <a:prstGeom prst="rect">
            <a:avLst/>
          </a:prstGeom>
          <a:noFill/>
        </p:spPr>
        <p:txBody>
          <a:bodyPr wrap="square">
            <a:spAutoFit/>
          </a:bodyPr>
          <a:lstStyle/>
          <a:p>
            <a:r>
              <a:rPr lang="en-GB" sz="2400" dirty="0"/>
              <a:t>This current work by Sara Lil Middleton, Steven Verheyen and Sarah von </a:t>
            </a:r>
            <a:r>
              <a:rPr lang="en-GB" sz="2400" dirty="0" err="1"/>
              <a:t>Grebmer</a:t>
            </a:r>
            <a:r>
              <a:rPr lang="en-GB" sz="2400" dirty="0"/>
              <a:t> </a:t>
            </a:r>
            <a:r>
              <a:rPr lang="en-GB" sz="2400" dirty="0" err="1"/>
              <a:t>zu</a:t>
            </a:r>
            <a:r>
              <a:rPr lang="en-GB" sz="2400" dirty="0"/>
              <a:t> </a:t>
            </a:r>
            <a:r>
              <a:rPr lang="en-GB" sz="2400" dirty="0" err="1"/>
              <a:t>Wolfsthurn</a:t>
            </a:r>
            <a:r>
              <a:rPr lang="en-GB" sz="2400" dirty="0"/>
              <a:t> is licensed under a CC-BY-SA 4.0 </a:t>
            </a:r>
            <a:r>
              <a:rPr lang="en-GB" sz="2400" dirty="0">
                <a:hlinkClick r:id="rId5"/>
              </a:rPr>
              <a:t>Creative Commons Attribution 4.0 International SA License</a:t>
            </a:r>
            <a:r>
              <a:rPr lang="en-GB" sz="2400" dirty="0"/>
              <a:t> (unless otherwise stated). It permits unrestricted re-use, distribution, and reproduction in any medium, provided the original work is properly cited. If you remix, transform, or build upon the material, you must distribute your contributions under the same license as the original.</a:t>
            </a:r>
          </a:p>
          <a:p>
            <a:endParaRPr lang="en-GB" sz="2400" dirty="0"/>
          </a:p>
          <a:p>
            <a:r>
              <a:rPr lang="en-GB" sz="2400" dirty="0"/>
              <a:t>Please cite these materials as: Middleton, S., Verheyen, S., &amp; Von </a:t>
            </a:r>
            <a:r>
              <a:rPr lang="en-GB" sz="2400" dirty="0" err="1"/>
              <a:t>Grebmer</a:t>
            </a:r>
            <a:r>
              <a:rPr lang="en-GB" sz="2400" dirty="0"/>
              <a:t> Zu </a:t>
            </a:r>
            <a:r>
              <a:rPr lang="en-GB" sz="2400" dirty="0" err="1"/>
              <a:t>Wolfsthurn</a:t>
            </a:r>
            <a:r>
              <a:rPr lang="en-GB" sz="2400" dirty="0"/>
              <a:t>, S., (2026). </a:t>
            </a:r>
            <a:r>
              <a:rPr lang="en-GB" sz="2400" i="1" dirty="0"/>
              <a:t>Challenges in leadership</a:t>
            </a:r>
            <a:r>
              <a:rPr lang="en-GB" sz="2400" dirty="0"/>
              <a:t> [Quarto slides]. LMU Open Science Center and FORRT. </a:t>
            </a:r>
            <a:r>
              <a:rPr lang="en-GB" sz="2400" dirty="0">
                <a:hlinkClick r:id="rId6"/>
              </a:rPr>
              <a:t>https://lmu-osc.github.io/train-the-trainer-open-research/leadership-open-research/challenges-leadership/</a:t>
            </a:r>
            <a:endParaRPr lang="en-GB" sz="2400" dirty="0"/>
          </a:p>
          <a:p>
            <a:endParaRPr lang="en-GB" sz="2400" dirty="0"/>
          </a:p>
          <a:p>
            <a:pPr rtl="0">
              <a:buNone/>
            </a:pPr>
            <a:endParaRPr lang="en-US" sz="2400" dirty="0"/>
          </a:p>
        </p:txBody>
      </p:sp>
      <p:pic>
        <p:nvPicPr>
          <p:cNvPr id="4" name="Picture 3" descr="Creative Commons Attribution 4.0 SA">
            <a:extLst>
              <a:ext uri="{FF2B5EF4-FFF2-40B4-BE49-F238E27FC236}">
                <a16:creationId xmlns:a16="http://schemas.microsoft.com/office/drawing/2014/main" id="{9D43809C-D247-5582-DF05-6731C1FC754F}"/>
              </a:ext>
            </a:extLst>
          </p:cNvPr>
          <p:cNvPicPr>
            <a:picLocks noChangeAspect="1"/>
          </p:cNvPicPr>
          <p:nvPr/>
        </p:nvPicPr>
        <p:blipFill>
          <a:blip r:embed="rId7"/>
          <a:stretch>
            <a:fillRect/>
          </a:stretch>
        </p:blipFill>
        <p:spPr>
          <a:xfrm>
            <a:off x="4876800" y="981091"/>
            <a:ext cx="1219200" cy="419100"/>
          </a:xfrm>
          <a:prstGeom prst="rect">
            <a:avLst/>
          </a:prstGeom>
        </p:spPr>
      </p:pic>
    </p:spTree>
    <p:extLst>
      <p:ext uri="{BB962C8B-B14F-4D97-AF65-F5344CB8AC3E}">
        <p14:creationId xmlns:p14="http://schemas.microsoft.com/office/powerpoint/2010/main" val="92648423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92837-F4AA-DA80-D8A6-4374FA011398}"/>
            </a:ext>
          </a:extLst>
        </p:cNvPr>
        <p:cNvGrpSpPr/>
        <p:nvPr/>
      </p:nvGrpSpPr>
      <p:grpSpPr>
        <a:xfrm>
          <a:off x="0" y="0"/>
          <a:ext cx="0" cy="0"/>
          <a:chOff x="0" y="0"/>
          <a:chExt cx="0" cy="0"/>
        </a:xfrm>
      </p:grpSpPr>
      <p:grpSp>
        <p:nvGrpSpPr>
          <p:cNvPr id="63" name="Group 62">
            <a:extLst>
              <a:ext uri="{FF2B5EF4-FFF2-40B4-BE49-F238E27FC236}">
                <a16:creationId xmlns:a16="http://schemas.microsoft.com/office/drawing/2014/main" id="{6BD25980-B077-8720-689F-49ED8748363A}"/>
              </a:ext>
            </a:extLst>
          </p:cNvPr>
          <p:cNvGrpSpPr/>
          <p:nvPr/>
        </p:nvGrpSpPr>
        <p:grpSpPr>
          <a:xfrm>
            <a:off x="10704849" y="6564312"/>
            <a:ext cx="1362075" cy="273690"/>
            <a:chOff x="19317" y="2690018"/>
            <a:chExt cx="11784755" cy="2025180"/>
          </a:xfrm>
        </p:grpSpPr>
        <p:pic>
          <p:nvPicPr>
            <p:cNvPr id="64" name="Picture 2">
              <a:extLst>
                <a:ext uri="{FF2B5EF4-FFF2-40B4-BE49-F238E27FC236}">
                  <a16:creationId xmlns:a16="http://schemas.microsoft.com/office/drawing/2014/main" id="{DB8428F7-1D6F-4E64-1137-A57333B75D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4">
              <a:extLst>
                <a:ext uri="{FF2B5EF4-FFF2-40B4-BE49-F238E27FC236}">
                  <a16:creationId xmlns:a16="http://schemas.microsoft.com/office/drawing/2014/main" id="{2611872F-02A4-2DF4-D6A8-AB2474ED1135}"/>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62" name="Slide Number Placeholder 61">
            <a:extLst>
              <a:ext uri="{FF2B5EF4-FFF2-40B4-BE49-F238E27FC236}">
                <a16:creationId xmlns:a16="http://schemas.microsoft.com/office/drawing/2014/main" id="{7CD3D371-5285-B460-864C-42C5A50D8063}"/>
              </a:ext>
            </a:extLst>
          </p:cNvPr>
          <p:cNvSpPr>
            <a:spLocks noGrp="1"/>
          </p:cNvSpPr>
          <p:nvPr>
            <p:ph type="sldNum" sz="quarter" idx="12"/>
          </p:nvPr>
        </p:nvSpPr>
        <p:spPr/>
        <p:txBody>
          <a:bodyPr/>
          <a:lstStyle/>
          <a:p>
            <a:fld id="{DC6309F4-03C8-4D48-A124-A9AD6E083FAC}" type="slidenum">
              <a:rPr lang="en-US" smtClean="0"/>
              <a:t>65</a:t>
            </a:fld>
            <a:endParaRPr lang="en-US"/>
          </a:p>
        </p:txBody>
      </p:sp>
      <p:sp>
        <p:nvSpPr>
          <p:cNvPr id="4" name="Title 1">
            <a:extLst>
              <a:ext uri="{FF2B5EF4-FFF2-40B4-BE49-F238E27FC236}">
                <a16:creationId xmlns:a16="http://schemas.microsoft.com/office/drawing/2014/main" id="{3E6C0533-AC36-0728-F22F-7BC56875D2E8}"/>
              </a:ext>
            </a:extLst>
          </p:cNvPr>
          <p:cNvSpPr txBox="1">
            <a:spLocks/>
          </p:cNvSpPr>
          <p:nvPr/>
        </p:nvSpPr>
        <p:spPr>
          <a:xfrm>
            <a:off x="0" y="-26542"/>
            <a:ext cx="9051235"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References</a:t>
            </a:r>
          </a:p>
        </p:txBody>
      </p:sp>
      <p:sp>
        <p:nvSpPr>
          <p:cNvPr id="3" name="TextBox 2">
            <a:extLst>
              <a:ext uri="{FF2B5EF4-FFF2-40B4-BE49-F238E27FC236}">
                <a16:creationId xmlns:a16="http://schemas.microsoft.com/office/drawing/2014/main" id="{A8738827-7AA6-8F85-4404-4F25C0D7AC7E}"/>
              </a:ext>
            </a:extLst>
          </p:cNvPr>
          <p:cNvSpPr txBox="1"/>
          <p:nvPr/>
        </p:nvSpPr>
        <p:spPr>
          <a:xfrm>
            <a:off x="675861" y="1749287"/>
            <a:ext cx="184731" cy="369332"/>
          </a:xfrm>
          <a:prstGeom prst="rect">
            <a:avLst/>
          </a:prstGeom>
          <a:noFill/>
        </p:spPr>
        <p:txBody>
          <a:bodyPr wrap="square" rtlCol="0">
            <a:spAutoFit/>
          </a:bodyPr>
          <a:lstStyle/>
          <a:p>
            <a:endParaRPr lang="en-US" dirty="0"/>
          </a:p>
        </p:txBody>
      </p:sp>
      <p:sp>
        <p:nvSpPr>
          <p:cNvPr id="5" name="Content Placeholder 2">
            <a:extLst>
              <a:ext uri="{FF2B5EF4-FFF2-40B4-BE49-F238E27FC236}">
                <a16:creationId xmlns:a16="http://schemas.microsoft.com/office/drawing/2014/main" id="{3A14F934-4DC8-8154-6F7F-6839EF932783}"/>
              </a:ext>
            </a:extLst>
          </p:cNvPr>
          <p:cNvSpPr>
            <a:spLocks noGrp="1"/>
          </p:cNvSpPr>
          <p:nvPr>
            <p:ph idx="1"/>
          </p:nvPr>
        </p:nvSpPr>
        <p:spPr>
          <a:xfrm>
            <a:off x="189248" y="1231239"/>
            <a:ext cx="11877676" cy="5192894"/>
          </a:xfrm>
        </p:spPr>
        <p:txBody>
          <a:bodyPr>
            <a:normAutofit fontScale="47500" lnSpcReduction="20000"/>
          </a:bodyPr>
          <a:lstStyle/>
          <a:p>
            <a:r>
              <a:rPr lang="en-GB" dirty="0"/>
              <a:t>Carroll, S. R., Garba, I., Figueroa-Rodríguez, O. L., Holbrook, J., Lovett, R., </a:t>
            </a:r>
            <a:r>
              <a:rPr lang="en-GB" dirty="0" err="1"/>
              <a:t>Materechera</a:t>
            </a:r>
            <a:r>
              <a:rPr lang="en-GB" dirty="0"/>
              <a:t>, S., Parsons, M., </a:t>
            </a:r>
            <a:r>
              <a:rPr lang="en-GB" dirty="0" err="1"/>
              <a:t>Raseroka</a:t>
            </a:r>
            <a:r>
              <a:rPr lang="en-GB" dirty="0"/>
              <a:t>, K., Rodriguez-Lonebear, D., Rowe, R., Sara, R., Walker, J. D., Anderson, J., &amp; Hudson, M. (2020). The CARE Principles for Indigenous Data Governance. </a:t>
            </a:r>
            <a:r>
              <a:rPr lang="en-GB" i="1" dirty="0"/>
              <a:t>Data Science Journal</a:t>
            </a:r>
            <a:r>
              <a:rPr lang="en-GB" dirty="0"/>
              <a:t>, </a:t>
            </a:r>
            <a:r>
              <a:rPr lang="en-GB" i="1" dirty="0"/>
              <a:t>19</a:t>
            </a:r>
            <a:r>
              <a:rPr lang="en-GB" dirty="0"/>
              <a:t>, 43. </a:t>
            </a:r>
            <a:r>
              <a:rPr lang="en-GB" dirty="0">
                <a:hlinkClick r:id="rId5"/>
              </a:rPr>
              <a:t>https://doi.org/10.5334/dsj-2020-043</a:t>
            </a:r>
            <a:endParaRPr lang="en-GB" dirty="0"/>
          </a:p>
          <a:p>
            <a:pPr lvl="0"/>
            <a:r>
              <a:rPr lang="en-GB" dirty="0"/>
              <a:t>Fecher, B., &amp; </a:t>
            </a:r>
            <a:r>
              <a:rPr lang="en-GB" dirty="0" err="1"/>
              <a:t>Friesike</a:t>
            </a:r>
            <a:r>
              <a:rPr lang="en-GB" dirty="0"/>
              <a:t>, S. (2014). Open Science: One Term, Five Schools of Thought. In S. Bartling &amp; S. </a:t>
            </a:r>
            <a:r>
              <a:rPr lang="en-GB" dirty="0" err="1"/>
              <a:t>Friesike</a:t>
            </a:r>
            <a:r>
              <a:rPr lang="en-GB" dirty="0"/>
              <a:t> (Eds), </a:t>
            </a:r>
            <a:r>
              <a:rPr lang="en-GB" i="1" dirty="0"/>
              <a:t>Opening Science</a:t>
            </a:r>
            <a:r>
              <a:rPr lang="en-GB" dirty="0"/>
              <a:t> (pp. 17–47). Springer International Publishing. </a:t>
            </a:r>
            <a:r>
              <a:rPr lang="en-GB" u="sng" dirty="0">
                <a:hlinkClick r:id="rId6"/>
              </a:rPr>
              <a:t>https://doi.org/10.1007/978-3-319-00026-8_2</a:t>
            </a:r>
            <a:endParaRPr lang="en-GB" dirty="0"/>
          </a:p>
          <a:p>
            <a:pPr lvl="0"/>
            <a:r>
              <a:rPr lang="en-GB" dirty="0" err="1"/>
              <a:t>Gownaris</a:t>
            </a:r>
            <a:r>
              <a:rPr lang="en-GB" dirty="0"/>
              <a:t>, N. J., </a:t>
            </a:r>
            <a:r>
              <a:rPr lang="en-GB" dirty="0" err="1"/>
              <a:t>Vermeir</a:t>
            </a:r>
            <a:r>
              <a:rPr lang="en-GB" dirty="0"/>
              <a:t>, K., Bittner, M.-I., Gunawardena, L., Kaur-</a:t>
            </a:r>
            <a:r>
              <a:rPr lang="en-GB" dirty="0" err="1"/>
              <a:t>Ghumaan</a:t>
            </a:r>
            <a:r>
              <a:rPr lang="en-GB" dirty="0"/>
              <a:t>, S., </a:t>
            </a:r>
            <a:r>
              <a:rPr lang="en-GB" dirty="0" err="1"/>
              <a:t>Lepenies</a:t>
            </a:r>
            <a:r>
              <a:rPr lang="en-GB" dirty="0"/>
              <a:t>, R., </a:t>
            </a:r>
            <a:r>
              <a:rPr lang="en-GB" dirty="0" err="1"/>
              <a:t>Ntsefong</a:t>
            </a:r>
            <a:r>
              <a:rPr lang="en-GB" dirty="0"/>
              <a:t>, G. N., &amp; Zakari, I. S. (2022). Barriers to Full Participation in the Open Science Life Cycle among Early Career Researchers. </a:t>
            </a:r>
            <a:r>
              <a:rPr lang="en-GB" i="1" dirty="0"/>
              <a:t>Data Science Journal</a:t>
            </a:r>
            <a:r>
              <a:rPr lang="en-GB" dirty="0"/>
              <a:t>, </a:t>
            </a:r>
            <a:r>
              <a:rPr lang="en-GB" i="1" dirty="0"/>
              <a:t>21</a:t>
            </a:r>
            <a:r>
              <a:rPr lang="en-GB" dirty="0"/>
              <a:t>, 2. </a:t>
            </a:r>
            <a:r>
              <a:rPr lang="en-GB" u="sng" dirty="0">
                <a:hlinkClick r:id="rId7"/>
              </a:rPr>
              <a:t>https://doi.org/10.5334/dsj-2022-002</a:t>
            </a:r>
            <a:endParaRPr lang="en-GB" dirty="0"/>
          </a:p>
          <a:p>
            <a:pPr lvl="0"/>
            <a:r>
              <a:rPr lang="en-GB" dirty="0"/>
              <a:t>Guest, O., Suarez, M., Müller, B., van </a:t>
            </a:r>
            <a:r>
              <a:rPr lang="en-GB" dirty="0" err="1"/>
              <a:t>Meerkerk</a:t>
            </a:r>
            <a:r>
              <a:rPr lang="en-GB" dirty="0"/>
              <a:t>, E., Oude Groote </a:t>
            </a:r>
            <a:r>
              <a:rPr lang="en-GB" dirty="0" err="1"/>
              <a:t>Beverborg</a:t>
            </a:r>
            <a:r>
              <a:rPr lang="en-GB" dirty="0"/>
              <a:t>, A., de Haan, R., Reyes Elizondo, A., </a:t>
            </a:r>
            <a:r>
              <a:rPr lang="en-GB" dirty="0" err="1"/>
              <a:t>Blokpoel</a:t>
            </a:r>
            <a:r>
              <a:rPr lang="en-GB" dirty="0"/>
              <a:t>, M., Scharfenberg, N., </a:t>
            </a:r>
            <a:r>
              <a:rPr lang="en-GB" dirty="0" err="1"/>
              <a:t>Kleinherenbrink</a:t>
            </a:r>
            <a:r>
              <a:rPr lang="en-GB" dirty="0"/>
              <a:t>, A., Camerino, I., </a:t>
            </a:r>
            <a:r>
              <a:rPr lang="en-GB" dirty="0" err="1"/>
              <a:t>Woensdregt</a:t>
            </a:r>
            <a:r>
              <a:rPr lang="en-GB" dirty="0"/>
              <a:t>, M., Monett, D., Brown, J., </a:t>
            </a:r>
            <a:r>
              <a:rPr lang="en-GB" dirty="0" err="1"/>
              <a:t>Avraamidou</a:t>
            </a:r>
            <a:r>
              <a:rPr lang="en-GB" dirty="0"/>
              <a:t>, L., Alenda-</a:t>
            </a:r>
            <a:r>
              <a:rPr lang="en-GB" dirty="0" err="1"/>
              <a:t>Demoutiez</a:t>
            </a:r>
            <a:r>
              <a:rPr lang="en-GB" dirty="0"/>
              <a:t>, J., Hermans, F., &amp; van </a:t>
            </a:r>
            <a:r>
              <a:rPr lang="en-GB" dirty="0" err="1"/>
              <a:t>Rooij</a:t>
            </a:r>
            <a:r>
              <a:rPr lang="en-GB" dirty="0"/>
              <a:t>, I. (2026). </a:t>
            </a:r>
            <a:r>
              <a:rPr lang="en-GB" i="1" dirty="0"/>
              <a:t>Against the Uncritical Adoption of ‘AI’ Technologies in Academia</a:t>
            </a:r>
            <a:r>
              <a:rPr lang="en-GB" dirty="0"/>
              <a:t>. </a:t>
            </a:r>
            <a:r>
              <a:rPr lang="en-GB" u="sng" dirty="0">
                <a:hlinkClick r:id="rId8"/>
              </a:rPr>
              <a:t>https://doi.org/10.5281/ZENODO.17065098to-open-science/</a:t>
            </a:r>
            <a:endParaRPr lang="en-GB" dirty="0"/>
          </a:p>
          <a:p>
            <a:pPr lvl="0"/>
            <a:r>
              <a:rPr lang="en-GB" dirty="0"/>
              <a:t>Hao, Q., Xu, F., Li, Y., &amp; Evans, J. (2026). Artificial intelligence tools expand scientists’ impact but contract science’s focus. </a:t>
            </a:r>
            <a:r>
              <a:rPr lang="en-GB" i="1" dirty="0"/>
              <a:t>Nature</a:t>
            </a:r>
            <a:r>
              <a:rPr lang="en-GB" dirty="0"/>
              <a:t>, </a:t>
            </a:r>
            <a:r>
              <a:rPr lang="en-GB" i="1" dirty="0"/>
              <a:t>649</a:t>
            </a:r>
            <a:r>
              <a:rPr lang="en-GB" dirty="0"/>
              <a:t>(8099), 1237–1243. </a:t>
            </a:r>
            <a:r>
              <a:rPr lang="en-GB" u="sng" dirty="0">
                <a:hlinkClick r:id="rId9"/>
              </a:rPr>
              <a:t>https://doi.org/10.1038/s41586-025-09922-y</a:t>
            </a:r>
            <a:r>
              <a:rPr lang="en-GB" dirty="0"/>
              <a:t> </a:t>
            </a:r>
          </a:p>
          <a:p>
            <a:pPr lvl="0"/>
            <a:r>
              <a:rPr lang="en-GB" dirty="0"/>
              <a:t>Ihle Malika, Gupta Reema, </a:t>
            </a:r>
            <a:r>
              <a:rPr lang="en-GB" dirty="0" err="1"/>
              <a:t>Schönbrodt</a:t>
            </a:r>
            <a:r>
              <a:rPr lang="en-GB" dirty="0"/>
              <a:t> Felix, April 2026, Open Research Cycle Handbook </a:t>
            </a:r>
            <a:r>
              <a:rPr lang="en-GB" u="sng" dirty="0">
                <a:hlinkClick r:id="rId10"/>
              </a:rPr>
              <a:t>https://lmu-osc.github.io/training/research-cycle-handbook.html</a:t>
            </a:r>
            <a:r>
              <a:rPr lang="en-GB" dirty="0"/>
              <a:t> CC-BY-SA 4.0 LMU Open Science Center </a:t>
            </a:r>
          </a:p>
          <a:p>
            <a:pPr lvl="0"/>
            <a:r>
              <a:rPr lang="en-GB" dirty="0"/>
              <a:t>Mayo-Wilson, E., Grant, S., Corker, K. S., &amp; Moher, D. (2025). Consistent and Precise Description of Research Outputs Could Improve Implementation of Open Science. </a:t>
            </a:r>
            <a:r>
              <a:rPr lang="en-GB" i="1" dirty="0"/>
              <a:t>Advances in Methods and Practices in Psychological Science</a:t>
            </a:r>
            <a:r>
              <a:rPr lang="en-GB" dirty="0"/>
              <a:t>, </a:t>
            </a:r>
            <a:r>
              <a:rPr lang="en-GB" i="1" dirty="0"/>
              <a:t>8</a:t>
            </a:r>
            <a:r>
              <a:rPr lang="en-GB" dirty="0"/>
              <a:t>(4), 25152459251375445. </a:t>
            </a:r>
            <a:r>
              <a:rPr lang="en-GB" u="sng" dirty="0">
                <a:hlinkClick r:id="rId11"/>
              </a:rPr>
              <a:t>https://doi.org/10.1177/25152459251375445</a:t>
            </a:r>
            <a:endParaRPr lang="en-GB" dirty="0"/>
          </a:p>
          <a:p>
            <a:pPr lvl="0"/>
            <a:r>
              <a:rPr lang="en-GB" dirty="0"/>
              <a:t>Middleton, S. L., Sulik, J., Iley, B. J., Elsherif, M. M., &amp; Azevedo, F. (2026). </a:t>
            </a:r>
            <a:r>
              <a:rPr lang="en-GB" i="1" dirty="0"/>
              <a:t>The Academic Wheel of Privilege: An equity-based tool for authorship order</a:t>
            </a:r>
            <a:r>
              <a:rPr lang="en-GB" dirty="0"/>
              <a:t>. </a:t>
            </a:r>
            <a:r>
              <a:rPr lang="en-GB" dirty="0" err="1"/>
              <a:t>MetaArXiv</a:t>
            </a:r>
            <a:r>
              <a:rPr lang="en-GB" dirty="0"/>
              <a:t>. </a:t>
            </a:r>
            <a:r>
              <a:rPr lang="en-GB" u="sng" dirty="0">
                <a:hlinkClick r:id="rId12"/>
              </a:rPr>
              <a:t>https://doi.org/10.31222/osf.io/af4nk_v2</a:t>
            </a:r>
            <a:endParaRPr lang="en-GB" dirty="0"/>
          </a:p>
          <a:p>
            <a:pPr lvl="0"/>
            <a:r>
              <a:rPr lang="en-US" dirty="0"/>
              <a:t>Nosek, B. (2019). </a:t>
            </a:r>
            <a:r>
              <a:rPr lang="en-GB" dirty="0"/>
              <a:t>Strategy for Culture Change. </a:t>
            </a:r>
            <a:r>
              <a:rPr lang="en-GB" i="1" dirty="0"/>
              <a:t>Center for Open Science</a:t>
            </a:r>
            <a:r>
              <a:rPr lang="en-GB" dirty="0"/>
              <a:t>. </a:t>
            </a:r>
            <a:r>
              <a:rPr lang="en-GB" u="sng" dirty="0">
                <a:hlinkClick r:id="rId13"/>
              </a:rPr>
              <a:t>https://www.cos.io/blog/strategy-for-culture-change</a:t>
            </a:r>
            <a:endParaRPr lang="en-GB" dirty="0"/>
          </a:p>
          <a:p>
            <a:pPr lvl="0"/>
            <a:r>
              <a:rPr lang="en-US" dirty="0"/>
              <a:t>Nosek, B. (2026). </a:t>
            </a:r>
            <a:r>
              <a:rPr lang="en-GB" dirty="0"/>
              <a:t>OSF Changes: A Note to Users. </a:t>
            </a:r>
            <a:r>
              <a:rPr lang="en-GB" i="1" dirty="0"/>
              <a:t>Center for Open Science</a:t>
            </a:r>
            <a:r>
              <a:rPr lang="en-GB" dirty="0"/>
              <a:t>. </a:t>
            </a:r>
            <a:r>
              <a:rPr lang="en-GB" u="sng" dirty="0">
                <a:hlinkClick r:id="rId14"/>
              </a:rPr>
              <a:t>https://www.cos.io/blog/osf-changes-a-note-to-users</a:t>
            </a:r>
            <a:r>
              <a:rPr lang="en-GB" dirty="0"/>
              <a:t> </a:t>
            </a:r>
          </a:p>
          <a:p>
            <a:pPr lvl="0"/>
            <a:r>
              <a:rPr lang="en-GB" dirty="0"/>
              <a:t>Parsons, S., Azevedo, F., Elsherif, M. M., Guay, S., Shahim, O. N., Govaart, G. H., Norris, E., O’Mahony, A., Parker, A. J., Todorovic, A., Pennington, C. R., Garcia-Pelegrin, E., Lazić, A., Robertson, O., Middleton, S. L., Valentini, B., McCuaig, J., Baker, B. J., Collins, E., … Aczel, B. (2022). A community-sourced glossary of open scholarship terms. </a:t>
            </a:r>
            <a:r>
              <a:rPr lang="en-GB" i="1" dirty="0"/>
              <a:t>Nature Human Behaviour</a:t>
            </a:r>
            <a:r>
              <a:rPr lang="en-GB" dirty="0"/>
              <a:t>, </a:t>
            </a:r>
            <a:r>
              <a:rPr lang="en-GB" i="1" dirty="0"/>
              <a:t>6</a:t>
            </a:r>
            <a:r>
              <a:rPr lang="en-GB" dirty="0"/>
              <a:t>(3), 312–318. </a:t>
            </a:r>
            <a:r>
              <a:rPr lang="en-GB" u="sng" dirty="0">
                <a:hlinkClick r:id="rId15"/>
              </a:rPr>
              <a:t>https://doi.org/10.1038/s41562-021-01269-4</a:t>
            </a:r>
            <a:endParaRPr lang="en-GB" dirty="0"/>
          </a:p>
          <a:p>
            <a:pPr lvl="0"/>
            <a:r>
              <a:rPr lang="en-GB" dirty="0"/>
              <a:t>Whitaker, K., &amp; Guest, O. (2020). #</a:t>
            </a:r>
            <a:r>
              <a:rPr lang="en-GB" dirty="0" err="1"/>
              <a:t>bropenscience</a:t>
            </a:r>
            <a:r>
              <a:rPr lang="en-GB" dirty="0"/>
              <a:t> is broken science. </a:t>
            </a:r>
            <a:r>
              <a:rPr lang="en-GB" i="1" dirty="0"/>
              <a:t>The Psychologist</a:t>
            </a:r>
            <a:r>
              <a:rPr lang="en-GB" dirty="0"/>
              <a:t>, </a:t>
            </a:r>
            <a:r>
              <a:rPr lang="en-GB" i="1" dirty="0"/>
              <a:t>33</a:t>
            </a:r>
            <a:r>
              <a:rPr lang="en-GB" dirty="0"/>
              <a:t>, 34–37. </a:t>
            </a:r>
            <a:r>
              <a:rPr lang="en-GB" u="sng" dirty="0">
                <a:hlinkClick r:id="rId16"/>
              </a:rPr>
              <a:t>https://thepsychologist.bps.org.uk/volume-33/november-2020/bropenscience-broken-science</a:t>
            </a:r>
            <a:endParaRPr lang="en-GB" dirty="0"/>
          </a:p>
        </p:txBody>
      </p:sp>
    </p:spTree>
    <p:extLst>
      <p:ext uri="{BB962C8B-B14F-4D97-AF65-F5344CB8AC3E}">
        <p14:creationId xmlns:p14="http://schemas.microsoft.com/office/powerpoint/2010/main" val="29628298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21131</TotalTime>
  <Words>7631</Words>
  <Application>Microsoft Macintosh PowerPoint</Application>
  <PresentationFormat>Widescreen</PresentationFormat>
  <Paragraphs>963</Paragraphs>
  <Slides>65</Slides>
  <Notes>65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65</vt:i4>
      </vt:variant>
    </vt:vector>
  </HeadingPairs>
  <TitlesOfParts>
    <vt:vector size="70" baseType="lpstr">
      <vt:lpstr>Aptos</vt:lpstr>
      <vt:lpstr>Aptos Display</vt:lpstr>
      <vt:lpstr>Arial</vt:lpstr>
      <vt:lpstr>Calibri</vt:lpstr>
      <vt:lpstr>Office Theme</vt:lpstr>
      <vt:lpstr>Navigating leadership in Open Science: challenges</vt:lpstr>
      <vt:lpstr>Prerequisites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 practical challenge in Open Science: building accessible and sustainable infrastructure </vt:lpstr>
      <vt:lpstr>A practical challenge in Open Science: building accessible and sustainable infrastructure </vt:lpstr>
      <vt:lpstr>A practical challenge in Open Science: building accessible and sustainable infrastructure </vt:lpstr>
      <vt:lpstr>A practical challenge in Open Science: building accessible and sustainable infrastructure </vt:lpstr>
      <vt:lpstr>A practical challenge in Open Science:  Building organizational infrastructure</vt:lpstr>
      <vt:lpstr>A practical challenge in Open Science:  Building organizational infrastructure</vt:lpstr>
      <vt:lpstr>Importance of sustainable infrastructure:  The case of the Open Science Framework (OSF) </vt:lpstr>
      <vt:lpstr>PowerPoint Presentation</vt:lpstr>
      <vt:lpstr>PowerPoint Presentation</vt:lpstr>
      <vt:lpstr>FAIR data management also needs CARE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Sara Middleton</dc:creator>
  <cp:lastModifiedBy>Sara Middleton</cp:lastModifiedBy>
  <cp:revision>36</cp:revision>
  <dcterms:created xsi:type="dcterms:W3CDTF">2026-10-06T12:36:10Z</dcterms:created>
  <dcterms:modified xsi:type="dcterms:W3CDTF">2026-10-21T10:55:19Z</dcterms:modified>
</cp:coreProperties>
</file>