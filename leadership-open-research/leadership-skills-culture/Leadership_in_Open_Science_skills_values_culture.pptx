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0"/>
  </p:notesMasterIdLst>
  <p:sldIdLst>
    <p:sldId id="257" r:id="rId2"/>
    <p:sldId id="600" r:id="rId3"/>
    <p:sldId id="258" r:id="rId4"/>
    <p:sldId id="601" r:id="rId5"/>
    <p:sldId id="263" r:id="rId6"/>
    <p:sldId id="515" r:id="rId7"/>
    <p:sldId id="508" r:id="rId8"/>
    <p:sldId id="509" r:id="rId9"/>
    <p:sldId id="513" r:id="rId10"/>
    <p:sldId id="521" r:id="rId11"/>
    <p:sldId id="261" r:id="rId12"/>
    <p:sldId id="364" r:id="rId13"/>
    <p:sldId id="365" r:id="rId14"/>
    <p:sldId id="262" r:id="rId15"/>
    <p:sldId id="272" r:id="rId16"/>
    <p:sldId id="271" r:id="rId17"/>
    <p:sldId id="275" r:id="rId18"/>
    <p:sldId id="316" r:id="rId19"/>
    <p:sldId id="301" r:id="rId20"/>
    <p:sldId id="326" r:id="rId21"/>
    <p:sldId id="290" r:id="rId22"/>
    <p:sldId id="302" r:id="rId23"/>
    <p:sldId id="303" r:id="rId24"/>
    <p:sldId id="292" r:id="rId25"/>
    <p:sldId id="291" r:id="rId26"/>
    <p:sldId id="294" r:id="rId27"/>
    <p:sldId id="296" r:id="rId28"/>
    <p:sldId id="295" r:id="rId29"/>
    <p:sldId id="297" r:id="rId30"/>
    <p:sldId id="305" r:id="rId31"/>
    <p:sldId id="309" r:id="rId32"/>
    <p:sldId id="269" r:id="rId33"/>
    <p:sldId id="306" r:id="rId34"/>
    <p:sldId id="310" r:id="rId35"/>
    <p:sldId id="311" r:id="rId36"/>
    <p:sldId id="304" r:id="rId37"/>
    <p:sldId id="314" r:id="rId38"/>
    <p:sldId id="313" r:id="rId39"/>
    <p:sldId id="319" r:id="rId40"/>
    <p:sldId id="324" r:id="rId41"/>
    <p:sldId id="321" r:id="rId42"/>
    <p:sldId id="323" r:id="rId43"/>
    <p:sldId id="325" r:id="rId44"/>
    <p:sldId id="312" r:id="rId45"/>
    <p:sldId id="353" r:id="rId46"/>
    <p:sldId id="320" r:id="rId47"/>
    <p:sldId id="352" r:id="rId48"/>
    <p:sldId id="336" r:id="rId49"/>
    <p:sldId id="335" r:id="rId50"/>
    <p:sldId id="330" r:id="rId51"/>
    <p:sldId id="332" r:id="rId52"/>
    <p:sldId id="333" r:id="rId53"/>
    <p:sldId id="334" r:id="rId54"/>
    <p:sldId id="329" r:id="rId55"/>
    <p:sldId id="337" r:id="rId56"/>
    <p:sldId id="378" r:id="rId57"/>
    <p:sldId id="267" r:id="rId58"/>
    <p:sldId id="339" r:id="rId59"/>
    <p:sldId id="340" r:id="rId60"/>
    <p:sldId id="338" r:id="rId61"/>
    <p:sldId id="348" r:id="rId62"/>
    <p:sldId id="347" r:id="rId63"/>
    <p:sldId id="350" r:id="rId64"/>
    <p:sldId id="351" r:id="rId65"/>
    <p:sldId id="349" r:id="rId66"/>
    <p:sldId id="354" r:id="rId67"/>
    <p:sldId id="355" r:id="rId68"/>
    <p:sldId id="356" r:id="rId69"/>
    <p:sldId id="357" r:id="rId70"/>
    <p:sldId id="358" r:id="rId71"/>
    <p:sldId id="359" r:id="rId72"/>
    <p:sldId id="372" r:id="rId73"/>
    <p:sldId id="374" r:id="rId74"/>
    <p:sldId id="375" r:id="rId75"/>
    <p:sldId id="370" r:id="rId76"/>
    <p:sldId id="371" r:id="rId77"/>
    <p:sldId id="341" r:id="rId78"/>
    <p:sldId id="315" r:id="rId79"/>
    <p:sldId id="299" r:id="rId80"/>
    <p:sldId id="376" r:id="rId81"/>
    <p:sldId id="367" r:id="rId82"/>
    <p:sldId id="368" r:id="rId83"/>
    <p:sldId id="369" r:id="rId84"/>
    <p:sldId id="602" r:id="rId85"/>
    <p:sldId id="343" r:id="rId86"/>
    <p:sldId id="363" r:id="rId87"/>
    <p:sldId id="599" r:id="rId88"/>
    <p:sldId id="598" r:id="rId8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523"/>
    <p:restoredTop sz="76600"/>
  </p:normalViewPr>
  <p:slideViewPr>
    <p:cSldViewPr snapToGrid="0">
      <p:cViewPr varScale="1">
        <p:scale>
          <a:sx n="92" d="100"/>
          <a:sy n="92" d="100"/>
        </p:scale>
        <p:origin x="1448"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notesMaster" Target="notesMasters/notesMaster1.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viewProps" Target="viewProp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1663453-7F42-564C-818C-211CF56941CB}" type="datetimeFigureOut">
              <a:rPr lang="en-US" smtClean="0"/>
              <a:t>9/16/26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FB628C-D647-2549-B386-268167ED3D87}" type="slidenum">
              <a:rPr lang="en-US" smtClean="0"/>
              <a:t>‹#›</a:t>
            </a:fld>
            <a:endParaRPr lang="en-US"/>
          </a:p>
        </p:txBody>
      </p:sp>
    </p:spTree>
    <p:extLst>
      <p:ext uri="{BB962C8B-B14F-4D97-AF65-F5344CB8AC3E}">
        <p14:creationId xmlns:p14="http://schemas.microsoft.com/office/powerpoint/2010/main" val="41238721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1</a:t>
            </a:fld>
            <a:endParaRPr lang="en-US"/>
          </a:p>
        </p:txBody>
      </p:sp>
    </p:spTree>
    <p:extLst>
      <p:ext uri="{BB962C8B-B14F-4D97-AF65-F5344CB8AC3E}">
        <p14:creationId xmlns:p14="http://schemas.microsoft.com/office/powerpoint/2010/main" val="29392839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These are the </a:t>
            </a:r>
            <a:r>
              <a:rPr lang="en-GB" b="1" dirty="0"/>
              <a:t>speaker notes</a:t>
            </a:r>
            <a:r>
              <a:rPr lang="en-GB" dirty="0"/>
              <a:t>. You will find a script for the presenter for every slide. In presentation mode, your audience will not be able to see these speaker notes, they are only visible to the presenter.</a:t>
            </a:r>
            <a:endParaRPr lang="en-US" sz="1200" dirty="0"/>
          </a:p>
          <a:p>
            <a:endParaRPr lang="en-US" dirty="0"/>
          </a:p>
          <a:p>
            <a:r>
              <a:rPr lang="en-GB" b="1" dirty="0"/>
              <a:t>This session</a:t>
            </a:r>
            <a:r>
              <a:rPr lang="en-GB" dirty="0"/>
              <a:t> assumes a basic familiarity with common Open Science concepts and practices. Examples include: replication crisis, R for data analysis and reproducible workflows; Quarto for reproducible documents; Git and GitHub for version control and collaboration, preregistration to document hypotheses and analysis plans in advance, Open Access publishing and broader transparency practices</a:t>
            </a:r>
          </a:p>
          <a:p>
            <a:endParaRPr lang="en-GB" dirty="0"/>
          </a:p>
          <a:p>
            <a:r>
              <a:rPr lang="en-GB" dirty="0"/>
              <a:t>You will need access to the workbook which can be downloaded as a Google Doc template. </a:t>
            </a:r>
          </a:p>
          <a:p>
            <a:endParaRPr lang="en-GB" dirty="0"/>
          </a:p>
          <a:p>
            <a:r>
              <a:rPr lang="en-GB" dirty="0"/>
              <a:t>The FORRT leadership case study provides a real world example of Open Science leadership.</a:t>
            </a:r>
          </a:p>
          <a:p>
            <a:endParaRPr lang="en-GB" dirty="0"/>
          </a:p>
          <a:p>
            <a:r>
              <a:rPr lang="en-GB" dirty="0"/>
              <a:t>Today forms part 1 of 3 session on leadership in Open Science.</a:t>
            </a:r>
          </a:p>
          <a:p>
            <a:endParaRPr lang="en-GB" dirty="0"/>
          </a:p>
          <a:p>
            <a:r>
              <a:rPr lang="en-GB" b="1" dirty="0"/>
              <a:t>Instructor notes:</a:t>
            </a:r>
          </a:p>
          <a:p>
            <a:r>
              <a:rPr lang="en-GB" dirty="0"/>
              <a:t>Learners do not need to be an expert, but you should have at least seen or used some of these concepts before. If some of these terms are new, you are encouraged to review the introductory Open Science materials linked on the slide before continuing. The goal is simply to ensure everyone shares a common base vocabulary so the workshop can focus on learning how to teach about Open Science rather than Open Science itself.</a:t>
            </a:r>
            <a:endParaRPr lang="en-US" dirty="0"/>
          </a:p>
        </p:txBody>
      </p:sp>
      <p:sp>
        <p:nvSpPr>
          <p:cNvPr id="4" name="Slide Number Placeholder 3"/>
          <p:cNvSpPr>
            <a:spLocks noGrp="1"/>
          </p:cNvSpPr>
          <p:nvPr>
            <p:ph type="sldNum" sz="quarter" idx="5"/>
          </p:nvPr>
        </p:nvSpPr>
        <p:spPr/>
        <p:txBody>
          <a:bodyPr/>
          <a:lstStyle/>
          <a:p>
            <a:fld id="{7EFB628C-D647-2549-B386-268167ED3D87}" type="slidenum">
              <a:rPr lang="en-US" smtClean="0"/>
              <a:t>2</a:t>
            </a:fld>
            <a:endParaRPr lang="en-US"/>
          </a:p>
        </p:txBody>
      </p:sp>
    </p:spTree>
    <p:extLst>
      <p:ext uri="{BB962C8B-B14F-4D97-AF65-F5344CB8AC3E}">
        <p14:creationId xmlns:p14="http://schemas.microsoft.com/office/powerpoint/2010/main" val="17748383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endParaRPr lang="en-US" sz="1200" b="1" dirty="0"/>
          </a:p>
          <a:p>
            <a:r>
              <a:rPr lang="en-US" sz="1200" b="0" dirty="0"/>
              <a:t>Let’s start with a survey!</a:t>
            </a:r>
          </a:p>
          <a:p>
            <a:endParaRPr lang="en-US" sz="1200" b="0" dirty="0"/>
          </a:p>
          <a:p>
            <a:endParaRPr lang="en-US" sz="1200" b="0" dirty="0"/>
          </a:p>
          <a:p>
            <a:r>
              <a:rPr lang="en-US" sz="1200" b="1" dirty="0"/>
              <a:t>Instructor notes:</a:t>
            </a:r>
          </a:p>
          <a:p>
            <a:r>
              <a:rPr lang="en-US" sz="1200" b="0" dirty="0"/>
              <a:t>These questions can be shared in an online survey format like https://</a:t>
            </a:r>
            <a:r>
              <a:rPr lang="en-US" sz="1200" b="0" dirty="0" err="1"/>
              <a:t>www.particify.de</a:t>
            </a:r>
            <a:r>
              <a:rPr lang="en-US" sz="1200" b="0" dirty="0"/>
              <a:t>/</a:t>
            </a:r>
            <a:r>
              <a:rPr lang="en-US" sz="1200" b="0" dirty="0" err="1"/>
              <a:t>en</a:t>
            </a:r>
            <a:r>
              <a:rPr lang="en-US" sz="1200" b="0" dirty="0"/>
              <a:t>/ </a:t>
            </a:r>
          </a:p>
          <a:p>
            <a:endParaRPr lang="en-US" b="0" dirty="0"/>
          </a:p>
        </p:txBody>
      </p:sp>
      <p:sp>
        <p:nvSpPr>
          <p:cNvPr id="4" name="Slide Number Placeholder 3"/>
          <p:cNvSpPr>
            <a:spLocks noGrp="1"/>
          </p:cNvSpPr>
          <p:nvPr>
            <p:ph type="sldNum" sz="quarter" idx="5"/>
          </p:nvPr>
        </p:nvSpPr>
        <p:spPr/>
        <p:txBody>
          <a:bodyPr/>
          <a:lstStyle/>
          <a:p>
            <a:fld id="{526029D5-72E6-204B-95C8-168152D4D850}" type="slidenum">
              <a:rPr lang="en-US" smtClean="0"/>
              <a:t>3</a:t>
            </a:fld>
            <a:endParaRPr lang="en-US"/>
          </a:p>
        </p:txBody>
      </p:sp>
    </p:spTree>
    <p:extLst>
      <p:ext uri="{BB962C8B-B14F-4D97-AF65-F5344CB8AC3E}">
        <p14:creationId xmlns:p14="http://schemas.microsoft.com/office/powerpoint/2010/main" val="3341241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69BA6E-BB8D-5AD5-E562-00092E362E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D1AA5-5498-F16C-C2FF-F267F3368B9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C54856-1508-B208-7D60-EFEB1CB83995}"/>
              </a:ext>
            </a:extLst>
          </p:cNvPr>
          <p:cNvSpPr>
            <a:spLocks noGrp="1"/>
          </p:cNvSpPr>
          <p:nvPr>
            <p:ph type="body" idx="1"/>
          </p:nvPr>
        </p:nvSpPr>
        <p:spPr/>
        <p:txBody>
          <a:bodyPr/>
          <a:lstStyle/>
          <a:p>
            <a:r>
              <a:rPr lang="en-US" b="1" dirty="0"/>
              <a:t>Speaker notes:</a:t>
            </a:r>
          </a:p>
          <a:p>
            <a:r>
              <a:rPr lang="en-US" b="0" dirty="0"/>
              <a:t>Four main goals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n-GB" sz="1200" b="1" i="0" u="none" strike="noStrike" dirty="0">
                <a:solidFill>
                  <a:srgbClr val="000000"/>
                </a:solidFill>
                <a:effectLst/>
                <a:latin typeface="Calibri" panose="020F0502020204030204" pitchFamily="34" charset="0"/>
              </a:rPr>
              <a:t>Identify </a:t>
            </a:r>
            <a:r>
              <a:rPr lang="en-GB" sz="1200" b="0" i="0" u="none" strike="noStrike" dirty="0">
                <a:solidFill>
                  <a:srgbClr val="000000"/>
                </a:solidFill>
                <a:effectLst/>
                <a:latin typeface="Calibri" panose="020F0502020204030204" pitchFamily="34" charset="0"/>
              </a:rPr>
              <a:t>and</a:t>
            </a:r>
            <a:r>
              <a:rPr lang="en-GB" sz="1200" b="1" i="0" u="none" strike="noStrike" dirty="0">
                <a:solidFill>
                  <a:srgbClr val="000000"/>
                </a:solidFill>
                <a:effectLst/>
                <a:latin typeface="Calibri" panose="020F0502020204030204" pitchFamily="34" charset="0"/>
              </a:rPr>
              <a:t> describe </a:t>
            </a:r>
            <a:r>
              <a:rPr lang="en-GB" sz="1200" b="0" i="0" u="none" strike="noStrike" dirty="0">
                <a:solidFill>
                  <a:srgbClr val="000000"/>
                </a:solidFill>
                <a:effectLst/>
                <a:latin typeface="Calibri" panose="020F0502020204030204" pitchFamily="34" charset="0"/>
              </a:rPr>
              <a:t>key effective leadership qualities to build on existing knowledge and experiences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n-GB" sz="1200" b="1" i="0" u="none" strike="noStrike" dirty="0">
                <a:solidFill>
                  <a:srgbClr val="000000"/>
                </a:solidFill>
                <a:effectLst/>
                <a:latin typeface="Calibri" panose="020F0502020204030204" pitchFamily="34" charset="0"/>
              </a:rPr>
              <a:t>Identify </a:t>
            </a:r>
            <a:r>
              <a:rPr lang="en-GB" sz="1200" b="0" i="0" u="none" strike="noStrike" dirty="0">
                <a:solidFill>
                  <a:srgbClr val="000000"/>
                </a:solidFill>
                <a:effectLst/>
                <a:latin typeface="Calibri" panose="020F0502020204030204" pitchFamily="34" charset="0"/>
              </a:rPr>
              <a:t>own leadership values which you can adopt in your leadership contexts</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n-GB" sz="1200" b="1" i="0" u="none" strike="noStrike" dirty="0">
                <a:solidFill>
                  <a:srgbClr val="000000"/>
                </a:solidFill>
                <a:effectLst/>
                <a:latin typeface="Calibri" panose="020F0502020204030204" pitchFamily="34" charset="0"/>
              </a:rPr>
              <a:t>Recognize </a:t>
            </a:r>
            <a:r>
              <a:rPr lang="en-GB" sz="1200" b="0" i="0" u="none" strike="noStrike" dirty="0">
                <a:solidFill>
                  <a:srgbClr val="000000"/>
                </a:solidFill>
                <a:effectLst/>
                <a:latin typeface="Calibri" panose="020F0502020204030204" pitchFamily="34" charset="0"/>
              </a:rPr>
              <a:t>where values of effective leadership and Open Science overlap to strengthen your capacity as leaders in Open Science </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r>
              <a:rPr lang="en-GB" sz="1200" b="1" i="0" u="none" strike="noStrike" dirty="0">
                <a:solidFill>
                  <a:srgbClr val="000000"/>
                </a:solidFill>
                <a:effectLst/>
                <a:latin typeface="Calibri" panose="020F0502020204030204" pitchFamily="34" charset="0"/>
              </a:rPr>
              <a:t>Examine </a:t>
            </a:r>
            <a:r>
              <a:rPr lang="en-GB" sz="1200" i="0" u="none" strike="noStrike" dirty="0">
                <a:solidFill>
                  <a:srgbClr val="000000"/>
                </a:solidFill>
                <a:effectLst/>
                <a:latin typeface="Calibri" panose="020F0502020204030204" pitchFamily="34" charset="0"/>
              </a:rPr>
              <a:t>how social </a:t>
            </a:r>
            <a:r>
              <a:rPr lang="en-GB" sz="1200" dirty="0">
                <a:solidFill>
                  <a:srgbClr val="000000"/>
                </a:solidFill>
                <a:latin typeface="Calibri" panose="020F0502020204030204" pitchFamily="34" charset="0"/>
              </a:rPr>
              <a:t>context influences leadership and </a:t>
            </a:r>
            <a:r>
              <a:rPr lang="en-GB" sz="1200" i="0" u="none" strike="noStrike" dirty="0">
                <a:solidFill>
                  <a:srgbClr val="000000"/>
                </a:solidFill>
                <a:effectLst/>
                <a:latin typeface="Calibri" panose="020F0502020204030204" pitchFamily="34" charset="0"/>
              </a:rPr>
              <a:t>open research culture </a:t>
            </a: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lang="en-US" sz="1200" dirty="0"/>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lang="en-US" sz="1200" dirty="0"/>
          </a:p>
          <a:p>
            <a:endParaRPr lang="en-US" b="0" dirty="0"/>
          </a:p>
        </p:txBody>
      </p:sp>
      <p:sp>
        <p:nvSpPr>
          <p:cNvPr id="4" name="Slide Number Placeholder 3">
            <a:extLst>
              <a:ext uri="{FF2B5EF4-FFF2-40B4-BE49-F238E27FC236}">
                <a16:creationId xmlns:a16="http://schemas.microsoft.com/office/drawing/2014/main" id="{63063C71-079A-649C-6580-FB7B1CB1F30B}"/>
              </a:ext>
            </a:extLst>
          </p:cNvPr>
          <p:cNvSpPr>
            <a:spLocks noGrp="1"/>
          </p:cNvSpPr>
          <p:nvPr>
            <p:ph type="sldNum" sz="quarter" idx="5"/>
          </p:nvPr>
        </p:nvSpPr>
        <p:spPr/>
        <p:txBody>
          <a:bodyPr/>
          <a:lstStyle/>
          <a:p>
            <a:fld id="{526029D5-72E6-204B-95C8-168152D4D850}" type="slidenum">
              <a:rPr lang="en-US" smtClean="0"/>
              <a:t>4</a:t>
            </a:fld>
            <a:endParaRPr lang="en-US"/>
          </a:p>
        </p:txBody>
      </p:sp>
    </p:spTree>
    <p:extLst>
      <p:ext uri="{BB962C8B-B14F-4D97-AF65-F5344CB8AC3E}">
        <p14:creationId xmlns:p14="http://schemas.microsoft.com/office/powerpoint/2010/main" val="31357250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So the journey we will go on today is one where we start out with being unsure of what effective leadership is and how to embed those skills into our contexts to hopefully by the end being able to critically evaluate the values and skills of leadership and feel empowered to apply to your own contexts</a:t>
            </a:r>
          </a:p>
        </p:txBody>
      </p:sp>
      <p:sp>
        <p:nvSpPr>
          <p:cNvPr id="4" name="Slide Number Placeholder 3"/>
          <p:cNvSpPr>
            <a:spLocks noGrp="1"/>
          </p:cNvSpPr>
          <p:nvPr>
            <p:ph type="sldNum" sz="quarter" idx="5"/>
          </p:nvPr>
        </p:nvSpPr>
        <p:spPr/>
        <p:txBody>
          <a:bodyPr/>
          <a:lstStyle/>
          <a:p>
            <a:fld id="{D9F7A9A0-2E38-124A-89DA-80FC25B91333}" type="slidenum">
              <a:rPr lang="en-US" smtClean="0"/>
              <a:t>5</a:t>
            </a:fld>
            <a:endParaRPr lang="en-US"/>
          </a:p>
        </p:txBody>
      </p:sp>
    </p:spTree>
    <p:extLst>
      <p:ext uri="{BB962C8B-B14F-4D97-AF65-F5344CB8AC3E}">
        <p14:creationId xmlns:p14="http://schemas.microsoft.com/office/powerpoint/2010/main" val="3934887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13224F-0325-80B7-E7F5-88D4612AA6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32856A-921D-3232-3541-8C416765DED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6D4BD96-C15C-7C9E-4629-7DD2F01ED80E}"/>
              </a:ext>
            </a:extLst>
          </p:cNvPr>
          <p:cNvSpPr>
            <a:spLocks noGrp="1"/>
          </p:cNvSpPr>
          <p:nvPr>
            <p:ph type="body" idx="1"/>
          </p:nvPr>
        </p:nvSpPr>
        <p:spPr/>
        <p:txBody>
          <a:bodyPr/>
          <a:lstStyle/>
          <a:p>
            <a:r>
              <a:rPr lang="en-US" b="1" dirty="0"/>
              <a:t>Speaker notes:</a:t>
            </a:r>
          </a:p>
          <a:p>
            <a:r>
              <a:rPr lang="en-US" dirty="0"/>
              <a:t>Let’s take a step back and think about the wider context leadership beyond open science in industry and policy.</a:t>
            </a:r>
          </a:p>
        </p:txBody>
      </p:sp>
      <p:sp>
        <p:nvSpPr>
          <p:cNvPr id="4" name="Slide Number Placeholder 3">
            <a:extLst>
              <a:ext uri="{FF2B5EF4-FFF2-40B4-BE49-F238E27FC236}">
                <a16:creationId xmlns:a16="http://schemas.microsoft.com/office/drawing/2014/main" id="{83264228-E220-C21C-DF2A-E6D65F018A60}"/>
              </a:ext>
            </a:extLst>
          </p:cNvPr>
          <p:cNvSpPr>
            <a:spLocks noGrp="1"/>
          </p:cNvSpPr>
          <p:nvPr>
            <p:ph type="sldNum" sz="quarter" idx="5"/>
          </p:nvPr>
        </p:nvSpPr>
        <p:spPr/>
        <p:txBody>
          <a:bodyPr/>
          <a:lstStyle/>
          <a:p>
            <a:fld id="{D9F7A9A0-2E38-124A-89DA-80FC25B91333}" type="slidenum">
              <a:rPr lang="en-US" smtClean="0"/>
              <a:t>6</a:t>
            </a:fld>
            <a:endParaRPr lang="en-US"/>
          </a:p>
        </p:txBody>
      </p:sp>
    </p:spTree>
    <p:extLst>
      <p:ext uri="{BB962C8B-B14F-4D97-AF65-F5344CB8AC3E}">
        <p14:creationId xmlns:p14="http://schemas.microsoft.com/office/powerpoint/2010/main" val="22374599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3DC6DB-C1BA-E959-682F-75737FEE57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C868F2-031C-74F5-F319-EDBE65885B61}"/>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07B98E13-A5DB-4E9F-1DCB-D4A72B301D1D}"/>
              </a:ext>
            </a:extLst>
          </p:cNvPr>
          <p:cNvSpPr>
            <a:spLocks noGrp="1"/>
          </p:cNvSpPr>
          <p:nvPr>
            <p:ph type="body" idx="1"/>
          </p:nvPr>
        </p:nvSpPr>
        <p:spPr/>
        <p:txBody>
          <a:bodyPr/>
          <a:lstStyle/>
          <a:p>
            <a:r>
              <a:rPr lang="en-US" b="1" dirty="0"/>
              <a:t>Speaker notes:</a:t>
            </a:r>
            <a:endParaRPr lang="en-US" dirty="0"/>
          </a:p>
          <a:p>
            <a:r>
              <a:rPr lang="en-US" dirty="0"/>
              <a:t>This chart shows </a:t>
            </a:r>
            <a:r>
              <a:rPr lang="en-GB" dirty="0"/>
              <a:t>1,000 employers – representing more than 14 million workers across 22 industry clusters and 55 economies providing insights into the emerging jobs landscape for the 2025-2030 period</a:t>
            </a:r>
          </a:p>
          <a:p>
            <a:endParaRPr lang="en-GB" dirty="0"/>
          </a:p>
          <a:p>
            <a:r>
              <a:rPr lang="en-GB" dirty="0"/>
              <a:t>Leadership is regarded as a core skill!</a:t>
            </a:r>
          </a:p>
          <a:p>
            <a:endParaRPr lang="en-GB" dirty="0"/>
          </a:p>
          <a:p>
            <a:r>
              <a:rPr lang="en-GB" b="1" dirty="0"/>
              <a:t>Instructor notes:</a:t>
            </a:r>
          </a:p>
          <a:p>
            <a:r>
              <a:rPr lang="en-US" dirty="0"/>
              <a:t>Make a general point </a:t>
            </a:r>
          </a:p>
          <a:p>
            <a:r>
              <a:rPr lang="en-US" dirty="0"/>
              <a:t>Context for work the content you will engage with today is relevant for wherever your next role or project will be, inside or outside academia.</a:t>
            </a:r>
          </a:p>
          <a:p>
            <a:endParaRPr lang="en-US" dirty="0"/>
          </a:p>
        </p:txBody>
      </p:sp>
      <p:sp>
        <p:nvSpPr>
          <p:cNvPr id="4" name="Slide Number Placeholder 3">
            <a:extLst>
              <a:ext uri="{FF2B5EF4-FFF2-40B4-BE49-F238E27FC236}">
                <a16:creationId xmlns:a16="http://schemas.microsoft.com/office/drawing/2014/main" id="{EF62DBC5-ED3B-4648-8D04-27B524C9620D}"/>
              </a:ext>
            </a:extLst>
          </p:cNvPr>
          <p:cNvSpPr>
            <a:spLocks noGrp="1"/>
          </p:cNvSpPr>
          <p:nvPr>
            <p:ph type="sldNum" sz="quarter" idx="5"/>
          </p:nvPr>
        </p:nvSpPr>
        <p:spPr/>
        <p:txBody>
          <a:bodyPr/>
          <a:lstStyle/>
          <a:p>
            <a:fld id="{D9F7A9A0-2E38-124A-89DA-80FC25B91333}" type="slidenum">
              <a:rPr lang="en-US" smtClean="0"/>
              <a:t>7</a:t>
            </a:fld>
            <a:endParaRPr lang="en-US"/>
          </a:p>
        </p:txBody>
      </p:sp>
    </p:spTree>
    <p:extLst>
      <p:ext uri="{BB962C8B-B14F-4D97-AF65-F5344CB8AC3E}">
        <p14:creationId xmlns:p14="http://schemas.microsoft.com/office/powerpoint/2010/main" val="24016395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E0EB9A-3413-143A-9872-99702BD3C7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5109AD-6D9C-F0B7-6BCF-5CFD00C012C3}"/>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9B077D99-C7AD-9621-AC12-69DA47358C5B}"/>
              </a:ext>
            </a:extLst>
          </p:cNvPr>
          <p:cNvSpPr>
            <a:spLocks noGrp="1"/>
          </p:cNvSpPr>
          <p:nvPr>
            <p:ph type="body" idx="1"/>
          </p:nvPr>
        </p:nvSpPr>
        <p:spPr/>
        <p:txBody>
          <a:bodyPr/>
          <a:lstStyle/>
          <a:p>
            <a:r>
              <a:rPr lang="en-US" b="1" dirty="0"/>
              <a:t>Speaker notes:</a:t>
            </a:r>
          </a:p>
          <a:p>
            <a:r>
              <a:rPr lang="en-US" dirty="0"/>
              <a:t>In addition to leadership, Some of the core skills that support leadership relate to working with others and self-efficacy – belief in oneself and we will practice some of these skills today.</a:t>
            </a:r>
          </a:p>
          <a:p>
            <a:endParaRPr lang="en-US" dirty="0"/>
          </a:p>
          <a:p>
            <a:endParaRPr lang="en-US" dirty="0"/>
          </a:p>
        </p:txBody>
      </p:sp>
      <p:sp>
        <p:nvSpPr>
          <p:cNvPr id="4" name="Slide Number Placeholder 3">
            <a:extLst>
              <a:ext uri="{FF2B5EF4-FFF2-40B4-BE49-F238E27FC236}">
                <a16:creationId xmlns:a16="http://schemas.microsoft.com/office/drawing/2014/main" id="{C5844A0A-2A0D-D9D9-D78A-003A35F8A440}"/>
              </a:ext>
            </a:extLst>
          </p:cNvPr>
          <p:cNvSpPr>
            <a:spLocks noGrp="1"/>
          </p:cNvSpPr>
          <p:nvPr>
            <p:ph type="sldNum" sz="quarter" idx="5"/>
          </p:nvPr>
        </p:nvSpPr>
        <p:spPr/>
        <p:txBody>
          <a:bodyPr/>
          <a:lstStyle/>
          <a:p>
            <a:fld id="{D9F7A9A0-2E38-124A-89DA-80FC25B91333}" type="slidenum">
              <a:rPr lang="en-US" smtClean="0"/>
              <a:t>8</a:t>
            </a:fld>
            <a:endParaRPr lang="en-US"/>
          </a:p>
        </p:txBody>
      </p:sp>
    </p:spTree>
    <p:extLst>
      <p:ext uri="{BB962C8B-B14F-4D97-AF65-F5344CB8AC3E}">
        <p14:creationId xmlns:p14="http://schemas.microsoft.com/office/powerpoint/2010/main" val="13986017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dirty="0"/>
              <a:t>Switching to policy in the European context, this map shows just over half of nations have a policy on skills/training on open science.</a:t>
            </a:r>
          </a:p>
          <a:p>
            <a:r>
              <a:rPr lang="en-US" dirty="0"/>
              <a:t>Policy and other top-down practices can be slow to implement, which highlights the importance of skills and training at individual, team, departmental and institutional levels</a:t>
            </a:r>
          </a:p>
        </p:txBody>
      </p:sp>
      <p:sp>
        <p:nvSpPr>
          <p:cNvPr id="4" name="Slide Number Placeholder 3"/>
          <p:cNvSpPr>
            <a:spLocks noGrp="1"/>
          </p:cNvSpPr>
          <p:nvPr>
            <p:ph type="sldNum" sz="quarter" idx="5"/>
          </p:nvPr>
        </p:nvSpPr>
        <p:spPr/>
        <p:txBody>
          <a:bodyPr/>
          <a:lstStyle/>
          <a:p>
            <a:fld id="{D9F7A9A0-2E38-124A-89DA-80FC25B91333}" type="slidenum">
              <a:rPr lang="en-US" smtClean="0"/>
              <a:t>9</a:t>
            </a:fld>
            <a:endParaRPr lang="en-US"/>
          </a:p>
        </p:txBody>
      </p:sp>
    </p:spTree>
    <p:extLst>
      <p:ext uri="{BB962C8B-B14F-4D97-AF65-F5344CB8AC3E}">
        <p14:creationId xmlns:p14="http://schemas.microsoft.com/office/powerpoint/2010/main" val="2012308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E7EEE2-23CC-3113-9E66-575F48670F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0D2EA0-7545-8817-C5DF-27C3F383FE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CD3B21-758F-4792-2DD4-23ED82DF8C86}"/>
              </a:ext>
            </a:extLst>
          </p:cNvPr>
          <p:cNvSpPr>
            <a:spLocks noGrp="1"/>
          </p:cNvSpPr>
          <p:nvPr>
            <p:ph type="body" idx="1"/>
          </p:nvPr>
        </p:nvSpPr>
        <p:spPr/>
        <p:txBody>
          <a:bodyPr/>
          <a:lstStyle/>
          <a:p>
            <a:r>
              <a:rPr lang="en-US" b="1" dirty="0"/>
              <a:t>Speaker notes:</a:t>
            </a:r>
          </a:p>
          <a:p>
            <a:r>
              <a:rPr lang="en-US" dirty="0"/>
              <a:t>Important to recognize open science adoption and priorities differ around the world. This table focusing on non-European regions highlights some key priorities that we will discuss in more detail over the course of the day. </a:t>
            </a:r>
          </a:p>
          <a:p>
            <a:endParaRPr lang="en-US" dirty="0"/>
          </a:p>
          <a:p>
            <a:r>
              <a:rPr lang="en-US" b="1" dirty="0"/>
              <a:t>Instructor notes:</a:t>
            </a:r>
          </a:p>
          <a:p>
            <a:r>
              <a:rPr lang="en-US" dirty="0"/>
              <a:t>Sign post to learners to check out the UNESCO open science report for more in-depth information.</a:t>
            </a:r>
          </a:p>
        </p:txBody>
      </p:sp>
      <p:sp>
        <p:nvSpPr>
          <p:cNvPr id="4" name="Slide Number Placeholder 3">
            <a:extLst>
              <a:ext uri="{FF2B5EF4-FFF2-40B4-BE49-F238E27FC236}">
                <a16:creationId xmlns:a16="http://schemas.microsoft.com/office/drawing/2014/main" id="{C7201E41-9632-A53B-C623-3AF727031F3E}"/>
              </a:ext>
            </a:extLst>
          </p:cNvPr>
          <p:cNvSpPr>
            <a:spLocks noGrp="1"/>
          </p:cNvSpPr>
          <p:nvPr>
            <p:ph type="sldNum" sz="quarter" idx="5"/>
          </p:nvPr>
        </p:nvSpPr>
        <p:spPr/>
        <p:txBody>
          <a:bodyPr/>
          <a:lstStyle/>
          <a:p>
            <a:fld id="{D9F7A9A0-2E38-124A-89DA-80FC25B91333}" type="slidenum">
              <a:rPr lang="en-US" smtClean="0"/>
              <a:t>10</a:t>
            </a:fld>
            <a:endParaRPr lang="en-US"/>
          </a:p>
        </p:txBody>
      </p:sp>
    </p:spTree>
    <p:extLst>
      <p:ext uri="{BB962C8B-B14F-4D97-AF65-F5344CB8AC3E}">
        <p14:creationId xmlns:p14="http://schemas.microsoft.com/office/powerpoint/2010/main" val="3727879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This exercise aims to get you thinking about what "good" leadership looks and feels like. We will spend about 10 minutes reflecting, sharing our thoughts and then having a group discussion.</a:t>
            </a:r>
          </a:p>
          <a:p>
            <a:endParaRPr lang="en-US" dirty="0"/>
          </a:p>
          <a:p>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exercise can be done on a shared whiteboard  (e.g. http://</a:t>
            </a:r>
            <a:r>
              <a:rPr lang="en-US" dirty="0" err="1"/>
              <a:t>scrumblr.ca</a:t>
            </a:r>
            <a:r>
              <a:rPr lang="en-US" dirty="0"/>
              <a:t>/) to gather everyone’s thoughts on the question and then have a short group discussion</a:t>
            </a: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11</a:t>
            </a:fld>
            <a:endParaRPr lang="en-US"/>
          </a:p>
        </p:txBody>
      </p:sp>
    </p:spTree>
    <p:extLst>
      <p:ext uri="{BB962C8B-B14F-4D97-AF65-F5344CB8AC3E}">
        <p14:creationId xmlns:p14="http://schemas.microsoft.com/office/powerpoint/2010/main" val="18365297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Some key qualities that come up repeatedly in the literature and previous workshops are qualities such as: </a:t>
            </a:r>
          </a:p>
          <a:p>
            <a:r>
              <a:rPr lang="en-US" dirty="0"/>
              <a:t>active listening, clear communication, subject knowledge, empathy, problem solving, active learning, self awareness, being collaborative and flexible.</a:t>
            </a: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12</a:t>
            </a:fld>
            <a:endParaRPr lang="en-US"/>
          </a:p>
        </p:txBody>
      </p:sp>
    </p:spTree>
    <p:extLst>
      <p:ext uri="{BB962C8B-B14F-4D97-AF65-F5344CB8AC3E}">
        <p14:creationId xmlns:p14="http://schemas.microsoft.com/office/powerpoint/2010/main" val="22886144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0" dirty="0"/>
              <a:t>We will focus on these 5 skills and qualities: empathy, problem solving, self awareness, collaboration and knowledge </a:t>
            </a:r>
          </a:p>
        </p:txBody>
      </p:sp>
      <p:sp>
        <p:nvSpPr>
          <p:cNvPr id="4" name="Slide Number Placeholder 3"/>
          <p:cNvSpPr>
            <a:spLocks noGrp="1"/>
          </p:cNvSpPr>
          <p:nvPr>
            <p:ph type="sldNum" sz="quarter" idx="5"/>
          </p:nvPr>
        </p:nvSpPr>
        <p:spPr/>
        <p:txBody>
          <a:bodyPr/>
          <a:lstStyle/>
          <a:p>
            <a:fld id="{526029D5-72E6-204B-95C8-168152D4D850}" type="slidenum">
              <a:rPr lang="en-US" smtClean="0"/>
              <a:t>13</a:t>
            </a:fld>
            <a:endParaRPr lang="en-US"/>
          </a:p>
        </p:txBody>
      </p:sp>
    </p:spTree>
    <p:extLst>
      <p:ext uri="{BB962C8B-B14F-4D97-AF65-F5344CB8AC3E}">
        <p14:creationId xmlns:p14="http://schemas.microsoft.com/office/powerpoint/2010/main" val="2541112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dirty="0"/>
              <a:t>Leadership is not one thing and is highly context dependent </a:t>
            </a:r>
          </a:p>
          <a:p>
            <a:r>
              <a:rPr lang="en-US" dirty="0"/>
              <a:t>although often we picture PIs or supervisors</a:t>
            </a:r>
          </a:p>
          <a:p>
            <a:r>
              <a:rPr lang="en-US" dirty="0"/>
              <a:t>This leadership ring shows different leadership roles like: community leaders, lecturers, mentors.</a:t>
            </a: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14</a:t>
            </a:fld>
            <a:endParaRPr lang="en-US"/>
          </a:p>
        </p:txBody>
      </p:sp>
    </p:spTree>
    <p:extLst>
      <p:ext uri="{BB962C8B-B14F-4D97-AF65-F5344CB8AC3E}">
        <p14:creationId xmlns:p14="http://schemas.microsoft.com/office/powerpoint/2010/main" val="42243925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6D29B9-B3B2-27D3-8C4E-712AC3A484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69622C-F8CB-592B-1938-2548E27810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B1A898-81EA-EA21-3651-727A735740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Picture a leader typically we think about formal leaders</a:t>
            </a:r>
          </a:p>
          <a:p>
            <a:endParaRPr lang="en-US" dirty="0"/>
          </a:p>
          <a:p>
            <a:r>
              <a:rPr lang="en-US" dirty="0"/>
              <a:t>Examples outside of academia: Heads of state, CEOs, manager. </a:t>
            </a:r>
          </a:p>
          <a:p>
            <a:endParaRPr lang="en-US" dirty="0"/>
          </a:p>
          <a:p>
            <a:r>
              <a:rPr lang="en-US" dirty="0"/>
              <a:t>In academic contexts: PIs, supervisors</a:t>
            </a:r>
          </a:p>
          <a:p>
            <a:r>
              <a:rPr lang="en-US" dirty="0"/>
              <a:t>Characteristics of formal leaders: officially recognized , there is a hiring process and a feature of hierarchical organizations </a:t>
            </a:r>
          </a:p>
          <a:p>
            <a:endParaRPr lang="en-US" dirty="0"/>
          </a:p>
        </p:txBody>
      </p:sp>
      <p:sp>
        <p:nvSpPr>
          <p:cNvPr id="4" name="Slide Number Placeholder 3">
            <a:extLst>
              <a:ext uri="{FF2B5EF4-FFF2-40B4-BE49-F238E27FC236}">
                <a16:creationId xmlns:a16="http://schemas.microsoft.com/office/drawing/2014/main" id="{DE6FC780-9E60-2707-248A-73E1D38C75DD}"/>
              </a:ext>
            </a:extLst>
          </p:cNvPr>
          <p:cNvSpPr>
            <a:spLocks noGrp="1"/>
          </p:cNvSpPr>
          <p:nvPr>
            <p:ph type="sldNum" sz="quarter" idx="5"/>
          </p:nvPr>
        </p:nvSpPr>
        <p:spPr/>
        <p:txBody>
          <a:bodyPr/>
          <a:lstStyle/>
          <a:p>
            <a:fld id="{526029D5-72E6-204B-95C8-168152D4D850}" type="slidenum">
              <a:rPr lang="en-US" smtClean="0"/>
              <a:t>15</a:t>
            </a:fld>
            <a:endParaRPr lang="en-US"/>
          </a:p>
        </p:txBody>
      </p:sp>
    </p:spTree>
    <p:extLst>
      <p:ext uri="{BB962C8B-B14F-4D97-AF65-F5344CB8AC3E}">
        <p14:creationId xmlns:p14="http://schemas.microsoft.com/office/powerpoint/2010/main" val="17210257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7A11A-56AB-7403-4C80-E64B59738D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90AD99-8CBC-41BC-4C13-F229D240FC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63BFC2-DF6A-CC24-958D-F23B9862F0C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Informal leaders</a:t>
            </a:r>
          </a:p>
          <a:p>
            <a:r>
              <a:rPr lang="en-US" dirty="0"/>
              <a:t>Emerge in growing movements such as Open Science, often grassroots and advocacy roles</a:t>
            </a:r>
          </a:p>
          <a:p>
            <a:endParaRPr lang="en-US" dirty="0"/>
          </a:p>
          <a:p>
            <a:r>
              <a:rPr lang="en-US" dirty="0"/>
              <a:t>Shared skills, and qualities.</a:t>
            </a:r>
          </a:p>
          <a:p>
            <a:endParaRPr lang="en-US" dirty="0"/>
          </a:p>
          <a:p>
            <a:endParaRPr lang="en-US" b="1" dirty="0"/>
          </a:p>
        </p:txBody>
      </p:sp>
      <p:sp>
        <p:nvSpPr>
          <p:cNvPr id="4" name="Slide Number Placeholder 3">
            <a:extLst>
              <a:ext uri="{FF2B5EF4-FFF2-40B4-BE49-F238E27FC236}">
                <a16:creationId xmlns:a16="http://schemas.microsoft.com/office/drawing/2014/main" id="{BEB047DC-F5A8-7CEF-AC4A-8ADACF3EF621}"/>
              </a:ext>
            </a:extLst>
          </p:cNvPr>
          <p:cNvSpPr>
            <a:spLocks noGrp="1"/>
          </p:cNvSpPr>
          <p:nvPr>
            <p:ph type="sldNum" sz="quarter" idx="5"/>
          </p:nvPr>
        </p:nvSpPr>
        <p:spPr/>
        <p:txBody>
          <a:bodyPr/>
          <a:lstStyle/>
          <a:p>
            <a:fld id="{526029D5-72E6-204B-95C8-168152D4D850}" type="slidenum">
              <a:rPr lang="en-US" smtClean="0"/>
              <a:t>16</a:t>
            </a:fld>
            <a:endParaRPr lang="en-US"/>
          </a:p>
        </p:txBody>
      </p:sp>
    </p:spTree>
    <p:extLst>
      <p:ext uri="{BB962C8B-B14F-4D97-AF65-F5344CB8AC3E}">
        <p14:creationId xmlns:p14="http://schemas.microsoft.com/office/powerpoint/2010/main" val="64719470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EC2106-AE85-F3A0-B4F1-973BA325D8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701F58-14F4-B589-B513-AEA6629BF8C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DAFD81-08A0-BD40-0DFC-59EAA08EB1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endParaRPr lang="en-US" dirty="0"/>
          </a:p>
          <a:p>
            <a:r>
              <a:rPr lang="en-US" dirty="0"/>
              <a:t>There are a mix of formal and informal leadership roles found in different contexts such as committees, university departments, project teams.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Leadership roles ary in size, timeframe and level of responsibility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It can be a good way for learners to relate to instructors if you share a short personal anecdote about your leadership experience. </a:t>
            </a:r>
          </a:p>
          <a:p>
            <a:endParaRPr lang="en-US" dirty="0"/>
          </a:p>
        </p:txBody>
      </p:sp>
      <p:sp>
        <p:nvSpPr>
          <p:cNvPr id="4" name="Slide Number Placeholder 3">
            <a:extLst>
              <a:ext uri="{FF2B5EF4-FFF2-40B4-BE49-F238E27FC236}">
                <a16:creationId xmlns:a16="http://schemas.microsoft.com/office/drawing/2014/main" id="{8846829A-9BD9-1470-1B74-B1D87E7331BC}"/>
              </a:ext>
            </a:extLst>
          </p:cNvPr>
          <p:cNvSpPr>
            <a:spLocks noGrp="1"/>
          </p:cNvSpPr>
          <p:nvPr>
            <p:ph type="sldNum" sz="quarter" idx="5"/>
          </p:nvPr>
        </p:nvSpPr>
        <p:spPr/>
        <p:txBody>
          <a:bodyPr/>
          <a:lstStyle/>
          <a:p>
            <a:fld id="{526029D5-72E6-204B-95C8-168152D4D850}" type="slidenum">
              <a:rPr lang="en-US" smtClean="0"/>
              <a:t>17</a:t>
            </a:fld>
            <a:endParaRPr lang="en-US"/>
          </a:p>
        </p:txBody>
      </p:sp>
    </p:spTree>
    <p:extLst>
      <p:ext uri="{BB962C8B-B14F-4D97-AF65-F5344CB8AC3E}">
        <p14:creationId xmlns:p14="http://schemas.microsoft.com/office/powerpoint/2010/main" val="377222349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A perspective of leadership in open science by Dr Elisabeth Bik who trained as a microbiologist and pivoted into working on research integrity matters (photo manipulation) after she found her paper was plagiarized back in 2023.</a:t>
            </a:r>
          </a:p>
          <a:p>
            <a:endParaRPr lang="en-US" dirty="0"/>
          </a:p>
          <a:p>
            <a:r>
              <a:rPr lang="en-US" dirty="0"/>
              <a:t>She says: </a:t>
            </a:r>
            <a:r>
              <a:rPr lang="en-GB" sz="1200" b="0" i="0" kern="1200" dirty="0">
                <a:solidFill>
                  <a:schemeClr val="tx1"/>
                </a:solidFill>
                <a:effectLst/>
                <a:latin typeface="+mn-lt"/>
                <a:ea typeface="+mn-ea"/>
                <a:cs typeface="+mn-cs"/>
              </a:rPr>
              <a:t>Leadership in Open Science means </a:t>
            </a:r>
            <a:r>
              <a:rPr lang="en-GB" sz="1200" b="1" i="0" kern="1200" dirty="0">
                <a:solidFill>
                  <a:schemeClr val="tx1"/>
                </a:solidFill>
                <a:effectLst/>
                <a:latin typeface="+mn-lt"/>
                <a:ea typeface="+mn-ea"/>
                <a:cs typeface="+mn-cs"/>
              </a:rPr>
              <a:t>helping others</a:t>
            </a:r>
            <a:r>
              <a:rPr lang="en-GB" sz="1200" b="0" i="0" kern="1200" dirty="0">
                <a:solidFill>
                  <a:schemeClr val="tx1"/>
                </a:solidFill>
                <a:effectLst/>
                <a:latin typeface="+mn-lt"/>
                <a:ea typeface="+mn-ea"/>
                <a:cs typeface="+mn-cs"/>
              </a:rPr>
              <a:t> do better science through </a:t>
            </a:r>
            <a:r>
              <a:rPr lang="en-GB" sz="1200" b="1" i="0" kern="1200" dirty="0">
                <a:solidFill>
                  <a:schemeClr val="tx1"/>
                </a:solidFill>
                <a:effectLst/>
                <a:latin typeface="+mn-lt"/>
                <a:ea typeface="+mn-ea"/>
                <a:cs typeface="+mn-cs"/>
              </a:rPr>
              <a:t>transparency</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accountability</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openness</a:t>
            </a:r>
            <a:r>
              <a:rPr lang="en-GB" sz="1200" b="0" i="0" kern="1200" dirty="0">
                <a:solidFill>
                  <a:schemeClr val="tx1"/>
                </a:solidFill>
                <a:effectLst/>
                <a:latin typeface="+mn-lt"/>
                <a:ea typeface="+mn-ea"/>
                <a:cs typeface="+mn-cs"/>
              </a:rPr>
              <a:t> to correct the scientific record. </a:t>
            </a:r>
            <a:endParaRPr lang="en-GB" sz="120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You do not need a leadership position to lead</a:t>
            </a:r>
            <a:r>
              <a:rPr lang="en-GB" sz="1200" b="0" i="0" kern="1200" dirty="0">
                <a:solidFill>
                  <a:schemeClr val="tx1"/>
                </a:solidFill>
                <a:effectLst/>
                <a:latin typeface="+mn-lt"/>
                <a:ea typeface="+mn-ea"/>
                <a:cs typeface="+mn-cs"/>
              </a:rPr>
              <a:t>; every researcher can make a difference by setting a positive example.</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18</a:t>
            </a:fld>
            <a:endParaRPr lang="en-US"/>
          </a:p>
        </p:txBody>
      </p:sp>
    </p:spTree>
    <p:extLst>
      <p:ext uri="{BB962C8B-B14F-4D97-AF65-F5344CB8AC3E}">
        <p14:creationId xmlns:p14="http://schemas.microsoft.com/office/powerpoint/2010/main" val="9411454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00F098-8CE6-97DE-A79B-97D173E317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E5F599-B762-697D-844D-D22287CFD0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8132F3-129A-46E3-1962-A78486E942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In all the contexts we just discussed, leadership is about people, a dance between leaders and followers</a:t>
            </a:r>
          </a:p>
          <a:p>
            <a:r>
              <a:rPr lang="en-US" dirty="0"/>
              <a:t>It is about relationships at the level of the individuals &gt; teams to the institutional or organizational level</a:t>
            </a:r>
          </a:p>
          <a:p>
            <a:endParaRPr lang="en-US" dirty="0"/>
          </a:p>
          <a:p>
            <a:r>
              <a:rPr lang="en-US" dirty="0"/>
              <a:t>In an instructor context more than instructor at the front transmitting knowledge – learners play a role </a:t>
            </a:r>
          </a:p>
        </p:txBody>
      </p:sp>
      <p:sp>
        <p:nvSpPr>
          <p:cNvPr id="4" name="Slide Number Placeholder 3">
            <a:extLst>
              <a:ext uri="{FF2B5EF4-FFF2-40B4-BE49-F238E27FC236}">
                <a16:creationId xmlns:a16="http://schemas.microsoft.com/office/drawing/2014/main" id="{C919CE66-36B2-43AE-4B4B-885268176B24}"/>
              </a:ext>
            </a:extLst>
          </p:cNvPr>
          <p:cNvSpPr>
            <a:spLocks noGrp="1"/>
          </p:cNvSpPr>
          <p:nvPr>
            <p:ph type="sldNum" sz="quarter" idx="5"/>
          </p:nvPr>
        </p:nvSpPr>
        <p:spPr/>
        <p:txBody>
          <a:bodyPr/>
          <a:lstStyle/>
          <a:p>
            <a:fld id="{526029D5-72E6-204B-95C8-168152D4D850}" type="slidenum">
              <a:rPr lang="en-US" smtClean="0"/>
              <a:t>19</a:t>
            </a:fld>
            <a:endParaRPr lang="en-US"/>
          </a:p>
        </p:txBody>
      </p:sp>
    </p:spTree>
    <p:extLst>
      <p:ext uri="{BB962C8B-B14F-4D97-AF65-F5344CB8AC3E}">
        <p14:creationId xmlns:p14="http://schemas.microsoft.com/office/powerpoint/2010/main" val="30417327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Goleman an economist developed some leadership archetypes in the Harvard Business Review and here are some of them. </a:t>
            </a:r>
          </a:p>
          <a:p>
            <a:r>
              <a:rPr lang="en-US" dirty="0"/>
              <a:t>A coaching style focuses on mentorship and support to develop others – so in an open science context this might be having an academic mentor or paired peer review where an experienced peer reviewer can coach a first time peer reviewer in the process.</a:t>
            </a:r>
          </a:p>
          <a:p>
            <a:endParaRPr lang="en-US" dirty="0"/>
          </a:p>
          <a:p>
            <a:r>
              <a:rPr lang="en-US" dirty="0"/>
              <a:t>Democratic involves shared decision making and people within the team have a voice</a:t>
            </a:r>
          </a:p>
          <a:p>
            <a:endParaRPr lang="en-US" dirty="0"/>
          </a:p>
          <a:p>
            <a:r>
              <a:rPr lang="en-US" dirty="0"/>
              <a:t>Visionary – when change is needed and leaders with their vision move people towards a clear goal</a:t>
            </a:r>
          </a:p>
          <a:p>
            <a:endParaRPr lang="en-US" dirty="0"/>
          </a:p>
          <a:p>
            <a:r>
              <a:rPr lang="en-US" dirty="0"/>
              <a:t>Transformational – more co-creative more of a focus on values of others – an example I can give in open science is with FORRT, which you will hear more about later with Flavio.</a:t>
            </a:r>
          </a:p>
        </p:txBody>
      </p:sp>
      <p:sp>
        <p:nvSpPr>
          <p:cNvPr id="4" name="Slide Number Placeholder 3"/>
          <p:cNvSpPr>
            <a:spLocks noGrp="1"/>
          </p:cNvSpPr>
          <p:nvPr>
            <p:ph type="sldNum" sz="quarter" idx="5"/>
          </p:nvPr>
        </p:nvSpPr>
        <p:spPr/>
        <p:txBody>
          <a:bodyPr/>
          <a:lstStyle/>
          <a:p>
            <a:fld id="{526029D5-72E6-204B-95C8-168152D4D850}" type="slidenum">
              <a:rPr lang="en-US" smtClean="0"/>
              <a:t>20</a:t>
            </a:fld>
            <a:endParaRPr lang="en-US"/>
          </a:p>
        </p:txBody>
      </p:sp>
    </p:spTree>
    <p:extLst>
      <p:ext uri="{BB962C8B-B14F-4D97-AF65-F5344CB8AC3E}">
        <p14:creationId xmlns:p14="http://schemas.microsoft.com/office/powerpoint/2010/main" val="1865529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61B8C-85E5-110C-415F-369ED345BE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709B1-60A6-23DB-1CDA-C151FF81DD8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ECA8A-A2D9-87E6-29A9-2C0E420EA53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dirty="0"/>
          </a:p>
          <a:p>
            <a:r>
              <a:rPr lang="en-US" dirty="0"/>
              <a:t>So leadership is about people and the relationships cultivated between leaders and followers.</a:t>
            </a:r>
          </a:p>
          <a:p>
            <a:r>
              <a:rPr lang="en-US" dirty="0"/>
              <a:t>It links back to the opening question about what good leadership feels like</a:t>
            </a:r>
          </a:p>
          <a:p>
            <a:endParaRPr lang="en-US" dirty="0"/>
          </a:p>
          <a:p>
            <a:r>
              <a:rPr lang="en-US" dirty="0"/>
              <a:t>Even if more formal role granted – important to consider the relational view</a:t>
            </a:r>
          </a:p>
          <a:p>
            <a:endParaRPr lang="en-US" dirty="0"/>
          </a:p>
          <a:p>
            <a:r>
              <a:rPr lang="en-US" dirty="0"/>
              <a:t>If nobody follows your ideas, leadership does not exist</a:t>
            </a:r>
          </a:p>
        </p:txBody>
      </p:sp>
      <p:sp>
        <p:nvSpPr>
          <p:cNvPr id="4" name="Slide Number Placeholder 3">
            <a:extLst>
              <a:ext uri="{FF2B5EF4-FFF2-40B4-BE49-F238E27FC236}">
                <a16:creationId xmlns:a16="http://schemas.microsoft.com/office/drawing/2014/main" id="{A523450C-707D-BC3E-E832-B41EE0C341A1}"/>
              </a:ext>
            </a:extLst>
          </p:cNvPr>
          <p:cNvSpPr>
            <a:spLocks noGrp="1"/>
          </p:cNvSpPr>
          <p:nvPr>
            <p:ph type="sldNum" sz="quarter" idx="5"/>
          </p:nvPr>
        </p:nvSpPr>
        <p:spPr/>
        <p:txBody>
          <a:bodyPr/>
          <a:lstStyle/>
          <a:p>
            <a:fld id="{526029D5-72E6-204B-95C8-168152D4D850}" type="slidenum">
              <a:rPr lang="en-US" smtClean="0"/>
              <a:t>21</a:t>
            </a:fld>
            <a:endParaRPr lang="en-US"/>
          </a:p>
        </p:txBody>
      </p:sp>
    </p:spTree>
    <p:extLst>
      <p:ext uri="{BB962C8B-B14F-4D97-AF65-F5344CB8AC3E}">
        <p14:creationId xmlns:p14="http://schemas.microsoft.com/office/powerpoint/2010/main" val="2567190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BAB7B8-3E1A-71EF-8402-AC0042AB58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21F4C-6E69-D902-FA66-974953C443C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38BED4-7E60-CEC6-8A00-17529E12806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Leadership is dynamic, Leadership is about attuning and adapting to the needs of people in your team or group as you are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engaging with different people who have different skill sets, values, socio-cultural identities and experiences </a:t>
            </a:r>
            <a:r>
              <a:rPr lang="en-US" sz="1200" dirty="0"/>
              <a:t>against the backdrop of dynamic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endParaRPr lang="en-US" dirty="0"/>
          </a:p>
        </p:txBody>
      </p:sp>
      <p:sp>
        <p:nvSpPr>
          <p:cNvPr id="4" name="Slide Number Placeholder 3">
            <a:extLst>
              <a:ext uri="{FF2B5EF4-FFF2-40B4-BE49-F238E27FC236}">
                <a16:creationId xmlns:a16="http://schemas.microsoft.com/office/drawing/2014/main" id="{5FAA0D12-3D51-4A02-41E8-7F799C7115D3}"/>
              </a:ext>
            </a:extLst>
          </p:cNvPr>
          <p:cNvSpPr>
            <a:spLocks noGrp="1"/>
          </p:cNvSpPr>
          <p:nvPr>
            <p:ph type="sldNum" sz="quarter" idx="5"/>
          </p:nvPr>
        </p:nvSpPr>
        <p:spPr/>
        <p:txBody>
          <a:bodyPr/>
          <a:lstStyle/>
          <a:p>
            <a:fld id="{526029D5-72E6-204B-95C8-168152D4D850}" type="slidenum">
              <a:rPr lang="en-US" smtClean="0"/>
              <a:t>22</a:t>
            </a:fld>
            <a:endParaRPr lang="en-US"/>
          </a:p>
        </p:txBody>
      </p:sp>
    </p:spTree>
    <p:extLst>
      <p:ext uri="{BB962C8B-B14F-4D97-AF65-F5344CB8AC3E}">
        <p14:creationId xmlns:p14="http://schemas.microsoft.com/office/powerpoint/2010/main" val="26163705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B2A02-C569-2ACD-136A-B195EB71D16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27DE93-04AD-611D-772E-A07D01E939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5E3AB6-198F-1EE9-1E10-20BE2797A0E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Leadership is multidirectional! It is more than top-down supervisor – student  and we’ll explore the multidirectional aspect next in more detail</a:t>
            </a:r>
          </a:p>
          <a:p>
            <a:endParaRPr lang="en-US" dirty="0"/>
          </a:p>
        </p:txBody>
      </p:sp>
      <p:sp>
        <p:nvSpPr>
          <p:cNvPr id="4" name="Slide Number Placeholder 3">
            <a:extLst>
              <a:ext uri="{FF2B5EF4-FFF2-40B4-BE49-F238E27FC236}">
                <a16:creationId xmlns:a16="http://schemas.microsoft.com/office/drawing/2014/main" id="{2D6800E4-8D28-EF62-FDFF-907D99F2241C}"/>
              </a:ext>
            </a:extLst>
          </p:cNvPr>
          <p:cNvSpPr>
            <a:spLocks noGrp="1"/>
          </p:cNvSpPr>
          <p:nvPr>
            <p:ph type="sldNum" sz="quarter" idx="5"/>
          </p:nvPr>
        </p:nvSpPr>
        <p:spPr/>
        <p:txBody>
          <a:bodyPr/>
          <a:lstStyle/>
          <a:p>
            <a:fld id="{526029D5-72E6-204B-95C8-168152D4D850}" type="slidenum">
              <a:rPr lang="en-US" smtClean="0"/>
              <a:t>23</a:t>
            </a:fld>
            <a:endParaRPr lang="en-US"/>
          </a:p>
        </p:txBody>
      </p:sp>
    </p:spTree>
    <p:extLst>
      <p:ext uri="{BB962C8B-B14F-4D97-AF65-F5344CB8AC3E}">
        <p14:creationId xmlns:p14="http://schemas.microsoft.com/office/powerpoint/2010/main" val="234322632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034E5-8C81-112D-9EB6-CD0CD8CAE6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6CC8E4-904E-6CB6-858E-68953D9C9A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B0716D-997E-791C-CF30-C4E11005EE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more classic view of leadership of formal leaders we saw earlier. It is important for leaders to </a:t>
            </a:r>
            <a:r>
              <a:rPr lang="en-US" sz="1200" dirty="0"/>
              <a:t>attune and adapt to the needs of people in their team</a:t>
            </a:r>
          </a:p>
          <a:p>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06C8295B-77C1-0CA8-DA47-F4661B514F48}"/>
              </a:ext>
            </a:extLst>
          </p:cNvPr>
          <p:cNvSpPr>
            <a:spLocks noGrp="1"/>
          </p:cNvSpPr>
          <p:nvPr>
            <p:ph type="sldNum" sz="quarter" idx="5"/>
          </p:nvPr>
        </p:nvSpPr>
        <p:spPr/>
        <p:txBody>
          <a:bodyPr/>
          <a:lstStyle/>
          <a:p>
            <a:fld id="{526029D5-72E6-204B-95C8-168152D4D850}" type="slidenum">
              <a:rPr lang="en-US" smtClean="0"/>
              <a:t>24</a:t>
            </a:fld>
            <a:endParaRPr lang="en-US"/>
          </a:p>
        </p:txBody>
      </p:sp>
    </p:spTree>
    <p:extLst>
      <p:ext uri="{BB962C8B-B14F-4D97-AF65-F5344CB8AC3E}">
        <p14:creationId xmlns:p14="http://schemas.microsoft.com/office/powerpoint/2010/main" val="15619458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EBA213-1DCE-3F43-38C8-9850C4428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EFEA5A-903E-387A-6BB7-C8530C5273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F87DF4E-AC7C-7C3F-AFA0-944466B7D2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Leading sideways is about sharing knowledge and influencing your peers for example during discussions and meetings</a:t>
            </a:r>
          </a:p>
          <a:p>
            <a:endParaRPr lang="en-US" dirty="0"/>
          </a:p>
          <a:p>
            <a:endParaRPr lang="en-US" dirty="0"/>
          </a:p>
        </p:txBody>
      </p:sp>
      <p:sp>
        <p:nvSpPr>
          <p:cNvPr id="4" name="Slide Number Placeholder 3">
            <a:extLst>
              <a:ext uri="{FF2B5EF4-FFF2-40B4-BE49-F238E27FC236}">
                <a16:creationId xmlns:a16="http://schemas.microsoft.com/office/drawing/2014/main" id="{7C9E7EAF-94EF-95E3-4659-BB917B73EE0A}"/>
              </a:ext>
            </a:extLst>
          </p:cNvPr>
          <p:cNvSpPr>
            <a:spLocks noGrp="1"/>
          </p:cNvSpPr>
          <p:nvPr>
            <p:ph type="sldNum" sz="quarter" idx="5"/>
          </p:nvPr>
        </p:nvSpPr>
        <p:spPr/>
        <p:txBody>
          <a:bodyPr/>
          <a:lstStyle/>
          <a:p>
            <a:fld id="{526029D5-72E6-204B-95C8-168152D4D850}" type="slidenum">
              <a:rPr lang="en-US" smtClean="0"/>
              <a:t>25</a:t>
            </a:fld>
            <a:endParaRPr lang="en-US"/>
          </a:p>
        </p:txBody>
      </p:sp>
    </p:spTree>
    <p:extLst>
      <p:ext uri="{BB962C8B-B14F-4D97-AF65-F5344CB8AC3E}">
        <p14:creationId xmlns:p14="http://schemas.microsoft.com/office/powerpoint/2010/main" val="41726827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156BC-1F84-27E9-8845-D592A07E983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051F6E-42E2-6752-68D0-E304C493C3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A0D492-FA33-A643-B91C-A892283B56B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Leadership does not occur in a vacuum, often times we lead outwards and represent our teams at conferences or other events and also we build connections with aligned groups.</a:t>
            </a:r>
          </a:p>
          <a:p>
            <a:endParaRPr lang="en-US" dirty="0"/>
          </a:p>
          <a:p>
            <a:endParaRPr lang="en-US" dirty="0"/>
          </a:p>
        </p:txBody>
      </p:sp>
      <p:sp>
        <p:nvSpPr>
          <p:cNvPr id="4" name="Slide Number Placeholder 3">
            <a:extLst>
              <a:ext uri="{FF2B5EF4-FFF2-40B4-BE49-F238E27FC236}">
                <a16:creationId xmlns:a16="http://schemas.microsoft.com/office/drawing/2014/main" id="{947C7A51-BC9E-F7C2-D7E0-5F94A1B231D4}"/>
              </a:ext>
            </a:extLst>
          </p:cNvPr>
          <p:cNvSpPr>
            <a:spLocks noGrp="1"/>
          </p:cNvSpPr>
          <p:nvPr>
            <p:ph type="sldNum" sz="quarter" idx="5"/>
          </p:nvPr>
        </p:nvSpPr>
        <p:spPr/>
        <p:txBody>
          <a:bodyPr/>
          <a:lstStyle/>
          <a:p>
            <a:fld id="{526029D5-72E6-204B-95C8-168152D4D850}" type="slidenum">
              <a:rPr lang="en-US" smtClean="0"/>
              <a:t>26</a:t>
            </a:fld>
            <a:endParaRPr lang="en-US"/>
          </a:p>
        </p:txBody>
      </p:sp>
    </p:spTree>
    <p:extLst>
      <p:ext uri="{BB962C8B-B14F-4D97-AF65-F5344CB8AC3E}">
        <p14:creationId xmlns:p14="http://schemas.microsoft.com/office/powerpoint/2010/main" val="33792922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99529-3CEE-E65B-C6E1-132238435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FC2FA0-AD9B-09A4-96A7-27EA5B4264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6F902-7FF7-C185-B44D-A8304A2ED1E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Leading upwards – contribute knowledge with your own leaders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endParaRPr lang="en-US" dirty="0"/>
          </a:p>
        </p:txBody>
      </p:sp>
      <p:sp>
        <p:nvSpPr>
          <p:cNvPr id="4" name="Slide Number Placeholder 3">
            <a:extLst>
              <a:ext uri="{FF2B5EF4-FFF2-40B4-BE49-F238E27FC236}">
                <a16:creationId xmlns:a16="http://schemas.microsoft.com/office/drawing/2014/main" id="{643C1F69-D8D9-B6E9-CB48-7B21978C10CB}"/>
              </a:ext>
            </a:extLst>
          </p:cNvPr>
          <p:cNvSpPr>
            <a:spLocks noGrp="1"/>
          </p:cNvSpPr>
          <p:nvPr>
            <p:ph type="sldNum" sz="quarter" idx="5"/>
          </p:nvPr>
        </p:nvSpPr>
        <p:spPr/>
        <p:txBody>
          <a:bodyPr/>
          <a:lstStyle/>
          <a:p>
            <a:fld id="{526029D5-72E6-204B-95C8-168152D4D850}" type="slidenum">
              <a:rPr lang="en-US" smtClean="0"/>
              <a:t>27</a:t>
            </a:fld>
            <a:endParaRPr lang="en-US"/>
          </a:p>
        </p:txBody>
      </p:sp>
    </p:spTree>
    <p:extLst>
      <p:ext uri="{BB962C8B-B14F-4D97-AF65-F5344CB8AC3E}">
        <p14:creationId xmlns:p14="http://schemas.microsoft.com/office/powerpoint/2010/main" val="37789257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1D2F91-72A3-57E5-E59E-8F88969AF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A8FAFA-0512-E843-DFE4-6803A4D821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52BE3D-4DD7-9DEE-BCF5-D5ED0BA692A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Keep in mind the 5 leadership directions, especially when we come to challenges and strategies sessions that follow this one.</a:t>
            </a:r>
          </a:p>
          <a:p>
            <a:endParaRPr lang="en-US" dirty="0"/>
          </a:p>
          <a:p>
            <a:r>
              <a:rPr lang="en-US" dirty="0"/>
              <a:t>We will focus quite a bit of our time here on leading yourself. </a:t>
            </a:r>
          </a:p>
          <a:p>
            <a:endParaRPr lang="en-US" dirty="0"/>
          </a:p>
        </p:txBody>
      </p:sp>
      <p:sp>
        <p:nvSpPr>
          <p:cNvPr id="4" name="Slide Number Placeholder 3">
            <a:extLst>
              <a:ext uri="{FF2B5EF4-FFF2-40B4-BE49-F238E27FC236}">
                <a16:creationId xmlns:a16="http://schemas.microsoft.com/office/drawing/2014/main" id="{DEFB1C1F-3C3B-F894-573A-F5D38D8E561F}"/>
              </a:ext>
            </a:extLst>
          </p:cNvPr>
          <p:cNvSpPr>
            <a:spLocks noGrp="1"/>
          </p:cNvSpPr>
          <p:nvPr>
            <p:ph type="sldNum" sz="quarter" idx="5"/>
          </p:nvPr>
        </p:nvSpPr>
        <p:spPr/>
        <p:txBody>
          <a:bodyPr/>
          <a:lstStyle/>
          <a:p>
            <a:fld id="{526029D5-72E6-204B-95C8-168152D4D850}" type="slidenum">
              <a:rPr lang="en-US" smtClean="0"/>
              <a:t>28</a:t>
            </a:fld>
            <a:endParaRPr lang="en-US"/>
          </a:p>
        </p:txBody>
      </p:sp>
    </p:spTree>
    <p:extLst>
      <p:ext uri="{BB962C8B-B14F-4D97-AF65-F5344CB8AC3E}">
        <p14:creationId xmlns:p14="http://schemas.microsoft.com/office/powerpoint/2010/main" val="10712909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7D8D9-2EF2-204C-9505-A42DE0DD46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26A699-30A7-856E-E491-F8499988B5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235567-FD69-9140-06BC-E491E036EAD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Self-leadership considers values, identifying own skills and knowledge gaps and understanding how your experiences shape how you lead</a:t>
            </a:r>
          </a:p>
          <a:p>
            <a:r>
              <a:rPr lang="en-US" dirty="0"/>
              <a:t>Let’s unpack this!</a:t>
            </a:r>
          </a:p>
        </p:txBody>
      </p:sp>
      <p:sp>
        <p:nvSpPr>
          <p:cNvPr id="4" name="Slide Number Placeholder 3">
            <a:extLst>
              <a:ext uri="{FF2B5EF4-FFF2-40B4-BE49-F238E27FC236}">
                <a16:creationId xmlns:a16="http://schemas.microsoft.com/office/drawing/2014/main" id="{D0937502-28BB-BCE1-ADD3-8963B2C623CF}"/>
              </a:ext>
            </a:extLst>
          </p:cNvPr>
          <p:cNvSpPr>
            <a:spLocks noGrp="1"/>
          </p:cNvSpPr>
          <p:nvPr>
            <p:ph type="sldNum" sz="quarter" idx="5"/>
          </p:nvPr>
        </p:nvSpPr>
        <p:spPr/>
        <p:txBody>
          <a:bodyPr/>
          <a:lstStyle/>
          <a:p>
            <a:fld id="{526029D5-72E6-204B-95C8-168152D4D850}" type="slidenum">
              <a:rPr lang="en-US" smtClean="0"/>
              <a:t>29</a:t>
            </a:fld>
            <a:endParaRPr lang="en-US"/>
          </a:p>
        </p:txBody>
      </p:sp>
    </p:spTree>
    <p:extLst>
      <p:ext uri="{BB962C8B-B14F-4D97-AF65-F5344CB8AC3E}">
        <p14:creationId xmlns:p14="http://schemas.microsoft.com/office/powerpoint/2010/main" val="186582448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164BC3-76AF-B1BD-4F4F-EF98FA47F4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4C6483-E910-D043-602B-9E2E39499A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70CDA9-709D-CB55-73FA-6A02B62D75D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Values are like your compass </a:t>
            </a:r>
          </a:p>
          <a:p>
            <a:endParaRPr lang="en-US" dirty="0"/>
          </a:p>
          <a:p>
            <a:r>
              <a:rPr lang="en-US" dirty="0"/>
              <a:t>Here are some values that may be more or less important to you: Agency, rigor, reflexivity.</a:t>
            </a:r>
          </a:p>
        </p:txBody>
      </p:sp>
      <p:sp>
        <p:nvSpPr>
          <p:cNvPr id="4" name="Slide Number Placeholder 3">
            <a:extLst>
              <a:ext uri="{FF2B5EF4-FFF2-40B4-BE49-F238E27FC236}">
                <a16:creationId xmlns:a16="http://schemas.microsoft.com/office/drawing/2014/main" id="{EC4B12A4-40D0-C02A-9ED2-425917D92EF4}"/>
              </a:ext>
            </a:extLst>
          </p:cNvPr>
          <p:cNvSpPr>
            <a:spLocks noGrp="1"/>
          </p:cNvSpPr>
          <p:nvPr>
            <p:ph type="sldNum" sz="quarter" idx="5"/>
          </p:nvPr>
        </p:nvSpPr>
        <p:spPr/>
        <p:txBody>
          <a:bodyPr/>
          <a:lstStyle/>
          <a:p>
            <a:fld id="{526029D5-72E6-204B-95C8-168152D4D850}" type="slidenum">
              <a:rPr lang="en-US" smtClean="0"/>
              <a:t>30</a:t>
            </a:fld>
            <a:endParaRPr lang="en-US"/>
          </a:p>
        </p:txBody>
      </p:sp>
    </p:spTree>
    <p:extLst>
      <p:ext uri="{BB962C8B-B14F-4D97-AF65-F5344CB8AC3E}">
        <p14:creationId xmlns:p14="http://schemas.microsoft.com/office/powerpoint/2010/main" val="289752169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3A9AAE-7415-5463-FE45-82AB730730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CF3A90-04A2-CD44-E4E6-6B125E8BCB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1C6C1C-7B66-A718-BAA7-C8707EDAF27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Let’s say integrity is a core value of yours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This value is about show casing ethical and responsible research</a:t>
            </a:r>
            <a:endParaRPr lang="en-US" b="0" dirty="0"/>
          </a:p>
        </p:txBody>
      </p:sp>
      <p:sp>
        <p:nvSpPr>
          <p:cNvPr id="4" name="Slide Number Placeholder 3">
            <a:extLst>
              <a:ext uri="{FF2B5EF4-FFF2-40B4-BE49-F238E27FC236}">
                <a16:creationId xmlns:a16="http://schemas.microsoft.com/office/drawing/2014/main" id="{597CF8AE-C708-1917-6A31-043E30CCB057}"/>
              </a:ext>
            </a:extLst>
          </p:cNvPr>
          <p:cNvSpPr>
            <a:spLocks noGrp="1"/>
          </p:cNvSpPr>
          <p:nvPr>
            <p:ph type="sldNum" sz="quarter" idx="5"/>
          </p:nvPr>
        </p:nvSpPr>
        <p:spPr/>
        <p:txBody>
          <a:bodyPr/>
          <a:lstStyle/>
          <a:p>
            <a:fld id="{526029D5-72E6-204B-95C8-168152D4D850}" type="slidenum">
              <a:rPr lang="en-US" smtClean="0"/>
              <a:t>31</a:t>
            </a:fld>
            <a:endParaRPr lang="en-US"/>
          </a:p>
        </p:txBody>
      </p:sp>
    </p:spTree>
    <p:extLst>
      <p:ext uri="{BB962C8B-B14F-4D97-AF65-F5344CB8AC3E}">
        <p14:creationId xmlns:p14="http://schemas.microsoft.com/office/powerpoint/2010/main" val="182512082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Values are our compass and they shape how we behave and our actions</a:t>
            </a:r>
          </a:p>
          <a:p>
            <a:endParaRPr lang="en-US" dirty="0"/>
          </a:p>
          <a:p>
            <a:r>
              <a:rPr lang="en-US" dirty="0"/>
              <a:t>Influence ways of working, the goals we set</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research culture provides the ecosystem of norms, policies, incentives, and leadership that facilitate</a:t>
            </a:r>
          </a:p>
          <a:p>
            <a:r>
              <a:rPr lang="en-GB" sz="1200" kern="1200" dirty="0">
                <a:solidFill>
                  <a:schemeClr val="tx1"/>
                </a:solidFill>
                <a:effectLst/>
                <a:latin typeface="+mn-lt"/>
                <a:ea typeface="+mn-ea"/>
                <a:cs typeface="+mn-cs"/>
              </a:rPr>
              <a:t>or hinder research integrity with wider outcomes and impacts.</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Let’s go through an example next.</a:t>
            </a:r>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32</a:t>
            </a:fld>
            <a:endParaRPr lang="en-US"/>
          </a:p>
        </p:txBody>
      </p:sp>
    </p:spTree>
    <p:extLst>
      <p:ext uri="{BB962C8B-B14F-4D97-AF65-F5344CB8AC3E}">
        <p14:creationId xmlns:p14="http://schemas.microsoft.com/office/powerpoint/2010/main" val="40245218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0E027-6B07-51A4-842A-4136D8491F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4FF616-A17C-CB19-00A9-29C96ECCFA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6766B-1E8F-4AB3-5F81-E29D05DD49C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Let’s work with the example of integrity as a core value in the context of leading a class</a:t>
            </a:r>
          </a:p>
          <a:p>
            <a:endParaRPr lang="en-US" dirty="0"/>
          </a:p>
        </p:txBody>
      </p:sp>
      <p:sp>
        <p:nvSpPr>
          <p:cNvPr id="4" name="Slide Number Placeholder 3">
            <a:extLst>
              <a:ext uri="{FF2B5EF4-FFF2-40B4-BE49-F238E27FC236}">
                <a16:creationId xmlns:a16="http://schemas.microsoft.com/office/drawing/2014/main" id="{58EC4099-BC9A-10B7-9E96-3BC2C38329ED}"/>
              </a:ext>
            </a:extLst>
          </p:cNvPr>
          <p:cNvSpPr>
            <a:spLocks noGrp="1"/>
          </p:cNvSpPr>
          <p:nvPr>
            <p:ph type="sldNum" sz="quarter" idx="5"/>
          </p:nvPr>
        </p:nvSpPr>
        <p:spPr/>
        <p:txBody>
          <a:bodyPr/>
          <a:lstStyle/>
          <a:p>
            <a:fld id="{526029D5-72E6-204B-95C8-168152D4D850}" type="slidenum">
              <a:rPr lang="en-US" smtClean="0"/>
              <a:t>33</a:t>
            </a:fld>
            <a:endParaRPr lang="en-US"/>
          </a:p>
        </p:txBody>
      </p:sp>
    </p:spTree>
    <p:extLst>
      <p:ext uri="{BB962C8B-B14F-4D97-AF65-F5344CB8AC3E}">
        <p14:creationId xmlns:p14="http://schemas.microsoft.com/office/powerpoint/2010/main" val="303632552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C6FE4-B829-A278-8767-80ACFE170E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BE468D-D587-C227-B972-C6955E7010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B02104-5251-88D3-7EF7-6D75CC0DEC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Having integrity as a core value shapes the type of learning goal you may set for example: </a:t>
            </a:r>
            <a:r>
              <a:rPr lang="en-US" sz="1200" dirty="0"/>
              <a:t>Learners </a:t>
            </a:r>
            <a:r>
              <a:rPr lang="en-US" sz="1200" b="1" dirty="0"/>
              <a:t>engage deeply </a:t>
            </a:r>
            <a:r>
              <a:rPr lang="en-US" sz="1200" dirty="0"/>
              <a:t>on the topic of AI usage in the research cycle.</a:t>
            </a:r>
          </a:p>
          <a:p>
            <a:r>
              <a:rPr lang="en-US" sz="1200" dirty="0"/>
              <a:t>The culture this sets at your event: Set expectations that </a:t>
            </a:r>
            <a:r>
              <a:rPr lang="en-US" sz="1200" b="1" dirty="0"/>
              <a:t>integrity matters </a:t>
            </a:r>
            <a:r>
              <a:rPr lang="en-US" sz="1200" dirty="0"/>
              <a:t>for high-quality credible research and for public trust in science</a:t>
            </a:r>
            <a:endParaRPr lang="en-US" dirty="0"/>
          </a:p>
        </p:txBody>
      </p:sp>
      <p:sp>
        <p:nvSpPr>
          <p:cNvPr id="4" name="Slide Number Placeholder 3">
            <a:extLst>
              <a:ext uri="{FF2B5EF4-FFF2-40B4-BE49-F238E27FC236}">
                <a16:creationId xmlns:a16="http://schemas.microsoft.com/office/drawing/2014/main" id="{541FD991-17CE-63DB-A099-0A6E329C9F30}"/>
              </a:ext>
            </a:extLst>
          </p:cNvPr>
          <p:cNvSpPr>
            <a:spLocks noGrp="1"/>
          </p:cNvSpPr>
          <p:nvPr>
            <p:ph type="sldNum" sz="quarter" idx="5"/>
          </p:nvPr>
        </p:nvSpPr>
        <p:spPr/>
        <p:txBody>
          <a:bodyPr/>
          <a:lstStyle/>
          <a:p>
            <a:fld id="{526029D5-72E6-204B-95C8-168152D4D850}" type="slidenum">
              <a:rPr lang="en-US" smtClean="0"/>
              <a:t>34</a:t>
            </a:fld>
            <a:endParaRPr lang="en-US"/>
          </a:p>
        </p:txBody>
      </p:sp>
    </p:spTree>
    <p:extLst>
      <p:ext uri="{BB962C8B-B14F-4D97-AF65-F5344CB8AC3E}">
        <p14:creationId xmlns:p14="http://schemas.microsoft.com/office/powerpoint/2010/main" val="20299792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FC35F-164F-A14C-85E1-8AC2E51CAF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DD5D45-63F2-88EB-B38D-D97F923C8A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7E5576-4C58-8B69-6EA9-3549342E2DD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An outcome of this would be </a:t>
            </a:r>
            <a:r>
              <a:rPr lang="en-US" sz="1200" dirty="0"/>
              <a:t>Learners </a:t>
            </a:r>
            <a:r>
              <a:rPr lang="en-US" sz="1200" b="1" dirty="0"/>
              <a:t>critically examine </a:t>
            </a:r>
            <a:r>
              <a:rPr lang="en-US" sz="1200" dirty="0"/>
              <a:t>a case study on AI usage for data analysis from an ethical perspective</a:t>
            </a:r>
          </a:p>
          <a:p>
            <a:r>
              <a:rPr lang="en-US" sz="1200" dirty="0"/>
              <a:t>The wider impact of this could be that learners have </a:t>
            </a:r>
            <a:r>
              <a:rPr lang="en-US" sz="1200" b="1" dirty="0"/>
              <a:t>increased ethical awareness </a:t>
            </a:r>
            <a:r>
              <a:rPr lang="en-US" sz="1200" dirty="0"/>
              <a:t>of AI usage in their research and beyond.</a:t>
            </a:r>
            <a:endParaRPr lang="en-US" dirty="0"/>
          </a:p>
          <a:p>
            <a:endParaRPr lang="en-US" dirty="0"/>
          </a:p>
        </p:txBody>
      </p:sp>
      <p:sp>
        <p:nvSpPr>
          <p:cNvPr id="4" name="Slide Number Placeholder 3">
            <a:extLst>
              <a:ext uri="{FF2B5EF4-FFF2-40B4-BE49-F238E27FC236}">
                <a16:creationId xmlns:a16="http://schemas.microsoft.com/office/drawing/2014/main" id="{0F067AFF-F14A-58A8-E487-6E364D1D996C}"/>
              </a:ext>
            </a:extLst>
          </p:cNvPr>
          <p:cNvSpPr>
            <a:spLocks noGrp="1"/>
          </p:cNvSpPr>
          <p:nvPr>
            <p:ph type="sldNum" sz="quarter" idx="5"/>
          </p:nvPr>
        </p:nvSpPr>
        <p:spPr/>
        <p:txBody>
          <a:bodyPr/>
          <a:lstStyle/>
          <a:p>
            <a:fld id="{526029D5-72E6-204B-95C8-168152D4D850}" type="slidenum">
              <a:rPr lang="en-US" smtClean="0"/>
              <a:t>35</a:t>
            </a:fld>
            <a:endParaRPr lang="en-US"/>
          </a:p>
        </p:txBody>
      </p:sp>
    </p:spTree>
    <p:extLst>
      <p:ext uri="{BB962C8B-B14F-4D97-AF65-F5344CB8AC3E}">
        <p14:creationId xmlns:p14="http://schemas.microsoft.com/office/powerpoint/2010/main" val="250579962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8E24B-0A58-62B3-06A4-0A22F79C10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72B552-A263-DFA6-FB8A-C5B3CACA2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865D917-A31E-A634-30EE-8074701BAC9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Now it is time to start thinking about what matters to you. In your workbooks in section 7.1 write down 3 values</a:t>
            </a:r>
          </a:p>
          <a:p>
            <a:r>
              <a:rPr lang="en-US" dirty="0"/>
              <a:t>I will give you 5 minutes.</a:t>
            </a:r>
          </a:p>
          <a:p>
            <a:endParaRPr lang="en-US" dirty="0"/>
          </a:p>
          <a:p>
            <a:r>
              <a:rPr lang="en-US" b="1" dirty="0"/>
              <a:t>Instructor notes:</a:t>
            </a:r>
          </a:p>
          <a:p>
            <a:r>
              <a:rPr lang="en-US" dirty="0"/>
              <a:t>This exercise practices a key skill in emotional intelligence </a:t>
            </a:r>
          </a:p>
          <a:p>
            <a:r>
              <a:rPr lang="en-US" dirty="0"/>
              <a:t>It can be nice to share your own values with the group too (e.g. mine are joy creativity and integrity)</a:t>
            </a:r>
          </a:p>
          <a:p>
            <a:endParaRPr lang="en-US" dirty="0"/>
          </a:p>
          <a:p>
            <a:pPr rtl="0"/>
            <a:r>
              <a:rPr lang="en-GB" sz="1200" b="0" i="1" u="none" strike="noStrike" kern="1200" dirty="0">
                <a:solidFill>
                  <a:schemeClr val="tx1"/>
                </a:solidFill>
                <a:effectLst/>
                <a:latin typeface="+mn-lt"/>
                <a:ea typeface="+mn-ea"/>
                <a:cs typeface="+mn-cs"/>
              </a:rPr>
              <a:t>Trouble shooting:</a:t>
            </a:r>
            <a:endParaRPr lang="en-GB" dirty="0">
              <a:effectLst/>
            </a:endParaRPr>
          </a:p>
          <a:p>
            <a:pPr rtl="0"/>
            <a:r>
              <a:rPr lang="en-GB" sz="1200" b="0" i="0" u="none" strike="noStrike" kern="1200" dirty="0">
                <a:solidFill>
                  <a:schemeClr val="tx1"/>
                </a:solidFill>
                <a:effectLst/>
                <a:latin typeface="+mn-lt"/>
                <a:ea typeface="+mn-ea"/>
                <a:cs typeface="+mn-cs"/>
              </a:rPr>
              <a:t>Learners might feel stuck to pick only 3, as many values resonate with them.</a:t>
            </a:r>
            <a:endParaRPr lang="en-GB" dirty="0"/>
          </a:p>
          <a:p>
            <a:pPr rtl="0"/>
            <a:r>
              <a:rPr lang="en-GB" sz="1200" b="0" i="0" u="none" strike="noStrike" kern="1200" dirty="0">
                <a:solidFill>
                  <a:schemeClr val="tx1"/>
                </a:solidFill>
                <a:effectLst/>
                <a:latin typeface="+mn-lt"/>
                <a:ea typeface="+mn-ea"/>
                <a:cs typeface="+mn-cs"/>
              </a:rPr>
              <a:t>Encourage them to think of it as an iterative process: They can make a start during workshop and revisit after the workshop</a:t>
            </a:r>
            <a:endParaRPr lang="en-GB" dirty="0"/>
          </a:p>
          <a:p>
            <a:pPr rtl="0"/>
            <a:r>
              <a:rPr lang="en-GB" sz="1200" b="0" i="0" u="none" strike="noStrike" kern="1200" dirty="0">
                <a:solidFill>
                  <a:schemeClr val="tx1"/>
                </a:solidFill>
                <a:effectLst/>
                <a:latin typeface="+mn-lt"/>
                <a:ea typeface="+mn-ea"/>
                <a:cs typeface="+mn-cs"/>
              </a:rPr>
              <a:t>Learners can start with a longer list and then reduce them. For example, if they selected the values flexibility and openness, these might be grouped together as they both have something to do with change. One of the 2 values could then be selected. </a:t>
            </a:r>
            <a:endParaRPr lang="en-GB" dirty="0"/>
          </a:p>
          <a:p>
            <a:pPr rtl="0"/>
            <a:r>
              <a:rPr lang="en-GB" sz="1200" b="0" i="0" u="none" strike="noStrike" kern="1200" dirty="0">
                <a:solidFill>
                  <a:schemeClr val="tx1"/>
                </a:solidFill>
                <a:effectLst/>
                <a:latin typeface="+mn-lt"/>
                <a:ea typeface="+mn-ea"/>
                <a:cs typeface="+mn-cs"/>
              </a:rPr>
              <a:t>It is a very personal exercise and it is only important that the groupings make sense for them.</a:t>
            </a:r>
            <a:endParaRPr lang="en-GB" dirty="0">
              <a:effectLst/>
            </a:endParaRPr>
          </a:p>
          <a:p>
            <a:endParaRPr lang="en-US" dirty="0"/>
          </a:p>
        </p:txBody>
      </p:sp>
      <p:sp>
        <p:nvSpPr>
          <p:cNvPr id="4" name="Slide Number Placeholder 3">
            <a:extLst>
              <a:ext uri="{FF2B5EF4-FFF2-40B4-BE49-F238E27FC236}">
                <a16:creationId xmlns:a16="http://schemas.microsoft.com/office/drawing/2014/main" id="{CE7BA1E2-BB8D-7370-61CA-6A064E048BB0}"/>
              </a:ext>
            </a:extLst>
          </p:cNvPr>
          <p:cNvSpPr>
            <a:spLocks noGrp="1"/>
          </p:cNvSpPr>
          <p:nvPr>
            <p:ph type="sldNum" sz="quarter" idx="5"/>
          </p:nvPr>
        </p:nvSpPr>
        <p:spPr/>
        <p:txBody>
          <a:bodyPr/>
          <a:lstStyle/>
          <a:p>
            <a:fld id="{526029D5-72E6-204B-95C8-168152D4D850}" type="slidenum">
              <a:rPr lang="en-US" smtClean="0"/>
              <a:t>36</a:t>
            </a:fld>
            <a:endParaRPr lang="en-US"/>
          </a:p>
        </p:txBody>
      </p:sp>
    </p:spTree>
    <p:extLst>
      <p:ext uri="{BB962C8B-B14F-4D97-AF65-F5344CB8AC3E}">
        <p14:creationId xmlns:p14="http://schemas.microsoft.com/office/powerpoint/2010/main" val="26138408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To summarize this part of the session:</a:t>
            </a:r>
          </a:p>
          <a:p>
            <a:r>
              <a:rPr lang="en-US" dirty="0"/>
              <a:t>Leadership can be formal or informal </a:t>
            </a:r>
          </a:p>
          <a:p>
            <a:r>
              <a:rPr lang="en-US" dirty="0"/>
              <a:t>Leadership is a co-constructive process and is multidirectional (downwards, sideways, outwards, upwards and self-leadership)</a:t>
            </a:r>
          </a:p>
          <a:p>
            <a:r>
              <a:rPr lang="en-US" dirty="0"/>
              <a:t>Values shape our actions as we saw with the example of integrity. </a:t>
            </a:r>
          </a:p>
        </p:txBody>
      </p:sp>
      <p:sp>
        <p:nvSpPr>
          <p:cNvPr id="4" name="Slide Number Placeholder 3"/>
          <p:cNvSpPr>
            <a:spLocks noGrp="1"/>
          </p:cNvSpPr>
          <p:nvPr>
            <p:ph type="sldNum" sz="quarter" idx="5"/>
          </p:nvPr>
        </p:nvSpPr>
        <p:spPr/>
        <p:txBody>
          <a:bodyPr/>
          <a:lstStyle/>
          <a:p>
            <a:fld id="{526029D5-72E6-204B-95C8-168152D4D850}" type="slidenum">
              <a:rPr lang="en-US" smtClean="0"/>
              <a:t>37</a:t>
            </a:fld>
            <a:endParaRPr lang="en-US"/>
          </a:p>
        </p:txBody>
      </p:sp>
    </p:spTree>
    <p:extLst>
      <p:ext uri="{BB962C8B-B14F-4D97-AF65-F5344CB8AC3E}">
        <p14:creationId xmlns:p14="http://schemas.microsoft.com/office/powerpoint/2010/main" val="119188510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Before we move onto the next part, here is another perspective on leadership by Fotis </a:t>
            </a:r>
            <a:r>
              <a:rPr lang="en-US" dirty="0" err="1"/>
              <a:t>Mystakopoulos</a:t>
            </a:r>
            <a:r>
              <a:rPr lang="en-US" dirty="0"/>
              <a:t> who is a PhD candidate and open scholarly communications officer.</a:t>
            </a:r>
          </a:p>
          <a:p>
            <a:r>
              <a:rPr lang="en-US" dirty="0"/>
              <a:t>His perspective speaks to what we discussed about leadership being about people </a:t>
            </a:r>
          </a:p>
          <a:p>
            <a:endParaRPr lang="en-US" dirty="0"/>
          </a:p>
          <a:p>
            <a:r>
              <a:rPr lang="en-GB" sz="1200" b="0" i="0" kern="1200" dirty="0">
                <a:solidFill>
                  <a:schemeClr val="tx1"/>
                </a:solidFill>
                <a:effectLst/>
                <a:latin typeface="+mn-lt"/>
                <a:ea typeface="+mn-ea"/>
                <a:cs typeface="+mn-cs"/>
              </a:rPr>
              <a:t>“A few years ago I'd have answered this differently, because of how open science is changing and </a:t>
            </a:r>
            <a:r>
              <a:rPr lang="en-GB" sz="1200" b="1" i="0" kern="1200" dirty="0">
                <a:solidFill>
                  <a:schemeClr val="tx1"/>
                </a:solidFill>
                <a:effectLst/>
                <a:latin typeface="+mn-lt"/>
                <a:ea typeface="+mn-ea"/>
                <a:cs typeface="+mn-cs"/>
              </a:rPr>
              <a:t>evolving</a:t>
            </a:r>
            <a:r>
              <a:rPr lang="en-GB" sz="1200" b="0" i="0" kern="1200" dirty="0">
                <a:solidFill>
                  <a:schemeClr val="tx1"/>
                </a:solidFill>
                <a:effectLst/>
                <a:latin typeface="+mn-lt"/>
                <a:ea typeface="+mn-ea"/>
                <a:cs typeface="+mn-cs"/>
              </a:rPr>
              <a:t>, but my current view has two components: the </a:t>
            </a:r>
            <a:r>
              <a:rPr lang="en-GB" sz="1200" b="1" i="0" kern="1200" dirty="0">
                <a:solidFill>
                  <a:schemeClr val="tx1"/>
                </a:solidFill>
                <a:effectLst/>
                <a:latin typeface="+mn-lt"/>
                <a:ea typeface="+mn-ea"/>
                <a:cs typeface="+mn-cs"/>
              </a:rPr>
              <a:t>scientific</a:t>
            </a:r>
            <a:r>
              <a:rPr lang="en-GB" sz="1200" b="0" i="0" kern="1200" dirty="0">
                <a:solidFill>
                  <a:schemeClr val="tx1"/>
                </a:solidFill>
                <a:effectLst/>
                <a:latin typeface="+mn-lt"/>
                <a:ea typeface="+mn-ea"/>
                <a:cs typeface="+mn-cs"/>
              </a:rPr>
              <a:t> and the </a:t>
            </a:r>
            <a:r>
              <a:rPr lang="en-GB" sz="1200" b="1" i="0" kern="1200" dirty="0">
                <a:solidFill>
                  <a:schemeClr val="tx1"/>
                </a:solidFill>
                <a:effectLst/>
                <a:latin typeface="+mn-lt"/>
                <a:ea typeface="+mn-ea"/>
                <a:cs typeface="+mn-cs"/>
              </a:rPr>
              <a:t>human</a:t>
            </a:r>
            <a:r>
              <a:rPr lang="en-GB" sz="1200" b="0" i="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scientific part means applying the principles of open science, doing research with </a:t>
            </a:r>
            <a:r>
              <a:rPr lang="en-GB" sz="1200" b="1" i="0" kern="1200" dirty="0">
                <a:solidFill>
                  <a:schemeClr val="tx1"/>
                </a:solidFill>
                <a:effectLst/>
                <a:latin typeface="+mn-lt"/>
                <a:ea typeface="+mn-ea"/>
                <a:cs typeface="+mn-cs"/>
              </a:rPr>
              <a:t>integrity</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transparency</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quality</a:t>
            </a:r>
            <a:r>
              <a:rPr lang="en-GB" sz="1200" b="0" i="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The human part means being </a:t>
            </a:r>
            <a:r>
              <a:rPr lang="en-GB" sz="1200" b="1" i="0" kern="1200" dirty="0">
                <a:solidFill>
                  <a:schemeClr val="tx1"/>
                </a:solidFill>
                <a:effectLst/>
                <a:latin typeface="+mn-lt"/>
                <a:ea typeface="+mn-ea"/>
                <a:cs typeface="+mn-cs"/>
              </a:rPr>
              <a:t>compassionate</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supportive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collaborative</a:t>
            </a:r>
            <a:r>
              <a:rPr lang="en-GB" sz="1200" b="0" i="0" kern="1200" dirty="0">
                <a:solidFill>
                  <a:schemeClr val="tx1"/>
                </a:solidFill>
                <a:effectLst/>
                <a:latin typeface="+mn-lt"/>
                <a:ea typeface="+mn-ea"/>
                <a:cs typeface="+mn-cs"/>
              </a:rPr>
              <a:t>. Research can be deeply isolating, often carried out in demanding environments, and for me </a:t>
            </a:r>
            <a:r>
              <a:rPr lang="en-GB" sz="1200" b="1" i="0" kern="1200" dirty="0">
                <a:solidFill>
                  <a:schemeClr val="tx1"/>
                </a:solidFill>
                <a:effectLst/>
                <a:latin typeface="+mn-lt"/>
                <a:ea typeface="+mn-ea"/>
                <a:cs typeface="+mn-cs"/>
              </a:rPr>
              <a:t>people come first</a:t>
            </a:r>
            <a:r>
              <a:rPr lang="en-GB" sz="1200" b="0" i="0" kern="1200" dirty="0">
                <a:solidFill>
                  <a:schemeClr val="tx1"/>
                </a:solidFill>
                <a:effectLst/>
                <a:latin typeface="+mn-lt"/>
                <a:ea typeface="+mn-ea"/>
                <a:cs typeface="+mn-cs"/>
              </a:rPr>
              <a:t>. </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My hope is that through open science we also learn to be </a:t>
            </a:r>
            <a:r>
              <a:rPr lang="en-GB" sz="1200" b="1" i="0" kern="1200" dirty="0">
                <a:solidFill>
                  <a:schemeClr val="tx1"/>
                </a:solidFill>
                <a:effectLst/>
                <a:latin typeface="+mn-lt"/>
                <a:ea typeface="+mn-ea"/>
                <a:cs typeface="+mn-cs"/>
              </a:rPr>
              <a:t>kinder</a:t>
            </a:r>
            <a:r>
              <a:rPr lang="en-GB" sz="1200" b="0" i="0" kern="1200" dirty="0">
                <a:solidFill>
                  <a:schemeClr val="tx1"/>
                </a:solidFill>
                <a:effectLst/>
                <a:latin typeface="+mn-lt"/>
                <a:ea typeface="+mn-ea"/>
                <a:cs typeface="+mn-cs"/>
              </a:rPr>
              <a:t>, more </a:t>
            </a:r>
            <a:r>
              <a:rPr lang="en-GB" sz="1200" b="1" i="0" kern="1200" dirty="0">
                <a:solidFill>
                  <a:schemeClr val="tx1"/>
                </a:solidFill>
                <a:effectLst/>
                <a:latin typeface="+mn-lt"/>
                <a:ea typeface="+mn-ea"/>
                <a:cs typeface="+mn-cs"/>
              </a:rPr>
              <a:t>reflective</a:t>
            </a:r>
            <a:r>
              <a:rPr lang="en-GB" sz="1200" b="0" i="0" kern="1200" dirty="0">
                <a:solidFill>
                  <a:schemeClr val="tx1"/>
                </a:solidFill>
                <a:effectLst/>
                <a:latin typeface="+mn-lt"/>
                <a:ea typeface="+mn-ea"/>
                <a:cs typeface="+mn-cs"/>
              </a:rPr>
              <a:t>, and more understanding, because doing science the right way ultimately depends on </a:t>
            </a:r>
            <a:r>
              <a:rPr lang="en-GB" sz="1200" b="1" i="0" kern="1200" dirty="0">
                <a:solidFill>
                  <a:schemeClr val="tx1"/>
                </a:solidFill>
                <a:effectLst/>
                <a:latin typeface="+mn-lt"/>
                <a:ea typeface="+mn-ea"/>
                <a:cs typeface="+mn-cs"/>
              </a:rPr>
              <a:t>people</a:t>
            </a:r>
            <a:r>
              <a:rPr lang="en-GB" sz="1200" b="0" i="0" kern="1200" dirty="0">
                <a:solidFill>
                  <a:schemeClr val="tx1"/>
                </a:solidFill>
                <a:effectLst/>
                <a:latin typeface="+mn-lt"/>
                <a:ea typeface="+mn-ea"/>
                <a:cs typeface="+mn-cs"/>
              </a:rPr>
              <a:t> being able to </a:t>
            </a:r>
            <a:r>
              <a:rPr lang="en-GB" sz="1200" b="1" i="0" kern="1200" dirty="0">
                <a:solidFill>
                  <a:schemeClr val="tx1"/>
                </a:solidFill>
                <a:effectLst/>
                <a:latin typeface="+mn-lt"/>
                <a:ea typeface="+mn-ea"/>
                <a:cs typeface="+mn-cs"/>
              </a:rPr>
              <a:t>thrive</a:t>
            </a:r>
            <a:r>
              <a:rPr lang="en-GB" sz="1200" b="0" i="0" kern="1200" dirty="0">
                <a:solidFill>
                  <a:schemeClr val="tx1"/>
                </a:solidFill>
                <a:effectLst/>
                <a:latin typeface="+mn-lt"/>
                <a:ea typeface="+mn-ea"/>
                <a:cs typeface="+mn-cs"/>
              </a:rPr>
              <a:t> within a </a:t>
            </a:r>
            <a:r>
              <a:rPr lang="en-GB" sz="1200" b="1" i="0" kern="1200" dirty="0">
                <a:solidFill>
                  <a:schemeClr val="tx1"/>
                </a:solidFill>
                <a:effectLst/>
                <a:latin typeface="+mn-lt"/>
                <a:ea typeface="+mn-ea"/>
                <a:cs typeface="+mn-cs"/>
              </a:rPr>
              <a:t>research culture</a:t>
            </a:r>
            <a:r>
              <a:rPr lang="en-GB" sz="1200" b="0" i="0" kern="1200" dirty="0">
                <a:solidFill>
                  <a:schemeClr val="tx1"/>
                </a:solidFill>
                <a:effectLst/>
                <a:latin typeface="+mn-lt"/>
                <a:ea typeface="+mn-ea"/>
                <a:cs typeface="+mn-cs"/>
              </a:rPr>
              <a:t>.”</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38</a:t>
            </a:fld>
            <a:endParaRPr lang="en-US"/>
          </a:p>
        </p:txBody>
      </p:sp>
    </p:spTree>
    <p:extLst>
      <p:ext uri="{BB962C8B-B14F-4D97-AF65-F5344CB8AC3E}">
        <p14:creationId xmlns:p14="http://schemas.microsoft.com/office/powerpoint/2010/main" val="6260841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F0043-AD33-9573-D954-67521EBD69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1696F0-7D0C-86CD-21E3-0A6A98402A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EBA1F9-4813-0D46-8C59-DC579F878B5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indent="0">
              <a:buNone/>
            </a:pPr>
            <a:r>
              <a:rPr lang="en-US" dirty="0"/>
              <a:t>A lot of values we looked at earlier have overlap with values we strive for with open science!</a:t>
            </a:r>
          </a:p>
          <a:p>
            <a:pPr marL="0" indent="0">
              <a:buNone/>
            </a:pPr>
            <a:r>
              <a:rPr lang="en-US" dirty="0"/>
              <a:t>Such as co-development, transparency, accountability, accessibility, integrity and reflexivity</a:t>
            </a:r>
          </a:p>
          <a:p>
            <a:pPr marL="0" indent="0">
              <a:buNone/>
            </a:pPr>
            <a:r>
              <a:rPr lang="en-US" dirty="0"/>
              <a:t>Let’s dive in!</a:t>
            </a:r>
          </a:p>
        </p:txBody>
      </p:sp>
      <p:sp>
        <p:nvSpPr>
          <p:cNvPr id="4" name="Slide Number Placeholder 3">
            <a:extLst>
              <a:ext uri="{FF2B5EF4-FFF2-40B4-BE49-F238E27FC236}">
                <a16:creationId xmlns:a16="http://schemas.microsoft.com/office/drawing/2014/main" id="{AF938222-441A-6070-7A74-40EB86255DEF}"/>
              </a:ext>
            </a:extLst>
          </p:cNvPr>
          <p:cNvSpPr>
            <a:spLocks noGrp="1"/>
          </p:cNvSpPr>
          <p:nvPr>
            <p:ph type="sldNum" sz="quarter" idx="5"/>
          </p:nvPr>
        </p:nvSpPr>
        <p:spPr/>
        <p:txBody>
          <a:bodyPr/>
          <a:lstStyle/>
          <a:p>
            <a:fld id="{526029D5-72E6-204B-95C8-168152D4D850}" type="slidenum">
              <a:rPr lang="en-US" smtClean="0"/>
              <a:t>39</a:t>
            </a:fld>
            <a:endParaRPr lang="en-US"/>
          </a:p>
        </p:txBody>
      </p:sp>
    </p:spTree>
    <p:extLst>
      <p:ext uri="{BB962C8B-B14F-4D97-AF65-F5344CB8AC3E}">
        <p14:creationId xmlns:p14="http://schemas.microsoft.com/office/powerpoint/2010/main" val="15884863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DA877-8502-1D92-CBCB-70B593456C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B7DCC7-7427-ADCD-764B-3418BE8FA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08C3A9-C8FE-5161-1CDC-3EFF0EDFB7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indent="0">
              <a:buNone/>
            </a:pPr>
            <a:r>
              <a:rPr lang="en-US" dirty="0"/>
              <a:t>In this table we have the values on the left-hand side and the context: leadership column and open science column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Let’s take the example of transparency and integrity. In the leadership context this can look like: </a:t>
            </a:r>
            <a:r>
              <a:rPr lang="en-US" sz="1200" dirty="0"/>
              <a:t>Openness of </a:t>
            </a:r>
            <a:r>
              <a:rPr lang="en-US" sz="1200" b="1" dirty="0"/>
              <a:t>decision-making processes </a:t>
            </a:r>
            <a:r>
              <a:rPr lang="en-US" sz="1200" dirty="0"/>
              <a:t>and clear </a:t>
            </a:r>
            <a:r>
              <a:rPr lang="en-US" sz="1200" b="1" dirty="0"/>
              <a:t>communication</a:t>
            </a:r>
            <a:r>
              <a:rPr lang="en-US" sz="1200" dirty="0"/>
              <a:t> helps </a:t>
            </a:r>
            <a:r>
              <a:rPr lang="en-US" sz="1200" b="1" dirty="0"/>
              <a:t>build trust </a:t>
            </a:r>
            <a:r>
              <a:rPr lang="en-US" sz="1200" dirty="0"/>
              <a:t>within a group.</a:t>
            </a:r>
          </a:p>
          <a:p>
            <a:pPr marL="0" indent="0">
              <a:buNone/>
            </a:pPr>
            <a:endParaRPr lang="en-US" dirty="0"/>
          </a:p>
        </p:txBody>
      </p:sp>
      <p:sp>
        <p:nvSpPr>
          <p:cNvPr id="4" name="Slide Number Placeholder 3">
            <a:extLst>
              <a:ext uri="{FF2B5EF4-FFF2-40B4-BE49-F238E27FC236}">
                <a16:creationId xmlns:a16="http://schemas.microsoft.com/office/drawing/2014/main" id="{54A0D4F4-9D92-89C9-259F-B9C9DA776CC2}"/>
              </a:ext>
            </a:extLst>
          </p:cNvPr>
          <p:cNvSpPr>
            <a:spLocks noGrp="1"/>
          </p:cNvSpPr>
          <p:nvPr>
            <p:ph type="sldNum" sz="quarter" idx="5"/>
          </p:nvPr>
        </p:nvSpPr>
        <p:spPr/>
        <p:txBody>
          <a:bodyPr/>
          <a:lstStyle/>
          <a:p>
            <a:fld id="{526029D5-72E6-204B-95C8-168152D4D850}" type="slidenum">
              <a:rPr lang="en-US" smtClean="0"/>
              <a:t>40</a:t>
            </a:fld>
            <a:endParaRPr lang="en-US"/>
          </a:p>
        </p:txBody>
      </p:sp>
    </p:spTree>
    <p:extLst>
      <p:ext uri="{BB962C8B-B14F-4D97-AF65-F5344CB8AC3E}">
        <p14:creationId xmlns:p14="http://schemas.microsoft.com/office/powerpoint/2010/main" val="405293765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58E10E-319B-7A9A-7350-F93D52A87E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D2DA0D-7E35-37D8-159B-DD90BF93C5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D9CBEB-16E1-BEAB-7C8B-E6415007D6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indent="0">
              <a:buNone/>
            </a:pPr>
            <a:r>
              <a:rPr lang="en-US" dirty="0"/>
              <a:t>In an open science context this value might show up as: </a:t>
            </a:r>
            <a:r>
              <a:rPr lang="en-US" sz="1200" dirty="0"/>
              <a:t>Thoughtful </a:t>
            </a:r>
            <a:r>
              <a:rPr lang="en-US" sz="1200" b="1" dirty="0"/>
              <a:t>planning </a:t>
            </a:r>
            <a:r>
              <a:rPr lang="en-US" sz="1200" dirty="0"/>
              <a:t>and transparently </a:t>
            </a:r>
            <a:r>
              <a:rPr lang="en-US" sz="1200" b="1" dirty="0"/>
              <a:t>documenting</a:t>
            </a:r>
            <a:r>
              <a:rPr lang="en-US" sz="1200" dirty="0"/>
              <a:t> </a:t>
            </a:r>
            <a:r>
              <a:rPr lang="en-US" sz="1200" b="1" dirty="0"/>
              <a:t>study</a:t>
            </a:r>
            <a:r>
              <a:rPr lang="en-US" sz="1200" dirty="0"/>
              <a:t> design, data collection and analysis in a </a:t>
            </a:r>
            <a:r>
              <a:rPr lang="en-US" sz="1200" b="1" dirty="0"/>
              <a:t>preregistration</a:t>
            </a:r>
            <a:r>
              <a:rPr lang="en-US" sz="1200" dirty="0"/>
              <a:t> improves </a:t>
            </a:r>
            <a:r>
              <a:rPr lang="en-US" sz="1200" b="1" dirty="0"/>
              <a:t>credibility</a:t>
            </a:r>
            <a:r>
              <a:rPr lang="en-US" sz="1200" dirty="0"/>
              <a:t> of research.</a:t>
            </a:r>
            <a:endParaRPr lang="en-US" dirty="0"/>
          </a:p>
        </p:txBody>
      </p:sp>
      <p:sp>
        <p:nvSpPr>
          <p:cNvPr id="4" name="Slide Number Placeholder 3">
            <a:extLst>
              <a:ext uri="{FF2B5EF4-FFF2-40B4-BE49-F238E27FC236}">
                <a16:creationId xmlns:a16="http://schemas.microsoft.com/office/drawing/2014/main" id="{1ED0524B-08E9-4483-4B1D-A757CBA46FE4}"/>
              </a:ext>
            </a:extLst>
          </p:cNvPr>
          <p:cNvSpPr>
            <a:spLocks noGrp="1"/>
          </p:cNvSpPr>
          <p:nvPr>
            <p:ph type="sldNum" sz="quarter" idx="5"/>
          </p:nvPr>
        </p:nvSpPr>
        <p:spPr/>
        <p:txBody>
          <a:bodyPr/>
          <a:lstStyle/>
          <a:p>
            <a:fld id="{526029D5-72E6-204B-95C8-168152D4D850}" type="slidenum">
              <a:rPr lang="en-US" smtClean="0"/>
              <a:t>41</a:t>
            </a:fld>
            <a:endParaRPr lang="en-US"/>
          </a:p>
        </p:txBody>
      </p:sp>
    </p:spTree>
    <p:extLst>
      <p:ext uri="{BB962C8B-B14F-4D97-AF65-F5344CB8AC3E}">
        <p14:creationId xmlns:p14="http://schemas.microsoft.com/office/powerpoint/2010/main" val="4601663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FE8971-9332-E20C-8D47-54433C4A51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C861A6-512E-BAD6-329C-7041551CBF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B437BF-67CD-C50C-83BB-C20D678EE7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indent="0">
              <a:buNone/>
            </a:pPr>
            <a:r>
              <a:rPr lang="en-US" dirty="0"/>
              <a:t>Another example is co-development.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the leadership context this may look like: </a:t>
            </a:r>
            <a:r>
              <a:rPr lang="en-US" sz="1200" b="1" dirty="0"/>
              <a:t>Relational </a:t>
            </a:r>
            <a:r>
              <a:rPr lang="en-US" sz="1200" dirty="0"/>
              <a:t>leadership, </a:t>
            </a:r>
            <a:r>
              <a:rPr lang="en-US" sz="1200" b="1" dirty="0"/>
              <a:t>collective role </a:t>
            </a:r>
            <a:r>
              <a:rPr lang="en-US" sz="1200" dirty="0"/>
              <a:t>in decision-making process, empowering everyone to </a:t>
            </a:r>
            <a:r>
              <a:rPr lang="en-US" sz="1200" b="1" dirty="0"/>
              <a:t>contribute</a:t>
            </a:r>
            <a:r>
              <a:rPr lang="en-US" sz="1200" dirty="0"/>
              <a:t>, ability to balance multiple (sometimes conflicting) ideas. </a:t>
            </a:r>
          </a:p>
          <a:p>
            <a:pPr marL="0" indent="0">
              <a:buNone/>
            </a:pPr>
            <a:endParaRPr lang="en-US" dirty="0"/>
          </a:p>
        </p:txBody>
      </p:sp>
      <p:sp>
        <p:nvSpPr>
          <p:cNvPr id="4" name="Slide Number Placeholder 3">
            <a:extLst>
              <a:ext uri="{FF2B5EF4-FFF2-40B4-BE49-F238E27FC236}">
                <a16:creationId xmlns:a16="http://schemas.microsoft.com/office/drawing/2014/main" id="{FC7BA9F7-E615-C81D-281E-0AADD5EB2CC2}"/>
              </a:ext>
            </a:extLst>
          </p:cNvPr>
          <p:cNvSpPr>
            <a:spLocks noGrp="1"/>
          </p:cNvSpPr>
          <p:nvPr>
            <p:ph type="sldNum" sz="quarter" idx="5"/>
          </p:nvPr>
        </p:nvSpPr>
        <p:spPr/>
        <p:txBody>
          <a:bodyPr/>
          <a:lstStyle/>
          <a:p>
            <a:fld id="{526029D5-72E6-204B-95C8-168152D4D850}" type="slidenum">
              <a:rPr lang="en-US" smtClean="0"/>
              <a:t>42</a:t>
            </a:fld>
            <a:endParaRPr lang="en-US"/>
          </a:p>
        </p:txBody>
      </p:sp>
    </p:spTree>
    <p:extLst>
      <p:ext uri="{BB962C8B-B14F-4D97-AF65-F5344CB8AC3E}">
        <p14:creationId xmlns:p14="http://schemas.microsoft.com/office/powerpoint/2010/main" val="420533095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930E4-89B5-229B-7E3F-385BDB5136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9B2185-5450-A4BB-D1DA-AB1633B186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0C8654-F5E0-30B0-B64E-43E1C9A33E1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open science, co-development can look like: </a:t>
            </a:r>
            <a:r>
              <a:rPr lang="en-US" sz="1200" dirty="0"/>
              <a:t>Embedding </a:t>
            </a:r>
            <a:r>
              <a:rPr lang="en-US" sz="1200" b="1" dirty="0"/>
              <a:t>CARE principles </a:t>
            </a:r>
            <a:r>
              <a:rPr lang="en-US" sz="1200" dirty="0"/>
              <a:t>into research, </a:t>
            </a:r>
            <a:r>
              <a:rPr lang="en-US" sz="1200" b="1" dirty="0"/>
              <a:t>co-producing</a:t>
            </a:r>
            <a:r>
              <a:rPr lang="en-US" sz="1200" dirty="0"/>
              <a:t> data governance policies with communities, minimizing harm and improving quality of research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Care principles stand for </a:t>
            </a:r>
            <a:r>
              <a:rPr lang="en-GB" b="1" dirty="0"/>
              <a:t>C</a:t>
            </a:r>
            <a:r>
              <a:rPr lang="en-GB" dirty="0"/>
              <a:t>ollective Benefit, </a:t>
            </a:r>
            <a:r>
              <a:rPr lang="en-GB" b="1" dirty="0"/>
              <a:t>A</a:t>
            </a:r>
            <a:r>
              <a:rPr lang="en-GB" dirty="0"/>
              <a:t>uthority to Control, </a:t>
            </a:r>
            <a:r>
              <a:rPr lang="en-GB" b="1" dirty="0"/>
              <a:t>R</a:t>
            </a:r>
            <a:r>
              <a:rPr lang="en-GB" dirty="0"/>
              <a:t>esponsibility, </a:t>
            </a:r>
            <a:r>
              <a:rPr lang="en-GB" b="1" dirty="0"/>
              <a:t>E</a:t>
            </a:r>
            <a:r>
              <a:rPr lang="en-GB" dirty="0"/>
              <a:t>thics.</a:t>
            </a:r>
            <a:endParaRPr lang="en-US" dirty="0"/>
          </a:p>
        </p:txBody>
      </p:sp>
      <p:sp>
        <p:nvSpPr>
          <p:cNvPr id="4" name="Slide Number Placeholder 3">
            <a:extLst>
              <a:ext uri="{FF2B5EF4-FFF2-40B4-BE49-F238E27FC236}">
                <a16:creationId xmlns:a16="http://schemas.microsoft.com/office/drawing/2014/main" id="{4FE129D1-8A6F-A38A-1EFC-07AB605C037B}"/>
              </a:ext>
            </a:extLst>
          </p:cNvPr>
          <p:cNvSpPr>
            <a:spLocks noGrp="1"/>
          </p:cNvSpPr>
          <p:nvPr>
            <p:ph type="sldNum" sz="quarter" idx="5"/>
          </p:nvPr>
        </p:nvSpPr>
        <p:spPr/>
        <p:txBody>
          <a:bodyPr/>
          <a:lstStyle/>
          <a:p>
            <a:fld id="{526029D5-72E6-204B-95C8-168152D4D850}" type="slidenum">
              <a:rPr lang="en-US" smtClean="0"/>
              <a:t>43</a:t>
            </a:fld>
            <a:endParaRPr lang="en-US"/>
          </a:p>
        </p:txBody>
      </p:sp>
    </p:spTree>
    <p:extLst>
      <p:ext uri="{BB962C8B-B14F-4D97-AF65-F5344CB8AC3E}">
        <p14:creationId xmlns:p14="http://schemas.microsoft.com/office/powerpoint/2010/main" val="42261070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In a case study on leadership influences on research culture at the Munster technological university in Ireland.</a:t>
            </a:r>
          </a:p>
          <a:p>
            <a:r>
              <a:rPr lang="en-US" dirty="0"/>
              <a:t>Lacey and colleagues surveyed &gt;600 people and the largest category of responses related to values and good practice.</a:t>
            </a:r>
          </a:p>
        </p:txBody>
      </p:sp>
      <p:sp>
        <p:nvSpPr>
          <p:cNvPr id="4" name="Slide Number Placeholder 3"/>
          <p:cNvSpPr>
            <a:spLocks noGrp="1"/>
          </p:cNvSpPr>
          <p:nvPr>
            <p:ph type="sldNum" sz="quarter" idx="5"/>
          </p:nvPr>
        </p:nvSpPr>
        <p:spPr/>
        <p:txBody>
          <a:bodyPr/>
          <a:lstStyle/>
          <a:p>
            <a:fld id="{526029D5-72E6-204B-95C8-168152D4D850}" type="slidenum">
              <a:rPr lang="en-US" smtClean="0"/>
              <a:t>44</a:t>
            </a:fld>
            <a:endParaRPr lang="en-US"/>
          </a:p>
        </p:txBody>
      </p:sp>
    </p:spTree>
    <p:extLst>
      <p:ext uri="{BB962C8B-B14F-4D97-AF65-F5344CB8AC3E}">
        <p14:creationId xmlns:p14="http://schemas.microsoft.com/office/powerpoint/2010/main" val="374240875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A96A37-1DC0-4F1F-C316-B222010D7A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4F13C7-80E9-EB67-209B-B7DE0C4865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ADEDB3-58C4-A7BC-6BF8-2F35DD76037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So far, we have been thinking about how values shape our actions, culture and the environment we work in, but the reverse is also true!</a:t>
            </a:r>
          </a:p>
          <a:p>
            <a:r>
              <a:rPr lang="en-US" dirty="0"/>
              <a:t>The environment shapes leadership values. </a:t>
            </a:r>
          </a:p>
          <a:p>
            <a:endParaRPr lang="en-US" dirty="0"/>
          </a:p>
          <a:p>
            <a:r>
              <a:rPr lang="en-US" dirty="0"/>
              <a:t>In the academic context, academia is not a neutral backdrop</a:t>
            </a:r>
          </a:p>
        </p:txBody>
      </p:sp>
      <p:sp>
        <p:nvSpPr>
          <p:cNvPr id="4" name="Slide Number Placeholder 3">
            <a:extLst>
              <a:ext uri="{FF2B5EF4-FFF2-40B4-BE49-F238E27FC236}">
                <a16:creationId xmlns:a16="http://schemas.microsoft.com/office/drawing/2014/main" id="{66DB3404-109F-E1C6-2444-1811AF110E51}"/>
              </a:ext>
            </a:extLst>
          </p:cNvPr>
          <p:cNvSpPr>
            <a:spLocks noGrp="1"/>
          </p:cNvSpPr>
          <p:nvPr>
            <p:ph type="sldNum" sz="quarter" idx="5"/>
          </p:nvPr>
        </p:nvSpPr>
        <p:spPr/>
        <p:txBody>
          <a:bodyPr/>
          <a:lstStyle/>
          <a:p>
            <a:fld id="{526029D5-72E6-204B-95C8-168152D4D850}" type="slidenum">
              <a:rPr lang="en-US" smtClean="0"/>
              <a:t>45</a:t>
            </a:fld>
            <a:endParaRPr lang="en-US"/>
          </a:p>
        </p:txBody>
      </p:sp>
    </p:spTree>
    <p:extLst>
      <p:ext uri="{BB962C8B-B14F-4D97-AF65-F5344CB8AC3E}">
        <p14:creationId xmlns:p14="http://schemas.microsoft.com/office/powerpoint/2010/main" val="2035802255"/>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EFB23-0414-6A00-3AB2-2F3F16CF36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66C21FF-57BA-6CB7-E6B5-6A5EEFFE62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88201F-E72B-2469-7C4F-9E7B38B1F25B}"/>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Social</a:t>
            </a:r>
            <a:r>
              <a:rPr lang="en-US" sz="1200" dirty="0"/>
              <a:t>, </a:t>
            </a:r>
            <a:r>
              <a:rPr lang="en-US" sz="1200" b="1" dirty="0"/>
              <a:t>cultural</a:t>
            </a:r>
            <a:r>
              <a:rPr lang="en-US" sz="1200" dirty="0"/>
              <a:t>, </a:t>
            </a:r>
            <a:r>
              <a:rPr lang="en-US" sz="1200" b="1" dirty="0"/>
              <a:t>educational</a:t>
            </a:r>
            <a:r>
              <a:rPr lang="en-US" sz="1200" dirty="0"/>
              <a:t> background, </a:t>
            </a:r>
            <a:r>
              <a:rPr lang="en-US" sz="1200" b="1" dirty="0"/>
              <a:t>economic</a:t>
            </a:r>
            <a:r>
              <a:rPr lang="en-US" sz="1200" dirty="0"/>
              <a:t> factors influences how we lead and respond to challenges</a:t>
            </a:r>
            <a:endParaRPr lang="en-US" dirty="0"/>
          </a:p>
        </p:txBody>
      </p:sp>
      <p:sp>
        <p:nvSpPr>
          <p:cNvPr id="4" name="Slide Number Placeholder 3">
            <a:extLst>
              <a:ext uri="{FF2B5EF4-FFF2-40B4-BE49-F238E27FC236}">
                <a16:creationId xmlns:a16="http://schemas.microsoft.com/office/drawing/2014/main" id="{EAEC2772-8D44-AB39-108F-C76F25A28610}"/>
              </a:ext>
            </a:extLst>
          </p:cNvPr>
          <p:cNvSpPr>
            <a:spLocks noGrp="1"/>
          </p:cNvSpPr>
          <p:nvPr>
            <p:ph type="sldNum" sz="quarter" idx="5"/>
          </p:nvPr>
        </p:nvSpPr>
        <p:spPr/>
        <p:txBody>
          <a:bodyPr/>
          <a:lstStyle/>
          <a:p>
            <a:fld id="{526029D5-72E6-204B-95C8-168152D4D850}" type="slidenum">
              <a:rPr lang="en-US" smtClean="0"/>
              <a:t>46</a:t>
            </a:fld>
            <a:endParaRPr lang="en-US"/>
          </a:p>
        </p:txBody>
      </p:sp>
    </p:spTree>
    <p:extLst>
      <p:ext uri="{BB962C8B-B14F-4D97-AF65-F5344CB8AC3E}">
        <p14:creationId xmlns:p14="http://schemas.microsoft.com/office/powerpoint/2010/main" val="140573674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1B5ACE-ABE7-D975-AA02-C44018C963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0A745E-79CE-F8F8-1D26-9772A47DC43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A466EA-BC01-79E6-CED0-B5332EA48E9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Leadership is </a:t>
            </a:r>
            <a:r>
              <a:rPr lang="en-US" dirty="0"/>
              <a:t>a </a:t>
            </a:r>
            <a:r>
              <a:rPr lang="en-US" b="1" dirty="0"/>
              <a:t>critical</a:t>
            </a:r>
            <a:r>
              <a:rPr lang="en-US" dirty="0"/>
              <a:t> mediating factor in fostering a research culture that is </a:t>
            </a:r>
            <a:r>
              <a:rPr lang="en-US" b="1" dirty="0"/>
              <a:t>open</a:t>
            </a:r>
            <a:r>
              <a:rPr lang="en-US" dirty="0"/>
              <a:t>, </a:t>
            </a:r>
            <a:r>
              <a:rPr lang="en-US" b="1" dirty="0"/>
              <a:t>equitable</a:t>
            </a:r>
            <a:r>
              <a:rPr lang="en-US" dirty="0"/>
              <a:t> and </a:t>
            </a:r>
            <a:r>
              <a:rPr lang="en-US" b="1" dirty="0"/>
              <a:t>collaborative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Next, we are going to talk about research culture, norms and social-cultural identities </a:t>
            </a:r>
          </a:p>
        </p:txBody>
      </p:sp>
      <p:sp>
        <p:nvSpPr>
          <p:cNvPr id="4" name="Slide Number Placeholder 3">
            <a:extLst>
              <a:ext uri="{FF2B5EF4-FFF2-40B4-BE49-F238E27FC236}">
                <a16:creationId xmlns:a16="http://schemas.microsoft.com/office/drawing/2014/main" id="{E2301531-2E28-9B07-FCE3-BADF26B56EAF}"/>
              </a:ext>
            </a:extLst>
          </p:cNvPr>
          <p:cNvSpPr>
            <a:spLocks noGrp="1"/>
          </p:cNvSpPr>
          <p:nvPr>
            <p:ph type="sldNum" sz="quarter" idx="5"/>
          </p:nvPr>
        </p:nvSpPr>
        <p:spPr/>
        <p:txBody>
          <a:bodyPr/>
          <a:lstStyle/>
          <a:p>
            <a:fld id="{526029D5-72E6-204B-95C8-168152D4D850}" type="slidenum">
              <a:rPr lang="en-US" smtClean="0"/>
              <a:t>47</a:t>
            </a:fld>
            <a:endParaRPr lang="en-US"/>
          </a:p>
        </p:txBody>
      </p:sp>
    </p:spTree>
    <p:extLst>
      <p:ext uri="{BB962C8B-B14F-4D97-AF65-F5344CB8AC3E}">
        <p14:creationId xmlns:p14="http://schemas.microsoft.com/office/powerpoint/2010/main" val="70344517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4F140B-6F1A-66A4-4B51-9D11C8BB93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F8624C-059B-E1C4-886B-7701DBA3E9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7BFFFC9-2F75-30FF-DBC7-5E88C207F5D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Adoption of open science practices varies within this group today and also thinking in your own contexts. </a:t>
            </a:r>
          </a:p>
        </p:txBody>
      </p:sp>
      <p:sp>
        <p:nvSpPr>
          <p:cNvPr id="4" name="Slide Number Placeholder 3">
            <a:extLst>
              <a:ext uri="{FF2B5EF4-FFF2-40B4-BE49-F238E27FC236}">
                <a16:creationId xmlns:a16="http://schemas.microsoft.com/office/drawing/2014/main" id="{B7B8351D-975F-2787-FE20-6722914DB15F}"/>
              </a:ext>
            </a:extLst>
          </p:cNvPr>
          <p:cNvSpPr>
            <a:spLocks noGrp="1"/>
          </p:cNvSpPr>
          <p:nvPr>
            <p:ph type="sldNum" sz="quarter" idx="5"/>
          </p:nvPr>
        </p:nvSpPr>
        <p:spPr/>
        <p:txBody>
          <a:bodyPr/>
          <a:lstStyle/>
          <a:p>
            <a:fld id="{526029D5-72E6-204B-95C8-168152D4D850}" type="slidenum">
              <a:rPr lang="en-US" smtClean="0"/>
              <a:t>48</a:t>
            </a:fld>
            <a:endParaRPr lang="en-US"/>
          </a:p>
        </p:txBody>
      </p:sp>
    </p:spTree>
    <p:extLst>
      <p:ext uri="{BB962C8B-B14F-4D97-AF65-F5344CB8AC3E}">
        <p14:creationId xmlns:p14="http://schemas.microsoft.com/office/powerpoint/2010/main" val="61444560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E33935-1DBB-F057-67E3-078E11F5A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39218CB-E8A2-C7AC-E30D-26871FAA62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02768C-545F-DDA3-F079-F4166A16E61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A way to map on variation in adoption rates is using the diffusion of innovation model developed between the 60s and 80s by Rogers (who borrowed concepts from many different fields)</a:t>
            </a:r>
          </a:p>
          <a:p>
            <a:r>
              <a:rPr lang="en-US" sz="1200" dirty="0">
                <a:solidFill>
                  <a:schemeClr val="tx1">
                    <a:lumMod val="95000"/>
                    <a:lumOff val="5000"/>
                  </a:schemeClr>
                </a:solidFill>
              </a:rPr>
              <a:t>Today this model is used in marketing, conservation biology and sociology.</a:t>
            </a:r>
          </a:p>
          <a:p>
            <a:r>
              <a:rPr lang="en-US" sz="1200" dirty="0">
                <a:solidFill>
                  <a:schemeClr val="tx1">
                    <a:lumMod val="95000"/>
                    <a:lumOff val="5000"/>
                  </a:schemeClr>
                </a:solidFill>
              </a:rPr>
              <a:t> </a:t>
            </a:r>
          </a:p>
          <a:p>
            <a:r>
              <a:rPr lang="en-US" sz="1200" b="0" dirty="0">
                <a:solidFill>
                  <a:schemeClr val="tx1">
                    <a:lumMod val="95000"/>
                    <a:lumOff val="5000"/>
                  </a:schemeClr>
                </a:solidFill>
              </a:rPr>
              <a:t>It is a helpful guide to think about types of adopters and how to communicate/</a:t>
            </a:r>
          </a:p>
          <a:p>
            <a:r>
              <a:rPr lang="en-US" sz="1200" b="0" dirty="0">
                <a:solidFill>
                  <a:schemeClr val="tx1">
                    <a:lumMod val="95000"/>
                    <a:lumOff val="5000"/>
                  </a:schemeClr>
                </a:solidFill>
              </a:rPr>
              <a:t>advocate across the adoption spectrum. </a:t>
            </a:r>
          </a:p>
          <a:p>
            <a:endParaRPr lang="en-US" b="0" dirty="0"/>
          </a:p>
          <a:p>
            <a:r>
              <a:rPr lang="en-US" b="0" dirty="0"/>
              <a:t>You have time along the bottom and on the left-hand side, number of people adopting open science practices. Now we will go through the 5 adopter types</a:t>
            </a:r>
          </a:p>
          <a:p>
            <a:endParaRPr lang="en-US" dirty="0"/>
          </a:p>
        </p:txBody>
      </p:sp>
      <p:sp>
        <p:nvSpPr>
          <p:cNvPr id="4" name="Slide Number Placeholder 3">
            <a:extLst>
              <a:ext uri="{FF2B5EF4-FFF2-40B4-BE49-F238E27FC236}">
                <a16:creationId xmlns:a16="http://schemas.microsoft.com/office/drawing/2014/main" id="{A38AF45B-465B-9285-CFB9-464DE150650A}"/>
              </a:ext>
            </a:extLst>
          </p:cNvPr>
          <p:cNvSpPr>
            <a:spLocks noGrp="1"/>
          </p:cNvSpPr>
          <p:nvPr>
            <p:ph type="sldNum" sz="quarter" idx="5"/>
          </p:nvPr>
        </p:nvSpPr>
        <p:spPr/>
        <p:txBody>
          <a:bodyPr/>
          <a:lstStyle/>
          <a:p>
            <a:fld id="{526029D5-72E6-204B-95C8-168152D4D850}" type="slidenum">
              <a:rPr lang="en-US" smtClean="0"/>
              <a:t>49</a:t>
            </a:fld>
            <a:endParaRPr lang="en-US"/>
          </a:p>
        </p:txBody>
      </p:sp>
    </p:spTree>
    <p:extLst>
      <p:ext uri="{BB962C8B-B14F-4D97-AF65-F5344CB8AC3E}">
        <p14:creationId xmlns:p14="http://schemas.microsoft.com/office/powerpoint/2010/main" val="4165581579"/>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E692A-E6E1-1647-98C8-DE58AA5AD5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C8DB33-E38A-C9DB-C611-1752227178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A68B7E7-2F32-94BA-AAE8-000AC99BFDA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Innovators tend to go “</a:t>
            </a:r>
            <a:r>
              <a:rPr lang="en-US" sz="1200" b="0" dirty="0" err="1"/>
              <a:t>ooo</a:t>
            </a:r>
            <a:r>
              <a:rPr lang="en-US" sz="1200" b="0" dirty="0"/>
              <a:t>” and are excited about trying or developing new things and make up 2.5 % of the population.</a:t>
            </a:r>
            <a:endParaRPr lang="en-US" sz="1200" b="1" dirty="0"/>
          </a:p>
        </p:txBody>
      </p:sp>
      <p:sp>
        <p:nvSpPr>
          <p:cNvPr id="4" name="Slide Number Placeholder 3">
            <a:extLst>
              <a:ext uri="{FF2B5EF4-FFF2-40B4-BE49-F238E27FC236}">
                <a16:creationId xmlns:a16="http://schemas.microsoft.com/office/drawing/2014/main" id="{35724F2C-E935-6332-E131-215D2B3E2CE3}"/>
              </a:ext>
            </a:extLst>
          </p:cNvPr>
          <p:cNvSpPr>
            <a:spLocks noGrp="1"/>
          </p:cNvSpPr>
          <p:nvPr>
            <p:ph type="sldNum" sz="quarter" idx="5"/>
          </p:nvPr>
        </p:nvSpPr>
        <p:spPr/>
        <p:txBody>
          <a:bodyPr/>
          <a:lstStyle/>
          <a:p>
            <a:fld id="{526029D5-72E6-204B-95C8-168152D4D850}" type="slidenum">
              <a:rPr lang="en-US" smtClean="0"/>
              <a:t>50</a:t>
            </a:fld>
            <a:endParaRPr lang="en-US"/>
          </a:p>
        </p:txBody>
      </p:sp>
    </p:spTree>
    <p:extLst>
      <p:ext uri="{BB962C8B-B14F-4D97-AF65-F5344CB8AC3E}">
        <p14:creationId xmlns:p14="http://schemas.microsoft.com/office/powerpoint/2010/main" val="3081480013"/>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AB160-2B7B-CA85-4186-48A253FEA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D78669-1D34-569B-AC0E-71E0C2D94F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51A41-AFB6-6503-CA3C-221E5B0541F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Early adopters come next and they say things like “this looks great to use for my study”.</a:t>
            </a:r>
          </a:p>
        </p:txBody>
      </p:sp>
      <p:sp>
        <p:nvSpPr>
          <p:cNvPr id="4" name="Slide Number Placeholder 3">
            <a:extLst>
              <a:ext uri="{FF2B5EF4-FFF2-40B4-BE49-F238E27FC236}">
                <a16:creationId xmlns:a16="http://schemas.microsoft.com/office/drawing/2014/main" id="{7C1610B9-42A6-8D24-82A4-24A4D3AC8040}"/>
              </a:ext>
            </a:extLst>
          </p:cNvPr>
          <p:cNvSpPr>
            <a:spLocks noGrp="1"/>
          </p:cNvSpPr>
          <p:nvPr>
            <p:ph type="sldNum" sz="quarter" idx="5"/>
          </p:nvPr>
        </p:nvSpPr>
        <p:spPr/>
        <p:txBody>
          <a:bodyPr/>
          <a:lstStyle/>
          <a:p>
            <a:fld id="{526029D5-72E6-204B-95C8-168152D4D850}" type="slidenum">
              <a:rPr lang="en-US" smtClean="0"/>
              <a:t>51</a:t>
            </a:fld>
            <a:endParaRPr lang="en-US"/>
          </a:p>
        </p:txBody>
      </p:sp>
    </p:spTree>
    <p:extLst>
      <p:ext uri="{BB962C8B-B14F-4D97-AF65-F5344CB8AC3E}">
        <p14:creationId xmlns:p14="http://schemas.microsoft.com/office/powerpoint/2010/main" val="37517634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983061-3668-6B0E-EEE8-DC3BC8A335C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D5816E-6472-CB1B-F89F-2F7257B0E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050BEB-C714-815C-AF3B-91E58E307B2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Early majority next</a:t>
            </a:r>
          </a:p>
        </p:txBody>
      </p:sp>
      <p:sp>
        <p:nvSpPr>
          <p:cNvPr id="4" name="Slide Number Placeholder 3">
            <a:extLst>
              <a:ext uri="{FF2B5EF4-FFF2-40B4-BE49-F238E27FC236}">
                <a16:creationId xmlns:a16="http://schemas.microsoft.com/office/drawing/2014/main" id="{B18FE746-3261-3F39-9CD5-7CF350AF14B7}"/>
              </a:ext>
            </a:extLst>
          </p:cNvPr>
          <p:cNvSpPr>
            <a:spLocks noGrp="1"/>
          </p:cNvSpPr>
          <p:nvPr>
            <p:ph type="sldNum" sz="quarter" idx="5"/>
          </p:nvPr>
        </p:nvSpPr>
        <p:spPr/>
        <p:txBody>
          <a:bodyPr/>
          <a:lstStyle/>
          <a:p>
            <a:fld id="{526029D5-72E6-204B-95C8-168152D4D850}" type="slidenum">
              <a:rPr lang="en-US" smtClean="0"/>
              <a:t>52</a:t>
            </a:fld>
            <a:endParaRPr lang="en-US"/>
          </a:p>
        </p:txBody>
      </p:sp>
    </p:spTree>
    <p:extLst>
      <p:ext uri="{BB962C8B-B14F-4D97-AF65-F5344CB8AC3E}">
        <p14:creationId xmlns:p14="http://schemas.microsoft.com/office/powerpoint/2010/main" val="281735566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BF2EF-014F-487A-0DA4-60614E77D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0D3A1-1125-DBC1-65CE-9C0EE2B19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DA1F4A-DB9A-2C5A-7387-6C3A2D4678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late majority next and they might say: “I’ll give it a go as most of my colleagues use it”</a:t>
            </a:r>
          </a:p>
        </p:txBody>
      </p:sp>
      <p:sp>
        <p:nvSpPr>
          <p:cNvPr id="4" name="Slide Number Placeholder 3">
            <a:extLst>
              <a:ext uri="{FF2B5EF4-FFF2-40B4-BE49-F238E27FC236}">
                <a16:creationId xmlns:a16="http://schemas.microsoft.com/office/drawing/2014/main" id="{9CB0BB24-D098-3968-E055-AE69F8F2927B}"/>
              </a:ext>
            </a:extLst>
          </p:cNvPr>
          <p:cNvSpPr>
            <a:spLocks noGrp="1"/>
          </p:cNvSpPr>
          <p:nvPr>
            <p:ph type="sldNum" sz="quarter" idx="5"/>
          </p:nvPr>
        </p:nvSpPr>
        <p:spPr/>
        <p:txBody>
          <a:bodyPr/>
          <a:lstStyle/>
          <a:p>
            <a:fld id="{526029D5-72E6-204B-95C8-168152D4D850}" type="slidenum">
              <a:rPr lang="en-US" smtClean="0"/>
              <a:t>53</a:t>
            </a:fld>
            <a:endParaRPr lang="en-US"/>
          </a:p>
        </p:txBody>
      </p:sp>
    </p:spTree>
    <p:extLst>
      <p:ext uri="{BB962C8B-B14F-4D97-AF65-F5344CB8AC3E}">
        <p14:creationId xmlns:p14="http://schemas.microsoft.com/office/powerpoint/2010/main" val="74962515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CBBC7A-14BA-E911-9F60-21DC374006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B4B34CB-3BF8-5128-7782-ED5E421811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2C8CA6C-9771-C57D-A844-38F7E78A0C3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Lastly the laggards who are quite resistant and say things like “do I have to use this?”</a:t>
            </a:r>
          </a:p>
        </p:txBody>
      </p:sp>
      <p:sp>
        <p:nvSpPr>
          <p:cNvPr id="4" name="Slide Number Placeholder 3">
            <a:extLst>
              <a:ext uri="{FF2B5EF4-FFF2-40B4-BE49-F238E27FC236}">
                <a16:creationId xmlns:a16="http://schemas.microsoft.com/office/drawing/2014/main" id="{3B57C6D6-FC5C-BF9D-7426-D33C77861F58}"/>
              </a:ext>
            </a:extLst>
          </p:cNvPr>
          <p:cNvSpPr>
            <a:spLocks noGrp="1"/>
          </p:cNvSpPr>
          <p:nvPr>
            <p:ph type="sldNum" sz="quarter" idx="5"/>
          </p:nvPr>
        </p:nvSpPr>
        <p:spPr/>
        <p:txBody>
          <a:bodyPr/>
          <a:lstStyle/>
          <a:p>
            <a:fld id="{526029D5-72E6-204B-95C8-168152D4D850}" type="slidenum">
              <a:rPr lang="en-US" smtClean="0"/>
              <a:t>54</a:t>
            </a:fld>
            <a:endParaRPr lang="en-US"/>
          </a:p>
        </p:txBody>
      </p:sp>
    </p:spTree>
    <p:extLst>
      <p:ext uri="{BB962C8B-B14F-4D97-AF65-F5344CB8AC3E}">
        <p14:creationId xmlns:p14="http://schemas.microsoft.com/office/powerpoint/2010/main" val="9911897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6AB387-F3EB-9479-D45A-36B1C713D0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96471-E334-CB55-D1F1-6166FB0691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ABD5C9-F020-8927-76BD-F87571F7B75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Thinking about time to adoption, let’s say with open access as an example: innovators are the first to try out, early adopters are curious, early majority are cautious, late majority adopt when mainstream and laggards when policy requires them to change.</a:t>
            </a:r>
          </a:p>
          <a:p>
            <a:endParaRPr lang="en-US" dirty="0"/>
          </a:p>
          <a:p>
            <a:r>
              <a:rPr lang="en-US" dirty="0"/>
              <a:t>It can be helpful to think where you are on this curve, perhaps for some things you are an early adopter but maybe in situations you are late majority.</a:t>
            </a:r>
          </a:p>
          <a:p>
            <a:endParaRPr lang="en-US" dirty="0"/>
          </a:p>
          <a:p>
            <a:r>
              <a:rPr lang="en-US" dirty="0"/>
              <a:t>Useful to think about how we evaluate progress in research culture reform and for strategic planning </a:t>
            </a:r>
          </a:p>
          <a:p>
            <a:endParaRPr lang="en-US" dirty="0"/>
          </a:p>
          <a:p>
            <a:r>
              <a:rPr lang="en-US" dirty="0"/>
              <a:t>We will revisit in strategies sections</a:t>
            </a:r>
          </a:p>
        </p:txBody>
      </p:sp>
      <p:sp>
        <p:nvSpPr>
          <p:cNvPr id="4" name="Slide Number Placeholder 3">
            <a:extLst>
              <a:ext uri="{FF2B5EF4-FFF2-40B4-BE49-F238E27FC236}">
                <a16:creationId xmlns:a16="http://schemas.microsoft.com/office/drawing/2014/main" id="{AC167EDD-E413-9658-8C17-7586D1E73467}"/>
              </a:ext>
            </a:extLst>
          </p:cNvPr>
          <p:cNvSpPr>
            <a:spLocks noGrp="1"/>
          </p:cNvSpPr>
          <p:nvPr>
            <p:ph type="sldNum" sz="quarter" idx="5"/>
          </p:nvPr>
        </p:nvSpPr>
        <p:spPr/>
        <p:txBody>
          <a:bodyPr/>
          <a:lstStyle/>
          <a:p>
            <a:fld id="{526029D5-72E6-204B-95C8-168152D4D850}" type="slidenum">
              <a:rPr lang="en-US" smtClean="0"/>
              <a:t>55</a:t>
            </a:fld>
            <a:endParaRPr lang="en-US"/>
          </a:p>
        </p:txBody>
      </p:sp>
    </p:spTree>
    <p:extLst>
      <p:ext uri="{BB962C8B-B14F-4D97-AF65-F5344CB8AC3E}">
        <p14:creationId xmlns:p14="http://schemas.microsoft.com/office/powerpoint/2010/main" val="276062711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972C0A-125A-BCF5-D1B9-2C1E192B6C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17AF6B-C93A-C77F-3BFC-B281E00B4A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94A6316-B1C9-7D68-D9CA-7A7FD040497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Based on where on the adoption curve people are on you can adapt your messaging.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bottom of the graph also shows how much effort each adopter type expects to put in when trying out a new practice.</a:t>
            </a:r>
          </a:p>
        </p:txBody>
      </p:sp>
      <p:sp>
        <p:nvSpPr>
          <p:cNvPr id="4" name="Slide Number Placeholder 3">
            <a:extLst>
              <a:ext uri="{FF2B5EF4-FFF2-40B4-BE49-F238E27FC236}">
                <a16:creationId xmlns:a16="http://schemas.microsoft.com/office/drawing/2014/main" id="{96B6D8B0-4890-7762-D314-2D069CA3B399}"/>
              </a:ext>
            </a:extLst>
          </p:cNvPr>
          <p:cNvSpPr>
            <a:spLocks noGrp="1"/>
          </p:cNvSpPr>
          <p:nvPr>
            <p:ph type="sldNum" sz="quarter" idx="5"/>
          </p:nvPr>
        </p:nvSpPr>
        <p:spPr/>
        <p:txBody>
          <a:bodyPr/>
          <a:lstStyle/>
          <a:p>
            <a:fld id="{526029D5-72E6-204B-95C8-168152D4D850}" type="slidenum">
              <a:rPr lang="en-US" smtClean="0"/>
              <a:t>56</a:t>
            </a:fld>
            <a:endParaRPr lang="en-US"/>
          </a:p>
        </p:txBody>
      </p:sp>
    </p:spTree>
    <p:extLst>
      <p:ext uri="{BB962C8B-B14F-4D97-AF65-F5344CB8AC3E}">
        <p14:creationId xmlns:p14="http://schemas.microsoft.com/office/powerpoint/2010/main" val="1730175303"/>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Let’s look at norms and awareness of open science practices.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Out of the options in the box, which open science practice is most used and the least?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short exercise can involve guesses from learners via hands up/unmuting for online participants or via a poll on </a:t>
            </a:r>
            <a:r>
              <a:rPr lang="en-US" dirty="0" err="1"/>
              <a:t>Particify</a:t>
            </a:r>
            <a:r>
              <a:rPr lang="en-US" dirty="0"/>
              <a:t> https://</a:t>
            </a:r>
            <a:r>
              <a:rPr lang="en-US" dirty="0" err="1"/>
              <a:t>www.particify.de</a:t>
            </a:r>
            <a:r>
              <a:rPr lang="en-US" dirty="0"/>
              <a:t>/</a:t>
            </a:r>
            <a:r>
              <a:rPr lang="en-US" dirty="0" err="1"/>
              <a:t>en</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57</a:t>
            </a:fld>
            <a:endParaRPr lang="en-US"/>
          </a:p>
        </p:txBody>
      </p:sp>
    </p:spTree>
    <p:extLst>
      <p:ext uri="{BB962C8B-B14F-4D97-AF65-F5344CB8AC3E}">
        <p14:creationId xmlns:p14="http://schemas.microsoft.com/office/powerpoint/2010/main" val="199715389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This figure shows that open access is now the norm with over 78% of people surveyed in Pennington and colleagues study have adopted open access practices with the least being registered reports.</a:t>
            </a:r>
          </a:p>
        </p:txBody>
      </p:sp>
      <p:sp>
        <p:nvSpPr>
          <p:cNvPr id="4" name="Slide Number Placeholder 3"/>
          <p:cNvSpPr>
            <a:spLocks noGrp="1"/>
          </p:cNvSpPr>
          <p:nvPr>
            <p:ph type="sldNum" sz="quarter" idx="5"/>
          </p:nvPr>
        </p:nvSpPr>
        <p:spPr/>
        <p:txBody>
          <a:bodyPr/>
          <a:lstStyle/>
          <a:p>
            <a:fld id="{526029D5-72E6-204B-95C8-168152D4D850}" type="slidenum">
              <a:rPr lang="en-US" smtClean="0"/>
              <a:t>58</a:t>
            </a:fld>
            <a:endParaRPr lang="en-US"/>
          </a:p>
        </p:txBody>
      </p:sp>
    </p:spTree>
    <p:extLst>
      <p:ext uri="{BB962C8B-B14F-4D97-AF65-F5344CB8AC3E}">
        <p14:creationId xmlns:p14="http://schemas.microsoft.com/office/powerpoint/2010/main" val="136786645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Looking at adoption rates across disciplines we can see that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Low adoption rates for preregistration and registered reports humanities and physical sciences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High use of preprints (physical sciences)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Research co-production adoption is quite high in geography and environmental sciences </a:t>
            </a: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59</a:t>
            </a:fld>
            <a:endParaRPr lang="en-US"/>
          </a:p>
        </p:txBody>
      </p:sp>
    </p:spTree>
    <p:extLst>
      <p:ext uri="{BB962C8B-B14F-4D97-AF65-F5344CB8AC3E}">
        <p14:creationId xmlns:p14="http://schemas.microsoft.com/office/powerpoint/2010/main" val="2457091004"/>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Professors using open access publications the most and PhD students the least, potentially owing to the allocation of resources and access (e.g., funding for OA from grants or institutional publishing partnerships)</a:t>
            </a:r>
          </a:p>
          <a:p>
            <a:r>
              <a:rPr lang="en-GB" sz="1200" kern="1200" dirty="0">
                <a:solidFill>
                  <a:schemeClr val="tx1"/>
                </a:solidFill>
                <a:effectLst/>
                <a:latin typeface="+mn-lt"/>
                <a:ea typeface="+mn-ea"/>
                <a:cs typeface="+mn-cs"/>
              </a:rPr>
              <a:t>as well as simply PhD students having had less opportunity to have published their work. </a:t>
            </a:r>
          </a:p>
          <a:p>
            <a:endParaRPr lang="en-GB" sz="1200" kern="1200" dirty="0">
              <a:solidFill>
                <a:schemeClr val="tx1"/>
              </a:solidFill>
              <a:effectLst/>
              <a:latin typeface="+mn-lt"/>
              <a:ea typeface="+mn-ea"/>
              <a:cs typeface="+mn-cs"/>
            </a:endParaRPr>
          </a:p>
          <a:p>
            <a:r>
              <a:rPr lang="en-GB" sz="1200" kern="1200" dirty="0">
                <a:solidFill>
                  <a:schemeClr val="tx1"/>
                </a:solidFill>
                <a:effectLst/>
                <a:latin typeface="+mn-lt"/>
                <a:ea typeface="+mn-ea"/>
                <a:cs typeface="+mn-cs"/>
              </a:rPr>
              <a:t>open peer review difference could be to do with precarity, fear of backlash from signing your name on peer review - set you up for potential criticism </a:t>
            </a:r>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60</a:t>
            </a:fld>
            <a:endParaRPr lang="en-US"/>
          </a:p>
        </p:txBody>
      </p:sp>
    </p:spTree>
    <p:extLst>
      <p:ext uri="{BB962C8B-B14F-4D97-AF65-F5344CB8AC3E}">
        <p14:creationId xmlns:p14="http://schemas.microsoft.com/office/powerpoint/2010/main" val="308506893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Ok now let's consider how how social and cultural identity influences leadership and research culture</a:t>
            </a:r>
          </a:p>
          <a:p>
            <a:r>
              <a:rPr lang="en-US" dirty="0"/>
              <a:t>Factors such as gender, ethnicity, employment status and travel freedoms influence how you show up and research and learn.</a:t>
            </a:r>
          </a:p>
        </p:txBody>
      </p:sp>
      <p:sp>
        <p:nvSpPr>
          <p:cNvPr id="4" name="Slide Number Placeholder 3"/>
          <p:cNvSpPr>
            <a:spLocks noGrp="1"/>
          </p:cNvSpPr>
          <p:nvPr>
            <p:ph type="sldNum" sz="quarter" idx="5"/>
          </p:nvPr>
        </p:nvSpPr>
        <p:spPr/>
        <p:txBody>
          <a:bodyPr/>
          <a:lstStyle/>
          <a:p>
            <a:fld id="{526029D5-72E6-204B-95C8-168152D4D850}" type="slidenum">
              <a:rPr lang="en-US" smtClean="0"/>
              <a:t>61</a:t>
            </a:fld>
            <a:endParaRPr lang="en-US"/>
          </a:p>
        </p:txBody>
      </p:sp>
    </p:spTree>
    <p:extLst>
      <p:ext uri="{BB962C8B-B14F-4D97-AF65-F5344CB8AC3E}">
        <p14:creationId xmlns:p14="http://schemas.microsoft.com/office/powerpoint/2010/main" val="2088026485"/>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sz="1200" b="1" dirty="0"/>
              <a:t>The Academic Wheel of Privilege is a framework to reflect on how social location influences academic activities (e.g. authorship decisions, building collaborations, study design, and leadership).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r>
              <a:rPr lang="en-US" dirty="0"/>
              <a:t>There are 24 baseline categories relating to health and wellbeing, society, culture and communication, gender and sexuality, education and career, living arrangements, childhood and developmental experiences</a:t>
            </a:r>
          </a:p>
          <a:p>
            <a:endParaRPr lang="en-US" dirty="0"/>
          </a:p>
          <a:p>
            <a:r>
              <a:rPr lang="en-US" dirty="0"/>
              <a:t>as you go towards the center ring you have increasing privilege.</a:t>
            </a:r>
          </a:p>
        </p:txBody>
      </p:sp>
      <p:sp>
        <p:nvSpPr>
          <p:cNvPr id="4" name="Slide Number Placeholder 3"/>
          <p:cNvSpPr>
            <a:spLocks noGrp="1"/>
          </p:cNvSpPr>
          <p:nvPr>
            <p:ph type="sldNum" sz="quarter" idx="5"/>
          </p:nvPr>
        </p:nvSpPr>
        <p:spPr/>
        <p:txBody>
          <a:bodyPr/>
          <a:lstStyle/>
          <a:p>
            <a:fld id="{526029D5-72E6-204B-95C8-168152D4D850}" type="slidenum">
              <a:rPr lang="en-US" smtClean="0"/>
              <a:t>62</a:t>
            </a:fld>
            <a:endParaRPr lang="en-US"/>
          </a:p>
        </p:txBody>
      </p:sp>
    </p:spTree>
    <p:extLst>
      <p:ext uri="{BB962C8B-B14F-4D97-AF65-F5344CB8AC3E}">
        <p14:creationId xmlns:p14="http://schemas.microsoft.com/office/powerpoint/2010/main" val="4270632764"/>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endParaRPr lang="en-US" sz="1200" b="1" dirty="0"/>
          </a:p>
          <a:p>
            <a:r>
              <a:rPr lang="en-US" dirty="0"/>
              <a:t>Our social location influences our values, actions and research culture we foster as leaders</a:t>
            </a:r>
          </a:p>
        </p:txBody>
      </p:sp>
      <p:sp>
        <p:nvSpPr>
          <p:cNvPr id="4" name="Slide Number Placeholder 3"/>
          <p:cNvSpPr>
            <a:spLocks noGrp="1"/>
          </p:cNvSpPr>
          <p:nvPr>
            <p:ph type="sldNum" sz="quarter" idx="5"/>
          </p:nvPr>
        </p:nvSpPr>
        <p:spPr/>
        <p:txBody>
          <a:bodyPr/>
          <a:lstStyle/>
          <a:p>
            <a:fld id="{526029D5-72E6-204B-95C8-168152D4D850}" type="slidenum">
              <a:rPr lang="en-US" smtClean="0"/>
              <a:t>63</a:t>
            </a:fld>
            <a:endParaRPr lang="en-US"/>
          </a:p>
        </p:txBody>
      </p:sp>
    </p:spTree>
    <p:extLst>
      <p:ext uri="{BB962C8B-B14F-4D97-AF65-F5344CB8AC3E}">
        <p14:creationId xmlns:p14="http://schemas.microsoft.com/office/powerpoint/2010/main" val="77507781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4348A-60F9-4C17-971D-98DE386521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DE8367-5543-CAF6-A4DE-55B1A3335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0ACCB-91B8-4B00-C6AD-494010040C27}"/>
              </a:ext>
            </a:extLst>
          </p:cNvPr>
          <p:cNvSpPr>
            <a:spLocks noGrp="1"/>
          </p:cNvSpPr>
          <p:nvPr>
            <p:ph type="body" idx="1"/>
          </p:nvPr>
        </p:nvSpPr>
        <p:spPr/>
        <p:txBody>
          <a:bodyPr/>
          <a:lstStyle/>
          <a:p>
            <a:r>
              <a:rPr lang="en-US" sz="1200" b="1" dirty="0"/>
              <a:t>Speaker notes:</a:t>
            </a:r>
          </a:p>
          <a:p>
            <a:r>
              <a:rPr lang="en-US" sz="1200" b="0" dirty="0"/>
              <a:t>Social location influences our leadership style, as shown in the example here about teaching a reproducible coding workshop</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There may be biases or blind spots in how the teacher teaches </a:t>
            </a:r>
            <a:r>
              <a:rPr lang="en-GB" sz="1200" kern="1200" dirty="0">
                <a:solidFill>
                  <a:schemeClr val="tx1"/>
                </a:solidFill>
                <a:effectLst/>
                <a:latin typeface="+mn-lt"/>
                <a:ea typeface="+mn-ea"/>
                <a:cs typeface="+mn-cs"/>
              </a:rPr>
              <a:t>and the expectations of learners. </a:t>
            </a:r>
            <a:r>
              <a:rPr lang="en-US" sz="1200" b="0" kern="1200" dirty="0">
                <a:solidFill>
                  <a:schemeClr val="tx1"/>
                </a:solidFill>
                <a:effectLst/>
                <a:latin typeface="+mn-lt"/>
                <a:ea typeface="+mn-ea"/>
                <a:cs typeface="+mn-cs"/>
              </a:rPr>
              <a:t>T</a:t>
            </a:r>
            <a:r>
              <a:rPr lang="en-US" sz="1200" b="0" dirty="0"/>
              <a:t>hey may be more mindful of certain things from lived experience than others, </a:t>
            </a:r>
          </a:p>
          <a:p>
            <a:r>
              <a:rPr lang="en-US" sz="1200" b="0" dirty="0"/>
              <a:t>Hence why training and raising awareness is a step towards improving learning and research culture.</a:t>
            </a:r>
          </a:p>
          <a:p>
            <a:endParaRPr lang="en-US" sz="1200" b="0" dirty="0"/>
          </a:p>
          <a:p>
            <a:r>
              <a:rPr lang="en-US" sz="1200" b="0" dirty="0"/>
              <a:t>You can also think about other contexts like leading a large replication study Chair of an Open Science community initiative </a:t>
            </a:r>
          </a:p>
          <a:p>
            <a:endParaRPr lang="en-US" sz="1200" b="1" dirty="0"/>
          </a:p>
          <a:p>
            <a:endParaRPr lang="en-US" dirty="0"/>
          </a:p>
        </p:txBody>
      </p:sp>
      <p:sp>
        <p:nvSpPr>
          <p:cNvPr id="4" name="Slide Number Placeholder 3">
            <a:extLst>
              <a:ext uri="{FF2B5EF4-FFF2-40B4-BE49-F238E27FC236}">
                <a16:creationId xmlns:a16="http://schemas.microsoft.com/office/drawing/2014/main" id="{CF8ABBBB-5F09-5651-2400-A3D9F53358BA}"/>
              </a:ext>
            </a:extLst>
          </p:cNvPr>
          <p:cNvSpPr>
            <a:spLocks noGrp="1"/>
          </p:cNvSpPr>
          <p:nvPr>
            <p:ph type="sldNum" sz="quarter" idx="5"/>
          </p:nvPr>
        </p:nvSpPr>
        <p:spPr/>
        <p:txBody>
          <a:bodyPr/>
          <a:lstStyle/>
          <a:p>
            <a:fld id="{526029D5-72E6-204B-95C8-168152D4D850}" type="slidenum">
              <a:rPr lang="en-US" smtClean="0"/>
              <a:t>64</a:t>
            </a:fld>
            <a:endParaRPr lang="en-US"/>
          </a:p>
        </p:txBody>
      </p:sp>
    </p:spTree>
    <p:extLst>
      <p:ext uri="{BB962C8B-B14F-4D97-AF65-F5344CB8AC3E}">
        <p14:creationId xmlns:p14="http://schemas.microsoft.com/office/powerpoint/2010/main" val="25499270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I am now going to walk you through some examples of how your social location can influence adoption of open science practices</a:t>
            </a:r>
          </a:p>
          <a:p>
            <a:endParaRPr lang="en-US" dirty="0"/>
          </a:p>
          <a:p>
            <a:r>
              <a:rPr lang="en-US" dirty="0"/>
              <a:t>The access to funding and resources affects your ability to pay for open access publications, not everyone can afford $10, 000 USD for an open access article in Nature for example</a:t>
            </a:r>
          </a:p>
        </p:txBody>
      </p:sp>
      <p:sp>
        <p:nvSpPr>
          <p:cNvPr id="4" name="Slide Number Placeholder 3"/>
          <p:cNvSpPr>
            <a:spLocks noGrp="1"/>
          </p:cNvSpPr>
          <p:nvPr>
            <p:ph type="sldNum" sz="quarter" idx="5"/>
          </p:nvPr>
        </p:nvSpPr>
        <p:spPr/>
        <p:txBody>
          <a:bodyPr/>
          <a:lstStyle/>
          <a:p>
            <a:fld id="{526029D5-72E6-204B-95C8-168152D4D850}" type="slidenum">
              <a:rPr lang="en-US" smtClean="0"/>
              <a:t>65</a:t>
            </a:fld>
            <a:endParaRPr lang="en-US"/>
          </a:p>
        </p:txBody>
      </p:sp>
    </p:spTree>
    <p:extLst>
      <p:ext uri="{BB962C8B-B14F-4D97-AF65-F5344CB8AC3E}">
        <p14:creationId xmlns:p14="http://schemas.microsoft.com/office/powerpoint/2010/main" val="2448936594"/>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Culture and language shape how we design studies and the types of research questions we ask, also accessibility of open educational resources (many are in English)</a:t>
            </a:r>
          </a:p>
          <a:p>
            <a:r>
              <a:rPr lang="en-US" dirty="0"/>
              <a:t>Open peer review might be seen differently depending on cultures (some might prefer anonymity or call in rather than call out issues with a paper)</a:t>
            </a:r>
          </a:p>
        </p:txBody>
      </p:sp>
      <p:sp>
        <p:nvSpPr>
          <p:cNvPr id="4" name="Slide Number Placeholder 3"/>
          <p:cNvSpPr>
            <a:spLocks noGrp="1"/>
          </p:cNvSpPr>
          <p:nvPr>
            <p:ph type="sldNum" sz="quarter" idx="5"/>
          </p:nvPr>
        </p:nvSpPr>
        <p:spPr/>
        <p:txBody>
          <a:bodyPr/>
          <a:lstStyle/>
          <a:p>
            <a:fld id="{526029D5-72E6-204B-95C8-168152D4D850}" type="slidenum">
              <a:rPr lang="en-US" smtClean="0"/>
              <a:t>66</a:t>
            </a:fld>
            <a:endParaRPr lang="en-US"/>
          </a:p>
        </p:txBody>
      </p:sp>
    </p:spTree>
    <p:extLst>
      <p:ext uri="{BB962C8B-B14F-4D97-AF65-F5344CB8AC3E}">
        <p14:creationId xmlns:p14="http://schemas.microsoft.com/office/powerpoint/2010/main" val="219667090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Disability status – accessibility of digital platforms and time to implement open science practices</a:t>
            </a:r>
          </a:p>
        </p:txBody>
      </p:sp>
      <p:sp>
        <p:nvSpPr>
          <p:cNvPr id="4" name="Slide Number Placeholder 3"/>
          <p:cNvSpPr>
            <a:spLocks noGrp="1"/>
          </p:cNvSpPr>
          <p:nvPr>
            <p:ph type="sldNum" sz="quarter" idx="5"/>
          </p:nvPr>
        </p:nvSpPr>
        <p:spPr/>
        <p:txBody>
          <a:bodyPr/>
          <a:lstStyle/>
          <a:p>
            <a:fld id="{526029D5-72E6-204B-95C8-168152D4D850}" type="slidenum">
              <a:rPr lang="en-US" smtClean="0"/>
              <a:t>67</a:t>
            </a:fld>
            <a:endParaRPr lang="en-US"/>
          </a:p>
        </p:txBody>
      </p:sp>
    </p:spTree>
    <p:extLst>
      <p:ext uri="{BB962C8B-B14F-4D97-AF65-F5344CB8AC3E}">
        <p14:creationId xmlns:p14="http://schemas.microsoft.com/office/powerpoint/2010/main" val="1807192213"/>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Home nation stability is very topical now as we see many cuts to the higher education sector and geopolitical instability. This influences ability to build and sustain collaborations.</a:t>
            </a:r>
          </a:p>
        </p:txBody>
      </p:sp>
      <p:sp>
        <p:nvSpPr>
          <p:cNvPr id="4" name="Slide Number Placeholder 3"/>
          <p:cNvSpPr>
            <a:spLocks noGrp="1"/>
          </p:cNvSpPr>
          <p:nvPr>
            <p:ph type="sldNum" sz="quarter" idx="5"/>
          </p:nvPr>
        </p:nvSpPr>
        <p:spPr/>
        <p:txBody>
          <a:bodyPr/>
          <a:lstStyle/>
          <a:p>
            <a:fld id="{526029D5-72E6-204B-95C8-168152D4D850}" type="slidenum">
              <a:rPr lang="en-US" smtClean="0"/>
              <a:t>68</a:t>
            </a:fld>
            <a:endParaRPr lang="en-US"/>
          </a:p>
        </p:txBody>
      </p:sp>
    </p:spTree>
    <p:extLst>
      <p:ext uri="{BB962C8B-B14F-4D97-AF65-F5344CB8AC3E}">
        <p14:creationId xmlns:p14="http://schemas.microsoft.com/office/powerpoint/2010/main" val="139047921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Employment status – many of us are on fixed term contracts which can influence how we plan our studies – can impact our capacity to do things like preregistration </a:t>
            </a:r>
          </a:p>
        </p:txBody>
      </p:sp>
      <p:sp>
        <p:nvSpPr>
          <p:cNvPr id="4" name="Slide Number Placeholder 3"/>
          <p:cNvSpPr>
            <a:spLocks noGrp="1"/>
          </p:cNvSpPr>
          <p:nvPr>
            <p:ph type="sldNum" sz="quarter" idx="5"/>
          </p:nvPr>
        </p:nvSpPr>
        <p:spPr/>
        <p:txBody>
          <a:bodyPr/>
          <a:lstStyle/>
          <a:p>
            <a:fld id="{526029D5-72E6-204B-95C8-168152D4D850}" type="slidenum">
              <a:rPr lang="en-US" smtClean="0"/>
              <a:t>69</a:t>
            </a:fld>
            <a:endParaRPr lang="en-US"/>
          </a:p>
        </p:txBody>
      </p:sp>
    </p:spTree>
    <p:extLst>
      <p:ext uri="{BB962C8B-B14F-4D97-AF65-F5344CB8AC3E}">
        <p14:creationId xmlns:p14="http://schemas.microsoft.com/office/powerpoint/2010/main" val="1578297282"/>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now to close the loop: we have looked at values, the research culture context and now thinking about moving towards and open, equitable and diverse research culture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vision where diverse knowledge systems are embraced, as is participatory research, broader metrics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a:t>
            </a:r>
            <a:r>
              <a:rPr lang="en-US" sz="1200" dirty="0"/>
              <a:t> </a:t>
            </a:r>
            <a:r>
              <a:rPr lang="en-US" sz="1200" b="1" dirty="0"/>
              <a:t>healthy</a:t>
            </a:r>
            <a:r>
              <a:rPr lang="en-US" sz="1200" dirty="0"/>
              <a:t> research culture </a:t>
            </a:r>
            <a:r>
              <a:rPr lang="en-US" sz="1200" b="1" dirty="0"/>
              <a:t>enables </a:t>
            </a:r>
            <a:r>
              <a:rPr lang="en-US" sz="1200" dirty="0"/>
              <a:t>high-quality research (which also </a:t>
            </a:r>
            <a:r>
              <a:rPr lang="en-US" sz="1200" b="1" dirty="0"/>
              <a:t>safeguards</a:t>
            </a:r>
            <a:r>
              <a:rPr lang="en-US" sz="1200" dirty="0"/>
              <a:t> research integrity)</a:t>
            </a: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70</a:t>
            </a:fld>
            <a:endParaRPr lang="en-US"/>
          </a:p>
        </p:txBody>
      </p:sp>
    </p:spTree>
    <p:extLst>
      <p:ext uri="{BB962C8B-B14F-4D97-AF65-F5344CB8AC3E}">
        <p14:creationId xmlns:p14="http://schemas.microsoft.com/office/powerpoint/2010/main" val="309225223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8BC7F-094C-0B64-6007-CB490EC1CB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B2FAB4-E12A-47CD-D5A8-0D8D7A3FBA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E33540-BA22-315F-AB81-B25F5ACE7FF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endParaRPr lang="en-US" dirty="0"/>
          </a:p>
          <a:p>
            <a:r>
              <a:rPr lang="en-US" dirty="0"/>
              <a:t>It requires leaders to identify what is working well and what is not</a:t>
            </a:r>
          </a:p>
          <a:p>
            <a:r>
              <a:rPr lang="en-US" dirty="0"/>
              <a:t>taking stock or an audit if you will of how things work in your group, team, or class.</a:t>
            </a:r>
          </a:p>
        </p:txBody>
      </p:sp>
      <p:sp>
        <p:nvSpPr>
          <p:cNvPr id="4" name="Slide Number Placeholder 3">
            <a:extLst>
              <a:ext uri="{FF2B5EF4-FFF2-40B4-BE49-F238E27FC236}">
                <a16:creationId xmlns:a16="http://schemas.microsoft.com/office/drawing/2014/main" id="{1C9EB43E-EA94-C328-548F-46769859A51E}"/>
              </a:ext>
            </a:extLst>
          </p:cNvPr>
          <p:cNvSpPr>
            <a:spLocks noGrp="1"/>
          </p:cNvSpPr>
          <p:nvPr>
            <p:ph type="sldNum" sz="quarter" idx="5"/>
          </p:nvPr>
        </p:nvSpPr>
        <p:spPr/>
        <p:txBody>
          <a:bodyPr/>
          <a:lstStyle/>
          <a:p>
            <a:fld id="{526029D5-72E6-204B-95C8-168152D4D850}" type="slidenum">
              <a:rPr lang="en-US" smtClean="0"/>
              <a:t>71</a:t>
            </a:fld>
            <a:endParaRPr lang="en-US"/>
          </a:p>
        </p:txBody>
      </p:sp>
    </p:spTree>
    <p:extLst>
      <p:ext uri="{BB962C8B-B14F-4D97-AF65-F5344CB8AC3E}">
        <p14:creationId xmlns:p14="http://schemas.microsoft.com/office/powerpoint/2010/main" val="338849858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1F2533-3856-E623-C0D2-805710797D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9393F4-6D0C-4198-096B-2AEBCB13F0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73D5F2-0C7F-D78F-E5BA-2D97A1764E5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Recognize how actions shape the research culture</a:t>
            </a:r>
          </a:p>
        </p:txBody>
      </p:sp>
      <p:sp>
        <p:nvSpPr>
          <p:cNvPr id="4" name="Slide Number Placeholder 3">
            <a:extLst>
              <a:ext uri="{FF2B5EF4-FFF2-40B4-BE49-F238E27FC236}">
                <a16:creationId xmlns:a16="http://schemas.microsoft.com/office/drawing/2014/main" id="{A6E99C0C-3F57-3595-FF7F-83211B74FCA0}"/>
              </a:ext>
            </a:extLst>
          </p:cNvPr>
          <p:cNvSpPr>
            <a:spLocks noGrp="1"/>
          </p:cNvSpPr>
          <p:nvPr>
            <p:ph type="sldNum" sz="quarter" idx="5"/>
          </p:nvPr>
        </p:nvSpPr>
        <p:spPr/>
        <p:txBody>
          <a:bodyPr/>
          <a:lstStyle/>
          <a:p>
            <a:fld id="{526029D5-72E6-204B-95C8-168152D4D850}" type="slidenum">
              <a:rPr lang="en-US" smtClean="0"/>
              <a:t>72</a:t>
            </a:fld>
            <a:endParaRPr lang="en-US"/>
          </a:p>
        </p:txBody>
      </p:sp>
    </p:spTree>
    <p:extLst>
      <p:ext uri="{BB962C8B-B14F-4D97-AF65-F5344CB8AC3E}">
        <p14:creationId xmlns:p14="http://schemas.microsoft.com/office/powerpoint/2010/main" val="2969104189"/>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27075A-4289-4C3F-669F-A896FDC45E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8B05A22-9996-7299-AD85-15E810AEFD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39717A-E1A5-E53E-6D91-AA460BDDA6B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It is important to try out new ways of thinking and working </a:t>
            </a:r>
          </a:p>
        </p:txBody>
      </p:sp>
      <p:sp>
        <p:nvSpPr>
          <p:cNvPr id="4" name="Slide Number Placeholder 3">
            <a:extLst>
              <a:ext uri="{FF2B5EF4-FFF2-40B4-BE49-F238E27FC236}">
                <a16:creationId xmlns:a16="http://schemas.microsoft.com/office/drawing/2014/main" id="{235458B6-207B-38DF-27F0-8B8522575D48}"/>
              </a:ext>
            </a:extLst>
          </p:cNvPr>
          <p:cNvSpPr>
            <a:spLocks noGrp="1"/>
          </p:cNvSpPr>
          <p:nvPr>
            <p:ph type="sldNum" sz="quarter" idx="5"/>
          </p:nvPr>
        </p:nvSpPr>
        <p:spPr/>
        <p:txBody>
          <a:bodyPr/>
          <a:lstStyle/>
          <a:p>
            <a:fld id="{526029D5-72E6-204B-95C8-168152D4D850}" type="slidenum">
              <a:rPr lang="en-US" smtClean="0"/>
              <a:t>73</a:t>
            </a:fld>
            <a:endParaRPr lang="en-US"/>
          </a:p>
        </p:txBody>
      </p:sp>
    </p:spTree>
    <p:extLst>
      <p:ext uri="{BB962C8B-B14F-4D97-AF65-F5344CB8AC3E}">
        <p14:creationId xmlns:p14="http://schemas.microsoft.com/office/powerpoint/2010/main" val="2392788330"/>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4AFD-3BD2-C176-C6EB-657F123C9F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7D2D5F-CFDC-2DFC-2CE6-90DC2EF670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5419A1-0688-5BAA-339F-A19A0E282D76}"/>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Increase opportunities for </a:t>
            </a:r>
            <a:r>
              <a:rPr lang="en-US" sz="1200" b="1" dirty="0"/>
              <a:t>engagement</a:t>
            </a:r>
            <a:r>
              <a:rPr lang="en-US" sz="1200" dirty="0"/>
              <a:t> in the learning and research process (e.g. via </a:t>
            </a:r>
            <a:r>
              <a:rPr lang="en-US" sz="1200" b="1" dirty="0"/>
              <a:t>Universal Design</a:t>
            </a:r>
            <a:r>
              <a:rPr lang="en-US" sz="1200" dirty="0"/>
              <a:t>, </a:t>
            </a:r>
            <a:r>
              <a:rPr lang="en-US" sz="1200" b="1" dirty="0"/>
              <a:t>participatory research)</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Instructor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The workbook has more on universal design in the additional resources section (end of the workbook)</a:t>
            </a:r>
          </a:p>
        </p:txBody>
      </p:sp>
      <p:sp>
        <p:nvSpPr>
          <p:cNvPr id="4" name="Slide Number Placeholder 3">
            <a:extLst>
              <a:ext uri="{FF2B5EF4-FFF2-40B4-BE49-F238E27FC236}">
                <a16:creationId xmlns:a16="http://schemas.microsoft.com/office/drawing/2014/main" id="{DDF0F53B-8A88-66D3-5FEB-EC0572F1B6AA}"/>
              </a:ext>
            </a:extLst>
          </p:cNvPr>
          <p:cNvSpPr>
            <a:spLocks noGrp="1"/>
          </p:cNvSpPr>
          <p:nvPr>
            <p:ph type="sldNum" sz="quarter" idx="5"/>
          </p:nvPr>
        </p:nvSpPr>
        <p:spPr/>
        <p:txBody>
          <a:bodyPr/>
          <a:lstStyle/>
          <a:p>
            <a:fld id="{526029D5-72E6-204B-95C8-168152D4D850}" type="slidenum">
              <a:rPr lang="en-US" smtClean="0"/>
              <a:t>74</a:t>
            </a:fld>
            <a:endParaRPr lang="en-US"/>
          </a:p>
        </p:txBody>
      </p:sp>
    </p:spTree>
    <p:extLst>
      <p:ext uri="{BB962C8B-B14F-4D97-AF65-F5344CB8AC3E}">
        <p14:creationId xmlns:p14="http://schemas.microsoft.com/office/powerpoint/2010/main" val="42118807"/>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F3560A-B3E0-DCDD-0D43-E588779ADE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3E65B-84F3-C6F9-F8D0-E6A4FEB06B8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560258-4067-98B5-DC11-4CFB2FCB89A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Spend a bit of time now talking about universal design and add to yesterday’s session on creating a positive learning environment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r>
              <a:rPr lang="en-US" sz="1200" b="0" dirty="0"/>
              <a:t>Universal design is the </a:t>
            </a:r>
            <a:r>
              <a:rPr lang="en-US" sz="1200" dirty="0"/>
              <a:t>The </a:t>
            </a:r>
            <a:r>
              <a:rPr lang="en-US" sz="1200" b="1" dirty="0"/>
              <a:t>proactive </a:t>
            </a:r>
            <a:r>
              <a:rPr lang="en-GB" sz="1200" dirty="0"/>
              <a:t>creation of spaces designed with human </a:t>
            </a:r>
            <a:r>
              <a:rPr lang="en-GB" sz="1200" b="1" dirty="0"/>
              <a:t>variability</a:t>
            </a:r>
            <a:r>
              <a:rPr lang="en-GB" sz="1200" dirty="0"/>
              <a:t> in mind. Aims to </a:t>
            </a:r>
            <a:r>
              <a:rPr lang="en-GB" sz="1200" b="1" dirty="0"/>
              <a:t>minimize barriers </a:t>
            </a:r>
            <a:r>
              <a:rPr lang="en-GB" sz="1200" dirty="0"/>
              <a:t>and be </a:t>
            </a:r>
            <a:r>
              <a:rPr lang="en-GB" sz="1200" b="1" dirty="0"/>
              <a:t>usable</a:t>
            </a:r>
            <a:r>
              <a:rPr lang="en-GB" sz="1200" dirty="0"/>
              <a:t> by the widest range of people.</a:t>
            </a: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I like this illustration whereby making the street accessible it widens access to other users</a:t>
            </a:r>
          </a:p>
        </p:txBody>
      </p:sp>
      <p:sp>
        <p:nvSpPr>
          <p:cNvPr id="4" name="Slide Number Placeholder 3">
            <a:extLst>
              <a:ext uri="{FF2B5EF4-FFF2-40B4-BE49-F238E27FC236}">
                <a16:creationId xmlns:a16="http://schemas.microsoft.com/office/drawing/2014/main" id="{8EEC0012-81CC-6F2F-76CE-732954D92D34}"/>
              </a:ext>
            </a:extLst>
          </p:cNvPr>
          <p:cNvSpPr>
            <a:spLocks noGrp="1"/>
          </p:cNvSpPr>
          <p:nvPr>
            <p:ph type="sldNum" sz="quarter" idx="5"/>
          </p:nvPr>
        </p:nvSpPr>
        <p:spPr/>
        <p:txBody>
          <a:bodyPr/>
          <a:lstStyle/>
          <a:p>
            <a:fld id="{526029D5-72E6-204B-95C8-168152D4D850}" type="slidenum">
              <a:rPr lang="en-US" smtClean="0"/>
              <a:t>75</a:t>
            </a:fld>
            <a:endParaRPr lang="en-US"/>
          </a:p>
        </p:txBody>
      </p:sp>
    </p:spTree>
    <p:extLst>
      <p:ext uri="{BB962C8B-B14F-4D97-AF65-F5344CB8AC3E}">
        <p14:creationId xmlns:p14="http://schemas.microsoft.com/office/powerpoint/2010/main" val="375558852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F0C5B-B4C4-E858-8DC5-615BA2D25A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364A3C-3B8B-F5D1-C183-1BB104B36E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0A44B3-945C-BDF7-C3DE-5500B67C557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dirty="0"/>
              <a:t>An open science example is with extending the FAIR principles </a:t>
            </a:r>
          </a:p>
          <a:p>
            <a:r>
              <a:rPr lang="en-GB" sz="1200" b="0" dirty="0"/>
              <a:t>Include plain language summaries, captioned video or audio format summaries to research outputs/educational materials.</a:t>
            </a:r>
            <a:endParaRPr lang="en-US" sz="1200" b="0" dirty="0"/>
          </a:p>
          <a:p>
            <a:r>
              <a:rPr lang="en-US" sz="1200" b="0" dirty="0"/>
              <a:t>Many people benefit (e.g. neurodivergent, disabled, non-native speakers, those with caring duties)!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1" dirty="0"/>
          </a:p>
        </p:txBody>
      </p:sp>
      <p:sp>
        <p:nvSpPr>
          <p:cNvPr id="4" name="Slide Number Placeholder 3">
            <a:extLst>
              <a:ext uri="{FF2B5EF4-FFF2-40B4-BE49-F238E27FC236}">
                <a16:creationId xmlns:a16="http://schemas.microsoft.com/office/drawing/2014/main" id="{5882BAFE-C691-6AF9-A85D-9991DB136768}"/>
              </a:ext>
            </a:extLst>
          </p:cNvPr>
          <p:cNvSpPr>
            <a:spLocks noGrp="1"/>
          </p:cNvSpPr>
          <p:nvPr>
            <p:ph type="sldNum" sz="quarter" idx="5"/>
          </p:nvPr>
        </p:nvSpPr>
        <p:spPr/>
        <p:txBody>
          <a:bodyPr/>
          <a:lstStyle/>
          <a:p>
            <a:fld id="{526029D5-72E6-204B-95C8-168152D4D850}" type="slidenum">
              <a:rPr lang="en-US" smtClean="0"/>
              <a:t>76</a:t>
            </a:fld>
            <a:endParaRPr lang="en-US"/>
          </a:p>
        </p:txBody>
      </p:sp>
    </p:spTree>
    <p:extLst>
      <p:ext uri="{BB962C8B-B14F-4D97-AF65-F5344CB8AC3E}">
        <p14:creationId xmlns:p14="http://schemas.microsoft.com/office/powerpoint/2010/main" val="1623919745"/>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dirty="0"/>
              <a:t>Speaker notes:</a:t>
            </a:r>
          </a:p>
          <a:p>
            <a:r>
              <a:rPr lang="en-US" dirty="0"/>
              <a:t>Time for a summary! We covered in this part the shared values between effective leadership and open science (using the examples of integrity and co-development)</a:t>
            </a:r>
          </a:p>
          <a:p>
            <a:r>
              <a:rPr lang="en-US" dirty="0"/>
              <a:t>We looked at the 5 adopter types using the diffusion of innovation model. The innovators, early adopters, early majority, late majority and laggards</a:t>
            </a:r>
          </a:p>
          <a:p>
            <a:r>
              <a:rPr lang="en-US" dirty="0"/>
              <a:t>We covered how adoption of open science practices varies from career stage to disciplines </a:t>
            </a:r>
          </a:p>
          <a:p>
            <a:r>
              <a:rPr lang="en-US" dirty="0"/>
              <a:t>And lastly, we thought about how our social and cultural identities influence how we lead and engage with open science practices.</a:t>
            </a:r>
          </a:p>
        </p:txBody>
      </p:sp>
      <p:sp>
        <p:nvSpPr>
          <p:cNvPr id="4" name="Slide Number Placeholder 3"/>
          <p:cNvSpPr>
            <a:spLocks noGrp="1"/>
          </p:cNvSpPr>
          <p:nvPr>
            <p:ph type="sldNum" sz="quarter" idx="5"/>
          </p:nvPr>
        </p:nvSpPr>
        <p:spPr/>
        <p:txBody>
          <a:bodyPr/>
          <a:lstStyle/>
          <a:p>
            <a:fld id="{526029D5-72E6-204B-95C8-168152D4D850}" type="slidenum">
              <a:rPr lang="en-US" smtClean="0"/>
              <a:t>77</a:t>
            </a:fld>
            <a:endParaRPr lang="en-US"/>
          </a:p>
        </p:txBody>
      </p:sp>
    </p:spTree>
    <p:extLst>
      <p:ext uri="{BB962C8B-B14F-4D97-AF65-F5344CB8AC3E}">
        <p14:creationId xmlns:p14="http://schemas.microsoft.com/office/powerpoint/2010/main" val="49132936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0" dirty="0"/>
              <a:t>A perspective on leadership in open science by Dr Beth Montague-Hellen who is head of library and information services at the Frances Crick Institute </a:t>
            </a:r>
          </a:p>
          <a:p>
            <a:endParaRPr lang="en-US" b="0" dirty="0"/>
          </a:p>
          <a:p>
            <a:r>
              <a:rPr lang="en-GB" sz="1200" b="0" i="0" kern="1200" dirty="0">
                <a:solidFill>
                  <a:schemeClr val="tx1"/>
                </a:solidFill>
                <a:effectLst/>
                <a:latin typeface="+mn-lt"/>
                <a:ea typeface="+mn-ea"/>
                <a:cs typeface="+mn-cs"/>
              </a:rPr>
              <a:t>“Leadership involves knowing </a:t>
            </a:r>
            <a:r>
              <a:rPr lang="en-GB" sz="1200" b="1" i="0" kern="1200" dirty="0">
                <a:solidFill>
                  <a:schemeClr val="tx1"/>
                </a:solidFill>
                <a:effectLst/>
                <a:latin typeface="+mn-lt"/>
                <a:ea typeface="+mn-ea"/>
                <a:cs typeface="+mn-cs"/>
              </a:rPr>
              <a:t>where you're going</a:t>
            </a:r>
            <a:r>
              <a:rPr lang="en-GB" sz="1200" b="0" i="0" kern="1200" dirty="0">
                <a:solidFill>
                  <a:schemeClr val="tx1"/>
                </a:solidFill>
                <a:effectLst/>
                <a:latin typeface="+mn-lt"/>
                <a:ea typeface="+mn-ea"/>
                <a:cs typeface="+mn-cs"/>
              </a:rPr>
              <a:t>. There's no point in rigidly adhering to open research practices if you don't know </a:t>
            </a:r>
            <a:endParaRPr lang="en-GB" sz="1200" kern="1200" dirty="0">
              <a:solidFill>
                <a:schemeClr val="tx1"/>
              </a:solidFill>
              <a:effectLst/>
              <a:latin typeface="+mn-lt"/>
              <a:ea typeface="+mn-ea"/>
              <a:cs typeface="+mn-cs"/>
            </a:endParaRPr>
          </a:p>
          <a:p>
            <a:r>
              <a:rPr lang="en-GB" sz="1200" b="1" i="0" kern="1200" dirty="0">
                <a:solidFill>
                  <a:schemeClr val="tx1"/>
                </a:solidFill>
                <a:effectLst/>
                <a:latin typeface="+mn-lt"/>
                <a:ea typeface="+mn-ea"/>
                <a:cs typeface="+mn-cs"/>
              </a:rPr>
              <a:t>why</a:t>
            </a:r>
            <a:r>
              <a:rPr lang="en-GB" sz="1200" b="0" i="0" kern="1200" dirty="0">
                <a:solidFill>
                  <a:schemeClr val="tx1"/>
                </a:solidFill>
                <a:effectLst/>
                <a:latin typeface="+mn-lt"/>
                <a:ea typeface="+mn-ea"/>
                <a:cs typeface="+mn-cs"/>
              </a:rPr>
              <a:t> you're doing them. We need to be open to trying new things and dropping practices that no longer work for us to help get to the goal of an </a:t>
            </a:r>
            <a:r>
              <a:rPr lang="en-GB" sz="1200" b="1" i="0" kern="1200" dirty="0">
                <a:solidFill>
                  <a:schemeClr val="tx1"/>
                </a:solidFill>
                <a:effectLst/>
                <a:latin typeface="+mn-lt"/>
                <a:ea typeface="+mn-ea"/>
                <a:cs typeface="+mn-cs"/>
              </a:rPr>
              <a:t>accessible</a:t>
            </a:r>
            <a:r>
              <a:rPr lang="en-GB" sz="1200" b="0" i="0" kern="1200" dirty="0">
                <a:solidFill>
                  <a:schemeClr val="tx1"/>
                </a:solidFill>
                <a:effectLst/>
                <a:latin typeface="+mn-lt"/>
                <a:ea typeface="+mn-ea"/>
                <a:cs typeface="+mn-cs"/>
              </a:rPr>
              <a:t> and </a:t>
            </a:r>
            <a:r>
              <a:rPr lang="en-GB" sz="1200" b="1" i="0" kern="1200" dirty="0">
                <a:solidFill>
                  <a:schemeClr val="tx1"/>
                </a:solidFill>
                <a:effectLst/>
                <a:latin typeface="+mn-lt"/>
                <a:ea typeface="+mn-ea"/>
                <a:cs typeface="+mn-cs"/>
              </a:rPr>
              <a:t>reproducible future</a:t>
            </a:r>
            <a:r>
              <a:rPr lang="en-GB" sz="1200" b="0" i="0" kern="1200" dirty="0">
                <a:solidFill>
                  <a:schemeClr val="tx1"/>
                </a:solidFill>
                <a:effectLst/>
                <a:latin typeface="+mn-lt"/>
                <a:ea typeface="+mn-ea"/>
                <a:cs typeface="+mn-cs"/>
              </a:rPr>
              <a:t> for research”</a:t>
            </a:r>
            <a:endParaRPr lang="en-GB" sz="1200" kern="1200" dirty="0">
              <a:solidFill>
                <a:schemeClr val="tx1"/>
              </a:solidFill>
              <a:effectLst/>
              <a:latin typeface="+mn-lt"/>
              <a:ea typeface="+mn-ea"/>
              <a:cs typeface="+mn-cs"/>
            </a:endParaRPr>
          </a:p>
          <a:p>
            <a:endParaRPr lang="en-US" b="0" dirty="0"/>
          </a:p>
        </p:txBody>
      </p:sp>
      <p:sp>
        <p:nvSpPr>
          <p:cNvPr id="4" name="Slide Number Placeholder 3"/>
          <p:cNvSpPr>
            <a:spLocks noGrp="1"/>
          </p:cNvSpPr>
          <p:nvPr>
            <p:ph type="sldNum" sz="quarter" idx="5"/>
          </p:nvPr>
        </p:nvSpPr>
        <p:spPr/>
        <p:txBody>
          <a:bodyPr/>
          <a:lstStyle/>
          <a:p>
            <a:fld id="{526029D5-72E6-204B-95C8-168152D4D850}" type="slidenum">
              <a:rPr lang="en-US" smtClean="0"/>
              <a:t>78</a:t>
            </a:fld>
            <a:endParaRPr lang="en-US"/>
          </a:p>
        </p:txBody>
      </p:sp>
    </p:spTree>
    <p:extLst>
      <p:ext uri="{BB962C8B-B14F-4D97-AF65-F5344CB8AC3E}">
        <p14:creationId xmlns:p14="http://schemas.microsoft.com/office/powerpoint/2010/main" val="386004190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dirty="0"/>
              <a:t>Putting together all the things we’ve discussed in this session into a real-world example of leadership in open science in action with Flavio Azevedo who is going to discuss more his perspectives and highlight the work at FORRT.</a:t>
            </a:r>
          </a:p>
          <a:p>
            <a:endParaRPr lang="en-US" dirty="0"/>
          </a:p>
          <a:p>
            <a:r>
              <a:rPr lang="en-US" b="1" dirty="0"/>
              <a:t>Instructor notes:</a:t>
            </a:r>
          </a:p>
          <a:p>
            <a:r>
              <a:rPr lang="en-US" b="0" dirty="0"/>
              <a:t>This FORRT case study can be explored as an asynchronous activity/resource after the session if time is short.</a:t>
            </a:r>
          </a:p>
        </p:txBody>
      </p:sp>
      <p:sp>
        <p:nvSpPr>
          <p:cNvPr id="4" name="Slide Number Placeholder 3"/>
          <p:cNvSpPr>
            <a:spLocks noGrp="1"/>
          </p:cNvSpPr>
          <p:nvPr>
            <p:ph type="sldNum" sz="quarter" idx="5"/>
          </p:nvPr>
        </p:nvSpPr>
        <p:spPr/>
        <p:txBody>
          <a:bodyPr/>
          <a:lstStyle/>
          <a:p>
            <a:fld id="{526029D5-72E6-204B-95C8-168152D4D850}" type="slidenum">
              <a:rPr lang="en-US" smtClean="0"/>
              <a:t>79</a:t>
            </a:fld>
            <a:endParaRPr lang="en-US"/>
          </a:p>
        </p:txBody>
      </p:sp>
    </p:spTree>
    <p:extLst>
      <p:ext uri="{BB962C8B-B14F-4D97-AF65-F5344CB8AC3E}">
        <p14:creationId xmlns:p14="http://schemas.microsoft.com/office/powerpoint/2010/main" val="384777404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Before we move onto the final summary, this perspective from Flavio encapsulates well the themes we discussed in this session.</a:t>
            </a:r>
          </a:p>
          <a:p>
            <a:endParaRPr lang="en-US" dirty="0"/>
          </a:p>
          <a:p>
            <a:r>
              <a:rPr lang="en-GB" b="0" i="0" dirty="0">
                <a:effectLst/>
              </a:rPr>
              <a:t>“Leadership in Open Science means </a:t>
            </a:r>
            <a:r>
              <a:rPr lang="en-GB" b="1" i="0" dirty="0">
                <a:effectLst/>
              </a:rPr>
              <a:t>building the conditions</a:t>
            </a:r>
            <a:r>
              <a:rPr lang="en-GB" b="0" i="0" dirty="0">
                <a:effectLst/>
              </a:rPr>
              <a:t> for others to participate, contribute, and lead. </a:t>
            </a:r>
            <a:r>
              <a:rPr lang="en-GB" sz="1200" b="0" i="0" kern="1200" dirty="0">
                <a:solidFill>
                  <a:schemeClr val="tx1"/>
                </a:solidFill>
                <a:effectLst/>
                <a:latin typeface="+mn-lt"/>
                <a:ea typeface="+mn-ea"/>
                <a:cs typeface="+mn-cs"/>
              </a:rPr>
              <a:t>It is not only about making research more transparent, but also about </a:t>
            </a:r>
            <a:r>
              <a:rPr lang="en-GB" sz="1200" b="1" i="0" kern="1200" dirty="0">
                <a:solidFill>
                  <a:schemeClr val="tx1"/>
                </a:solidFill>
                <a:effectLst/>
                <a:latin typeface="+mn-lt"/>
                <a:ea typeface="+mn-ea"/>
                <a:cs typeface="+mn-cs"/>
              </a:rPr>
              <a:t>transforming the structures</a:t>
            </a:r>
            <a:r>
              <a:rPr lang="en-GB" sz="1200" b="0" i="0" kern="1200" dirty="0">
                <a:solidFill>
                  <a:schemeClr val="tx1"/>
                </a:solidFill>
                <a:effectLst/>
                <a:latin typeface="+mn-lt"/>
                <a:ea typeface="+mn-ea"/>
                <a:cs typeface="+mn-cs"/>
              </a:rPr>
              <a:t> that determine whose knowledge is valued, </a:t>
            </a:r>
            <a:endParaRPr lang="en-GB" sz="1200" kern="1200" dirty="0">
              <a:solidFill>
                <a:schemeClr val="tx1"/>
              </a:solidFill>
              <a:effectLst/>
              <a:latin typeface="+mn-lt"/>
              <a:ea typeface="+mn-ea"/>
              <a:cs typeface="+mn-cs"/>
            </a:endParaRPr>
          </a:p>
          <a:p>
            <a:r>
              <a:rPr lang="en-GB" sz="1200" b="0" i="0" kern="1200" dirty="0">
                <a:solidFill>
                  <a:schemeClr val="tx1"/>
                </a:solidFill>
                <a:effectLst/>
                <a:latin typeface="+mn-lt"/>
                <a:ea typeface="+mn-ea"/>
                <a:cs typeface="+mn-cs"/>
              </a:rPr>
              <a:t>whose </a:t>
            </a:r>
            <a:r>
              <a:rPr lang="en-GB" sz="1200" b="0" i="0" kern="1200" dirty="0" err="1">
                <a:solidFill>
                  <a:schemeClr val="tx1"/>
                </a:solidFill>
                <a:effectLst/>
                <a:latin typeface="+mn-lt"/>
                <a:ea typeface="+mn-ea"/>
                <a:cs typeface="+mn-cs"/>
              </a:rPr>
              <a:t>labor</a:t>
            </a:r>
            <a:r>
              <a:rPr lang="en-GB" sz="1200" b="0" i="0" kern="1200" dirty="0">
                <a:solidFill>
                  <a:schemeClr val="tx1"/>
                </a:solidFill>
                <a:effectLst/>
                <a:latin typeface="+mn-lt"/>
                <a:ea typeface="+mn-ea"/>
                <a:cs typeface="+mn-cs"/>
              </a:rPr>
              <a:t> is recognized, and who has the resources to shape scientific practice. </a:t>
            </a:r>
            <a:r>
              <a:rPr lang="en-GB" b="0" i="0" dirty="0">
                <a:effectLst/>
              </a:rPr>
              <a:t>Leadership, to me, is </a:t>
            </a:r>
            <a:r>
              <a:rPr lang="en-GB" b="1" i="0" dirty="0">
                <a:effectLst/>
              </a:rPr>
              <a:t>collective, reflexive, </a:t>
            </a:r>
            <a:r>
              <a:rPr lang="en-GB" b="0" i="0" dirty="0">
                <a:effectLst/>
              </a:rPr>
              <a:t>and</a:t>
            </a:r>
            <a:r>
              <a:rPr lang="en-GB" b="1" i="0" dirty="0">
                <a:effectLst/>
              </a:rPr>
              <a:t> accountable</a:t>
            </a:r>
            <a:r>
              <a:rPr lang="en-GB" b="0" i="0" dirty="0">
                <a:effectLst/>
              </a:rPr>
              <a:t>: it is about creating infrastructures and communities that make a more open, equitable, and just science possible.”</a:t>
            </a:r>
            <a:endParaRPr lang="en-GB"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5"/>
          </p:nvPr>
        </p:nvSpPr>
        <p:spPr/>
        <p:txBody>
          <a:bodyPr/>
          <a:lstStyle/>
          <a:p>
            <a:fld id="{526029D5-72E6-204B-95C8-168152D4D850}" type="slidenum">
              <a:rPr lang="en-US" smtClean="0"/>
              <a:t>80</a:t>
            </a:fld>
            <a:endParaRPr lang="en-US"/>
          </a:p>
        </p:txBody>
      </p:sp>
    </p:spTree>
    <p:extLst>
      <p:ext uri="{BB962C8B-B14F-4D97-AF65-F5344CB8AC3E}">
        <p14:creationId xmlns:p14="http://schemas.microsoft.com/office/powerpoint/2010/main" val="423639887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dirty="0"/>
              <a:t>To tie it all together and summarize:</a:t>
            </a:r>
          </a:p>
          <a:p>
            <a:pPr marL="171450" indent="-171450">
              <a:buFont typeface="Arial" panose="020B0604020202020204" pitchFamily="34" charset="0"/>
              <a:buChar char="•"/>
            </a:pPr>
            <a:r>
              <a:rPr lang="en-US" dirty="0"/>
              <a:t>Leadership is about people! Self leadership is very important and a critical step towards leading others</a:t>
            </a:r>
          </a:p>
          <a:p>
            <a:pPr marL="171450" indent="-171450">
              <a:buFont typeface="Arial" panose="020B0604020202020204" pitchFamily="34" charset="0"/>
              <a:buChar char="•"/>
            </a:pPr>
            <a:r>
              <a:rPr lang="en-US" dirty="0"/>
              <a:t>Values shape our actions via our goals and the culture we cultivate</a:t>
            </a:r>
          </a:p>
          <a:p>
            <a:pPr marL="171450" indent="-171450">
              <a:buFont typeface="Arial" panose="020B0604020202020204" pitchFamily="34" charset="0"/>
              <a:buChar char="•"/>
            </a:pPr>
            <a:r>
              <a:rPr lang="en-US" dirty="0"/>
              <a:t>There is overlap in the values between effective leadership and open science such as transparency, integrity, co-development </a:t>
            </a:r>
          </a:p>
          <a:p>
            <a:pPr marL="171450" indent="-171450">
              <a:buFont typeface="Arial" panose="020B0604020202020204" pitchFamily="34" charset="0"/>
              <a:buChar char="•"/>
            </a:pPr>
            <a:r>
              <a:rPr lang="en-US" dirty="0"/>
              <a:t>Out social location influences how we work and lead and adopt open science practices</a:t>
            </a:r>
          </a:p>
          <a:p>
            <a:pPr marL="171450" indent="-171450">
              <a:buFont typeface="Arial" panose="020B0604020202020204" pitchFamily="34" charset="0"/>
              <a:buChar char="•"/>
            </a:pPr>
            <a:r>
              <a:rPr lang="en-US" dirty="0"/>
              <a:t>The culture curve can be helpful to identify adopter types</a:t>
            </a:r>
          </a:p>
          <a:p>
            <a:pPr marL="171450" indent="-171450">
              <a:buFont typeface="Arial" panose="020B0604020202020204" pitchFamily="34" charset="0"/>
              <a:buChar char="•"/>
            </a:pPr>
            <a:r>
              <a:rPr lang="en-US" dirty="0"/>
              <a:t>Awareness of open science practices varies </a:t>
            </a:r>
          </a:p>
        </p:txBody>
      </p:sp>
      <p:sp>
        <p:nvSpPr>
          <p:cNvPr id="4" name="Slide Number Placeholder 3"/>
          <p:cNvSpPr>
            <a:spLocks noGrp="1"/>
          </p:cNvSpPr>
          <p:nvPr>
            <p:ph type="sldNum" sz="quarter" idx="5"/>
          </p:nvPr>
        </p:nvSpPr>
        <p:spPr/>
        <p:txBody>
          <a:bodyPr/>
          <a:lstStyle/>
          <a:p>
            <a:fld id="{526029D5-72E6-204B-95C8-168152D4D850}" type="slidenum">
              <a:rPr lang="en-US" smtClean="0"/>
              <a:t>81</a:t>
            </a:fld>
            <a:endParaRPr lang="en-US"/>
          </a:p>
        </p:txBody>
      </p:sp>
    </p:spTree>
    <p:extLst>
      <p:ext uri="{BB962C8B-B14F-4D97-AF65-F5344CB8AC3E}">
        <p14:creationId xmlns:p14="http://schemas.microsoft.com/office/powerpoint/2010/main" val="299370083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Speaker notes:</a:t>
            </a:r>
          </a:p>
          <a:p>
            <a:r>
              <a:rPr lang="en-US" b="0" dirty="0"/>
              <a:t>In this session we practiced empathy and self-awareness in the values exercise</a:t>
            </a:r>
          </a:p>
        </p:txBody>
      </p:sp>
      <p:sp>
        <p:nvSpPr>
          <p:cNvPr id="4" name="Slide Number Placeholder 3"/>
          <p:cNvSpPr>
            <a:spLocks noGrp="1"/>
          </p:cNvSpPr>
          <p:nvPr>
            <p:ph type="sldNum" sz="quarter" idx="5"/>
          </p:nvPr>
        </p:nvSpPr>
        <p:spPr/>
        <p:txBody>
          <a:bodyPr/>
          <a:lstStyle/>
          <a:p>
            <a:fld id="{526029D5-72E6-204B-95C8-168152D4D850}" type="slidenum">
              <a:rPr lang="en-US" smtClean="0"/>
              <a:t>82</a:t>
            </a:fld>
            <a:endParaRPr lang="en-US"/>
          </a:p>
        </p:txBody>
      </p:sp>
    </p:spTree>
    <p:extLst>
      <p:ext uri="{BB962C8B-B14F-4D97-AF65-F5344CB8AC3E}">
        <p14:creationId xmlns:p14="http://schemas.microsoft.com/office/powerpoint/2010/main" val="352360237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p>
          <a:p>
            <a:r>
              <a:rPr lang="en-US" dirty="0"/>
              <a:t>Next we are going to work on increasing knowledge, problem solving and collaboration </a:t>
            </a:r>
          </a:p>
        </p:txBody>
      </p:sp>
      <p:sp>
        <p:nvSpPr>
          <p:cNvPr id="4" name="Slide Number Placeholder 3"/>
          <p:cNvSpPr>
            <a:spLocks noGrp="1"/>
          </p:cNvSpPr>
          <p:nvPr>
            <p:ph type="sldNum" sz="quarter" idx="5"/>
          </p:nvPr>
        </p:nvSpPr>
        <p:spPr/>
        <p:txBody>
          <a:bodyPr/>
          <a:lstStyle/>
          <a:p>
            <a:fld id="{526029D5-72E6-204B-95C8-168152D4D850}" type="slidenum">
              <a:rPr lang="en-US" smtClean="0"/>
              <a:t>83</a:t>
            </a:fld>
            <a:endParaRPr lang="en-US"/>
          </a:p>
        </p:txBody>
      </p:sp>
    </p:spTree>
    <p:extLst>
      <p:ext uri="{BB962C8B-B14F-4D97-AF65-F5344CB8AC3E}">
        <p14:creationId xmlns:p14="http://schemas.microsoft.com/office/powerpoint/2010/main" val="2642501948"/>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3F84E-F881-A4E2-2E3C-C291A8DD11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992D204-DF42-3A7C-6631-D026C2DB5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A1F6EC-307D-A908-A907-6C2AAC981CB4}"/>
              </a:ext>
            </a:extLst>
          </p:cNvPr>
          <p:cNvSpPr>
            <a:spLocks noGrp="1"/>
          </p:cNvSpPr>
          <p:nvPr>
            <p:ph type="body" idx="1"/>
          </p:nvPr>
        </p:nvSpPr>
        <p:spPr/>
        <p:txBody>
          <a:bodyPr/>
          <a:lstStyle/>
          <a:p>
            <a:r>
              <a:rPr lang="en-US" b="1" dirty="0"/>
              <a:t>Speaker notes:</a:t>
            </a:r>
            <a:endParaRPr lang="en-US" sz="1200" b="1" dirty="0"/>
          </a:p>
          <a:p>
            <a:r>
              <a:rPr lang="en-US" sz="1200" b="0" dirty="0"/>
              <a:t>Now to revisit the survey we began with</a:t>
            </a:r>
          </a:p>
          <a:p>
            <a:pPr marL="171450" marR="0" lvl="0" indent="-171450" algn="l" defTabSz="914400" rtl="0" eaLnBrk="1" fontAlgn="auto" latinLnBrk="0" hangingPunct="1">
              <a:lnSpc>
                <a:spcPct val="100000"/>
              </a:lnSpc>
              <a:spcBef>
                <a:spcPts val="0"/>
              </a:spcBef>
              <a:spcAft>
                <a:spcPts val="0"/>
              </a:spcAft>
              <a:buClrTx/>
              <a:buSzTx/>
              <a:buFont typeface="Wingdings" pitchFamily="2" charset="2"/>
              <a:buChar char="Ø"/>
              <a:tabLst/>
              <a:defRPr/>
            </a:pPr>
            <a:endParaRPr lang="en-US" sz="1200" dirty="0"/>
          </a:p>
          <a:p>
            <a:endParaRPr lang="en-US" b="0" dirty="0"/>
          </a:p>
        </p:txBody>
      </p:sp>
      <p:sp>
        <p:nvSpPr>
          <p:cNvPr id="4" name="Slide Number Placeholder 3">
            <a:extLst>
              <a:ext uri="{FF2B5EF4-FFF2-40B4-BE49-F238E27FC236}">
                <a16:creationId xmlns:a16="http://schemas.microsoft.com/office/drawing/2014/main" id="{52EAB836-C7DC-FB1D-8993-0F801441DF9C}"/>
              </a:ext>
            </a:extLst>
          </p:cNvPr>
          <p:cNvSpPr>
            <a:spLocks noGrp="1"/>
          </p:cNvSpPr>
          <p:nvPr>
            <p:ph type="sldNum" sz="quarter" idx="5"/>
          </p:nvPr>
        </p:nvSpPr>
        <p:spPr/>
        <p:txBody>
          <a:bodyPr/>
          <a:lstStyle/>
          <a:p>
            <a:fld id="{526029D5-72E6-204B-95C8-168152D4D850}" type="slidenum">
              <a:rPr lang="en-US" smtClean="0"/>
              <a:t>84</a:t>
            </a:fld>
            <a:endParaRPr lang="en-US"/>
          </a:p>
        </p:txBody>
      </p:sp>
    </p:spTree>
    <p:extLst>
      <p:ext uri="{BB962C8B-B14F-4D97-AF65-F5344CB8AC3E}">
        <p14:creationId xmlns:p14="http://schemas.microsoft.com/office/powerpoint/2010/main" val="545402012"/>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Speaker notes:</a:t>
            </a:r>
            <a:endParaRPr lang="en-US" sz="1200" b="1" dirty="0"/>
          </a:p>
          <a:p>
            <a:r>
              <a:rPr lang="en-US" dirty="0"/>
              <a:t>We now have time for questions, thoughts and comments from the session.</a:t>
            </a:r>
          </a:p>
        </p:txBody>
      </p:sp>
      <p:sp>
        <p:nvSpPr>
          <p:cNvPr id="4" name="Slide Number Placeholder 3"/>
          <p:cNvSpPr>
            <a:spLocks noGrp="1"/>
          </p:cNvSpPr>
          <p:nvPr>
            <p:ph type="sldNum" sz="quarter" idx="5"/>
          </p:nvPr>
        </p:nvSpPr>
        <p:spPr/>
        <p:txBody>
          <a:bodyPr/>
          <a:lstStyle/>
          <a:p>
            <a:fld id="{7EFB628C-D647-2549-B386-268167ED3D87}" type="slidenum">
              <a:rPr lang="en-US" smtClean="0"/>
              <a:t>85</a:t>
            </a:fld>
            <a:endParaRPr lang="en-US"/>
          </a:p>
        </p:txBody>
      </p:sp>
    </p:spTree>
    <p:extLst>
      <p:ext uri="{BB962C8B-B14F-4D97-AF65-F5344CB8AC3E}">
        <p14:creationId xmlns:p14="http://schemas.microsoft.com/office/powerpoint/2010/main" val="302189722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2EA2C-B376-3ABF-0028-6ECF811507A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20F431-FC32-382E-16C3-5FFF2030F1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418FEE-750E-1AEC-8B65-3A1019F2FF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C0FB72-CDEA-024F-9965-0CC984231C7C}"/>
              </a:ext>
            </a:extLst>
          </p:cNvPr>
          <p:cNvSpPr>
            <a:spLocks noGrp="1"/>
          </p:cNvSpPr>
          <p:nvPr>
            <p:ph type="sldNum" sz="quarter" idx="5"/>
          </p:nvPr>
        </p:nvSpPr>
        <p:spPr/>
        <p:txBody>
          <a:bodyPr/>
          <a:lstStyle/>
          <a:p>
            <a:fld id="{526029D5-72E6-204B-95C8-168152D4D850}" type="slidenum">
              <a:rPr lang="en-US" smtClean="0"/>
              <a:t>86</a:t>
            </a:fld>
            <a:endParaRPr lang="en-US"/>
          </a:p>
        </p:txBody>
      </p:sp>
    </p:spTree>
    <p:extLst>
      <p:ext uri="{BB962C8B-B14F-4D97-AF65-F5344CB8AC3E}">
        <p14:creationId xmlns:p14="http://schemas.microsoft.com/office/powerpoint/2010/main" val="323753703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79E302-57D2-70C3-0895-C4E8710937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32F694-B7F7-CC5E-8582-222C913EAA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E8912-CECE-1ECF-6CB5-0943EC0936C5}"/>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E39B0B58-97CA-FCE5-23DA-F403257012B9}"/>
              </a:ext>
            </a:extLst>
          </p:cNvPr>
          <p:cNvSpPr>
            <a:spLocks noGrp="1"/>
          </p:cNvSpPr>
          <p:nvPr>
            <p:ph type="sldNum" sz="quarter" idx="5"/>
          </p:nvPr>
        </p:nvSpPr>
        <p:spPr/>
        <p:txBody>
          <a:bodyPr/>
          <a:lstStyle/>
          <a:p>
            <a:fld id="{46F3A5F6-A6BC-E543-9B7F-4BD33E1BAA03}" type="slidenum">
              <a:rPr lang="en-US" smtClean="0"/>
              <a:t>87</a:t>
            </a:fld>
            <a:endParaRPr lang="en-US"/>
          </a:p>
        </p:txBody>
      </p:sp>
    </p:spTree>
    <p:extLst>
      <p:ext uri="{BB962C8B-B14F-4D97-AF65-F5344CB8AC3E}">
        <p14:creationId xmlns:p14="http://schemas.microsoft.com/office/powerpoint/2010/main" val="2007327285"/>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E0204-B622-42C0-1DDB-BC6454046C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9FE86-AB4B-C964-CBAD-910C670FA5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F1050E-B794-BE4A-B8A4-8DF566764C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4CD9537-7889-3DD2-A270-D691BF1216EC}"/>
              </a:ext>
            </a:extLst>
          </p:cNvPr>
          <p:cNvSpPr>
            <a:spLocks noGrp="1"/>
          </p:cNvSpPr>
          <p:nvPr>
            <p:ph type="sldNum" sz="quarter" idx="5"/>
          </p:nvPr>
        </p:nvSpPr>
        <p:spPr/>
        <p:txBody>
          <a:bodyPr/>
          <a:lstStyle/>
          <a:p>
            <a:fld id="{46F3A5F6-A6BC-E543-9B7F-4BD33E1BAA03}" type="slidenum">
              <a:rPr lang="en-US" smtClean="0"/>
              <a:t>88</a:t>
            </a:fld>
            <a:endParaRPr lang="en-US"/>
          </a:p>
        </p:txBody>
      </p:sp>
    </p:spTree>
    <p:extLst>
      <p:ext uri="{BB962C8B-B14F-4D97-AF65-F5344CB8AC3E}">
        <p14:creationId xmlns:p14="http://schemas.microsoft.com/office/powerpoint/2010/main" val="42033913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0803AD-3C89-701F-DDE1-0F3E7918D796}"/>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CD81D1F-28C3-0D02-FDFA-F2D16834EB5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514C8B3B-1ACD-887D-26A6-3AD3F7A6FBE2}"/>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5" name="Footer Placeholder 4">
            <a:extLst>
              <a:ext uri="{FF2B5EF4-FFF2-40B4-BE49-F238E27FC236}">
                <a16:creationId xmlns:a16="http://schemas.microsoft.com/office/drawing/2014/main" id="{0EC4BE35-4094-79FC-36AA-A2B9EAAB6F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47F0FD-C2C8-DD1B-C488-2E36177C2816}"/>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151711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2285C-12EA-E2DA-B559-AF7EE0A5A9D5}"/>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5D94F156-7C5E-DF84-3F3A-B5782C6B0210}"/>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FF467B6-12DD-3123-C1BF-279912B335AB}"/>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5" name="Footer Placeholder 4">
            <a:extLst>
              <a:ext uri="{FF2B5EF4-FFF2-40B4-BE49-F238E27FC236}">
                <a16:creationId xmlns:a16="http://schemas.microsoft.com/office/drawing/2014/main" id="{ED6163C6-6086-BCFA-E855-50DAE2EA419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9D9F82-BB88-4DEB-B53E-B91399515756}"/>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1178455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5F7A3-ED63-E5FC-74F5-B73F59AE56D6}"/>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7E89731-A87A-11CD-BF1B-ED36D27396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F40C61C-BDA8-06DC-9503-61AB6B385EDB}"/>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5" name="Footer Placeholder 4">
            <a:extLst>
              <a:ext uri="{FF2B5EF4-FFF2-40B4-BE49-F238E27FC236}">
                <a16:creationId xmlns:a16="http://schemas.microsoft.com/office/drawing/2014/main" id="{57383E9A-1EBF-1689-F6C3-35BF73EF259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A6EA64A-D03F-7E2E-CE0D-4AD57F90A035}"/>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31827538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013B6B-62D4-122D-FC73-52A49DE45D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ECC0B8C2-BA73-A66B-1614-2E6BB1CE05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036ED3B5-8686-AF0F-A2F4-3CF0CAB85870}"/>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5DA6A738-3F50-6BEE-B145-CCE2936C5812}"/>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6" name="Footer Placeholder 5">
            <a:extLst>
              <a:ext uri="{FF2B5EF4-FFF2-40B4-BE49-F238E27FC236}">
                <a16:creationId xmlns:a16="http://schemas.microsoft.com/office/drawing/2014/main" id="{705EEF7A-4FAA-47D4-8019-F57F05389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BBB7FA1-45B7-9749-0226-88D6D3431FB7}"/>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7086516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DA1576-5B03-245A-CD3C-FAA3DB48E8E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DB5A4674-C400-AD72-8C12-DCB34B09B4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FB6A33E-EF39-719A-A6A6-A3F4D8A1BD3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31D63BD8-1B13-9560-3173-0D900C91448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1FF32848-3522-5806-894E-DAAB77557AD3}"/>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451BDB1-BA5E-2CD2-625C-8EE8B29B1795}"/>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8" name="Footer Placeholder 7">
            <a:extLst>
              <a:ext uri="{FF2B5EF4-FFF2-40B4-BE49-F238E27FC236}">
                <a16:creationId xmlns:a16="http://schemas.microsoft.com/office/drawing/2014/main" id="{18C4C4F0-22A4-14A3-B89C-2057AEE859A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0EBB267-CEF3-EEB1-EA8C-B4B6C847A626}"/>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20304716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ABD01-6247-0FB7-E2B5-CD3786B70D2B}"/>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351790F-6021-DA3F-0761-858D3A0E4E66}"/>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4" name="Footer Placeholder 3">
            <a:extLst>
              <a:ext uri="{FF2B5EF4-FFF2-40B4-BE49-F238E27FC236}">
                <a16:creationId xmlns:a16="http://schemas.microsoft.com/office/drawing/2014/main" id="{FBCB1EC9-C0AD-21DB-C3ED-61B2D08E4CA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31438C7-8806-AF04-9C77-A96F8665133B}"/>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17363964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48D0D0-01E6-9809-0377-D2295A1C2D18}"/>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3" name="Footer Placeholder 2">
            <a:extLst>
              <a:ext uri="{FF2B5EF4-FFF2-40B4-BE49-F238E27FC236}">
                <a16:creationId xmlns:a16="http://schemas.microsoft.com/office/drawing/2014/main" id="{58300999-09D4-7135-9155-37F1EED12A9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9DD4B7-244E-F0D4-2E74-60532D2424FE}"/>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303038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82A054-DE40-726C-94A1-901F969C6DC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BF4BEE7-9873-79F5-EF0E-91374F8DB8A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FCFFEA78-FD7A-1C6C-0C6F-C4F1D4B779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692414E-202D-38F5-2474-CC205A27F23E}"/>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6" name="Footer Placeholder 5">
            <a:extLst>
              <a:ext uri="{FF2B5EF4-FFF2-40B4-BE49-F238E27FC236}">
                <a16:creationId xmlns:a16="http://schemas.microsoft.com/office/drawing/2014/main" id="{886E16F2-A575-D6E8-E080-22D12C730F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4CE1B6-6E38-24AC-4FF4-83E57827E9A0}"/>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29826909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CE7FB-23CF-6A0B-AB22-B1AE37D86BC8}"/>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8CE83AB0-371B-BA21-6508-8FE38782586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5FA6FCA-564E-CF8E-1ED1-9EF356F2221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7243275-47EF-5471-64BA-FBD7DF4A37BC}"/>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6" name="Footer Placeholder 5">
            <a:extLst>
              <a:ext uri="{FF2B5EF4-FFF2-40B4-BE49-F238E27FC236}">
                <a16:creationId xmlns:a16="http://schemas.microsoft.com/office/drawing/2014/main" id="{4953DED8-5283-5A2D-2EF5-1F406A71C5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B6C0019-731E-12E9-17EC-305B77C1AC2E}"/>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2074433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F4C96-2CC1-2AC2-90E4-76BB247FD642}"/>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779402F-1144-C1E9-CBEE-4E5656FC23B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6D9CC8D-13AA-0F22-B4BE-32AD7275D7B5}"/>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5" name="Footer Placeholder 4">
            <a:extLst>
              <a:ext uri="{FF2B5EF4-FFF2-40B4-BE49-F238E27FC236}">
                <a16:creationId xmlns:a16="http://schemas.microsoft.com/office/drawing/2014/main" id="{1C0C3C2F-9965-87D1-A526-7D9C28694FE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F36DBE8-BDD0-1008-86A3-3DCDE3E19691}"/>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356479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EFCE63C-800C-698E-AA28-B6AA06EBC718}"/>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7849AE3E-BF86-AC1A-5F6E-218BBA847500}"/>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C6A062F-5DA2-C0F1-3BA0-78020E7470CC}"/>
              </a:ext>
            </a:extLst>
          </p:cNvPr>
          <p:cNvSpPr>
            <a:spLocks noGrp="1"/>
          </p:cNvSpPr>
          <p:nvPr>
            <p:ph type="dt" sz="half" idx="10"/>
          </p:nvPr>
        </p:nvSpPr>
        <p:spPr/>
        <p:txBody>
          <a:bodyPr/>
          <a:lstStyle/>
          <a:p>
            <a:fld id="{D90DBFE1-D720-D04A-ACEE-DA5D93B5466A}" type="datetimeFigureOut">
              <a:rPr lang="en-US" smtClean="0"/>
              <a:t>9/16/26</a:t>
            </a:fld>
            <a:endParaRPr lang="en-US"/>
          </a:p>
        </p:txBody>
      </p:sp>
      <p:sp>
        <p:nvSpPr>
          <p:cNvPr id="5" name="Footer Placeholder 4">
            <a:extLst>
              <a:ext uri="{FF2B5EF4-FFF2-40B4-BE49-F238E27FC236}">
                <a16:creationId xmlns:a16="http://schemas.microsoft.com/office/drawing/2014/main" id="{B56FFD64-5829-5DFE-29EE-990904C26E3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7065846-4EE3-527A-A74B-DC8846D2B87B}"/>
              </a:ext>
            </a:extLst>
          </p:cNvPr>
          <p:cNvSpPr>
            <a:spLocks noGrp="1"/>
          </p:cNvSpPr>
          <p:nvPr>
            <p:ph type="sldNum" sz="quarter" idx="12"/>
          </p:nvPr>
        </p:nvSpPr>
        <p:spPr/>
        <p:txBody>
          <a:bodyPr/>
          <a:lstStyle/>
          <a:p>
            <a:fld id="{40F885F2-A774-DD48-82B6-44D0E0CEFD17}" type="slidenum">
              <a:rPr lang="en-US" smtClean="0"/>
              <a:t>‹#›</a:t>
            </a:fld>
            <a:endParaRPr lang="en-US"/>
          </a:p>
        </p:txBody>
      </p:sp>
    </p:spTree>
    <p:extLst>
      <p:ext uri="{BB962C8B-B14F-4D97-AF65-F5344CB8AC3E}">
        <p14:creationId xmlns:p14="http://schemas.microsoft.com/office/powerpoint/2010/main" val="3022257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16C0044-0773-344D-A230-F4A7EA9E26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381B2B9-589A-CE85-D0C5-02A397ED031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1E15592-2ACA-94D5-0ED0-AF8F7FFAA5B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90DBFE1-D720-D04A-ACEE-DA5D93B5466A}" type="datetimeFigureOut">
              <a:rPr lang="en-US" smtClean="0"/>
              <a:t>9/16/26</a:t>
            </a:fld>
            <a:endParaRPr lang="en-US"/>
          </a:p>
        </p:txBody>
      </p:sp>
      <p:sp>
        <p:nvSpPr>
          <p:cNvPr id="5" name="Footer Placeholder 4">
            <a:extLst>
              <a:ext uri="{FF2B5EF4-FFF2-40B4-BE49-F238E27FC236}">
                <a16:creationId xmlns:a16="http://schemas.microsoft.com/office/drawing/2014/main" id="{FC56CE01-CB50-62AF-C2F1-A17E5F5650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5360888-A8D2-F30C-809B-46CD73C71CD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0F885F2-A774-DD48-82B6-44D0E0CEFD17}" type="slidenum">
              <a:rPr lang="en-US" smtClean="0"/>
              <a:t>‹#›</a:t>
            </a:fld>
            <a:endParaRPr lang="en-US"/>
          </a:p>
        </p:txBody>
      </p:sp>
    </p:spTree>
    <p:extLst>
      <p:ext uri="{BB962C8B-B14F-4D97-AF65-F5344CB8AC3E}">
        <p14:creationId xmlns:p14="http://schemas.microsoft.com/office/powerpoint/2010/main" val="10271629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hyperlink" Target="https://lmu-osc.github.io/train-the-trainer-open-research/leadership-open-research/challenges-leadership/" TargetMode="External"/><Relationship Id="rId3" Type="http://schemas.openxmlformats.org/officeDocument/2006/relationships/hyperlink" Target="https://www.osc.lmu.de/training/" TargetMode="External"/><Relationship Id="rId7"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1.jpeg"/><Relationship Id="rId5" Type="http://schemas.openxmlformats.org/officeDocument/2006/relationships/hyperlink" Target="https://osf.io/ay8qk/files/cmeuy" TargetMode="External"/><Relationship Id="rId4" Type="http://schemas.openxmlformats.org/officeDocument/2006/relationships/hyperlink" Target="https://lmu-osc.github.io/train-the-trainer-open-research/workshop-design-workbook/" TargetMode="External"/><Relationship Id="rId9" Type="http://schemas.openxmlformats.org/officeDocument/2006/relationships/hyperlink" Target="https://lmu-osc.github.io/train-the-trainer-open-research/leadership-open-research/strategies-leadership/"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4.sv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5.sv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sv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hyperlink" Target="https://www.weforum.org/publications/the-future-of-jobs-report-2025/" TargetMode="External"/><Relationship Id="rId5" Type="http://schemas.openxmlformats.org/officeDocument/2006/relationships/image" Target="../media/image7.png"/><Relationship Id="rId4" Type="http://schemas.openxmlformats.org/officeDocument/2006/relationships/image" Target="../media/image1.jpe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www.weforum.org/publications/the-future-of-jobs-report-2025/" TargetMode="External"/><Relationship Id="rId5" Type="http://schemas.openxmlformats.org/officeDocument/2006/relationships/image" Target="../media/image7.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hyperlink" Target="https://www.eoscobservatory.eu/explore/open-science-by-area/training" TargetMode="External"/><Relationship Id="rId5" Type="http://schemas.openxmlformats.org/officeDocument/2006/relationships/image" Target="../media/image8.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hyperlink" Target="https://unesdoc.unesco.org/ark:/48223/pf0000387324" TargetMode="Externa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3.svg"/><Relationship Id="rId3" Type="http://schemas.openxmlformats.org/officeDocument/2006/relationships/image" Target="../media/image1.jpeg"/><Relationship Id="rId7" Type="http://schemas.openxmlformats.org/officeDocument/2006/relationships/image" Target="../media/image12.svg"/><Relationship Id="rId12" Type="http://schemas.openxmlformats.org/officeDocument/2006/relationships/image" Target="../media/image17.sv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2.png"/><Relationship Id="rId9" Type="http://schemas.openxmlformats.org/officeDocument/2006/relationships/image" Target="../media/image14.svg"/></Relationships>
</file>

<file path=ppt/slides/_rels/slide13.xml.rels><?xml version="1.0" encoding="UTF-8" standalone="yes"?>
<Relationships xmlns="http://schemas.openxmlformats.org/package/2006/relationships"><Relationship Id="rId8" Type="http://schemas.openxmlformats.org/officeDocument/2006/relationships/image" Target="../media/image13.svg"/><Relationship Id="rId13" Type="http://schemas.openxmlformats.org/officeDocument/2006/relationships/image" Target="../media/image3.svg"/><Relationship Id="rId3" Type="http://schemas.openxmlformats.org/officeDocument/2006/relationships/image" Target="../media/image1.jpeg"/><Relationship Id="rId7" Type="http://schemas.openxmlformats.org/officeDocument/2006/relationships/image" Target="../media/image12.svg"/><Relationship Id="rId12" Type="http://schemas.openxmlformats.org/officeDocument/2006/relationships/image" Target="../media/image17.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1.svg"/><Relationship Id="rId11" Type="http://schemas.openxmlformats.org/officeDocument/2006/relationships/image" Target="../media/image16.svg"/><Relationship Id="rId5" Type="http://schemas.openxmlformats.org/officeDocument/2006/relationships/image" Target="../media/image10.svg"/><Relationship Id="rId10" Type="http://schemas.openxmlformats.org/officeDocument/2006/relationships/image" Target="../media/image15.svg"/><Relationship Id="rId4" Type="http://schemas.openxmlformats.org/officeDocument/2006/relationships/image" Target="../media/image2.png"/><Relationship Id="rId9" Type="http://schemas.openxmlformats.org/officeDocument/2006/relationships/image" Target="../media/image14.sv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eg"/></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e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e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hyperlink" Target="http://www.jstor.org/stable/29765008" TargetMode="Externa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jpeg"/><Relationship Id="rId7" Type="http://schemas.openxmlformats.org/officeDocument/2006/relationships/image" Target="../media/image3.sv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21.svg"/><Relationship Id="rId5" Type="http://schemas.openxmlformats.org/officeDocument/2006/relationships/hyperlink" Target="https://hbr.org/2000/03/leadership-that-gets-results" TargetMode="External"/><Relationship Id="rId4" Type="http://schemas.openxmlformats.org/officeDocument/2006/relationships/image" Target="../media/image2.png"/><Relationship Id="rId9" Type="http://schemas.openxmlformats.org/officeDocument/2006/relationships/image" Target="../media/image23.svg"/></Relationships>
</file>

<file path=ppt/slides/_rels/slide21.xml.rels><?xml version="1.0" encoding="UTF-8" standalone="yes"?>
<Relationships xmlns="http://schemas.openxmlformats.org/package/2006/relationships"><Relationship Id="rId8" Type="http://schemas.openxmlformats.org/officeDocument/2006/relationships/image" Target="../media/image26.svg"/><Relationship Id="rId3" Type="http://schemas.openxmlformats.org/officeDocument/2006/relationships/image" Target="../media/image1.jpeg"/><Relationship Id="rId7" Type="http://schemas.openxmlformats.org/officeDocument/2006/relationships/image" Target="../media/image25.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24.svg"/><Relationship Id="rId5" Type="http://schemas.openxmlformats.org/officeDocument/2006/relationships/hyperlink" Target="https://doi.org/10.1016/j.leaqua.2006.10.007" TargetMode="Externa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jpeg"/><Relationship Id="rId7" Type="http://schemas.openxmlformats.org/officeDocument/2006/relationships/image" Target="../media/image26.sv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4" Type="http://schemas.openxmlformats.org/officeDocument/2006/relationships/image" Target="../media/image2.png"/><Relationship Id="rId9" Type="http://schemas.openxmlformats.org/officeDocument/2006/relationships/hyperlink" Target="https://doi.org/10.1016/j.leaqua.2006.10.007" TargetMode="External"/></Relationships>
</file>

<file path=ppt/slides/_rels/slide2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1.jpeg"/><Relationship Id="rId7" Type="http://schemas.openxmlformats.org/officeDocument/2006/relationships/image" Target="../media/image26.svg"/><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svg"/><Relationship Id="rId10" Type="http://schemas.openxmlformats.org/officeDocument/2006/relationships/hyperlink" Target="https://doi.org/10.1016/j.leaqua.2006.10.007" TargetMode="External"/><Relationship Id="rId4" Type="http://schemas.openxmlformats.org/officeDocument/2006/relationships/image" Target="../media/image2.png"/><Relationship Id="rId9" Type="http://schemas.openxmlformats.org/officeDocument/2006/relationships/image" Target="../media/image28.sv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1.sv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svg"/><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jpeg"/><Relationship Id="rId7" Type="http://schemas.openxmlformats.org/officeDocument/2006/relationships/image" Target="../media/image32.sv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29.svg"/><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jpeg"/><Relationship Id="rId7" Type="http://schemas.openxmlformats.org/officeDocument/2006/relationships/image" Target="../media/image32.sv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29.sv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jpeg"/><Relationship Id="rId7" Type="http://schemas.openxmlformats.org/officeDocument/2006/relationships/image" Target="../media/image32.sv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29.svg"/><Relationship Id="rId4" Type="http://schemas.openxmlformats.org/officeDocument/2006/relationships/image" Target="../media/image2.png"/><Relationship Id="rId9" Type="http://schemas.openxmlformats.org/officeDocument/2006/relationships/image" Target="../media/image33.svg"/></Relationships>
</file>

<file path=ppt/slides/_rels/slide2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image" Target="../media/image33.svg"/><Relationship Id="rId4" Type="http://schemas.openxmlformats.org/officeDocument/2006/relationships/image" Target="../media/image2.png"/></Relationships>
</file>

<file path=ppt/slides/_rels/slide3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2.xml.rels><?xml version="1.0" encoding="UTF-8" standalone="yes"?>
<Relationships xmlns="http://schemas.openxmlformats.org/package/2006/relationships"><Relationship Id="rId3" Type="http://schemas.openxmlformats.org/officeDocument/2006/relationships/hyperlink" Target="https://q.utoronto.ca/courses/386447/pages/1-dot-3-values-goals-and-outcomes?module_item_id=7180870"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1.jpeg"/></Relationships>
</file>

<file path=ppt/slides/_rels/slide3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hyperlink" Target="https://lmu-osc.github.io/train-the-trainer-open-research/workshop-design-workbook/" TargetMode="Externa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8" Type="http://schemas.openxmlformats.org/officeDocument/2006/relationships/image" Target="../media/image30.svg"/><Relationship Id="rId3" Type="http://schemas.openxmlformats.org/officeDocument/2006/relationships/image" Target="../media/image1.jpeg"/><Relationship Id="rId7" Type="http://schemas.openxmlformats.org/officeDocument/2006/relationships/image" Target="../media/image32.svg"/><Relationship Id="rId12" Type="http://schemas.openxmlformats.org/officeDocument/2006/relationships/image" Target="../media/image18.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31.sv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svg"/><Relationship Id="rId4" Type="http://schemas.openxmlformats.org/officeDocument/2006/relationships/image" Target="../media/image2.png"/><Relationship Id="rId9" Type="http://schemas.openxmlformats.org/officeDocument/2006/relationships/image" Target="../media/image33.svg"/></Relationships>
</file>

<file path=ppt/slides/_rels/slide3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image" Target="../media/image36.png"/><Relationship Id="rId4" Type="http://schemas.openxmlformats.org/officeDocument/2006/relationships/image" Target="../media/image2.png"/></Relationships>
</file>

<file path=ppt/slides/_rels/slide39.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7.png"/><Relationship Id="rId7" Type="http://schemas.openxmlformats.org/officeDocument/2006/relationships/image" Target="../media/image38.sv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34.svg"/><Relationship Id="rId5" Type="http://schemas.openxmlformats.org/officeDocument/2006/relationships/image" Target="../media/image2.png"/><Relationship Id="rId4" Type="http://schemas.openxmlformats.org/officeDocument/2006/relationships/image" Target="../media/image1.jpeg"/><Relationship Id="rId9" Type="http://schemas.openxmlformats.org/officeDocument/2006/relationships/image" Target="../media/image39.png"/></Relationships>
</file>

<file path=ppt/slides/_rels/slide4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4.svg"/><Relationship Id="rId4" Type="http://schemas.openxmlformats.org/officeDocument/2006/relationships/image" Target="../media/image2.png"/></Relationships>
</file>

<file path=ppt/slides/_rels/slide4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4.svg"/><Relationship Id="rId4"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4.svg"/><Relationship Id="rId4" Type="http://schemas.openxmlformats.org/officeDocument/2006/relationships/image" Target="../media/image2.png"/></Relationships>
</file>

<file path=ppt/slides/_rels/slide43.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doi.org/10.1038/s41597-021-00892-0" TargetMode="Externa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image" Target="../media/image38.svg"/><Relationship Id="rId5" Type="http://schemas.openxmlformats.org/officeDocument/2006/relationships/image" Target="../media/image34.svg"/><Relationship Id="rId4"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4.xml"/><Relationship Id="rId1" Type="http://schemas.openxmlformats.org/officeDocument/2006/relationships/slideLayout" Target="../slideLayouts/slideLayout2.xml"/><Relationship Id="rId6" Type="http://schemas.openxmlformats.org/officeDocument/2006/relationships/hyperlink" Target="https://doi.org/10.35542/osf.io/ws2cv_v1" TargetMode="External"/><Relationship Id="rId5" Type="http://schemas.openxmlformats.org/officeDocument/2006/relationships/image" Target="../media/image40.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png"/><Relationship Id="rId4" Type="http://schemas.openxmlformats.org/officeDocument/2006/relationships/image" Target="../media/image1.jpeg"/></Relationships>
</file>

<file path=ppt/slides/_rels/slide4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6.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png"/><Relationship Id="rId4" Type="http://schemas.openxmlformats.org/officeDocument/2006/relationships/image" Target="../media/image1.jpeg"/></Relationships>
</file>

<file path=ppt/slides/_rels/slide47.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png"/><Relationship Id="rId4" Type="http://schemas.openxmlformats.org/officeDocument/2006/relationships/image" Target="../media/image1.jpeg"/></Relationships>
</file>

<file path=ppt/slides/_rels/slide4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4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9.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0.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1.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4.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5.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6.xml"/><Relationship Id="rId1" Type="http://schemas.openxmlformats.org/officeDocument/2006/relationships/slideLayout" Target="../slideLayouts/slideLayout2.xml"/><Relationship Id="rId5" Type="http://schemas.openxmlformats.org/officeDocument/2006/relationships/image" Target="../media/image42.sv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hyperlink" Target="https://doi.org/10.31234/osf.io/edzxf_v1" TargetMode="External"/><Relationship Id="rId5" Type="http://schemas.openxmlformats.org/officeDocument/2006/relationships/image" Target="../media/image43.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4.png"/><Relationship Id="rId7" Type="http://schemas.openxmlformats.org/officeDocument/2006/relationships/image" Target="../media/image48.svg"/><Relationship Id="rId12" Type="http://schemas.openxmlformats.org/officeDocument/2006/relationships/hyperlink" Target="https://doi.org/10.31234/osf.io/edzxf_v1" TargetMode="Externa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47.svg"/><Relationship Id="rId11" Type="http://schemas.openxmlformats.org/officeDocument/2006/relationships/image" Target="../media/image52.svg"/><Relationship Id="rId5" Type="http://schemas.openxmlformats.org/officeDocument/2006/relationships/image" Target="../media/image46.png"/><Relationship Id="rId10" Type="http://schemas.openxmlformats.org/officeDocument/2006/relationships/image" Target="../media/image51.svg"/><Relationship Id="rId4" Type="http://schemas.openxmlformats.org/officeDocument/2006/relationships/image" Target="../media/image45.png"/><Relationship Id="rId9" Type="http://schemas.openxmlformats.org/officeDocument/2006/relationships/image" Target="../media/image50.png"/></Relationships>
</file>

<file path=ppt/slides/_rels/slide60.xml.rels><?xml version="1.0" encoding="UTF-8" standalone="yes"?>
<Relationships xmlns="http://schemas.openxmlformats.org/package/2006/relationships"><Relationship Id="rId8" Type="http://schemas.openxmlformats.org/officeDocument/2006/relationships/hyperlink" Target="https://doi.org/10.31234/osf.io/edzxf_v1" TargetMode="External"/><Relationship Id="rId3" Type="http://schemas.openxmlformats.org/officeDocument/2006/relationships/image" Target="../media/image1.jpeg"/><Relationship Id="rId7" Type="http://schemas.openxmlformats.org/officeDocument/2006/relationships/image" Target="../media/image55.svg"/><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54.svg"/><Relationship Id="rId5" Type="http://schemas.openxmlformats.org/officeDocument/2006/relationships/image" Target="../media/image53.png"/><Relationship Id="rId4" Type="http://schemas.openxmlformats.org/officeDocument/2006/relationships/image" Target="../media/image2.png"/></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2.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hyperlink" Target="https://doi.org/10.31222/osf.io/af4nk_v2" TargetMode="Externa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hyperlink" Target="https://doi.org/10.31222/osf.io/af4nk_v2" TargetMode="External"/><Relationship Id="rId5" Type="http://schemas.openxmlformats.org/officeDocument/2006/relationships/image" Target="../media/image56.png"/><Relationship Id="rId4" Type="http://schemas.openxmlformats.org/officeDocument/2006/relationships/image" Target="../media/image2.png"/></Relationships>
</file>

<file path=ppt/slides/_rels/slide64.xml.rels><?xml version="1.0" encoding="UTF-8" standalone="yes"?>
<Relationships xmlns="http://schemas.openxmlformats.org/package/2006/relationships"><Relationship Id="rId8" Type="http://schemas.openxmlformats.org/officeDocument/2006/relationships/hyperlink" Target="https://doi.org/10.31222/osf.io/af4nk_v2" TargetMode="External"/><Relationship Id="rId3" Type="http://schemas.openxmlformats.org/officeDocument/2006/relationships/hyperlink" Target="https://research.upjohn.org/cgi/viewcontent.cgi?article=1248&amp;context=up_workingpapers" TargetMode="External"/><Relationship Id="rId7" Type="http://schemas.openxmlformats.org/officeDocument/2006/relationships/image" Target="../media/image57.svg"/><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image" Target="../media/image56.png"/><Relationship Id="rId5" Type="http://schemas.openxmlformats.org/officeDocument/2006/relationships/image" Target="../media/image2.png"/><Relationship Id="rId4" Type="http://schemas.openxmlformats.org/officeDocument/2006/relationships/image" Target="../media/image1.jpeg"/></Relationships>
</file>

<file path=ppt/slides/_rels/slide6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doi.org/10.31222/osf.io/af4nk_v2" TargetMode="External"/><Relationship Id="rId2" Type="http://schemas.openxmlformats.org/officeDocument/2006/relationships/notesSlide" Target="../notesSlides/notesSlide65.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2.png"/></Relationships>
</file>

<file path=ppt/slides/_rels/slide66.xml.rels><?xml version="1.0" encoding="UTF-8" standalone="yes"?>
<Relationships xmlns="http://schemas.openxmlformats.org/package/2006/relationships"><Relationship Id="rId8" Type="http://schemas.openxmlformats.org/officeDocument/2006/relationships/hyperlink" Target="https://doi.org/10.31222/osf.io/af4nk_v2" TargetMode="External"/><Relationship Id="rId3" Type="http://schemas.openxmlformats.org/officeDocument/2006/relationships/image" Target="../media/image1.jpeg"/><Relationship Id="rId7" Type="http://schemas.openxmlformats.org/officeDocument/2006/relationships/image" Target="../media/image59.sv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2.png"/></Relationships>
</file>

<file path=ppt/slides/_rels/slide67.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1.jpeg"/><Relationship Id="rId7" Type="http://schemas.openxmlformats.org/officeDocument/2006/relationships/image" Target="../media/image60.svg"/><Relationship Id="rId2" Type="http://schemas.openxmlformats.org/officeDocument/2006/relationships/notesSlide" Target="../notesSlides/notesSlide67.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6.png"/><Relationship Id="rId4" Type="http://schemas.openxmlformats.org/officeDocument/2006/relationships/image" Target="../media/image2.png"/><Relationship Id="rId9" Type="http://schemas.openxmlformats.org/officeDocument/2006/relationships/hyperlink" Target="https://doi.org/10.31222/osf.io/af4nk_v2" TargetMode="External"/></Relationships>
</file>

<file path=ppt/slides/_rels/slide68.xml.rels><?xml version="1.0" encoding="UTF-8" standalone="yes"?>
<Relationships xmlns="http://schemas.openxmlformats.org/package/2006/relationships"><Relationship Id="rId8" Type="http://schemas.openxmlformats.org/officeDocument/2006/relationships/image" Target="../media/image59.svg"/><Relationship Id="rId3" Type="http://schemas.openxmlformats.org/officeDocument/2006/relationships/image" Target="../media/image1.jpeg"/><Relationship Id="rId7" Type="http://schemas.openxmlformats.org/officeDocument/2006/relationships/image" Target="../media/image60.sv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image" Target="../media/image58.svg"/><Relationship Id="rId5" Type="http://schemas.openxmlformats.org/officeDocument/2006/relationships/image" Target="../media/image56.png"/><Relationship Id="rId10" Type="http://schemas.openxmlformats.org/officeDocument/2006/relationships/hyperlink" Target="https://doi.org/10.31222/osf.io/af4nk_v2" TargetMode="External"/><Relationship Id="rId4" Type="http://schemas.openxmlformats.org/officeDocument/2006/relationships/image" Target="../media/image2.png"/><Relationship Id="rId9" Type="http://schemas.openxmlformats.org/officeDocument/2006/relationships/image" Target="../media/image61.svg"/></Relationships>
</file>

<file path=ppt/slides/_rels/slide69.xml.rels><?xml version="1.0" encoding="UTF-8" standalone="yes"?>
<Relationships xmlns="http://schemas.openxmlformats.org/package/2006/relationships"><Relationship Id="rId8" Type="http://schemas.openxmlformats.org/officeDocument/2006/relationships/image" Target="../media/image60.svg"/><Relationship Id="rId3" Type="http://schemas.openxmlformats.org/officeDocument/2006/relationships/image" Target="../media/image1.jpeg"/><Relationship Id="rId7" Type="http://schemas.openxmlformats.org/officeDocument/2006/relationships/image" Target="../media/image58.svg"/><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image" Target="../media/image62.svg"/><Relationship Id="rId11" Type="http://schemas.openxmlformats.org/officeDocument/2006/relationships/hyperlink" Target="https://doi.org/10.31222/osf.io/af4nk_v2" TargetMode="External"/><Relationship Id="rId5" Type="http://schemas.openxmlformats.org/officeDocument/2006/relationships/image" Target="../media/image56.png"/><Relationship Id="rId10" Type="http://schemas.openxmlformats.org/officeDocument/2006/relationships/image" Target="../media/image61.svg"/><Relationship Id="rId4" Type="http://schemas.openxmlformats.org/officeDocument/2006/relationships/image" Target="../media/image2.png"/><Relationship Id="rId9" Type="http://schemas.openxmlformats.org/officeDocument/2006/relationships/image" Target="../media/image59.svg"/></Relationships>
</file>

<file path=ppt/slides/_rels/slide7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3.png"/><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1.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3.png"/><Relationship Id="rId4" Type="http://schemas.openxmlformats.org/officeDocument/2006/relationships/image" Target="../media/image2.png"/></Relationships>
</file>

<file path=ppt/slides/_rels/slide7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2.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3.png"/><Relationship Id="rId4" Type="http://schemas.openxmlformats.org/officeDocument/2006/relationships/image" Target="../media/image2.png"/></Relationships>
</file>

<file path=ppt/slides/_rels/slide7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3.png"/><Relationship Id="rId4" Type="http://schemas.openxmlformats.org/officeDocument/2006/relationships/image" Target="../media/image2.png"/></Relationships>
</file>

<file path=ppt/slides/_rels/slide7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63.png"/><Relationship Id="rId4" Type="http://schemas.openxmlformats.org/officeDocument/2006/relationships/image" Target="../media/image2.png"/></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5.xml"/><Relationship Id="rId1" Type="http://schemas.openxmlformats.org/officeDocument/2006/relationships/slideLayout" Target="../slideLayouts/slideLayout2.xml"/><Relationship Id="rId5" Type="http://schemas.openxmlformats.org/officeDocument/2006/relationships/image" Target="../media/image64.jpeg"/><Relationship Id="rId4" Type="http://schemas.openxmlformats.org/officeDocument/2006/relationships/image" Target="../media/image2.png"/></Relationships>
</file>

<file path=ppt/slides/_rels/slide7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64.jpeg"/><Relationship Id="rId5" Type="http://schemas.openxmlformats.org/officeDocument/2006/relationships/hyperlink" Target="https://doi.org/10.1111/josi.70035" TargetMode="External"/><Relationship Id="rId4" Type="http://schemas.openxmlformats.org/officeDocument/2006/relationships/image" Target="../media/image2.png"/></Relationships>
</file>

<file path=ppt/slides/_rels/slide77.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1.jpeg"/><Relationship Id="rId7" Type="http://schemas.openxmlformats.org/officeDocument/2006/relationships/image" Target="../media/image38.svg"/><Relationship Id="rId12" Type="http://schemas.openxmlformats.org/officeDocument/2006/relationships/image" Target="../media/image67.sv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4.svg"/><Relationship Id="rId11" Type="http://schemas.openxmlformats.org/officeDocument/2006/relationships/image" Target="../media/image66.svg"/><Relationship Id="rId5" Type="http://schemas.openxmlformats.org/officeDocument/2006/relationships/image" Target="../media/image42.svg"/><Relationship Id="rId10" Type="http://schemas.openxmlformats.org/officeDocument/2006/relationships/image" Target="../media/image65.svg"/><Relationship Id="rId4" Type="http://schemas.openxmlformats.org/officeDocument/2006/relationships/image" Target="../media/image2.png"/><Relationship Id="rId9" Type="http://schemas.openxmlformats.org/officeDocument/2006/relationships/image" Target="../media/image56.png"/></Relationships>
</file>

<file path=ppt/slides/_rels/slide7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8.xml"/><Relationship Id="rId1" Type="http://schemas.openxmlformats.org/officeDocument/2006/relationships/slideLayout" Target="../slideLayouts/slideLayout2.xml"/><Relationship Id="rId5" Type="http://schemas.openxmlformats.org/officeDocument/2006/relationships/image" Target="../media/image68.png"/><Relationship Id="rId4" Type="http://schemas.openxmlformats.org/officeDocument/2006/relationships/image" Target="../media/image2.png"/></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hyperlink" Target="https://osf.io/ay8qk/files/cmeuy" TargetMode="External"/><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2.png"/></Relationships>
</file>

<file path=ppt/slides/_rels/slide8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0.xml"/><Relationship Id="rId1" Type="http://schemas.openxmlformats.org/officeDocument/2006/relationships/slideLayout" Target="../slideLayouts/slideLayout2.xml"/><Relationship Id="rId5" Type="http://schemas.openxmlformats.org/officeDocument/2006/relationships/image" Target="../media/image71.png"/><Relationship Id="rId4" Type="http://schemas.openxmlformats.org/officeDocument/2006/relationships/image" Target="../media/image2.png"/></Relationships>
</file>

<file path=ppt/slides/_rels/slide81.xml.rels><?xml version="1.0" encoding="UTF-8" standalone="yes"?>
<Relationships xmlns="http://schemas.openxmlformats.org/package/2006/relationships"><Relationship Id="rId8" Type="http://schemas.openxmlformats.org/officeDocument/2006/relationships/image" Target="../media/image30.svg"/><Relationship Id="rId13" Type="http://schemas.openxmlformats.org/officeDocument/2006/relationships/image" Target="../media/image67.svg"/><Relationship Id="rId3" Type="http://schemas.openxmlformats.org/officeDocument/2006/relationships/image" Target="../media/image1.jpeg"/><Relationship Id="rId7" Type="http://schemas.openxmlformats.org/officeDocument/2006/relationships/image" Target="../media/image35.svg"/><Relationship Id="rId12" Type="http://schemas.openxmlformats.org/officeDocument/2006/relationships/image" Target="../media/image66.svg"/><Relationship Id="rId2" Type="http://schemas.openxmlformats.org/officeDocument/2006/relationships/notesSlide" Target="../notesSlides/notesSlide81.xml"/><Relationship Id="rId1" Type="http://schemas.openxmlformats.org/officeDocument/2006/relationships/slideLayout" Target="../slideLayouts/slideLayout2.xml"/><Relationship Id="rId6" Type="http://schemas.openxmlformats.org/officeDocument/2006/relationships/image" Target="../media/image38.svg"/><Relationship Id="rId11" Type="http://schemas.openxmlformats.org/officeDocument/2006/relationships/image" Target="../media/image65.svg"/><Relationship Id="rId5" Type="http://schemas.openxmlformats.org/officeDocument/2006/relationships/image" Target="../media/image34.svg"/><Relationship Id="rId10" Type="http://schemas.openxmlformats.org/officeDocument/2006/relationships/image" Target="../media/image56.png"/><Relationship Id="rId4" Type="http://schemas.openxmlformats.org/officeDocument/2006/relationships/image" Target="../media/image2.png"/><Relationship Id="rId9" Type="http://schemas.openxmlformats.org/officeDocument/2006/relationships/image" Target="../media/image33.svg"/><Relationship Id="rId14" Type="http://schemas.openxmlformats.org/officeDocument/2006/relationships/image" Target="../media/image42.svg"/></Relationships>
</file>

<file path=ppt/slides/_rels/slide8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12.svg"/><Relationship Id="rId5" Type="http://schemas.openxmlformats.org/officeDocument/2006/relationships/image" Target="../media/image11.svg"/><Relationship Id="rId4" Type="http://schemas.openxmlformats.org/officeDocument/2006/relationships/image" Target="../media/image2.png"/></Relationships>
</file>

<file path=ppt/slides/_rels/slide83.xml.rels><?xml version="1.0" encoding="UTF-8" standalone="yes"?>
<Relationships xmlns="http://schemas.openxmlformats.org/package/2006/relationships"><Relationship Id="rId8" Type="http://schemas.openxmlformats.org/officeDocument/2006/relationships/image" Target="../media/image3.svg"/><Relationship Id="rId3" Type="http://schemas.openxmlformats.org/officeDocument/2006/relationships/image" Target="../media/image1.jpeg"/><Relationship Id="rId7" Type="http://schemas.openxmlformats.org/officeDocument/2006/relationships/image" Target="../media/image17.svg"/><Relationship Id="rId12" Type="http://schemas.openxmlformats.org/officeDocument/2006/relationships/hyperlink" Target="https://lmu-osc.github.io/train-the-trainer-open-research/leadership-open-research/strategies-leadership/" TargetMode="Externa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image" Target="../media/image12.svg"/><Relationship Id="rId11" Type="http://schemas.openxmlformats.org/officeDocument/2006/relationships/hyperlink" Target="https://lmu-osc.github.io/train-the-trainer-open-research/leadership-open-research/challenges-leadership/" TargetMode="External"/><Relationship Id="rId5" Type="http://schemas.openxmlformats.org/officeDocument/2006/relationships/image" Target="../media/image11.svg"/><Relationship Id="rId10" Type="http://schemas.openxmlformats.org/officeDocument/2006/relationships/image" Target="../media/image10.svg"/><Relationship Id="rId4" Type="http://schemas.openxmlformats.org/officeDocument/2006/relationships/image" Target="../media/image2.png"/><Relationship Id="rId9" Type="http://schemas.openxmlformats.org/officeDocument/2006/relationships/image" Target="../media/image72.svg"/></Relationships>
</file>

<file path=ppt/slides/_rels/slide8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4.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5.xml"/><Relationship Id="rId1" Type="http://schemas.openxmlformats.org/officeDocument/2006/relationships/slideLayout" Target="../slideLayouts/slideLayout2.xml"/><Relationship Id="rId5" Type="http://schemas.openxmlformats.org/officeDocument/2006/relationships/image" Target="../media/image73.png"/><Relationship Id="rId4" Type="http://schemas.openxmlformats.org/officeDocument/2006/relationships/image" Target="../media/image2.png"/></Relationships>
</file>

<file path=ppt/slides/_rels/slide86.xml.rels><?xml version="1.0" encoding="UTF-8" standalone="yes"?>
<Relationships xmlns="http://schemas.openxmlformats.org/package/2006/relationships"><Relationship Id="rId8" Type="http://schemas.openxmlformats.org/officeDocument/2006/relationships/hyperlink" Target="https://www.eoscobservatory.eu/explore/open-science-by-area/training" TargetMode="External"/><Relationship Id="rId13" Type="http://schemas.openxmlformats.org/officeDocument/2006/relationships/hyperlink" Target="https://doi.org/10.31222/osf.io/af4nk_v2" TargetMode="External"/><Relationship Id="rId3" Type="http://schemas.openxmlformats.org/officeDocument/2006/relationships/image" Target="../media/image1.jpeg"/><Relationship Id="rId7" Type="http://schemas.openxmlformats.org/officeDocument/2006/relationships/hyperlink" Target="http://www.jstor.org/stable/29765008" TargetMode="External"/><Relationship Id="rId12" Type="http://schemas.openxmlformats.org/officeDocument/2006/relationships/hyperlink" Target="https://www.weforum.org/publications/the-future-of-jobs-report-2025/" TargetMode="External"/><Relationship Id="rId17" Type="http://schemas.openxmlformats.org/officeDocument/2006/relationships/hyperlink" Target="https://unesdoc.unesco.org/ark:/48223/pf0000387324" TargetMode="External"/><Relationship Id="rId2" Type="http://schemas.openxmlformats.org/officeDocument/2006/relationships/notesSlide" Target="../notesSlides/notesSlide86.xml"/><Relationship Id="rId16" Type="http://schemas.openxmlformats.org/officeDocument/2006/relationships/hyperlink" Target="https://doi.org/10.1016/j.leaqua.2006.10.007" TargetMode="External"/><Relationship Id="rId1" Type="http://schemas.openxmlformats.org/officeDocument/2006/relationships/slideLayout" Target="../slideLayouts/slideLayout2.xml"/><Relationship Id="rId6" Type="http://schemas.openxmlformats.org/officeDocument/2006/relationships/hyperlink" Target="https://q.utoronto.ca/courses/386447/pages/1-dot-3-values-goals-and-outcomes?module_item_id=7180870" TargetMode="External"/><Relationship Id="rId11" Type="http://schemas.openxmlformats.org/officeDocument/2006/relationships/hyperlink" Target="https://doi.org/10.35542/osf.io/ws2cv_v1" TargetMode="External"/><Relationship Id="rId5" Type="http://schemas.openxmlformats.org/officeDocument/2006/relationships/hyperlink" Target="https://doi.org/10.1038/s41597-021-00892-0" TargetMode="External"/><Relationship Id="rId15" Type="http://schemas.openxmlformats.org/officeDocument/2006/relationships/hyperlink" Target="https://doi.org/10.1111/josi.70035" TargetMode="External"/><Relationship Id="rId10" Type="http://schemas.openxmlformats.org/officeDocument/2006/relationships/hyperlink" Target="https://hbr.org/2000/03/leadership-that-gets-results" TargetMode="External"/><Relationship Id="rId4" Type="http://schemas.openxmlformats.org/officeDocument/2006/relationships/image" Target="../media/image2.png"/><Relationship Id="rId9" Type="http://schemas.openxmlformats.org/officeDocument/2006/relationships/hyperlink" Target="https://doi.org/10.17848/wp15-231" TargetMode="External"/><Relationship Id="rId14" Type="http://schemas.openxmlformats.org/officeDocument/2006/relationships/hyperlink" Target="https://doi.org/10.31234/osf.io/edzxf_v1" TargetMode="External"/></Relationships>
</file>

<file path=ppt/slides/_rels/slide87.xml.rels><?xml version="1.0" encoding="UTF-8" standalone="yes"?>
<Relationships xmlns="http://schemas.openxmlformats.org/package/2006/relationships"><Relationship Id="rId8" Type="http://schemas.openxmlformats.org/officeDocument/2006/relationships/hyperlink" Target="https://orcid.org/0000-0002-6413-3895" TargetMode="External"/><Relationship Id="rId3" Type="http://schemas.openxmlformats.org/officeDocument/2006/relationships/image" Target="../media/image1.jpeg"/><Relationship Id="rId7" Type="http://schemas.openxmlformats.org/officeDocument/2006/relationships/hyperlink" Target="https://orcid.org/0000-0002-6778-6744"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 Id="rId6" Type="http://schemas.openxmlformats.org/officeDocument/2006/relationships/hyperlink" Target="https://orcid.org/0000-0001-9000-8513" TargetMode="External"/><Relationship Id="rId5" Type="http://schemas.openxmlformats.org/officeDocument/2006/relationships/hyperlink" Target="https://orcid.org/0000-0001-5307-8029" TargetMode="External"/><Relationship Id="rId4" Type="http://schemas.openxmlformats.org/officeDocument/2006/relationships/image" Target="../media/image2.png"/><Relationship Id="rId9" Type="http://schemas.openxmlformats.org/officeDocument/2006/relationships/image" Target="../media/image74.png"/></Relationships>
</file>

<file path=ppt/slides/_rels/slide88.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75.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hyperlink" Target="https://lmu-osc.github.io/train-the-trainer-open-research/leadership-open-research/leadership-skills-culture/" TargetMode="External"/><Relationship Id="rId5" Type="http://schemas.openxmlformats.org/officeDocument/2006/relationships/hyperlink" Target="https://creativecommons.org/licenses/by-sa/4.0/deed.en" TargetMode="Externa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42298-DB19-DB2D-91E6-A98D85B163D8}"/>
              </a:ext>
            </a:extLst>
          </p:cNvPr>
          <p:cNvSpPr>
            <a:spLocks noGrp="1"/>
          </p:cNvSpPr>
          <p:nvPr>
            <p:ph type="ctrTitle"/>
          </p:nvPr>
        </p:nvSpPr>
        <p:spPr>
          <a:xfrm>
            <a:off x="379349" y="1837972"/>
            <a:ext cx="9144000" cy="2387600"/>
          </a:xfrm>
        </p:spPr>
        <p:txBody>
          <a:bodyPr/>
          <a:lstStyle/>
          <a:p>
            <a:r>
              <a:rPr lang="en-GB" dirty="0"/>
              <a:t>Leadership in Open Science: Skills, values and culture</a:t>
            </a:r>
          </a:p>
        </p:txBody>
      </p:sp>
      <p:grpSp>
        <p:nvGrpSpPr>
          <p:cNvPr id="5" name="Group 4">
            <a:extLst>
              <a:ext uri="{FF2B5EF4-FFF2-40B4-BE49-F238E27FC236}">
                <a16:creationId xmlns:a16="http://schemas.microsoft.com/office/drawing/2014/main" id="{B1971B36-1F16-8C0E-8B94-7F183F9A454E}"/>
              </a:ext>
            </a:extLst>
          </p:cNvPr>
          <p:cNvGrpSpPr/>
          <p:nvPr/>
        </p:nvGrpSpPr>
        <p:grpSpPr>
          <a:xfrm>
            <a:off x="9387349" y="6254611"/>
            <a:ext cx="2804651" cy="513745"/>
            <a:chOff x="19317" y="2690018"/>
            <a:chExt cx="11784755" cy="2025180"/>
          </a:xfrm>
        </p:grpSpPr>
        <p:pic>
          <p:nvPicPr>
            <p:cNvPr id="6" name="Picture 2">
              <a:extLst>
                <a:ext uri="{FF2B5EF4-FFF2-40B4-BE49-F238E27FC236}">
                  <a16:creationId xmlns:a16="http://schemas.microsoft.com/office/drawing/2014/main" id="{8A2A45B9-E17B-25A0-5A7F-8AB427A675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3E84444-DCD7-35C4-D84D-952F4860EC3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9" name="TextBox 8">
            <a:extLst>
              <a:ext uri="{FF2B5EF4-FFF2-40B4-BE49-F238E27FC236}">
                <a16:creationId xmlns:a16="http://schemas.microsoft.com/office/drawing/2014/main" id="{3370522F-7F04-C35D-DBC5-1C96543077D4}"/>
              </a:ext>
            </a:extLst>
          </p:cNvPr>
          <p:cNvSpPr txBox="1"/>
          <p:nvPr/>
        </p:nvSpPr>
        <p:spPr>
          <a:xfrm>
            <a:off x="1493320" y="4634203"/>
            <a:ext cx="7426037" cy="1231106"/>
          </a:xfrm>
          <a:prstGeom prst="rect">
            <a:avLst/>
          </a:prstGeom>
          <a:noFill/>
        </p:spPr>
        <p:txBody>
          <a:bodyPr wrap="square">
            <a:spAutoFit/>
          </a:bodyPr>
          <a:lstStyle/>
          <a:p>
            <a:pPr algn="ctr"/>
            <a:r>
              <a:rPr lang="en-US" sz="2800" dirty="0"/>
              <a:t>Dr Sara Lil Middleton (she/her)</a:t>
            </a:r>
          </a:p>
          <a:p>
            <a:pPr algn="ctr"/>
            <a:r>
              <a:rPr lang="en-US" sz="2800" dirty="0"/>
              <a:t>Dr Flavio Azevedo (he/him)</a:t>
            </a:r>
          </a:p>
          <a:p>
            <a:pPr algn="ctr"/>
            <a:endParaRPr lang="en-US" dirty="0"/>
          </a:p>
        </p:txBody>
      </p:sp>
      <p:grpSp>
        <p:nvGrpSpPr>
          <p:cNvPr id="10" name="Group 9">
            <a:extLst>
              <a:ext uri="{FF2B5EF4-FFF2-40B4-BE49-F238E27FC236}">
                <a16:creationId xmlns:a16="http://schemas.microsoft.com/office/drawing/2014/main" id="{4E5881D4-BF46-1DD0-F8DE-F42E3972D2C9}"/>
              </a:ext>
            </a:extLst>
          </p:cNvPr>
          <p:cNvGrpSpPr/>
          <p:nvPr/>
        </p:nvGrpSpPr>
        <p:grpSpPr>
          <a:xfrm>
            <a:off x="0" y="-55916"/>
            <a:ext cx="12192000" cy="4150175"/>
            <a:chOff x="0" y="-55916"/>
            <a:chExt cx="12192000" cy="4150175"/>
          </a:xfrm>
        </p:grpSpPr>
        <p:sp>
          <p:nvSpPr>
            <p:cNvPr id="12" name="Title 1">
              <a:extLst>
                <a:ext uri="{FF2B5EF4-FFF2-40B4-BE49-F238E27FC236}">
                  <a16:creationId xmlns:a16="http://schemas.microsoft.com/office/drawing/2014/main" id="{7CDF67A8-44A8-F340-0FFC-2AF1EFAAB6BA}"/>
                </a:ext>
              </a:extLst>
            </p:cNvPr>
            <p:cNvSpPr txBox="1">
              <a:spLocks/>
            </p:cNvSpPr>
            <p:nvPr/>
          </p:nvSpPr>
          <p:spPr>
            <a:xfrm>
              <a:off x="0" y="-55916"/>
              <a:ext cx="12192000" cy="1325563"/>
            </a:xfrm>
            <a:prstGeom prst="rect">
              <a:avLst/>
            </a:prstGeom>
            <a:solidFill>
              <a:schemeClr val="accent4">
                <a:lumMod val="75000"/>
                <a:alpha val="46955"/>
              </a:schemeClr>
            </a:solid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endParaRPr lang="en-US" b="1" dirty="0"/>
            </a:p>
          </p:txBody>
        </p:sp>
        <p:pic>
          <p:nvPicPr>
            <p:cNvPr id="8" name="Graphic 7" descr="Cheers with solid fill">
              <a:extLst>
                <a:ext uri="{FF2B5EF4-FFF2-40B4-BE49-F238E27FC236}">
                  <a16:creationId xmlns:a16="http://schemas.microsoft.com/office/drawing/2014/main" id="{8116C82B-996E-CB9C-9D72-1DE586FF7EB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0038514" y="2763741"/>
              <a:ext cx="1330518" cy="1330518"/>
            </a:xfrm>
            <a:prstGeom prst="rect">
              <a:avLst/>
            </a:prstGeom>
          </p:spPr>
        </p:pic>
      </p:grpSp>
    </p:spTree>
    <p:extLst>
      <p:ext uri="{BB962C8B-B14F-4D97-AF65-F5344CB8AC3E}">
        <p14:creationId xmlns:p14="http://schemas.microsoft.com/office/powerpoint/2010/main" val="21623961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50B65F-6723-8456-D62A-85E974A3B216}"/>
              </a:ext>
            </a:extLst>
          </p:cNvPr>
          <p:cNvSpPr>
            <a:spLocks noGrp="1"/>
          </p:cNvSpPr>
          <p:nvPr>
            <p:ph type="title"/>
          </p:nvPr>
        </p:nvSpPr>
        <p:spPr>
          <a:xfrm>
            <a:off x="0" y="1"/>
            <a:ext cx="12192000" cy="925286"/>
          </a:xfrm>
        </p:spPr>
        <p:txBody>
          <a:bodyPr/>
          <a:lstStyle/>
          <a:p>
            <a:r>
              <a:rPr lang="en-US" b="1" dirty="0"/>
              <a:t>Prerequisites</a:t>
            </a:r>
            <a:r>
              <a:rPr lang="en-US" dirty="0"/>
              <a:t> </a:t>
            </a:r>
          </a:p>
        </p:txBody>
      </p:sp>
      <p:sp>
        <p:nvSpPr>
          <p:cNvPr id="3" name="Content Placeholder 2">
            <a:extLst>
              <a:ext uri="{FF2B5EF4-FFF2-40B4-BE49-F238E27FC236}">
                <a16:creationId xmlns:a16="http://schemas.microsoft.com/office/drawing/2014/main" id="{D19DD0AB-67AC-4A27-5D6D-C6B1F8990242}"/>
              </a:ext>
            </a:extLst>
          </p:cNvPr>
          <p:cNvSpPr>
            <a:spLocks noGrp="1"/>
          </p:cNvSpPr>
          <p:nvPr>
            <p:ph idx="1"/>
          </p:nvPr>
        </p:nvSpPr>
        <p:spPr>
          <a:xfrm>
            <a:off x="438633" y="1452188"/>
            <a:ext cx="11073331" cy="1782849"/>
          </a:xfrm>
        </p:spPr>
        <p:txBody>
          <a:bodyPr>
            <a:noAutofit/>
          </a:bodyPr>
          <a:lstStyle/>
          <a:p>
            <a:r>
              <a:rPr lang="en-US" sz="2400" dirty="0"/>
              <a:t>A foundational understanding of Open Science practices such as open access, preregistration, where training materials can be found here: </a:t>
            </a:r>
            <a:r>
              <a:rPr lang="en-US" sz="2400" dirty="0">
                <a:hlinkClick r:id="rId3"/>
              </a:rPr>
              <a:t>https://www.osc.lmu.de/training/</a:t>
            </a:r>
            <a:r>
              <a:rPr lang="en-US" sz="2400" dirty="0"/>
              <a:t> </a:t>
            </a:r>
          </a:p>
          <a:p>
            <a:r>
              <a:rPr lang="en-US" sz="2400" dirty="0"/>
              <a:t>Access to the </a:t>
            </a:r>
            <a:r>
              <a:rPr lang="en-GB" sz="2400" dirty="0"/>
              <a:t>Open Research Workshop Design Workbook: </a:t>
            </a:r>
            <a:r>
              <a:rPr lang="en-GB" sz="2400" dirty="0">
                <a:hlinkClick r:id="rId4"/>
              </a:rPr>
              <a:t>https://lmu-osc.github.io/train-the-trainer-open-research/workshop-design-workbook/</a:t>
            </a:r>
            <a:r>
              <a:rPr lang="en-GB" sz="2400" dirty="0"/>
              <a:t> </a:t>
            </a:r>
          </a:p>
          <a:p>
            <a:r>
              <a:rPr lang="en-GB" sz="2400" dirty="0"/>
              <a:t>Access to FORRT leadership case study: </a:t>
            </a:r>
            <a:r>
              <a:rPr lang="en-US" sz="2400" dirty="0">
                <a:hlinkClick r:id="rId5"/>
              </a:rPr>
              <a:t>https://osf.io/ay8qk/files/cmeuy</a:t>
            </a:r>
            <a:r>
              <a:rPr lang="en-US" sz="2400" dirty="0"/>
              <a:t> </a:t>
            </a:r>
          </a:p>
        </p:txBody>
      </p:sp>
      <p:grpSp>
        <p:nvGrpSpPr>
          <p:cNvPr id="4" name="Group 3">
            <a:extLst>
              <a:ext uri="{FF2B5EF4-FFF2-40B4-BE49-F238E27FC236}">
                <a16:creationId xmlns:a16="http://schemas.microsoft.com/office/drawing/2014/main" id="{51C9200B-9EF4-1187-0368-8E9FC90CC602}"/>
              </a:ext>
            </a:extLst>
          </p:cNvPr>
          <p:cNvGrpSpPr/>
          <p:nvPr/>
        </p:nvGrpSpPr>
        <p:grpSpPr>
          <a:xfrm>
            <a:off x="10704849" y="6564312"/>
            <a:ext cx="1362075" cy="273690"/>
            <a:chOff x="19317" y="2690018"/>
            <a:chExt cx="11784755" cy="2025180"/>
          </a:xfrm>
        </p:grpSpPr>
        <p:pic>
          <p:nvPicPr>
            <p:cNvPr id="5" name="Picture 2">
              <a:extLst>
                <a:ext uri="{FF2B5EF4-FFF2-40B4-BE49-F238E27FC236}">
                  <a16:creationId xmlns:a16="http://schemas.microsoft.com/office/drawing/2014/main" id="{A972B7B0-B031-94C4-898F-43E364E32FC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46A4E0F-9FB8-74B0-79F3-D1FD98812595}"/>
                </a:ext>
              </a:extLst>
            </p:cNvPr>
            <p:cNvPicPr>
              <a:picLocks noChangeAspect="1"/>
            </p:cNvPicPr>
            <p:nvPr/>
          </p:nvPicPr>
          <p:blipFill>
            <a:blip r:embed="rId7"/>
            <a:stretch>
              <a:fillRect/>
            </a:stretch>
          </p:blipFill>
          <p:spPr>
            <a:xfrm>
              <a:off x="5728531" y="2690018"/>
              <a:ext cx="6075541" cy="2025180"/>
            </a:xfrm>
            <a:prstGeom prst="rect">
              <a:avLst/>
            </a:prstGeom>
          </p:spPr>
        </p:pic>
      </p:grpSp>
      <p:sp>
        <p:nvSpPr>
          <p:cNvPr id="7" name="Slide Number Placeholder 1">
            <a:extLst>
              <a:ext uri="{FF2B5EF4-FFF2-40B4-BE49-F238E27FC236}">
                <a16:creationId xmlns:a16="http://schemas.microsoft.com/office/drawing/2014/main" id="{7ED380A9-88EA-4221-B3D2-E4C927A758B9}"/>
              </a:ext>
            </a:extLst>
          </p:cNvPr>
          <p:cNvSpPr>
            <a:spLocks noGrp="1"/>
          </p:cNvSpPr>
          <p:nvPr>
            <p:ph type="sldNum" sz="quarter" idx="12"/>
          </p:nvPr>
        </p:nvSpPr>
        <p:spPr>
          <a:xfrm>
            <a:off x="8610600" y="6356350"/>
            <a:ext cx="2743200" cy="365125"/>
          </a:xfrm>
        </p:spPr>
        <p:txBody>
          <a:bodyPr/>
          <a:lstStyle/>
          <a:p>
            <a:fld id="{D292B180-B274-DE43-B36F-C827C7616C05}" type="slidenum">
              <a:rPr lang="en-US" smtClean="0"/>
              <a:t>2</a:t>
            </a:fld>
            <a:endParaRPr lang="en-US"/>
          </a:p>
        </p:txBody>
      </p:sp>
      <p:sp>
        <p:nvSpPr>
          <p:cNvPr id="8" name="TextBox 7">
            <a:extLst>
              <a:ext uri="{FF2B5EF4-FFF2-40B4-BE49-F238E27FC236}">
                <a16:creationId xmlns:a16="http://schemas.microsoft.com/office/drawing/2014/main" id="{A54600BD-0FEA-B71C-27FC-DF04CA3163CD}"/>
              </a:ext>
            </a:extLst>
          </p:cNvPr>
          <p:cNvSpPr txBox="1"/>
          <p:nvPr/>
        </p:nvSpPr>
        <p:spPr>
          <a:xfrm>
            <a:off x="559334" y="4001294"/>
            <a:ext cx="11073331" cy="1938992"/>
          </a:xfrm>
          <a:prstGeom prst="rect">
            <a:avLst/>
          </a:prstGeom>
          <a:solidFill>
            <a:schemeClr val="bg1">
              <a:lumMod val="65000"/>
              <a:alpha val="52000"/>
            </a:schemeClr>
          </a:solidFill>
        </p:spPr>
        <p:txBody>
          <a:bodyPr wrap="square">
            <a:spAutoFit/>
          </a:bodyPr>
          <a:lstStyle/>
          <a:p>
            <a:r>
              <a:rPr lang="en-US" sz="2400" b="1" dirty="0"/>
              <a:t>Note:</a:t>
            </a:r>
          </a:p>
          <a:p>
            <a:r>
              <a:rPr lang="en-US" sz="2400" dirty="0"/>
              <a:t>These training materials form part of three sessions on leadership in Open Science:</a:t>
            </a:r>
          </a:p>
          <a:p>
            <a:pPr marL="457200" indent="-457200">
              <a:buFont typeface="+mj-lt"/>
              <a:buAutoNum type="arabicPeriod"/>
            </a:pPr>
            <a:r>
              <a:rPr lang="en-US" sz="2400" dirty="0"/>
              <a:t>Skills, values and culture (current session)</a:t>
            </a:r>
          </a:p>
          <a:p>
            <a:pPr marL="457200" indent="-457200">
              <a:buFont typeface="+mj-lt"/>
              <a:buAutoNum type="arabicPeriod"/>
            </a:pPr>
            <a:r>
              <a:rPr lang="en-US" sz="2400" dirty="0"/>
              <a:t>Challenges (access </a:t>
            </a:r>
            <a:r>
              <a:rPr lang="en-US" sz="2400" dirty="0">
                <a:hlinkClick r:id="rId8"/>
              </a:rPr>
              <a:t>here</a:t>
            </a:r>
            <a:r>
              <a:rPr lang="en-US" sz="2400" dirty="0"/>
              <a:t>)</a:t>
            </a:r>
          </a:p>
          <a:p>
            <a:pPr marL="457200" indent="-457200">
              <a:buFont typeface="+mj-lt"/>
              <a:buAutoNum type="arabicPeriod"/>
            </a:pPr>
            <a:r>
              <a:rPr lang="en-US" sz="2400" dirty="0"/>
              <a:t>Strategies (access </a:t>
            </a:r>
            <a:r>
              <a:rPr lang="en-US" sz="2400" dirty="0">
                <a:hlinkClick r:id="rId9"/>
              </a:rPr>
              <a:t>here</a:t>
            </a:r>
            <a:r>
              <a:rPr lang="en-US" sz="2400" dirty="0"/>
              <a:t>)</a:t>
            </a:r>
          </a:p>
        </p:txBody>
      </p:sp>
    </p:spTree>
    <p:extLst>
      <p:ext uri="{BB962C8B-B14F-4D97-AF65-F5344CB8AC3E}">
        <p14:creationId xmlns:p14="http://schemas.microsoft.com/office/powerpoint/2010/main" val="24684476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Group 2">
            <a:extLst>
              <a:ext uri="{FF2B5EF4-FFF2-40B4-BE49-F238E27FC236}">
                <a16:creationId xmlns:a16="http://schemas.microsoft.com/office/drawing/2014/main" id="{B9EADB94-F1D0-02EE-9868-23E8E35296EC}"/>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65C0DAAA-F911-ED59-0F38-E7CB11B0DD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BC7DF67A-4587-20CB-18C4-4545BA4C428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152F3F46-951B-A4A0-51E6-B2A16DFDF484}"/>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Survey</a:t>
            </a:r>
          </a:p>
        </p:txBody>
      </p:sp>
      <p:sp>
        <p:nvSpPr>
          <p:cNvPr id="2" name="Slide Number Placeholder 1">
            <a:extLst>
              <a:ext uri="{FF2B5EF4-FFF2-40B4-BE49-F238E27FC236}">
                <a16:creationId xmlns:a16="http://schemas.microsoft.com/office/drawing/2014/main" id="{20A4D26E-D762-A915-CB05-8AF0B95CA6AB}"/>
              </a:ext>
            </a:extLst>
          </p:cNvPr>
          <p:cNvSpPr>
            <a:spLocks noGrp="1"/>
          </p:cNvSpPr>
          <p:nvPr>
            <p:ph type="sldNum" sz="quarter" idx="12"/>
          </p:nvPr>
        </p:nvSpPr>
        <p:spPr/>
        <p:txBody>
          <a:bodyPr/>
          <a:lstStyle/>
          <a:p>
            <a:fld id="{D292B180-B274-DE43-B36F-C827C7616C05}" type="slidenum">
              <a:rPr lang="en-US" smtClean="0"/>
              <a:t>3</a:t>
            </a:fld>
            <a:endParaRPr lang="en-US"/>
          </a:p>
        </p:txBody>
      </p:sp>
      <p:sp>
        <p:nvSpPr>
          <p:cNvPr id="6" name="TextBox 5">
            <a:extLst>
              <a:ext uri="{FF2B5EF4-FFF2-40B4-BE49-F238E27FC236}">
                <a16:creationId xmlns:a16="http://schemas.microsoft.com/office/drawing/2014/main" id="{1F92AA00-92A0-B982-370C-2E70BDFCB54F}"/>
              </a:ext>
            </a:extLst>
          </p:cNvPr>
          <p:cNvSpPr txBox="1"/>
          <p:nvPr/>
        </p:nvSpPr>
        <p:spPr>
          <a:xfrm>
            <a:off x="561109" y="1479222"/>
            <a:ext cx="6220690" cy="461665"/>
          </a:xfrm>
          <a:prstGeom prst="rect">
            <a:avLst/>
          </a:prstGeom>
          <a:noFill/>
        </p:spPr>
        <p:txBody>
          <a:bodyPr wrap="square">
            <a:spAutoFit/>
          </a:bodyPr>
          <a:lstStyle/>
          <a:p>
            <a:pPr rtl="0" fontAlgn="t">
              <a:buNone/>
            </a:pPr>
            <a:r>
              <a:rPr lang="en-GB" sz="2400" u="none" strike="noStrike" dirty="0">
                <a:effectLst/>
              </a:rPr>
              <a:t>1. Have you ever had an advocacy role?</a:t>
            </a:r>
            <a:endParaRPr lang="en-GB" sz="2400" dirty="0">
              <a:effectLst/>
            </a:endParaRPr>
          </a:p>
        </p:txBody>
      </p:sp>
      <p:sp>
        <p:nvSpPr>
          <p:cNvPr id="22" name="TextBox 21">
            <a:extLst>
              <a:ext uri="{FF2B5EF4-FFF2-40B4-BE49-F238E27FC236}">
                <a16:creationId xmlns:a16="http://schemas.microsoft.com/office/drawing/2014/main" id="{95E536B4-4496-2975-8B38-A48D84CE033D}"/>
              </a:ext>
            </a:extLst>
          </p:cNvPr>
          <p:cNvSpPr txBox="1"/>
          <p:nvPr/>
        </p:nvSpPr>
        <p:spPr>
          <a:xfrm>
            <a:off x="690234" y="4032256"/>
            <a:ext cx="9926782" cy="830997"/>
          </a:xfrm>
          <a:prstGeom prst="rect">
            <a:avLst/>
          </a:prstGeom>
          <a:noFill/>
        </p:spPr>
        <p:txBody>
          <a:bodyPr wrap="square">
            <a:spAutoFit/>
          </a:bodyPr>
          <a:lstStyle/>
          <a:p>
            <a:r>
              <a:rPr lang="en-US" sz="2400" dirty="0"/>
              <a:t>3. recognize how different elements of the working environment influences how you lead?</a:t>
            </a:r>
          </a:p>
        </p:txBody>
      </p:sp>
      <p:sp>
        <p:nvSpPr>
          <p:cNvPr id="23" name="TextBox 22">
            <a:extLst>
              <a:ext uri="{FF2B5EF4-FFF2-40B4-BE49-F238E27FC236}">
                <a16:creationId xmlns:a16="http://schemas.microsoft.com/office/drawing/2014/main" id="{778EEAD5-5529-7088-00B3-A040A3B6FBDF}"/>
              </a:ext>
            </a:extLst>
          </p:cNvPr>
          <p:cNvSpPr txBox="1"/>
          <p:nvPr/>
        </p:nvSpPr>
        <p:spPr>
          <a:xfrm>
            <a:off x="709910" y="2250780"/>
            <a:ext cx="5386090" cy="830997"/>
          </a:xfrm>
          <a:prstGeom prst="rect">
            <a:avLst/>
          </a:prstGeom>
          <a:noFill/>
        </p:spPr>
        <p:txBody>
          <a:bodyPr wrap="none" rtlCol="0">
            <a:spAutoFit/>
          </a:bodyPr>
          <a:lstStyle/>
          <a:p>
            <a:r>
              <a:rPr lang="en-US" sz="2400" dirty="0"/>
              <a:t>How confident are you in your ability to:</a:t>
            </a:r>
          </a:p>
          <a:p>
            <a:r>
              <a:rPr lang="en-US" sz="2400" dirty="0"/>
              <a:t> </a:t>
            </a:r>
          </a:p>
        </p:txBody>
      </p:sp>
      <p:sp>
        <p:nvSpPr>
          <p:cNvPr id="24" name="TextBox 23">
            <a:extLst>
              <a:ext uri="{FF2B5EF4-FFF2-40B4-BE49-F238E27FC236}">
                <a16:creationId xmlns:a16="http://schemas.microsoft.com/office/drawing/2014/main" id="{952E9CB1-F492-6032-9CD2-39F3EAC48D7F}"/>
              </a:ext>
            </a:extLst>
          </p:cNvPr>
          <p:cNvSpPr txBox="1"/>
          <p:nvPr/>
        </p:nvSpPr>
        <p:spPr>
          <a:xfrm>
            <a:off x="709910" y="2712445"/>
            <a:ext cx="9165009" cy="369332"/>
          </a:xfrm>
          <a:prstGeom prst="rect">
            <a:avLst/>
          </a:prstGeom>
          <a:noFill/>
        </p:spPr>
        <p:txBody>
          <a:bodyPr wrap="none" rtlCol="0">
            <a:spAutoFit/>
          </a:bodyPr>
          <a:lstStyle/>
          <a:p>
            <a:r>
              <a:rPr lang="en-US" i="1" dirty="0"/>
              <a:t>0 = not confident at all, 1 = mostly not confident, 2 = somewhat confident, 3 = very confident</a:t>
            </a:r>
          </a:p>
        </p:txBody>
      </p:sp>
      <p:sp>
        <p:nvSpPr>
          <p:cNvPr id="27" name="TextBox 26">
            <a:extLst>
              <a:ext uri="{FF2B5EF4-FFF2-40B4-BE49-F238E27FC236}">
                <a16:creationId xmlns:a16="http://schemas.microsoft.com/office/drawing/2014/main" id="{086EAE64-28D3-7E7C-C7B0-EA9D9C245B50}"/>
              </a:ext>
            </a:extLst>
          </p:cNvPr>
          <p:cNvSpPr txBox="1"/>
          <p:nvPr/>
        </p:nvSpPr>
        <p:spPr>
          <a:xfrm>
            <a:off x="690234" y="3360668"/>
            <a:ext cx="6220690" cy="461665"/>
          </a:xfrm>
          <a:prstGeom prst="rect">
            <a:avLst/>
          </a:prstGeom>
          <a:noFill/>
        </p:spPr>
        <p:txBody>
          <a:bodyPr wrap="square">
            <a:spAutoFit/>
          </a:bodyPr>
          <a:lstStyle/>
          <a:p>
            <a:r>
              <a:rPr lang="en-US" sz="2400" dirty="0"/>
              <a:t>2. identify my own leadership values?</a:t>
            </a:r>
            <a:endParaRPr lang="en-US" dirty="0"/>
          </a:p>
        </p:txBody>
      </p:sp>
    </p:spTree>
    <p:extLst>
      <p:ext uri="{BB962C8B-B14F-4D97-AF65-F5344CB8AC3E}">
        <p14:creationId xmlns:p14="http://schemas.microsoft.com/office/powerpoint/2010/main" val="4280696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1F0FE-F7C0-AD08-31AB-6D1F67186A8E}"/>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B7ECE5DF-9B7A-93EF-7B3A-4FA86AFD77CF}"/>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68169214-DA05-B2BB-3961-109EFB3C81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37DB5C12-0877-61CD-2786-9A69AD1E223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2" name="TextBox 11">
            <a:extLst>
              <a:ext uri="{FF2B5EF4-FFF2-40B4-BE49-F238E27FC236}">
                <a16:creationId xmlns:a16="http://schemas.microsoft.com/office/drawing/2014/main" id="{F2E7BA89-5FE9-D8D9-3FBF-0AEBD0EBEEEA}"/>
              </a:ext>
            </a:extLst>
          </p:cNvPr>
          <p:cNvSpPr txBox="1"/>
          <p:nvPr/>
        </p:nvSpPr>
        <p:spPr>
          <a:xfrm>
            <a:off x="899886" y="1493690"/>
            <a:ext cx="7222836" cy="830997"/>
          </a:xfrm>
          <a:prstGeom prst="rect">
            <a:avLst/>
          </a:prstGeom>
          <a:noFill/>
        </p:spPr>
        <p:txBody>
          <a:bodyPr wrap="square">
            <a:spAutoFit/>
          </a:bodyPr>
          <a:lstStyle/>
          <a:p>
            <a:r>
              <a:rPr lang="en-GB" sz="2400" b="1" i="0" u="none" strike="noStrike" dirty="0">
                <a:solidFill>
                  <a:srgbClr val="000000"/>
                </a:solidFill>
                <a:effectLst/>
                <a:latin typeface="Calibri" panose="020F0502020204030204" pitchFamily="34" charset="0"/>
              </a:rPr>
              <a:t>Identify </a:t>
            </a:r>
            <a:r>
              <a:rPr lang="en-GB" sz="2400" b="0" i="0" u="none" strike="noStrike" dirty="0">
                <a:solidFill>
                  <a:srgbClr val="000000"/>
                </a:solidFill>
                <a:effectLst/>
                <a:latin typeface="Calibri" panose="020F0502020204030204" pitchFamily="34" charset="0"/>
              </a:rPr>
              <a:t>and</a:t>
            </a:r>
            <a:r>
              <a:rPr lang="en-GB" sz="2400" b="1" i="0" u="none" strike="noStrike" dirty="0">
                <a:solidFill>
                  <a:srgbClr val="000000"/>
                </a:solidFill>
                <a:effectLst/>
                <a:latin typeface="Calibri" panose="020F0502020204030204" pitchFamily="34" charset="0"/>
              </a:rPr>
              <a:t> describe </a:t>
            </a:r>
            <a:r>
              <a:rPr lang="en-GB" sz="2400" b="0" i="0" u="none" strike="noStrike" dirty="0">
                <a:solidFill>
                  <a:srgbClr val="000000"/>
                </a:solidFill>
                <a:effectLst/>
                <a:latin typeface="Calibri" panose="020F0502020204030204" pitchFamily="34" charset="0"/>
              </a:rPr>
              <a:t>key effective leadership qualities to build on existing knowledge and experiences</a:t>
            </a:r>
            <a:endParaRPr lang="en-US" sz="2400" dirty="0"/>
          </a:p>
        </p:txBody>
      </p:sp>
      <p:sp>
        <p:nvSpPr>
          <p:cNvPr id="14" name="TextBox 13">
            <a:extLst>
              <a:ext uri="{FF2B5EF4-FFF2-40B4-BE49-F238E27FC236}">
                <a16:creationId xmlns:a16="http://schemas.microsoft.com/office/drawing/2014/main" id="{0E5E522F-D340-EDC3-3A44-3213F6071004}"/>
              </a:ext>
            </a:extLst>
          </p:cNvPr>
          <p:cNvSpPr txBox="1"/>
          <p:nvPr/>
        </p:nvSpPr>
        <p:spPr>
          <a:xfrm>
            <a:off x="899885" y="3529439"/>
            <a:ext cx="7222835" cy="1200329"/>
          </a:xfrm>
          <a:prstGeom prst="rect">
            <a:avLst/>
          </a:prstGeom>
          <a:noFill/>
        </p:spPr>
        <p:txBody>
          <a:bodyPr wrap="square">
            <a:spAutoFit/>
          </a:bodyPr>
          <a:lstStyle/>
          <a:p>
            <a:r>
              <a:rPr lang="en-GB" sz="2400" b="1" i="0" u="none" strike="noStrike" dirty="0">
                <a:solidFill>
                  <a:srgbClr val="000000"/>
                </a:solidFill>
                <a:effectLst/>
                <a:latin typeface="Calibri" panose="020F0502020204030204" pitchFamily="34" charset="0"/>
              </a:rPr>
              <a:t>Recognize </a:t>
            </a:r>
            <a:r>
              <a:rPr lang="en-GB" sz="2400" b="0" i="0" u="none" strike="noStrike" dirty="0">
                <a:solidFill>
                  <a:srgbClr val="000000"/>
                </a:solidFill>
                <a:effectLst/>
                <a:latin typeface="Calibri" panose="020F0502020204030204" pitchFamily="34" charset="0"/>
              </a:rPr>
              <a:t>where values of effective leadership and Open Science overlap to strengthen your capacity as leaders in Open Science </a:t>
            </a:r>
            <a:endParaRPr lang="en-US" sz="2400" dirty="0"/>
          </a:p>
        </p:txBody>
      </p:sp>
      <p:sp>
        <p:nvSpPr>
          <p:cNvPr id="15" name="Title 1">
            <a:extLst>
              <a:ext uri="{FF2B5EF4-FFF2-40B4-BE49-F238E27FC236}">
                <a16:creationId xmlns:a16="http://schemas.microsoft.com/office/drawing/2014/main" id="{81427964-812F-9288-38AE-D9B215EA38CE}"/>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Session goals</a:t>
            </a:r>
          </a:p>
        </p:txBody>
      </p:sp>
      <p:sp>
        <p:nvSpPr>
          <p:cNvPr id="16" name="TextBox 15">
            <a:extLst>
              <a:ext uri="{FF2B5EF4-FFF2-40B4-BE49-F238E27FC236}">
                <a16:creationId xmlns:a16="http://schemas.microsoft.com/office/drawing/2014/main" id="{16CC2DFC-6C18-E3FB-0CE6-B1B5132ABAFA}"/>
              </a:ext>
            </a:extLst>
          </p:cNvPr>
          <p:cNvSpPr txBox="1"/>
          <p:nvPr/>
        </p:nvSpPr>
        <p:spPr>
          <a:xfrm>
            <a:off x="899886" y="2538284"/>
            <a:ext cx="6096000" cy="830997"/>
          </a:xfrm>
          <a:prstGeom prst="rect">
            <a:avLst/>
          </a:prstGeom>
          <a:noFill/>
        </p:spPr>
        <p:txBody>
          <a:bodyPr wrap="square">
            <a:spAutoFit/>
          </a:bodyPr>
          <a:lstStyle/>
          <a:p>
            <a:r>
              <a:rPr lang="en-GB" sz="2400" b="1" i="0" u="none" strike="noStrike" dirty="0">
                <a:solidFill>
                  <a:srgbClr val="000000"/>
                </a:solidFill>
                <a:effectLst/>
                <a:latin typeface="Calibri" panose="020F0502020204030204" pitchFamily="34" charset="0"/>
              </a:rPr>
              <a:t>Identify </a:t>
            </a:r>
            <a:r>
              <a:rPr lang="en-GB" sz="2400" b="0" i="0" u="none" strike="noStrike" dirty="0">
                <a:solidFill>
                  <a:srgbClr val="000000"/>
                </a:solidFill>
                <a:effectLst/>
                <a:latin typeface="Calibri" panose="020F0502020204030204" pitchFamily="34" charset="0"/>
              </a:rPr>
              <a:t>own leadership values which you can adopt in your leadership contexts</a:t>
            </a:r>
            <a:endParaRPr lang="en-US" sz="2400" dirty="0"/>
          </a:p>
        </p:txBody>
      </p:sp>
      <p:sp>
        <p:nvSpPr>
          <p:cNvPr id="2" name="Slide Number Placeholder 1">
            <a:extLst>
              <a:ext uri="{FF2B5EF4-FFF2-40B4-BE49-F238E27FC236}">
                <a16:creationId xmlns:a16="http://schemas.microsoft.com/office/drawing/2014/main" id="{F327F066-0ECF-AF3C-1D67-5323C63AEFD5}"/>
              </a:ext>
            </a:extLst>
          </p:cNvPr>
          <p:cNvSpPr>
            <a:spLocks noGrp="1"/>
          </p:cNvSpPr>
          <p:nvPr>
            <p:ph type="sldNum" sz="quarter" idx="12"/>
          </p:nvPr>
        </p:nvSpPr>
        <p:spPr/>
        <p:txBody>
          <a:bodyPr/>
          <a:lstStyle/>
          <a:p>
            <a:fld id="{D292B180-B274-DE43-B36F-C827C7616C05}" type="slidenum">
              <a:rPr lang="en-US" smtClean="0"/>
              <a:t>4</a:t>
            </a:fld>
            <a:endParaRPr lang="en-US"/>
          </a:p>
        </p:txBody>
      </p:sp>
      <p:sp>
        <p:nvSpPr>
          <p:cNvPr id="13" name="TextBox 12">
            <a:extLst>
              <a:ext uri="{FF2B5EF4-FFF2-40B4-BE49-F238E27FC236}">
                <a16:creationId xmlns:a16="http://schemas.microsoft.com/office/drawing/2014/main" id="{AE75EB05-21CE-5DCD-9D53-08C1FE716CE7}"/>
              </a:ext>
            </a:extLst>
          </p:cNvPr>
          <p:cNvSpPr txBox="1"/>
          <p:nvPr/>
        </p:nvSpPr>
        <p:spPr>
          <a:xfrm>
            <a:off x="899885" y="4948811"/>
            <a:ext cx="7129812" cy="830997"/>
          </a:xfrm>
          <a:prstGeom prst="rect">
            <a:avLst/>
          </a:prstGeom>
          <a:noFill/>
        </p:spPr>
        <p:txBody>
          <a:bodyPr wrap="square">
            <a:spAutoFit/>
          </a:bodyPr>
          <a:lstStyle/>
          <a:p>
            <a:r>
              <a:rPr lang="en-GB" sz="2400" b="1" i="0" u="none" strike="noStrike" dirty="0">
                <a:solidFill>
                  <a:srgbClr val="000000"/>
                </a:solidFill>
                <a:effectLst/>
                <a:latin typeface="Calibri" panose="020F0502020204030204" pitchFamily="34" charset="0"/>
              </a:rPr>
              <a:t>Examine </a:t>
            </a:r>
            <a:r>
              <a:rPr lang="en-GB" sz="2400" i="0" u="none" strike="noStrike" dirty="0">
                <a:solidFill>
                  <a:srgbClr val="000000"/>
                </a:solidFill>
                <a:effectLst/>
                <a:latin typeface="Calibri" panose="020F0502020204030204" pitchFamily="34" charset="0"/>
              </a:rPr>
              <a:t>how social </a:t>
            </a:r>
            <a:r>
              <a:rPr lang="en-GB" sz="2400" dirty="0">
                <a:solidFill>
                  <a:srgbClr val="000000"/>
                </a:solidFill>
                <a:latin typeface="Calibri" panose="020F0502020204030204" pitchFamily="34" charset="0"/>
              </a:rPr>
              <a:t>context influences leadership and </a:t>
            </a:r>
            <a:r>
              <a:rPr lang="en-GB" sz="2400" i="0" u="none" strike="noStrike" dirty="0">
                <a:solidFill>
                  <a:srgbClr val="000000"/>
                </a:solidFill>
                <a:effectLst/>
                <a:latin typeface="Calibri" panose="020F0502020204030204" pitchFamily="34" charset="0"/>
              </a:rPr>
              <a:t>open research culture </a:t>
            </a:r>
            <a:endParaRPr lang="en-US" sz="2400" dirty="0"/>
          </a:p>
        </p:txBody>
      </p:sp>
      <p:pic>
        <p:nvPicPr>
          <p:cNvPr id="18" name="Graphic 17" descr="Bullseye with solid fill">
            <a:extLst>
              <a:ext uri="{FF2B5EF4-FFF2-40B4-BE49-F238E27FC236}">
                <a16:creationId xmlns:a16="http://schemas.microsoft.com/office/drawing/2014/main" id="{FE1F01F2-8D31-D203-3B50-DCFBA222CA3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433460" y="1909189"/>
            <a:ext cx="2743200" cy="2743200"/>
          </a:xfrm>
          <a:prstGeom prst="rect">
            <a:avLst/>
          </a:prstGeom>
        </p:spPr>
      </p:pic>
    </p:spTree>
    <p:extLst>
      <p:ext uri="{BB962C8B-B14F-4D97-AF65-F5344CB8AC3E}">
        <p14:creationId xmlns:p14="http://schemas.microsoft.com/office/powerpoint/2010/main" val="1781199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3EE15182-455C-A356-999A-0A14FA8FB3B9}"/>
              </a:ext>
            </a:extLst>
          </p:cNvPr>
          <p:cNvGrpSpPr/>
          <p:nvPr/>
        </p:nvGrpSpPr>
        <p:grpSpPr>
          <a:xfrm>
            <a:off x="10740474" y="6564312"/>
            <a:ext cx="1362075" cy="273690"/>
            <a:chOff x="19317" y="2690018"/>
            <a:chExt cx="11784755" cy="2025180"/>
          </a:xfrm>
        </p:grpSpPr>
        <p:pic>
          <p:nvPicPr>
            <p:cNvPr id="6" name="Picture 2">
              <a:extLst>
                <a:ext uri="{FF2B5EF4-FFF2-40B4-BE49-F238E27FC236}">
                  <a16:creationId xmlns:a16="http://schemas.microsoft.com/office/drawing/2014/main" id="{5F4AB18C-479C-D6AA-4160-A18E02D10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9FD2E6A-746C-5EC1-B693-0ABE7FC4A21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E6E4B7A5-09F4-F068-D20D-76628A67D132}"/>
              </a:ext>
            </a:extLst>
          </p:cNvPr>
          <p:cNvSpPr>
            <a:spLocks noGrp="1"/>
          </p:cNvSpPr>
          <p:nvPr>
            <p:ph type="title"/>
          </p:nvPr>
        </p:nvSpPr>
        <p:spPr>
          <a:xfrm>
            <a:off x="0" y="18255"/>
            <a:ext cx="12192000" cy="1325563"/>
          </a:xfrm>
        </p:spPr>
        <p:txBody>
          <a:bodyPr/>
          <a:lstStyle/>
          <a:p>
            <a:br>
              <a:rPr lang="en-GB" dirty="0">
                <a:effectLst/>
              </a:rPr>
            </a:br>
            <a:endParaRPr lang="en-US" dirty="0"/>
          </a:p>
        </p:txBody>
      </p:sp>
      <p:sp>
        <p:nvSpPr>
          <p:cNvPr id="5" name="Slide Number Placeholder 4">
            <a:extLst>
              <a:ext uri="{FF2B5EF4-FFF2-40B4-BE49-F238E27FC236}">
                <a16:creationId xmlns:a16="http://schemas.microsoft.com/office/drawing/2014/main" id="{69090944-DCD9-91EB-F989-FCFBDDA39ADB}"/>
              </a:ext>
            </a:extLst>
          </p:cNvPr>
          <p:cNvSpPr>
            <a:spLocks noGrp="1"/>
          </p:cNvSpPr>
          <p:nvPr>
            <p:ph type="sldNum" sz="quarter" idx="12"/>
          </p:nvPr>
        </p:nvSpPr>
        <p:spPr/>
        <p:txBody>
          <a:bodyPr/>
          <a:lstStyle/>
          <a:p>
            <a:fld id="{B2E83C71-914F-2146-ACA4-0A84C725671A}" type="slidenum">
              <a:rPr lang="en-US" smtClean="0"/>
              <a:t>5</a:t>
            </a:fld>
            <a:endParaRPr lang="en-US"/>
          </a:p>
        </p:txBody>
      </p:sp>
      <p:sp>
        <p:nvSpPr>
          <p:cNvPr id="7" name="TextBox 6">
            <a:extLst>
              <a:ext uri="{FF2B5EF4-FFF2-40B4-BE49-F238E27FC236}">
                <a16:creationId xmlns:a16="http://schemas.microsoft.com/office/drawing/2014/main" id="{B2365CA0-8B80-D460-B2BB-FECD4222FA88}"/>
              </a:ext>
            </a:extLst>
          </p:cNvPr>
          <p:cNvSpPr txBox="1"/>
          <p:nvPr/>
        </p:nvSpPr>
        <p:spPr>
          <a:xfrm>
            <a:off x="228601" y="1455108"/>
            <a:ext cx="11572538" cy="1569660"/>
          </a:xfrm>
          <a:prstGeom prst="rect">
            <a:avLst/>
          </a:prstGeom>
          <a:noFill/>
        </p:spPr>
        <p:txBody>
          <a:bodyPr wrap="square">
            <a:spAutoFit/>
          </a:bodyPr>
          <a:lstStyle/>
          <a:p>
            <a:pPr marL="0" indent="0">
              <a:buNone/>
            </a:pPr>
            <a:r>
              <a:rPr lang="en-GB" sz="3200" dirty="0"/>
              <a:t>From: </a:t>
            </a:r>
          </a:p>
          <a:p>
            <a:r>
              <a:rPr lang="en-GB" sz="3200" dirty="0"/>
              <a:t>“I am not sure what the key aspects of effective leadership are or how to incorporate them into my context”</a:t>
            </a:r>
            <a:endParaRPr lang="en-GB" sz="3200" dirty="0">
              <a:effectLst/>
            </a:endParaRPr>
          </a:p>
        </p:txBody>
      </p:sp>
      <p:sp>
        <p:nvSpPr>
          <p:cNvPr id="9" name="TextBox 8">
            <a:extLst>
              <a:ext uri="{FF2B5EF4-FFF2-40B4-BE49-F238E27FC236}">
                <a16:creationId xmlns:a16="http://schemas.microsoft.com/office/drawing/2014/main" id="{C42A3284-5A12-0C78-3928-63DCAC6CD504}"/>
              </a:ext>
            </a:extLst>
          </p:cNvPr>
          <p:cNvSpPr txBox="1"/>
          <p:nvPr/>
        </p:nvSpPr>
        <p:spPr>
          <a:xfrm>
            <a:off x="2161309" y="3898378"/>
            <a:ext cx="9789540" cy="2062103"/>
          </a:xfrm>
          <a:prstGeom prst="rect">
            <a:avLst/>
          </a:prstGeom>
          <a:noFill/>
        </p:spPr>
        <p:txBody>
          <a:bodyPr wrap="square">
            <a:spAutoFit/>
          </a:bodyPr>
          <a:lstStyle/>
          <a:p>
            <a:pPr marL="0" indent="0">
              <a:buNone/>
            </a:pPr>
            <a:r>
              <a:rPr lang="en-GB" sz="3200" dirty="0"/>
              <a:t>to…</a:t>
            </a:r>
          </a:p>
          <a:p>
            <a:r>
              <a:rPr lang="en-GB" sz="3200" dirty="0"/>
              <a:t>“I feel I can critically evaluate my own leadership values and skills and feel empowered to adopt effective leadership practices in my context”</a:t>
            </a:r>
            <a:endParaRPr lang="en-GB" sz="3200" dirty="0">
              <a:effectLst/>
            </a:endParaRPr>
          </a:p>
        </p:txBody>
      </p:sp>
      <p:pic>
        <p:nvPicPr>
          <p:cNvPr id="17" name="Graphic 16" descr="Route (Two Pins With A Path) outline">
            <a:extLst>
              <a:ext uri="{FF2B5EF4-FFF2-40B4-BE49-F238E27FC236}">
                <a16:creationId xmlns:a16="http://schemas.microsoft.com/office/drawing/2014/main" id="{BE2009CF-CEF6-9FDC-F660-D4C3BC37D85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41151" y="3024768"/>
            <a:ext cx="1972067" cy="1972067"/>
          </a:xfrm>
          <a:prstGeom prst="rect">
            <a:avLst/>
          </a:prstGeom>
        </p:spPr>
      </p:pic>
      <p:sp>
        <p:nvSpPr>
          <p:cNvPr id="3" name="Title 1">
            <a:extLst>
              <a:ext uri="{FF2B5EF4-FFF2-40B4-BE49-F238E27FC236}">
                <a16:creationId xmlns:a16="http://schemas.microsoft.com/office/drawing/2014/main" id="{FE6CA23E-E0B2-D9FD-40CD-895741A9E37D}"/>
              </a:ext>
            </a:extLst>
          </p:cNvPr>
          <p:cNvSpPr txBox="1">
            <a:spLocks/>
          </p:cNvSpPr>
          <p:nvPr/>
        </p:nvSpPr>
        <p:spPr>
          <a:xfrm>
            <a:off x="0" y="-98694"/>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b="1" dirty="0"/>
              <a:t>Leadership in Open Science journey: </a:t>
            </a:r>
            <a:endParaRPr lang="en-US" b="1" dirty="0"/>
          </a:p>
        </p:txBody>
      </p:sp>
    </p:spTree>
    <p:extLst>
      <p:ext uri="{BB962C8B-B14F-4D97-AF65-F5344CB8AC3E}">
        <p14:creationId xmlns:p14="http://schemas.microsoft.com/office/powerpoint/2010/main" val="40697922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476DD-B403-B213-F857-59A57FB076AD}"/>
            </a:ext>
          </a:extLst>
        </p:cNvPr>
        <p:cNvGrpSpPr/>
        <p:nvPr/>
      </p:nvGrpSpPr>
      <p:grpSpPr>
        <a:xfrm>
          <a:off x="0" y="0"/>
          <a:ext cx="0" cy="0"/>
          <a:chOff x="0" y="0"/>
          <a:chExt cx="0" cy="0"/>
        </a:xfrm>
      </p:grpSpPr>
      <p:grpSp>
        <p:nvGrpSpPr>
          <p:cNvPr id="5" name="Group 4">
            <a:extLst>
              <a:ext uri="{FF2B5EF4-FFF2-40B4-BE49-F238E27FC236}">
                <a16:creationId xmlns:a16="http://schemas.microsoft.com/office/drawing/2014/main" id="{BC873304-B5BA-1825-68FF-DDE87EDFC945}"/>
              </a:ext>
            </a:extLst>
          </p:cNvPr>
          <p:cNvGrpSpPr/>
          <p:nvPr/>
        </p:nvGrpSpPr>
        <p:grpSpPr>
          <a:xfrm>
            <a:off x="10704849" y="6564312"/>
            <a:ext cx="1362075" cy="273690"/>
            <a:chOff x="19317" y="2690018"/>
            <a:chExt cx="11784755" cy="2025180"/>
          </a:xfrm>
        </p:grpSpPr>
        <p:pic>
          <p:nvPicPr>
            <p:cNvPr id="6" name="Picture 2">
              <a:extLst>
                <a:ext uri="{FF2B5EF4-FFF2-40B4-BE49-F238E27FC236}">
                  <a16:creationId xmlns:a16="http://schemas.microsoft.com/office/drawing/2014/main" id="{05991EF8-A0E4-FE22-00C8-268D00F0A2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6596E775-5019-2B60-DD4A-0E99F664F0C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026C59A3-CA28-EC7B-7487-4873E428796D}"/>
              </a:ext>
            </a:extLst>
          </p:cNvPr>
          <p:cNvSpPr>
            <a:spLocks noGrp="1"/>
          </p:cNvSpPr>
          <p:nvPr>
            <p:ph type="title"/>
          </p:nvPr>
        </p:nvSpPr>
        <p:spPr>
          <a:xfrm>
            <a:off x="0" y="18256"/>
            <a:ext cx="12192000" cy="1142888"/>
          </a:xfrm>
        </p:spPr>
        <p:txBody>
          <a:bodyPr/>
          <a:lstStyle/>
          <a:p>
            <a:r>
              <a:rPr lang="en-US" b="1" dirty="0"/>
              <a:t>Zooming out</a:t>
            </a:r>
          </a:p>
        </p:txBody>
      </p:sp>
      <p:sp>
        <p:nvSpPr>
          <p:cNvPr id="4" name="Slide Number Placeholder 3">
            <a:extLst>
              <a:ext uri="{FF2B5EF4-FFF2-40B4-BE49-F238E27FC236}">
                <a16:creationId xmlns:a16="http://schemas.microsoft.com/office/drawing/2014/main" id="{7D4E84D4-6827-FB82-CEED-EB32BF5E2758}"/>
              </a:ext>
            </a:extLst>
          </p:cNvPr>
          <p:cNvSpPr>
            <a:spLocks noGrp="1"/>
          </p:cNvSpPr>
          <p:nvPr>
            <p:ph type="sldNum" sz="quarter" idx="12"/>
          </p:nvPr>
        </p:nvSpPr>
        <p:spPr/>
        <p:txBody>
          <a:bodyPr/>
          <a:lstStyle/>
          <a:p>
            <a:fld id="{01E105D4-D357-B14D-804D-1EE3D58285EA}" type="slidenum">
              <a:rPr lang="en-US" smtClean="0"/>
              <a:t>6</a:t>
            </a:fld>
            <a:endParaRPr lang="en-US"/>
          </a:p>
        </p:txBody>
      </p:sp>
      <p:pic>
        <p:nvPicPr>
          <p:cNvPr id="8" name="Graphic 7" descr="Pinch Zoom In with solid fill">
            <a:extLst>
              <a:ext uri="{FF2B5EF4-FFF2-40B4-BE49-F238E27FC236}">
                <a16:creationId xmlns:a16="http://schemas.microsoft.com/office/drawing/2014/main" id="{A000B6DD-2CEA-07CD-C9A0-72126B306D9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6543" y="2119803"/>
            <a:ext cx="3984171" cy="3984171"/>
          </a:xfrm>
          <a:prstGeom prst="rect">
            <a:avLst/>
          </a:prstGeom>
        </p:spPr>
      </p:pic>
      <p:sp>
        <p:nvSpPr>
          <p:cNvPr id="9" name="TextBox 8">
            <a:extLst>
              <a:ext uri="{FF2B5EF4-FFF2-40B4-BE49-F238E27FC236}">
                <a16:creationId xmlns:a16="http://schemas.microsoft.com/office/drawing/2014/main" id="{5876376E-3135-61A9-5C77-279868E0B55D}"/>
              </a:ext>
            </a:extLst>
          </p:cNvPr>
          <p:cNvSpPr txBox="1"/>
          <p:nvPr/>
        </p:nvSpPr>
        <p:spPr>
          <a:xfrm>
            <a:off x="185056" y="976915"/>
            <a:ext cx="10918373" cy="830997"/>
          </a:xfrm>
          <a:prstGeom prst="rect">
            <a:avLst/>
          </a:prstGeom>
          <a:noFill/>
        </p:spPr>
        <p:txBody>
          <a:bodyPr wrap="square" rtlCol="0">
            <a:spAutoFit/>
          </a:bodyPr>
          <a:lstStyle/>
          <a:p>
            <a:r>
              <a:rPr lang="en-US" sz="2400" dirty="0"/>
              <a:t>Thinking about the </a:t>
            </a:r>
            <a:r>
              <a:rPr lang="en-US" sz="2400" b="1" dirty="0"/>
              <a:t>wider context </a:t>
            </a:r>
            <a:r>
              <a:rPr lang="en-US" sz="2400" dirty="0"/>
              <a:t>of leadership in Open Science workshop in </a:t>
            </a:r>
            <a:r>
              <a:rPr lang="en-US" sz="2400" b="1" dirty="0"/>
              <a:t>industry</a:t>
            </a:r>
            <a:r>
              <a:rPr lang="en-US" sz="2400" dirty="0"/>
              <a:t> and </a:t>
            </a:r>
            <a:r>
              <a:rPr lang="en-US" sz="2400" b="1" dirty="0"/>
              <a:t>policy.</a:t>
            </a:r>
          </a:p>
        </p:txBody>
      </p:sp>
    </p:spTree>
    <p:extLst>
      <p:ext uri="{BB962C8B-B14F-4D97-AF65-F5344CB8AC3E}">
        <p14:creationId xmlns:p14="http://schemas.microsoft.com/office/powerpoint/2010/main" val="19007193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E00ED2-53CB-6DBF-168E-2108BA6D96DA}"/>
            </a:ext>
          </a:extLst>
        </p:cNvPr>
        <p:cNvGrpSpPr/>
        <p:nvPr/>
      </p:nvGrpSpPr>
      <p:grpSpPr>
        <a:xfrm>
          <a:off x="0" y="0"/>
          <a:ext cx="0" cy="0"/>
          <a:chOff x="0" y="0"/>
          <a:chExt cx="0" cy="0"/>
        </a:xfrm>
      </p:grpSpPr>
      <p:grpSp>
        <p:nvGrpSpPr>
          <p:cNvPr id="19" name="Group 18">
            <a:extLst>
              <a:ext uri="{FF2B5EF4-FFF2-40B4-BE49-F238E27FC236}">
                <a16:creationId xmlns:a16="http://schemas.microsoft.com/office/drawing/2014/main" id="{7A54D63A-B5CE-A026-96D4-AC68B2C440EB}"/>
              </a:ext>
            </a:extLst>
          </p:cNvPr>
          <p:cNvGrpSpPr/>
          <p:nvPr/>
        </p:nvGrpSpPr>
        <p:grpSpPr>
          <a:xfrm>
            <a:off x="10704849" y="6564312"/>
            <a:ext cx="1362075" cy="273690"/>
            <a:chOff x="19317" y="2690018"/>
            <a:chExt cx="11784755" cy="2025180"/>
          </a:xfrm>
        </p:grpSpPr>
        <p:pic>
          <p:nvPicPr>
            <p:cNvPr id="21" name="Picture 20">
              <a:extLst>
                <a:ext uri="{FF2B5EF4-FFF2-40B4-BE49-F238E27FC236}">
                  <a16:creationId xmlns:a16="http://schemas.microsoft.com/office/drawing/2014/main" id="{DB2EC19E-2F06-51BA-4B6E-107CBCBD7AE2}"/>
                </a:ext>
              </a:extLst>
            </p:cNvPr>
            <p:cNvPicPr>
              <a:picLocks noGrp="1" noRot="1" noChangeAspect="1" noMove="1" noResize="1" noEditPoints="1" noAdjustHandles="1" noChangeArrowheads="1" noChangeShapeType="1" noCrop="1"/>
            </p:cNvPicPr>
            <p:nvPr/>
          </p:nvPicPr>
          <p:blipFill>
            <a:blip r:embed="rId3"/>
            <a:stretch>
              <a:fillRect/>
            </a:stretch>
          </p:blipFill>
          <p:spPr>
            <a:xfrm>
              <a:off x="5728531" y="2690018"/>
              <a:ext cx="6075541" cy="2025180"/>
            </a:xfrm>
            <a:prstGeom prst="rect">
              <a:avLst/>
            </a:prstGeom>
          </p:spPr>
        </p:pic>
        <p:pic>
          <p:nvPicPr>
            <p:cNvPr id="20" name="Picture 2">
              <a:extLst>
                <a:ext uri="{FF2B5EF4-FFF2-40B4-BE49-F238E27FC236}">
                  <a16:creationId xmlns:a16="http://schemas.microsoft.com/office/drawing/2014/main" id="{BBFFAD10-816F-81E9-1530-672C3845BAD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grpSp>
      <p:sp>
        <p:nvSpPr>
          <p:cNvPr id="2" name="Title 1">
            <a:extLst>
              <a:ext uri="{FF2B5EF4-FFF2-40B4-BE49-F238E27FC236}">
                <a16:creationId xmlns:a16="http://schemas.microsoft.com/office/drawing/2014/main" id="{01BF9EA0-ADCA-1F8E-E384-934A4A014F97}"/>
              </a:ext>
            </a:extLst>
          </p:cNvPr>
          <p:cNvSpPr>
            <a:spLocks noGrp="1"/>
          </p:cNvSpPr>
          <p:nvPr>
            <p:ph type="title"/>
          </p:nvPr>
        </p:nvSpPr>
        <p:spPr>
          <a:xfrm>
            <a:off x="0" y="-17464"/>
            <a:ext cx="12192000" cy="1325563"/>
          </a:xfrm>
        </p:spPr>
        <p:txBody>
          <a:bodyPr/>
          <a:lstStyle/>
          <a:p>
            <a:r>
              <a:rPr lang="en-US" b="1" dirty="0"/>
              <a:t>Leadership is a core skill</a:t>
            </a:r>
          </a:p>
        </p:txBody>
      </p:sp>
      <p:pic>
        <p:nvPicPr>
          <p:cNvPr id="5" name="Picture 4" descr="A graph of a number of employees&#10;&#10;AI-generated content may be incorrect.">
            <a:extLst>
              <a:ext uri="{FF2B5EF4-FFF2-40B4-BE49-F238E27FC236}">
                <a16:creationId xmlns:a16="http://schemas.microsoft.com/office/drawing/2014/main" id="{22560616-B7EF-5A1E-76B3-CDAAE6BC9264}"/>
              </a:ext>
            </a:extLst>
          </p:cNvPr>
          <p:cNvPicPr>
            <a:picLocks noChangeAspect="1"/>
          </p:cNvPicPr>
          <p:nvPr/>
        </p:nvPicPr>
        <p:blipFill>
          <a:blip r:embed="rId5"/>
          <a:stretch>
            <a:fillRect/>
          </a:stretch>
        </p:blipFill>
        <p:spPr>
          <a:xfrm>
            <a:off x="568037" y="1155699"/>
            <a:ext cx="7809923" cy="5491609"/>
          </a:xfrm>
          <a:prstGeom prst="rect">
            <a:avLst/>
          </a:prstGeom>
        </p:spPr>
      </p:pic>
      <p:sp>
        <p:nvSpPr>
          <p:cNvPr id="7" name="TextBox 6">
            <a:extLst>
              <a:ext uri="{FF2B5EF4-FFF2-40B4-BE49-F238E27FC236}">
                <a16:creationId xmlns:a16="http://schemas.microsoft.com/office/drawing/2014/main" id="{01F8E464-21DF-B65E-CE7D-48A51DDC97F0}"/>
              </a:ext>
            </a:extLst>
          </p:cNvPr>
          <p:cNvSpPr txBox="1"/>
          <p:nvPr/>
        </p:nvSpPr>
        <p:spPr>
          <a:xfrm>
            <a:off x="8895902" y="2866340"/>
            <a:ext cx="3311204" cy="1938992"/>
          </a:xfrm>
          <a:prstGeom prst="rect">
            <a:avLst/>
          </a:prstGeom>
          <a:noFill/>
        </p:spPr>
        <p:txBody>
          <a:bodyPr wrap="square">
            <a:spAutoFit/>
          </a:bodyPr>
          <a:lstStyle/>
          <a:p>
            <a:r>
              <a:rPr lang="en-US" sz="2400" dirty="0"/>
              <a:t>Share of employers who consider the stated skills to be </a:t>
            </a:r>
            <a:r>
              <a:rPr lang="en-US" sz="2400" b="1" dirty="0"/>
              <a:t>core skills </a:t>
            </a:r>
            <a:r>
              <a:rPr lang="en-US" sz="2400" dirty="0"/>
              <a:t>for their workforce</a:t>
            </a:r>
          </a:p>
        </p:txBody>
      </p:sp>
      <p:sp>
        <p:nvSpPr>
          <p:cNvPr id="3" name="Slide Number Placeholder 2">
            <a:extLst>
              <a:ext uri="{FF2B5EF4-FFF2-40B4-BE49-F238E27FC236}">
                <a16:creationId xmlns:a16="http://schemas.microsoft.com/office/drawing/2014/main" id="{924E236B-C039-BE0C-AE0B-9F339B5683D1}"/>
              </a:ext>
            </a:extLst>
          </p:cNvPr>
          <p:cNvSpPr>
            <a:spLocks noGrp="1"/>
          </p:cNvSpPr>
          <p:nvPr>
            <p:ph type="sldNum" sz="quarter" idx="12"/>
          </p:nvPr>
        </p:nvSpPr>
        <p:spPr/>
        <p:txBody>
          <a:bodyPr/>
          <a:lstStyle/>
          <a:p>
            <a:fld id="{01E105D4-D357-B14D-804D-1EE3D58285EA}" type="slidenum">
              <a:rPr lang="en-US" smtClean="0"/>
              <a:t>7</a:t>
            </a:fld>
            <a:endParaRPr lang="en-US" dirty="0"/>
          </a:p>
        </p:txBody>
      </p:sp>
      <p:sp>
        <p:nvSpPr>
          <p:cNvPr id="6" name="TextBox 5">
            <a:extLst>
              <a:ext uri="{FF2B5EF4-FFF2-40B4-BE49-F238E27FC236}">
                <a16:creationId xmlns:a16="http://schemas.microsoft.com/office/drawing/2014/main" id="{67109E21-120B-B884-4D8A-35414AF78FCF}"/>
              </a:ext>
            </a:extLst>
          </p:cNvPr>
          <p:cNvSpPr txBox="1"/>
          <p:nvPr/>
        </p:nvSpPr>
        <p:spPr>
          <a:xfrm>
            <a:off x="8428088" y="6048573"/>
            <a:ext cx="3779018" cy="307777"/>
          </a:xfrm>
          <a:prstGeom prst="rect">
            <a:avLst/>
          </a:prstGeom>
          <a:noFill/>
        </p:spPr>
        <p:txBody>
          <a:bodyPr wrap="square">
            <a:spAutoFit/>
          </a:bodyPr>
          <a:lstStyle/>
          <a:p>
            <a:r>
              <a:rPr lang="en-US" sz="1400" dirty="0"/>
              <a:t>Adapted from </a:t>
            </a:r>
            <a:r>
              <a:rPr lang="en-US" sz="1400" dirty="0">
                <a:hlinkClick r:id="rId6"/>
              </a:rPr>
              <a:t>Leopold et al. (2025)</a:t>
            </a:r>
            <a:endParaRPr lang="en-US" sz="1400" dirty="0"/>
          </a:p>
        </p:txBody>
      </p:sp>
      <p:sp>
        <p:nvSpPr>
          <p:cNvPr id="9" name="Right Brace 8">
            <a:extLst>
              <a:ext uri="{FF2B5EF4-FFF2-40B4-BE49-F238E27FC236}">
                <a16:creationId xmlns:a16="http://schemas.microsoft.com/office/drawing/2014/main" id="{F262289E-FF8A-590B-255F-75F0F3CAF160}"/>
              </a:ext>
            </a:extLst>
          </p:cNvPr>
          <p:cNvSpPr/>
          <p:nvPr/>
        </p:nvSpPr>
        <p:spPr>
          <a:xfrm>
            <a:off x="7986493" y="1302591"/>
            <a:ext cx="894303" cy="421262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E8C081B9-FA8A-F7AA-B119-ADC0CB043E64}"/>
              </a:ext>
            </a:extLst>
          </p:cNvPr>
          <p:cNvCxnSpPr>
            <a:cxnSpLocks/>
          </p:cNvCxnSpPr>
          <p:nvPr/>
        </p:nvCxnSpPr>
        <p:spPr>
          <a:xfrm>
            <a:off x="234892" y="1747887"/>
            <a:ext cx="538020" cy="0"/>
          </a:xfrm>
          <a:prstGeom prst="straightConnector1">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79760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1E827F-C715-415C-DDA5-437039AF0294}"/>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05862342-BDAE-5E77-7669-03B627FB5E1E}"/>
              </a:ext>
            </a:extLst>
          </p:cNvPr>
          <p:cNvGrpSpPr/>
          <p:nvPr/>
        </p:nvGrpSpPr>
        <p:grpSpPr>
          <a:xfrm>
            <a:off x="10704849" y="6564312"/>
            <a:ext cx="1362075" cy="273690"/>
            <a:chOff x="19317" y="2690018"/>
            <a:chExt cx="11784755" cy="2025180"/>
          </a:xfrm>
        </p:grpSpPr>
        <p:pic>
          <p:nvPicPr>
            <p:cNvPr id="12" name="Picture 2">
              <a:extLst>
                <a:ext uri="{FF2B5EF4-FFF2-40B4-BE49-F238E27FC236}">
                  <a16:creationId xmlns:a16="http://schemas.microsoft.com/office/drawing/2014/main" id="{4459AC00-1F8B-9F11-3F5E-52E4816A34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2FBBCEF-D31F-D93C-2A34-960A91F6F49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F1285389-27CD-918D-1511-B298603EAF49}"/>
              </a:ext>
            </a:extLst>
          </p:cNvPr>
          <p:cNvSpPr>
            <a:spLocks noGrp="1"/>
          </p:cNvSpPr>
          <p:nvPr>
            <p:ph type="title"/>
          </p:nvPr>
        </p:nvSpPr>
        <p:spPr>
          <a:xfrm>
            <a:off x="0" y="-17464"/>
            <a:ext cx="12192000" cy="1325563"/>
          </a:xfrm>
        </p:spPr>
        <p:txBody>
          <a:bodyPr/>
          <a:lstStyle/>
          <a:p>
            <a:r>
              <a:rPr lang="en-US" b="1" dirty="0"/>
              <a:t>Skills in working with others and self-efficacy</a:t>
            </a:r>
          </a:p>
        </p:txBody>
      </p:sp>
      <p:pic>
        <p:nvPicPr>
          <p:cNvPr id="5" name="Picture 4" descr="A graph of a number of employees&#10;&#10;AI-generated content may be incorrect.">
            <a:extLst>
              <a:ext uri="{FF2B5EF4-FFF2-40B4-BE49-F238E27FC236}">
                <a16:creationId xmlns:a16="http://schemas.microsoft.com/office/drawing/2014/main" id="{740473EB-C4B4-C00C-C840-3C4C8BDFCF14}"/>
              </a:ext>
            </a:extLst>
          </p:cNvPr>
          <p:cNvPicPr>
            <a:picLocks noChangeAspect="1"/>
          </p:cNvPicPr>
          <p:nvPr/>
        </p:nvPicPr>
        <p:blipFill>
          <a:blip r:embed="rId5"/>
          <a:stretch>
            <a:fillRect/>
          </a:stretch>
        </p:blipFill>
        <p:spPr>
          <a:xfrm>
            <a:off x="568037" y="1155699"/>
            <a:ext cx="7809923" cy="5491609"/>
          </a:xfrm>
          <a:prstGeom prst="rect">
            <a:avLst/>
          </a:prstGeom>
        </p:spPr>
      </p:pic>
      <p:sp>
        <p:nvSpPr>
          <p:cNvPr id="7" name="TextBox 6">
            <a:extLst>
              <a:ext uri="{FF2B5EF4-FFF2-40B4-BE49-F238E27FC236}">
                <a16:creationId xmlns:a16="http://schemas.microsoft.com/office/drawing/2014/main" id="{200F89AE-8E7B-A270-2959-776C4871893A}"/>
              </a:ext>
            </a:extLst>
          </p:cNvPr>
          <p:cNvSpPr txBox="1"/>
          <p:nvPr/>
        </p:nvSpPr>
        <p:spPr>
          <a:xfrm>
            <a:off x="8895902" y="2866340"/>
            <a:ext cx="3311204" cy="1938992"/>
          </a:xfrm>
          <a:prstGeom prst="rect">
            <a:avLst/>
          </a:prstGeom>
          <a:noFill/>
        </p:spPr>
        <p:txBody>
          <a:bodyPr wrap="square">
            <a:spAutoFit/>
          </a:bodyPr>
          <a:lstStyle/>
          <a:p>
            <a:r>
              <a:rPr lang="en-US" sz="2400" dirty="0"/>
              <a:t>Share of employers who consider the stated skills to be </a:t>
            </a:r>
            <a:r>
              <a:rPr lang="en-US" sz="2400" b="1" dirty="0"/>
              <a:t>core skills </a:t>
            </a:r>
            <a:r>
              <a:rPr lang="en-US" sz="2400" dirty="0"/>
              <a:t>for their workforce</a:t>
            </a:r>
          </a:p>
        </p:txBody>
      </p:sp>
      <p:sp>
        <p:nvSpPr>
          <p:cNvPr id="3" name="Slide Number Placeholder 2">
            <a:extLst>
              <a:ext uri="{FF2B5EF4-FFF2-40B4-BE49-F238E27FC236}">
                <a16:creationId xmlns:a16="http://schemas.microsoft.com/office/drawing/2014/main" id="{7C1D6645-8CF8-40A2-9B33-7CACCDB8D351}"/>
              </a:ext>
            </a:extLst>
          </p:cNvPr>
          <p:cNvSpPr>
            <a:spLocks noGrp="1"/>
          </p:cNvSpPr>
          <p:nvPr>
            <p:ph type="sldNum" sz="quarter" idx="12"/>
          </p:nvPr>
        </p:nvSpPr>
        <p:spPr/>
        <p:txBody>
          <a:bodyPr/>
          <a:lstStyle/>
          <a:p>
            <a:fld id="{01E105D4-D357-B14D-804D-1EE3D58285EA}" type="slidenum">
              <a:rPr lang="en-US" smtClean="0"/>
              <a:t>8</a:t>
            </a:fld>
            <a:endParaRPr lang="en-US" dirty="0"/>
          </a:p>
        </p:txBody>
      </p:sp>
      <p:sp>
        <p:nvSpPr>
          <p:cNvPr id="9" name="Right Brace 8">
            <a:extLst>
              <a:ext uri="{FF2B5EF4-FFF2-40B4-BE49-F238E27FC236}">
                <a16:creationId xmlns:a16="http://schemas.microsoft.com/office/drawing/2014/main" id="{8F9B906D-C8E1-F5F2-CF57-9C6C73E41796}"/>
              </a:ext>
            </a:extLst>
          </p:cNvPr>
          <p:cNvSpPr/>
          <p:nvPr/>
        </p:nvSpPr>
        <p:spPr>
          <a:xfrm>
            <a:off x="7986493" y="1302591"/>
            <a:ext cx="894303" cy="4212625"/>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5F1ACFFA-8482-CFF6-4C03-9F049F8B83DA}"/>
              </a:ext>
            </a:extLst>
          </p:cNvPr>
          <p:cNvCxnSpPr>
            <a:cxnSpLocks/>
          </p:cNvCxnSpPr>
          <p:nvPr/>
        </p:nvCxnSpPr>
        <p:spPr>
          <a:xfrm>
            <a:off x="234892" y="1747887"/>
            <a:ext cx="538020" cy="0"/>
          </a:xfrm>
          <a:prstGeom prst="straightConnector1">
            <a:avLst/>
          </a:prstGeom>
          <a:ln w="57150">
            <a:solidFill>
              <a:srgbClr val="C00000"/>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25D14254-2ACE-DF5B-2CA0-0F2F5D52F770}"/>
              </a:ext>
            </a:extLst>
          </p:cNvPr>
          <p:cNvCxnSpPr>
            <a:cxnSpLocks/>
          </p:cNvCxnSpPr>
          <p:nvPr/>
        </p:nvCxnSpPr>
        <p:spPr>
          <a:xfrm>
            <a:off x="234892" y="2054523"/>
            <a:ext cx="538020" cy="0"/>
          </a:xfrm>
          <a:prstGeom prst="straightConnector1">
            <a:avLst/>
          </a:prstGeom>
          <a:ln w="57150">
            <a:solidFill>
              <a:srgbClr val="C00000">
                <a:alpha val="50251"/>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F726ECB3-014B-D6D9-83D6-A494091569E8}"/>
              </a:ext>
            </a:extLst>
          </p:cNvPr>
          <p:cNvCxnSpPr>
            <a:cxnSpLocks/>
          </p:cNvCxnSpPr>
          <p:nvPr/>
        </p:nvCxnSpPr>
        <p:spPr>
          <a:xfrm>
            <a:off x="234892" y="2339126"/>
            <a:ext cx="538020" cy="0"/>
          </a:xfrm>
          <a:prstGeom prst="straightConnector1">
            <a:avLst/>
          </a:prstGeom>
          <a:ln w="57150">
            <a:solidFill>
              <a:srgbClr val="C00000">
                <a:alpha val="50251"/>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Arrow Connector 9">
            <a:extLst>
              <a:ext uri="{FF2B5EF4-FFF2-40B4-BE49-F238E27FC236}">
                <a16:creationId xmlns:a16="http://schemas.microsoft.com/office/drawing/2014/main" id="{82651204-515E-2D43-1BAC-1AC28F3EBB15}"/>
              </a:ext>
            </a:extLst>
          </p:cNvPr>
          <p:cNvCxnSpPr>
            <a:cxnSpLocks/>
          </p:cNvCxnSpPr>
          <p:nvPr/>
        </p:nvCxnSpPr>
        <p:spPr>
          <a:xfrm>
            <a:off x="190825" y="3789670"/>
            <a:ext cx="538020" cy="0"/>
          </a:xfrm>
          <a:prstGeom prst="straightConnector1">
            <a:avLst/>
          </a:prstGeom>
          <a:ln w="57150">
            <a:solidFill>
              <a:srgbClr val="C00000">
                <a:alpha val="50251"/>
              </a:srgbClr>
            </a:solidFill>
            <a:tailEnd type="triangle"/>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54BCF598-57AB-1C10-9B66-C5408716439D}"/>
              </a:ext>
            </a:extLst>
          </p:cNvPr>
          <p:cNvSpPr txBox="1"/>
          <p:nvPr/>
        </p:nvSpPr>
        <p:spPr>
          <a:xfrm>
            <a:off x="8428088" y="6048573"/>
            <a:ext cx="3779018" cy="307777"/>
          </a:xfrm>
          <a:prstGeom prst="rect">
            <a:avLst/>
          </a:prstGeom>
          <a:noFill/>
        </p:spPr>
        <p:txBody>
          <a:bodyPr wrap="square">
            <a:spAutoFit/>
          </a:bodyPr>
          <a:lstStyle/>
          <a:p>
            <a:r>
              <a:rPr lang="en-US" sz="1400" dirty="0"/>
              <a:t>Adapted from </a:t>
            </a:r>
            <a:r>
              <a:rPr lang="en-US" sz="1400" dirty="0">
                <a:hlinkClick r:id="rId6"/>
              </a:rPr>
              <a:t>Leopold et al. (2025)</a:t>
            </a:r>
            <a:endParaRPr lang="en-US" sz="1400" dirty="0"/>
          </a:p>
        </p:txBody>
      </p:sp>
      <p:cxnSp>
        <p:nvCxnSpPr>
          <p:cNvPr id="6" name="Straight Arrow Connector 5">
            <a:extLst>
              <a:ext uri="{FF2B5EF4-FFF2-40B4-BE49-F238E27FC236}">
                <a16:creationId xmlns:a16="http://schemas.microsoft.com/office/drawing/2014/main" id="{BB5D20B8-F12B-25F7-F898-8BD1E9231350}"/>
              </a:ext>
            </a:extLst>
          </p:cNvPr>
          <p:cNvCxnSpPr>
            <a:cxnSpLocks/>
          </p:cNvCxnSpPr>
          <p:nvPr/>
        </p:nvCxnSpPr>
        <p:spPr>
          <a:xfrm>
            <a:off x="190825" y="3123923"/>
            <a:ext cx="538020" cy="0"/>
          </a:xfrm>
          <a:prstGeom prst="straightConnector1">
            <a:avLst/>
          </a:prstGeom>
          <a:ln w="57150">
            <a:solidFill>
              <a:srgbClr val="C00000">
                <a:alpha val="50251"/>
              </a:srgbClr>
            </a:solidFill>
            <a:tailEnd type="triangle"/>
          </a:ln>
        </p:spPr>
        <p:style>
          <a:lnRef idx="2">
            <a:schemeClr val="accent1"/>
          </a:lnRef>
          <a:fillRef idx="0">
            <a:schemeClr val="accent1"/>
          </a:fillRef>
          <a:effectRef idx="1">
            <a:schemeClr val="accent1"/>
          </a:effectRef>
          <a:fontRef idx="minor">
            <a:schemeClr val="tx1"/>
          </a:fontRef>
        </p:style>
      </p:cxnSp>
      <p:cxnSp>
        <p:nvCxnSpPr>
          <p:cNvPr id="16" name="Straight Arrow Connector 15">
            <a:extLst>
              <a:ext uri="{FF2B5EF4-FFF2-40B4-BE49-F238E27FC236}">
                <a16:creationId xmlns:a16="http://schemas.microsoft.com/office/drawing/2014/main" id="{32C00B1F-59EA-6B37-DBE7-A6922BC70831}"/>
              </a:ext>
            </a:extLst>
          </p:cNvPr>
          <p:cNvCxnSpPr>
            <a:cxnSpLocks/>
          </p:cNvCxnSpPr>
          <p:nvPr/>
        </p:nvCxnSpPr>
        <p:spPr>
          <a:xfrm>
            <a:off x="214889" y="1535754"/>
            <a:ext cx="538020" cy="0"/>
          </a:xfrm>
          <a:prstGeom prst="straightConnector1">
            <a:avLst/>
          </a:prstGeom>
          <a:ln w="57150">
            <a:solidFill>
              <a:srgbClr val="C00000">
                <a:alpha val="50251"/>
              </a:srgb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3030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872F7FC7-AB0E-72D9-761A-8972C5A6889B}"/>
              </a:ext>
            </a:extLst>
          </p:cNvPr>
          <p:cNvGrpSpPr/>
          <p:nvPr/>
        </p:nvGrpSpPr>
        <p:grpSpPr>
          <a:xfrm>
            <a:off x="10704849" y="6564312"/>
            <a:ext cx="1362075" cy="273690"/>
            <a:chOff x="19317" y="2690018"/>
            <a:chExt cx="11784755" cy="2025180"/>
          </a:xfrm>
        </p:grpSpPr>
        <p:pic>
          <p:nvPicPr>
            <p:cNvPr id="14" name="Picture 2">
              <a:extLst>
                <a:ext uri="{FF2B5EF4-FFF2-40B4-BE49-F238E27FC236}">
                  <a16:creationId xmlns:a16="http://schemas.microsoft.com/office/drawing/2014/main" id="{584369B8-A896-AA26-E086-07BABDF606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C7673B2A-CBA1-D0F7-8371-7369B340378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188A5001-D621-31E3-54A8-0E2B37257786}"/>
              </a:ext>
            </a:extLst>
          </p:cNvPr>
          <p:cNvSpPr>
            <a:spLocks noGrp="1"/>
          </p:cNvSpPr>
          <p:nvPr>
            <p:ph type="sldNum" sz="quarter" idx="12"/>
          </p:nvPr>
        </p:nvSpPr>
        <p:spPr/>
        <p:txBody>
          <a:bodyPr/>
          <a:lstStyle/>
          <a:p>
            <a:fld id="{01E105D4-D357-B14D-804D-1EE3D58285EA}" type="slidenum">
              <a:rPr lang="en-US" smtClean="0"/>
              <a:t>9</a:t>
            </a:fld>
            <a:endParaRPr lang="en-US" dirty="0"/>
          </a:p>
        </p:txBody>
      </p:sp>
      <p:pic>
        <p:nvPicPr>
          <p:cNvPr id="7" name="Picture 6">
            <a:extLst>
              <a:ext uri="{FF2B5EF4-FFF2-40B4-BE49-F238E27FC236}">
                <a16:creationId xmlns:a16="http://schemas.microsoft.com/office/drawing/2014/main" id="{332620DE-B0D0-5FF6-3DB2-665D5A3F266E}"/>
              </a:ext>
            </a:extLst>
          </p:cNvPr>
          <p:cNvPicPr>
            <a:picLocks noChangeAspect="1"/>
          </p:cNvPicPr>
          <p:nvPr/>
        </p:nvPicPr>
        <p:blipFill>
          <a:blip r:embed="rId5"/>
          <a:srcRect t="10067"/>
          <a:stretch>
            <a:fillRect/>
          </a:stretch>
        </p:blipFill>
        <p:spPr>
          <a:xfrm>
            <a:off x="236183" y="1093262"/>
            <a:ext cx="8374417" cy="5181557"/>
          </a:xfrm>
          <a:prstGeom prst="rect">
            <a:avLst/>
          </a:prstGeom>
        </p:spPr>
      </p:pic>
      <p:sp>
        <p:nvSpPr>
          <p:cNvPr id="8" name="Title 1">
            <a:extLst>
              <a:ext uri="{FF2B5EF4-FFF2-40B4-BE49-F238E27FC236}">
                <a16:creationId xmlns:a16="http://schemas.microsoft.com/office/drawing/2014/main" id="{D5ED673E-A8B0-D91C-25B2-8C99179C5312}"/>
              </a:ext>
            </a:extLst>
          </p:cNvPr>
          <p:cNvSpPr>
            <a:spLocks noGrp="1"/>
          </p:cNvSpPr>
          <p:nvPr>
            <p:ph type="title"/>
          </p:nvPr>
        </p:nvSpPr>
        <p:spPr>
          <a:xfrm>
            <a:off x="0" y="-17463"/>
            <a:ext cx="12192000" cy="1093744"/>
          </a:xfrm>
        </p:spPr>
        <p:txBody>
          <a:bodyPr/>
          <a:lstStyle/>
          <a:p>
            <a:r>
              <a:rPr lang="en-US" b="1" dirty="0"/>
              <a:t>European Policy on skills/training in Open Science</a:t>
            </a:r>
          </a:p>
        </p:txBody>
      </p:sp>
      <p:sp>
        <p:nvSpPr>
          <p:cNvPr id="9" name="TextBox 8">
            <a:extLst>
              <a:ext uri="{FF2B5EF4-FFF2-40B4-BE49-F238E27FC236}">
                <a16:creationId xmlns:a16="http://schemas.microsoft.com/office/drawing/2014/main" id="{B579ED06-B223-3994-5CAD-576EB68E6D5E}"/>
              </a:ext>
            </a:extLst>
          </p:cNvPr>
          <p:cNvSpPr txBox="1"/>
          <p:nvPr/>
        </p:nvSpPr>
        <p:spPr>
          <a:xfrm>
            <a:off x="9354782" y="2714544"/>
            <a:ext cx="2525487" cy="1938992"/>
          </a:xfrm>
          <a:prstGeom prst="rect">
            <a:avLst/>
          </a:prstGeom>
          <a:noFill/>
        </p:spPr>
        <p:txBody>
          <a:bodyPr wrap="square" rtlCol="0">
            <a:spAutoFit/>
          </a:bodyPr>
          <a:lstStyle/>
          <a:p>
            <a:r>
              <a:rPr lang="en-US" sz="2400" dirty="0"/>
              <a:t>~55% of countries have an Open Science skills/training policy</a:t>
            </a:r>
          </a:p>
        </p:txBody>
      </p:sp>
      <p:sp>
        <p:nvSpPr>
          <p:cNvPr id="10" name="Right Brace 9">
            <a:extLst>
              <a:ext uri="{FF2B5EF4-FFF2-40B4-BE49-F238E27FC236}">
                <a16:creationId xmlns:a16="http://schemas.microsoft.com/office/drawing/2014/main" id="{F5E5AAD9-4264-3E51-E997-AD31E4600E24}"/>
              </a:ext>
            </a:extLst>
          </p:cNvPr>
          <p:cNvSpPr/>
          <p:nvPr/>
        </p:nvSpPr>
        <p:spPr>
          <a:xfrm>
            <a:off x="8460479" y="1540153"/>
            <a:ext cx="894303" cy="3777693"/>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6F9ACCBA-92A9-6B6E-B52E-8AAAFBC9FCE4}"/>
              </a:ext>
            </a:extLst>
          </p:cNvPr>
          <p:cNvSpPr txBox="1"/>
          <p:nvPr/>
        </p:nvSpPr>
        <p:spPr>
          <a:xfrm>
            <a:off x="1484086" y="6420900"/>
            <a:ext cx="6219370" cy="369332"/>
          </a:xfrm>
          <a:prstGeom prst="rect">
            <a:avLst/>
          </a:prstGeom>
          <a:noFill/>
        </p:spPr>
        <p:txBody>
          <a:bodyPr wrap="square">
            <a:spAutoFit/>
          </a:bodyPr>
          <a:lstStyle/>
          <a:p>
            <a:r>
              <a:rPr lang="en-GB" dirty="0"/>
              <a:t>Adapted from </a:t>
            </a:r>
            <a:r>
              <a:rPr lang="en-GB" dirty="0">
                <a:hlinkClick r:id="rId6"/>
              </a:rPr>
              <a:t>EOSC Open Science Observatory (2024)</a:t>
            </a:r>
            <a:endParaRPr lang="en-US" dirty="0"/>
          </a:p>
        </p:txBody>
      </p:sp>
    </p:spTree>
    <p:extLst>
      <p:ext uri="{BB962C8B-B14F-4D97-AF65-F5344CB8AC3E}">
        <p14:creationId xmlns:p14="http://schemas.microsoft.com/office/powerpoint/2010/main" val="3875140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EC0A86-CE76-26A3-138F-883DBED4939A}"/>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FA8DC6CE-2BCD-95BB-811E-C43E11CAE9B6}"/>
              </a:ext>
            </a:extLst>
          </p:cNvPr>
          <p:cNvGrpSpPr/>
          <p:nvPr/>
        </p:nvGrpSpPr>
        <p:grpSpPr>
          <a:xfrm>
            <a:off x="10704849" y="6564312"/>
            <a:ext cx="1362075" cy="273690"/>
            <a:chOff x="19317" y="2690018"/>
            <a:chExt cx="11784755" cy="2025180"/>
          </a:xfrm>
        </p:grpSpPr>
        <p:pic>
          <p:nvPicPr>
            <p:cNvPr id="14" name="Picture 2">
              <a:extLst>
                <a:ext uri="{FF2B5EF4-FFF2-40B4-BE49-F238E27FC236}">
                  <a16:creationId xmlns:a16="http://schemas.microsoft.com/office/drawing/2014/main" id="{CA494980-C58E-744D-B279-E03F8C5C3C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a:extLst>
                <a:ext uri="{FF2B5EF4-FFF2-40B4-BE49-F238E27FC236}">
                  <a16:creationId xmlns:a16="http://schemas.microsoft.com/office/drawing/2014/main" id="{0AEE68DC-5246-6D2A-EE04-6EA7522834E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32935105-BDA6-C51A-493B-BFC8A2C1E55E}"/>
              </a:ext>
            </a:extLst>
          </p:cNvPr>
          <p:cNvSpPr>
            <a:spLocks noGrp="1"/>
          </p:cNvSpPr>
          <p:nvPr>
            <p:ph type="sldNum" sz="quarter" idx="12"/>
          </p:nvPr>
        </p:nvSpPr>
        <p:spPr/>
        <p:txBody>
          <a:bodyPr/>
          <a:lstStyle/>
          <a:p>
            <a:fld id="{01E105D4-D357-B14D-804D-1EE3D58285EA}" type="slidenum">
              <a:rPr lang="en-US" smtClean="0"/>
              <a:t>10</a:t>
            </a:fld>
            <a:endParaRPr lang="en-US" dirty="0"/>
          </a:p>
        </p:txBody>
      </p:sp>
      <p:sp>
        <p:nvSpPr>
          <p:cNvPr id="8" name="Title 1">
            <a:extLst>
              <a:ext uri="{FF2B5EF4-FFF2-40B4-BE49-F238E27FC236}">
                <a16:creationId xmlns:a16="http://schemas.microsoft.com/office/drawing/2014/main" id="{8A350286-2403-F4B5-E149-C31963B48DF7}"/>
              </a:ext>
            </a:extLst>
          </p:cNvPr>
          <p:cNvSpPr>
            <a:spLocks noGrp="1"/>
          </p:cNvSpPr>
          <p:nvPr>
            <p:ph type="title"/>
          </p:nvPr>
        </p:nvSpPr>
        <p:spPr>
          <a:xfrm>
            <a:off x="0" y="-17463"/>
            <a:ext cx="12192000" cy="1093744"/>
          </a:xfrm>
        </p:spPr>
        <p:txBody>
          <a:bodyPr/>
          <a:lstStyle/>
          <a:p>
            <a:r>
              <a:rPr lang="en-US" b="1" dirty="0"/>
              <a:t>Regional differences in Open Science priorities</a:t>
            </a:r>
          </a:p>
        </p:txBody>
      </p:sp>
      <p:sp>
        <p:nvSpPr>
          <p:cNvPr id="12" name="TextBox 11">
            <a:extLst>
              <a:ext uri="{FF2B5EF4-FFF2-40B4-BE49-F238E27FC236}">
                <a16:creationId xmlns:a16="http://schemas.microsoft.com/office/drawing/2014/main" id="{DC06E823-5601-305F-F219-E75A93B976E6}"/>
              </a:ext>
            </a:extLst>
          </p:cNvPr>
          <p:cNvSpPr txBox="1"/>
          <p:nvPr/>
        </p:nvSpPr>
        <p:spPr>
          <a:xfrm>
            <a:off x="1484086" y="6420900"/>
            <a:ext cx="6219370" cy="369332"/>
          </a:xfrm>
          <a:prstGeom prst="rect">
            <a:avLst/>
          </a:prstGeom>
          <a:noFill/>
        </p:spPr>
        <p:txBody>
          <a:bodyPr wrap="square">
            <a:spAutoFit/>
          </a:bodyPr>
          <a:lstStyle/>
          <a:p>
            <a:r>
              <a:rPr lang="en-GB" dirty="0"/>
              <a:t>Adapted from </a:t>
            </a:r>
            <a:r>
              <a:rPr lang="en-GB" dirty="0">
                <a:hlinkClick r:id="rId5"/>
              </a:rPr>
              <a:t>UNESCO (2023)</a:t>
            </a:r>
            <a:endParaRPr lang="en-US" dirty="0"/>
          </a:p>
        </p:txBody>
      </p:sp>
      <p:grpSp>
        <p:nvGrpSpPr>
          <p:cNvPr id="6" name="Group 5">
            <a:extLst>
              <a:ext uri="{FF2B5EF4-FFF2-40B4-BE49-F238E27FC236}">
                <a16:creationId xmlns:a16="http://schemas.microsoft.com/office/drawing/2014/main" id="{A0DEC40E-E74D-1FE2-CFB9-5EDC59224981}"/>
              </a:ext>
            </a:extLst>
          </p:cNvPr>
          <p:cNvGrpSpPr/>
          <p:nvPr/>
        </p:nvGrpSpPr>
        <p:grpSpPr>
          <a:xfrm>
            <a:off x="669758" y="1076281"/>
            <a:ext cx="7425654" cy="5118602"/>
            <a:chOff x="2488367" y="2139812"/>
            <a:chExt cx="5524500" cy="3688653"/>
          </a:xfrm>
        </p:grpSpPr>
        <p:pic>
          <p:nvPicPr>
            <p:cNvPr id="3" name="Picture 2">
              <a:extLst>
                <a:ext uri="{FF2B5EF4-FFF2-40B4-BE49-F238E27FC236}">
                  <a16:creationId xmlns:a16="http://schemas.microsoft.com/office/drawing/2014/main" id="{ADBDD6E5-A470-E1AA-4525-D5284B946A8F}"/>
                </a:ext>
              </a:extLst>
            </p:cNvPr>
            <p:cNvPicPr>
              <a:picLocks noChangeAspect="1"/>
            </p:cNvPicPr>
            <p:nvPr/>
          </p:nvPicPr>
          <p:blipFill>
            <a:blip r:embed="rId6"/>
            <a:srcRect b="96606"/>
            <a:stretch>
              <a:fillRect/>
            </a:stretch>
          </p:blipFill>
          <p:spPr>
            <a:xfrm>
              <a:off x="2488367" y="2139812"/>
              <a:ext cx="5524500" cy="178877"/>
            </a:xfrm>
            <a:prstGeom prst="rect">
              <a:avLst/>
            </a:prstGeom>
          </p:spPr>
        </p:pic>
        <p:pic>
          <p:nvPicPr>
            <p:cNvPr id="5" name="Picture 4">
              <a:extLst>
                <a:ext uri="{FF2B5EF4-FFF2-40B4-BE49-F238E27FC236}">
                  <a16:creationId xmlns:a16="http://schemas.microsoft.com/office/drawing/2014/main" id="{D548556B-7357-0309-364B-22D89076B24B}"/>
                </a:ext>
              </a:extLst>
            </p:cNvPr>
            <p:cNvPicPr>
              <a:picLocks noChangeAspect="1"/>
            </p:cNvPicPr>
            <p:nvPr/>
          </p:nvPicPr>
          <p:blipFill>
            <a:blip r:embed="rId6"/>
            <a:srcRect t="33407"/>
            <a:stretch>
              <a:fillRect/>
            </a:stretch>
          </p:blipFill>
          <p:spPr>
            <a:xfrm>
              <a:off x="2488367" y="2318689"/>
              <a:ext cx="5524500" cy="3509776"/>
            </a:xfrm>
            <a:prstGeom prst="rect">
              <a:avLst/>
            </a:prstGeom>
          </p:spPr>
        </p:pic>
      </p:grpSp>
      <p:sp>
        <p:nvSpPr>
          <p:cNvPr id="11" name="Rounded Rectangle 10">
            <a:extLst>
              <a:ext uri="{FF2B5EF4-FFF2-40B4-BE49-F238E27FC236}">
                <a16:creationId xmlns:a16="http://schemas.microsoft.com/office/drawing/2014/main" id="{17C87C04-8E84-C798-DC98-84D72B0017A4}"/>
              </a:ext>
            </a:extLst>
          </p:cNvPr>
          <p:cNvSpPr/>
          <p:nvPr/>
        </p:nvSpPr>
        <p:spPr>
          <a:xfrm>
            <a:off x="2177716" y="4309712"/>
            <a:ext cx="2719137" cy="45719"/>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ounded Rectangle 15">
            <a:extLst>
              <a:ext uri="{FF2B5EF4-FFF2-40B4-BE49-F238E27FC236}">
                <a16:creationId xmlns:a16="http://schemas.microsoft.com/office/drawing/2014/main" id="{FBD729F6-8E32-3C97-34B1-C097C6DA4810}"/>
              </a:ext>
            </a:extLst>
          </p:cNvPr>
          <p:cNvSpPr/>
          <p:nvPr/>
        </p:nvSpPr>
        <p:spPr>
          <a:xfrm>
            <a:off x="2177715" y="2913698"/>
            <a:ext cx="2598822" cy="45719"/>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ounded Rectangle 16">
            <a:extLst>
              <a:ext uri="{FF2B5EF4-FFF2-40B4-BE49-F238E27FC236}">
                <a16:creationId xmlns:a16="http://schemas.microsoft.com/office/drawing/2014/main" id="{4906D5D6-7AE8-0003-B981-966C38B06794}"/>
              </a:ext>
            </a:extLst>
          </p:cNvPr>
          <p:cNvSpPr/>
          <p:nvPr/>
        </p:nvSpPr>
        <p:spPr>
          <a:xfrm>
            <a:off x="2177715" y="2643565"/>
            <a:ext cx="3814011" cy="52488"/>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ounded Rectangle 17">
            <a:extLst>
              <a:ext uri="{FF2B5EF4-FFF2-40B4-BE49-F238E27FC236}">
                <a16:creationId xmlns:a16="http://schemas.microsoft.com/office/drawing/2014/main" id="{EC1417F7-4F7D-CE23-125B-ADF4BD8BD8CF}"/>
              </a:ext>
            </a:extLst>
          </p:cNvPr>
          <p:cNvSpPr/>
          <p:nvPr/>
        </p:nvSpPr>
        <p:spPr>
          <a:xfrm>
            <a:off x="2195761" y="5868376"/>
            <a:ext cx="2598822" cy="45719"/>
          </a:xfrm>
          <a:prstGeom prst="round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TextBox 18">
            <a:extLst>
              <a:ext uri="{FF2B5EF4-FFF2-40B4-BE49-F238E27FC236}">
                <a16:creationId xmlns:a16="http://schemas.microsoft.com/office/drawing/2014/main" id="{E87A8409-BC91-20A0-FAC2-896C6FAB200A}"/>
              </a:ext>
            </a:extLst>
          </p:cNvPr>
          <p:cNvSpPr txBox="1"/>
          <p:nvPr/>
        </p:nvSpPr>
        <p:spPr>
          <a:xfrm>
            <a:off x="8880796" y="3035466"/>
            <a:ext cx="3393266" cy="1569660"/>
          </a:xfrm>
          <a:prstGeom prst="rect">
            <a:avLst/>
          </a:prstGeom>
          <a:noFill/>
        </p:spPr>
        <p:txBody>
          <a:bodyPr wrap="square" rtlCol="0">
            <a:spAutoFit/>
          </a:bodyPr>
          <a:lstStyle/>
          <a:p>
            <a:r>
              <a:rPr lang="en-US" sz="2400" dirty="0"/>
              <a:t>Working towards </a:t>
            </a:r>
          </a:p>
          <a:p>
            <a:r>
              <a:rPr lang="en-US" sz="2400" dirty="0"/>
              <a:t>these priorities </a:t>
            </a:r>
          </a:p>
          <a:p>
            <a:r>
              <a:rPr lang="en-US" sz="2400" dirty="0"/>
              <a:t>requires effective leadership!</a:t>
            </a:r>
          </a:p>
        </p:txBody>
      </p:sp>
      <p:sp>
        <p:nvSpPr>
          <p:cNvPr id="20" name="Right Brace 19">
            <a:extLst>
              <a:ext uri="{FF2B5EF4-FFF2-40B4-BE49-F238E27FC236}">
                <a16:creationId xmlns:a16="http://schemas.microsoft.com/office/drawing/2014/main" id="{79BBFB46-673F-8AF5-7D34-56206088482F}"/>
              </a:ext>
            </a:extLst>
          </p:cNvPr>
          <p:cNvSpPr/>
          <p:nvPr/>
        </p:nvSpPr>
        <p:spPr>
          <a:xfrm>
            <a:off x="7986493" y="1302591"/>
            <a:ext cx="894303" cy="482466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5567768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8A704-8597-BC3B-DD3B-D545CDD67E06}"/>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F5E2978-D52C-824F-D724-BF6C6E335702}"/>
              </a:ext>
            </a:extLst>
          </p:cNvPr>
          <p:cNvGrpSpPr/>
          <p:nvPr/>
        </p:nvGrpSpPr>
        <p:grpSpPr>
          <a:xfrm>
            <a:off x="10672934" y="6516406"/>
            <a:ext cx="1474613" cy="325672"/>
            <a:chOff x="19317" y="2690018"/>
            <a:chExt cx="11784755" cy="2025180"/>
          </a:xfrm>
        </p:grpSpPr>
        <p:pic>
          <p:nvPicPr>
            <p:cNvPr id="5" name="Picture 2">
              <a:extLst>
                <a:ext uri="{FF2B5EF4-FFF2-40B4-BE49-F238E27FC236}">
                  <a16:creationId xmlns:a16="http://schemas.microsoft.com/office/drawing/2014/main" id="{5CD82575-9474-FC46-9274-9CDECD32BE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C3CDE38-2DEE-D134-1526-DA6ECE46BD1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TextBox 2">
            <a:extLst>
              <a:ext uri="{FF2B5EF4-FFF2-40B4-BE49-F238E27FC236}">
                <a16:creationId xmlns:a16="http://schemas.microsoft.com/office/drawing/2014/main" id="{8AA0818F-3424-13F9-5A16-3819614FE4AA}"/>
              </a:ext>
            </a:extLst>
          </p:cNvPr>
          <p:cNvSpPr txBox="1"/>
          <p:nvPr/>
        </p:nvSpPr>
        <p:spPr>
          <a:xfrm>
            <a:off x="201415" y="234683"/>
            <a:ext cx="11316879" cy="769441"/>
          </a:xfrm>
          <a:prstGeom prst="rect">
            <a:avLst/>
          </a:prstGeom>
          <a:noFill/>
        </p:spPr>
        <p:txBody>
          <a:bodyPr wrap="square">
            <a:spAutoFit/>
          </a:bodyPr>
          <a:lstStyle/>
          <a:p>
            <a:pPr rtl="0">
              <a:buNone/>
            </a:pPr>
            <a:r>
              <a:rPr lang="en-GB" sz="4400" b="1" i="0" u="none" strike="noStrike" dirty="0">
                <a:solidFill>
                  <a:srgbClr val="000000"/>
                </a:solidFill>
                <a:effectLst/>
                <a:latin typeface="Calibri" panose="020F0502020204030204" pitchFamily="34" charset="0"/>
              </a:rPr>
              <a:t>What does good leadership look and feel like?</a:t>
            </a:r>
            <a:endParaRPr lang="en-GB" sz="4400" dirty="0">
              <a:effectLst/>
            </a:endParaRPr>
          </a:p>
        </p:txBody>
      </p:sp>
      <p:sp>
        <p:nvSpPr>
          <p:cNvPr id="2" name="Slide Number Placeholder 1">
            <a:extLst>
              <a:ext uri="{FF2B5EF4-FFF2-40B4-BE49-F238E27FC236}">
                <a16:creationId xmlns:a16="http://schemas.microsoft.com/office/drawing/2014/main" id="{0D266BF4-39BF-3701-2530-B5C302BCDA30}"/>
              </a:ext>
            </a:extLst>
          </p:cNvPr>
          <p:cNvSpPr>
            <a:spLocks noGrp="1"/>
          </p:cNvSpPr>
          <p:nvPr>
            <p:ph type="sldNum" sz="quarter" idx="12"/>
          </p:nvPr>
        </p:nvSpPr>
        <p:spPr/>
        <p:txBody>
          <a:bodyPr/>
          <a:lstStyle/>
          <a:p>
            <a:fld id="{D292B180-B274-DE43-B36F-C827C7616C05}" type="slidenum">
              <a:rPr lang="en-US" smtClean="0"/>
              <a:t>11</a:t>
            </a:fld>
            <a:endParaRPr lang="en-US"/>
          </a:p>
        </p:txBody>
      </p:sp>
      <p:sp>
        <p:nvSpPr>
          <p:cNvPr id="12" name="TextBox 11">
            <a:extLst>
              <a:ext uri="{FF2B5EF4-FFF2-40B4-BE49-F238E27FC236}">
                <a16:creationId xmlns:a16="http://schemas.microsoft.com/office/drawing/2014/main" id="{E74BAF43-A27A-08AE-4310-C60686CF9E92}"/>
              </a:ext>
            </a:extLst>
          </p:cNvPr>
          <p:cNvSpPr txBox="1"/>
          <p:nvPr/>
        </p:nvSpPr>
        <p:spPr>
          <a:xfrm>
            <a:off x="675252" y="1513149"/>
            <a:ext cx="6099858" cy="2954655"/>
          </a:xfrm>
          <a:prstGeom prst="rect">
            <a:avLst/>
          </a:prstGeom>
          <a:noFill/>
        </p:spPr>
        <p:txBody>
          <a:bodyPr wrap="square">
            <a:spAutoFit/>
          </a:bodyPr>
          <a:lstStyle/>
          <a:p>
            <a:r>
              <a:rPr lang="en-US" sz="2800" dirty="0"/>
              <a:t>1. Self </a:t>
            </a:r>
            <a:r>
              <a:rPr lang="en-US" sz="2800" b="1" dirty="0"/>
              <a:t>reflect</a:t>
            </a:r>
          </a:p>
          <a:p>
            <a:pPr marL="514350" indent="-514350">
              <a:buAutoNum type="arabicPeriod"/>
            </a:pPr>
            <a:endParaRPr lang="en-US" sz="2800" dirty="0"/>
          </a:p>
          <a:p>
            <a:r>
              <a:rPr lang="en-US" sz="2800" dirty="0"/>
              <a:t>2. </a:t>
            </a:r>
            <a:r>
              <a:rPr lang="en-US" sz="2800" b="1" dirty="0"/>
              <a:t>Write</a:t>
            </a:r>
            <a:r>
              <a:rPr lang="en-US" sz="2800" dirty="0"/>
              <a:t> down words, short phrases </a:t>
            </a:r>
          </a:p>
          <a:p>
            <a:r>
              <a:rPr lang="en-US" sz="2800" dirty="0"/>
              <a:t>or sentences</a:t>
            </a:r>
          </a:p>
          <a:p>
            <a:endParaRPr lang="en-US" sz="2800" dirty="0"/>
          </a:p>
          <a:p>
            <a:r>
              <a:rPr lang="en-US" sz="2800" dirty="0"/>
              <a:t>3. Group </a:t>
            </a:r>
            <a:r>
              <a:rPr lang="en-US" sz="2800" b="1" dirty="0"/>
              <a:t>discussion </a:t>
            </a:r>
          </a:p>
          <a:p>
            <a:endParaRPr lang="en-US" dirty="0"/>
          </a:p>
        </p:txBody>
      </p:sp>
      <p:sp>
        <p:nvSpPr>
          <p:cNvPr id="16" name="TextBox 15">
            <a:extLst>
              <a:ext uri="{FF2B5EF4-FFF2-40B4-BE49-F238E27FC236}">
                <a16:creationId xmlns:a16="http://schemas.microsoft.com/office/drawing/2014/main" id="{EEF93D2D-1072-4350-52AA-655776BE9997}"/>
              </a:ext>
            </a:extLst>
          </p:cNvPr>
          <p:cNvSpPr txBox="1"/>
          <p:nvPr/>
        </p:nvSpPr>
        <p:spPr>
          <a:xfrm>
            <a:off x="563498" y="5316077"/>
            <a:ext cx="8331507" cy="1200329"/>
          </a:xfrm>
          <a:prstGeom prst="rect">
            <a:avLst/>
          </a:prstGeom>
          <a:solidFill>
            <a:schemeClr val="bg1">
              <a:lumMod val="65000"/>
              <a:alpha val="52000"/>
            </a:schemeClr>
          </a:solidFill>
        </p:spPr>
        <p:txBody>
          <a:bodyPr wrap="square">
            <a:spAutoFit/>
          </a:bodyPr>
          <a:lstStyle/>
          <a:p>
            <a:r>
              <a:rPr lang="en-US" sz="2400" b="1" dirty="0"/>
              <a:t>Tip</a:t>
            </a:r>
          </a:p>
          <a:p>
            <a:r>
              <a:rPr lang="en-US" sz="2400" dirty="0"/>
              <a:t>Think back to a time you had a role model within or outside academia that left a positive impression on you.</a:t>
            </a:r>
          </a:p>
        </p:txBody>
      </p:sp>
      <p:sp>
        <p:nvSpPr>
          <p:cNvPr id="21" name="TextBox 20">
            <a:extLst>
              <a:ext uri="{FF2B5EF4-FFF2-40B4-BE49-F238E27FC236}">
                <a16:creationId xmlns:a16="http://schemas.microsoft.com/office/drawing/2014/main" id="{477C07D7-DCDF-0C3D-44F0-6791D48D6333}"/>
              </a:ext>
            </a:extLst>
          </p:cNvPr>
          <p:cNvSpPr txBox="1"/>
          <p:nvPr/>
        </p:nvSpPr>
        <p:spPr>
          <a:xfrm>
            <a:off x="675252" y="4515164"/>
            <a:ext cx="2658193" cy="461665"/>
          </a:xfrm>
          <a:prstGeom prst="rect">
            <a:avLst/>
          </a:prstGeom>
          <a:noFill/>
        </p:spPr>
        <p:txBody>
          <a:bodyPr wrap="square">
            <a:spAutoFit/>
          </a:bodyPr>
          <a:lstStyle/>
          <a:p>
            <a:r>
              <a:rPr lang="en-US" sz="2400" dirty="0"/>
              <a:t>~10 minutes</a:t>
            </a:r>
          </a:p>
        </p:txBody>
      </p:sp>
    </p:spTree>
    <p:extLst>
      <p:ext uri="{BB962C8B-B14F-4D97-AF65-F5344CB8AC3E}">
        <p14:creationId xmlns:p14="http://schemas.microsoft.com/office/powerpoint/2010/main" val="4102949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A612F-441F-FDA4-30D8-C7A28EA1D00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281F25B-C7EF-70EB-A4C9-3AD6017E4C68}"/>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F8DC4C53-54DD-1EE3-A7E4-BA04DE70D0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C7FB7AB-B582-3111-30F3-ED963D73F07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EABB7B30-7A78-7DB1-6966-799C3D401309}"/>
              </a:ext>
            </a:extLst>
          </p:cNvPr>
          <p:cNvSpPr txBox="1">
            <a:spLocks/>
          </p:cNvSpPr>
          <p:nvPr/>
        </p:nvSpPr>
        <p:spPr>
          <a:xfrm>
            <a:off x="0" y="1"/>
            <a:ext cx="12192000" cy="8075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Some key leadership skills and qualities</a:t>
            </a:r>
          </a:p>
        </p:txBody>
      </p:sp>
      <p:sp>
        <p:nvSpPr>
          <p:cNvPr id="2" name="Slide Number Placeholder 1">
            <a:extLst>
              <a:ext uri="{FF2B5EF4-FFF2-40B4-BE49-F238E27FC236}">
                <a16:creationId xmlns:a16="http://schemas.microsoft.com/office/drawing/2014/main" id="{B59ADB19-0940-0950-98D2-E03ADA2B7F2F}"/>
              </a:ext>
            </a:extLst>
          </p:cNvPr>
          <p:cNvSpPr>
            <a:spLocks noGrp="1"/>
          </p:cNvSpPr>
          <p:nvPr>
            <p:ph type="sldNum" sz="quarter" idx="12"/>
          </p:nvPr>
        </p:nvSpPr>
        <p:spPr/>
        <p:txBody>
          <a:bodyPr/>
          <a:lstStyle/>
          <a:p>
            <a:fld id="{D292B180-B274-DE43-B36F-C827C7616C05}" type="slidenum">
              <a:rPr lang="en-US" smtClean="0"/>
              <a:t>12</a:t>
            </a:fld>
            <a:endParaRPr lang="en-US"/>
          </a:p>
        </p:txBody>
      </p:sp>
      <p:sp>
        <p:nvSpPr>
          <p:cNvPr id="3" name="TextBox 2">
            <a:extLst>
              <a:ext uri="{FF2B5EF4-FFF2-40B4-BE49-F238E27FC236}">
                <a16:creationId xmlns:a16="http://schemas.microsoft.com/office/drawing/2014/main" id="{91FC96B5-D4B0-F72E-FD73-3DC53A0FFF82}"/>
              </a:ext>
            </a:extLst>
          </p:cNvPr>
          <p:cNvSpPr txBox="1"/>
          <p:nvPr/>
        </p:nvSpPr>
        <p:spPr>
          <a:xfrm>
            <a:off x="935998" y="2383972"/>
            <a:ext cx="2185342" cy="461665"/>
          </a:xfrm>
          <a:prstGeom prst="rect">
            <a:avLst/>
          </a:prstGeom>
          <a:noFill/>
        </p:spPr>
        <p:txBody>
          <a:bodyPr wrap="none" rtlCol="0">
            <a:spAutoFit/>
          </a:bodyPr>
          <a:lstStyle/>
          <a:p>
            <a:r>
              <a:rPr lang="en-US" sz="2400" dirty="0"/>
              <a:t>Active listening</a:t>
            </a:r>
          </a:p>
        </p:txBody>
      </p:sp>
      <p:sp>
        <p:nvSpPr>
          <p:cNvPr id="7" name="TextBox 6">
            <a:extLst>
              <a:ext uri="{FF2B5EF4-FFF2-40B4-BE49-F238E27FC236}">
                <a16:creationId xmlns:a16="http://schemas.microsoft.com/office/drawing/2014/main" id="{7D690733-71E2-C960-C0A4-CC48B339EE8A}"/>
              </a:ext>
            </a:extLst>
          </p:cNvPr>
          <p:cNvSpPr txBox="1"/>
          <p:nvPr/>
        </p:nvSpPr>
        <p:spPr>
          <a:xfrm>
            <a:off x="7283954" y="4131302"/>
            <a:ext cx="2132507" cy="461665"/>
          </a:xfrm>
          <a:prstGeom prst="rect">
            <a:avLst/>
          </a:prstGeom>
          <a:noFill/>
        </p:spPr>
        <p:txBody>
          <a:bodyPr wrap="none" rtlCol="0">
            <a:spAutoFit/>
          </a:bodyPr>
          <a:lstStyle/>
          <a:p>
            <a:r>
              <a:rPr lang="en-US" sz="2400" dirty="0"/>
              <a:t>Active learning</a:t>
            </a:r>
          </a:p>
        </p:txBody>
      </p:sp>
      <p:sp>
        <p:nvSpPr>
          <p:cNvPr id="8" name="TextBox 7">
            <a:extLst>
              <a:ext uri="{FF2B5EF4-FFF2-40B4-BE49-F238E27FC236}">
                <a16:creationId xmlns:a16="http://schemas.microsoft.com/office/drawing/2014/main" id="{B1A0E58F-688D-558E-C254-7CFFFB300E6F}"/>
              </a:ext>
            </a:extLst>
          </p:cNvPr>
          <p:cNvSpPr txBox="1"/>
          <p:nvPr/>
        </p:nvSpPr>
        <p:spPr>
          <a:xfrm>
            <a:off x="1023203" y="5998794"/>
            <a:ext cx="2233497" cy="461665"/>
          </a:xfrm>
          <a:prstGeom prst="rect">
            <a:avLst/>
          </a:prstGeom>
          <a:noFill/>
        </p:spPr>
        <p:txBody>
          <a:bodyPr wrap="none" rtlCol="0">
            <a:spAutoFit/>
          </a:bodyPr>
          <a:lstStyle/>
          <a:p>
            <a:r>
              <a:rPr lang="en-US" sz="2400" dirty="0"/>
              <a:t>Self-awareness</a:t>
            </a:r>
          </a:p>
        </p:txBody>
      </p:sp>
      <p:sp>
        <p:nvSpPr>
          <p:cNvPr id="9" name="TextBox 8">
            <a:extLst>
              <a:ext uri="{FF2B5EF4-FFF2-40B4-BE49-F238E27FC236}">
                <a16:creationId xmlns:a16="http://schemas.microsoft.com/office/drawing/2014/main" id="{595AE5E7-F94D-FE6C-E3AF-FBE0230E8DC4}"/>
              </a:ext>
            </a:extLst>
          </p:cNvPr>
          <p:cNvSpPr txBox="1"/>
          <p:nvPr/>
        </p:nvSpPr>
        <p:spPr>
          <a:xfrm>
            <a:off x="3836219" y="2383972"/>
            <a:ext cx="3078728" cy="461665"/>
          </a:xfrm>
          <a:prstGeom prst="rect">
            <a:avLst/>
          </a:prstGeom>
          <a:noFill/>
        </p:spPr>
        <p:txBody>
          <a:bodyPr wrap="none" rtlCol="0">
            <a:spAutoFit/>
          </a:bodyPr>
          <a:lstStyle/>
          <a:p>
            <a:r>
              <a:rPr lang="en-US" sz="2400" dirty="0"/>
              <a:t>Clear communicators</a:t>
            </a:r>
          </a:p>
        </p:txBody>
      </p:sp>
      <p:sp>
        <p:nvSpPr>
          <p:cNvPr id="10" name="TextBox 9">
            <a:extLst>
              <a:ext uri="{FF2B5EF4-FFF2-40B4-BE49-F238E27FC236}">
                <a16:creationId xmlns:a16="http://schemas.microsoft.com/office/drawing/2014/main" id="{A89212C3-5BD1-C260-4FDF-37EB3BE0FD00}"/>
              </a:ext>
            </a:extLst>
          </p:cNvPr>
          <p:cNvSpPr txBox="1"/>
          <p:nvPr/>
        </p:nvSpPr>
        <p:spPr>
          <a:xfrm>
            <a:off x="7608124" y="6069514"/>
            <a:ext cx="1433534" cy="461665"/>
          </a:xfrm>
          <a:prstGeom prst="rect">
            <a:avLst/>
          </a:prstGeom>
          <a:noFill/>
        </p:spPr>
        <p:txBody>
          <a:bodyPr wrap="none" rtlCol="0">
            <a:spAutoFit/>
          </a:bodyPr>
          <a:lstStyle/>
          <a:p>
            <a:r>
              <a:rPr lang="en-US" sz="2400" dirty="0"/>
              <a:t>Flexibility</a:t>
            </a:r>
          </a:p>
        </p:txBody>
      </p:sp>
      <p:pic>
        <p:nvPicPr>
          <p:cNvPr id="14" name="Graphic 13" descr="Books with solid fill">
            <a:extLst>
              <a:ext uri="{FF2B5EF4-FFF2-40B4-BE49-F238E27FC236}">
                <a16:creationId xmlns:a16="http://schemas.microsoft.com/office/drawing/2014/main" id="{8666C286-89DD-EEBA-7226-1560E6D1A8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28079" y="1458589"/>
            <a:ext cx="807522" cy="807522"/>
          </a:xfrm>
          <a:prstGeom prst="rect">
            <a:avLst/>
          </a:prstGeom>
        </p:spPr>
      </p:pic>
      <p:pic>
        <p:nvPicPr>
          <p:cNvPr id="17" name="Graphic 16" descr="Reflection with solid fill">
            <a:extLst>
              <a:ext uri="{FF2B5EF4-FFF2-40B4-BE49-F238E27FC236}">
                <a16:creationId xmlns:a16="http://schemas.microsoft.com/office/drawing/2014/main" id="{C85034EA-D33E-E482-0D6C-E9E848C9F5C6}"/>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469" y="5084394"/>
            <a:ext cx="914400" cy="914400"/>
          </a:xfrm>
          <a:prstGeom prst="rect">
            <a:avLst/>
          </a:prstGeom>
        </p:spPr>
      </p:pic>
      <p:pic>
        <p:nvPicPr>
          <p:cNvPr id="19" name="Graphic 18" descr="Care with solid fill">
            <a:extLst>
              <a:ext uri="{FF2B5EF4-FFF2-40B4-BE49-F238E27FC236}">
                <a16:creationId xmlns:a16="http://schemas.microsoft.com/office/drawing/2014/main" id="{AABF9BDE-C231-E925-325A-83671D8E44A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00850" y="3110697"/>
            <a:ext cx="914400" cy="914400"/>
          </a:xfrm>
          <a:prstGeom prst="rect">
            <a:avLst/>
          </a:prstGeom>
        </p:spPr>
      </p:pic>
      <p:sp>
        <p:nvSpPr>
          <p:cNvPr id="20" name="TextBox 19">
            <a:extLst>
              <a:ext uri="{FF2B5EF4-FFF2-40B4-BE49-F238E27FC236}">
                <a16:creationId xmlns:a16="http://schemas.microsoft.com/office/drawing/2014/main" id="{9E6BD6E0-54AF-D735-4B61-665E7AA82D48}"/>
              </a:ext>
            </a:extLst>
          </p:cNvPr>
          <p:cNvSpPr txBox="1"/>
          <p:nvPr/>
        </p:nvSpPr>
        <p:spPr>
          <a:xfrm>
            <a:off x="7469935" y="2396872"/>
            <a:ext cx="2281330" cy="461665"/>
          </a:xfrm>
          <a:prstGeom prst="rect">
            <a:avLst/>
          </a:prstGeom>
          <a:noFill/>
        </p:spPr>
        <p:txBody>
          <a:bodyPr wrap="none" rtlCol="0">
            <a:spAutoFit/>
          </a:bodyPr>
          <a:lstStyle/>
          <a:p>
            <a:r>
              <a:rPr lang="en-US" sz="2400" dirty="0"/>
              <a:t>Knowledgeable </a:t>
            </a:r>
          </a:p>
        </p:txBody>
      </p:sp>
      <p:sp>
        <p:nvSpPr>
          <p:cNvPr id="21" name="TextBox 20">
            <a:extLst>
              <a:ext uri="{FF2B5EF4-FFF2-40B4-BE49-F238E27FC236}">
                <a16:creationId xmlns:a16="http://schemas.microsoft.com/office/drawing/2014/main" id="{3304884A-7B6C-33FB-7B68-79789F805D51}"/>
              </a:ext>
            </a:extLst>
          </p:cNvPr>
          <p:cNvSpPr txBox="1"/>
          <p:nvPr/>
        </p:nvSpPr>
        <p:spPr>
          <a:xfrm>
            <a:off x="1347778" y="4085670"/>
            <a:ext cx="1361783" cy="461665"/>
          </a:xfrm>
          <a:prstGeom prst="rect">
            <a:avLst/>
          </a:prstGeom>
          <a:noFill/>
        </p:spPr>
        <p:txBody>
          <a:bodyPr wrap="none" rtlCol="0">
            <a:spAutoFit/>
          </a:bodyPr>
          <a:lstStyle/>
          <a:p>
            <a:r>
              <a:rPr lang="en-US" sz="2400" dirty="0"/>
              <a:t>Empathy</a:t>
            </a:r>
          </a:p>
        </p:txBody>
      </p:sp>
      <p:pic>
        <p:nvPicPr>
          <p:cNvPr id="23" name="Graphic 22" descr="Chat with solid fill">
            <a:extLst>
              <a:ext uri="{FF2B5EF4-FFF2-40B4-BE49-F238E27FC236}">
                <a16:creationId xmlns:a16="http://schemas.microsoft.com/office/drawing/2014/main" id="{38655E9E-6B59-B1C4-225C-9ACFF61C2F0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00104" y="1405487"/>
            <a:ext cx="914400" cy="914400"/>
          </a:xfrm>
          <a:prstGeom prst="rect">
            <a:avLst/>
          </a:prstGeom>
        </p:spPr>
      </p:pic>
      <p:pic>
        <p:nvPicPr>
          <p:cNvPr id="25" name="Graphic 24" descr="Ear outline">
            <a:extLst>
              <a:ext uri="{FF2B5EF4-FFF2-40B4-BE49-F238E27FC236}">
                <a16:creationId xmlns:a16="http://schemas.microsoft.com/office/drawing/2014/main" id="{5BF68B29-762F-336E-BE6D-216FF3C99FB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00850" y="1439883"/>
            <a:ext cx="914400" cy="914400"/>
          </a:xfrm>
          <a:prstGeom prst="rect">
            <a:avLst/>
          </a:prstGeom>
        </p:spPr>
      </p:pic>
      <p:pic>
        <p:nvPicPr>
          <p:cNvPr id="27" name="Graphic 26" descr="Scientific Thought outline">
            <a:extLst>
              <a:ext uri="{FF2B5EF4-FFF2-40B4-BE49-F238E27FC236}">
                <a16:creationId xmlns:a16="http://schemas.microsoft.com/office/drawing/2014/main" id="{983A3E33-8A48-5992-3E55-6E77B8583B3D}"/>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867691" y="3086141"/>
            <a:ext cx="914400" cy="914400"/>
          </a:xfrm>
          <a:prstGeom prst="rect">
            <a:avLst/>
          </a:prstGeom>
        </p:spPr>
      </p:pic>
      <p:pic>
        <p:nvPicPr>
          <p:cNvPr id="32" name="Graphic 31" descr="Gymnast: Floor routine with solid fill">
            <a:extLst>
              <a:ext uri="{FF2B5EF4-FFF2-40B4-BE49-F238E27FC236}">
                <a16:creationId xmlns:a16="http://schemas.microsoft.com/office/drawing/2014/main" id="{61247B93-E86D-3350-F121-6ACC5E73436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893008" y="5084394"/>
            <a:ext cx="914400" cy="914400"/>
          </a:xfrm>
          <a:prstGeom prst="rect">
            <a:avLst/>
          </a:prstGeom>
        </p:spPr>
      </p:pic>
      <p:sp>
        <p:nvSpPr>
          <p:cNvPr id="33" name="TextBox 32">
            <a:extLst>
              <a:ext uri="{FF2B5EF4-FFF2-40B4-BE49-F238E27FC236}">
                <a16:creationId xmlns:a16="http://schemas.microsoft.com/office/drawing/2014/main" id="{63269796-3BE3-00DD-F898-2DE117CCE8C6}"/>
              </a:ext>
            </a:extLst>
          </p:cNvPr>
          <p:cNvSpPr txBox="1"/>
          <p:nvPr/>
        </p:nvSpPr>
        <p:spPr>
          <a:xfrm>
            <a:off x="4278685" y="6050810"/>
            <a:ext cx="1960345" cy="461665"/>
          </a:xfrm>
          <a:prstGeom prst="rect">
            <a:avLst/>
          </a:prstGeom>
          <a:noFill/>
        </p:spPr>
        <p:txBody>
          <a:bodyPr wrap="none" rtlCol="0">
            <a:spAutoFit/>
          </a:bodyPr>
          <a:lstStyle/>
          <a:p>
            <a:r>
              <a:rPr lang="en-US" sz="2400" dirty="0"/>
              <a:t>Collaborative</a:t>
            </a:r>
          </a:p>
        </p:txBody>
      </p:sp>
      <p:sp>
        <p:nvSpPr>
          <p:cNvPr id="34" name="TextBox 33">
            <a:extLst>
              <a:ext uri="{FF2B5EF4-FFF2-40B4-BE49-F238E27FC236}">
                <a16:creationId xmlns:a16="http://schemas.microsoft.com/office/drawing/2014/main" id="{B2AE7808-F826-F20E-8E32-BF8C5D43FF08}"/>
              </a:ext>
            </a:extLst>
          </p:cNvPr>
          <p:cNvSpPr txBox="1"/>
          <p:nvPr/>
        </p:nvSpPr>
        <p:spPr>
          <a:xfrm>
            <a:off x="4157667" y="4131302"/>
            <a:ext cx="2314608" cy="461665"/>
          </a:xfrm>
          <a:prstGeom prst="rect">
            <a:avLst/>
          </a:prstGeom>
          <a:noFill/>
        </p:spPr>
        <p:txBody>
          <a:bodyPr wrap="none" rtlCol="0">
            <a:spAutoFit/>
          </a:bodyPr>
          <a:lstStyle/>
          <a:p>
            <a:r>
              <a:rPr lang="en-US" sz="2400" dirty="0"/>
              <a:t>Problem solvers</a:t>
            </a:r>
          </a:p>
        </p:txBody>
      </p:sp>
      <p:pic>
        <p:nvPicPr>
          <p:cNvPr id="36" name="Graphic 35" descr="Puzzle pieces with solid fill">
            <a:extLst>
              <a:ext uri="{FF2B5EF4-FFF2-40B4-BE49-F238E27FC236}">
                <a16:creationId xmlns:a16="http://schemas.microsoft.com/office/drawing/2014/main" id="{EFC9257F-0EEA-E621-A9D4-23D36CA15214}"/>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00104" y="3216902"/>
            <a:ext cx="914400" cy="914400"/>
          </a:xfrm>
          <a:prstGeom prst="rect">
            <a:avLst/>
          </a:prstGeom>
        </p:spPr>
      </p:pic>
      <p:pic>
        <p:nvPicPr>
          <p:cNvPr id="38" name="Graphic 37" descr="Cheers with solid fill">
            <a:extLst>
              <a:ext uri="{FF2B5EF4-FFF2-40B4-BE49-F238E27FC236}">
                <a16:creationId xmlns:a16="http://schemas.microsoft.com/office/drawing/2014/main" id="{9868C63D-E501-90C8-5A73-A412029DB968}"/>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00104" y="5084394"/>
            <a:ext cx="914400" cy="914400"/>
          </a:xfrm>
          <a:prstGeom prst="rect">
            <a:avLst/>
          </a:prstGeom>
        </p:spPr>
      </p:pic>
      <p:sp>
        <p:nvSpPr>
          <p:cNvPr id="40" name="TextBox 39">
            <a:extLst>
              <a:ext uri="{FF2B5EF4-FFF2-40B4-BE49-F238E27FC236}">
                <a16:creationId xmlns:a16="http://schemas.microsoft.com/office/drawing/2014/main" id="{AB76DD02-B703-ED45-F092-0E7910D1DAEF}"/>
              </a:ext>
            </a:extLst>
          </p:cNvPr>
          <p:cNvSpPr txBox="1"/>
          <p:nvPr/>
        </p:nvSpPr>
        <p:spPr>
          <a:xfrm>
            <a:off x="75043" y="726168"/>
            <a:ext cx="2157578" cy="369332"/>
          </a:xfrm>
          <a:prstGeom prst="rect">
            <a:avLst/>
          </a:prstGeom>
          <a:noFill/>
        </p:spPr>
        <p:txBody>
          <a:bodyPr wrap="none" rtlCol="0">
            <a:spAutoFit/>
          </a:bodyPr>
          <a:lstStyle/>
          <a:p>
            <a:r>
              <a:rPr lang="en-US" dirty="0"/>
              <a:t>Non-exhaustive list!</a:t>
            </a:r>
          </a:p>
        </p:txBody>
      </p:sp>
    </p:spTree>
    <p:extLst>
      <p:ext uri="{BB962C8B-B14F-4D97-AF65-F5344CB8AC3E}">
        <p14:creationId xmlns:p14="http://schemas.microsoft.com/office/powerpoint/2010/main" val="18237648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78EC3-23DF-1FC7-B954-EFCAE98BD33D}"/>
            </a:ext>
          </a:extLst>
        </p:cNvPr>
        <p:cNvGrpSpPr/>
        <p:nvPr/>
      </p:nvGrpSpPr>
      <p:grpSpPr>
        <a:xfrm>
          <a:off x="0" y="0"/>
          <a:ext cx="0" cy="0"/>
          <a:chOff x="0" y="0"/>
          <a:chExt cx="0" cy="0"/>
        </a:xfrm>
      </p:grpSpPr>
      <p:sp>
        <p:nvSpPr>
          <p:cNvPr id="11" name="Rectangle 10">
            <a:extLst>
              <a:ext uri="{FF2B5EF4-FFF2-40B4-BE49-F238E27FC236}">
                <a16:creationId xmlns:a16="http://schemas.microsoft.com/office/drawing/2014/main" id="{180C5909-C6E5-A622-5AD3-2F376662FDF8}"/>
              </a:ext>
            </a:extLst>
          </p:cNvPr>
          <p:cNvSpPr/>
          <p:nvPr/>
        </p:nvSpPr>
        <p:spPr>
          <a:xfrm>
            <a:off x="6914947" y="1094358"/>
            <a:ext cx="3078729" cy="1761599"/>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3801981-4F98-EED1-16B8-501B1AAFBB79}"/>
              </a:ext>
            </a:extLst>
          </p:cNvPr>
          <p:cNvSpPr/>
          <p:nvPr/>
        </p:nvSpPr>
        <p:spPr>
          <a:xfrm>
            <a:off x="605642" y="2858537"/>
            <a:ext cx="6309305" cy="3862938"/>
          </a:xfrm>
          <a:prstGeom prst="rect">
            <a:avLst/>
          </a:prstGeom>
          <a:solidFill>
            <a:schemeClr val="accent6">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4" name="Group 3">
            <a:extLst>
              <a:ext uri="{FF2B5EF4-FFF2-40B4-BE49-F238E27FC236}">
                <a16:creationId xmlns:a16="http://schemas.microsoft.com/office/drawing/2014/main" id="{082523B7-3CE9-7DD1-DE55-DE09520E718B}"/>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CAA1009E-257F-6C9D-1CAA-3623735461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30E46A1-7643-BDC1-16DE-2596F29E497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F698EA4D-6C63-6FF2-7FAE-AE4A4D3544F3}"/>
              </a:ext>
            </a:extLst>
          </p:cNvPr>
          <p:cNvSpPr txBox="1">
            <a:spLocks/>
          </p:cNvSpPr>
          <p:nvPr/>
        </p:nvSpPr>
        <p:spPr>
          <a:xfrm>
            <a:off x="0" y="1"/>
            <a:ext cx="12192000" cy="80752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Some key leadership skills and qualities</a:t>
            </a:r>
          </a:p>
        </p:txBody>
      </p:sp>
      <p:sp>
        <p:nvSpPr>
          <p:cNvPr id="2" name="Slide Number Placeholder 1">
            <a:extLst>
              <a:ext uri="{FF2B5EF4-FFF2-40B4-BE49-F238E27FC236}">
                <a16:creationId xmlns:a16="http://schemas.microsoft.com/office/drawing/2014/main" id="{D65B502D-6804-2DF7-F619-10400BF23C76}"/>
              </a:ext>
            </a:extLst>
          </p:cNvPr>
          <p:cNvSpPr>
            <a:spLocks noGrp="1"/>
          </p:cNvSpPr>
          <p:nvPr>
            <p:ph type="sldNum" sz="quarter" idx="12"/>
          </p:nvPr>
        </p:nvSpPr>
        <p:spPr/>
        <p:txBody>
          <a:bodyPr/>
          <a:lstStyle/>
          <a:p>
            <a:fld id="{D292B180-B274-DE43-B36F-C827C7616C05}" type="slidenum">
              <a:rPr lang="en-US" smtClean="0"/>
              <a:t>13</a:t>
            </a:fld>
            <a:endParaRPr lang="en-US"/>
          </a:p>
        </p:txBody>
      </p:sp>
      <p:sp>
        <p:nvSpPr>
          <p:cNvPr id="3" name="TextBox 2">
            <a:extLst>
              <a:ext uri="{FF2B5EF4-FFF2-40B4-BE49-F238E27FC236}">
                <a16:creationId xmlns:a16="http://schemas.microsoft.com/office/drawing/2014/main" id="{FF5C588F-0492-EACE-32FA-BD14B50213E1}"/>
              </a:ext>
            </a:extLst>
          </p:cNvPr>
          <p:cNvSpPr txBox="1"/>
          <p:nvPr/>
        </p:nvSpPr>
        <p:spPr>
          <a:xfrm>
            <a:off x="935998" y="2383972"/>
            <a:ext cx="2185342" cy="461665"/>
          </a:xfrm>
          <a:prstGeom prst="rect">
            <a:avLst/>
          </a:prstGeom>
          <a:noFill/>
        </p:spPr>
        <p:txBody>
          <a:bodyPr wrap="none" rtlCol="0">
            <a:spAutoFit/>
          </a:bodyPr>
          <a:lstStyle/>
          <a:p>
            <a:r>
              <a:rPr lang="en-US" sz="2400" dirty="0"/>
              <a:t>Active listening</a:t>
            </a:r>
          </a:p>
        </p:txBody>
      </p:sp>
      <p:sp>
        <p:nvSpPr>
          <p:cNvPr id="7" name="TextBox 6">
            <a:extLst>
              <a:ext uri="{FF2B5EF4-FFF2-40B4-BE49-F238E27FC236}">
                <a16:creationId xmlns:a16="http://schemas.microsoft.com/office/drawing/2014/main" id="{11E17661-6851-8C7A-26E1-B92AC05B4B1D}"/>
              </a:ext>
            </a:extLst>
          </p:cNvPr>
          <p:cNvSpPr txBox="1"/>
          <p:nvPr/>
        </p:nvSpPr>
        <p:spPr>
          <a:xfrm>
            <a:off x="7283954" y="4131302"/>
            <a:ext cx="2132507" cy="461665"/>
          </a:xfrm>
          <a:prstGeom prst="rect">
            <a:avLst/>
          </a:prstGeom>
          <a:noFill/>
        </p:spPr>
        <p:txBody>
          <a:bodyPr wrap="none" rtlCol="0">
            <a:spAutoFit/>
          </a:bodyPr>
          <a:lstStyle/>
          <a:p>
            <a:r>
              <a:rPr lang="en-US" sz="2400" dirty="0"/>
              <a:t>Active learning</a:t>
            </a:r>
          </a:p>
        </p:txBody>
      </p:sp>
      <p:sp>
        <p:nvSpPr>
          <p:cNvPr id="8" name="TextBox 7">
            <a:extLst>
              <a:ext uri="{FF2B5EF4-FFF2-40B4-BE49-F238E27FC236}">
                <a16:creationId xmlns:a16="http://schemas.microsoft.com/office/drawing/2014/main" id="{DE5F210A-D072-D8B5-C158-1CF85ADFEAE8}"/>
              </a:ext>
            </a:extLst>
          </p:cNvPr>
          <p:cNvSpPr txBox="1"/>
          <p:nvPr/>
        </p:nvSpPr>
        <p:spPr>
          <a:xfrm>
            <a:off x="1023203" y="5998794"/>
            <a:ext cx="2233497" cy="461665"/>
          </a:xfrm>
          <a:prstGeom prst="rect">
            <a:avLst/>
          </a:prstGeom>
          <a:noFill/>
        </p:spPr>
        <p:txBody>
          <a:bodyPr wrap="none" rtlCol="0">
            <a:spAutoFit/>
          </a:bodyPr>
          <a:lstStyle/>
          <a:p>
            <a:r>
              <a:rPr lang="en-US" sz="2400" dirty="0"/>
              <a:t>Self-awareness</a:t>
            </a:r>
          </a:p>
        </p:txBody>
      </p:sp>
      <p:sp>
        <p:nvSpPr>
          <p:cNvPr id="9" name="TextBox 8">
            <a:extLst>
              <a:ext uri="{FF2B5EF4-FFF2-40B4-BE49-F238E27FC236}">
                <a16:creationId xmlns:a16="http://schemas.microsoft.com/office/drawing/2014/main" id="{97913939-E2BC-C62D-9228-07B1526D9C7F}"/>
              </a:ext>
            </a:extLst>
          </p:cNvPr>
          <p:cNvSpPr txBox="1"/>
          <p:nvPr/>
        </p:nvSpPr>
        <p:spPr>
          <a:xfrm>
            <a:off x="3836219" y="2383972"/>
            <a:ext cx="3078728" cy="461665"/>
          </a:xfrm>
          <a:prstGeom prst="rect">
            <a:avLst/>
          </a:prstGeom>
          <a:noFill/>
        </p:spPr>
        <p:txBody>
          <a:bodyPr wrap="none" rtlCol="0">
            <a:spAutoFit/>
          </a:bodyPr>
          <a:lstStyle/>
          <a:p>
            <a:r>
              <a:rPr lang="en-US" sz="2400" dirty="0"/>
              <a:t>Clear communicators</a:t>
            </a:r>
          </a:p>
        </p:txBody>
      </p:sp>
      <p:sp>
        <p:nvSpPr>
          <p:cNvPr id="10" name="TextBox 9">
            <a:extLst>
              <a:ext uri="{FF2B5EF4-FFF2-40B4-BE49-F238E27FC236}">
                <a16:creationId xmlns:a16="http://schemas.microsoft.com/office/drawing/2014/main" id="{68746993-09B5-86B2-F387-11AF48E7AB51}"/>
              </a:ext>
            </a:extLst>
          </p:cNvPr>
          <p:cNvSpPr txBox="1"/>
          <p:nvPr/>
        </p:nvSpPr>
        <p:spPr>
          <a:xfrm>
            <a:off x="7608124" y="6069514"/>
            <a:ext cx="1433534" cy="461665"/>
          </a:xfrm>
          <a:prstGeom prst="rect">
            <a:avLst/>
          </a:prstGeom>
          <a:noFill/>
        </p:spPr>
        <p:txBody>
          <a:bodyPr wrap="none" rtlCol="0">
            <a:spAutoFit/>
          </a:bodyPr>
          <a:lstStyle/>
          <a:p>
            <a:r>
              <a:rPr lang="en-US" sz="2400" dirty="0"/>
              <a:t>Flexibility</a:t>
            </a:r>
          </a:p>
        </p:txBody>
      </p:sp>
      <p:pic>
        <p:nvPicPr>
          <p:cNvPr id="14" name="Graphic 13" descr="Books with solid fill">
            <a:extLst>
              <a:ext uri="{FF2B5EF4-FFF2-40B4-BE49-F238E27FC236}">
                <a16:creationId xmlns:a16="http://schemas.microsoft.com/office/drawing/2014/main" id="{91A0214E-A45F-F996-55E6-5D107E1D9C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128079" y="1458589"/>
            <a:ext cx="807522" cy="807522"/>
          </a:xfrm>
          <a:prstGeom prst="rect">
            <a:avLst/>
          </a:prstGeom>
        </p:spPr>
      </p:pic>
      <p:pic>
        <p:nvPicPr>
          <p:cNvPr id="17" name="Graphic 16" descr="Reflection with solid fill">
            <a:extLst>
              <a:ext uri="{FF2B5EF4-FFF2-40B4-BE49-F238E27FC236}">
                <a16:creationId xmlns:a16="http://schemas.microsoft.com/office/drawing/2014/main" id="{8643FFEF-94E6-2036-BF85-3CDCB4004DC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571469" y="5084394"/>
            <a:ext cx="914400" cy="914400"/>
          </a:xfrm>
          <a:prstGeom prst="rect">
            <a:avLst/>
          </a:prstGeom>
        </p:spPr>
      </p:pic>
      <p:pic>
        <p:nvPicPr>
          <p:cNvPr id="19" name="Graphic 18" descr="Care with solid fill">
            <a:extLst>
              <a:ext uri="{FF2B5EF4-FFF2-40B4-BE49-F238E27FC236}">
                <a16:creationId xmlns:a16="http://schemas.microsoft.com/office/drawing/2014/main" id="{7372EB05-9589-DAB8-C584-C56C99114C7D}"/>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500850" y="3110697"/>
            <a:ext cx="914400" cy="914400"/>
          </a:xfrm>
          <a:prstGeom prst="rect">
            <a:avLst/>
          </a:prstGeom>
        </p:spPr>
      </p:pic>
      <p:sp>
        <p:nvSpPr>
          <p:cNvPr id="20" name="TextBox 19">
            <a:extLst>
              <a:ext uri="{FF2B5EF4-FFF2-40B4-BE49-F238E27FC236}">
                <a16:creationId xmlns:a16="http://schemas.microsoft.com/office/drawing/2014/main" id="{838291E1-D8A5-1A32-844C-1C18418DFA3F}"/>
              </a:ext>
            </a:extLst>
          </p:cNvPr>
          <p:cNvSpPr txBox="1"/>
          <p:nvPr/>
        </p:nvSpPr>
        <p:spPr>
          <a:xfrm>
            <a:off x="7469935" y="2396872"/>
            <a:ext cx="2281330" cy="461665"/>
          </a:xfrm>
          <a:prstGeom prst="rect">
            <a:avLst/>
          </a:prstGeom>
          <a:noFill/>
        </p:spPr>
        <p:txBody>
          <a:bodyPr wrap="none" rtlCol="0">
            <a:spAutoFit/>
          </a:bodyPr>
          <a:lstStyle/>
          <a:p>
            <a:r>
              <a:rPr lang="en-US" sz="2400" dirty="0"/>
              <a:t>Knowledgeable </a:t>
            </a:r>
          </a:p>
        </p:txBody>
      </p:sp>
      <p:sp>
        <p:nvSpPr>
          <p:cNvPr id="21" name="TextBox 20">
            <a:extLst>
              <a:ext uri="{FF2B5EF4-FFF2-40B4-BE49-F238E27FC236}">
                <a16:creationId xmlns:a16="http://schemas.microsoft.com/office/drawing/2014/main" id="{8678106B-6FC0-E577-30BF-0677CE66957D}"/>
              </a:ext>
            </a:extLst>
          </p:cNvPr>
          <p:cNvSpPr txBox="1"/>
          <p:nvPr/>
        </p:nvSpPr>
        <p:spPr>
          <a:xfrm>
            <a:off x="1347778" y="4085670"/>
            <a:ext cx="1361783" cy="461665"/>
          </a:xfrm>
          <a:prstGeom prst="rect">
            <a:avLst/>
          </a:prstGeom>
          <a:noFill/>
        </p:spPr>
        <p:txBody>
          <a:bodyPr wrap="none" rtlCol="0">
            <a:spAutoFit/>
          </a:bodyPr>
          <a:lstStyle/>
          <a:p>
            <a:r>
              <a:rPr lang="en-US" sz="2400" dirty="0"/>
              <a:t>Empathy</a:t>
            </a:r>
          </a:p>
        </p:txBody>
      </p:sp>
      <p:pic>
        <p:nvPicPr>
          <p:cNvPr id="23" name="Graphic 22" descr="Chat with solid fill">
            <a:extLst>
              <a:ext uri="{FF2B5EF4-FFF2-40B4-BE49-F238E27FC236}">
                <a16:creationId xmlns:a16="http://schemas.microsoft.com/office/drawing/2014/main" id="{F7BCE1EE-AB54-893D-F1B3-22D1BC93928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00104" y="1405487"/>
            <a:ext cx="914400" cy="914400"/>
          </a:xfrm>
          <a:prstGeom prst="rect">
            <a:avLst/>
          </a:prstGeom>
        </p:spPr>
      </p:pic>
      <p:pic>
        <p:nvPicPr>
          <p:cNvPr id="25" name="Graphic 24" descr="Ear outline">
            <a:extLst>
              <a:ext uri="{FF2B5EF4-FFF2-40B4-BE49-F238E27FC236}">
                <a16:creationId xmlns:a16="http://schemas.microsoft.com/office/drawing/2014/main" id="{81265A1E-C8C8-ED6D-744D-025991BA223F}"/>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500850" y="1439883"/>
            <a:ext cx="914400" cy="914400"/>
          </a:xfrm>
          <a:prstGeom prst="rect">
            <a:avLst/>
          </a:prstGeom>
        </p:spPr>
      </p:pic>
      <p:pic>
        <p:nvPicPr>
          <p:cNvPr id="27" name="Graphic 26" descr="Scientific Thought outline">
            <a:extLst>
              <a:ext uri="{FF2B5EF4-FFF2-40B4-BE49-F238E27FC236}">
                <a16:creationId xmlns:a16="http://schemas.microsoft.com/office/drawing/2014/main" id="{88A571DB-042F-2945-7003-6F295E85DD93}"/>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7867691" y="3086141"/>
            <a:ext cx="914400" cy="914400"/>
          </a:xfrm>
          <a:prstGeom prst="rect">
            <a:avLst/>
          </a:prstGeom>
        </p:spPr>
      </p:pic>
      <p:pic>
        <p:nvPicPr>
          <p:cNvPr id="32" name="Graphic 31" descr="Gymnast: Floor routine with solid fill">
            <a:extLst>
              <a:ext uri="{FF2B5EF4-FFF2-40B4-BE49-F238E27FC236}">
                <a16:creationId xmlns:a16="http://schemas.microsoft.com/office/drawing/2014/main" id="{3E4500E0-BA29-FEA0-F572-A165F8F34E6D}"/>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7893008" y="5084394"/>
            <a:ext cx="914400" cy="914400"/>
          </a:xfrm>
          <a:prstGeom prst="rect">
            <a:avLst/>
          </a:prstGeom>
        </p:spPr>
      </p:pic>
      <p:sp>
        <p:nvSpPr>
          <p:cNvPr id="33" name="TextBox 32">
            <a:extLst>
              <a:ext uri="{FF2B5EF4-FFF2-40B4-BE49-F238E27FC236}">
                <a16:creationId xmlns:a16="http://schemas.microsoft.com/office/drawing/2014/main" id="{032EC5AE-465B-1A1C-5A62-51A7B747530B}"/>
              </a:ext>
            </a:extLst>
          </p:cNvPr>
          <p:cNvSpPr txBox="1"/>
          <p:nvPr/>
        </p:nvSpPr>
        <p:spPr>
          <a:xfrm>
            <a:off x="4278685" y="6050810"/>
            <a:ext cx="1960345" cy="461665"/>
          </a:xfrm>
          <a:prstGeom prst="rect">
            <a:avLst/>
          </a:prstGeom>
          <a:noFill/>
        </p:spPr>
        <p:txBody>
          <a:bodyPr wrap="none" rtlCol="0">
            <a:spAutoFit/>
          </a:bodyPr>
          <a:lstStyle/>
          <a:p>
            <a:r>
              <a:rPr lang="en-US" sz="2400" dirty="0"/>
              <a:t>Collaborative</a:t>
            </a:r>
          </a:p>
        </p:txBody>
      </p:sp>
      <p:sp>
        <p:nvSpPr>
          <p:cNvPr id="34" name="TextBox 33">
            <a:extLst>
              <a:ext uri="{FF2B5EF4-FFF2-40B4-BE49-F238E27FC236}">
                <a16:creationId xmlns:a16="http://schemas.microsoft.com/office/drawing/2014/main" id="{7D2C19B1-79A3-B7BF-7D54-84897B2584E6}"/>
              </a:ext>
            </a:extLst>
          </p:cNvPr>
          <p:cNvSpPr txBox="1"/>
          <p:nvPr/>
        </p:nvSpPr>
        <p:spPr>
          <a:xfrm>
            <a:off x="4157667" y="4131302"/>
            <a:ext cx="2314608" cy="461665"/>
          </a:xfrm>
          <a:prstGeom prst="rect">
            <a:avLst/>
          </a:prstGeom>
          <a:noFill/>
        </p:spPr>
        <p:txBody>
          <a:bodyPr wrap="none" rtlCol="0">
            <a:spAutoFit/>
          </a:bodyPr>
          <a:lstStyle/>
          <a:p>
            <a:r>
              <a:rPr lang="en-US" sz="2400" dirty="0"/>
              <a:t>Problem solvers</a:t>
            </a:r>
          </a:p>
        </p:txBody>
      </p:sp>
      <p:pic>
        <p:nvPicPr>
          <p:cNvPr id="36" name="Graphic 35" descr="Puzzle pieces with solid fill">
            <a:extLst>
              <a:ext uri="{FF2B5EF4-FFF2-40B4-BE49-F238E27FC236}">
                <a16:creationId xmlns:a16="http://schemas.microsoft.com/office/drawing/2014/main" id="{39C3998A-DC62-8096-AF29-E132BC99EFE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4700104" y="3216902"/>
            <a:ext cx="914400" cy="914400"/>
          </a:xfrm>
          <a:prstGeom prst="rect">
            <a:avLst/>
          </a:prstGeom>
        </p:spPr>
      </p:pic>
      <p:pic>
        <p:nvPicPr>
          <p:cNvPr id="38" name="Graphic 37" descr="Cheers with solid fill">
            <a:extLst>
              <a:ext uri="{FF2B5EF4-FFF2-40B4-BE49-F238E27FC236}">
                <a16:creationId xmlns:a16="http://schemas.microsoft.com/office/drawing/2014/main" id="{BFD3326A-9CAE-4728-6B7C-352011E4AA31}"/>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4700104" y="5084394"/>
            <a:ext cx="914400" cy="914400"/>
          </a:xfrm>
          <a:prstGeom prst="rect">
            <a:avLst/>
          </a:prstGeom>
        </p:spPr>
      </p:pic>
      <p:sp>
        <p:nvSpPr>
          <p:cNvPr id="40" name="TextBox 39">
            <a:extLst>
              <a:ext uri="{FF2B5EF4-FFF2-40B4-BE49-F238E27FC236}">
                <a16:creationId xmlns:a16="http://schemas.microsoft.com/office/drawing/2014/main" id="{65A87953-5B46-D2E7-0BE8-3C82730C666B}"/>
              </a:ext>
            </a:extLst>
          </p:cNvPr>
          <p:cNvSpPr txBox="1"/>
          <p:nvPr/>
        </p:nvSpPr>
        <p:spPr>
          <a:xfrm>
            <a:off x="75043" y="726168"/>
            <a:ext cx="5890715" cy="369332"/>
          </a:xfrm>
          <a:prstGeom prst="rect">
            <a:avLst/>
          </a:prstGeom>
          <a:noFill/>
        </p:spPr>
        <p:txBody>
          <a:bodyPr wrap="none" rtlCol="0">
            <a:spAutoFit/>
          </a:bodyPr>
          <a:lstStyle/>
          <a:p>
            <a:r>
              <a:rPr lang="en-US" dirty="0"/>
              <a:t>Focus on five leadership qualities over the three sessions:</a:t>
            </a:r>
          </a:p>
        </p:txBody>
      </p:sp>
    </p:spTree>
    <p:extLst>
      <p:ext uri="{BB962C8B-B14F-4D97-AF65-F5344CB8AC3E}">
        <p14:creationId xmlns:p14="http://schemas.microsoft.com/office/powerpoint/2010/main" val="34568500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182A39-724B-6A80-0995-FB87EDB47C7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EDD8C2D-26A7-3E5B-A6CD-1CEE903C012D}"/>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D980DB4E-0B6C-DE4F-85A2-016C9DF70D7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3A49335-22C1-2D0F-7243-7C79E98F055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26408772-5DB5-98A7-DF03-8FBAEA1EEFC2}"/>
              </a:ext>
            </a:extLst>
          </p:cNvPr>
          <p:cNvSpPr txBox="1">
            <a:spLocks/>
          </p:cNvSpPr>
          <p:nvPr/>
        </p:nvSpPr>
        <p:spPr>
          <a:xfrm>
            <a:off x="0" y="-30838"/>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Diversity of leadership roles</a:t>
            </a:r>
          </a:p>
        </p:txBody>
      </p:sp>
      <p:sp>
        <p:nvSpPr>
          <p:cNvPr id="2" name="Slide Number Placeholder 1">
            <a:extLst>
              <a:ext uri="{FF2B5EF4-FFF2-40B4-BE49-F238E27FC236}">
                <a16:creationId xmlns:a16="http://schemas.microsoft.com/office/drawing/2014/main" id="{B92FA2B4-113D-89CC-B26D-AAE9B03F0200}"/>
              </a:ext>
            </a:extLst>
          </p:cNvPr>
          <p:cNvSpPr>
            <a:spLocks noGrp="1"/>
          </p:cNvSpPr>
          <p:nvPr>
            <p:ph type="sldNum" sz="quarter" idx="12"/>
          </p:nvPr>
        </p:nvSpPr>
        <p:spPr/>
        <p:txBody>
          <a:bodyPr/>
          <a:lstStyle/>
          <a:p>
            <a:fld id="{D292B180-B274-DE43-B36F-C827C7616C05}" type="slidenum">
              <a:rPr lang="en-US" smtClean="0"/>
              <a:t>14</a:t>
            </a:fld>
            <a:endParaRPr lang="en-US"/>
          </a:p>
        </p:txBody>
      </p:sp>
      <p:pic>
        <p:nvPicPr>
          <p:cNvPr id="8" name="Picture 7">
            <a:extLst>
              <a:ext uri="{FF2B5EF4-FFF2-40B4-BE49-F238E27FC236}">
                <a16:creationId xmlns:a16="http://schemas.microsoft.com/office/drawing/2014/main" id="{EE04C683-8FD9-5301-4065-C7FBB0110ECA}"/>
              </a:ext>
            </a:extLst>
          </p:cNvPr>
          <p:cNvPicPr>
            <a:picLocks noChangeAspect="1"/>
          </p:cNvPicPr>
          <p:nvPr/>
        </p:nvPicPr>
        <p:blipFill>
          <a:blip r:embed="rId5"/>
          <a:srcRect l="27625" t="24521" r="27778" b="29195"/>
          <a:stretch>
            <a:fillRect/>
          </a:stretch>
        </p:blipFill>
        <p:spPr>
          <a:xfrm>
            <a:off x="3343379" y="881221"/>
            <a:ext cx="5752752" cy="5970214"/>
          </a:xfrm>
          <a:prstGeom prst="rect">
            <a:avLst/>
          </a:prstGeom>
        </p:spPr>
      </p:pic>
    </p:spTree>
    <p:extLst>
      <p:ext uri="{BB962C8B-B14F-4D97-AF65-F5344CB8AC3E}">
        <p14:creationId xmlns:p14="http://schemas.microsoft.com/office/powerpoint/2010/main" val="15494587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578E6-C379-EDE3-45C8-2A9A97B430F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EFBBCE3F-7155-AB64-D1C7-0293A43980CC}"/>
              </a:ext>
            </a:extLst>
          </p:cNvPr>
          <p:cNvPicPr>
            <a:picLocks noChangeAspect="1"/>
          </p:cNvPicPr>
          <p:nvPr/>
        </p:nvPicPr>
        <p:blipFill>
          <a:blip r:embed="rId3"/>
          <a:srcRect l="27625" t="24521" r="27778" b="29195"/>
          <a:stretch>
            <a:fillRect/>
          </a:stretch>
        </p:blipFill>
        <p:spPr>
          <a:xfrm>
            <a:off x="3343379" y="881221"/>
            <a:ext cx="5752752" cy="5970214"/>
          </a:xfrm>
          <a:prstGeom prst="rect">
            <a:avLst/>
          </a:prstGeom>
        </p:spPr>
      </p:pic>
      <p:grpSp>
        <p:nvGrpSpPr>
          <p:cNvPr id="4" name="Group 3">
            <a:extLst>
              <a:ext uri="{FF2B5EF4-FFF2-40B4-BE49-F238E27FC236}">
                <a16:creationId xmlns:a16="http://schemas.microsoft.com/office/drawing/2014/main" id="{71BAE48C-4688-1E92-D7AB-DCABCD39FE2C}"/>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C12CFA88-502A-99C0-D98E-BC120237FA8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6A3930C-E1FD-8D5D-B4AE-F8B975CEA4FF}"/>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D3A40FEC-ABD3-8240-CF35-C23772C43A2E}"/>
              </a:ext>
            </a:extLst>
          </p:cNvPr>
          <p:cNvSpPr txBox="1">
            <a:spLocks/>
          </p:cNvSpPr>
          <p:nvPr/>
        </p:nvSpPr>
        <p:spPr>
          <a:xfrm>
            <a:off x="0" y="6565"/>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Diversity of leadership roles: formal</a:t>
            </a:r>
          </a:p>
        </p:txBody>
      </p:sp>
      <p:sp>
        <p:nvSpPr>
          <p:cNvPr id="19" name="TextBox 18">
            <a:extLst>
              <a:ext uri="{FF2B5EF4-FFF2-40B4-BE49-F238E27FC236}">
                <a16:creationId xmlns:a16="http://schemas.microsoft.com/office/drawing/2014/main" id="{242832DE-8550-BF16-338C-EAE0CD370F68}"/>
              </a:ext>
            </a:extLst>
          </p:cNvPr>
          <p:cNvSpPr txBox="1"/>
          <p:nvPr/>
        </p:nvSpPr>
        <p:spPr>
          <a:xfrm>
            <a:off x="482966" y="5537557"/>
            <a:ext cx="1586644" cy="523220"/>
          </a:xfrm>
          <a:prstGeom prst="rect">
            <a:avLst/>
          </a:prstGeom>
          <a:noFill/>
        </p:spPr>
        <p:txBody>
          <a:bodyPr wrap="square" rtlCol="0">
            <a:spAutoFit/>
          </a:bodyPr>
          <a:lstStyle/>
          <a:p>
            <a:r>
              <a:rPr lang="en-US" sz="2800" b="1" dirty="0"/>
              <a:t>Formal</a:t>
            </a:r>
          </a:p>
        </p:txBody>
      </p:sp>
      <p:sp>
        <p:nvSpPr>
          <p:cNvPr id="20" name="Right Brace 19">
            <a:extLst>
              <a:ext uri="{FF2B5EF4-FFF2-40B4-BE49-F238E27FC236}">
                <a16:creationId xmlns:a16="http://schemas.microsoft.com/office/drawing/2014/main" id="{8714AC09-BCA7-1DC2-E068-C5D8F5ADC924}"/>
              </a:ext>
            </a:extLst>
          </p:cNvPr>
          <p:cNvSpPr/>
          <p:nvPr/>
        </p:nvSpPr>
        <p:spPr>
          <a:xfrm rot="9538748">
            <a:off x="1766864" y="2370352"/>
            <a:ext cx="3820647" cy="4949349"/>
          </a:xfrm>
          <a:prstGeom prst="rightBrace">
            <a:avLst>
              <a:gd name="adj1" fmla="val 17339"/>
              <a:gd name="adj2" fmla="val 47789"/>
            </a:avLst>
          </a:prstGeom>
          <a:ln w="50800">
            <a:solidFill>
              <a:schemeClr val="tx1">
                <a:alpha val="46979"/>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4" name="TextBox 23">
            <a:extLst>
              <a:ext uri="{FF2B5EF4-FFF2-40B4-BE49-F238E27FC236}">
                <a16:creationId xmlns:a16="http://schemas.microsoft.com/office/drawing/2014/main" id="{ED87CAC1-34B7-E064-8C8E-DF4A034973B1}"/>
              </a:ext>
            </a:extLst>
          </p:cNvPr>
          <p:cNvSpPr txBox="1"/>
          <p:nvPr/>
        </p:nvSpPr>
        <p:spPr>
          <a:xfrm>
            <a:off x="45415" y="1849793"/>
            <a:ext cx="2754935" cy="3693319"/>
          </a:xfrm>
          <a:prstGeom prst="rect">
            <a:avLst/>
          </a:prstGeom>
          <a:noFill/>
        </p:spPr>
        <p:txBody>
          <a:bodyPr wrap="square">
            <a:spAutoFit/>
          </a:bodyPr>
          <a:lstStyle/>
          <a:p>
            <a:pPr marL="285750" indent="-285750">
              <a:buFont typeface="Arial" panose="020B0604020202020204" pitchFamily="34" charset="0"/>
              <a:buChar char="•"/>
            </a:pPr>
            <a:r>
              <a:rPr lang="en-US" dirty="0"/>
              <a:t>Have </a:t>
            </a:r>
            <a:r>
              <a:rPr lang="en-US" b="1" dirty="0"/>
              <a:t>responsibility </a:t>
            </a:r>
            <a:r>
              <a:rPr lang="en-US" dirty="0"/>
              <a:t>and </a:t>
            </a:r>
            <a:r>
              <a:rPr lang="en-US" b="1" dirty="0"/>
              <a:t>authority</a:t>
            </a:r>
            <a:r>
              <a:rPr lang="en-US" dirty="0"/>
              <a:t> over others to achieve goals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b="1" dirty="0"/>
              <a:t>Officially recognized </a:t>
            </a:r>
            <a:r>
              <a:rPr lang="en-US" dirty="0"/>
              <a:t>with position/title often appointed or elected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Usually some training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Feature of more hierarchal organizations</a:t>
            </a:r>
          </a:p>
        </p:txBody>
      </p:sp>
      <p:sp>
        <p:nvSpPr>
          <p:cNvPr id="3" name="Slide Number Placeholder 2">
            <a:extLst>
              <a:ext uri="{FF2B5EF4-FFF2-40B4-BE49-F238E27FC236}">
                <a16:creationId xmlns:a16="http://schemas.microsoft.com/office/drawing/2014/main" id="{AFDF8F8F-A716-2685-1D41-730B5BC29CB3}"/>
              </a:ext>
            </a:extLst>
          </p:cNvPr>
          <p:cNvSpPr>
            <a:spLocks noGrp="1"/>
          </p:cNvSpPr>
          <p:nvPr>
            <p:ph type="sldNum" sz="quarter" idx="12"/>
          </p:nvPr>
        </p:nvSpPr>
        <p:spPr/>
        <p:txBody>
          <a:bodyPr/>
          <a:lstStyle/>
          <a:p>
            <a:fld id="{D292B180-B274-DE43-B36F-C827C7616C05}" type="slidenum">
              <a:rPr lang="en-US" smtClean="0"/>
              <a:t>15</a:t>
            </a:fld>
            <a:endParaRPr lang="en-US"/>
          </a:p>
        </p:txBody>
      </p:sp>
    </p:spTree>
    <p:extLst>
      <p:ext uri="{BB962C8B-B14F-4D97-AF65-F5344CB8AC3E}">
        <p14:creationId xmlns:p14="http://schemas.microsoft.com/office/powerpoint/2010/main" val="200930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123D-B4A2-804F-15A6-ED4AF9E8B3A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FD563155-DBBA-90CB-491E-8F095B73EF67}"/>
              </a:ext>
            </a:extLst>
          </p:cNvPr>
          <p:cNvPicPr>
            <a:picLocks noChangeAspect="1"/>
          </p:cNvPicPr>
          <p:nvPr/>
        </p:nvPicPr>
        <p:blipFill>
          <a:blip r:embed="rId3"/>
          <a:srcRect l="27625" t="24521" r="27778" b="29195"/>
          <a:stretch>
            <a:fillRect/>
          </a:stretch>
        </p:blipFill>
        <p:spPr>
          <a:xfrm>
            <a:off x="3343379" y="881221"/>
            <a:ext cx="5752752" cy="5970214"/>
          </a:xfrm>
          <a:prstGeom prst="rect">
            <a:avLst/>
          </a:prstGeom>
        </p:spPr>
      </p:pic>
      <p:grpSp>
        <p:nvGrpSpPr>
          <p:cNvPr id="4" name="Group 3">
            <a:extLst>
              <a:ext uri="{FF2B5EF4-FFF2-40B4-BE49-F238E27FC236}">
                <a16:creationId xmlns:a16="http://schemas.microsoft.com/office/drawing/2014/main" id="{658BF391-6938-5814-CD20-C0708C99A680}"/>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03C23301-423D-D4CE-CDE6-5F6D0EF2B62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A273406-B562-8972-DB30-F78DAAE42137}"/>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DB0BB5B-D1FA-8B54-9A00-2F254FE12918}"/>
              </a:ext>
            </a:extLst>
          </p:cNvPr>
          <p:cNvSpPr txBox="1">
            <a:spLocks/>
          </p:cNvSpPr>
          <p:nvPr/>
        </p:nvSpPr>
        <p:spPr>
          <a:xfrm>
            <a:off x="0" y="-16633"/>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Diversity of leadership roles: informal</a:t>
            </a:r>
          </a:p>
        </p:txBody>
      </p:sp>
      <p:sp>
        <p:nvSpPr>
          <p:cNvPr id="17" name="Right Brace 16">
            <a:extLst>
              <a:ext uri="{FF2B5EF4-FFF2-40B4-BE49-F238E27FC236}">
                <a16:creationId xmlns:a16="http://schemas.microsoft.com/office/drawing/2014/main" id="{7495DC5E-A240-39B4-9ED4-FF640A4904CA}"/>
              </a:ext>
            </a:extLst>
          </p:cNvPr>
          <p:cNvSpPr/>
          <p:nvPr/>
        </p:nvSpPr>
        <p:spPr>
          <a:xfrm rot="19804869">
            <a:off x="6607619" y="134542"/>
            <a:ext cx="3755802" cy="4934803"/>
          </a:xfrm>
          <a:prstGeom prst="rightBrace">
            <a:avLst>
              <a:gd name="adj1" fmla="val 18053"/>
              <a:gd name="adj2" fmla="val 48992"/>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A4D6B143-44E8-82A7-62F2-00C20BF78FDF}"/>
              </a:ext>
            </a:extLst>
          </p:cNvPr>
          <p:cNvSpPr txBox="1"/>
          <p:nvPr/>
        </p:nvSpPr>
        <p:spPr>
          <a:xfrm>
            <a:off x="10171575" y="1367108"/>
            <a:ext cx="2267935" cy="523220"/>
          </a:xfrm>
          <a:prstGeom prst="rect">
            <a:avLst/>
          </a:prstGeom>
          <a:noFill/>
        </p:spPr>
        <p:txBody>
          <a:bodyPr wrap="square" rtlCol="0">
            <a:spAutoFit/>
          </a:bodyPr>
          <a:lstStyle/>
          <a:p>
            <a:r>
              <a:rPr lang="en-US" sz="2800" b="1" dirty="0"/>
              <a:t>Informal</a:t>
            </a:r>
          </a:p>
        </p:txBody>
      </p:sp>
      <p:sp>
        <p:nvSpPr>
          <p:cNvPr id="19" name="TextBox 18">
            <a:extLst>
              <a:ext uri="{FF2B5EF4-FFF2-40B4-BE49-F238E27FC236}">
                <a16:creationId xmlns:a16="http://schemas.microsoft.com/office/drawing/2014/main" id="{32597CE4-6D96-3DAA-F7FC-AA67C1220688}"/>
              </a:ext>
            </a:extLst>
          </p:cNvPr>
          <p:cNvSpPr txBox="1"/>
          <p:nvPr/>
        </p:nvSpPr>
        <p:spPr>
          <a:xfrm>
            <a:off x="277062" y="5528742"/>
            <a:ext cx="1586644" cy="523220"/>
          </a:xfrm>
          <a:prstGeom prst="rect">
            <a:avLst/>
          </a:prstGeom>
          <a:noFill/>
        </p:spPr>
        <p:txBody>
          <a:bodyPr wrap="square" rtlCol="0">
            <a:spAutoFit/>
          </a:bodyPr>
          <a:lstStyle/>
          <a:p>
            <a:r>
              <a:rPr lang="en-US" sz="2800" b="1" dirty="0"/>
              <a:t>Formal</a:t>
            </a:r>
          </a:p>
        </p:txBody>
      </p:sp>
      <p:sp>
        <p:nvSpPr>
          <p:cNvPr id="23" name="TextBox 22">
            <a:extLst>
              <a:ext uri="{FF2B5EF4-FFF2-40B4-BE49-F238E27FC236}">
                <a16:creationId xmlns:a16="http://schemas.microsoft.com/office/drawing/2014/main" id="{F8459642-4691-3075-7976-A3AD0D6776AA}"/>
              </a:ext>
            </a:extLst>
          </p:cNvPr>
          <p:cNvSpPr txBox="1"/>
          <p:nvPr/>
        </p:nvSpPr>
        <p:spPr>
          <a:xfrm>
            <a:off x="9247845" y="2287509"/>
            <a:ext cx="2944155" cy="3416320"/>
          </a:xfrm>
          <a:prstGeom prst="rect">
            <a:avLst/>
          </a:prstGeom>
          <a:noFill/>
        </p:spPr>
        <p:txBody>
          <a:bodyPr wrap="square">
            <a:spAutoFit/>
          </a:bodyPr>
          <a:lstStyle/>
          <a:p>
            <a:pPr marL="285750" indent="-285750">
              <a:buFont typeface="Arial" panose="020B0604020202020204" pitchFamily="34" charset="0"/>
              <a:buChar char="•"/>
            </a:pPr>
            <a:r>
              <a:rPr lang="en-US" dirty="0"/>
              <a:t>Takes </a:t>
            </a:r>
            <a:r>
              <a:rPr lang="en-US" b="1" dirty="0"/>
              <a:t>initiative</a:t>
            </a:r>
            <a:r>
              <a:rPr lang="en-US" dirty="0"/>
              <a:t>, </a:t>
            </a:r>
            <a:r>
              <a:rPr lang="en-US" b="1" dirty="0"/>
              <a:t>influence</a:t>
            </a:r>
            <a:r>
              <a:rPr lang="en-US" dirty="0"/>
              <a:t> and</a:t>
            </a:r>
            <a:r>
              <a:rPr lang="en-US" sz="1800" dirty="0"/>
              <a:t> </a:t>
            </a:r>
            <a:r>
              <a:rPr lang="en-US" sz="1800" b="1" dirty="0"/>
              <a:t>inspire</a:t>
            </a:r>
            <a:r>
              <a:rPr lang="en-US" sz="1800" dirty="0"/>
              <a:t> others towards achieving shared goals</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b="1" dirty="0"/>
              <a:t>Doesn’t</a:t>
            </a:r>
            <a:r>
              <a:rPr lang="en-US" dirty="0"/>
              <a:t> have </a:t>
            </a:r>
            <a:r>
              <a:rPr lang="en-US" b="1" dirty="0"/>
              <a:t>formal </a:t>
            </a:r>
            <a:r>
              <a:rPr lang="en-US" dirty="0"/>
              <a:t>leadership </a:t>
            </a:r>
            <a:r>
              <a:rPr lang="en-US" b="1" dirty="0"/>
              <a:t>position/title</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Not usually trained</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Emerges organically in times of change</a:t>
            </a:r>
          </a:p>
        </p:txBody>
      </p:sp>
      <p:sp>
        <p:nvSpPr>
          <p:cNvPr id="24" name="TextBox 23">
            <a:extLst>
              <a:ext uri="{FF2B5EF4-FFF2-40B4-BE49-F238E27FC236}">
                <a16:creationId xmlns:a16="http://schemas.microsoft.com/office/drawing/2014/main" id="{A938D31B-D81E-F0E9-7590-BEFD3D5781AB}"/>
              </a:ext>
            </a:extLst>
          </p:cNvPr>
          <p:cNvSpPr txBox="1"/>
          <p:nvPr/>
        </p:nvSpPr>
        <p:spPr>
          <a:xfrm>
            <a:off x="45415" y="1849793"/>
            <a:ext cx="2754935" cy="3693319"/>
          </a:xfrm>
          <a:prstGeom prst="rect">
            <a:avLst/>
          </a:prstGeom>
          <a:noFill/>
        </p:spPr>
        <p:txBody>
          <a:bodyPr wrap="square">
            <a:spAutoFit/>
          </a:bodyPr>
          <a:lstStyle/>
          <a:p>
            <a:pPr marL="285750" indent="-285750">
              <a:buFont typeface="Arial" panose="020B0604020202020204" pitchFamily="34" charset="0"/>
              <a:buChar char="•"/>
            </a:pPr>
            <a:r>
              <a:rPr lang="en-US" dirty="0"/>
              <a:t>Have responsibility and authority over others to achieve goals</a:t>
            </a:r>
            <a:endParaRPr lang="en-US" sz="1800" dirty="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dirty="0"/>
              <a:t>Officially recognized with position/title often appointed or elected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Usually some training</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Feature of more hierarchal organizations</a:t>
            </a:r>
          </a:p>
        </p:txBody>
      </p:sp>
      <p:sp>
        <p:nvSpPr>
          <p:cNvPr id="25" name="Rectangle 24">
            <a:extLst>
              <a:ext uri="{FF2B5EF4-FFF2-40B4-BE49-F238E27FC236}">
                <a16:creationId xmlns:a16="http://schemas.microsoft.com/office/drawing/2014/main" id="{FA483844-F2C3-64CA-01D2-2D273782B924}"/>
              </a:ext>
            </a:extLst>
          </p:cNvPr>
          <p:cNvSpPr/>
          <p:nvPr/>
        </p:nvSpPr>
        <p:spPr>
          <a:xfrm>
            <a:off x="45415" y="1457743"/>
            <a:ext cx="2754935" cy="4743032"/>
          </a:xfrm>
          <a:prstGeom prst="rect">
            <a:avLst/>
          </a:prstGeom>
          <a:solidFill>
            <a:schemeClr val="bg1">
              <a:alpha val="8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D4711045-5940-2CEE-3F26-84EBE25BD105}"/>
              </a:ext>
            </a:extLst>
          </p:cNvPr>
          <p:cNvSpPr>
            <a:spLocks noGrp="1"/>
          </p:cNvSpPr>
          <p:nvPr>
            <p:ph type="sldNum" sz="quarter" idx="12"/>
          </p:nvPr>
        </p:nvSpPr>
        <p:spPr/>
        <p:txBody>
          <a:bodyPr/>
          <a:lstStyle/>
          <a:p>
            <a:fld id="{D292B180-B274-DE43-B36F-C827C7616C05}" type="slidenum">
              <a:rPr lang="en-US" smtClean="0"/>
              <a:t>16</a:t>
            </a:fld>
            <a:endParaRPr lang="en-US"/>
          </a:p>
        </p:txBody>
      </p:sp>
    </p:spTree>
    <p:extLst>
      <p:ext uri="{BB962C8B-B14F-4D97-AF65-F5344CB8AC3E}">
        <p14:creationId xmlns:p14="http://schemas.microsoft.com/office/powerpoint/2010/main" val="7982323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9EF14-D6CC-B99D-B34B-0764B069467F}"/>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C0B23306-51AF-6776-ACDD-6EACF1D02727}"/>
              </a:ext>
            </a:extLst>
          </p:cNvPr>
          <p:cNvPicPr>
            <a:picLocks noChangeAspect="1"/>
          </p:cNvPicPr>
          <p:nvPr/>
        </p:nvPicPr>
        <p:blipFill>
          <a:blip r:embed="rId3"/>
          <a:srcRect l="27625" t="24521" r="27778" b="29195"/>
          <a:stretch>
            <a:fillRect/>
          </a:stretch>
        </p:blipFill>
        <p:spPr>
          <a:xfrm>
            <a:off x="3343379" y="881221"/>
            <a:ext cx="5752752" cy="5970214"/>
          </a:xfrm>
          <a:prstGeom prst="rect">
            <a:avLst/>
          </a:prstGeom>
        </p:spPr>
      </p:pic>
      <p:grpSp>
        <p:nvGrpSpPr>
          <p:cNvPr id="4" name="Group 3">
            <a:extLst>
              <a:ext uri="{FF2B5EF4-FFF2-40B4-BE49-F238E27FC236}">
                <a16:creationId xmlns:a16="http://schemas.microsoft.com/office/drawing/2014/main" id="{9DE103C6-830D-133B-E24D-47294D3F5A13}"/>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AE6142FE-98B6-B8DB-080F-29F6A34B99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E81C577-BF61-CE45-D6D4-8F4D4102CB37}"/>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75F8BF26-A447-257A-3ADA-B7F68C0BE7C3}"/>
              </a:ext>
            </a:extLst>
          </p:cNvPr>
          <p:cNvSpPr txBox="1">
            <a:spLocks/>
          </p:cNvSpPr>
          <p:nvPr/>
        </p:nvSpPr>
        <p:spPr>
          <a:xfrm>
            <a:off x="0" y="-45497"/>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Diversity of leadership contexts</a:t>
            </a:r>
          </a:p>
        </p:txBody>
      </p:sp>
      <p:sp>
        <p:nvSpPr>
          <p:cNvPr id="2" name="TextBox 1">
            <a:extLst>
              <a:ext uri="{FF2B5EF4-FFF2-40B4-BE49-F238E27FC236}">
                <a16:creationId xmlns:a16="http://schemas.microsoft.com/office/drawing/2014/main" id="{323C80F8-444F-B7DC-573C-4E66C85A0543}"/>
              </a:ext>
            </a:extLst>
          </p:cNvPr>
          <p:cNvSpPr txBox="1"/>
          <p:nvPr/>
        </p:nvSpPr>
        <p:spPr>
          <a:xfrm>
            <a:off x="1117600" y="1921988"/>
            <a:ext cx="2297113" cy="523220"/>
          </a:xfrm>
          <a:prstGeom prst="rect">
            <a:avLst/>
          </a:prstGeom>
          <a:noFill/>
        </p:spPr>
        <p:txBody>
          <a:bodyPr wrap="square">
            <a:spAutoFit/>
          </a:bodyPr>
          <a:lstStyle/>
          <a:p>
            <a:r>
              <a:rPr lang="en-US" sz="2800" dirty="0"/>
              <a:t>Committees</a:t>
            </a:r>
          </a:p>
        </p:txBody>
      </p:sp>
      <p:sp>
        <p:nvSpPr>
          <p:cNvPr id="3" name="TextBox 2">
            <a:extLst>
              <a:ext uri="{FF2B5EF4-FFF2-40B4-BE49-F238E27FC236}">
                <a16:creationId xmlns:a16="http://schemas.microsoft.com/office/drawing/2014/main" id="{46391BE2-4676-8034-05CF-0C43071759CB}"/>
              </a:ext>
            </a:extLst>
          </p:cNvPr>
          <p:cNvSpPr txBox="1"/>
          <p:nvPr/>
        </p:nvSpPr>
        <p:spPr>
          <a:xfrm>
            <a:off x="685282" y="3352662"/>
            <a:ext cx="2054848" cy="523220"/>
          </a:xfrm>
          <a:prstGeom prst="rect">
            <a:avLst/>
          </a:prstGeom>
          <a:noFill/>
        </p:spPr>
        <p:txBody>
          <a:bodyPr wrap="square">
            <a:spAutoFit/>
          </a:bodyPr>
          <a:lstStyle/>
          <a:p>
            <a:r>
              <a:rPr lang="en-US" sz="2800" dirty="0"/>
              <a:t>Lab groups</a:t>
            </a:r>
          </a:p>
        </p:txBody>
      </p:sp>
      <p:sp>
        <p:nvSpPr>
          <p:cNvPr id="7" name="TextBox 6">
            <a:extLst>
              <a:ext uri="{FF2B5EF4-FFF2-40B4-BE49-F238E27FC236}">
                <a16:creationId xmlns:a16="http://schemas.microsoft.com/office/drawing/2014/main" id="{80A28A9C-0DA9-7EAA-92C6-3B7A4D9A17ED}"/>
              </a:ext>
            </a:extLst>
          </p:cNvPr>
          <p:cNvSpPr txBox="1"/>
          <p:nvPr/>
        </p:nvSpPr>
        <p:spPr>
          <a:xfrm>
            <a:off x="8610601" y="1334770"/>
            <a:ext cx="2743199" cy="954107"/>
          </a:xfrm>
          <a:prstGeom prst="rect">
            <a:avLst/>
          </a:prstGeom>
          <a:noFill/>
        </p:spPr>
        <p:txBody>
          <a:bodyPr wrap="square">
            <a:spAutoFit/>
          </a:bodyPr>
          <a:lstStyle/>
          <a:p>
            <a:r>
              <a:rPr lang="en-US" sz="2800" dirty="0"/>
              <a:t>Special Interest Groups (SIGs)</a:t>
            </a:r>
          </a:p>
        </p:txBody>
      </p:sp>
      <p:sp>
        <p:nvSpPr>
          <p:cNvPr id="11" name="TextBox 10">
            <a:extLst>
              <a:ext uri="{FF2B5EF4-FFF2-40B4-BE49-F238E27FC236}">
                <a16:creationId xmlns:a16="http://schemas.microsoft.com/office/drawing/2014/main" id="{1A89D38A-DE56-29DA-0F7E-4110F1EFBAE5}"/>
              </a:ext>
            </a:extLst>
          </p:cNvPr>
          <p:cNvSpPr txBox="1"/>
          <p:nvPr/>
        </p:nvSpPr>
        <p:spPr>
          <a:xfrm>
            <a:off x="566057" y="5900841"/>
            <a:ext cx="3247910" cy="523220"/>
          </a:xfrm>
          <a:prstGeom prst="rect">
            <a:avLst/>
          </a:prstGeom>
          <a:noFill/>
        </p:spPr>
        <p:txBody>
          <a:bodyPr wrap="square">
            <a:spAutoFit/>
          </a:bodyPr>
          <a:lstStyle/>
          <a:p>
            <a:r>
              <a:rPr lang="en-US" sz="2800" dirty="0"/>
              <a:t>Project teams</a:t>
            </a:r>
          </a:p>
        </p:txBody>
      </p:sp>
      <p:sp>
        <p:nvSpPr>
          <p:cNvPr id="13" name="TextBox 12">
            <a:extLst>
              <a:ext uri="{FF2B5EF4-FFF2-40B4-BE49-F238E27FC236}">
                <a16:creationId xmlns:a16="http://schemas.microsoft.com/office/drawing/2014/main" id="{947F90C6-C4E6-F6EB-6F56-C26B591F13D3}"/>
              </a:ext>
            </a:extLst>
          </p:cNvPr>
          <p:cNvSpPr txBox="1"/>
          <p:nvPr/>
        </p:nvSpPr>
        <p:spPr>
          <a:xfrm>
            <a:off x="9096131" y="4158827"/>
            <a:ext cx="2743199" cy="523220"/>
          </a:xfrm>
          <a:prstGeom prst="rect">
            <a:avLst/>
          </a:prstGeom>
          <a:noFill/>
        </p:spPr>
        <p:txBody>
          <a:bodyPr wrap="square">
            <a:spAutoFit/>
          </a:bodyPr>
          <a:lstStyle/>
          <a:p>
            <a:r>
              <a:rPr lang="en-US" sz="2800" dirty="0"/>
              <a:t>Degree courses</a:t>
            </a:r>
          </a:p>
        </p:txBody>
      </p:sp>
      <p:sp>
        <p:nvSpPr>
          <p:cNvPr id="19" name="TextBox 18">
            <a:extLst>
              <a:ext uri="{FF2B5EF4-FFF2-40B4-BE49-F238E27FC236}">
                <a16:creationId xmlns:a16="http://schemas.microsoft.com/office/drawing/2014/main" id="{87C2684F-F4C6-3A2E-E6BF-CEF58B5A5991}"/>
              </a:ext>
            </a:extLst>
          </p:cNvPr>
          <p:cNvSpPr txBox="1"/>
          <p:nvPr/>
        </p:nvSpPr>
        <p:spPr>
          <a:xfrm>
            <a:off x="73107" y="4719918"/>
            <a:ext cx="3497407" cy="523220"/>
          </a:xfrm>
          <a:prstGeom prst="rect">
            <a:avLst/>
          </a:prstGeom>
          <a:noFill/>
        </p:spPr>
        <p:txBody>
          <a:bodyPr wrap="square">
            <a:spAutoFit/>
          </a:bodyPr>
          <a:lstStyle/>
          <a:p>
            <a:r>
              <a:rPr lang="en-US" sz="2800" dirty="0"/>
              <a:t>Authorship teams </a:t>
            </a:r>
          </a:p>
        </p:txBody>
      </p:sp>
      <p:sp>
        <p:nvSpPr>
          <p:cNvPr id="20" name="TextBox 19">
            <a:extLst>
              <a:ext uri="{FF2B5EF4-FFF2-40B4-BE49-F238E27FC236}">
                <a16:creationId xmlns:a16="http://schemas.microsoft.com/office/drawing/2014/main" id="{8D9E966B-14BF-D049-FEC9-C988B1D9C253}"/>
              </a:ext>
            </a:extLst>
          </p:cNvPr>
          <p:cNvSpPr txBox="1"/>
          <p:nvPr/>
        </p:nvSpPr>
        <p:spPr>
          <a:xfrm>
            <a:off x="8493766" y="5505131"/>
            <a:ext cx="3625127" cy="523220"/>
          </a:xfrm>
          <a:prstGeom prst="rect">
            <a:avLst/>
          </a:prstGeom>
          <a:noFill/>
        </p:spPr>
        <p:txBody>
          <a:bodyPr wrap="square">
            <a:spAutoFit/>
          </a:bodyPr>
          <a:lstStyle/>
          <a:p>
            <a:r>
              <a:rPr lang="en-US" sz="2800" dirty="0"/>
              <a:t>Tutorials/workshops</a:t>
            </a:r>
          </a:p>
        </p:txBody>
      </p:sp>
      <p:sp>
        <p:nvSpPr>
          <p:cNvPr id="12" name="Slide Number Placeholder 11">
            <a:extLst>
              <a:ext uri="{FF2B5EF4-FFF2-40B4-BE49-F238E27FC236}">
                <a16:creationId xmlns:a16="http://schemas.microsoft.com/office/drawing/2014/main" id="{63488F02-0462-033C-9D9C-FC1BB1C34508}"/>
              </a:ext>
            </a:extLst>
          </p:cNvPr>
          <p:cNvSpPr>
            <a:spLocks noGrp="1"/>
          </p:cNvSpPr>
          <p:nvPr>
            <p:ph type="sldNum" sz="quarter" idx="12"/>
          </p:nvPr>
        </p:nvSpPr>
        <p:spPr/>
        <p:txBody>
          <a:bodyPr/>
          <a:lstStyle/>
          <a:p>
            <a:fld id="{D292B180-B274-DE43-B36F-C827C7616C05}" type="slidenum">
              <a:rPr lang="en-US" smtClean="0"/>
              <a:t>17</a:t>
            </a:fld>
            <a:endParaRPr lang="en-US"/>
          </a:p>
        </p:txBody>
      </p:sp>
      <p:sp>
        <p:nvSpPr>
          <p:cNvPr id="14" name="TextBox 13">
            <a:extLst>
              <a:ext uri="{FF2B5EF4-FFF2-40B4-BE49-F238E27FC236}">
                <a16:creationId xmlns:a16="http://schemas.microsoft.com/office/drawing/2014/main" id="{34F790B0-9CD7-7B44-C906-8C45A2F5ED9D}"/>
              </a:ext>
            </a:extLst>
          </p:cNvPr>
          <p:cNvSpPr txBox="1"/>
          <p:nvPr/>
        </p:nvSpPr>
        <p:spPr>
          <a:xfrm>
            <a:off x="9096131" y="2781638"/>
            <a:ext cx="2743199" cy="523220"/>
          </a:xfrm>
          <a:prstGeom prst="rect">
            <a:avLst/>
          </a:prstGeom>
          <a:noFill/>
        </p:spPr>
        <p:txBody>
          <a:bodyPr wrap="square">
            <a:spAutoFit/>
          </a:bodyPr>
          <a:lstStyle/>
          <a:p>
            <a:r>
              <a:rPr lang="en-US" sz="2800" dirty="0"/>
              <a:t>Departments</a:t>
            </a:r>
          </a:p>
        </p:txBody>
      </p:sp>
    </p:spTree>
    <p:extLst>
      <p:ext uri="{BB962C8B-B14F-4D97-AF65-F5344CB8AC3E}">
        <p14:creationId xmlns:p14="http://schemas.microsoft.com/office/powerpoint/2010/main" val="40401699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8980F52B-76AD-B55C-B1A2-3A723B6192C6}"/>
              </a:ext>
            </a:extLst>
          </p:cNvPr>
          <p:cNvGrpSpPr/>
          <p:nvPr/>
        </p:nvGrpSpPr>
        <p:grpSpPr>
          <a:xfrm>
            <a:off x="10644280" y="6476875"/>
            <a:ext cx="1474613" cy="325672"/>
            <a:chOff x="19317" y="2690018"/>
            <a:chExt cx="11784755" cy="2025180"/>
          </a:xfrm>
        </p:grpSpPr>
        <p:pic>
          <p:nvPicPr>
            <p:cNvPr id="15" name="Picture 2">
              <a:extLst>
                <a:ext uri="{FF2B5EF4-FFF2-40B4-BE49-F238E27FC236}">
                  <a16:creationId xmlns:a16="http://schemas.microsoft.com/office/drawing/2014/main" id="{B0126944-4EFE-3B62-F567-B27D0FDC51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3DFB1862-7A40-DC53-5843-3B004F52DC4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2F0C14D0-5ADE-1431-6ACC-29B552F0C16F}"/>
              </a:ext>
            </a:extLst>
          </p:cNvPr>
          <p:cNvSpPr>
            <a:spLocks noGrp="1"/>
          </p:cNvSpPr>
          <p:nvPr>
            <p:ph type="sldNum" sz="quarter" idx="12"/>
          </p:nvPr>
        </p:nvSpPr>
        <p:spPr/>
        <p:txBody>
          <a:bodyPr/>
          <a:lstStyle/>
          <a:p>
            <a:fld id="{D292B180-B274-DE43-B36F-C827C7616C05}" type="slidenum">
              <a:rPr lang="en-US" smtClean="0"/>
              <a:t>18</a:t>
            </a:fld>
            <a:endParaRPr lang="en-US"/>
          </a:p>
        </p:txBody>
      </p:sp>
      <p:pic>
        <p:nvPicPr>
          <p:cNvPr id="10" name="Picture 9">
            <a:extLst>
              <a:ext uri="{FF2B5EF4-FFF2-40B4-BE49-F238E27FC236}">
                <a16:creationId xmlns:a16="http://schemas.microsoft.com/office/drawing/2014/main" id="{CE7ED4F4-4662-8E86-E5FD-571E2032D12D}"/>
              </a:ext>
            </a:extLst>
          </p:cNvPr>
          <p:cNvPicPr>
            <a:picLocks noChangeAspect="1"/>
          </p:cNvPicPr>
          <p:nvPr/>
        </p:nvPicPr>
        <p:blipFill>
          <a:blip r:embed="rId5"/>
          <a:srcRect b="6661"/>
          <a:stretch>
            <a:fillRect/>
          </a:stretch>
        </p:blipFill>
        <p:spPr>
          <a:xfrm>
            <a:off x="243082" y="136526"/>
            <a:ext cx="11741397" cy="6138752"/>
          </a:xfrm>
          <a:prstGeom prst="rect">
            <a:avLst/>
          </a:prstGeom>
        </p:spPr>
      </p:pic>
    </p:spTree>
    <p:extLst>
      <p:ext uri="{BB962C8B-B14F-4D97-AF65-F5344CB8AC3E}">
        <p14:creationId xmlns:p14="http://schemas.microsoft.com/office/powerpoint/2010/main" val="278286950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F9778-F889-C779-2C94-9EDF1C485C7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DCDBBBD-2F28-700A-75EE-1444B2856C04}"/>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87F3EFAB-3A47-66BF-94B9-755C60E1F4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15777B7-863D-F95B-6840-19B4E78EBC8F}"/>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26662E84-1469-6DF4-C266-4A73BEBF5BA9}"/>
              </a:ext>
            </a:extLst>
          </p:cNvPr>
          <p:cNvSpPr txBox="1">
            <a:spLocks/>
          </p:cNvSpPr>
          <p:nvPr/>
        </p:nvSpPr>
        <p:spPr>
          <a:xfrm>
            <a:off x="0" y="-14163"/>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Leadership is about people!</a:t>
            </a:r>
          </a:p>
        </p:txBody>
      </p:sp>
      <p:sp>
        <p:nvSpPr>
          <p:cNvPr id="2" name="Slide Number Placeholder 1">
            <a:extLst>
              <a:ext uri="{FF2B5EF4-FFF2-40B4-BE49-F238E27FC236}">
                <a16:creationId xmlns:a16="http://schemas.microsoft.com/office/drawing/2014/main" id="{647202FC-6F6F-6C04-CE78-55866FB65BFC}"/>
              </a:ext>
            </a:extLst>
          </p:cNvPr>
          <p:cNvSpPr>
            <a:spLocks noGrp="1"/>
          </p:cNvSpPr>
          <p:nvPr>
            <p:ph type="sldNum" sz="quarter" idx="12"/>
          </p:nvPr>
        </p:nvSpPr>
        <p:spPr/>
        <p:txBody>
          <a:bodyPr/>
          <a:lstStyle/>
          <a:p>
            <a:fld id="{D292B180-B274-DE43-B36F-C827C7616C05}" type="slidenum">
              <a:rPr lang="en-US" smtClean="0"/>
              <a:t>19</a:t>
            </a:fld>
            <a:endParaRPr lang="en-US" dirty="0"/>
          </a:p>
        </p:txBody>
      </p:sp>
      <p:sp>
        <p:nvSpPr>
          <p:cNvPr id="20" name="TextBox 19">
            <a:extLst>
              <a:ext uri="{FF2B5EF4-FFF2-40B4-BE49-F238E27FC236}">
                <a16:creationId xmlns:a16="http://schemas.microsoft.com/office/drawing/2014/main" id="{3B23D517-63BA-88DB-6196-A90E3AA012A0}"/>
              </a:ext>
            </a:extLst>
          </p:cNvPr>
          <p:cNvSpPr txBox="1"/>
          <p:nvPr/>
        </p:nvSpPr>
        <p:spPr>
          <a:xfrm>
            <a:off x="4797429" y="1961729"/>
            <a:ext cx="6546403" cy="2954655"/>
          </a:xfrm>
          <a:prstGeom prst="rect">
            <a:avLst/>
          </a:prstGeom>
          <a:noFill/>
        </p:spPr>
        <p:txBody>
          <a:bodyPr wrap="square" rtlCol="0">
            <a:spAutoFit/>
          </a:bodyPr>
          <a:lstStyle/>
          <a:p>
            <a:pPr marL="285750" indent="-285750">
              <a:buFont typeface="Arial" panose="020B0604020202020204" pitchFamily="34" charset="0"/>
              <a:buChar char="•"/>
            </a:pPr>
            <a:r>
              <a:rPr lang="en-US" sz="2400" dirty="0"/>
              <a:t>Leadership doesn’t exist in a vacuum as the </a:t>
            </a:r>
            <a:r>
              <a:rPr lang="en-US" sz="2400" b="1" dirty="0"/>
              <a:t>social context</a:t>
            </a:r>
            <a:r>
              <a:rPr lang="en-US" sz="2400" dirty="0"/>
              <a:t> of </a:t>
            </a:r>
            <a:r>
              <a:rPr lang="en-US" sz="2400" b="1" dirty="0"/>
              <a:t>leaders</a:t>
            </a:r>
            <a:r>
              <a:rPr lang="en-US" sz="2400" dirty="0"/>
              <a:t> and </a:t>
            </a:r>
            <a:r>
              <a:rPr lang="en-US" sz="2400" b="1" dirty="0"/>
              <a:t>followers</a:t>
            </a:r>
            <a:r>
              <a:rPr lang="en-US" sz="2400" dirty="0"/>
              <a:t> matters.</a:t>
            </a:r>
          </a:p>
          <a:p>
            <a:pPr marL="285750" indent="-285750">
              <a:buFont typeface="Arial" panose="020B0604020202020204" pitchFamily="34" charset="0"/>
              <a:buChar char="•"/>
            </a:pPr>
            <a:endParaRPr lang="en-US" sz="2400" dirty="0"/>
          </a:p>
          <a:p>
            <a:pPr marL="285750" indent="-285750">
              <a:buFont typeface="Arial" panose="020B0604020202020204" pitchFamily="34" charset="0"/>
              <a:buChar char="•"/>
            </a:pPr>
            <a:r>
              <a:rPr lang="en-US" sz="2400" dirty="0"/>
              <a:t>Followers (e.g. learners, graduate students, employees, etc.) play an </a:t>
            </a:r>
            <a:r>
              <a:rPr lang="en-US" sz="2400" b="1" dirty="0"/>
              <a:t>active role </a:t>
            </a:r>
            <a:r>
              <a:rPr lang="en-US" sz="2400" dirty="0"/>
              <a:t>in </a:t>
            </a:r>
            <a:r>
              <a:rPr lang="en-US" sz="2400" b="1" dirty="0"/>
              <a:t>co-constructing</a:t>
            </a:r>
            <a:r>
              <a:rPr lang="en-US" sz="2400" dirty="0"/>
              <a:t> leadership.</a:t>
            </a:r>
          </a:p>
          <a:p>
            <a:pPr marL="285750" indent="-285750">
              <a:buFont typeface="Arial" panose="020B0604020202020204" pitchFamily="34" charset="0"/>
              <a:buChar char="•"/>
            </a:pPr>
            <a:endParaRPr lang="en-US" dirty="0"/>
          </a:p>
        </p:txBody>
      </p:sp>
      <p:sp>
        <p:nvSpPr>
          <p:cNvPr id="23" name="TextBox 22">
            <a:extLst>
              <a:ext uri="{FF2B5EF4-FFF2-40B4-BE49-F238E27FC236}">
                <a16:creationId xmlns:a16="http://schemas.microsoft.com/office/drawing/2014/main" id="{3E912F5A-597D-0827-ED9E-E3580E7121D4}"/>
              </a:ext>
            </a:extLst>
          </p:cNvPr>
          <p:cNvSpPr txBox="1"/>
          <p:nvPr/>
        </p:nvSpPr>
        <p:spPr>
          <a:xfrm>
            <a:off x="7481580" y="6455045"/>
            <a:ext cx="3012248" cy="369332"/>
          </a:xfrm>
          <a:prstGeom prst="rect">
            <a:avLst/>
          </a:prstGeom>
          <a:noFill/>
        </p:spPr>
        <p:txBody>
          <a:bodyPr wrap="square">
            <a:spAutoFit/>
          </a:bodyPr>
          <a:lstStyle/>
          <a:p>
            <a:r>
              <a:rPr lang="en-US" sz="1800" dirty="0">
                <a:solidFill>
                  <a:schemeClr val="bg1">
                    <a:lumMod val="50000"/>
                  </a:schemeClr>
                </a:solidFill>
              </a:rPr>
              <a:t>(</a:t>
            </a:r>
            <a:r>
              <a:rPr lang="en-US" sz="1800" dirty="0">
                <a:solidFill>
                  <a:schemeClr val="bg1">
                    <a:lumMod val="50000"/>
                  </a:schemeClr>
                </a:solidFill>
                <a:hlinkClick r:id="rId5"/>
              </a:rPr>
              <a:t>DeRue and Ashford, 2010</a:t>
            </a:r>
            <a:r>
              <a:rPr lang="en-US" sz="1800" dirty="0">
                <a:solidFill>
                  <a:schemeClr val="bg1">
                    <a:lumMod val="50000"/>
                  </a:schemeClr>
                </a:solidFill>
              </a:rPr>
              <a:t>)</a:t>
            </a:r>
            <a:endParaRPr lang="en-US" dirty="0">
              <a:solidFill>
                <a:schemeClr val="bg1">
                  <a:lumMod val="50000"/>
                </a:schemeClr>
              </a:solidFill>
            </a:endParaRPr>
          </a:p>
        </p:txBody>
      </p:sp>
      <p:pic>
        <p:nvPicPr>
          <p:cNvPr id="7" name="Picture 6">
            <a:extLst>
              <a:ext uri="{FF2B5EF4-FFF2-40B4-BE49-F238E27FC236}">
                <a16:creationId xmlns:a16="http://schemas.microsoft.com/office/drawing/2014/main" id="{4A67F0D6-5911-BDAF-45E2-D2423E009879}"/>
              </a:ext>
            </a:extLst>
          </p:cNvPr>
          <p:cNvPicPr>
            <a:picLocks noChangeAspect="1"/>
          </p:cNvPicPr>
          <p:nvPr/>
        </p:nvPicPr>
        <p:blipFill>
          <a:blip r:embed="rId6"/>
          <a:srcRect l="18736" r="22413" b="8505"/>
          <a:stretch>
            <a:fillRect/>
          </a:stretch>
        </p:blipFill>
        <p:spPr>
          <a:xfrm>
            <a:off x="333582" y="1001399"/>
            <a:ext cx="3679244" cy="5720076"/>
          </a:xfrm>
          <a:prstGeom prst="rect">
            <a:avLst/>
          </a:prstGeom>
        </p:spPr>
      </p:pic>
    </p:spTree>
    <p:extLst>
      <p:ext uri="{BB962C8B-B14F-4D97-AF65-F5344CB8AC3E}">
        <p14:creationId xmlns:p14="http://schemas.microsoft.com/office/powerpoint/2010/main" val="10125926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6091F-1D37-2273-49A6-327C8EBE21FF}"/>
            </a:ext>
          </a:extLst>
        </p:cNvPr>
        <p:cNvGrpSpPr/>
        <p:nvPr/>
      </p:nvGrpSpPr>
      <p:grpSpPr>
        <a:xfrm>
          <a:off x="0" y="0"/>
          <a:ext cx="0" cy="0"/>
          <a:chOff x="0" y="0"/>
          <a:chExt cx="0" cy="0"/>
        </a:xfrm>
      </p:grpSpPr>
      <p:grpSp>
        <p:nvGrpSpPr>
          <p:cNvPr id="23" name="Group 22">
            <a:extLst>
              <a:ext uri="{FF2B5EF4-FFF2-40B4-BE49-F238E27FC236}">
                <a16:creationId xmlns:a16="http://schemas.microsoft.com/office/drawing/2014/main" id="{5C35C95A-4D6B-3C36-721E-DB1FB3FC605F}"/>
              </a:ext>
            </a:extLst>
          </p:cNvPr>
          <p:cNvGrpSpPr/>
          <p:nvPr/>
        </p:nvGrpSpPr>
        <p:grpSpPr>
          <a:xfrm>
            <a:off x="10644280" y="6476875"/>
            <a:ext cx="1474613" cy="325672"/>
            <a:chOff x="19317" y="2690018"/>
            <a:chExt cx="11784755" cy="2025180"/>
          </a:xfrm>
        </p:grpSpPr>
        <p:pic>
          <p:nvPicPr>
            <p:cNvPr id="24" name="Picture 2">
              <a:extLst>
                <a:ext uri="{FF2B5EF4-FFF2-40B4-BE49-F238E27FC236}">
                  <a16:creationId xmlns:a16="http://schemas.microsoft.com/office/drawing/2014/main" id="{22FC7847-D05D-75CD-3369-84689F50473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2F216043-D659-0117-9D39-803F0F1B3AB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F4CFD209-455D-E420-5006-5E96234C1AEE}"/>
              </a:ext>
            </a:extLst>
          </p:cNvPr>
          <p:cNvSpPr>
            <a:spLocks noGrp="1"/>
          </p:cNvSpPr>
          <p:nvPr>
            <p:ph type="title"/>
          </p:nvPr>
        </p:nvSpPr>
        <p:spPr>
          <a:xfrm>
            <a:off x="0" y="18256"/>
            <a:ext cx="12192000" cy="919896"/>
          </a:xfrm>
        </p:spPr>
        <p:txBody>
          <a:bodyPr/>
          <a:lstStyle/>
          <a:p>
            <a:r>
              <a:rPr lang="en-US" b="1" dirty="0"/>
              <a:t>Leadership styles</a:t>
            </a:r>
          </a:p>
        </p:txBody>
      </p:sp>
      <p:sp>
        <p:nvSpPr>
          <p:cNvPr id="4" name="Slide Number Placeholder 3">
            <a:extLst>
              <a:ext uri="{FF2B5EF4-FFF2-40B4-BE49-F238E27FC236}">
                <a16:creationId xmlns:a16="http://schemas.microsoft.com/office/drawing/2014/main" id="{A4437106-31A3-D18B-8E5F-2A2AFBF47F99}"/>
              </a:ext>
            </a:extLst>
          </p:cNvPr>
          <p:cNvSpPr>
            <a:spLocks noGrp="1"/>
          </p:cNvSpPr>
          <p:nvPr>
            <p:ph type="sldNum" sz="quarter" idx="12"/>
          </p:nvPr>
        </p:nvSpPr>
        <p:spPr/>
        <p:txBody>
          <a:bodyPr/>
          <a:lstStyle/>
          <a:p>
            <a:fld id="{D292B180-B274-DE43-B36F-C827C7616C05}" type="slidenum">
              <a:rPr lang="en-US" smtClean="0"/>
              <a:t>20</a:t>
            </a:fld>
            <a:endParaRPr lang="en-US"/>
          </a:p>
        </p:txBody>
      </p:sp>
      <p:sp>
        <p:nvSpPr>
          <p:cNvPr id="6" name="TextBox 5">
            <a:extLst>
              <a:ext uri="{FF2B5EF4-FFF2-40B4-BE49-F238E27FC236}">
                <a16:creationId xmlns:a16="http://schemas.microsoft.com/office/drawing/2014/main" id="{1682203F-412F-B087-B9B1-681BD1F318F4}"/>
              </a:ext>
            </a:extLst>
          </p:cNvPr>
          <p:cNvSpPr txBox="1"/>
          <p:nvPr/>
        </p:nvSpPr>
        <p:spPr>
          <a:xfrm>
            <a:off x="1757548" y="2078059"/>
            <a:ext cx="2588820" cy="523220"/>
          </a:xfrm>
          <a:prstGeom prst="rect">
            <a:avLst/>
          </a:prstGeom>
          <a:noFill/>
        </p:spPr>
        <p:txBody>
          <a:bodyPr wrap="square">
            <a:spAutoFit/>
          </a:bodyPr>
          <a:lstStyle/>
          <a:p>
            <a:r>
              <a:rPr lang="en-US" sz="2800" b="1" dirty="0"/>
              <a:t>Coaching </a:t>
            </a:r>
          </a:p>
        </p:txBody>
      </p:sp>
      <p:sp>
        <p:nvSpPr>
          <p:cNvPr id="8" name="TextBox 7">
            <a:extLst>
              <a:ext uri="{FF2B5EF4-FFF2-40B4-BE49-F238E27FC236}">
                <a16:creationId xmlns:a16="http://schemas.microsoft.com/office/drawing/2014/main" id="{6C3AB1DC-0EF2-FDCD-0BAC-F8B984060121}"/>
              </a:ext>
            </a:extLst>
          </p:cNvPr>
          <p:cNvSpPr txBox="1"/>
          <p:nvPr/>
        </p:nvSpPr>
        <p:spPr>
          <a:xfrm>
            <a:off x="1757548" y="4625146"/>
            <a:ext cx="2843458" cy="523220"/>
          </a:xfrm>
          <a:prstGeom prst="rect">
            <a:avLst/>
          </a:prstGeom>
          <a:noFill/>
        </p:spPr>
        <p:txBody>
          <a:bodyPr wrap="square">
            <a:spAutoFit/>
          </a:bodyPr>
          <a:lstStyle/>
          <a:p>
            <a:r>
              <a:rPr lang="en-US" sz="2800" b="1" dirty="0"/>
              <a:t>Visionary</a:t>
            </a:r>
          </a:p>
        </p:txBody>
      </p:sp>
      <p:sp>
        <p:nvSpPr>
          <p:cNvPr id="10" name="TextBox 9">
            <a:extLst>
              <a:ext uri="{FF2B5EF4-FFF2-40B4-BE49-F238E27FC236}">
                <a16:creationId xmlns:a16="http://schemas.microsoft.com/office/drawing/2014/main" id="{4CCABD6C-95F0-D703-0966-F3088EDE6A88}"/>
              </a:ext>
            </a:extLst>
          </p:cNvPr>
          <p:cNvSpPr txBox="1"/>
          <p:nvPr/>
        </p:nvSpPr>
        <p:spPr>
          <a:xfrm>
            <a:off x="7483350" y="2010889"/>
            <a:ext cx="2117702" cy="523220"/>
          </a:xfrm>
          <a:prstGeom prst="rect">
            <a:avLst/>
          </a:prstGeom>
          <a:noFill/>
        </p:spPr>
        <p:txBody>
          <a:bodyPr wrap="square">
            <a:spAutoFit/>
          </a:bodyPr>
          <a:lstStyle/>
          <a:p>
            <a:r>
              <a:rPr lang="en-US" sz="2800" b="1" dirty="0"/>
              <a:t>Democratic</a:t>
            </a:r>
          </a:p>
        </p:txBody>
      </p:sp>
      <p:sp>
        <p:nvSpPr>
          <p:cNvPr id="12" name="TextBox 11">
            <a:extLst>
              <a:ext uri="{FF2B5EF4-FFF2-40B4-BE49-F238E27FC236}">
                <a16:creationId xmlns:a16="http://schemas.microsoft.com/office/drawing/2014/main" id="{F1418D91-48C9-8897-21DE-295A31D539F4}"/>
              </a:ext>
            </a:extLst>
          </p:cNvPr>
          <p:cNvSpPr txBox="1"/>
          <p:nvPr/>
        </p:nvSpPr>
        <p:spPr>
          <a:xfrm>
            <a:off x="7014453" y="4542478"/>
            <a:ext cx="3494199" cy="523220"/>
          </a:xfrm>
          <a:prstGeom prst="rect">
            <a:avLst/>
          </a:prstGeom>
          <a:noFill/>
        </p:spPr>
        <p:txBody>
          <a:bodyPr wrap="square">
            <a:spAutoFit/>
          </a:bodyPr>
          <a:lstStyle/>
          <a:p>
            <a:r>
              <a:rPr lang="en-US" sz="2800" b="1" dirty="0"/>
              <a:t>Transformational</a:t>
            </a:r>
          </a:p>
        </p:txBody>
      </p:sp>
      <p:sp>
        <p:nvSpPr>
          <p:cNvPr id="15" name="TextBox 14">
            <a:extLst>
              <a:ext uri="{FF2B5EF4-FFF2-40B4-BE49-F238E27FC236}">
                <a16:creationId xmlns:a16="http://schemas.microsoft.com/office/drawing/2014/main" id="{9F1B91EF-2E67-155B-A84A-CA093E697ADE}"/>
              </a:ext>
            </a:extLst>
          </p:cNvPr>
          <p:cNvSpPr txBox="1"/>
          <p:nvPr/>
        </p:nvSpPr>
        <p:spPr>
          <a:xfrm>
            <a:off x="684527" y="2846265"/>
            <a:ext cx="4571957" cy="369332"/>
          </a:xfrm>
          <a:prstGeom prst="rect">
            <a:avLst/>
          </a:prstGeom>
          <a:noFill/>
        </p:spPr>
        <p:txBody>
          <a:bodyPr wrap="none" rtlCol="0">
            <a:spAutoFit/>
          </a:bodyPr>
          <a:lstStyle/>
          <a:p>
            <a:r>
              <a:rPr lang="en-US" dirty="0"/>
              <a:t>Develops others via mentorship and support</a:t>
            </a:r>
          </a:p>
        </p:txBody>
      </p:sp>
      <p:sp>
        <p:nvSpPr>
          <p:cNvPr id="16" name="TextBox 15">
            <a:extLst>
              <a:ext uri="{FF2B5EF4-FFF2-40B4-BE49-F238E27FC236}">
                <a16:creationId xmlns:a16="http://schemas.microsoft.com/office/drawing/2014/main" id="{734ABD99-0B75-77DF-4523-44B9A9BF7FEF}"/>
              </a:ext>
            </a:extLst>
          </p:cNvPr>
          <p:cNvSpPr txBox="1"/>
          <p:nvPr/>
        </p:nvSpPr>
        <p:spPr>
          <a:xfrm>
            <a:off x="805265" y="5464751"/>
            <a:ext cx="3890617" cy="369332"/>
          </a:xfrm>
          <a:prstGeom prst="rect">
            <a:avLst/>
          </a:prstGeom>
          <a:noFill/>
        </p:spPr>
        <p:txBody>
          <a:bodyPr wrap="none" rtlCol="0">
            <a:spAutoFit/>
          </a:bodyPr>
          <a:lstStyle/>
          <a:p>
            <a:r>
              <a:rPr lang="en-US" dirty="0"/>
              <a:t>Mobilizes others toward a clear vision</a:t>
            </a:r>
          </a:p>
        </p:txBody>
      </p:sp>
      <p:sp>
        <p:nvSpPr>
          <p:cNvPr id="17" name="TextBox 16">
            <a:extLst>
              <a:ext uri="{FF2B5EF4-FFF2-40B4-BE49-F238E27FC236}">
                <a16:creationId xmlns:a16="http://schemas.microsoft.com/office/drawing/2014/main" id="{E7E46525-3FB3-0DA4-B4BB-DD1CD58E509C}"/>
              </a:ext>
            </a:extLst>
          </p:cNvPr>
          <p:cNvSpPr txBox="1"/>
          <p:nvPr/>
        </p:nvSpPr>
        <p:spPr>
          <a:xfrm>
            <a:off x="1757548" y="5095419"/>
            <a:ext cx="1831592" cy="369332"/>
          </a:xfrm>
          <a:prstGeom prst="rect">
            <a:avLst/>
          </a:prstGeom>
          <a:noFill/>
        </p:spPr>
        <p:txBody>
          <a:bodyPr wrap="none" rtlCol="0">
            <a:spAutoFit/>
          </a:bodyPr>
          <a:lstStyle/>
          <a:p>
            <a:r>
              <a:rPr lang="en-US" i="1" dirty="0"/>
              <a:t>“Come with me”</a:t>
            </a:r>
          </a:p>
        </p:txBody>
      </p:sp>
      <p:sp>
        <p:nvSpPr>
          <p:cNvPr id="18" name="TextBox 17">
            <a:extLst>
              <a:ext uri="{FF2B5EF4-FFF2-40B4-BE49-F238E27FC236}">
                <a16:creationId xmlns:a16="http://schemas.microsoft.com/office/drawing/2014/main" id="{0AE53676-C2A6-021D-153D-3FBA4F3CEC57}"/>
              </a:ext>
            </a:extLst>
          </p:cNvPr>
          <p:cNvSpPr txBox="1"/>
          <p:nvPr/>
        </p:nvSpPr>
        <p:spPr>
          <a:xfrm>
            <a:off x="2099045" y="2535220"/>
            <a:ext cx="1080232" cy="369332"/>
          </a:xfrm>
          <a:prstGeom prst="rect">
            <a:avLst/>
          </a:prstGeom>
          <a:noFill/>
        </p:spPr>
        <p:txBody>
          <a:bodyPr wrap="none" rtlCol="0">
            <a:spAutoFit/>
          </a:bodyPr>
          <a:lstStyle/>
          <a:p>
            <a:r>
              <a:rPr lang="en-US" i="1" dirty="0"/>
              <a:t>“Try this”</a:t>
            </a:r>
          </a:p>
        </p:txBody>
      </p:sp>
      <p:sp>
        <p:nvSpPr>
          <p:cNvPr id="19" name="TextBox 18">
            <a:extLst>
              <a:ext uri="{FF2B5EF4-FFF2-40B4-BE49-F238E27FC236}">
                <a16:creationId xmlns:a16="http://schemas.microsoft.com/office/drawing/2014/main" id="{42CC1459-636A-FEF8-E6EA-D9DA06D84776}"/>
              </a:ext>
            </a:extLst>
          </p:cNvPr>
          <p:cNvSpPr txBox="1"/>
          <p:nvPr/>
        </p:nvSpPr>
        <p:spPr>
          <a:xfrm>
            <a:off x="7409373" y="5047729"/>
            <a:ext cx="2402453" cy="369332"/>
          </a:xfrm>
          <a:prstGeom prst="rect">
            <a:avLst/>
          </a:prstGeom>
          <a:noFill/>
        </p:spPr>
        <p:txBody>
          <a:bodyPr wrap="none" rtlCol="0">
            <a:spAutoFit/>
          </a:bodyPr>
          <a:lstStyle/>
          <a:p>
            <a:r>
              <a:rPr lang="en-US" i="1" dirty="0"/>
              <a:t>“Let’s work towards…”</a:t>
            </a:r>
          </a:p>
        </p:txBody>
      </p:sp>
      <p:sp>
        <p:nvSpPr>
          <p:cNvPr id="20" name="TextBox 19">
            <a:extLst>
              <a:ext uri="{FF2B5EF4-FFF2-40B4-BE49-F238E27FC236}">
                <a16:creationId xmlns:a16="http://schemas.microsoft.com/office/drawing/2014/main" id="{4FB182D8-B5D6-ECCB-5AD0-D5F0864139CF}"/>
              </a:ext>
            </a:extLst>
          </p:cNvPr>
          <p:cNvSpPr txBox="1"/>
          <p:nvPr/>
        </p:nvSpPr>
        <p:spPr>
          <a:xfrm>
            <a:off x="7401635" y="2476933"/>
            <a:ext cx="2279342" cy="369332"/>
          </a:xfrm>
          <a:prstGeom prst="rect">
            <a:avLst/>
          </a:prstGeom>
          <a:noFill/>
        </p:spPr>
        <p:txBody>
          <a:bodyPr wrap="none" rtlCol="0">
            <a:spAutoFit/>
          </a:bodyPr>
          <a:lstStyle/>
          <a:p>
            <a:r>
              <a:rPr lang="en-US" i="1" dirty="0"/>
              <a:t>“What do you think?”</a:t>
            </a:r>
          </a:p>
        </p:txBody>
      </p:sp>
      <p:sp>
        <p:nvSpPr>
          <p:cNvPr id="21" name="TextBox 20">
            <a:extLst>
              <a:ext uri="{FF2B5EF4-FFF2-40B4-BE49-F238E27FC236}">
                <a16:creationId xmlns:a16="http://schemas.microsoft.com/office/drawing/2014/main" id="{F3D39F0D-AA0C-99E5-63DA-2230D31C813A}"/>
              </a:ext>
            </a:extLst>
          </p:cNvPr>
          <p:cNvSpPr txBox="1"/>
          <p:nvPr/>
        </p:nvSpPr>
        <p:spPr>
          <a:xfrm>
            <a:off x="7170153" y="6405505"/>
            <a:ext cx="3182794" cy="369332"/>
          </a:xfrm>
          <a:prstGeom prst="rect">
            <a:avLst/>
          </a:prstGeom>
          <a:noFill/>
        </p:spPr>
        <p:txBody>
          <a:bodyPr wrap="none" rtlCol="0">
            <a:spAutoFit/>
          </a:bodyPr>
          <a:lstStyle/>
          <a:p>
            <a:r>
              <a:rPr lang="en-US" dirty="0">
                <a:solidFill>
                  <a:schemeClr val="bg1">
                    <a:lumMod val="50000"/>
                  </a:schemeClr>
                </a:solidFill>
              </a:rPr>
              <a:t>Adapted from </a:t>
            </a:r>
            <a:r>
              <a:rPr lang="en-US" dirty="0">
                <a:solidFill>
                  <a:schemeClr val="bg1">
                    <a:lumMod val="50000"/>
                  </a:schemeClr>
                </a:solidFill>
                <a:hlinkClick r:id="rId5"/>
              </a:rPr>
              <a:t>Goleman (2000)</a:t>
            </a:r>
            <a:endParaRPr lang="en-US" dirty="0">
              <a:solidFill>
                <a:schemeClr val="bg1">
                  <a:lumMod val="50000"/>
                </a:schemeClr>
              </a:solidFill>
            </a:endParaRPr>
          </a:p>
        </p:txBody>
      </p:sp>
      <p:sp>
        <p:nvSpPr>
          <p:cNvPr id="22" name="TextBox 21">
            <a:extLst>
              <a:ext uri="{FF2B5EF4-FFF2-40B4-BE49-F238E27FC236}">
                <a16:creationId xmlns:a16="http://schemas.microsoft.com/office/drawing/2014/main" id="{59D3262E-BC70-79AC-7E58-71F31EFC4D47}"/>
              </a:ext>
            </a:extLst>
          </p:cNvPr>
          <p:cNvSpPr txBox="1"/>
          <p:nvPr/>
        </p:nvSpPr>
        <p:spPr>
          <a:xfrm>
            <a:off x="6592431" y="2886940"/>
            <a:ext cx="4338239" cy="369332"/>
          </a:xfrm>
          <a:prstGeom prst="rect">
            <a:avLst/>
          </a:prstGeom>
          <a:noFill/>
        </p:spPr>
        <p:txBody>
          <a:bodyPr wrap="none" rtlCol="0">
            <a:spAutoFit/>
          </a:bodyPr>
          <a:lstStyle/>
          <a:p>
            <a:r>
              <a:rPr lang="en-US" dirty="0"/>
              <a:t>Involves others in shared decision-making</a:t>
            </a:r>
          </a:p>
        </p:txBody>
      </p:sp>
      <p:sp>
        <p:nvSpPr>
          <p:cNvPr id="26" name="TextBox 25">
            <a:extLst>
              <a:ext uri="{FF2B5EF4-FFF2-40B4-BE49-F238E27FC236}">
                <a16:creationId xmlns:a16="http://schemas.microsoft.com/office/drawing/2014/main" id="{84F193BA-BD9B-A78A-DD71-423A04CFFF76}"/>
              </a:ext>
            </a:extLst>
          </p:cNvPr>
          <p:cNvSpPr txBox="1"/>
          <p:nvPr/>
        </p:nvSpPr>
        <p:spPr>
          <a:xfrm>
            <a:off x="6096000" y="5464751"/>
            <a:ext cx="5525936" cy="369332"/>
          </a:xfrm>
          <a:prstGeom prst="rect">
            <a:avLst/>
          </a:prstGeom>
          <a:noFill/>
        </p:spPr>
        <p:txBody>
          <a:bodyPr wrap="none" rtlCol="0">
            <a:spAutoFit/>
          </a:bodyPr>
          <a:lstStyle/>
          <a:p>
            <a:r>
              <a:rPr lang="en-US" dirty="0"/>
              <a:t>Inspires and empowers others to reach their potential </a:t>
            </a:r>
          </a:p>
        </p:txBody>
      </p:sp>
      <p:pic>
        <p:nvPicPr>
          <p:cNvPr id="30" name="Graphic 29" descr="Person with idea with solid fill">
            <a:extLst>
              <a:ext uri="{FF2B5EF4-FFF2-40B4-BE49-F238E27FC236}">
                <a16:creationId xmlns:a16="http://schemas.microsoft.com/office/drawing/2014/main" id="{950FE86E-C29C-AA4A-0531-2FD26FCF5B3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3237536" y="3870445"/>
            <a:ext cx="1277894" cy="1277894"/>
          </a:xfrm>
          <a:prstGeom prst="rect">
            <a:avLst/>
          </a:prstGeom>
        </p:spPr>
      </p:pic>
      <p:pic>
        <p:nvPicPr>
          <p:cNvPr id="32" name="Graphic 31" descr="Cheers with solid fill">
            <a:extLst>
              <a:ext uri="{FF2B5EF4-FFF2-40B4-BE49-F238E27FC236}">
                <a16:creationId xmlns:a16="http://schemas.microsoft.com/office/drawing/2014/main" id="{CD4812E5-CB5A-A1CF-23DA-C98198D05CF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9601052" y="1600734"/>
            <a:ext cx="865567" cy="865567"/>
          </a:xfrm>
          <a:prstGeom prst="rect">
            <a:avLst/>
          </a:prstGeom>
        </p:spPr>
      </p:pic>
      <p:pic>
        <p:nvPicPr>
          <p:cNvPr id="34" name="Graphic 33" descr="Ripple with solid fill">
            <a:extLst>
              <a:ext uri="{FF2B5EF4-FFF2-40B4-BE49-F238E27FC236}">
                <a16:creationId xmlns:a16="http://schemas.microsoft.com/office/drawing/2014/main" id="{79F40B6F-4FBD-FB86-68D3-D081CA2E8BF3}"/>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016270" y="4311442"/>
            <a:ext cx="914400" cy="914400"/>
          </a:xfrm>
          <a:prstGeom prst="rect">
            <a:avLst/>
          </a:prstGeom>
        </p:spPr>
      </p:pic>
      <p:pic>
        <p:nvPicPr>
          <p:cNvPr id="36" name="Graphic 35" descr="Watering Plant with solid fill">
            <a:extLst>
              <a:ext uri="{FF2B5EF4-FFF2-40B4-BE49-F238E27FC236}">
                <a16:creationId xmlns:a16="http://schemas.microsoft.com/office/drawing/2014/main" id="{C39BEB40-75CB-B2CE-6FB8-C6C24EB91BA7}"/>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100108" y="1576317"/>
            <a:ext cx="914400" cy="914400"/>
          </a:xfrm>
          <a:prstGeom prst="rect">
            <a:avLst/>
          </a:prstGeom>
        </p:spPr>
      </p:pic>
    </p:spTree>
    <p:extLst>
      <p:ext uri="{BB962C8B-B14F-4D97-AF65-F5344CB8AC3E}">
        <p14:creationId xmlns:p14="http://schemas.microsoft.com/office/powerpoint/2010/main" val="42162392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853BA0-4701-42B9-E7FC-F80B6FAA460E}"/>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DD2AB36-C425-12B9-E4BA-024C29EB1189}"/>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1538C675-CE9C-4710-CBEB-4848CAA18D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AD47226-8C2E-0181-DA63-41FD7CAA81E5}"/>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D2E22BC4-8177-3447-E412-BE0AB528230A}"/>
              </a:ext>
            </a:extLst>
          </p:cNvPr>
          <p:cNvSpPr txBox="1">
            <a:spLocks/>
          </p:cNvSpPr>
          <p:nvPr/>
        </p:nvSpPr>
        <p:spPr>
          <a:xfrm>
            <a:off x="0" y="-14163"/>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relational view of leadership</a:t>
            </a:r>
          </a:p>
        </p:txBody>
      </p:sp>
      <p:sp>
        <p:nvSpPr>
          <p:cNvPr id="2" name="Slide Number Placeholder 1">
            <a:extLst>
              <a:ext uri="{FF2B5EF4-FFF2-40B4-BE49-F238E27FC236}">
                <a16:creationId xmlns:a16="http://schemas.microsoft.com/office/drawing/2014/main" id="{427DE500-4C8D-12AC-85B5-427C5425F696}"/>
              </a:ext>
            </a:extLst>
          </p:cNvPr>
          <p:cNvSpPr>
            <a:spLocks noGrp="1"/>
          </p:cNvSpPr>
          <p:nvPr>
            <p:ph type="sldNum" sz="quarter" idx="12"/>
          </p:nvPr>
        </p:nvSpPr>
        <p:spPr/>
        <p:txBody>
          <a:bodyPr/>
          <a:lstStyle/>
          <a:p>
            <a:fld id="{D292B180-B274-DE43-B36F-C827C7616C05}" type="slidenum">
              <a:rPr lang="en-US" smtClean="0"/>
              <a:t>21</a:t>
            </a:fld>
            <a:endParaRPr lang="en-US"/>
          </a:p>
        </p:txBody>
      </p:sp>
      <p:sp>
        <p:nvSpPr>
          <p:cNvPr id="3" name="TextBox 2">
            <a:extLst>
              <a:ext uri="{FF2B5EF4-FFF2-40B4-BE49-F238E27FC236}">
                <a16:creationId xmlns:a16="http://schemas.microsoft.com/office/drawing/2014/main" id="{F3B05957-F9BB-7F8E-47AD-6240C606EA6E}"/>
              </a:ext>
            </a:extLst>
          </p:cNvPr>
          <p:cNvSpPr txBox="1"/>
          <p:nvPr/>
        </p:nvSpPr>
        <p:spPr>
          <a:xfrm>
            <a:off x="216585" y="1311400"/>
            <a:ext cx="2347694" cy="523220"/>
          </a:xfrm>
          <a:prstGeom prst="rect">
            <a:avLst/>
          </a:prstGeom>
          <a:noFill/>
        </p:spPr>
        <p:txBody>
          <a:bodyPr wrap="none" rtlCol="0">
            <a:spAutoFit/>
          </a:bodyPr>
          <a:lstStyle/>
          <a:p>
            <a:r>
              <a:rPr lang="en-US" sz="2800" dirty="0"/>
              <a:t>Leadership is:</a:t>
            </a:r>
          </a:p>
        </p:txBody>
      </p:sp>
      <p:sp>
        <p:nvSpPr>
          <p:cNvPr id="18" name="TextBox 17">
            <a:extLst>
              <a:ext uri="{FF2B5EF4-FFF2-40B4-BE49-F238E27FC236}">
                <a16:creationId xmlns:a16="http://schemas.microsoft.com/office/drawing/2014/main" id="{940B823E-3763-E198-4D16-649EC9BB9772}"/>
              </a:ext>
            </a:extLst>
          </p:cNvPr>
          <p:cNvSpPr txBox="1"/>
          <p:nvPr/>
        </p:nvSpPr>
        <p:spPr>
          <a:xfrm>
            <a:off x="7909762" y="6352143"/>
            <a:ext cx="3330508" cy="369332"/>
          </a:xfrm>
          <a:prstGeom prst="rect">
            <a:avLst/>
          </a:prstGeom>
          <a:noFill/>
        </p:spPr>
        <p:txBody>
          <a:bodyPr wrap="square">
            <a:spAutoFit/>
          </a:bodyPr>
          <a:lstStyle/>
          <a:p>
            <a:r>
              <a:rPr lang="en-US" dirty="0">
                <a:solidFill>
                  <a:schemeClr val="bg1">
                    <a:lumMod val="50000"/>
                  </a:schemeClr>
                </a:solidFill>
                <a:hlinkClick r:id="rId5"/>
              </a:rPr>
              <a:t>Uhl-Bien (2006)</a:t>
            </a:r>
            <a:endParaRPr lang="en-US" dirty="0">
              <a:solidFill>
                <a:schemeClr val="bg1">
                  <a:lumMod val="50000"/>
                </a:schemeClr>
              </a:solidFill>
            </a:endParaRPr>
          </a:p>
        </p:txBody>
      </p:sp>
      <p:grpSp>
        <p:nvGrpSpPr>
          <p:cNvPr id="21" name="Group 20">
            <a:extLst>
              <a:ext uri="{FF2B5EF4-FFF2-40B4-BE49-F238E27FC236}">
                <a16:creationId xmlns:a16="http://schemas.microsoft.com/office/drawing/2014/main" id="{9F6ADE01-109C-25D1-404F-20941501ABA6}"/>
              </a:ext>
            </a:extLst>
          </p:cNvPr>
          <p:cNvGrpSpPr/>
          <p:nvPr/>
        </p:nvGrpSpPr>
        <p:grpSpPr>
          <a:xfrm>
            <a:off x="2564279" y="1939401"/>
            <a:ext cx="6820719" cy="1489599"/>
            <a:chOff x="4639448" y="2272934"/>
            <a:chExt cx="6820719" cy="1489599"/>
          </a:xfrm>
        </p:grpSpPr>
        <p:sp>
          <p:nvSpPr>
            <p:cNvPr id="16" name="Rectangle 15">
              <a:extLst>
                <a:ext uri="{FF2B5EF4-FFF2-40B4-BE49-F238E27FC236}">
                  <a16:creationId xmlns:a16="http://schemas.microsoft.com/office/drawing/2014/main" id="{1C24DD62-6FF9-0EBD-45E9-0ECBE55DC051}"/>
                </a:ext>
              </a:extLst>
            </p:cNvPr>
            <p:cNvSpPr/>
            <p:nvPr/>
          </p:nvSpPr>
          <p:spPr>
            <a:xfrm>
              <a:off x="4639448" y="2272934"/>
              <a:ext cx="6820719" cy="1489599"/>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descr="User with solid fill">
              <a:extLst>
                <a:ext uri="{FF2B5EF4-FFF2-40B4-BE49-F238E27FC236}">
                  <a16:creationId xmlns:a16="http://schemas.microsoft.com/office/drawing/2014/main" id="{AD636304-AA25-58E9-DE85-B999886311B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854719" y="2849849"/>
              <a:ext cx="554007" cy="627725"/>
            </a:xfrm>
            <a:prstGeom prst="rect">
              <a:avLst/>
            </a:prstGeom>
          </p:spPr>
        </p:pic>
        <p:pic>
          <p:nvPicPr>
            <p:cNvPr id="10" name="Graphic 9" descr="Users with solid fill">
              <a:extLst>
                <a:ext uri="{FF2B5EF4-FFF2-40B4-BE49-F238E27FC236}">
                  <a16:creationId xmlns:a16="http://schemas.microsoft.com/office/drawing/2014/main" id="{A7F7F5BA-3525-F6B9-00E8-C5D6BF9650EF}"/>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073411" y="2690295"/>
              <a:ext cx="807015" cy="914400"/>
            </a:xfrm>
            <a:prstGeom prst="rect">
              <a:avLst/>
            </a:prstGeom>
          </p:spPr>
        </p:pic>
        <p:pic>
          <p:nvPicPr>
            <p:cNvPr id="12" name="Graphic 11" descr="Transfer outline">
              <a:extLst>
                <a:ext uri="{FF2B5EF4-FFF2-40B4-BE49-F238E27FC236}">
                  <a16:creationId xmlns:a16="http://schemas.microsoft.com/office/drawing/2014/main" id="{3DFEB4EC-0BB7-7FE5-866F-D0EC728BAB2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423823" y="2846275"/>
              <a:ext cx="570427" cy="646331"/>
            </a:xfrm>
            <a:prstGeom prst="rect">
              <a:avLst/>
            </a:prstGeom>
          </p:spPr>
        </p:pic>
        <p:sp>
          <p:nvSpPr>
            <p:cNvPr id="19" name="TextBox 18">
              <a:extLst>
                <a:ext uri="{FF2B5EF4-FFF2-40B4-BE49-F238E27FC236}">
                  <a16:creationId xmlns:a16="http://schemas.microsoft.com/office/drawing/2014/main" id="{245E1B27-67AF-ADE2-D00E-66EBF2B4C63C}"/>
                </a:ext>
              </a:extLst>
            </p:cNvPr>
            <p:cNvSpPr txBox="1"/>
            <p:nvPr/>
          </p:nvSpPr>
          <p:spPr>
            <a:xfrm>
              <a:off x="7588187" y="2621991"/>
              <a:ext cx="3405869" cy="830997"/>
            </a:xfrm>
            <a:prstGeom prst="rect">
              <a:avLst/>
            </a:prstGeom>
            <a:noFill/>
          </p:spPr>
          <p:txBody>
            <a:bodyPr wrap="none" rtlCol="0">
              <a:spAutoFit/>
            </a:bodyPr>
            <a:lstStyle/>
            <a:p>
              <a:r>
                <a:rPr lang="en-US" sz="2400" dirty="0"/>
                <a:t>Social process between </a:t>
              </a:r>
            </a:p>
            <a:p>
              <a:r>
                <a:rPr lang="en-US" sz="2400" dirty="0"/>
                <a:t>leaders and followers</a:t>
              </a:r>
            </a:p>
          </p:txBody>
        </p:sp>
        <p:sp>
          <p:nvSpPr>
            <p:cNvPr id="11" name="TextBox 10">
              <a:extLst>
                <a:ext uri="{FF2B5EF4-FFF2-40B4-BE49-F238E27FC236}">
                  <a16:creationId xmlns:a16="http://schemas.microsoft.com/office/drawing/2014/main" id="{B2FD7DAB-2DA8-590A-DF31-7837DDD96278}"/>
                </a:ext>
              </a:extLst>
            </p:cNvPr>
            <p:cNvSpPr txBox="1"/>
            <p:nvPr/>
          </p:nvSpPr>
          <p:spPr>
            <a:xfrm>
              <a:off x="4639448" y="2289661"/>
              <a:ext cx="2054032" cy="461665"/>
            </a:xfrm>
            <a:prstGeom prst="rect">
              <a:avLst/>
            </a:prstGeom>
            <a:noFill/>
          </p:spPr>
          <p:txBody>
            <a:bodyPr wrap="square">
              <a:spAutoFit/>
            </a:bodyPr>
            <a:lstStyle/>
            <a:p>
              <a:r>
                <a:rPr lang="en-US" sz="2400" b="1" dirty="0"/>
                <a:t>Relational</a:t>
              </a:r>
              <a:endParaRPr lang="en-US" sz="2400" dirty="0"/>
            </a:p>
          </p:txBody>
        </p:sp>
      </p:grpSp>
    </p:spTree>
    <p:extLst>
      <p:ext uri="{BB962C8B-B14F-4D97-AF65-F5344CB8AC3E}">
        <p14:creationId xmlns:p14="http://schemas.microsoft.com/office/powerpoint/2010/main" val="2673182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75BAD3-1B8C-4930-B020-A53D10474F9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E5052B99-18AA-E3E4-823D-6AAAD22708D8}"/>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E05DEA2C-CA93-5153-264B-35900C4F21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8EC480C-D4FB-1B72-B03E-17EC2FFBDE2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59A065A-828A-BD2B-C683-E34682504E51}"/>
              </a:ext>
            </a:extLst>
          </p:cNvPr>
          <p:cNvSpPr txBox="1">
            <a:spLocks/>
          </p:cNvSpPr>
          <p:nvPr/>
        </p:nvSpPr>
        <p:spPr>
          <a:xfrm>
            <a:off x="0" y="-14163"/>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relational view of leadership</a:t>
            </a:r>
          </a:p>
        </p:txBody>
      </p:sp>
      <p:sp>
        <p:nvSpPr>
          <p:cNvPr id="2" name="Slide Number Placeholder 1">
            <a:extLst>
              <a:ext uri="{FF2B5EF4-FFF2-40B4-BE49-F238E27FC236}">
                <a16:creationId xmlns:a16="http://schemas.microsoft.com/office/drawing/2014/main" id="{004CF160-BD22-43D4-1C0B-C0F030B98561}"/>
              </a:ext>
            </a:extLst>
          </p:cNvPr>
          <p:cNvSpPr>
            <a:spLocks noGrp="1"/>
          </p:cNvSpPr>
          <p:nvPr>
            <p:ph type="sldNum" sz="quarter" idx="12"/>
          </p:nvPr>
        </p:nvSpPr>
        <p:spPr/>
        <p:txBody>
          <a:bodyPr/>
          <a:lstStyle/>
          <a:p>
            <a:fld id="{D292B180-B274-DE43-B36F-C827C7616C05}" type="slidenum">
              <a:rPr lang="en-US" smtClean="0"/>
              <a:t>22</a:t>
            </a:fld>
            <a:endParaRPr lang="en-US"/>
          </a:p>
        </p:txBody>
      </p:sp>
      <p:sp>
        <p:nvSpPr>
          <p:cNvPr id="3" name="TextBox 2">
            <a:extLst>
              <a:ext uri="{FF2B5EF4-FFF2-40B4-BE49-F238E27FC236}">
                <a16:creationId xmlns:a16="http://schemas.microsoft.com/office/drawing/2014/main" id="{4AAA8020-D6F8-3DD8-37D3-C66EAC9167F6}"/>
              </a:ext>
            </a:extLst>
          </p:cNvPr>
          <p:cNvSpPr txBox="1"/>
          <p:nvPr/>
        </p:nvSpPr>
        <p:spPr>
          <a:xfrm>
            <a:off x="216585" y="1311400"/>
            <a:ext cx="2347694" cy="523220"/>
          </a:xfrm>
          <a:prstGeom prst="rect">
            <a:avLst/>
          </a:prstGeom>
          <a:noFill/>
        </p:spPr>
        <p:txBody>
          <a:bodyPr wrap="none" rtlCol="0">
            <a:spAutoFit/>
          </a:bodyPr>
          <a:lstStyle/>
          <a:p>
            <a:r>
              <a:rPr lang="en-US" sz="2800" dirty="0"/>
              <a:t>Leadership is:</a:t>
            </a:r>
          </a:p>
        </p:txBody>
      </p:sp>
      <p:grpSp>
        <p:nvGrpSpPr>
          <p:cNvPr id="21" name="Group 20">
            <a:extLst>
              <a:ext uri="{FF2B5EF4-FFF2-40B4-BE49-F238E27FC236}">
                <a16:creationId xmlns:a16="http://schemas.microsoft.com/office/drawing/2014/main" id="{1017B243-D00D-35F4-51C3-E49A3D0E84B7}"/>
              </a:ext>
            </a:extLst>
          </p:cNvPr>
          <p:cNvGrpSpPr/>
          <p:nvPr/>
        </p:nvGrpSpPr>
        <p:grpSpPr>
          <a:xfrm>
            <a:off x="2564279" y="1939401"/>
            <a:ext cx="6820719" cy="1489599"/>
            <a:chOff x="4639448" y="2272934"/>
            <a:chExt cx="6820719" cy="1489599"/>
          </a:xfrm>
        </p:grpSpPr>
        <p:sp>
          <p:nvSpPr>
            <p:cNvPr id="16" name="Rectangle 15">
              <a:extLst>
                <a:ext uri="{FF2B5EF4-FFF2-40B4-BE49-F238E27FC236}">
                  <a16:creationId xmlns:a16="http://schemas.microsoft.com/office/drawing/2014/main" id="{A9115755-EEF1-D42B-6DED-F2C20A53E3B1}"/>
                </a:ext>
              </a:extLst>
            </p:cNvPr>
            <p:cNvSpPr/>
            <p:nvPr/>
          </p:nvSpPr>
          <p:spPr>
            <a:xfrm>
              <a:off x="4639448" y="2272934"/>
              <a:ext cx="6820719" cy="1489599"/>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descr="User with solid fill">
              <a:extLst>
                <a:ext uri="{FF2B5EF4-FFF2-40B4-BE49-F238E27FC236}">
                  <a16:creationId xmlns:a16="http://schemas.microsoft.com/office/drawing/2014/main" id="{0928AD97-DCB5-6CA8-5469-EBE5987ADDE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54719" y="2849849"/>
              <a:ext cx="554007" cy="627725"/>
            </a:xfrm>
            <a:prstGeom prst="rect">
              <a:avLst/>
            </a:prstGeom>
          </p:spPr>
        </p:pic>
        <p:pic>
          <p:nvPicPr>
            <p:cNvPr id="10" name="Graphic 9" descr="Users with solid fill">
              <a:extLst>
                <a:ext uri="{FF2B5EF4-FFF2-40B4-BE49-F238E27FC236}">
                  <a16:creationId xmlns:a16="http://schemas.microsoft.com/office/drawing/2014/main" id="{82ED9E2B-4577-C2D7-DE33-20F0D17C99A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73411" y="2690295"/>
              <a:ext cx="807015" cy="914400"/>
            </a:xfrm>
            <a:prstGeom prst="rect">
              <a:avLst/>
            </a:prstGeom>
          </p:spPr>
        </p:pic>
        <p:pic>
          <p:nvPicPr>
            <p:cNvPr id="12" name="Graphic 11" descr="Transfer outline">
              <a:extLst>
                <a:ext uri="{FF2B5EF4-FFF2-40B4-BE49-F238E27FC236}">
                  <a16:creationId xmlns:a16="http://schemas.microsoft.com/office/drawing/2014/main" id="{A4EF843C-459A-C06C-D5A8-7B7F8EEEF7C3}"/>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23823" y="2846275"/>
              <a:ext cx="570427" cy="646331"/>
            </a:xfrm>
            <a:prstGeom prst="rect">
              <a:avLst/>
            </a:prstGeom>
          </p:spPr>
        </p:pic>
        <p:sp>
          <p:nvSpPr>
            <p:cNvPr id="19" name="TextBox 18">
              <a:extLst>
                <a:ext uri="{FF2B5EF4-FFF2-40B4-BE49-F238E27FC236}">
                  <a16:creationId xmlns:a16="http://schemas.microsoft.com/office/drawing/2014/main" id="{A7E7003F-AF37-1EF8-EF75-152355B82FE8}"/>
                </a:ext>
              </a:extLst>
            </p:cNvPr>
            <p:cNvSpPr txBox="1"/>
            <p:nvPr/>
          </p:nvSpPr>
          <p:spPr>
            <a:xfrm>
              <a:off x="7588187" y="2621991"/>
              <a:ext cx="3405869" cy="830997"/>
            </a:xfrm>
            <a:prstGeom prst="rect">
              <a:avLst/>
            </a:prstGeom>
            <a:noFill/>
          </p:spPr>
          <p:txBody>
            <a:bodyPr wrap="none" rtlCol="0">
              <a:spAutoFit/>
            </a:bodyPr>
            <a:lstStyle/>
            <a:p>
              <a:r>
                <a:rPr lang="en-US" sz="2400" dirty="0"/>
                <a:t>Social process between </a:t>
              </a:r>
            </a:p>
            <a:p>
              <a:r>
                <a:rPr lang="en-US" sz="2400" dirty="0"/>
                <a:t>leaders and followers</a:t>
              </a:r>
            </a:p>
          </p:txBody>
        </p:sp>
        <p:sp>
          <p:nvSpPr>
            <p:cNvPr id="11" name="TextBox 10">
              <a:extLst>
                <a:ext uri="{FF2B5EF4-FFF2-40B4-BE49-F238E27FC236}">
                  <a16:creationId xmlns:a16="http://schemas.microsoft.com/office/drawing/2014/main" id="{C99361C0-9A5B-FC82-99A5-57E3AA8960F4}"/>
                </a:ext>
              </a:extLst>
            </p:cNvPr>
            <p:cNvSpPr txBox="1"/>
            <p:nvPr/>
          </p:nvSpPr>
          <p:spPr>
            <a:xfrm>
              <a:off x="4639448" y="2289661"/>
              <a:ext cx="2054032" cy="461665"/>
            </a:xfrm>
            <a:prstGeom prst="rect">
              <a:avLst/>
            </a:prstGeom>
            <a:noFill/>
          </p:spPr>
          <p:txBody>
            <a:bodyPr wrap="square">
              <a:spAutoFit/>
            </a:bodyPr>
            <a:lstStyle/>
            <a:p>
              <a:r>
                <a:rPr lang="en-US" sz="2400" b="1" dirty="0"/>
                <a:t>Relational</a:t>
              </a:r>
              <a:endParaRPr lang="en-US" sz="2400" dirty="0"/>
            </a:p>
          </p:txBody>
        </p:sp>
      </p:grpSp>
      <p:grpSp>
        <p:nvGrpSpPr>
          <p:cNvPr id="9" name="Group 8">
            <a:extLst>
              <a:ext uri="{FF2B5EF4-FFF2-40B4-BE49-F238E27FC236}">
                <a16:creationId xmlns:a16="http://schemas.microsoft.com/office/drawing/2014/main" id="{C11AE520-481D-C518-C5EC-657FF9160767}"/>
              </a:ext>
            </a:extLst>
          </p:cNvPr>
          <p:cNvGrpSpPr/>
          <p:nvPr/>
        </p:nvGrpSpPr>
        <p:grpSpPr>
          <a:xfrm>
            <a:off x="2564278" y="3688523"/>
            <a:ext cx="6820719" cy="1255787"/>
            <a:chOff x="4683720" y="2738347"/>
            <a:chExt cx="6820719" cy="1255787"/>
          </a:xfrm>
        </p:grpSpPr>
        <p:sp>
          <p:nvSpPr>
            <p:cNvPr id="13" name="Rectangle 12">
              <a:extLst>
                <a:ext uri="{FF2B5EF4-FFF2-40B4-BE49-F238E27FC236}">
                  <a16:creationId xmlns:a16="http://schemas.microsoft.com/office/drawing/2014/main" id="{259DFA96-306F-46F0-37A3-D0B808FA3C9B}"/>
                </a:ext>
              </a:extLst>
            </p:cNvPr>
            <p:cNvSpPr/>
            <p:nvPr/>
          </p:nvSpPr>
          <p:spPr>
            <a:xfrm>
              <a:off x="4683720" y="2760068"/>
              <a:ext cx="6820719" cy="1038461"/>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Continuous Improvement outline">
              <a:extLst>
                <a:ext uri="{FF2B5EF4-FFF2-40B4-BE49-F238E27FC236}">
                  <a16:creationId xmlns:a16="http://schemas.microsoft.com/office/drawing/2014/main" id="{C7269AAC-6008-35C5-4200-027BDC8D1D7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02966" y="2847505"/>
              <a:ext cx="1146629" cy="1146629"/>
            </a:xfrm>
            <a:prstGeom prst="rect">
              <a:avLst/>
            </a:prstGeom>
          </p:spPr>
        </p:pic>
        <p:sp>
          <p:nvSpPr>
            <p:cNvPr id="17" name="TextBox 16">
              <a:extLst>
                <a:ext uri="{FF2B5EF4-FFF2-40B4-BE49-F238E27FC236}">
                  <a16:creationId xmlns:a16="http://schemas.microsoft.com/office/drawing/2014/main" id="{420716C6-0C46-689F-9FF6-4041CF5ABE9C}"/>
                </a:ext>
              </a:extLst>
            </p:cNvPr>
            <p:cNvSpPr txBox="1"/>
            <p:nvPr/>
          </p:nvSpPr>
          <p:spPr>
            <a:xfrm>
              <a:off x="7577893" y="2975821"/>
              <a:ext cx="3775905" cy="461665"/>
            </a:xfrm>
            <a:prstGeom prst="rect">
              <a:avLst/>
            </a:prstGeom>
            <a:noFill/>
          </p:spPr>
          <p:txBody>
            <a:bodyPr wrap="none" rtlCol="0">
              <a:spAutoFit/>
            </a:bodyPr>
            <a:lstStyle/>
            <a:p>
              <a:r>
                <a:rPr lang="en-US" sz="2400" dirty="0"/>
                <a:t>Evolving process, adapting </a:t>
              </a:r>
            </a:p>
          </p:txBody>
        </p:sp>
        <p:sp>
          <p:nvSpPr>
            <p:cNvPr id="20" name="TextBox 19">
              <a:extLst>
                <a:ext uri="{FF2B5EF4-FFF2-40B4-BE49-F238E27FC236}">
                  <a16:creationId xmlns:a16="http://schemas.microsoft.com/office/drawing/2014/main" id="{2140E6B9-583D-8665-F11C-667A549F4F8A}"/>
                </a:ext>
              </a:extLst>
            </p:cNvPr>
            <p:cNvSpPr txBox="1"/>
            <p:nvPr/>
          </p:nvSpPr>
          <p:spPr>
            <a:xfrm>
              <a:off x="4841724" y="2738347"/>
              <a:ext cx="1490005" cy="461665"/>
            </a:xfrm>
            <a:prstGeom prst="rect">
              <a:avLst/>
            </a:prstGeom>
            <a:noFill/>
          </p:spPr>
          <p:txBody>
            <a:bodyPr wrap="square">
              <a:spAutoFit/>
            </a:bodyPr>
            <a:lstStyle/>
            <a:p>
              <a:r>
                <a:rPr lang="en-US" sz="2400" b="1" dirty="0"/>
                <a:t>Dynamic</a:t>
              </a:r>
              <a:endParaRPr lang="en-US" sz="2400" dirty="0"/>
            </a:p>
          </p:txBody>
        </p:sp>
      </p:grpSp>
      <p:sp>
        <p:nvSpPr>
          <p:cNvPr id="7" name="TextBox 6">
            <a:extLst>
              <a:ext uri="{FF2B5EF4-FFF2-40B4-BE49-F238E27FC236}">
                <a16:creationId xmlns:a16="http://schemas.microsoft.com/office/drawing/2014/main" id="{D0501F68-6865-D9E5-6320-562FD2E8D82D}"/>
              </a:ext>
            </a:extLst>
          </p:cNvPr>
          <p:cNvSpPr txBox="1"/>
          <p:nvPr/>
        </p:nvSpPr>
        <p:spPr>
          <a:xfrm>
            <a:off x="7909762" y="6352143"/>
            <a:ext cx="3330508" cy="369332"/>
          </a:xfrm>
          <a:prstGeom prst="rect">
            <a:avLst/>
          </a:prstGeom>
          <a:noFill/>
        </p:spPr>
        <p:txBody>
          <a:bodyPr wrap="square">
            <a:spAutoFit/>
          </a:bodyPr>
          <a:lstStyle/>
          <a:p>
            <a:r>
              <a:rPr lang="en-US" dirty="0">
                <a:solidFill>
                  <a:schemeClr val="bg1">
                    <a:lumMod val="50000"/>
                  </a:schemeClr>
                </a:solidFill>
                <a:hlinkClick r:id="rId9"/>
              </a:rPr>
              <a:t>Uhl-Bien (2006)</a:t>
            </a:r>
            <a:endParaRPr lang="en-US" dirty="0">
              <a:solidFill>
                <a:schemeClr val="bg1">
                  <a:lumMod val="50000"/>
                </a:schemeClr>
              </a:solidFill>
            </a:endParaRPr>
          </a:p>
        </p:txBody>
      </p:sp>
    </p:spTree>
    <p:extLst>
      <p:ext uri="{BB962C8B-B14F-4D97-AF65-F5344CB8AC3E}">
        <p14:creationId xmlns:p14="http://schemas.microsoft.com/office/powerpoint/2010/main" val="136558110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3CAD5-07C0-817A-99F2-CC0A4CFE4788}"/>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95EE288-9F76-E847-DD33-A49CF13326ED}"/>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444C24CD-2A8D-0059-90B7-8446776F44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6C32A59-B33A-B7C0-951A-B0E39417982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4750D6EC-87C3-CD51-9609-CDAC2E783138}"/>
              </a:ext>
            </a:extLst>
          </p:cNvPr>
          <p:cNvSpPr txBox="1">
            <a:spLocks/>
          </p:cNvSpPr>
          <p:nvPr/>
        </p:nvSpPr>
        <p:spPr>
          <a:xfrm>
            <a:off x="0" y="-14163"/>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 relational view of leadership</a:t>
            </a:r>
          </a:p>
        </p:txBody>
      </p:sp>
      <p:sp>
        <p:nvSpPr>
          <p:cNvPr id="2" name="Slide Number Placeholder 1">
            <a:extLst>
              <a:ext uri="{FF2B5EF4-FFF2-40B4-BE49-F238E27FC236}">
                <a16:creationId xmlns:a16="http://schemas.microsoft.com/office/drawing/2014/main" id="{5DCC3A09-EC60-A1A7-C10F-AD98B24A0157}"/>
              </a:ext>
            </a:extLst>
          </p:cNvPr>
          <p:cNvSpPr>
            <a:spLocks noGrp="1"/>
          </p:cNvSpPr>
          <p:nvPr>
            <p:ph type="sldNum" sz="quarter" idx="12"/>
          </p:nvPr>
        </p:nvSpPr>
        <p:spPr/>
        <p:txBody>
          <a:bodyPr/>
          <a:lstStyle/>
          <a:p>
            <a:fld id="{D292B180-B274-DE43-B36F-C827C7616C05}" type="slidenum">
              <a:rPr lang="en-US" smtClean="0"/>
              <a:t>23</a:t>
            </a:fld>
            <a:endParaRPr lang="en-US"/>
          </a:p>
        </p:txBody>
      </p:sp>
      <p:sp>
        <p:nvSpPr>
          <p:cNvPr id="3" name="TextBox 2">
            <a:extLst>
              <a:ext uri="{FF2B5EF4-FFF2-40B4-BE49-F238E27FC236}">
                <a16:creationId xmlns:a16="http://schemas.microsoft.com/office/drawing/2014/main" id="{74F72B7F-0FDD-6228-9DC6-AE265413349D}"/>
              </a:ext>
            </a:extLst>
          </p:cNvPr>
          <p:cNvSpPr txBox="1"/>
          <p:nvPr/>
        </p:nvSpPr>
        <p:spPr>
          <a:xfrm>
            <a:off x="216585" y="1311400"/>
            <a:ext cx="2347694" cy="523220"/>
          </a:xfrm>
          <a:prstGeom prst="rect">
            <a:avLst/>
          </a:prstGeom>
          <a:noFill/>
        </p:spPr>
        <p:txBody>
          <a:bodyPr wrap="none" rtlCol="0">
            <a:spAutoFit/>
          </a:bodyPr>
          <a:lstStyle/>
          <a:p>
            <a:r>
              <a:rPr lang="en-US" sz="2800" dirty="0"/>
              <a:t>Leadership is:</a:t>
            </a:r>
          </a:p>
        </p:txBody>
      </p:sp>
      <p:grpSp>
        <p:nvGrpSpPr>
          <p:cNvPr id="21" name="Group 20">
            <a:extLst>
              <a:ext uri="{FF2B5EF4-FFF2-40B4-BE49-F238E27FC236}">
                <a16:creationId xmlns:a16="http://schemas.microsoft.com/office/drawing/2014/main" id="{444B46E9-A3ED-8EC5-850E-F4855F7A5128}"/>
              </a:ext>
            </a:extLst>
          </p:cNvPr>
          <p:cNvGrpSpPr/>
          <p:nvPr/>
        </p:nvGrpSpPr>
        <p:grpSpPr>
          <a:xfrm>
            <a:off x="2564279" y="1939401"/>
            <a:ext cx="6820719" cy="1489599"/>
            <a:chOff x="4639448" y="2272934"/>
            <a:chExt cx="6820719" cy="1489599"/>
          </a:xfrm>
        </p:grpSpPr>
        <p:sp>
          <p:nvSpPr>
            <p:cNvPr id="16" name="Rectangle 15">
              <a:extLst>
                <a:ext uri="{FF2B5EF4-FFF2-40B4-BE49-F238E27FC236}">
                  <a16:creationId xmlns:a16="http://schemas.microsoft.com/office/drawing/2014/main" id="{167B7811-7A36-2749-8DDA-D421D94ADEC1}"/>
                </a:ext>
              </a:extLst>
            </p:cNvPr>
            <p:cNvSpPr/>
            <p:nvPr/>
          </p:nvSpPr>
          <p:spPr>
            <a:xfrm>
              <a:off x="4639448" y="2272934"/>
              <a:ext cx="6820719" cy="1489599"/>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8" name="Graphic 7" descr="User with solid fill">
              <a:extLst>
                <a:ext uri="{FF2B5EF4-FFF2-40B4-BE49-F238E27FC236}">
                  <a16:creationId xmlns:a16="http://schemas.microsoft.com/office/drawing/2014/main" id="{CDBF979A-7362-3326-F943-46723F6B65B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854719" y="2849849"/>
              <a:ext cx="554007" cy="627725"/>
            </a:xfrm>
            <a:prstGeom prst="rect">
              <a:avLst/>
            </a:prstGeom>
          </p:spPr>
        </p:pic>
        <p:pic>
          <p:nvPicPr>
            <p:cNvPr id="10" name="Graphic 9" descr="Users with solid fill">
              <a:extLst>
                <a:ext uri="{FF2B5EF4-FFF2-40B4-BE49-F238E27FC236}">
                  <a16:creationId xmlns:a16="http://schemas.microsoft.com/office/drawing/2014/main" id="{3C9CE763-1E80-26B3-B38F-D79A59E6716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073411" y="2690295"/>
              <a:ext cx="807015" cy="914400"/>
            </a:xfrm>
            <a:prstGeom prst="rect">
              <a:avLst/>
            </a:prstGeom>
          </p:spPr>
        </p:pic>
        <p:pic>
          <p:nvPicPr>
            <p:cNvPr id="12" name="Graphic 11" descr="Transfer outline">
              <a:extLst>
                <a:ext uri="{FF2B5EF4-FFF2-40B4-BE49-F238E27FC236}">
                  <a16:creationId xmlns:a16="http://schemas.microsoft.com/office/drawing/2014/main" id="{3A2BD972-2413-BC14-0B96-F29BC6D557F6}"/>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423823" y="2846275"/>
              <a:ext cx="570427" cy="646331"/>
            </a:xfrm>
            <a:prstGeom prst="rect">
              <a:avLst/>
            </a:prstGeom>
          </p:spPr>
        </p:pic>
        <p:sp>
          <p:nvSpPr>
            <p:cNvPr id="19" name="TextBox 18">
              <a:extLst>
                <a:ext uri="{FF2B5EF4-FFF2-40B4-BE49-F238E27FC236}">
                  <a16:creationId xmlns:a16="http://schemas.microsoft.com/office/drawing/2014/main" id="{52D0DA9B-540F-21B1-1A57-DFC8FCFEA99F}"/>
                </a:ext>
              </a:extLst>
            </p:cNvPr>
            <p:cNvSpPr txBox="1"/>
            <p:nvPr/>
          </p:nvSpPr>
          <p:spPr>
            <a:xfrm>
              <a:off x="7588187" y="2621991"/>
              <a:ext cx="3405869" cy="830997"/>
            </a:xfrm>
            <a:prstGeom prst="rect">
              <a:avLst/>
            </a:prstGeom>
            <a:noFill/>
          </p:spPr>
          <p:txBody>
            <a:bodyPr wrap="none" rtlCol="0">
              <a:spAutoFit/>
            </a:bodyPr>
            <a:lstStyle/>
            <a:p>
              <a:r>
                <a:rPr lang="en-US" sz="2400" dirty="0"/>
                <a:t>Social process between </a:t>
              </a:r>
            </a:p>
            <a:p>
              <a:r>
                <a:rPr lang="en-US" sz="2400" dirty="0"/>
                <a:t>leaders and followers</a:t>
              </a:r>
            </a:p>
          </p:txBody>
        </p:sp>
        <p:sp>
          <p:nvSpPr>
            <p:cNvPr id="11" name="TextBox 10">
              <a:extLst>
                <a:ext uri="{FF2B5EF4-FFF2-40B4-BE49-F238E27FC236}">
                  <a16:creationId xmlns:a16="http://schemas.microsoft.com/office/drawing/2014/main" id="{D1C951F4-1B51-5B75-1772-B292D4537B5C}"/>
                </a:ext>
              </a:extLst>
            </p:cNvPr>
            <p:cNvSpPr txBox="1"/>
            <p:nvPr/>
          </p:nvSpPr>
          <p:spPr>
            <a:xfrm>
              <a:off x="4639448" y="2289661"/>
              <a:ext cx="2054032" cy="461665"/>
            </a:xfrm>
            <a:prstGeom prst="rect">
              <a:avLst/>
            </a:prstGeom>
            <a:noFill/>
          </p:spPr>
          <p:txBody>
            <a:bodyPr wrap="square">
              <a:spAutoFit/>
            </a:bodyPr>
            <a:lstStyle/>
            <a:p>
              <a:r>
                <a:rPr lang="en-US" sz="2400" b="1" dirty="0"/>
                <a:t>Relational</a:t>
              </a:r>
              <a:endParaRPr lang="en-US" sz="2400" dirty="0"/>
            </a:p>
          </p:txBody>
        </p:sp>
      </p:grpSp>
      <p:grpSp>
        <p:nvGrpSpPr>
          <p:cNvPr id="9" name="Group 8">
            <a:extLst>
              <a:ext uri="{FF2B5EF4-FFF2-40B4-BE49-F238E27FC236}">
                <a16:creationId xmlns:a16="http://schemas.microsoft.com/office/drawing/2014/main" id="{3A4421CE-99B7-142D-792F-E7B9C159ECBB}"/>
              </a:ext>
            </a:extLst>
          </p:cNvPr>
          <p:cNvGrpSpPr/>
          <p:nvPr/>
        </p:nvGrpSpPr>
        <p:grpSpPr>
          <a:xfrm>
            <a:off x="2564278" y="3688523"/>
            <a:ext cx="6820719" cy="1255787"/>
            <a:chOff x="4683720" y="2738347"/>
            <a:chExt cx="6820719" cy="1255787"/>
          </a:xfrm>
        </p:grpSpPr>
        <p:sp>
          <p:nvSpPr>
            <p:cNvPr id="13" name="Rectangle 12">
              <a:extLst>
                <a:ext uri="{FF2B5EF4-FFF2-40B4-BE49-F238E27FC236}">
                  <a16:creationId xmlns:a16="http://schemas.microsoft.com/office/drawing/2014/main" id="{006EEFB8-57A4-DB99-D2E5-C5C2451ACE94}"/>
                </a:ext>
              </a:extLst>
            </p:cNvPr>
            <p:cNvSpPr/>
            <p:nvPr/>
          </p:nvSpPr>
          <p:spPr>
            <a:xfrm>
              <a:off x="4683720" y="2760068"/>
              <a:ext cx="6820719" cy="1038461"/>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4" name="Graphic 13" descr="Continuous Improvement outline">
              <a:extLst>
                <a:ext uri="{FF2B5EF4-FFF2-40B4-BE49-F238E27FC236}">
                  <a16:creationId xmlns:a16="http://schemas.microsoft.com/office/drawing/2014/main" id="{AEE8A476-06BA-1319-6EF4-C71A3DD6ACE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902966" y="2847505"/>
              <a:ext cx="1146629" cy="1146629"/>
            </a:xfrm>
            <a:prstGeom prst="rect">
              <a:avLst/>
            </a:prstGeom>
          </p:spPr>
        </p:pic>
        <p:sp>
          <p:nvSpPr>
            <p:cNvPr id="17" name="TextBox 16">
              <a:extLst>
                <a:ext uri="{FF2B5EF4-FFF2-40B4-BE49-F238E27FC236}">
                  <a16:creationId xmlns:a16="http://schemas.microsoft.com/office/drawing/2014/main" id="{B3854B2F-E53D-D0BD-D6D3-4133AF77E648}"/>
                </a:ext>
              </a:extLst>
            </p:cNvPr>
            <p:cNvSpPr txBox="1"/>
            <p:nvPr/>
          </p:nvSpPr>
          <p:spPr>
            <a:xfrm>
              <a:off x="7577893" y="2975821"/>
              <a:ext cx="3775905" cy="461665"/>
            </a:xfrm>
            <a:prstGeom prst="rect">
              <a:avLst/>
            </a:prstGeom>
            <a:noFill/>
          </p:spPr>
          <p:txBody>
            <a:bodyPr wrap="none" rtlCol="0">
              <a:spAutoFit/>
            </a:bodyPr>
            <a:lstStyle/>
            <a:p>
              <a:r>
                <a:rPr lang="en-US" sz="2400" dirty="0"/>
                <a:t>Evolving process, adapting </a:t>
              </a:r>
            </a:p>
          </p:txBody>
        </p:sp>
        <p:sp>
          <p:nvSpPr>
            <p:cNvPr id="20" name="TextBox 19">
              <a:extLst>
                <a:ext uri="{FF2B5EF4-FFF2-40B4-BE49-F238E27FC236}">
                  <a16:creationId xmlns:a16="http://schemas.microsoft.com/office/drawing/2014/main" id="{C0166DA9-9F21-30A4-1137-1F637995672F}"/>
                </a:ext>
              </a:extLst>
            </p:cNvPr>
            <p:cNvSpPr txBox="1"/>
            <p:nvPr/>
          </p:nvSpPr>
          <p:spPr>
            <a:xfrm>
              <a:off x="4841724" y="2738347"/>
              <a:ext cx="1490005" cy="461665"/>
            </a:xfrm>
            <a:prstGeom prst="rect">
              <a:avLst/>
            </a:prstGeom>
            <a:noFill/>
          </p:spPr>
          <p:txBody>
            <a:bodyPr wrap="square">
              <a:spAutoFit/>
            </a:bodyPr>
            <a:lstStyle/>
            <a:p>
              <a:r>
                <a:rPr lang="en-US" sz="2400" b="1" dirty="0"/>
                <a:t>Dynamic</a:t>
              </a:r>
              <a:endParaRPr lang="en-US" sz="2400" dirty="0"/>
            </a:p>
          </p:txBody>
        </p:sp>
      </p:grpSp>
      <p:grpSp>
        <p:nvGrpSpPr>
          <p:cNvPr id="7" name="Group 6">
            <a:extLst>
              <a:ext uri="{FF2B5EF4-FFF2-40B4-BE49-F238E27FC236}">
                <a16:creationId xmlns:a16="http://schemas.microsoft.com/office/drawing/2014/main" id="{4E8BC96C-2843-0A07-0DB7-3EC2DD9ADEEB}"/>
              </a:ext>
            </a:extLst>
          </p:cNvPr>
          <p:cNvGrpSpPr/>
          <p:nvPr/>
        </p:nvGrpSpPr>
        <p:grpSpPr>
          <a:xfrm>
            <a:off x="2564277" y="5029949"/>
            <a:ext cx="6820719" cy="1331237"/>
            <a:chOff x="4838239" y="3624978"/>
            <a:chExt cx="6820719" cy="1331237"/>
          </a:xfrm>
        </p:grpSpPr>
        <p:sp>
          <p:nvSpPr>
            <p:cNvPr id="22" name="Rectangle 21">
              <a:extLst>
                <a:ext uri="{FF2B5EF4-FFF2-40B4-BE49-F238E27FC236}">
                  <a16:creationId xmlns:a16="http://schemas.microsoft.com/office/drawing/2014/main" id="{AE992157-6205-D8B1-035D-B47DD9789AC8}"/>
                </a:ext>
              </a:extLst>
            </p:cNvPr>
            <p:cNvSpPr/>
            <p:nvPr/>
          </p:nvSpPr>
          <p:spPr>
            <a:xfrm>
              <a:off x="4838239" y="3624978"/>
              <a:ext cx="6820719" cy="1331237"/>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Graphic 22" descr="Fork In Road outline">
              <a:extLst>
                <a:ext uri="{FF2B5EF4-FFF2-40B4-BE49-F238E27FC236}">
                  <a16:creationId xmlns:a16="http://schemas.microsoft.com/office/drawing/2014/main" id="{A028966E-F28B-15AE-3E06-F73FC02FDDF9}"/>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5578763" y="4171072"/>
              <a:ext cx="914400" cy="723819"/>
            </a:xfrm>
            <a:prstGeom prst="rect">
              <a:avLst/>
            </a:prstGeom>
          </p:spPr>
        </p:pic>
        <p:sp>
          <p:nvSpPr>
            <p:cNvPr id="24" name="TextBox 23">
              <a:extLst>
                <a:ext uri="{FF2B5EF4-FFF2-40B4-BE49-F238E27FC236}">
                  <a16:creationId xmlns:a16="http://schemas.microsoft.com/office/drawing/2014/main" id="{17250CEF-E735-6DB7-75E3-F5A1F08A9296}"/>
                </a:ext>
              </a:extLst>
            </p:cNvPr>
            <p:cNvSpPr txBox="1"/>
            <p:nvPr/>
          </p:nvSpPr>
          <p:spPr>
            <a:xfrm>
              <a:off x="7680900" y="3898190"/>
              <a:ext cx="3827418" cy="830997"/>
            </a:xfrm>
            <a:prstGeom prst="rect">
              <a:avLst/>
            </a:prstGeom>
            <a:noFill/>
          </p:spPr>
          <p:txBody>
            <a:bodyPr wrap="square" rtlCol="0">
              <a:spAutoFit/>
            </a:bodyPr>
            <a:lstStyle/>
            <a:p>
              <a:r>
                <a:rPr lang="en-US" sz="2400" dirty="0"/>
                <a:t>Beyond formal roles and organizational hierarchy </a:t>
              </a:r>
            </a:p>
          </p:txBody>
        </p:sp>
        <p:sp>
          <p:nvSpPr>
            <p:cNvPr id="25" name="TextBox 24">
              <a:extLst>
                <a:ext uri="{FF2B5EF4-FFF2-40B4-BE49-F238E27FC236}">
                  <a16:creationId xmlns:a16="http://schemas.microsoft.com/office/drawing/2014/main" id="{CFCC100F-BC1C-7F64-F863-3F16566B7FB2}"/>
                </a:ext>
              </a:extLst>
            </p:cNvPr>
            <p:cNvSpPr txBox="1"/>
            <p:nvPr/>
          </p:nvSpPr>
          <p:spPr>
            <a:xfrm>
              <a:off x="4841726" y="3709407"/>
              <a:ext cx="2523191" cy="461665"/>
            </a:xfrm>
            <a:prstGeom prst="rect">
              <a:avLst/>
            </a:prstGeom>
            <a:noFill/>
          </p:spPr>
          <p:txBody>
            <a:bodyPr wrap="none" rtlCol="0">
              <a:spAutoFit/>
            </a:bodyPr>
            <a:lstStyle/>
            <a:p>
              <a:r>
                <a:rPr lang="en-US" sz="2400" b="1" dirty="0"/>
                <a:t>Multi-directional</a:t>
              </a:r>
            </a:p>
          </p:txBody>
        </p:sp>
      </p:grpSp>
      <p:sp>
        <p:nvSpPr>
          <p:cNvPr id="26" name="TextBox 25">
            <a:extLst>
              <a:ext uri="{FF2B5EF4-FFF2-40B4-BE49-F238E27FC236}">
                <a16:creationId xmlns:a16="http://schemas.microsoft.com/office/drawing/2014/main" id="{C9D6998C-E779-BCB5-86A8-4807C9BDE996}"/>
              </a:ext>
            </a:extLst>
          </p:cNvPr>
          <p:cNvSpPr txBox="1"/>
          <p:nvPr/>
        </p:nvSpPr>
        <p:spPr>
          <a:xfrm>
            <a:off x="7909762" y="6352143"/>
            <a:ext cx="3330508" cy="369332"/>
          </a:xfrm>
          <a:prstGeom prst="rect">
            <a:avLst/>
          </a:prstGeom>
          <a:noFill/>
        </p:spPr>
        <p:txBody>
          <a:bodyPr wrap="square">
            <a:spAutoFit/>
          </a:bodyPr>
          <a:lstStyle/>
          <a:p>
            <a:r>
              <a:rPr lang="en-US" dirty="0">
                <a:solidFill>
                  <a:schemeClr val="bg1">
                    <a:lumMod val="50000"/>
                  </a:schemeClr>
                </a:solidFill>
                <a:hlinkClick r:id="rId10"/>
              </a:rPr>
              <a:t>Uhl-Bien (2006)</a:t>
            </a:r>
            <a:endParaRPr lang="en-US" dirty="0">
              <a:solidFill>
                <a:schemeClr val="bg1">
                  <a:lumMod val="50000"/>
                </a:schemeClr>
              </a:solidFill>
            </a:endParaRPr>
          </a:p>
        </p:txBody>
      </p:sp>
    </p:spTree>
    <p:extLst>
      <p:ext uri="{BB962C8B-B14F-4D97-AF65-F5344CB8AC3E}">
        <p14:creationId xmlns:p14="http://schemas.microsoft.com/office/powerpoint/2010/main" val="998078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E1FF7-AEB1-D163-E379-A8DE05075B9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342B45C1-848D-5BFD-D56B-88064F47FEBF}"/>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4654354B-B798-FF5B-BDA9-0EB1D38F8D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6D170BB-D91D-C44F-B187-1116FEB907F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C868760-8189-7EDA-5CC4-049225F7C376}"/>
              </a:ext>
            </a:extLst>
          </p:cNvPr>
          <p:cNvSpPr txBox="1">
            <a:spLocks/>
          </p:cNvSpPr>
          <p:nvPr/>
        </p:nvSpPr>
        <p:spPr>
          <a:xfrm>
            <a:off x="7687" y="-3304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Multi-directional leadership: downwards</a:t>
            </a:r>
          </a:p>
        </p:txBody>
      </p:sp>
      <p:sp>
        <p:nvSpPr>
          <p:cNvPr id="2" name="Slide Number Placeholder 1">
            <a:extLst>
              <a:ext uri="{FF2B5EF4-FFF2-40B4-BE49-F238E27FC236}">
                <a16:creationId xmlns:a16="http://schemas.microsoft.com/office/drawing/2014/main" id="{FA3805B3-544A-2AC0-63EB-445A1A72A811}"/>
              </a:ext>
            </a:extLst>
          </p:cNvPr>
          <p:cNvSpPr>
            <a:spLocks noGrp="1"/>
          </p:cNvSpPr>
          <p:nvPr>
            <p:ph type="sldNum" sz="quarter" idx="12"/>
          </p:nvPr>
        </p:nvSpPr>
        <p:spPr/>
        <p:txBody>
          <a:bodyPr/>
          <a:lstStyle/>
          <a:p>
            <a:fld id="{D292B180-B274-DE43-B36F-C827C7616C05}" type="slidenum">
              <a:rPr lang="en-US" smtClean="0"/>
              <a:t>24</a:t>
            </a:fld>
            <a:endParaRPr lang="en-US"/>
          </a:p>
        </p:txBody>
      </p:sp>
      <p:grpSp>
        <p:nvGrpSpPr>
          <p:cNvPr id="49" name="Group 48">
            <a:extLst>
              <a:ext uri="{FF2B5EF4-FFF2-40B4-BE49-F238E27FC236}">
                <a16:creationId xmlns:a16="http://schemas.microsoft.com/office/drawing/2014/main" id="{143B795D-0A67-1545-3157-FAAEDCCC1CE6}"/>
              </a:ext>
            </a:extLst>
          </p:cNvPr>
          <p:cNvGrpSpPr/>
          <p:nvPr/>
        </p:nvGrpSpPr>
        <p:grpSpPr>
          <a:xfrm>
            <a:off x="4892980" y="1133168"/>
            <a:ext cx="1718612" cy="1729333"/>
            <a:chOff x="5120943" y="2864334"/>
            <a:chExt cx="1718612" cy="1729333"/>
          </a:xfrm>
        </p:grpSpPr>
        <p:grpSp>
          <p:nvGrpSpPr>
            <p:cNvPr id="34" name="Group 33">
              <a:extLst>
                <a:ext uri="{FF2B5EF4-FFF2-40B4-BE49-F238E27FC236}">
                  <a16:creationId xmlns:a16="http://schemas.microsoft.com/office/drawing/2014/main" id="{B6F75D82-49E7-64C0-7180-8738CFDF1D8E}"/>
                </a:ext>
              </a:extLst>
            </p:cNvPr>
            <p:cNvGrpSpPr/>
            <p:nvPr/>
          </p:nvGrpSpPr>
          <p:grpSpPr>
            <a:xfrm rot="10800000">
              <a:off x="5495102" y="2864334"/>
              <a:ext cx="970294" cy="995252"/>
              <a:chOff x="5610853" y="3734853"/>
              <a:chExt cx="970294" cy="995252"/>
            </a:xfrm>
          </p:grpSpPr>
          <p:sp>
            <p:nvSpPr>
              <p:cNvPr id="16" name="Oval 15">
                <a:extLst>
                  <a:ext uri="{FF2B5EF4-FFF2-40B4-BE49-F238E27FC236}">
                    <a16:creationId xmlns:a16="http://schemas.microsoft.com/office/drawing/2014/main" id="{2D54D58C-A18E-D6E5-8FF9-71B7E481E31A}"/>
                  </a:ext>
                </a:extLst>
              </p:cNvPr>
              <p:cNvSpPr/>
              <p:nvPr/>
            </p:nvSpPr>
            <p:spPr>
              <a:xfrm>
                <a:off x="5610853" y="3831769"/>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2" name="Graphic 31" descr="Caret Down with solid fill">
                <a:extLst>
                  <a:ext uri="{FF2B5EF4-FFF2-40B4-BE49-F238E27FC236}">
                    <a16:creationId xmlns:a16="http://schemas.microsoft.com/office/drawing/2014/main" id="{C76E4FE6-92B2-31CF-E765-78C807503E75}"/>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3734853"/>
                <a:ext cx="914400" cy="914400"/>
              </a:xfrm>
              <a:prstGeom prst="rect">
                <a:avLst/>
              </a:prstGeom>
            </p:spPr>
          </p:pic>
        </p:grpSp>
        <p:sp>
          <p:nvSpPr>
            <p:cNvPr id="33" name="TextBox 32">
              <a:extLst>
                <a:ext uri="{FF2B5EF4-FFF2-40B4-BE49-F238E27FC236}">
                  <a16:creationId xmlns:a16="http://schemas.microsoft.com/office/drawing/2014/main" id="{BDDC4F4A-1A82-28C5-76D0-941DDA0B8EB3}"/>
                </a:ext>
              </a:extLst>
            </p:cNvPr>
            <p:cNvSpPr txBox="1"/>
            <p:nvPr/>
          </p:nvSpPr>
          <p:spPr>
            <a:xfrm>
              <a:off x="5120943" y="3762670"/>
              <a:ext cx="1718612" cy="830997"/>
            </a:xfrm>
            <a:prstGeom prst="rect">
              <a:avLst/>
            </a:prstGeom>
            <a:noFill/>
          </p:spPr>
          <p:txBody>
            <a:bodyPr wrap="none" rtlCol="0">
              <a:spAutoFit/>
            </a:bodyPr>
            <a:lstStyle/>
            <a:p>
              <a:pPr algn="ctr"/>
              <a:r>
                <a:rPr lang="en-US" sz="2400" i="1" dirty="0"/>
                <a:t>Leading </a:t>
              </a:r>
            </a:p>
            <a:p>
              <a:pPr algn="ctr"/>
              <a:r>
                <a:rPr lang="en-US" sz="2400" i="1" dirty="0"/>
                <a:t>downwards</a:t>
              </a:r>
            </a:p>
          </p:txBody>
        </p:sp>
      </p:grpSp>
      <p:pic>
        <p:nvPicPr>
          <p:cNvPr id="54" name="Graphic 53" descr="User with solid fill">
            <a:extLst>
              <a:ext uri="{FF2B5EF4-FFF2-40B4-BE49-F238E27FC236}">
                <a16:creationId xmlns:a16="http://schemas.microsoft.com/office/drawing/2014/main" id="{F1943E9B-2C62-CF86-A40F-DC7056FAD53A}"/>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10203" y="2863726"/>
            <a:ext cx="2171250" cy="2460164"/>
          </a:xfrm>
          <a:prstGeom prst="rect">
            <a:avLst/>
          </a:prstGeom>
        </p:spPr>
      </p:pic>
      <p:sp>
        <p:nvSpPr>
          <p:cNvPr id="7" name="TextBox 6">
            <a:extLst>
              <a:ext uri="{FF2B5EF4-FFF2-40B4-BE49-F238E27FC236}">
                <a16:creationId xmlns:a16="http://schemas.microsoft.com/office/drawing/2014/main" id="{BF18FF25-CB60-3AB5-5A3A-77CBB2A5069D}"/>
              </a:ext>
            </a:extLst>
          </p:cNvPr>
          <p:cNvSpPr txBox="1"/>
          <p:nvPr/>
        </p:nvSpPr>
        <p:spPr>
          <a:xfrm>
            <a:off x="6731798" y="1431339"/>
            <a:ext cx="4973523" cy="1569660"/>
          </a:xfrm>
          <a:prstGeom prst="rect">
            <a:avLst/>
          </a:prstGeom>
          <a:noFill/>
        </p:spPr>
        <p:txBody>
          <a:bodyPr wrap="square">
            <a:spAutoFit/>
          </a:bodyPr>
          <a:lstStyle/>
          <a:p>
            <a:pPr marL="285750" indent="-285750">
              <a:buFont typeface="Arial" panose="020B0604020202020204" pitchFamily="34" charset="0"/>
              <a:buChar char="•"/>
            </a:pPr>
            <a:r>
              <a:rPr lang="en-US" sz="2400" dirty="0"/>
              <a:t>Beyond downward dominance in organizational hierarchy</a:t>
            </a:r>
          </a:p>
          <a:p>
            <a:pPr marL="285750" indent="-285750">
              <a:buFont typeface="Arial" panose="020B0604020202020204" pitchFamily="34" charset="0"/>
              <a:buChar char="•"/>
            </a:pPr>
            <a:r>
              <a:rPr lang="en-US" sz="2400" dirty="0"/>
              <a:t>Attuning and adapting to the needs of people in your team</a:t>
            </a:r>
          </a:p>
        </p:txBody>
      </p:sp>
    </p:spTree>
    <p:extLst>
      <p:ext uri="{BB962C8B-B14F-4D97-AF65-F5344CB8AC3E}">
        <p14:creationId xmlns:p14="http://schemas.microsoft.com/office/powerpoint/2010/main" val="1809349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EF27A-2416-5776-1238-25F74302F97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8AAC7FAC-9C2F-67BB-1618-944BC97B8C3E}"/>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970D9DF7-0E84-7FB3-2BCC-46A49688B5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DDF8E8C2-944B-19D7-84D7-1871D3CA2A5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0C9F2417-0A73-59DD-736D-32D5789C423A}"/>
              </a:ext>
            </a:extLst>
          </p:cNvPr>
          <p:cNvSpPr txBox="1">
            <a:spLocks/>
          </p:cNvSpPr>
          <p:nvPr/>
        </p:nvSpPr>
        <p:spPr>
          <a:xfrm>
            <a:off x="7687" y="-3304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Multi-directional leadership: sideways</a:t>
            </a:r>
          </a:p>
        </p:txBody>
      </p:sp>
      <p:sp>
        <p:nvSpPr>
          <p:cNvPr id="2" name="Slide Number Placeholder 1">
            <a:extLst>
              <a:ext uri="{FF2B5EF4-FFF2-40B4-BE49-F238E27FC236}">
                <a16:creationId xmlns:a16="http://schemas.microsoft.com/office/drawing/2014/main" id="{187BA089-FA63-95ED-7ACF-5F589899CD5C}"/>
              </a:ext>
            </a:extLst>
          </p:cNvPr>
          <p:cNvSpPr>
            <a:spLocks noGrp="1"/>
          </p:cNvSpPr>
          <p:nvPr>
            <p:ph type="sldNum" sz="quarter" idx="12"/>
          </p:nvPr>
        </p:nvSpPr>
        <p:spPr/>
        <p:txBody>
          <a:bodyPr/>
          <a:lstStyle/>
          <a:p>
            <a:fld id="{D292B180-B274-DE43-B36F-C827C7616C05}" type="slidenum">
              <a:rPr lang="en-US" i="1" smtClean="0"/>
              <a:t>25</a:t>
            </a:fld>
            <a:endParaRPr lang="en-US" i="1"/>
          </a:p>
        </p:txBody>
      </p:sp>
      <p:grpSp>
        <p:nvGrpSpPr>
          <p:cNvPr id="49" name="Group 48">
            <a:extLst>
              <a:ext uri="{FF2B5EF4-FFF2-40B4-BE49-F238E27FC236}">
                <a16:creationId xmlns:a16="http://schemas.microsoft.com/office/drawing/2014/main" id="{1CD57BE6-D47F-5C2E-4949-622CF20DD148}"/>
              </a:ext>
            </a:extLst>
          </p:cNvPr>
          <p:cNvGrpSpPr/>
          <p:nvPr/>
        </p:nvGrpSpPr>
        <p:grpSpPr>
          <a:xfrm>
            <a:off x="4892980" y="1133168"/>
            <a:ext cx="1718612" cy="1729333"/>
            <a:chOff x="5120943" y="2864334"/>
            <a:chExt cx="1718612" cy="1729333"/>
          </a:xfrm>
        </p:grpSpPr>
        <p:grpSp>
          <p:nvGrpSpPr>
            <p:cNvPr id="34" name="Group 33">
              <a:extLst>
                <a:ext uri="{FF2B5EF4-FFF2-40B4-BE49-F238E27FC236}">
                  <a16:creationId xmlns:a16="http://schemas.microsoft.com/office/drawing/2014/main" id="{10D9C8A9-B39D-00A9-4BFE-DF8A2039E86A}"/>
                </a:ext>
              </a:extLst>
            </p:cNvPr>
            <p:cNvGrpSpPr/>
            <p:nvPr/>
          </p:nvGrpSpPr>
          <p:grpSpPr>
            <a:xfrm rot="10800000">
              <a:off x="5495102" y="2864334"/>
              <a:ext cx="970294" cy="995252"/>
              <a:chOff x="5610853" y="3734853"/>
              <a:chExt cx="970294" cy="995252"/>
            </a:xfrm>
          </p:grpSpPr>
          <p:sp>
            <p:nvSpPr>
              <p:cNvPr id="16" name="Oval 15">
                <a:extLst>
                  <a:ext uri="{FF2B5EF4-FFF2-40B4-BE49-F238E27FC236}">
                    <a16:creationId xmlns:a16="http://schemas.microsoft.com/office/drawing/2014/main" id="{78BBFBA4-5432-CF90-74D1-7243F0D5D0D0}"/>
                  </a:ext>
                </a:extLst>
              </p:cNvPr>
              <p:cNvSpPr/>
              <p:nvPr/>
            </p:nvSpPr>
            <p:spPr>
              <a:xfrm>
                <a:off x="5610853" y="3831769"/>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32" name="Graphic 31" descr="Caret Down with solid fill">
                <a:extLst>
                  <a:ext uri="{FF2B5EF4-FFF2-40B4-BE49-F238E27FC236}">
                    <a16:creationId xmlns:a16="http://schemas.microsoft.com/office/drawing/2014/main" id="{A06BF9FE-AAE8-BA59-2A34-96ACA600035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3734853"/>
                <a:ext cx="914400" cy="914400"/>
              </a:xfrm>
              <a:prstGeom prst="rect">
                <a:avLst/>
              </a:prstGeom>
            </p:spPr>
          </p:pic>
        </p:grpSp>
        <p:sp>
          <p:nvSpPr>
            <p:cNvPr id="33" name="TextBox 32">
              <a:extLst>
                <a:ext uri="{FF2B5EF4-FFF2-40B4-BE49-F238E27FC236}">
                  <a16:creationId xmlns:a16="http://schemas.microsoft.com/office/drawing/2014/main" id="{C739B572-74CA-F0F0-87E3-304966654C5B}"/>
                </a:ext>
              </a:extLst>
            </p:cNvPr>
            <p:cNvSpPr txBox="1"/>
            <p:nvPr/>
          </p:nvSpPr>
          <p:spPr>
            <a:xfrm>
              <a:off x="5120943" y="3762670"/>
              <a:ext cx="1718612" cy="830997"/>
            </a:xfrm>
            <a:prstGeom prst="rect">
              <a:avLst/>
            </a:prstGeom>
            <a:noFill/>
          </p:spPr>
          <p:txBody>
            <a:bodyPr wrap="none" rtlCol="0">
              <a:spAutoFit/>
            </a:bodyPr>
            <a:lstStyle/>
            <a:p>
              <a:pPr algn="ctr"/>
              <a:r>
                <a:rPr lang="en-US" sz="2400" i="1" dirty="0"/>
                <a:t>Leading </a:t>
              </a:r>
            </a:p>
            <a:p>
              <a:pPr algn="ctr"/>
              <a:r>
                <a:rPr lang="en-US" sz="2400" i="1" dirty="0"/>
                <a:t>downwards</a:t>
              </a:r>
            </a:p>
          </p:txBody>
        </p:sp>
      </p:grpSp>
      <p:pic>
        <p:nvPicPr>
          <p:cNvPr id="54" name="Graphic 53" descr="User with solid fill">
            <a:extLst>
              <a:ext uri="{FF2B5EF4-FFF2-40B4-BE49-F238E27FC236}">
                <a16:creationId xmlns:a16="http://schemas.microsoft.com/office/drawing/2014/main" id="{53C32012-DB50-2558-A240-E28E4947FCB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10203" y="2863726"/>
            <a:ext cx="2171250" cy="2460164"/>
          </a:xfrm>
          <a:prstGeom prst="rect">
            <a:avLst/>
          </a:prstGeom>
        </p:spPr>
      </p:pic>
      <p:sp>
        <p:nvSpPr>
          <p:cNvPr id="7" name="TextBox 6">
            <a:extLst>
              <a:ext uri="{FF2B5EF4-FFF2-40B4-BE49-F238E27FC236}">
                <a16:creationId xmlns:a16="http://schemas.microsoft.com/office/drawing/2014/main" id="{3C92D541-7EB6-2969-3BF7-DCABFAD734C9}"/>
              </a:ext>
            </a:extLst>
          </p:cNvPr>
          <p:cNvSpPr txBox="1"/>
          <p:nvPr/>
        </p:nvSpPr>
        <p:spPr>
          <a:xfrm>
            <a:off x="8414388" y="2815024"/>
            <a:ext cx="3588401" cy="1200329"/>
          </a:xfrm>
          <a:prstGeom prst="rect">
            <a:avLst/>
          </a:prstGeom>
          <a:noFill/>
        </p:spPr>
        <p:txBody>
          <a:bodyPr wrap="square">
            <a:spAutoFit/>
          </a:bodyPr>
          <a:lstStyle/>
          <a:p>
            <a:pPr marL="285750" indent="-285750">
              <a:buFont typeface="Arial" panose="020B0604020202020204" pitchFamily="34" charset="0"/>
              <a:buChar char="•"/>
            </a:pPr>
            <a:r>
              <a:rPr lang="en-US" sz="2400" dirty="0"/>
              <a:t>Influencing your peers during discussions in meetings</a:t>
            </a:r>
          </a:p>
        </p:txBody>
      </p:sp>
      <p:grpSp>
        <p:nvGrpSpPr>
          <p:cNvPr id="8" name="Group 7">
            <a:extLst>
              <a:ext uri="{FF2B5EF4-FFF2-40B4-BE49-F238E27FC236}">
                <a16:creationId xmlns:a16="http://schemas.microsoft.com/office/drawing/2014/main" id="{57D93B26-0B2A-566A-7AE8-A84317542710}"/>
              </a:ext>
            </a:extLst>
          </p:cNvPr>
          <p:cNvGrpSpPr/>
          <p:nvPr/>
        </p:nvGrpSpPr>
        <p:grpSpPr>
          <a:xfrm>
            <a:off x="6802381" y="2745864"/>
            <a:ext cx="1412311" cy="1772345"/>
            <a:chOff x="7639430" y="5048043"/>
            <a:chExt cx="1412311" cy="1772345"/>
          </a:xfrm>
        </p:grpSpPr>
        <p:grpSp>
          <p:nvGrpSpPr>
            <p:cNvPr id="9" name="Group 8">
              <a:extLst>
                <a:ext uri="{FF2B5EF4-FFF2-40B4-BE49-F238E27FC236}">
                  <a16:creationId xmlns:a16="http://schemas.microsoft.com/office/drawing/2014/main" id="{E50FE236-D709-A5D6-DD1A-71240508BD2F}"/>
                </a:ext>
              </a:extLst>
            </p:cNvPr>
            <p:cNvGrpSpPr/>
            <p:nvPr/>
          </p:nvGrpSpPr>
          <p:grpSpPr>
            <a:xfrm>
              <a:off x="7864892" y="5048043"/>
              <a:ext cx="970294" cy="898336"/>
              <a:chOff x="7864892" y="5048043"/>
              <a:chExt cx="970294" cy="898336"/>
            </a:xfrm>
          </p:grpSpPr>
          <p:sp>
            <p:nvSpPr>
              <p:cNvPr id="11" name="Oval 10">
                <a:extLst>
                  <a:ext uri="{FF2B5EF4-FFF2-40B4-BE49-F238E27FC236}">
                    <a16:creationId xmlns:a16="http://schemas.microsoft.com/office/drawing/2014/main" id="{A7B8131E-0894-89F0-68E2-128A21DC14C5}"/>
                  </a:ext>
                </a:extLst>
              </p:cNvPr>
              <p:cNvSpPr/>
              <p:nvPr/>
            </p:nvSpPr>
            <p:spPr>
              <a:xfrm>
                <a:off x="7864892" y="5048043"/>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12" name="Graphic 11" descr="Transfer with solid fill">
                <a:extLst>
                  <a:ext uri="{FF2B5EF4-FFF2-40B4-BE49-F238E27FC236}">
                    <a16:creationId xmlns:a16="http://schemas.microsoft.com/office/drawing/2014/main" id="{084CCC07-2820-208C-E3A1-2A7040488FC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004521" y="5117203"/>
                <a:ext cx="708202" cy="708202"/>
              </a:xfrm>
              <a:prstGeom prst="rect">
                <a:avLst/>
              </a:prstGeom>
            </p:spPr>
          </p:pic>
        </p:grpSp>
        <p:sp>
          <p:nvSpPr>
            <p:cNvPr id="10" name="TextBox 9">
              <a:extLst>
                <a:ext uri="{FF2B5EF4-FFF2-40B4-BE49-F238E27FC236}">
                  <a16:creationId xmlns:a16="http://schemas.microsoft.com/office/drawing/2014/main" id="{3583AC4C-DC82-998E-AB72-82D072342571}"/>
                </a:ext>
              </a:extLst>
            </p:cNvPr>
            <p:cNvSpPr txBox="1"/>
            <p:nvPr/>
          </p:nvSpPr>
          <p:spPr>
            <a:xfrm>
              <a:off x="7639430" y="5989391"/>
              <a:ext cx="1412311" cy="830997"/>
            </a:xfrm>
            <a:prstGeom prst="rect">
              <a:avLst/>
            </a:prstGeom>
            <a:noFill/>
          </p:spPr>
          <p:txBody>
            <a:bodyPr wrap="none" rtlCol="0">
              <a:spAutoFit/>
            </a:bodyPr>
            <a:lstStyle/>
            <a:p>
              <a:pPr algn="ctr"/>
              <a:r>
                <a:rPr lang="en-US" sz="2400" i="1" dirty="0"/>
                <a:t>Leading</a:t>
              </a:r>
            </a:p>
            <a:p>
              <a:pPr algn="ctr"/>
              <a:r>
                <a:rPr lang="en-US" sz="2400" i="1" dirty="0"/>
                <a:t>sideways</a:t>
              </a:r>
            </a:p>
          </p:txBody>
        </p:sp>
      </p:grpSp>
    </p:spTree>
    <p:extLst>
      <p:ext uri="{BB962C8B-B14F-4D97-AF65-F5344CB8AC3E}">
        <p14:creationId xmlns:p14="http://schemas.microsoft.com/office/powerpoint/2010/main" val="17511075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3D688-62C2-19D9-9A58-6DA140444ED0}"/>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9658FCED-5270-BE9E-580C-9F1E3F70AA81}"/>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B25BEBBB-9CCB-26B7-7935-B7ED12C20E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0C91D60-7467-941E-E093-FAE6ECBEC29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A59EED33-AD42-A419-AC08-24F2D6D42014}"/>
              </a:ext>
            </a:extLst>
          </p:cNvPr>
          <p:cNvSpPr txBox="1">
            <a:spLocks/>
          </p:cNvSpPr>
          <p:nvPr/>
        </p:nvSpPr>
        <p:spPr>
          <a:xfrm>
            <a:off x="7687" y="-3304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Multi-directional leadership: outwards</a:t>
            </a:r>
          </a:p>
        </p:txBody>
      </p:sp>
      <p:sp>
        <p:nvSpPr>
          <p:cNvPr id="2" name="Slide Number Placeholder 1">
            <a:extLst>
              <a:ext uri="{FF2B5EF4-FFF2-40B4-BE49-F238E27FC236}">
                <a16:creationId xmlns:a16="http://schemas.microsoft.com/office/drawing/2014/main" id="{DDA70993-40DF-F087-B3F2-B61337B6394F}"/>
              </a:ext>
            </a:extLst>
          </p:cNvPr>
          <p:cNvSpPr>
            <a:spLocks noGrp="1"/>
          </p:cNvSpPr>
          <p:nvPr>
            <p:ph type="sldNum" sz="quarter" idx="12"/>
          </p:nvPr>
        </p:nvSpPr>
        <p:spPr/>
        <p:txBody>
          <a:bodyPr/>
          <a:lstStyle/>
          <a:p>
            <a:fld id="{D292B180-B274-DE43-B36F-C827C7616C05}" type="slidenum">
              <a:rPr lang="en-US" i="1" smtClean="0"/>
              <a:t>26</a:t>
            </a:fld>
            <a:endParaRPr lang="en-US" i="1"/>
          </a:p>
        </p:txBody>
      </p:sp>
      <p:grpSp>
        <p:nvGrpSpPr>
          <p:cNvPr id="49" name="Group 48">
            <a:extLst>
              <a:ext uri="{FF2B5EF4-FFF2-40B4-BE49-F238E27FC236}">
                <a16:creationId xmlns:a16="http://schemas.microsoft.com/office/drawing/2014/main" id="{9C35D22C-8A3B-6E61-E97F-C9B499F636C2}"/>
              </a:ext>
            </a:extLst>
          </p:cNvPr>
          <p:cNvGrpSpPr/>
          <p:nvPr/>
        </p:nvGrpSpPr>
        <p:grpSpPr>
          <a:xfrm>
            <a:off x="4892980" y="1133168"/>
            <a:ext cx="1718612" cy="1729333"/>
            <a:chOff x="5120943" y="2864334"/>
            <a:chExt cx="1718612" cy="1729333"/>
          </a:xfrm>
        </p:grpSpPr>
        <p:grpSp>
          <p:nvGrpSpPr>
            <p:cNvPr id="34" name="Group 33">
              <a:extLst>
                <a:ext uri="{FF2B5EF4-FFF2-40B4-BE49-F238E27FC236}">
                  <a16:creationId xmlns:a16="http://schemas.microsoft.com/office/drawing/2014/main" id="{92E8F69A-538C-4B1D-0739-22A8F6EDA1F9}"/>
                </a:ext>
              </a:extLst>
            </p:cNvPr>
            <p:cNvGrpSpPr/>
            <p:nvPr/>
          </p:nvGrpSpPr>
          <p:grpSpPr>
            <a:xfrm rot="10800000">
              <a:off x="5495102" y="2864334"/>
              <a:ext cx="970294" cy="995252"/>
              <a:chOff x="5610853" y="3734853"/>
              <a:chExt cx="970294" cy="995252"/>
            </a:xfrm>
          </p:grpSpPr>
          <p:sp>
            <p:nvSpPr>
              <p:cNvPr id="16" name="Oval 15">
                <a:extLst>
                  <a:ext uri="{FF2B5EF4-FFF2-40B4-BE49-F238E27FC236}">
                    <a16:creationId xmlns:a16="http://schemas.microsoft.com/office/drawing/2014/main" id="{2CBD04D4-CCA8-8E57-6CB0-1350DE57630E}"/>
                  </a:ext>
                </a:extLst>
              </p:cNvPr>
              <p:cNvSpPr/>
              <p:nvPr/>
            </p:nvSpPr>
            <p:spPr>
              <a:xfrm>
                <a:off x="5610853" y="3831769"/>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32" name="Graphic 31" descr="Caret Down with solid fill">
                <a:extLst>
                  <a:ext uri="{FF2B5EF4-FFF2-40B4-BE49-F238E27FC236}">
                    <a16:creationId xmlns:a16="http://schemas.microsoft.com/office/drawing/2014/main" id="{A6CAD829-C633-B520-5076-BFFC89DD266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3734853"/>
                <a:ext cx="914400" cy="914400"/>
              </a:xfrm>
              <a:prstGeom prst="rect">
                <a:avLst/>
              </a:prstGeom>
            </p:spPr>
          </p:pic>
        </p:grpSp>
        <p:sp>
          <p:nvSpPr>
            <p:cNvPr id="33" name="TextBox 32">
              <a:extLst>
                <a:ext uri="{FF2B5EF4-FFF2-40B4-BE49-F238E27FC236}">
                  <a16:creationId xmlns:a16="http://schemas.microsoft.com/office/drawing/2014/main" id="{C2288899-C36F-1408-FCCB-224484D03318}"/>
                </a:ext>
              </a:extLst>
            </p:cNvPr>
            <p:cNvSpPr txBox="1"/>
            <p:nvPr/>
          </p:nvSpPr>
          <p:spPr>
            <a:xfrm>
              <a:off x="5120943" y="3762670"/>
              <a:ext cx="1718612" cy="830997"/>
            </a:xfrm>
            <a:prstGeom prst="rect">
              <a:avLst/>
            </a:prstGeom>
            <a:noFill/>
          </p:spPr>
          <p:txBody>
            <a:bodyPr wrap="none" rtlCol="0">
              <a:spAutoFit/>
            </a:bodyPr>
            <a:lstStyle/>
            <a:p>
              <a:pPr algn="ctr"/>
              <a:r>
                <a:rPr lang="en-US" sz="2400" i="1" dirty="0"/>
                <a:t>Leading </a:t>
              </a:r>
            </a:p>
            <a:p>
              <a:pPr algn="ctr"/>
              <a:r>
                <a:rPr lang="en-US" sz="2400" i="1" dirty="0"/>
                <a:t>downwards</a:t>
              </a:r>
            </a:p>
          </p:txBody>
        </p:sp>
      </p:grpSp>
      <p:grpSp>
        <p:nvGrpSpPr>
          <p:cNvPr id="52" name="Group 51">
            <a:extLst>
              <a:ext uri="{FF2B5EF4-FFF2-40B4-BE49-F238E27FC236}">
                <a16:creationId xmlns:a16="http://schemas.microsoft.com/office/drawing/2014/main" id="{3214B789-395B-1044-17FB-9B3E9E99B174}"/>
              </a:ext>
            </a:extLst>
          </p:cNvPr>
          <p:cNvGrpSpPr/>
          <p:nvPr/>
        </p:nvGrpSpPr>
        <p:grpSpPr>
          <a:xfrm>
            <a:off x="6802381" y="2745864"/>
            <a:ext cx="1412311" cy="1772345"/>
            <a:chOff x="7639430" y="5048043"/>
            <a:chExt cx="1412311" cy="1772345"/>
          </a:xfrm>
        </p:grpSpPr>
        <p:grpSp>
          <p:nvGrpSpPr>
            <p:cNvPr id="44" name="Group 43">
              <a:extLst>
                <a:ext uri="{FF2B5EF4-FFF2-40B4-BE49-F238E27FC236}">
                  <a16:creationId xmlns:a16="http://schemas.microsoft.com/office/drawing/2014/main" id="{75519E20-6172-66E3-3A38-3B2D32E77263}"/>
                </a:ext>
              </a:extLst>
            </p:cNvPr>
            <p:cNvGrpSpPr/>
            <p:nvPr/>
          </p:nvGrpSpPr>
          <p:grpSpPr>
            <a:xfrm>
              <a:off x="7864892" y="5048043"/>
              <a:ext cx="970294" cy="898336"/>
              <a:chOff x="7864892" y="5048043"/>
              <a:chExt cx="970294" cy="898336"/>
            </a:xfrm>
          </p:grpSpPr>
          <p:sp>
            <p:nvSpPr>
              <p:cNvPr id="30" name="Oval 29">
                <a:extLst>
                  <a:ext uri="{FF2B5EF4-FFF2-40B4-BE49-F238E27FC236}">
                    <a16:creationId xmlns:a16="http://schemas.microsoft.com/office/drawing/2014/main" id="{E66D65F5-CBFA-A13D-86B2-B794389DF4B6}"/>
                  </a:ext>
                </a:extLst>
              </p:cNvPr>
              <p:cNvSpPr/>
              <p:nvPr/>
            </p:nvSpPr>
            <p:spPr>
              <a:xfrm>
                <a:off x="7864892" y="5048043"/>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20" name="Graphic 19" descr="Transfer with solid fill">
                <a:extLst>
                  <a:ext uri="{FF2B5EF4-FFF2-40B4-BE49-F238E27FC236}">
                    <a16:creationId xmlns:a16="http://schemas.microsoft.com/office/drawing/2014/main" id="{76B513FA-636C-6BCA-39E6-B6A2925B71D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4521" y="5117203"/>
                <a:ext cx="708202" cy="708202"/>
              </a:xfrm>
              <a:prstGeom prst="rect">
                <a:avLst/>
              </a:prstGeom>
            </p:spPr>
          </p:pic>
        </p:grpSp>
        <p:sp>
          <p:nvSpPr>
            <p:cNvPr id="43" name="TextBox 42">
              <a:extLst>
                <a:ext uri="{FF2B5EF4-FFF2-40B4-BE49-F238E27FC236}">
                  <a16:creationId xmlns:a16="http://schemas.microsoft.com/office/drawing/2014/main" id="{32D0C4D6-6BA5-6B14-DFE1-E2DE0FB369A6}"/>
                </a:ext>
              </a:extLst>
            </p:cNvPr>
            <p:cNvSpPr txBox="1"/>
            <p:nvPr/>
          </p:nvSpPr>
          <p:spPr>
            <a:xfrm>
              <a:off x="7639430" y="5989391"/>
              <a:ext cx="1412311" cy="830997"/>
            </a:xfrm>
            <a:prstGeom prst="rect">
              <a:avLst/>
            </a:prstGeom>
            <a:noFill/>
          </p:spPr>
          <p:txBody>
            <a:bodyPr wrap="none" rtlCol="0">
              <a:spAutoFit/>
            </a:bodyPr>
            <a:lstStyle/>
            <a:p>
              <a:pPr algn="ctr"/>
              <a:r>
                <a:rPr lang="en-US" sz="2400" i="1" dirty="0"/>
                <a:t>Leading</a:t>
              </a:r>
            </a:p>
            <a:p>
              <a:pPr algn="ctr"/>
              <a:r>
                <a:rPr lang="en-US" sz="2400" i="1" dirty="0"/>
                <a:t>sideways</a:t>
              </a:r>
            </a:p>
          </p:txBody>
        </p:sp>
      </p:grpSp>
      <p:grpSp>
        <p:nvGrpSpPr>
          <p:cNvPr id="53" name="Group 52">
            <a:extLst>
              <a:ext uri="{FF2B5EF4-FFF2-40B4-BE49-F238E27FC236}">
                <a16:creationId xmlns:a16="http://schemas.microsoft.com/office/drawing/2014/main" id="{3BE5F93A-A539-4F96-064C-DA852BA4614B}"/>
              </a:ext>
            </a:extLst>
          </p:cNvPr>
          <p:cNvGrpSpPr/>
          <p:nvPr/>
        </p:nvGrpSpPr>
        <p:grpSpPr>
          <a:xfrm>
            <a:off x="6847425" y="4971360"/>
            <a:ext cx="1621549" cy="1831187"/>
            <a:chOff x="9677966" y="4055615"/>
            <a:chExt cx="1621549" cy="1831187"/>
          </a:xfrm>
        </p:grpSpPr>
        <p:grpSp>
          <p:nvGrpSpPr>
            <p:cNvPr id="48" name="Group 47">
              <a:extLst>
                <a:ext uri="{FF2B5EF4-FFF2-40B4-BE49-F238E27FC236}">
                  <a16:creationId xmlns:a16="http://schemas.microsoft.com/office/drawing/2014/main" id="{9456F240-045E-FC88-FEA8-99BC668EF825}"/>
                </a:ext>
              </a:extLst>
            </p:cNvPr>
            <p:cNvGrpSpPr/>
            <p:nvPr/>
          </p:nvGrpSpPr>
          <p:grpSpPr>
            <a:xfrm>
              <a:off x="9907694" y="4055615"/>
              <a:ext cx="1391821" cy="914400"/>
              <a:chOff x="9907694" y="4055615"/>
              <a:chExt cx="1391821" cy="914400"/>
            </a:xfrm>
          </p:grpSpPr>
          <p:sp>
            <p:nvSpPr>
              <p:cNvPr id="42" name="Oval 41">
                <a:extLst>
                  <a:ext uri="{FF2B5EF4-FFF2-40B4-BE49-F238E27FC236}">
                    <a16:creationId xmlns:a16="http://schemas.microsoft.com/office/drawing/2014/main" id="{506AC9C8-A8B0-5B2A-0392-6C53C44C601A}"/>
                  </a:ext>
                </a:extLst>
              </p:cNvPr>
              <p:cNvSpPr/>
              <p:nvPr/>
            </p:nvSpPr>
            <p:spPr>
              <a:xfrm>
                <a:off x="9907694" y="4055615"/>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46" name="Graphic 45" descr="Arrow Down with solid fill">
                <a:extLst>
                  <a:ext uri="{FF2B5EF4-FFF2-40B4-BE49-F238E27FC236}">
                    <a16:creationId xmlns:a16="http://schemas.microsoft.com/office/drawing/2014/main" id="{814C3FFD-1BE6-9518-A080-32896EA4E32C}"/>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10385115" y="4055615"/>
                <a:ext cx="914400" cy="914400"/>
              </a:xfrm>
              <a:prstGeom prst="rect">
                <a:avLst/>
              </a:prstGeom>
            </p:spPr>
          </p:pic>
        </p:grpSp>
        <p:sp>
          <p:nvSpPr>
            <p:cNvPr id="47" name="TextBox 46">
              <a:extLst>
                <a:ext uri="{FF2B5EF4-FFF2-40B4-BE49-F238E27FC236}">
                  <a16:creationId xmlns:a16="http://schemas.microsoft.com/office/drawing/2014/main" id="{5627C49A-44E1-FC5C-939D-79463EF13D25}"/>
                </a:ext>
              </a:extLst>
            </p:cNvPr>
            <p:cNvSpPr txBox="1"/>
            <p:nvPr/>
          </p:nvSpPr>
          <p:spPr>
            <a:xfrm>
              <a:off x="9677966" y="5055805"/>
              <a:ext cx="1429751" cy="830997"/>
            </a:xfrm>
            <a:prstGeom prst="rect">
              <a:avLst/>
            </a:prstGeom>
            <a:noFill/>
          </p:spPr>
          <p:txBody>
            <a:bodyPr wrap="none" rtlCol="0">
              <a:spAutoFit/>
            </a:bodyPr>
            <a:lstStyle/>
            <a:p>
              <a:pPr algn="ctr"/>
              <a:r>
                <a:rPr lang="en-US" sz="2400" i="1" dirty="0"/>
                <a:t>Leading</a:t>
              </a:r>
            </a:p>
            <a:p>
              <a:pPr algn="ctr"/>
              <a:r>
                <a:rPr lang="en-US" sz="2400" i="1" dirty="0"/>
                <a:t>outwards</a:t>
              </a:r>
            </a:p>
          </p:txBody>
        </p:sp>
      </p:grpSp>
      <p:pic>
        <p:nvPicPr>
          <p:cNvPr id="54" name="Graphic 53" descr="User with solid fill">
            <a:extLst>
              <a:ext uri="{FF2B5EF4-FFF2-40B4-BE49-F238E27FC236}">
                <a16:creationId xmlns:a16="http://schemas.microsoft.com/office/drawing/2014/main" id="{9A230A06-1E3F-062C-2F91-248FAC96A68A}"/>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10203" y="2863726"/>
            <a:ext cx="2171250" cy="2460164"/>
          </a:xfrm>
          <a:prstGeom prst="rect">
            <a:avLst/>
          </a:prstGeom>
        </p:spPr>
      </p:pic>
      <p:sp>
        <p:nvSpPr>
          <p:cNvPr id="3" name="TextBox 2">
            <a:extLst>
              <a:ext uri="{FF2B5EF4-FFF2-40B4-BE49-F238E27FC236}">
                <a16:creationId xmlns:a16="http://schemas.microsoft.com/office/drawing/2014/main" id="{5D620DCB-4D92-6E1B-8366-D105FCBDC80C}"/>
              </a:ext>
            </a:extLst>
          </p:cNvPr>
          <p:cNvSpPr txBox="1"/>
          <p:nvPr/>
        </p:nvSpPr>
        <p:spPr>
          <a:xfrm>
            <a:off x="8516729" y="3817197"/>
            <a:ext cx="3804687" cy="2308324"/>
          </a:xfrm>
          <a:prstGeom prst="rect">
            <a:avLst/>
          </a:prstGeom>
          <a:noFill/>
        </p:spPr>
        <p:txBody>
          <a:bodyPr wrap="square">
            <a:spAutoFit/>
          </a:bodyPr>
          <a:lstStyle/>
          <a:p>
            <a:pPr marL="342900" indent="-342900">
              <a:buFont typeface="Arial" panose="020B0604020202020204" pitchFamily="34" charset="0"/>
              <a:buChar char="•"/>
            </a:pPr>
            <a:r>
              <a:rPr lang="en-US" sz="2400" dirty="0"/>
              <a:t>Representing the team/organization</a:t>
            </a:r>
          </a:p>
          <a:p>
            <a:pPr marL="342900" indent="-342900">
              <a:buFont typeface="Arial" panose="020B0604020202020204" pitchFamily="34" charset="0"/>
              <a:buChar char="•"/>
            </a:pPr>
            <a:r>
              <a:rPr lang="en-US" sz="2400" dirty="0"/>
              <a:t>Building connections with others (e.g. policymakers, funders, community groups) </a:t>
            </a:r>
          </a:p>
        </p:txBody>
      </p:sp>
    </p:spTree>
    <p:extLst>
      <p:ext uri="{BB962C8B-B14F-4D97-AF65-F5344CB8AC3E}">
        <p14:creationId xmlns:p14="http://schemas.microsoft.com/office/powerpoint/2010/main" val="8665390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A7DA74-11DB-B4B6-8C35-D0C7A222B83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5B00CBD-B686-75F2-00CF-A2AAE934EA4D}"/>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6223C002-E800-BCFE-2BE7-069B05CE6B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AD81D31-ADFD-D5F9-1CBA-2F0D8988732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AC26D7A2-B56E-E56B-86A6-0F07E58A7A03}"/>
              </a:ext>
            </a:extLst>
          </p:cNvPr>
          <p:cNvSpPr txBox="1">
            <a:spLocks/>
          </p:cNvSpPr>
          <p:nvPr/>
        </p:nvSpPr>
        <p:spPr>
          <a:xfrm>
            <a:off x="7687" y="-3304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Multi-directional leadership: upwards</a:t>
            </a:r>
          </a:p>
        </p:txBody>
      </p:sp>
      <p:sp>
        <p:nvSpPr>
          <p:cNvPr id="2" name="Slide Number Placeholder 1">
            <a:extLst>
              <a:ext uri="{FF2B5EF4-FFF2-40B4-BE49-F238E27FC236}">
                <a16:creationId xmlns:a16="http://schemas.microsoft.com/office/drawing/2014/main" id="{D181228A-177C-E8B7-0E18-137D2518B1AA}"/>
              </a:ext>
            </a:extLst>
          </p:cNvPr>
          <p:cNvSpPr>
            <a:spLocks noGrp="1"/>
          </p:cNvSpPr>
          <p:nvPr>
            <p:ph type="sldNum" sz="quarter" idx="12"/>
          </p:nvPr>
        </p:nvSpPr>
        <p:spPr/>
        <p:txBody>
          <a:bodyPr/>
          <a:lstStyle/>
          <a:p>
            <a:fld id="{D292B180-B274-DE43-B36F-C827C7616C05}" type="slidenum">
              <a:rPr lang="en-US" i="1" smtClean="0"/>
              <a:t>27</a:t>
            </a:fld>
            <a:endParaRPr lang="en-US" i="1"/>
          </a:p>
        </p:txBody>
      </p:sp>
      <p:grpSp>
        <p:nvGrpSpPr>
          <p:cNvPr id="49" name="Group 48">
            <a:extLst>
              <a:ext uri="{FF2B5EF4-FFF2-40B4-BE49-F238E27FC236}">
                <a16:creationId xmlns:a16="http://schemas.microsoft.com/office/drawing/2014/main" id="{4D040B54-BBD0-8E5F-AC9D-3C38ED8D7D73}"/>
              </a:ext>
            </a:extLst>
          </p:cNvPr>
          <p:cNvGrpSpPr/>
          <p:nvPr/>
        </p:nvGrpSpPr>
        <p:grpSpPr>
          <a:xfrm>
            <a:off x="4892980" y="1133168"/>
            <a:ext cx="1718612" cy="1729333"/>
            <a:chOff x="5120943" y="2864334"/>
            <a:chExt cx="1718612" cy="1729333"/>
          </a:xfrm>
        </p:grpSpPr>
        <p:grpSp>
          <p:nvGrpSpPr>
            <p:cNvPr id="34" name="Group 33">
              <a:extLst>
                <a:ext uri="{FF2B5EF4-FFF2-40B4-BE49-F238E27FC236}">
                  <a16:creationId xmlns:a16="http://schemas.microsoft.com/office/drawing/2014/main" id="{9348D120-7446-D561-94D4-C7AF2D22E44E}"/>
                </a:ext>
              </a:extLst>
            </p:cNvPr>
            <p:cNvGrpSpPr/>
            <p:nvPr/>
          </p:nvGrpSpPr>
          <p:grpSpPr>
            <a:xfrm rot="10800000">
              <a:off x="5495102" y="2864334"/>
              <a:ext cx="970294" cy="995252"/>
              <a:chOff x="5610853" y="3734853"/>
              <a:chExt cx="970294" cy="995252"/>
            </a:xfrm>
          </p:grpSpPr>
          <p:sp>
            <p:nvSpPr>
              <p:cNvPr id="16" name="Oval 15">
                <a:extLst>
                  <a:ext uri="{FF2B5EF4-FFF2-40B4-BE49-F238E27FC236}">
                    <a16:creationId xmlns:a16="http://schemas.microsoft.com/office/drawing/2014/main" id="{3E4E14F4-0CB0-8903-CFD2-0F2688BF4679}"/>
                  </a:ext>
                </a:extLst>
              </p:cNvPr>
              <p:cNvSpPr/>
              <p:nvPr/>
            </p:nvSpPr>
            <p:spPr>
              <a:xfrm>
                <a:off x="5610853" y="3831769"/>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32" name="Graphic 31" descr="Caret Down with solid fill">
                <a:extLst>
                  <a:ext uri="{FF2B5EF4-FFF2-40B4-BE49-F238E27FC236}">
                    <a16:creationId xmlns:a16="http://schemas.microsoft.com/office/drawing/2014/main" id="{8ED8267F-B406-E2D7-49A8-D432CBA5A9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3734853"/>
                <a:ext cx="914400" cy="914400"/>
              </a:xfrm>
              <a:prstGeom prst="rect">
                <a:avLst/>
              </a:prstGeom>
            </p:spPr>
          </p:pic>
        </p:grpSp>
        <p:sp>
          <p:nvSpPr>
            <p:cNvPr id="33" name="TextBox 32">
              <a:extLst>
                <a:ext uri="{FF2B5EF4-FFF2-40B4-BE49-F238E27FC236}">
                  <a16:creationId xmlns:a16="http://schemas.microsoft.com/office/drawing/2014/main" id="{8650771E-2B06-7FC1-F706-A11B25E16201}"/>
                </a:ext>
              </a:extLst>
            </p:cNvPr>
            <p:cNvSpPr txBox="1"/>
            <p:nvPr/>
          </p:nvSpPr>
          <p:spPr>
            <a:xfrm>
              <a:off x="5120943" y="3762670"/>
              <a:ext cx="1718612" cy="830997"/>
            </a:xfrm>
            <a:prstGeom prst="rect">
              <a:avLst/>
            </a:prstGeom>
            <a:noFill/>
          </p:spPr>
          <p:txBody>
            <a:bodyPr wrap="none" rtlCol="0">
              <a:spAutoFit/>
            </a:bodyPr>
            <a:lstStyle/>
            <a:p>
              <a:pPr algn="ctr"/>
              <a:r>
                <a:rPr lang="en-US" sz="2400" i="1" dirty="0"/>
                <a:t>Leading </a:t>
              </a:r>
            </a:p>
            <a:p>
              <a:pPr algn="ctr"/>
              <a:r>
                <a:rPr lang="en-US" sz="2400" i="1" dirty="0"/>
                <a:t>downwards</a:t>
              </a:r>
            </a:p>
          </p:txBody>
        </p:sp>
      </p:grpSp>
      <p:grpSp>
        <p:nvGrpSpPr>
          <p:cNvPr id="50" name="Group 49">
            <a:extLst>
              <a:ext uri="{FF2B5EF4-FFF2-40B4-BE49-F238E27FC236}">
                <a16:creationId xmlns:a16="http://schemas.microsoft.com/office/drawing/2014/main" id="{869E0D32-CA32-664A-E229-29DD08EE7000}"/>
              </a:ext>
            </a:extLst>
          </p:cNvPr>
          <p:cNvGrpSpPr/>
          <p:nvPr/>
        </p:nvGrpSpPr>
        <p:grpSpPr>
          <a:xfrm>
            <a:off x="3302209" y="4888694"/>
            <a:ext cx="1330557" cy="1877921"/>
            <a:chOff x="5430720" y="4953951"/>
            <a:chExt cx="1330557" cy="1877921"/>
          </a:xfrm>
        </p:grpSpPr>
        <p:grpSp>
          <p:nvGrpSpPr>
            <p:cNvPr id="41" name="Group 40">
              <a:extLst>
                <a:ext uri="{FF2B5EF4-FFF2-40B4-BE49-F238E27FC236}">
                  <a16:creationId xmlns:a16="http://schemas.microsoft.com/office/drawing/2014/main" id="{79F6BFAB-C5E9-45BC-9540-248C447E3C12}"/>
                </a:ext>
              </a:extLst>
            </p:cNvPr>
            <p:cNvGrpSpPr/>
            <p:nvPr/>
          </p:nvGrpSpPr>
          <p:grpSpPr>
            <a:xfrm>
              <a:off x="5610853" y="4953951"/>
              <a:ext cx="970294" cy="1030859"/>
              <a:chOff x="5610853" y="4953951"/>
              <a:chExt cx="970294" cy="1030859"/>
            </a:xfrm>
          </p:grpSpPr>
          <p:sp>
            <p:nvSpPr>
              <p:cNvPr id="29" name="Oval 28">
                <a:extLst>
                  <a:ext uri="{FF2B5EF4-FFF2-40B4-BE49-F238E27FC236}">
                    <a16:creationId xmlns:a16="http://schemas.microsoft.com/office/drawing/2014/main" id="{369B0CC0-81DA-BCEA-0E63-21C15184754F}"/>
                  </a:ext>
                </a:extLst>
              </p:cNvPr>
              <p:cNvSpPr/>
              <p:nvPr/>
            </p:nvSpPr>
            <p:spPr>
              <a:xfrm>
                <a:off x="5610853" y="5086474"/>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39" name="Graphic 38" descr="Caret Down with solid fill">
                <a:extLst>
                  <a:ext uri="{FF2B5EF4-FFF2-40B4-BE49-F238E27FC236}">
                    <a16:creationId xmlns:a16="http://schemas.microsoft.com/office/drawing/2014/main" id="{693BCC57-233A-BB67-B7B6-54669DB99B6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4953951"/>
                <a:ext cx="914400" cy="914400"/>
              </a:xfrm>
              <a:prstGeom prst="rect">
                <a:avLst/>
              </a:prstGeom>
            </p:spPr>
          </p:pic>
        </p:grpSp>
        <p:sp>
          <p:nvSpPr>
            <p:cNvPr id="40" name="TextBox 39">
              <a:extLst>
                <a:ext uri="{FF2B5EF4-FFF2-40B4-BE49-F238E27FC236}">
                  <a16:creationId xmlns:a16="http://schemas.microsoft.com/office/drawing/2014/main" id="{5E1D63B3-CA36-6155-528B-7B75276F894B}"/>
                </a:ext>
              </a:extLst>
            </p:cNvPr>
            <p:cNvSpPr txBox="1"/>
            <p:nvPr/>
          </p:nvSpPr>
          <p:spPr>
            <a:xfrm>
              <a:off x="5430720" y="6000875"/>
              <a:ext cx="1330557" cy="830997"/>
            </a:xfrm>
            <a:prstGeom prst="rect">
              <a:avLst/>
            </a:prstGeom>
            <a:noFill/>
          </p:spPr>
          <p:txBody>
            <a:bodyPr wrap="none" rtlCol="0">
              <a:spAutoFit/>
            </a:bodyPr>
            <a:lstStyle/>
            <a:p>
              <a:pPr algn="ctr"/>
              <a:r>
                <a:rPr lang="en-US" sz="2400" i="1" dirty="0"/>
                <a:t>Leading </a:t>
              </a:r>
            </a:p>
            <a:p>
              <a:pPr algn="ctr"/>
              <a:r>
                <a:rPr lang="en-US" sz="2400" i="1" dirty="0"/>
                <a:t>upwards</a:t>
              </a:r>
            </a:p>
          </p:txBody>
        </p:sp>
      </p:grpSp>
      <p:grpSp>
        <p:nvGrpSpPr>
          <p:cNvPr id="52" name="Group 51">
            <a:extLst>
              <a:ext uri="{FF2B5EF4-FFF2-40B4-BE49-F238E27FC236}">
                <a16:creationId xmlns:a16="http://schemas.microsoft.com/office/drawing/2014/main" id="{DE169AFF-1D25-F0C7-F019-2CF328673AED}"/>
              </a:ext>
            </a:extLst>
          </p:cNvPr>
          <p:cNvGrpSpPr/>
          <p:nvPr/>
        </p:nvGrpSpPr>
        <p:grpSpPr>
          <a:xfrm>
            <a:off x="6802381" y="2745864"/>
            <a:ext cx="1412311" cy="1772345"/>
            <a:chOff x="7639430" y="5048043"/>
            <a:chExt cx="1412311" cy="1772345"/>
          </a:xfrm>
        </p:grpSpPr>
        <p:grpSp>
          <p:nvGrpSpPr>
            <p:cNvPr id="44" name="Group 43">
              <a:extLst>
                <a:ext uri="{FF2B5EF4-FFF2-40B4-BE49-F238E27FC236}">
                  <a16:creationId xmlns:a16="http://schemas.microsoft.com/office/drawing/2014/main" id="{A38BF606-242E-77B8-96CC-F84A0FE66984}"/>
                </a:ext>
              </a:extLst>
            </p:cNvPr>
            <p:cNvGrpSpPr/>
            <p:nvPr/>
          </p:nvGrpSpPr>
          <p:grpSpPr>
            <a:xfrm>
              <a:off x="7864892" y="5048043"/>
              <a:ext cx="970294" cy="898336"/>
              <a:chOff x="7864892" y="5048043"/>
              <a:chExt cx="970294" cy="898336"/>
            </a:xfrm>
          </p:grpSpPr>
          <p:sp>
            <p:nvSpPr>
              <p:cNvPr id="30" name="Oval 29">
                <a:extLst>
                  <a:ext uri="{FF2B5EF4-FFF2-40B4-BE49-F238E27FC236}">
                    <a16:creationId xmlns:a16="http://schemas.microsoft.com/office/drawing/2014/main" id="{85124907-EB60-9B58-262A-337A65E23631}"/>
                  </a:ext>
                </a:extLst>
              </p:cNvPr>
              <p:cNvSpPr/>
              <p:nvPr/>
            </p:nvSpPr>
            <p:spPr>
              <a:xfrm>
                <a:off x="7864892" y="5048043"/>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20" name="Graphic 19" descr="Transfer with solid fill">
                <a:extLst>
                  <a:ext uri="{FF2B5EF4-FFF2-40B4-BE49-F238E27FC236}">
                    <a16:creationId xmlns:a16="http://schemas.microsoft.com/office/drawing/2014/main" id="{84790AB8-30EF-8C46-64CB-A9AF4A61BF14}"/>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4521" y="5117203"/>
                <a:ext cx="708202" cy="708202"/>
              </a:xfrm>
              <a:prstGeom prst="rect">
                <a:avLst/>
              </a:prstGeom>
            </p:spPr>
          </p:pic>
        </p:grpSp>
        <p:sp>
          <p:nvSpPr>
            <p:cNvPr id="43" name="TextBox 42">
              <a:extLst>
                <a:ext uri="{FF2B5EF4-FFF2-40B4-BE49-F238E27FC236}">
                  <a16:creationId xmlns:a16="http://schemas.microsoft.com/office/drawing/2014/main" id="{E98BF8AD-1E20-7915-96AC-F0F67EAC1E85}"/>
                </a:ext>
              </a:extLst>
            </p:cNvPr>
            <p:cNvSpPr txBox="1"/>
            <p:nvPr/>
          </p:nvSpPr>
          <p:spPr>
            <a:xfrm>
              <a:off x="7639430" y="5989391"/>
              <a:ext cx="1412311" cy="830997"/>
            </a:xfrm>
            <a:prstGeom prst="rect">
              <a:avLst/>
            </a:prstGeom>
            <a:noFill/>
          </p:spPr>
          <p:txBody>
            <a:bodyPr wrap="none" rtlCol="0">
              <a:spAutoFit/>
            </a:bodyPr>
            <a:lstStyle/>
            <a:p>
              <a:pPr algn="ctr"/>
              <a:r>
                <a:rPr lang="en-US" sz="2400" i="1" dirty="0"/>
                <a:t>Leading</a:t>
              </a:r>
            </a:p>
            <a:p>
              <a:pPr algn="ctr"/>
              <a:r>
                <a:rPr lang="en-US" sz="2400" i="1" dirty="0"/>
                <a:t>sideways</a:t>
              </a:r>
            </a:p>
          </p:txBody>
        </p:sp>
      </p:grpSp>
      <p:grpSp>
        <p:nvGrpSpPr>
          <p:cNvPr id="53" name="Group 52">
            <a:extLst>
              <a:ext uri="{FF2B5EF4-FFF2-40B4-BE49-F238E27FC236}">
                <a16:creationId xmlns:a16="http://schemas.microsoft.com/office/drawing/2014/main" id="{F3F4A55B-BFBA-3FF1-01D6-F9660D0E0E9E}"/>
              </a:ext>
            </a:extLst>
          </p:cNvPr>
          <p:cNvGrpSpPr/>
          <p:nvPr/>
        </p:nvGrpSpPr>
        <p:grpSpPr>
          <a:xfrm>
            <a:off x="6847425" y="4971360"/>
            <a:ext cx="1621549" cy="1831187"/>
            <a:chOff x="9677966" y="4055615"/>
            <a:chExt cx="1621549" cy="1831187"/>
          </a:xfrm>
        </p:grpSpPr>
        <p:grpSp>
          <p:nvGrpSpPr>
            <p:cNvPr id="48" name="Group 47">
              <a:extLst>
                <a:ext uri="{FF2B5EF4-FFF2-40B4-BE49-F238E27FC236}">
                  <a16:creationId xmlns:a16="http://schemas.microsoft.com/office/drawing/2014/main" id="{4E2AEE01-D034-14B9-CC09-7332731BB6E0}"/>
                </a:ext>
              </a:extLst>
            </p:cNvPr>
            <p:cNvGrpSpPr/>
            <p:nvPr/>
          </p:nvGrpSpPr>
          <p:grpSpPr>
            <a:xfrm>
              <a:off x="9907694" y="4055615"/>
              <a:ext cx="1391821" cy="914400"/>
              <a:chOff x="9907694" y="4055615"/>
              <a:chExt cx="1391821" cy="914400"/>
            </a:xfrm>
          </p:grpSpPr>
          <p:sp>
            <p:nvSpPr>
              <p:cNvPr id="42" name="Oval 41">
                <a:extLst>
                  <a:ext uri="{FF2B5EF4-FFF2-40B4-BE49-F238E27FC236}">
                    <a16:creationId xmlns:a16="http://schemas.microsoft.com/office/drawing/2014/main" id="{FCBB0A84-C6EC-46CA-8E20-3C13B5EBB1A4}"/>
                  </a:ext>
                </a:extLst>
              </p:cNvPr>
              <p:cNvSpPr/>
              <p:nvPr/>
            </p:nvSpPr>
            <p:spPr>
              <a:xfrm>
                <a:off x="9907694" y="4055615"/>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46" name="Graphic 45" descr="Arrow Down with solid fill">
                <a:extLst>
                  <a:ext uri="{FF2B5EF4-FFF2-40B4-BE49-F238E27FC236}">
                    <a16:creationId xmlns:a16="http://schemas.microsoft.com/office/drawing/2014/main" id="{338C8FB0-CEA1-195F-56CC-CF7A19F2258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10385115" y="4055615"/>
                <a:ext cx="914400" cy="914400"/>
              </a:xfrm>
              <a:prstGeom prst="rect">
                <a:avLst/>
              </a:prstGeom>
            </p:spPr>
          </p:pic>
        </p:grpSp>
        <p:sp>
          <p:nvSpPr>
            <p:cNvPr id="47" name="TextBox 46">
              <a:extLst>
                <a:ext uri="{FF2B5EF4-FFF2-40B4-BE49-F238E27FC236}">
                  <a16:creationId xmlns:a16="http://schemas.microsoft.com/office/drawing/2014/main" id="{478850E0-138E-9666-79C4-D62CDD8A1C89}"/>
                </a:ext>
              </a:extLst>
            </p:cNvPr>
            <p:cNvSpPr txBox="1"/>
            <p:nvPr/>
          </p:nvSpPr>
          <p:spPr>
            <a:xfrm>
              <a:off x="9677966" y="5055805"/>
              <a:ext cx="1429751" cy="830997"/>
            </a:xfrm>
            <a:prstGeom prst="rect">
              <a:avLst/>
            </a:prstGeom>
            <a:noFill/>
          </p:spPr>
          <p:txBody>
            <a:bodyPr wrap="none" rtlCol="0">
              <a:spAutoFit/>
            </a:bodyPr>
            <a:lstStyle/>
            <a:p>
              <a:pPr algn="ctr"/>
              <a:r>
                <a:rPr lang="en-US" sz="2400" i="1" dirty="0"/>
                <a:t>Leading</a:t>
              </a:r>
            </a:p>
            <a:p>
              <a:pPr algn="ctr"/>
              <a:r>
                <a:rPr lang="en-US" sz="2400" i="1" dirty="0"/>
                <a:t>outwards</a:t>
              </a:r>
            </a:p>
          </p:txBody>
        </p:sp>
      </p:grpSp>
      <p:pic>
        <p:nvPicPr>
          <p:cNvPr id="54" name="Graphic 53" descr="User with solid fill">
            <a:extLst>
              <a:ext uri="{FF2B5EF4-FFF2-40B4-BE49-F238E27FC236}">
                <a16:creationId xmlns:a16="http://schemas.microsoft.com/office/drawing/2014/main" id="{5DDEEF8A-D0B4-7A21-F583-68EBC8FFE9C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10203" y="2863726"/>
            <a:ext cx="2171250" cy="2460164"/>
          </a:xfrm>
          <a:prstGeom prst="rect">
            <a:avLst/>
          </a:prstGeom>
        </p:spPr>
      </p:pic>
      <p:sp>
        <p:nvSpPr>
          <p:cNvPr id="3" name="TextBox 2">
            <a:extLst>
              <a:ext uri="{FF2B5EF4-FFF2-40B4-BE49-F238E27FC236}">
                <a16:creationId xmlns:a16="http://schemas.microsoft.com/office/drawing/2014/main" id="{2D957AD1-002C-182F-7D1D-9C4D2FF7A811}"/>
              </a:ext>
            </a:extLst>
          </p:cNvPr>
          <p:cNvSpPr txBox="1"/>
          <p:nvPr/>
        </p:nvSpPr>
        <p:spPr>
          <a:xfrm>
            <a:off x="207276" y="4740526"/>
            <a:ext cx="3486087" cy="1938992"/>
          </a:xfrm>
          <a:prstGeom prst="rect">
            <a:avLst/>
          </a:prstGeom>
          <a:noFill/>
        </p:spPr>
        <p:txBody>
          <a:bodyPr wrap="square">
            <a:spAutoFit/>
          </a:bodyPr>
          <a:lstStyle/>
          <a:p>
            <a:pPr marL="342900" indent="-342900">
              <a:buFont typeface="Arial" panose="020B0604020202020204" pitchFamily="34" charset="0"/>
              <a:buChar char="•"/>
            </a:pPr>
            <a:r>
              <a:rPr lang="en-US" sz="2400" dirty="0"/>
              <a:t>Sharing own knowledge and expertise with your own leaders and managers</a:t>
            </a:r>
          </a:p>
        </p:txBody>
      </p:sp>
    </p:spTree>
    <p:extLst>
      <p:ext uri="{BB962C8B-B14F-4D97-AF65-F5344CB8AC3E}">
        <p14:creationId xmlns:p14="http://schemas.microsoft.com/office/powerpoint/2010/main" val="7944657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0357B-6F32-40CE-F6C7-BC1F3EC515E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0C18329-311F-6B8E-BBEE-B4A43BDC4F06}"/>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DD2CB69E-FC8C-7C56-E2D8-6245CC2FD5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5B0D2A0-B7FF-5987-4A32-61E61D2A5DC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B0A9F4CE-5F8D-E7E9-0F06-677CA61CF69D}"/>
              </a:ext>
            </a:extLst>
          </p:cNvPr>
          <p:cNvSpPr txBox="1">
            <a:spLocks/>
          </p:cNvSpPr>
          <p:nvPr/>
        </p:nvSpPr>
        <p:spPr>
          <a:xfrm>
            <a:off x="7687" y="-3304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Multi-directional leadership: inwards</a:t>
            </a:r>
          </a:p>
        </p:txBody>
      </p:sp>
      <p:sp>
        <p:nvSpPr>
          <p:cNvPr id="2" name="Slide Number Placeholder 1">
            <a:extLst>
              <a:ext uri="{FF2B5EF4-FFF2-40B4-BE49-F238E27FC236}">
                <a16:creationId xmlns:a16="http://schemas.microsoft.com/office/drawing/2014/main" id="{B3E14D6E-28D1-35F1-E8D5-3EE54FF4C793}"/>
              </a:ext>
            </a:extLst>
          </p:cNvPr>
          <p:cNvSpPr>
            <a:spLocks noGrp="1"/>
          </p:cNvSpPr>
          <p:nvPr>
            <p:ph type="sldNum" sz="quarter" idx="12"/>
          </p:nvPr>
        </p:nvSpPr>
        <p:spPr/>
        <p:txBody>
          <a:bodyPr/>
          <a:lstStyle/>
          <a:p>
            <a:fld id="{D292B180-B274-DE43-B36F-C827C7616C05}" type="slidenum">
              <a:rPr lang="en-US" i="1" smtClean="0"/>
              <a:t>28</a:t>
            </a:fld>
            <a:endParaRPr lang="en-US" i="1"/>
          </a:p>
        </p:txBody>
      </p:sp>
      <p:grpSp>
        <p:nvGrpSpPr>
          <p:cNvPr id="49" name="Group 48">
            <a:extLst>
              <a:ext uri="{FF2B5EF4-FFF2-40B4-BE49-F238E27FC236}">
                <a16:creationId xmlns:a16="http://schemas.microsoft.com/office/drawing/2014/main" id="{B8DC138E-7583-3F77-19A3-C1E14ABE5808}"/>
              </a:ext>
            </a:extLst>
          </p:cNvPr>
          <p:cNvGrpSpPr/>
          <p:nvPr/>
        </p:nvGrpSpPr>
        <p:grpSpPr>
          <a:xfrm>
            <a:off x="4892980" y="1133168"/>
            <a:ext cx="1718612" cy="1729333"/>
            <a:chOff x="5120943" y="2864334"/>
            <a:chExt cx="1718612" cy="1729333"/>
          </a:xfrm>
        </p:grpSpPr>
        <p:grpSp>
          <p:nvGrpSpPr>
            <p:cNvPr id="34" name="Group 33">
              <a:extLst>
                <a:ext uri="{FF2B5EF4-FFF2-40B4-BE49-F238E27FC236}">
                  <a16:creationId xmlns:a16="http://schemas.microsoft.com/office/drawing/2014/main" id="{E5C16165-B2DD-70CB-68E9-D4FB22349889}"/>
                </a:ext>
              </a:extLst>
            </p:cNvPr>
            <p:cNvGrpSpPr/>
            <p:nvPr/>
          </p:nvGrpSpPr>
          <p:grpSpPr>
            <a:xfrm rot="10800000">
              <a:off x="5495102" y="2864334"/>
              <a:ext cx="970294" cy="995252"/>
              <a:chOff x="5610853" y="3734853"/>
              <a:chExt cx="970294" cy="995252"/>
            </a:xfrm>
          </p:grpSpPr>
          <p:sp>
            <p:nvSpPr>
              <p:cNvPr id="16" name="Oval 15">
                <a:extLst>
                  <a:ext uri="{FF2B5EF4-FFF2-40B4-BE49-F238E27FC236}">
                    <a16:creationId xmlns:a16="http://schemas.microsoft.com/office/drawing/2014/main" id="{FDB49B00-CA17-2C66-465C-AC10BF9F6E02}"/>
                  </a:ext>
                </a:extLst>
              </p:cNvPr>
              <p:cNvSpPr/>
              <p:nvPr/>
            </p:nvSpPr>
            <p:spPr>
              <a:xfrm>
                <a:off x="5610853" y="3831769"/>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32" name="Graphic 31" descr="Caret Down with solid fill">
                <a:extLst>
                  <a:ext uri="{FF2B5EF4-FFF2-40B4-BE49-F238E27FC236}">
                    <a16:creationId xmlns:a16="http://schemas.microsoft.com/office/drawing/2014/main" id="{874C74A4-19A7-1529-C98F-E1292F49631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3734853"/>
                <a:ext cx="914400" cy="914400"/>
              </a:xfrm>
              <a:prstGeom prst="rect">
                <a:avLst/>
              </a:prstGeom>
            </p:spPr>
          </p:pic>
        </p:grpSp>
        <p:sp>
          <p:nvSpPr>
            <p:cNvPr id="33" name="TextBox 32">
              <a:extLst>
                <a:ext uri="{FF2B5EF4-FFF2-40B4-BE49-F238E27FC236}">
                  <a16:creationId xmlns:a16="http://schemas.microsoft.com/office/drawing/2014/main" id="{73C3FA1B-0F5E-F6B4-C8FB-165008AD4BAF}"/>
                </a:ext>
              </a:extLst>
            </p:cNvPr>
            <p:cNvSpPr txBox="1"/>
            <p:nvPr/>
          </p:nvSpPr>
          <p:spPr>
            <a:xfrm>
              <a:off x="5120943" y="3762670"/>
              <a:ext cx="1718612" cy="830997"/>
            </a:xfrm>
            <a:prstGeom prst="rect">
              <a:avLst/>
            </a:prstGeom>
            <a:noFill/>
          </p:spPr>
          <p:txBody>
            <a:bodyPr wrap="none" rtlCol="0">
              <a:spAutoFit/>
            </a:bodyPr>
            <a:lstStyle/>
            <a:p>
              <a:pPr algn="ctr"/>
              <a:r>
                <a:rPr lang="en-US" sz="2400" i="1" dirty="0"/>
                <a:t>Leading </a:t>
              </a:r>
            </a:p>
            <a:p>
              <a:pPr algn="ctr"/>
              <a:r>
                <a:rPr lang="en-US" sz="2400" i="1" dirty="0"/>
                <a:t>downwards</a:t>
              </a:r>
            </a:p>
          </p:txBody>
        </p:sp>
      </p:grpSp>
      <p:grpSp>
        <p:nvGrpSpPr>
          <p:cNvPr id="52" name="Group 51">
            <a:extLst>
              <a:ext uri="{FF2B5EF4-FFF2-40B4-BE49-F238E27FC236}">
                <a16:creationId xmlns:a16="http://schemas.microsoft.com/office/drawing/2014/main" id="{0DD2C20F-200E-7F1C-4640-19A8C4AC59A9}"/>
              </a:ext>
            </a:extLst>
          </p:cNvPr>
          <p:cNvGrpSpPr/>
          <p:nvPr/>
        </p:nvGrpSpPr>
        <p:grpSpPr>
          <a:xfrm>
            <a:off x="6802381" y="2745864"/>
            <a:ext cx="1412311" cy="1772345"/>
            <a:chOff x="7639430" y="5048043"/>
            <a:chExt cx="1412311" cy="1772345"/>
          </a:xfrm>
        </p:grpSpPr>
        <p:grpSp>
          <p:nvGrpSpPr>
            <p:cNvPr id="44" name="Group 43">
              <a:extLst>
                <a:ext uri="{FF2B5EF4-FFF2-40B4-BE49-F238E27FC236}">
                  <a16:creationId xmlns:a16="http://schemas.microsoft.com/office/drawing/2014/main" id="{B641BB2D-478B-8639-C165-D8D5463A9E7E}"/>
                </a:ext>
              </a:extLst>
            </p:cNvPr>
            <p:cNvGrpSpPr/>
            <p:nvPr/>
          </p:nvGrpSpPr>
          <p:grpSpPr>
            <a:xfrm>
              <a:off x="7864892" y="5048043"/>
              <a:ext cx="970294" cy="898336"/>
              <a:chOff x="7864892" y="5048043"/>
              <a:chExt cx="970294" cy="898336"/>
            </a:xfrm>
          </p:grpSpPr>
          <p:sp>
            <p:nvSpPr>
              <p:cNvPr id="30" name="Oval 29">
                <a:extLst>
                  <a:ext uri="{FF2B5EF4-FFF2-40B4-BE49-F238E27FC236}">
                    <a16:creationId xmlns:a16="http://schemas.microsoft.com/office/drawing/2014/main" id="{66CCDB4E-E4F6-9917-3838-4FFB53EDB1D6}"/>
                  </a:ext>
                </a:extLst>
              </p:cNvPr>
              <p:cNvSpPr/>
              <p:nvPr/>
            </p:nvSpPr>
            <p:spPr>
              <a:xfrm>
                <a:off x="7864892" y="5048043"/>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20" name="Graphic 19" descr="Transfer with solid fill">
                <a:extLst>
                  <a:ext uri="{FF2B5EF4-FFF2-40B4-BE49-F238E27FC236}">
                    <a16:creationId xmlns:a16="http://schemas.microsoft.com/office/drawing/2014/main" id="{50643ED1-3554-C18A-B2F6-8D0827C9B1A7}"/>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4521" y="5117203"/>
                <a:ext cx="708202" cy="708202"/>
              </a:xfrm>
              <a:prstGeom prst="rect">
                <a:avLst/>
              </a:prstGeom>
            </p:spPr>
          </p:pic>
        </p:grpSp>
        <p:sp>
          <p:nvSpPr>
            <p:cNvPr id="43" name="TextBox 42">
              <a:extLst>
                <a:ext uri="{FF2B5EF4-FFF2-40B4-BE49-F238E27FC236}">
                  <a16:creationId xmlns:a16="http://schemas.microsoft.com/office/drawing/2014/main" id="{75DB228D-22C1-8A39-4A68-E5939782DFE9}"/>
                </a:ext>
              </a:extLst>
            </p:cNvPr>
            <p:cNvSpPr txBox="1"/>
            <p:nvPr/>
          </p:nvSpPr>
          <p:spPr>
            <a:xfrm>
              <a:off x="7639430" y="5989391"/>
              <a:ext cx="1412311" cy="830997"/>
            </a:xfrm>
            <a:prstGeom prst="rect">
              <a:avLst/>
            </a:prstGeom>
            <a:noFill/>
          </p:spPr>
          <p:txBody>
            <a:bodyPr wrap="none" rtlCol="0">
              <a:spAutoFit/>
            </a:bodyPr>
            <a:lstStyle/>
            <a:p>
              <a:pPr algn="ctr"/>
              <a:r>
                <a:rPr lang="en-US" sz="2400" i="1" dirty="0"/>
                <a:t>Leading</a:t>
              </a:r>
            </a:p>
            <a:p>
              <a:pPr algn="ctr"/>
              <a:r>
                <a:rPr lang="en-US" sz="2400" i="1" dirty="0"/>
                <a:t>sideways</a:t>
              </a:r>
            </a:p>
          </p:txBody>
        </p:sp>
      </p:grpSp>
      <p:grpSp>
        <p:nvGrpSpPr>
          <p:cNvPr id="53" name="Group 52">
            <a:extLst>
              <a:ext uri="{FF2B5EF4-FFF2-40B4-BE49-F238E27FC236}">
                <a16:creationId xmlns:a16="http://schemas.microsoft.com/office/drawing/2014/main" id="{FA14716D-E115-444B-32A3-8AC4022CBB68}"/>
              </a:ext>
            </a:extLst>
          </p:cNvPr>
          <p:cNvGrpSpPr/>
          <p:nvPr/>
        </p:nvGrpSpPr>
        <p:grpSpPr>
          <a:xfrm>
            <a:off x="6847425" y="4971360"/>
            <a:ext cx="1621549" cy="1831187"/>
            <a:chOff x="9677966" y="4055615"/>
            <a:chExt cx="1621549" cy="1831187"/>
          </a:xfrm>
        </p:grpSpPr>
        <p:grpSp>
          <p:nvGrpSpPr>
            <p:cNvPr id="48" name="Group 47">
              <a:extLst>
                <a:ext uri="{FF2B5EF4-FFF2-40B4-BE49-F238E27FC236}">
                  <a16:creationId xmlns:a16="http://schemas.microsoft.com/office/drawing/2014/main" id="{57F698EA-15AC-C83B-0CF3-E1323A37621C}"/>
                </a:ext>
              </a:extLst>
            </p:cNvPr>
            <p:cNvGrpSpPr/>
            <p:nvPr/>
          </p:nvGrpSpPr>
          <p:grpSpPr>
            <a:xfrm>
              <a:off x="9907694" y="4055615"/>
              <a:ext cx="1391821" cy="914400"/>
              <a:chOff x="9907694" y="4055615"/>
              <a:chExt cx="1391821" cy="914400"/>
            </a:xfrm>
          </p:grpSpPr>
          <p:sp>
            <p:nvSpPr>
              <p:cNvPr id="42" name="Oval 41">
                <a:extLst>
                  <a:ext uri="{FF2B5EF4-FFF2-40B4-BE49-F238E27FC236}">
                    <a16:creationId xmlns:a16="http://schemas.microsoft.com/office/drawing/2014/main" id="{13BFA784-16A8-C61C-6D02-68367D1BA969}"/>
                  </a:ext>
                </a:extLst>
              </p:cNvPr>
              <p:cNvSpPr/>
              <p:nvPr/>
            </p:nvSpPr>
            <p:spPr>
              <a:xfrm>
                <a:off x="9907694" y="4055615"/>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46" name="Graphic 45" descr="Arrow Down with solid fill">
                <a:extLst>
                  <a:ext uri="{FF2B5EF4-FFF2-40B4-BE49-F238E27FC236}">
                    <a16:creationId xmlns:a16="http://schemas.microsoft.com/office/drawing/2014/main" id="{3C8DC37E-7156-D83E-85AD-3D9AD8DFE522}"/>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10385115" y="4055615"/>
                <a:ext cx="914400" cy="914400"/>
              </a:xfrm>
              <a:prstGeom prst="rect">
                <a:avLst/>
              </a:prstGeom>
            </p:spPr>
          </p:pic>
        </p:grpSp>
        <p:sp>
          <p:nvSpPr>
            <p:cNvPr id="47" name="TextBox 46">
              <a:extLst>
                <a:ext uri="{FF2B5EF4-FFF2-40B4-BE49-F238E27FC236}">
                  <a16:creationId xmlns:a16="http://schemas.microsoft.com/office/drawing/2014/main" id="{53E12F01-88BB-332C-17D7-258DD5120D41}"/>
                </a:ext>
              </a:extLst>
            </p:cNvPr>
            <p:cNvSpPr txBox="1"/>
            <p:nvPr/>
          </p:nvSpPr>
          <p:spPr>
            <a:xfrm>
              <a:off x="9677966" y="5055805"/>
              <a:ext cx="1429751" cy="830997"/>
            </a:xfrm>
            <a:prstGeom prst="rect">
              <a:avLst/>
            </a:prstGeom>
            <a:noFill/>
          </p:spPr>
          <p:txBody>
            <a:bodyPr wrap="none" rtlCol="0">
              <a:spAutoFit/>
            </a:bodyPr>
            <a:lstStyle/>
            <a:p>
              <a:pPr algn="ctr"/>
              <a:r>
                <a:rPr lang="en-US" sz="2400" i="1" dirty="0"/>
                <a:t>Leading</a:t>
              </a:r>
            </a:p>
            <a:p>
              <a:pPr algn="ctr"/>
              <a:r>
                <a:rPr lang="en-US" sz="2400" i="1" dirty="0"/>
                <a:t>outwards</a:t>
              </a:r>
            </a:p>
          </p:txBody>
        </p:sp>
      </p:grpSp>
      <p:pic>
        <p:nvPicPr>
          <p:cNvPr id="54" name="Graphic 53" descr="User with solid fill">
            <a:extLst>
              <a:ext uri="{FF2B5EF4-FFF2-40B4-BE49-F238E27FC236}">
                <a16:creationId xmlns:a16="http://schemas.microsoft.com/office/drawing/2014/main" id="{6DEAA860-1D3F-DEED-49EC-0DC500F40EC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710203" y="2863726"/>
            <a:ext cx="2171250" cy="2460164"/>
          </a:xfrm>
          <a:prstGeom prst="rect">
            <a:avLst/>
          </a:prstGeom>
        </p:spPr>
      </p:pic>
      <p:grpSp>
        <p:nvGrpSpPr>
          <p:cNvPr id="3" name="Group 2">
            <a:extLst>
              <a:ext uri="{FF2B5EF4-FFF2-40B4-BE49-F238E27FC236}">
                <a16:creationId xmlns:a16="http://schemas.microsoft.com/office/drawing/2014/main" id="{1339A4FF-45C6-6F92-2101-35883933646E}"/>
              </a:ext>
            </a:extLst>
          </p:cNvPr>
          <p:cNvGrpSpPr/>
          <p:nvPr/>
        </p:nvGrpSpPr>
        <p:grpSpPr>
          <a:xfrm>
            <a:off x="3332384" y="2836999"/>
            <a:ext cx="1293111" cy="1816430"/>
            <a:chOff x="7700965" y="2862387"/>
            <a:chExt cx="1293111" cy="1816430"/>
          </a:xfrm>
        </p:grpSpPr>
        <p:sp>
          <p:nvSpPr>
            <p:cNvPr id="8" name="Oval 7">
              <a:extLst>
                <a:ext uri="{FF2B5EF4-FFF2-40B4-BE49-F238E27FC236}">
                  <a16:creationId xmlns:a16="http://schemas.microsoft.com/office/drawing/2014/main" id="{A4A37B85-25E6-A1FD-3684-6EB72B02CEFA}"/>
                </a:ext>
              </a:extLst>
            </p:cNvPr>
            <p:cNvSpPr/>
            <p:nvPr/>
          </p:nvSpPr>
          <p:spPr>
            <a:xfrm>
              <a:off x="7864892" y="2862387"/>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9" name="Graphic 8" descr="Line arrow: Rotate left with solid fill">
              <a:extLst>
                <a:ext uri="{FF2B5EF4-FFF2-40B4-BE49-F238E27FC236}">
                  <a16:creationId xmlns:a16="http://schemas.microsoft.com/office/drawing/2014/main" id="{99F3877A-7119-1778-FB10-31C28F8D820B}"/>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0310" y="2974343"/>
              <a:ext cx="674423" cy="674423"/>
            </a:xfrm>
            <a:prstGeom prst="rect">
              <a:avLst/>
            </a:prstGeom>
          </p:spPr>
        </p:pic>
        <p:sp>
          <p:nvSpPr>
            <p:cNvPr id="10" name="TextBox 9">
              <a:extLst>
                <a:ext uri="{FF2B5EF4-FFF2-40B4-BE49-F238E27FC236}">
                  <a16:creationId xmlns:a16="http://schemas.microsoft.com/office/drawing/2014/main" id="{BED6E4AF-FEFE-62C8-CB89-7C7B729084E6}"/>
                </a:ext>
              </a:extLst>
            </p:cNvPr>
            <p:cNvSpPr txBox="1"/>
            <p:nvPr/>
          </p:nvSpPr>
          <p:spPr>
            <a:xfrm>
              <a:off x="7700965" y="3847820"/>
              <a:ext cx="1293111" cy="830997"/>
            </a:xfrm>
            <a:prstGeom prst="rect">
              <a:avLst/>
            </a:prstGeom>
            <a:noFill/>
          </p:spPr>
          <p:txBody>
            <a:bodyPr wrap="none" rtlCol="0">
              <a:spAutoFit/>
            </a:bodyPr>
            <a:lstStyle/>
            <a:p>
              <a:pPr algn="ctr"/>
              <a:r>
                <a:rPr lang="en-US" sz="2400" i="1" dirty="0"/>
                <a:t>Leading </a:t>
              </a:r>
            </a:p>
            <a:p>
              <a:pPr algn="ctr"/>
              <a:r>
                <a:rPr lang="en-US" sz="2400" i="1" dirty="0"/>
                <a:t>yourself</a:t>
              </a:r>
            </a:p>
          </p:txBody>
        </p:sp>
      </p:grpSp>
      <p:grpSp>
        <p:nvGrpSpPr>
          <p:cNvPr id="11" name="Group 10">
            <a:extLst>
              <a:ext uri="{FF2B5EF4-FFF2-40B4-BE49-F238E27FC236}">
                <a16:creationId xmlns:a16="http://schemas.microsoft.com/office/drawing/2014/main" id="{85EC476F-9CAE-17B6-63FF-64CE9C2230BF}"/>
              </a:ext>
            </a:extLst>
          </p:cNvPr>
          <p:cNvGrpSpPr/>
          <p:nvPr/>
        </p:nvGrpSpPr>
        <p:grpSpPr>
          <a:xfrm>
            <a:off x="3302209" y="4888694"/>
            <a:ext cx="1330557" cy="1877921"/>
            <a:chOff x="5430720" y="4953951"/>
            <a:chExt cx="1330557" cy="1877921"/>
          </a:xfrm>
        </p:grpSpPr>
        <p:grpSp>
          <p:nvGrpSpPr>
            <p:cNvPr id="12" name="Group 11">
              <a:extLst>
                <a:ext uri="{FF2B5EF4-FFF2-40B4-BE49-F238E27FC236}">
                  <a16:creationId xmlns:a16="http://schemas.microsoft.com/office/drawing/2014/main" id="{BD6CB1D6-6788-A116-F73A-D5A995FBCBFD}"/>
                </a:ext>
              </a:extLst>
            </p:cNvPr>
            <p:cNvGrpSpPr/>
            <p:nvPr/>
          </p:nvGrpSpPr>
          <p:grpSpPr>
            <a:xfrm>
              <a:off x="5610853" y="4953951"/>
              <a:ext cx="970294" cy="1030859"/>
              <a:chOff x="5610853" y="4953951"/>
              <a:chExt cx="970294" cy="1030859"/>
            </a:xfrm>
          </p:grpSpPr>
          <p:sp>
            <p:nvSpPr>
              <p:cNvPr id="14" name="Oval 13">
                <a:extLst>
                  <a:ext uri="{FF2B5EF4-FFF2-40B4-BE49-F238E27FC236}">
                    <a16:creationId xmlns:a16="http://schemas.microsoft.com/office/drawing/2014/main" id="{7A6AFE7A-6FF1-9193-A14C-542324959784}"/>
                  </a:ext>
                </a:extLst>
              </p:cNvPr>
              <p:cNvSpPr/>
              <p:nvPr/>
            </p:nvSpPr>
            <p:spPr>
              <a:xfrm>
                <a:off x="5610853" y="5086474"/>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17" name="Graphic 16" descr="Caret Down with solid fill">
                <a:extLst>
                  <a:ext uri="{FF2B5EF4-FFF2-40B4-BE49-F238E27FC236}">
                    <a16:creationId xmlns:a16="http://schemas.microsoft.com/office/drawing/2014/main" id="{D6CBE1E6-46DE-356A-80B9-E1BF4B9C6B10}"/>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4953951"/>
                <a:ext cx="914400" cy="914400"/>
              </a:xfrm>
              <a:prstGeom prst="rect">
                <a:avLst/>
              </a:prstGeom>
            </p:spPr>
          </p:pic>
        </p:grpSp>
        <p:sp>
          <p:nvSpPr>
            <p:cNvPr id="13" name="TextBox 12">
              <a:extLst>
                <a:ext uri="{FF2B5EF4-FFF2-40B4-BE49-F238E27FC236}">
                  <a16:creationId xmlns:a16="http://schemas.microsoft.com/office/drawing/2014/main" id="{BB204F39-AF8D-0A89-58BB-36164B3F1AC5}"/>
                </a:ext>
              </a:extLst>
            </p:cNvPr>
            <p:cNvSpPr txBox="1"/>
            <p:nvPr/>
          </p:nvSpPr>
          <p:spPr>
            <a:xfrm>
              <a:off x="5430720" y="6000875"/>
              <a:ext cx="1330557" cy="830997"/>
            </a:xfrm>
            <a:prstGeom prst="rect">
              <a:avLst/>
            </a:prstGeom>
            <a:noFill/>
          </p:spPr>
          <p:txBody>
            <a:bodyPr wrap="none" rtlCol="0">
              <a:spAutoFit/>
            </a:bodyPr>
            <a:lstStyle/>
            <a:p>
              <a:pPr algn="ctr"/>
              <a:r>
                <a:rPr lang="en-US" sz="2400" i="1" dirty="0"/>
                <a:t>Leading </a:t>
              </a:r>
            </a:p>
            <a:p>
              <a:pPr algn="ctr"/>
              <a:r>
                <a:rPr lang="en-US" sz="2400" i="1" dirty="0"/>
                <a:t>upwards</a:t>
              </a:r>
            </a:p>
          </p:txBody>
        </p:sp>
      </p:grpSp>
      <p:sp>
        <p:nvSpPr>
          <p:cNvPr id="18" name="TextBox 17">
            <a:extLst>
              <a:ext uri="{FF2B5EF4-FFF2-40B4-BE49-F238E27FC236}">
                <a16:creationId xmlns:a16="http://schemas.microsoft.com/office/drawing/2014/main" id="{42D111C6-DF06-0743-AABE-E5E26AD63BDF}"/>
              </a:ext>
            </a:extLst>
          </p:cNvPr>
          <p:cNvSpPr txBox="1"/>
          <p:nvPr/>
        </p:nvSpPr>
        <p:spPr>
          <a:xfrm>
            <a:off x="62984" y="2949702"/>
            <a:ext cx="3486087" cy="1938992"/>
          </a:xfrm>
          <a:prstGeom prst="rect">
            <a:avLst/>
          </a:prstGeom>
          <a:noFill/>
        </p:spPr>
        <p:txBody>
          <a:bodyPr wrap="square">
            <a:spAutoFit/>
          </a:bodyPr>
          <a:lstStyle/>
          <a:p>
            <a:pPr marL="342900" indent="-342900">
              <a:buFont typeface="Arial" panose="020B0604020202020204" pitchFamily="34" charset="0"/>
              <a:buChar char="•"/>
            </a:pPr>
            <a:r>
              <a:rPr lang="en-US" sz="2400" dirty="0"/>
              <a:t>Self-aware of skills, values, identity and power</a:t>
            </a:r>
          </a:p>
          <a:p>
            <a:pPr marL="342900" indent="-342900">
              <a:buFont typeface="Arial" panose="020B0604020202020204" pitchFamily="34" charset="0"/>
              <a:buChar char="•"/>
            </a:pPr>
            <a:r>
              <a:rPr lang="en-US" sz="2400" dirty="0"/>
              <a:t>Self-management (time, priorities, etc.)</a:t>
            </a:r>
          </a:p>
        </p:txBody>
      </p:sp>
    </p:spTree>
    <p:extLst>
      <p:ext uri="{BB962C8B-B14F-4D97-AF65-F5344CB8AC3E}">
        <p14:creationId xmlns:p14="http://schemas.microsoft.com/office/powerpoint/2010/main" val="139998380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6B1F8-92AA-2284-B6E4-1DDDB7A438D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09A8A543-0B4C-CB4D-9ED6-AF3F769A687A}"/>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E3AC4105-27E8-606E-E578-66F669566A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D9E6F75-9C7A-D0E4-3B15-C8F69B15930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12EAFEDC-DAF6-7373-304F-C2C138A2C902}"/>
              </a:ext>
            </a:extLst>
          </p:cNvPr>
          <p:cNvSpPr txBox="1">
            <a:spLocks/>
          </p:cNvSpPr>
          <p:nvPr/>
        </p:nvSpPr>
        <p:spPr>
          <a:xfrm>
            <a:off x="7687" y="-3304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Self-leadership as a crucial part of leading others</a:t>
            </a:r>
          </a:p>
        </p:txBody>
      </p:sp>
      <p:sp>
        <p:nvSpPr>
          <p:cNvPr id="2" name="Slide Number Placeholder 1">
            <a:extLst>
              <a:ext uri="{FF2B5EF4-FFF2-40B4-BE49-F238E27FC236}">
                <a16:creationId xmlns:a16="http://schemas.microsoft.com/office/drawing/2014/main" id="{3959DB9F-D369-7FDF-F0D6-EA10499E9969}"/>
              </a:ext>
            </a:extLst>
          </p:cNvPr>
          <p:cNvSpPr>
            <a:spLocks noGrp="1"/>
          </p:cNvSpPr>
          <p:nvPr>
            <p:ph type="sldNum" sz="quarter" idx="12"/>
          </p:nvPr>
        </p:nvSpPr>
        <p:spPr/>
        <p:txBody>
          <a:bodyPr/>
          <a:lstStyle/>
          <a:p>
            <a:fld id="{D292B180-B274-DE43-B36F-C827C7616C05}" type="slidenum">
              <a:rPr lang="en-US" i="1" smtClean="0"/>
              <a:t>29</a:t>
            </a:fld>
            <a:endParaRPr lang="en-US" i="1"/>
          </a:p>
        </p:txBody>
      </p:sp>
      <p:grpSp>
        <p:nvGrpSpPr>
          <p:cNvPr id="8" name="Group 7">
            <a:extLst>
              <a:ext uri="{FF2B5EF4-FFF2-40B4-BE49-F238E27FC236}">
                <a16:creationId xmlns:a16="http://schemas.microsoft.com/office/drawing/2014/main" id="{9F6535FF-88D7-B360-923A-763514AFC918}"/>
              </a:ext>
            </a:extLst>
          </p:cNvPr>
          <p:cNvGrpSpPr/>
          <p:nvPr/>
        </p:nvGrpSpPr>
        <p:grpSpPr>
          <a:xfrm>
            <a:off x="3332384" y="2836999"/>
            <a:ext cx="1293111" cy="1816430"/>
            <a:chOff x="7700965" y="2862387"/>
            <a:chExt cx="1293111" cy="1816430"/>
          </a:xfrm>
        </p:grpSpPr>
        <p:sp>
          <p:nvSpPr>
            <p:cNvPr id="9" name="Oval 8">
              <a:extLst>
                <a:ext uri="{FF2B5EF4-FFF2-40B4-BE49-F238E27FC236}">
                  <a16:creationId xmlns:a16="http://schemas.microsoft.com/office/drawing/2014/main" id="{D08416A1-A988-509A-7401-34C1E4BA7922}"/>
                </a:ext>
              </a:extLst>
            </p:cNvPr>
            <p:cNvSpPr/>
            <p:nvPr/>
          </p:nvSpPr>
          <p:spPr>
            <a:xfrm>
              <a:off x="7864892" y="2862387"/>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10" name="Graphic 9" descr="Line arrow: Rotate left with solid fill">
              <a:extLst>
                <a:ext uri="{FF2B5EF4-FFF2-40B4-BE49-F238E27FC236}">
                  <a16:creationId xmlns:a16="http://schemas.microsoft.com/office/drawing/2014/main" id="{02CBEFAA-04D8-EF63-B1DF-4309E741EEFD}"/>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010310" y="2974343"/>
              <a:ext cx="674423" cy="674423"/>
            </a:xfrm>
            <a:prstGeom prst="rect">
              <a:avLst/>
            </a:prstGeom>
          </p:spPr>
        </p:pic>
        <p:sp>
          <p:nvSpPr>
            <p:cNvPr id="11" name="TextBox 10">
              <a:extLst>
                <a:ext uri="{FF2B5EF4-FFF2-40B4-BE49-F238E27FC236}">
                  <a16:creationId xmlns:a16="http://schemas.microsoft.com/office/drawing/2014/main" id="{DDCA7E0B-C6C0-AF0E-A773-3CAAD60EC042}"/>
                </a:ext>
              </a:extLst>
            </p:cNvPr>
            <p:cNvSpPr txBox="1"/>
            <p:nvPr/>
          </p:nvSpPr>
          <p:spPr>
            <a:xfrm>
              <a:off x="7700965" y="3847820"/>
              <a:ext cx="1293111" cy="830997"/>
            </a:xfrm>
            <a:prstGeom prst="rect">
              <a:avLst/>
            </a:prstGeom>
            <a:noFill/>
          </p:spPr>
          <p:txBody>
            <a:bodyPr wrap="none" rtlCol="0">
              <a:spAutoFit/>
            </a:bodyPr>
            <a:lstStyle/>
            <a:p>
              <a:pPr algn="ctr"/>
              <a:r>
                <a:rPr lang="en-US" sz="2400" i="1" dirty="0"/>
                <a:t>Leading </a:t>
              </a:r>
            </a:p>
            <a:p>
              <a:pPr algn="ctr"/>
              <a:r>
                <a:rPr lang="en-US" sz="2400" i="1" dirty="0"/>
                <a:t>yourself</a:t>
              </a:r>
            </a:p>
          </p:txBody>
        </p:sp>
      </p:grpSp>
      <p:sp>
        <p:nvSpPr>
          <p:cNvPr id="26" name="TextBox 25">
            <a:extLst>
              <a:ext uri="{FF2B5EF4-FFF2-40B4-BE49-F238E27FC236}">
                <a16:creationId xmlns:a16="http://schemas.microsoft.com/office/drawing/2014/main" id="{AAFB2770-66E3-BEF3-F98C-EB558DDCC938}"/>
              </a:ext>
            </a:extLst>
          </p:cNvPr>
          <p:cNvSpPr txBox="1"/>
          <p:nvPr/>
        </p:nvSpPr>
        <p:spPr>
          <a:xfrm>
            <a:off x="6441186" y="2668270"/>
            <a:ext cx="4902646" cy="2308324"/>
          </a:xfrm>
          <a:prstGeom prst="rect">
            <a:avLst/>
          </a:prstGeom>
          <a:noFill/>
        </p:spPr>
        <p:txBody>
          <a:bodyPr wrap="square">
            <a:spAutoFit/>
          </a:bodyPr>
          <a:lstStyle/>
          <a:p>
            <a:pPr marL="342900" indent="-342900">
              <a:buFont typeface="Arial" panose="020B0604020202020204" pitchFamily="34" charset="0"/>
              <a:buChar char="•"/>
            </a:pPr>
            <a:r>
              <a:rPr lang="en-US" sz="2400" dirty="0"/>
              <a:t>What values matter to me?</a:t>
            </a:r>
          </a:p>
          <a:p>
            <a:pPr marL="342900" indent="-342900">
              <a:buFont typeface="Arial" panose="020B0604020202020204" pitchFamily="34" charset="0"/>
              <a:buChar char="•"/>
            </a:pPr>
            <a:r>
              <a:rPr lang="en-US" sz="2400" dirty="0"/>
              <a:t>Where are my knowledge gaps?</a:t>
            </a:r>
          </a:p>
          <a:p>
            <a:pPr marL="342900" indent="-342900">
              <a:buFont typeface="Arial" panose="020B0604020202020204" pitchFamily="34" charset="0"/>
              <a:buChar char="•"/>
            </a:pPr>
            <a:r>
              <a:rPr lang="en-US" sz="2400" dirty="0"/>
              <a:t>How do my experiences shape how I lead?</a:t>
            </a:r>
          </a:p>
          <a:p>
            <a:pPr marL="342900" indent="-342900">
              <a:buFont typeface="Arial" panose="020B0604020202020204" pitchFamily="34" charset="0"/>
              <a:buChar char="•"/>
            </a:pPr>
            <a:endParaRPr lang="en-US" sz="2400" dirty="0"/>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0142731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F6F29F-9FBD-A288-74A5-0FB5252ECCC4}"/>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E64014A2-B57A-0B0D-E112-43D95C0F273F}"/>
              </a:ext>
            </a:extLst>
          </p:cNvPr>
          <p:cNvSpPr txBox="1">
            <a:spLocks/>
          </p:cNvSpPr>
          <p:nvPr/>
        </p:nvSpPr>
        <p:spPr>
          <a:xfrm>
            <a:off x="-616" y="-11892"/>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Start inwards: What matters to me?</a:t>
            </a:r>
          </a:p>
        </p:txBody>
      </p:sp>
      <p:sp>
        <p:nvSpPr>
          <p:cNvPr id="4" name="Content Placeholder 2">
            <a:extLst>
              <a:ext uri="{FF2B5EF4-FFF2-40B4-BE49-F238E27FC236}">
                <a16:creationId xmlns:a16="http://schemas.microsoft.com/office/drawing/2014/main" id="{5B2F3B31-8533-C71A-E2E0-FC15945AEBFD}"/>
              </a:ext>
            </a:extLst>
          </p:cNvPr>
          <p:cNvSpPr txBox="1">
            <a:spLocks/>
          </p:cNvSpPr>
          <p:nvPr/>
        </p:nvSpPr>
        <p:spPr>
          <a:xfrm>
            <a:off x="281456" y="1385952"/>
            <a:ext cx="1592816"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Agency </a:t>
            </a:r>
          </a:p>
        </p:txBody>
      </p:sp>
      <p:sp>
        <p:nvSpPr>
          <p:cNvPr id="5" name="Content Placeholder 2">
            <a:extLst>
              <a:ext uri="{FF2B5EF4-FFF2-40B4-BE49-F238E27FC236}">
                <a16:creationId xmlns:a16="http://schemas.microsoft.com/office/drawing/2014/main" id="{B43AC427-21C4-8F73-5A33-92CAF43CB152}"/>
              </a:ext>
            </a:extLst>
          </p:cNvPr>
          <p:cNvSpPr txBox="1">
            <a:spLocks/>
          </p:cNvSpPr>
          <p:nvPr/>
        </p:nvSpPr>
        <p:spPr>
          <a:xfrm>
            <a:off x="1060652" y="4257463"/>
            <a:ext cx="3099629"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Critical thinking </a:t>
            </a:r>
          </a:p>
        </p:txBody>
      </p:sp>
      <p:sp>
        <p:nvSpPr>
          <p:cNvPr id="6" name="Content Placeholder 2">
            <a:extLst>
              <a:ext uri="{FF2B5EF4-FFF2-40B4-BE49-F238E27FC236}">
                <a16:creationId xmlns:a16="http://schemas.microsoft.com/office/drawing/2014/main" id="{FA105573-38AA-3B84-0F9C-8D725D26D9FE}"/>
              </a:ext>
            </a:extLst>
          </p:cNvPr>
          <p:cNvSpPr txBox="1">
            <a:spLocks/>
          </p:cNvSpPr>
          <p:nvPr/>
        </p:nvSpPr>
        <p:spPr>
          <a:xfrm>
            <a:off x="80847" y="3170339"/>
            <a:ext cx="2529619"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Competence </a:t>
            </a:r>
          </a:p>
        </p:txBody>
      </p:sp>
      <p:sp>
        <p:nvSpPr>
          <p:cNvPr id="16" name="Content Placeholder 2">
            <a:extLst>
              <a:ext uri="{FF2B5EF4-FFF2-40B4-BE49-F238E27FC236}">
                <a16:creationId xmlns:a16="http://schemas.microsoft.com/office/drawing/2014/main" id="{E7B46CA9-F8B3-431E-0BDF-64E0B5FFF30C}"/>
              </a:ext>
            </a:extLst>
          </p:cNvPr>
          <p:cNvSpPr txBox="1">
            <a:spLocks/>
          </p:cNvSpPr>
          <p:nvPr/>
        </p:nvSpPr>
        <p:spPr>
          <a:xfrm>
            <a:off x="9736771" y="3801952"/>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Teamwork </a:t>
            </a:r>
          </a:p>
        </p:txBody>
      </p:sp>
      <p:sp>
        <p:nvSpPr>
          <p:cNvPr id="19" name="Content Placeholder 2">
            <a:extLst>
              <a:ext uri="{FF2B5EF4-FFF2-40B4-BE49-F238E27FC236}">
                <a16:creationId xmlns:a16="http://schemas.microsoft.com/office/drawing/2014/main" id="{8A4B9C00-1601-3778-ED64-FA9380156280}"/>
              </a:ext>
            </a:extLst>
          </p:cNvPr>
          <p:cNvSpPr txBox="1">
            <a:spLocks/>
          </p:cNvSpPr>
          <p:nvPr/>
        </p:nvSpPr>
        <p:spPr>
          <a:xfrm>
            <a:off x="536594" y="5302295"/>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Diversity</a:t>
            </a:r>
          </a:p>
        </p:txBody>
      </p:sp>
      <p:sp>
        <p:nvSpPr>
          <p:cNvPr id="20" name="Content Placeholder 2">
            <a:extLst>
              <a:ext uri="{FF2B5EF4-FFF2-40B4-BE49-F238E27FC236}">
                <a16:creationId xmlns:a16="http://schemas.microsoft.com/office/drawing/2014/main" id="{88216E5F-56D4-585B-B174-867587B6715A}"/>
              </a:ext>
            </a:extLst>
          </p:cNvPr>
          <p:cNvSpPr txBox="1">
            <a:spLocks/>
          </p:cNvSpPr>
          <p:nvPr/>
        </p:nvSpPr>
        <p:spPr>
          <a:xfrm>
            <a:off x="1874272" y="1401423"/>
            <a:ext cx="1999059"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Integrity </a:t>
            </a:r>
          </a:p>
        </p:txBody>
      </p:sp>
      <p:sp>
        <p:nvSpPr>
          <p:cNvPr id="21" name="Content Placeholder 2">
            <a:extLst>
              <a:ext uri="{FF2B5EF4-FFF2-40B4-BE49-F238E27FC236}">
                <a16:creationId xmlns:a16="http://schemas.microsoft.com/office/drawing/2014/main" id="{69E50642-6610-4314-3CAD-12999375B61C}"/>
              </a:ext>
            </a:extLst>
          </p:cNvPr>
          <p:cNvSpPr txBox="1">
            <a:spLocks/>
          </p:cNvSpPr>
          <p:nvPr/>
        </p:nvSpPr>
        <p:spPr>
          <a:xfrm>
            <a:off x="10042980" y="5532298"/>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Rigor </a:t>
            </a:r>
          </a:p>
        </p:txBody>
      </p:sp>
      <p:sp>
        <p:nvSpPr>
          <p:cNvPr id="22" name="Content Placeholder 2">
            <a:extLst>
              <a:ext uri="{FF2B5EF4-FFF2-40B4-BE49-F238E27FC236}">
                <a16:creationId xmlns:a16="http://schemas.microsoft.com/office/drawing/2014/main" id="{F1520895-B2ED-39AD-4289-4D7B73CC9863}"/>
              </a:ext>
            </a:extLst>
          </p:cNvPr>
          <p:cNvSpPr txBox="1">
            <a:spLocks/>
          </p:cNvSpPr>
          <p:nvPr/>
        </p:nvSpPr>
        <p:spPr>
          <a:xfrm>
            <a:off x="3449670" y="5582489"/>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Flexibility</a:t>
            </a:r>
          </a:p>
        </p:txBody>
      </p:sp>
      <p:sp>
        <p:nvSpPr>
          <p:cNvPr id="23" name="Content Placeholder 2">
            <a:extLst>
              <a:ext uri="{FF2B5EF4-FFF2-40B4-BE49-F238E27FC236}">
                <a16:creationId xmlns:a16="http://schemas.microsoft.com/office/drawing/2014/main" id="{917415F5-F3F2-F53E-394A-8528EB4C274E}"/>
              </a:ext>
            </a:extLst>
          </p:cNvPr>
          <p:cNvSpPr txBox="1">
            <a:spLocks/>
          </p:cNvSpPr>
          <p:nvPr/>
        </p:nvSpPr>
        <p:spPr>
          <a:xfrm>
            <a:off x="6411698" y="5502153"/>
            <a:ext cx="2639615"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Independence</a:t>
            </a:r>
          </a:p>
        </p:txBody>
      </p:sp>
      <p:sp>
        <p:nvSpPr>
          <p:cNvPr id="24" name="Content Placeholder 2">
            <a:extLst>
              <a:ext uri="{FF2B5EF4-FFF2-40B4-BE49-F238E27FC236}">
                <a16:creationId xmlns:a16="http://schemas.microsoft.com/office/drawing/2014/main" id="{38A47F9D-06E5-1207-BAEF-C57724D1A009}"/>
              </a:ext>
            </a:extLst>
          </p:cNvPr>
          <p:cNvSpPr txBox="1">
            <a:spLocks/>
          </p:cNvSpPr>
          <p:nvPr/>
        </p:nvSpPr>
        <p:spPr>
          <a:xfrm>
            <a:off x="7491717" y="4236093"/>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Creativity </a:t>
            </a:r>
          </a:p>
        </p:txBody>
      </p:sp>
      <p:sp>
        <p:nvSpPr>
          <p:cNvPr id="25" name="Content Placeholder 2">
            <a:extLst>
              <a:ext uri="{FF2B5EF4-FFF2-40B4-BE49-F238E27FC236}">
                <a16:creationId xmlns:a16="http://schemas.microsoft.com/office/drawing/2014/main" id="{49E34B09-16A1-33EF-C986-A50D41748534}"/>
              </a:ext>
            </a:extLst>
          </p:cNvPr>
          <p:cNvSpPr txBox="1">
            <a:spLocks/>
          </p:cNvSpPr>
          <p:nvPr/>
        </p:nvSpPr>
        <p:spPr>
          <a:xfrm>
            <a:off x="7088508" y="1832585"/>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Openness</a:t>
            </a:r>
          </a:p>
        </p:txBody>
      </p:sp>
      <p:sp>
        <p:nvSpPr>
          <p:cNvPr id="26" name="Content Placeholder 2">
            <a:extLst>
              <a:ext uri="{FF2B5EF4-FFF2-40B4-BE49-F238E27FC236}">
                <a16:creationId xmlns:a16="http://schemas.microsoft.com/office/drawing/2014/main" id="{DBC561A7-0852-0A05-4D02-FFF19ABC8A86}"/>
              </a:ext>
            </a:extLst>
          </p:cNvPr>
          <p:cNvSpPr txBox="1">
            <a:spLocks/>
          </p:cNvSpPr>
          <p:nvPr/>
        </p:nvSpPr>
        <p:spPr>
          <a:xfrm>
            <a:off x="7870228" y="2839696"/>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Reflexivity</a:t>
            </a:r>
          </a:p>
        </p:txBody>
      </p:sp>
      <p:sp>
        <p:nvSpPr>
          <p:cNvPr id="27" name="Content Placeholder 2">
            <a:extLst>
              <a:ext uri="{FF2B5EF4-FFF2-40B4-BE49-F238E27FC236}">
                <a16:creationId xmlns:a16="http://schemas.microsoft.com/office/drawing/2014/main" id="{75FA37E0-6539-838D-ECC8-3B7A5099695D}"/>
              </a:ext>
            </a:extLst>
          </p:cNvPr>
          <p:cNvSpPr txBox="1">
            <a:spLocks/>
          </p:cNvSpPr>
          <p:nvPr/>
        </p:nvSpPr>
        <p:spPr>
          <a:xfrm>
            <a:off x="10058708" y="2080922"/>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Efficiency </a:t>
            </a:r>
          </a:p>
        </p:txBody>
      </p:sp>
      <p:grpSp>
        <p:nvGrpSpPr>
          <p:cNvPr id="28" name="Group 27">
            <a:extLst>
              <a:ext uri="{FF2B5EF4-FFF2-40B4-BE49-F238E27FC236}">
                <a16:creationId xmlns:a16="http://schemas.microsoft.com/office/drawing/2014/main" id="{C3657782-8B38-BE74-82F8-E89C66DAB16F}"/>
              </a:ext>
            </a:extLst>
          </p:cNvPr>
          <p:cNvGrpSpPr/>
          <p:nvPr/>
        </p:nvGrpSpPr>
        <p:grpSpPr>
          <a:xfrm>
            <a:off x="10644280" y="6476875"/>
            <a:ext cx="1474613" cy="325672"/>
            <a:chOff x="19317" y="2690018"/>
            <a:chExt cx="11784755" cy="2025180"/>
          </a:xfrm>
        </p:grpSpPr>
        <p:pic>
          <p:nvPicPr>
            <p:cNvPr id="29" name="Picture 2">
              <a:extLst>
                <a:ext uri="{FF2B5EF4-FFF2-40B4-BE49-F238E27FC236}">
                  <a16:creationId xmlns:a16="http://schemas.microsoft.com/office/drawing/2014/main" id="{68A471DC-4948-5273-2A2F-0ADF8FE704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DE4D1214-49AB-A385-E0F1-5AFF4D87002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8C63C312-4C5C-503C-C086-BDE503700E36}"/>
              </a:ext>
            </a:extLst>
          </p:cNvPr>
          <p:cNvSpPr>
            <a:spLocks noGrp="1"/>
          </p:cNvSpPr>
          <p:nvPr>
            <p:ph type="sldNum" sz="quarter" idx="12"/>
          </p:nvPr>
        </p:nvSpPr>
        <p:spPr/>
        <p:txBody>
          <a:bodyPr/>
          <a:lstStyle/>
          <a:p>
            <a:fld id="{D292B180-B274-DE43-B36F-C827C7616C05}" type="slidenum">
              <a:rPr lang="en-US" smtClean="0">
                <a:solidFill>
                  <a:schemeClr val="tx1"/>
                </a:solidFill>
              </a:rPr>
              <a:t>30</a:t>
            </a:fld>
            <a:endParaRPr lang="en-US">
              <a:solidFill>
                <a:schemeClr val="tx1"/>
              </a:solidFill>
            </a:endParaRPr>
          </a:p>
        </p:txBody>
      </p:sp>
      <p:sp>
        <p:nvSpPr>
          <p:cNvPr id="13" name="Oval 12">
            <a:extLst>
              <a:ext uri="{FF2B5EF4-FFF2-40B4-BE49-F238E27FC236}">
                <a16:creationId xmlns:a16="http://schemas.microsoft.com/office/drawing/2014/main" id="{DCED2A03-448B-EAC7-328C-5078BB939C20}"/>
              </a:ext>
            </a:extLst>
          </p:cNvPr>
          <p:cNvSpPr/>
          <p:nvPr/>
        </p:nvSpPr>
        <p:spPr>
          <a:xfrm>
            <a:off x="4217194" y="2373474"/>
            <a:ext cx="2757488" cy="280035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Content Placeholder 2">
            <a:extLst>
              <a:ext uri="{FF2B5EF4-FFF2-40B4-BE49-F238E27FC236}">
                <a16:creationId xmlns:a16="http://schemas.microsoft.com/office/drawing/2014/main" id="{4CEACD3E-C203-D723-8BCA-635378714C94}"/>
              </a:ext>
            </a:extLst>
          </p:cNvPr>
          <p:cNvSpPr txBox="1">
            <a:spLocks/>
          </p:cNvSpPr>
          <p:nvPr/>
        </p:nvSpPr>
        <p:spPr>
          <a:xfrm>
            <a:off x="4943475" y="3493455"/>
            <a:ext cx="1304925"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Values </a:t>
            </a:r>
          </a:p>
        </p:txBody>
      </p:sp>
    </p:spTree>
    <p:extLst>
      <p:ext uri="{BB962C8B-B14F-4D97-AF65-F5344CB8AC3E}">
        <p14:creationId xmlns:p14="http://schemas.microsoft.com/office/powerpoint/2010/main" val="9985343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B9E57D-3720-23E2-60CE-5BAB49716428}"/>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F64985B5-8BDC-817E-62CF-0DD996F30A2D}"/>
              </a:ext>
            </a:extLst>
          </p:cNvPr>
          <p:cNvSpPr txBox="1">
            <a:spLocks/>
          </p:cNvSpPr>
          <p:nvPr/>
        </p:nvSpPr>
        <p:spPr>
          <a:xfrm>
            <a:off x="-616" y="-11892"/>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Start inwards: What matters to me?</a:t>
            </a:r>
          </a:p>
        </p:txBody>
      </p:sp>
      <p:sp>
        <p:nvSpPr>
          <p:cNvPr id="4" name="Content Placeholder 2">
            <a:extLst>
              <a:ext uri="{FF2B5EF4-FFF2-40B4-BE49-F238E27FC236}">
                <a16:creationId xmlns:a16="http://schemas.microsoft.com/office/drawing/2014/main" id="{D4C69127-6701-3B4E-EAAD-852AE8F461AE}"/>
              </a:ext>
            </a:extLst>
          </p:cNvPr>
          <p:cNvSpPr txBox="1">
            <a:spLocks/>
          </p:cNvSpPr>
          <p:nvPr/>
        </p:nvSpPr>
        <p:spPr>
          <a:xfrm>
            <a:off x="281456" y="1385952"/>
            <a:ext cx="1592816"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Agency </a:t>
            </a:r>
          </a:p>
        </p:txBody>
      </p:sp>
      <p:sp>
        <p:nvSpPr>
          <p:cNvPr id="5" name="Content Placeholder 2">
            <a:extLst>
              <a:ext uri="{FF2B5EF4-FFF2-40B4-BE49-F238E27FC236}">
                <a16:creationId xmlns:a16="http://schemas.microsoft.com/office/drawing/2014/main" id="{C61FA783-8553-E85E-97B3-FE6E8AC31533}"/>
              </a:ext>
            </a:extLst>
          </p:cNvPr>
          <p:cNvSpPr txBox="1">
            <a:spLocks/>
          </p:cNvSpPr>
          <p:nvPr/>
        </p:nvSpPr>
        <p:spPr>
          <a:xfrm>
            <a:off x="1060652" y="4257463"/>
            <a:ext cx="3099629"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Critical thinking </a:t>
            </a:r>
          </a:p>
        </p:txBody>
      </p:sp>
      <p:sp>
        <p:nvSpPr>
          <p:cNvPr id="6" name="Content Placeholder 2">
            <a:extLst>
              <a:ext uri="{FF2B5EF4-FFF2-40B4-BE49-F238E27FC236}">
                <a16:creationId xmlns:a16="http://schemas.microsoft.com/office/drawing/2014/main" id="{4B3B672D-47AB-C6C1-7AE6-99DC18E85878}"/>
              </a:ext>
            </a:extLst>
          </p:cNvPr>
          <p:cNvSpPr txBox="1">
            <a:spLocks/>
          </p:cNvSpPr>
          <p:nvPr/>
        </p:nvSpPr>
        <p:spPr>
          <a:xfrm>
            <a:off x="80847" y="3170339"/>
            <a:ext cx="2529619"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Competence </a:t>
            </a:r>
          </a:p>
        </p:txBody>
      </p:sp>
      <p:sp>
        <p:nvSpPr>
          <p:cNvPr id="16" name="Content Placeholder 2">
            <a:extLst>
              <a:ext uri="{FF2B5EF4-FFF2-40B4-BE49-F238E27FC236}">
                <a16:creationId xmlns:a16="http://schemas.microsoft.com/office/drawing/2014/main" id="{ADD85866-6743-17A6-9BA6-1CECF4B4C68E}"/>
              </a:ext>
            </a:extLst>
          </p:cNvPr>
          <p:cNvSpPr txBox="1">
            <a:spLocks/>
          </p:cNvSpPr>
          <p:nvPr/>
        </p:nvSpPr>
        <p:spPr>
          <a:xfrm>
            <a:off x="9736771" y="3801952"/>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Teamwork </a:t>
            </a:r>
          </a:p>
        </p:txBody>
      </p:sp>
      <p:sp>
        <p:nvSpPr>
          <p:cNvPr id="19" name="Content Placeholder 2">
            <a:extLst>
              <a:ext uri="{FF2B5EF4-FFF2-40B4-BE49-F238E27FC236}">
                <a16:creationId xmlns:a16="http://schemas.microsoft.com/office/drawing/2014/main" id="{370098B9-16C7-B845-5016-15FFF965B718}"/>
              </a:ext>
            </a:extLst>
          </p:cNvPr>
          <p:cNvSpPr txBox="1">
            <a:spLocks/>
          </p:cNvSpPr>
          <p:nvPr/>
        </p:nvSpPr>
        <p:spPr>
          <a:xfrm>
            <a:off x="536594" y="5302295"/>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Diversity</a:t>
            </a:r>
          </a:p>
        </p:txBody>
      </p:sp>
      <p:sp>
        <p:nvSpPr>
          <p:cNvPr id="20" name="Content Placeholder 2">
            <a:extLst>
              <a:ext uri="{FF2B5EF4-FFF2-40B4-BE49-F238E27FC236}">
                <a16:creationId xmlns:a16="http://schemas.microsoft.com/office/drawing/2014/main" id="{D8C202BE-EF3D-AF5A-4BB6-E2BBE7D1C99D}"/>
              </a:ext>
            </a:extLst>
          </p:cNvPr>
          <p:cNvSpPr txBox="1">
            <a:spLocks/>
          </p:cNvSpPr>
          <p:nvPr/>
        </p:nvSpPr>
        <p:spPr>
          <a:xfrm>
            <a:off x="1874272" y="1401423"/>
            <a:ext cx="1999059"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Integrity </a:t>
            </a:r>
          </a:p>
        </p:txBody>
      </p:sp>
      <p:sp>
        <p:nvSpPr>
          <p:cNvPr id="21" name="Content Placeholder 2">
            <a:extLst>
              <a:ext uri="{FF2B5EF4-FFF2-40B4-BE49-F238E27FC236}">
                <a16:creationId xmlns:a16="http://schemas.microsoft.com/office/drawing/2014/main" id="{D8B9B8C7-B031-7811-F3B6-6858F4A6E8A5}"/>
              </a:ext>
            </a:extLst>
          </p:cNvPr>
          <p:cNvSpPr txBox="1">
            <a:spLocks/>
          </p:cNvSpPr>
          <p:nvPr/>
        </p:nvSpPr>
        <p:spPr>
          <a:xfrm>
            <a:off x="10042980" y="5532298"/>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Rigor </a:t>
            </a:r>
          </a:p>
        </p:txBody>
      </p:sp>
      <p:sp>
        <p:nvSpPr>
          <p:cNvPr id="22" name="Content Placeholder 2">
            <a:extLst>
              <a:ext uri="{FF2B5EF4-FFF2-40B4-BE49-F238E27FC236}">
                <a16:creationId xmlns:a16="http://schemas.microsoft.com/office/drawing/2014/main" id="{D030174C-A0C9-0137-7981-5899E97CD7C7}"/>
              </a:ext>
            </a:extLst>
          </p:cNvPr>
          <p:cNvSpPr txBox="1">
            <a:spLocks/>
          </p:cNvSpPr>
          <p:nvPr/>
        </p:nvSpPr>
        <p:spPr>
          <a:xfrm>
            <a:off x="3449670" y="5582489"/>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Flexibility</a:t>
            </a:r>
          </a:p>
        </p:txBody>
      </p:sp>
      <p:sp>
        <p:nvSpPr>
          <p:cNvPr id="23" name="Content Placeholder 2">
            <a:extLst>
              <a:ext uri="{FF2B5EF4-FFF2-40B4-BE49-F238E27FC236}">
                <a16:creationId xmlns:a16="http://schemas.microsoft.com/office/drawing/2014/main" id="{9A0AECE7-F315-8AC1-32DB-13620409DAC3}"/>
              </a:ext>
            </a:extLst>
          </p:cNvPr>
          <p:cNvSpPr txBox="1">
            <a:spLocks/>
          </p:cNvSpPr>
          <p:nvPr/>
        </p:nvSpPr>
        <p:spPr>
          <a:xfrm>
            <a:off x="6411698" y="5502153"/>
            <a:ext cx="2639615" cy="56038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Independence</a:t>
            </a:r>
          </a:p>
        </p:txBody>
      </p:sp>
      <p:sp>
        <p:nvSpPr>
          <p:cNvPr id="24" name="Content Placeholder 2">
            <a:extLst>
              <a:ext uri="{FF2B5EF4-FFF2-40B4-BE49-F238E27FC236}">
                <a16:creationId xmlns:a16="http://schemas.microsoft.com/office/drawing/2014/main" id="{27467817-2EF2-B3B9-3C4E-E94754BEAC14}"/>
              </a:ext>
            </a:extLst>
          </p:cNvPr>
          <p:cNvSpPr txBox="1">
            <a:spLocks/>
          </p:cNvSpPr>
          <p:nvPr/>
        </p:nvSpPr>
        <p:spPr>
          <a:xfrm>
            <a:off x="7491717" y="4236093"/>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Creativity </a:t>
            </a:r>
          </a:p>
        </p:txBody>
      </p:sp>
      <p:sp>
        <p:nvSpPr>
          <p:cNvPr id="25" name="Content Placeholder 2">
            <a:extLst>
              <a:ext uri="{FF2B5EF4-FFF2-40B4-BE49-F238E27FC236}">
                <a16:creationId xmlns:a16="http://schemas.microsoft.com/office/drawing/2014/main" id="{E8AD1FC0-A8D3-BB9B-723E-0D9D13D299BC}"/>
              </a:ext>
            </a:extLst>
          </p:cNvPr>
          <p:cNvSpPr txBox="1">
            <a:spLocks/>
          </p:cNvSpPr>
          <p:nvPr/>
        </p:nvSpPr>
        <p:spPr>
          <a:xfrm>
            <a:off x="7088508" y="1832585"/>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Openness</a:t>
            </a:r>
          </a:p>
        </p:txBody>
      </p:sp>
      <p:sp>
        <p:nvSpPr>
          <p:cNvPr id="26" name="Content Placeholder 2">
            <a:extLst>
              <a:ext uri="{FF2B5EF4-FFF2-40B4-BE49-F238E27FC236}">
                <a16:creationId xmlns:a16="http://schemas.microsoft.com/office/drawing/2014/main" id="{E20E9009-BE90-374C-66E4-C571C732205E}"/>
              </a:ext>
            </a:extLst>
          </p:cNvPr>
          <p:cNvSpPr txBox="1">
            <a:spLocks/>
          </p:cNvSpPr>
          <p:nvPr/>
        </p:nvSpPr>
        <p:spPr>
          <a:xfrm>
            <a:off x="7870228" y="2839696"/>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Reflexivity</a:t>
            </a:r>
          </a:p>
        </p:txBody>
      </p:sp>
      <p:sp>
        <p:nvSpPr>
          <p:cNvPr id="27" name="Content Placeholder 2">
            <a:extLst>
              <a:ext uri="{FF2B5EF4-FFF2-40B4-BE49-F238E27FC236}">
                <a16:creationId xmlns:a16="http://schemas.microsoft.com/office/drawing/2014/main" id="{8297AC7D-1575-AAC2-C3CE-797A7B8C7288}"/>
              </a:ext>
            </a:extLst>
          </p:cNvPr>
          <p:cNvSpPr txBox="1">
            <a:spLocks/>
          </p:cNvSpPr>
          <p:nvPr/>
        </p:nvSpPr>
        <p:spPr>
          <a:xfrm>
            <a:off x="10058708" y="2080922"/>
            <a:ext cx="1962150"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tx1">
                    <a:lumMod val="50000"/>
                    <a:lumOff val="50000"/>
                  </a:schemeClr>
                </a:solidFill>
              </a:rPr>
              <a:t>Efficiency </a:t>
            </a:r>
          </a:p>
        </p:txBody>
      </p:sp>
      <p:grpSp>
        <p:nvGrpSpPr>
          <p:cNvPr id="28" name="Group 27">
            <a:extLst>
              <a:ext uri="{FF2B5EF4-FFF2-40B4-BE49-F238E27FC236}">
                <a16:creationId xmlns:a16="http://schemas.microsoft.com/office/drawing/2014/main" id="{4B3941FA-6E15-FCCD-ADCA-7FCEB7D6AEEB}"/>
              </a:ext>
            </a:extLst>
          </p:cNvPr>
          <p:cNvGrpSpPr/>
          <p:nvPr/>
        </p:nvGrpSpPr>
        <p:grpSpPr>
          <a:xfrm>
            <a:off x="10644280" y="6476875"/>
            <a:ext cx="1474613" cy="325672"/>
            <a:chOff x="19317" y="2690018"/>
            <a:chExt cx="11784755" cy="2025180"/>
          </a:xfrm>
        </p:grpSpPr>
        <p:pic>
          <p:nvPicPr>
            <p:cNvPr id="29" name="Picture 2">
              <a:extLst>
                <a:ext uri="{FF2B5EF4-FFF2-40B4-BE49-F238E27FC236}">
                  <a16:creationId xmlns:a16="http://schemas.microsoft.com/office/drawing/2014/main" id="{1CF0C5B4-49AF-8271-36DB-5807B83006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FEF6C64B-C563-C833-89CA-2FE7C1AF4FC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C5717FB0-C3E3-6C85-7A49-B9FCBF6CBCAC}"/>
              </a:ext>
            </a:extLst>
          </p:cNvPr>
          <p:cNvSpPr>
            <a:spLocks noGrp="1"/>
          </p:cNvSpPr>
          <p:nvPr>
            <p:ph type="sldNum" sz="quarter" idx="12"/>
          </p:nvPr>
        </p:nvSpPr>
        <p:spPr/>
        <p:txBody>
          <a:bodyPr/>
          <a:lstStyle/>
          <a:p>
            <a:fld id="{D292B180-B274-DE43-B36F-C827C7616C05}" type="slidenum">
              <a:rPr lang="en-US" smtClean="0">
                <a:solidFill>
                  <a:schemeClr val="tx1">
                    <a:lumMod val="50000"/>
                    <a:lumOff val="50000"/>
                  </a:schemeClr>
                </a:solidFill>
              </a:rPr>
              <a:t>31</a:t>
            </a:fld>
            <a:endParaRPr lang="en-US">
              <a:solidFill>
                <a:schemeClr val="tx1">
                  <a:lumMod val="50000"/>
                  <a:lumOff val="50000"/>
                </a:schemeClr>
              </a:solidFill>
            </a:endParaRPr>
          </a:p>
        </p:txBody>
      </p:sp>
      <p:sp>
        <p:nvSpPr>
          <p:cNvPr id="8" name="Content Placeholder 2">
            <a:extLst>
              <a:ext uri="{FF2B5EF4-FFF2-40B4-BE49-F238E27FC236}">
                <a16:creationId xmlns:a16="http://schemas.microsoft.com/office/drawing/2014/main" id="{4B7A99A5-758E-CC43-2B74-66211418D243}"/>
              </a:ext>
            </a:extLst>
          </p:cNvPr>
          <p:cNvSpPr txBox="1">
            <a:spLocks/>
          </p:cNvSpPr>
          <p:nvPr/>
        </p:nvSpPr>
        <p:spPr>
          <a:xfrm>
            <a:off x="1874272" y="1792587"/>
            <a:ext cx="3338544"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Showcasing ethical and responsible research  </a:t>
            </a:r>
          </a:p>
        </p:txBody>
      </p:sp>
      <p:sp>
        <p:nvSpPr>
          <p:cNvPr id="13" name="Oval 12">
            <a:extLst>
              <a:ext uri="{FF2B5EF4-FFF2-40B4-BE49-F238E27FC236}">
                <a16:creationId xmlns:a16="http://schemas.microsoft.com/office/drawing/2014/main" id="{62C5D5E9-768F-BC54-5406-D1509CDBB5C3}"/>
              </a:ext>
            </a:extLst>
          </p:cNvPr>
          <p:cNvSpPr/>
          <p:nvPr/>
        </p:nvSpPr>
        <p:spPr>
          <a:xfrm>
            <a:off x="4217194" y="2373474"/>
            <a:ext cx="2757488" cy="280035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50000"/>
                  <a:lumOff val="50000"/>
                </a:schemeClr>
              </a:solidFill>
            </a:endParaRPr>
          </a:p>
        </p:txBody>
      </p:sp>
      <p:sp>
        <p:nvSpPr>
          <p:cNvPr id="14" name="Content Placeholder 2">
            <a:extLst>
              <a:ext uri="{FF2B5EF4-FFF2-40B4-BE49-F238E27FC236}">
                <a16:creationId xmlns:a16="http://schemas.microsoft.com/office/drawing/2014/main" id="{F75A309E-7B03-2250-B1B4-D87DFD16658D}"/>
              </a:ext>
            </a:extLst>
          </p:cNvPr>
          <p:cNvSpPr txBox="1">
            <a:spLocks/>
          </p:cNvSpPr>
          <p:nvPr/>
        </p:nvSpPr>
        <p:spPr>
          <a:xfrm>
            <a:off x="4943475" y="3493455"/>
            <a:ext cx="1304925" cy="56038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b="1" dirty="0"/>
              <a:t>Values</a:t>
            </a:r>
            <a:r>
              <a:rPr lang="en-US" b="1" dirty="0">
                <a:solidFill>
                  <a:schemeClr val="tx1">
                    <a:lumMod val="50000"/>
                    <a:lumOff val="50000"/>
                  </a:schemeClr>
                </a:solidFill>
              </a:rPr>
              <a:t> </a:t>
            </a:r>
          </a:p>
        </p:txBody>
      </p:sp>
    </p:spTree>
    <p:extLst>
      <p:ext uri="{BB962C8B-B14F-4D97-AF65-F5344CB8AC3E}">
        <p14:creationId xmlns:p14="http://schemas.microsoft.com/office/powerpoint/2010/main" val="2554885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Oval 13">
            <a:extLst>
              <a:ext uri="{FF2B5EF4-FFF2-40B4-BE49-F238E27FC236}">
                <a16:creationId xmlns:a16="http://schemas.microsoft.com/office/drawing/2014/main" id="{9DBADB0F-C2F1-63E5-7ED9-9A0A175C9292}"/>
              </a:ext>
            </a:extLst>
          </p:cNvPr>
          <p:cNvSpPr/>
          <p:nvPr/>
        </p:nvSpPr>
        <p:spPr>
          <a:xfrm>
            <a:off x="8486777" y="2325056"/>
            <a:ext cx="2757488" cy="2800350"/>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Oval 12">
            <a:extLst>
              <a:ext uri="{FF2B5EF4-FFF2-40B4-BE49-F238E27FC236}">
                <a16:creationId xmlns:a16="http://schemas.microsoft.com/office/drawing/2014/main" id="{1C719EED-C21D-F7B8-D724-30EC33EFA102}"/>
              </a:ext>
            </a:extLst>
          </p:cNvPr>
          <p:cNvSpPr/>
          <p:nvPr/>
        </p:nvSpPr>
        <p:spPr>
          <a:xfrm>
            <a:off x="6467476" y="2373474"/>
            <a:ext cx="2757488" cy="28003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AE923F2F-D85F-8FD4-FAA0-AD9C224519D9}"/>
              </a:ext>
            </a:extLst>
          </p:cNvPr>
          <p:cNvSpPr txBox="1">
            <a:spLocks/>
          </p:cNvSpPr>
          <p:nvPr/>
        </p:nvSpPr>
        <p:spPr>
          <a:xfrm>
            <a:off x="801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Values shape actions</a:t>
            </a:r>
          </a:p>
        </p:txBody>
      </p:sp>
      <p:sp>
        <p:nvSpPr>
          <p:cNvPr id="7" name="Oval 6">
            <a:extLst>
              <a:ext uri="{FF2B5EF4-FFF2-40B4-BE49-F238E27FC236}">
                <a16:creationId xmlns:a16="http://schemas.microsoft.com/office/drawing/2014/main" id="{1745DEE5-46E3-06D2-B51B-ECF32855237B}"/>
              </a:ext>
            </a:extLst>
          </p:cNvPr>
          <p:cNvSpPr/>
          <p:nvPr/>
        </p:nvSpPr>
        <p:spPr>
          <a:xfrm>
            <a:off x="4217194" y="2373474"/>
            <a:ext cx="2757488" cy="280035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087D9960-5DE9-F284-08D0-4E18DFAF8B20}"/>
              </a:ext>
            </a:extLst>
          </p:cNvPr>
          <p:cNvSpPr>
            <a:spLocks noGrp="1"/>
          </p:cNvSpPr>
          <p:nvPr>
            <p:ph idx="1"/>
          </p:nvPr>
        </p:nvSpPr>
        <p:spPr>
          <a:xfrm>
            <a:off x="4943475" y="3493455"/>
            <a:ext cx="1304925" cy="560388"/>
          </a:xfrm>
        </p:spPr>
        <p:txBody>
          <a:bodyPr/>
          <a:lstStyle/>
          <a:p>
            <a:pPr marL="0" indent="0">
              <a:buNone/>
            </a:pPr>
            <a:r>
              <a:rPr lang="en-US" b="1" dirty="0"/>
              <a:t>Values </a:t>
            </a:r>
          </a:p>
        </p:txBody>
      </p:sp>
      <p:sp>
        <p:nvSpPr>
          <p:cNvPr id="15" name="Content Placeholder 2">
            <a:extLst>
              <a:ext uri="{FF2B5EF4-FFF2-40B4-BE49-F238E27FC236}">
                <a16:creationId xmlns:a16="http://schemas.microsoft.com/office/drawing/2014/main" id="{FD0C4253-A5E3-5E19-511E-8ABA7FD657ED}"/>
              </a:ext>
            </a:extLst>
          </p:cNvPr>
          <p:cNvSpPr txBox="1">
            <a:spLocks/>
          </p:cNvSpPr>
          <p:nvPr/>
        </p:nvSpPr>
        <p:spPr>
          <a:xfrm>
            <a:off x="6743701" y="3012818"/>
            <a:ext cx="2250282" cy="1521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Goals</a:t>
            </a:r>
          </a:p>
          <a:p>
            <a:pPr marL="0" indent="0" algn="ctr">
              <a:buFont typeface="Arial" panose="020B0604020202020204" pitchFamily="34" charset="0"/>
              <a:buNone/>
            </a:pPr>
            <a:r>
              <a:rPr lang="en-US" b="1" dirty="0"/>
              <a:t> &amp;</a:t>
            </a:r>
          </a:p>
          <a:p>
            <a:pPr marL="0" indent="0" algn="ctr">
              <a:buFont typeface="Arial" panose="020B0604020202020204" pitchFamily="34" charset="0"/>
              <a:buNone/>
            </a:pPr>
            <a:r>
              <a:rPr lang="en-US" b="1" dirty="0"/>
              <a:t>Culture </a:t>
            </a:r>
          </a:p>
        </p:txBody>
      </p:sp>
      <p:sp>
        <p:nvSpPr>
          <p:cNvPr id="17" name="Content Placeholder 2">
            <a:extLst>
              <a:ext uri="{FF2B5EF4-FFF2-40B4-BE49-F238E27FC236}">
                <a16:creationId xmlns:a16="http://schemas.microsoft.com/office/drawing/2014/main" id="{C75EF374-552F-3925-174F-BB5C64A57DAD}"/>
              </a:ext>
            </a:extLst>
          </p:cNvPr>
          <p:cNvSpPr txBox="1">
            <a:spLocks/>
          </p:cNvSpPr>
          <p:nvPr/>
        </p:nvSpPr>
        <p:spPr>
          <a:xfrm>
            <a:off x="8935648" y="2964400"/>
            <a:ext cx="2308618" cy="15216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Outcomes </a:t>
            </a:r>
          </a:p>
          <a:p>
            <a:pPr marL="0" indent="0" algn="ctr">
              <a:buFont typeface="Arial" panose="020B0604020202020204" pitchFamily="34" charset="0"/>
              <a:buNone/>
            </a:pPr>
            <a:r>
              <a:rPr lang="en-US" b="1" dirty="0"/>
              <a:t>&amp;</a:t>
            </a:r>
          </a:p>
          <a:p>
            <a:pPr marL="0" indent="0" algn="ctr">
              <a:buFont typeface="Arial" panose="020B0604020202020204" pitchFamily="34" charset="0"/>
              <a:buNone/>
            </a:pPr>
            <a:r>
              <a:rPr lang="en-US" b="1" dirty="0"/>
              <a:t>Impact </a:t>
            </a:r>
          </a:p>
        </p:txBody>
      </p:sp>
      <p:sp>
        <p:nvSpPr>
          <p:cNvPr id="18" name="TextBox 17">
            <a:extLst>
              <a:ext uri="{FF2B5EF4-FFF2-40B4-BE49-F238E27FC236}">
                <a16:creationId xmlns:a16="http://schemas.microsoft.com/office/drawing/2014/main" id="{95980B76-7C80-1CC4-590A-2EA6F16EB5AC}"/>
              </a:ext>
            </a:extLst>
          </p:cNvPr>
          <p:cNvSpPr txBox="1"/>
          <p:nvPr/>
        </p:nvSpPr>
        <p:spPr>
          <a:xfrm>
            <a:off x="4129204" y="6423032"/>
            <a:ext cx="6500241" cy="369332"/>
          </a:xfrm>
          <a:prstGeom prst="rect">
            <a:avLst/>
          </a:prstGeom>
          <a:noFill/>
        </p:spPr>
        <p:txBody>
          <a:bodyPr wrap="none" rtlCol="0">
            <a:spAutoFit/>
          </a:bodyPr>
          <a:lstStyle/>
          <a:p>
            <a:r>
              <a:rPr lang="en-US" dirty="0">
                <a:solidFill>
                  <a:schemeClr val="bg1">
                    <a:lumMod val="50000"/>
                  </a:schemeClr>
                </a:solidFill>
              </a:rPr>
              <a:t>Adapted from </a:t>
            </a:r>
            <a:r>
              <a:rPr lang="en-US" dirty="0">
                <a:solidFill>
                  <a:schemeClr val="bg1">
                    <a:lumMod val="50000"/>
                  </a:schemeClr>
                </a:solidFill>
                <a:hlinkClick r:id="rId3"/>
              </a:rPr>
              <a:t>Centre for Teaching Support and Innovation (2026)</a:t>
            </a:r>
            <a:endParaRPr lang="en-US" dirty="0">
              <a:solidFill>
                <a:schemeClr val="bg1">
                  <a:lumMod val="50000"/>
                </a:schemeClr>
              </a:solidFill>
            </a:endParaRPr>
          </a:p>
        </p:txBody>
      </p:sp>
      <p:grpSp>
        <p:nvGrpSpPr>
          <p:cNvPr id="19" name="Group 18">
            <a:extLst>
              <a:ext uri="{FF2B5EF4-FFF2-40B4-BE49-F238E27FC236}">
                <a16:creationId xmlns:a16="http://schemas.microsoft.com/office/drawing/2014/main" id="{60346E6D-FB87-35CD-6779-055167A4F4D3}"/>
              </a:ext>
            </a:extLst>
          </p:cNvPr>
          <p:cNvGrpSpPr/>
          <p:nvPr/>
        </p:nvGrpSpPr>
        <p:grpSpPr>
          <a:xfrm>
            <a:off x="10644280" y="6476875"/>
            <a:ext cx="1474613" cy="325672"/>
            <a:chOff x="19317" y="2690018"/>
            <a:chExt cx="11784755" cy="2025180"/>
          </a:xfrm>
        </p:grpSpPr>
        <p:pic>
          <p:nvPicPr>
            <p:cNvPr id="20" name="Picture 2">
              <a:extLst>
                <a:ext uri="{FF2B5EF4-FFF2-40B4-BE49-F238E27FC236}">
                  <a16:creationId xmlns:a16="http://schemas.microsoft.com/office/drawing/2014/main" id="{C03B811E-6070-BC19-01BF-BFE9BCD411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19D07FD1-009E-5872-B45A-02A7AFFB4E16}"/>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731858B6-0189-A1AC-5E50-6820E2EABCF3}"/>
              </a:ext>
            </a:extLst>
          </p:cNvPr>
          <p:cNvSpPr>
            <a:spLocks noGrp="1"/>
          </p:cNvSpPr>
          <p:nvPr>
            <p:ph type="sldNum" sz="quarter" idx="12"/>
          </p:nvPr>
        </p:nvSpPr>
        <p:spPr/>
        <p:txBody>
          <a:bodyPr/>
          <a:lstStyle/>
          <a:p>
            <a:fld id="{D292B180-B274-DE43-B36F-C827C7616C05}" type="slidenum">
              <a:rPr lang="en-US" smtClean="0"/>
              <a:t>32</a:t>
            </a:fld>
            <a:endParaRPr lang="en-US"/>
          </a:p>
        </p:txBody>
      </p:sp>
    </p:spTree>
    <p:extLst>
      <p:ext uri="{BB962C8B-B14F-4D97-AF65-F5344CB8AC3E}">
        <p14:creationId xmlns:p14="http://schemas.microsoft.com/office/powerpoint/2010/main" val="288088180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7BBE1-0A56-9CE3-15AD-B88D21E29B6F}"/>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5B148914-09A9-6773-10E6-7CB8DF58B7EF}"/>
              </a:ext>
            </a:extLst>
          </p:cNvPr>
          <p:cNvSpPr/>
          <p:nvPr/>
        </p:nvSpPr>
        <p:spPr>
          <a:xfrm>
            <a:off x="1915885" y="4940996"/>
            <a:ext cx="8647559" cy="1739909"/>
          </a:xfrm>
          <a:prstGeom prst="rect">
            <a:avLst/>
          </a:prstGeom>
          <a:solidFill>
            <a:srgbClr val="0070C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8260906B-40E1-D593-7BEA-19C2CA7CA365}"/>
              </a:ext>
            </a:extLst>
          </p:cNvPr>
          <p:cNvSpPr/>
          <p:nvPr/>
        </p:nvSpPr>
        <p:spPr>
          <a:xfrm>
            <a:off x="2214221" y="3264118"/>
            <a:ext cx="8349223" cy="1489599"/>
          </a:xfrm>
          <a:prstGeom prst="rect">
            <a:avLst/>
          </a:prstGeom>
          <a:solidFill>
            <a:schemeClr val="accent2">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13ADBECF-E6B5-5FAC-902D-E21F25EB78CB}"/>
              </a:ext>
            </a:extLst>
          </p:cNvPr>
          <p:cNvSpPr/>
          <p:nvPr/>
        </p:nvSpPr>
        <p:spPr>
          <a:xfrm>
            <a:off x="2159118" y="1353526"/>
            <a:ext cx="8404326" cy="1744075"/>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0D5CD733-9B71-EA31-860E-7F3B71317BFD}"/>
              </a:ext>
            </a:extLst>
          </p:cNvPr>
          <p:cNvSpPr txBox="1">
            <a:spLocks/>
          </p:cNvSpPr>
          <p:nvPr/>
        </p:nvSpPr>
        <p:spPr>
          <a:xfrm>
            <a:off x="0" y="11366"/>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Values shape actions</a:t>
            </a:r>
          </a:p>
        </p:txBody>
      </p:sp>
      <p:grpSp>
        <p:nvGrpSpPr>
          <p:cNvPr id="19" name="Group 18">
            <a:extLst>
              <a:ext uri="{FF2B5EF4-FFF2-40B4-BE49-F238E27FC236}">
                <a16:creationId xmlns:a16="http://schemas.microsoft.com/office/drawing/2014/main" id="{F0D44D1E-DA26-EBE9-5BB6-8BBABA276A58}"/>
              </a:ext>
            </a:extLst>
          </p:cNvPr>
          <p:cNvGrpSpPr/>
          <p:nvPr/>
        </p:nvGrpSpPr>
        <p:grpSpPr>
          <a:xfrm>
            <a:off x="10644280" y="6476875"/>
            <a:ext cx="1474613" cy="325672"/>
            <a:chOff x="19317" y="2690018"/>
            <a:chExt cx="11784755" cy="2025180"/>
          </a:xfrm>
        </p:grpSpPr>
        <p:pic>
          <p:nvPicPr>
            <p:cNvPr id="20" name="Picture 2">
              <a:extLst>
                <a:ext uri="{FF2B5EF4-FFF2-40B4-BE49-F238E27FC236}">
                  <a16:creationId xmlns:a16="http://schemas.microsoft.com/office/drawing/2014/main" id="{D2D41CBB-DC54-2571-254A-E110A9A46F3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DC52A8DE-EECF-0452-731A-BFD6C7A835B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E4C5DB30-C280-7A96-C379-69039CB514AD}"/>
              </a:ext>
            </a:extLst>
          </p:cNvPr>
          <p:cNvSpPr>
            <a:spLocks noGrp="1"/>
          </p:cNvSpPr>
          <p:nvPr>
            <p:ph type="sldNum" sz="quarter" idx="12"/>
          </p:nvPr>
        </p:nvSpPr>
        <p:spPr/>
        <p:txBody>
          <a:bodyPr/>
          <a:lstStyle/>
          <a:p>
            <a:fld id="{D292B180-B274-DE43-B36F-C827C7616C05}" type="slidenum">
              <a:rPr lang="en-US" smtClean="0"/>
              <a:t>33</a:t>
            </a:fld>
            <a:endParaRPr lang="en-US"/>
          </a:p>
        </p:txBody>
      </p:sp>
      <p:sp>
        <p:nvSpPr>
          <p:cNvPr id="4" name="TextBox 3">
            <a:extLst>
              <a:ext uri="{FF2B5EF4-FFF2-40B4-BE49-F238E27FC236}">
                <a16:creationId xmlns:a16="http://schemas.microsoft.com/office/drawing/2014/main" id="{3E11BFA2-6DB1-C705-4E13-7110AEDE94A9}"/>
              </a:ext>
            </a:extLst>
          </p:cNvPr>
          <p:cNvSpPr txBox="1"/>
          <p:nvPr/>
        </p:nvSpPr>
        <p:spPr>
          <a:xfrm>
            <a:off x="3125131" y="1486427"/>
            <a:ext cx="231154" cy="369332"/>
          </a:xfrm>
          <a:prstGeom prst="rect">
            <a:avLst/>
          </a:prstGeom>
          <a:noFill/>
        </p:spPr>
        <p:txBody>
          <a:bodyPr wrap="none" rtlCol="0">
            <a:spAutoFit/>
          </a:bodyPr>
          <a:lstStyle/>
          <a:p>
            <a:r>
              <a:rPr lang="en-US" b="1" dirty="0"/>
              <a:t> </a:t>
            </a:r>
          </a:p>
        </p:txBody>
      </p:sp>
      <p:sp>
        <p:nvSpPr>
          <p:cNvPr id="5" name="Content Placeholder 2">
            <a:extLst>
              <a:ext uri="{FF2B5EF4-FFF2-40B4-BE49-F238E27FC236}">
                <a16:creationId xmlns:a16="http://schemas.microsoft.com/office/drawing/2014/main" id="{7D9E183D-804F-3E8B-1B30-EBF8254B8AF9}"/>
              </a:ext>
            </a:extLst>
          </p:cNvPr>
          <p:cNvSpPr txBox="1">
            <a:spLocks/>
          </p:cNvSpPr>
          <p:nvPr/>
        </p:nvSpPr>
        <p:spPr>
          <a:xfrm>
            <a:off x="2900722" y="1905730"/>
            <a:ext cx="7679938"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Value: </a:t>
            </a:r>
            <a:r>
              <a:rPr lang="en-US" sz="2400" b="1" dirty="0"/>
              <a:t>Integrity</a:t>
            </a:r>
            <a:r>
              <a:rPr lang="en-US" sz="2400" dirty="0"/>
              <a:t>.</a:t>
            </a:r>
            <a:r>
              <a:rPr lang="en-US" sz="2400" b="1" dirty="0"/>
              <a:t> </a:t>
            </a:r>
            <a:r>
              <a:rPr lang="en-US" sz="2400" dirty="0"/>
              <a:t>Showcasing ethical and responsible research.  </a:t>
            </a:r>
          </a:p>
        </p:txBody>
      </p:sp>
      <p:sp>
        <p:nvSpPr>
          <p:cNvPr id="31" name="Oval 30">
            <a:extLst>
              <a:ext uri="{FF2B5EF4-FFF2-40B4-BE49-F238E27FC236}">
                <a16:creationId xmlns:a16="http://schemas.microsoft.com/office/drawing/2014/main" id="{946AF654-2AAF-34C0-85A0-95994254DB6F}"/>
              </a:ext>
            </a:extLst>
          </p:cNvPr>
          <p:cNvSpPr/>
          <p:nvPr/>
        </p:nvSpPr>
        <p:spPr>
          <a:xfrm>
            <a:off x="143234" y="4046284"/>
            <a:ext cx="2757488" cy="2800350"/>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1E883998-87ED-5B80-9FE0-9C9C87815C65}"/>
              </a:ext>
            </a:extLst>
          </p:cNvPr>
          <p:cNvSpPr/>
          <p:nvPr/>
        </p:nvSpPr>
        <p:spPr>
          <a:xfrm>
            <a:off x="110696" y="2803145"/>
            <a:ext cx="2757488" cy="28003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C8EE5C7-ABF0-50A6-E533-3EC1C852C05F}"/>
              </a:ext>
            </a:extLst>
          </p:cNvPr>
          <p:cNvSpPr/>
          <p:nvPr/>
        </p:nvSpPr>
        <p:spPr>
          <a:xfrm>
            <a:off x="42042" y="1010773"/>
            <a:ext cx="2757488" cy="280035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Content Placeholder 2">
            <a:extLst>
              <a:ext uri="{FF2B5EF4-FFF2-40B4-BE49-F238E27FC236}">
                <a16:creationId xmlns:a16="http://schemas.microsoft.com/office/drawing/2014/main" id="{71022609-DC84-AED8-7DCC-72A09DA82AFE}"/>
              </a:ext>
            </a:extLst>
          </p:cNvPr>
          <p:cNvSpPr>
            <a:spLocks noGrp="1"/>
          </p:cNvSpPr>
          <p:nvPr>
            <p:ph idx="1"/>
          </p:nvPr>
        </p:nvSpPr>
        <p:spPr>
          <a:xfrm>
            <a:off x="836977" y="2194060"/>
            <a:ext cx="1304925" cy="560388"/>
          </a:xfrm>
        </p:spPr>
        <p:txBody>
          <a:bodyPr/>
          <a:lstStyle/>
          <a:p>
            <a:pPr marL="0" indent="0">
              <a:buNone/>
            </a:pPr>
            <a:r>
              <a:rPr lang="en-US" b="1" dirty="0"/>
              <a:t>Values </a:t>
            </a:r>
          </a:p>
        </p:txBody>
      </p:sp>
      <p:sp>
        <p:nvSpPr>
          <p:cNvPr id="35" name="Content Placeholder 2">
            <a:extLst>
              <a:ext uri="{FF2B5EF4-FFF2-40B4-BE49-F238E27FC236}">
                <a16:creationId xmlns:a16="http://schemas.microsoft.com/office/drawing/2014/main" id="{2E49B004-85FA-E65F-8C38-7BE1B806AEFD}"/>
              </a:ext>
            </a:extLst>
          </p:cNvPr>
          <p:cNvSpPr txBox="1">
            <a:spLocks/>
          </p:cNvSpPr>
          <p:nvPr/>
        </p:nvSpPr>
        <p:spPr>
          <a:xfrm>
            <a:off x="364298" y="3877164"/>
            <a:ext cx="2250282" cy="1521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Goals</a:t>
            </a:r>
          </a:p>
          <a:p>
            <a:pPr marL="0" indent="0" algn="ctr">
              <a:buFont typeface="Arial" panose="020B0604020202020204" pitchFamily="34" charset="0"/>
              <a:buNone/>
            </a:pPr>
            <a:r>
              <a:rPr lang="en-US" b="1" dirty="0"/>
              <a:t> &amp; Culture </a:t>
            </a:r>
          </a:p>
        </p:txBody>
      </p:sp>
      <p:sp>
        <p:nvSpPr>
          <p:cNvPr id="36" name="Content Placeholder 2">
            <a:extLst>
              <a:ext uri="{FF2B5EF4-FFF2-40B4-BE49-F238E27FC236}">
                <a16:creationId xmlns:a16="http://schemas.microsoft.com/office/drawing/2014/main" id="{275EF6A8-E5DC-09E5-865D-06B83B1AC441}"/>
              </a:ext>
            </a:extLst>
          </p:cNvPr>
          <p:cNvSpPr txBox="1">
            <a:spLocks/>
          </p:cNvSpPr>
          <p:nvPr/>
        </p:nvSpPr>
        <p:spPr>
          <a:xfrm>
            <a:off x="347975" y="5591105"/>
            <a:ext cx="2308618" cy="15216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Outcomes </a:t>
            </a:r>
          </a:p>
          <a:p>
            <a:pPr marL="0" indent="0" algn="ctr">
              <a:buFont typeface="Arial" panose="020B0604020202020204" pitchFamily="34" charset="0"/>
              <a:buNone/>
            </a:pPr>
            <a:r>
              <a:rPr lang="en-US" b="1" dirty="0"/>
              <a:t>&amp; Impact </a:t>
            </a:r>
          </a:p>
        </p:txBody>
      </p:sp>
    </p:spTree>
    <p:extLst>
      <p:ext uri="{BB962C8B-B14F-4D97-AF65-F5344CB8AC3E}">
        <p14:creationId xmlns:p14="http://schemas.microsoft.com/office/powerpoint/2010/main" val="31098370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CF6B4-1810-D2DC-D262-CD9A4445F2DE}"/>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4951C688-F321-75E4-D642-FFB851FF348D}"/>
              </a:ext>
            </a:extLst>
          </p:cNvPr>
          <p:cNvSpPr/>
          <p:nvPr/>
        </p:nvSpPr>
        <p:spPr>
          <a:xfrm>
            <a:off x="1915885" y="4940996"/>
            <a:ext cx="8647559" cy="1739909"/>
          </a:xfrm>
          <a:prstGeom prst="rect">
            <a:avLst/>
          </a:prstGeom>
          <a:solidFill>
            <a:srgbClr val="0070C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93E12023-A232-10C9-204B-60BDA3A6563F}"/>
              </a:ext>
            </a:extLst>
          </p:cNvPr>
          <p:cNvSpPr/>
          <p:nvPr/>
        </p:nvSpPr>
        <p:spPr>
          <a:xfrm>
            <a:off x="2214221" y="3264118"/>
            <a:ext cx="8349223" cy="1489599"/>
          </a:xfrm>
          <a:prstGeom prst="rect">
            <a:avLst/>
          </a:prstGeom>
          <a:solidFill>
            <a:schemeClr val="accent2">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2E2AF773-5620-FDE0-03F9-4DAB0D088BB5}"/>
              </a:ext>
            </a:extLst>
          </p:cNvPr>
          <p:cNvSpPr/>
          <p:nvPr/>
        </p:nvSpPr>
        <p:spPr>
          <a:xfrm>
            <a:off x="2159118" y="1353526"/>
            <a:ext cx="8404326" cy="1744075"/>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F6F49D1E-83FD-4E75-B1D2-3D24DBF62A0E}"/>
              </a:ext>
            </a:extLst>
          </p:cNvPr>
          <p:cNvSpPr txBox="1">
            <a:spLocks/>
          </p:cNvSpPr>
          <p:nvPr/>
        </p:nvSpPr>
        <p:spPr>
          <a:xfrm>
            <a:off x="0" y="11366"/>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Values shape goals and culture</a:t>
            </a:r>
          </a:p>
        </p:txBody>
      </p:sp>
      <p:grpSp>
        <p:nvGrpSpPr>
          <p:cNvPr id="19" name="Group 18">
            <a:extLst>
              <a:ext uri="{FF2B5EF4-FFF2-40B4-BE49-F238E27FC236}">
                <a16:creationId xmlns:a16="http://schemas.microsoft.com/office/drawing/2014/main" id="{A9FD7C70-3B32-3E30-1851-A3F147F32285}"/>
              </a:ext>
            </a:extLst>
          </p:cNvPr>
          <p:cNvGrpSpPr/>
          <p:nvPr/>
        </p:nvGrpSpPr>
        <p:grpSpPr>
          <a:xfrm>
            <a:off x="10644280" y="6476875"/>
            <a:ext cx="1474613" cy="325672"/>
            <a:chOff x="19317" y="2690018"/>
            <a:chExt cx="11784755" cy="2025180"/>
          </a:xfrm>
        </p:grpSpPr>
        <p:pic>
          <p:nvPicPr>
            <p:cNvPr id="20" name="Picture 2">
              <a:extLst>
                <a:ext uri="{FF2B5EF4-FFF2-40B4-BE49-F238E27FC236}">
                  <a16:creationId xmlns:a16="http://schemas.microsoft.com/office/drawing/2014/main" id="{47467327-49C1-7F96-F2B8-D720103952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DA92E29E-8147-3451-F6BF-409AB768AB7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96D9D5A3-9A5C-DCC5-00B1-B905C0184EA1}"/>
              </a:ext>
            </a:extLst>
          </p:cNvPr>
          <p:cNvSpPr>
            <a:spLocks noGrp="1"/>
          </p:cNvSpPr>
          <p:nvPr>
            <p:ph type="sldNum" sz="quarter" idx="12"/>
          </p:nvPr>
        </p:nvSpPr>
        <p:spPr/>
        <p:txBody>
          <a:bodyPr/>
          <a:lstStyle/>
          <a:p>
            <a:fld id="{D292B180-B274-DE43-B36F-C827C7616C05}" type="slidenum">
              <a:rPr lang="en-US" smtClean="0"/>
              <a:t>34</a:t>
            </a:fld>
            <a:endParaRPr lang="en-US"/>
          </a:p>
        </p:txBody>
      </p:sp>
      <p:sp>
        <p:nvSpPr>
          <p:cNvPr id="4" name="TextBox 3">
            <a:extLst>
              <a:ext uri="{FF2B5EF4-FFF2-40B4-BE49-F238E27FC236}">
                <a16:creationId xmlns:a16="http://schemas.microsoft.com/office/drawing/2014/main" id="{8900728D-618D-AFAC-F95B-84888ABF68DB}"/>
              </a:ext>
            </a:extLst>
          </p:cNvPr>
          <p:cNvSpPr txBox="1"/>
          <p:nvPr/>
        </p:nvSpPr>
        <p:spPr>
          <a:xfrm>
            <a:off x="3125131" y="1486427"/>
            <a:ext cx="231154" cy="369332"/>
          </a:xfrm>
          <a:prstGeom prst="rect">
            <a:avLst/>
          </a:prstGeom>
          <a:noFill/>
        </p:spPr>
        <p:txBody>
          <a:bodyPr wrap="none" rtlCol="0">
            <a:spAutoFit/>
          </a:bodyPr>
          <a:lstStyle/>
          <a:p>
            <a:r>
              <a:rPr lang="en-US" b="1" dirty="0"/>
              <a:t> </a:t>
            </a:r>
          </a:p>
        </p:txBody>
      </p:sp>
      <p:sp>
        <p:nvSpPr>
          <p:cNvPr id="5" name="Content Placeholder 2">
            <a:extLst>
              <a:ext uri="{FF2B5EF4-FFF2-40B4-BE49-F238E27FC236}">
                <a16:creationId xmlns:a16="http://schemas.microsoft.com/office/drawing/2014/main" id="{1FE339BA-0E3C-D654-9F11-4D38BC3AFB94}"/>
              </a:ext>
            </a:extLst>
          </p:cNvPr>
          <p:cNvSpPr txBox="1">
            <a:spLocks/>
          </p:cNvSpPr>
          <p:nvPr/>
        </p:nvSpPr>
        <p:spPr>
          <a:xfrm>
            <a:off x="2900722" y="1905730"/>
            <a:ext cx="7679938"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Value: </a:t>
            </a:r>
            <a:r>
              <a:rPr lang="en-US" sz="2400" b="1" dirty="0"/>
              <a:t>Integrity</a:t>
            </a:r>
            <a:r>
              <a:rPr lang="en-US" sz="2400" dirty="0"/>
              <a:t>.</a:t>
            </a:r>
            <a:r>
              <a:rPr lang="en-US" sz="2400" b="1" dirty="0"/>
              <a:t> </a:t>
            </a:r>
            <a:r>
              <a:rPr lang="en-US" sz="2400" dirty="0"/>
              <a:t>Showcasing ethical and responsible research.  </a:t>
            </a:r>
          </a:p>
        </p:txBody>
      </p:sp>
      <p:sp>
        <p:nvSpPr>
          <p:cNvPr id="8" name="Content Placeholder 2">
            <a:extLst>
              <a:ext uri="{FF2B5EF4-FFF2-40B4-BE49-F238E27FC236}">
                <a16:creationId xmlns:a16="http://schemas.microsoft.com/office/drawing/2014/main" id="{175610E6-3DD5-2CA2-FD21-A93E1D560122}"/>
              </a:ext>
            </a:extLst>
          </p:cNvPr>
          <p:cNvSpPr txBox="1">
            <a:spLocks/>
          </p:cNvSpPr>
          <p:nvPr/>
        </p:nvSpPr>
        <p:spPr>
          <a:xfrm>
            <a:off x="2868183" y="3264118"/>
            <a:ext cx="7617286"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Goal: </a:t>
            </a:r>
            <a:r>
              <a:rPr lang="en-US" sz="2400" dirty="0"/>
              <a:t>Learners </a:t>
            </a:r>
            <a:r>
              <a:rPr lang="en-US" sz="2400" b="1" dirty="0"/>
              <a:t>engage deeply </a:t>
            </a:r>
            <a:r>
              <a:rPr lang="en-US" sz="2400" dirty="0"/>
              <a:t>on the topic of AI usage in the research cycle.</a:t>
            </a:r>
          </a:p>
        </p:txBody>
      </p:sp>
      <p:sp>
        <p:nvSpPr>
          <p:cNvPr id="10" name="Content Placeholder 2">
            <a:extLst>
              <a:ext uri="{FF2B5EF4-FFF2-40B4-BE49-F238E27FC236}">
                <a16:creationId xmlns:a16="http://schemas.microsoft.com/office/drawing/2014/main" id="{33882DEA-ED09-AE49-B46D-79CD2B708605}"/>
              </a:ext>
            </a:extLst>
          </p:cNvPr>
          <p:cNvSpPr txBox="1">
            <a:spLocks/>
          </p:cNvSpPr>
          <p:nvPr/>
        </p:nvSpPr>
        <p:spPr>
          <a:xfrm>
            <a:off x="2891056" y="3992313"/>
            <a:ext cx="7617285"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Culture: </a:t>
            </a:r>
            <a:r>
              <a:rPr lang="en-US" sz="2400" dirty="0"/>
              <a:t>Set expectations that </a:t>
            </a:r>
            <a:r>
              <a:rPr lang="en-US" sz="2400" b="1" dirty="0"/>
              <a:t>integrity matters </a:t>
            </a:r>
            <a:r>
              <a:rPr lang="en-US" sz="2400" dirty="0"/>
              <a:t>for high-quality credible research and for public trust in science.</a:t>
            </a:r>
          </a:p>
        </p:txBody>
      </p:sp>
      <p:sp>
        <p:nvSpPr>
          <p:cNvPr id="31" name="Oval 30">
            <a:extLst>
              <a:ext uri="{FF2B5EF4-FFF2-40B4-BE49-F238E27FC236}">
                <a16:creationId xmlns:a16="http://schemas.microsoft.com/office/drawing/2014/main" id="{F826B2EC-2DC4-B624-7D78-81028FF16DEE}"/>
              </a:ext>
            </a:extLst>
          </p:cNvPr>
          <p:cNvSpPr/>
          <p:nvPr/>
        </p:nvSpPr>
        <p:spPr>
          <a:xfrm>
            <a:off x="143234" y="4046284"/>
            <a:ext cx="2757488" cy="2800350"/>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8889C71A-C142-CD8A-B4CD-37150D9C0D7D}"/>
              </a:ext>
            </a:extLst>
          </p:cNvPr>
          <p:cNvSpPr/>
          <p:nvPr/>
        </p:nvSpPr>
        <p:spPr>
          <a:xfrm>
            <a:off x="110696" y="2803145"/>
            <a:ext cx="2757488" cy="28003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A153F8DA-0AD8-69B3-406F-F810EE1F7B21}"/>
              </a:ext>
            </a:extLst>
          </p:cNvPr>
          <p:cNvSpPr/>
          <p:nvPr/>
        </p:nvSpPr>
        <p:spPr>
          <a:xfrm>
            <a:off x="42042" y="1010773"/>
            <a:ext cx="2757488" cy="280035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Content Placeholder 2">
            <a:extLst>
              <a:ext uri="{FF2B5EF4-FFF2-40B4-BE49-F238E27FC236}">
                <a16:creationId xmlns:a16="http://schemas.microsoft.com/office/drawing/2014/main" id="{3E09427C-5135-558D-AF60-005F1B5D1996}"/>
              </a:ext>
            </a:extLst>
          </p:cNvPr>
          <p:cNvSpPr>
            <a:spLocks noGrp="1"/>
          </p:cNvSpPr>
          <p:nvPr>
            <p:ph idx="1"/>
          </p:nvPr>
        </p:nvSpPr>
        <p:spPr>
          <a:xfrm>
            <a:off x="836977" y="2194060"/>
            <a:ext cx="1304925" cy="560388"/>
          </a:xfrm>
        </p:spPr>
        <p:txBody>
          <a:bodyPr/>
          <a:lstStyle/>
          <a:p>
            <a:pPr marL="0" indent="0">
              <a:buNone/>
            </a:pPr>
            <a:r>
              <a:rPr lang="en-US" b="1" dirty="0"/>
              <a:t>Values </a:t>
            </a:r>
          </a:p>
        </p:txBody>
      </p:sp>
      <p:sp>
        <p:nvSpPr>
          <p:cNvPr id="35" name="Content Placeholder 2">
            <a:extLst>
              <a:ext uri="{FF2B5EF4-FFF2-40B4-BE49-F238E27FC236}">
                <a16:creationId xmlns:a16="http://schemas.microsoft.com/office/drawing/2014/main" id="{90434815-7F08-B251-9251-3735AF16EF46}"/>
              </a:ext>
            </a:extLst>
          </p:cNvPr>
          <p:cNvSpPr txBox="1">
            <a:spLocks/>
          </p:cNvSpPr>
          <p:nvPr/>
        </p:nvSpPr>
        <p:spPr>
          <a:xfrm>
            <a:off x="364298" y="3877164"/>
            <a:ext cx="2250282" cy="1521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Goals</a:t>
            </a:r>
          </a:p>
          <a:p>
            <a:pPr marL="0" indent="0" algn="ctr">
              <a:buFont typeface="Arial" panose="020B0604020202020204" pitchFamily="34" charset="0"/>
              <a:buNone/>
            </a:pPr>
            <a:r>
              <a:rPr lang="en-US" b="1" dirty="0"/>
              <a:t> &amp; Culture </a:t>
            </a:r>
          </a:p>
        </p:txBody>
      </p:sp>
      <p:sp>
        <p:nvSpPr>
          <p:cNvPr id="36" name="Content Placeholder 2">
            <a:extLst>
              <a:ext uri="{FF2B5EF4-FFF2-40B4-BE49-F238E27FC236}">
                <a16:creationId xmlns:a16="http://schemas.microsoft.com/office/drawing/2014/main" id="{94BC54BF-DBB4-C7A0-6574-347D12FCF40D}"/>
              </a:ext>
            </a:extLst>
          </p:cNvPr>
          <p:cNvSpPr txBox="1">
            <a:spLocks/>
          </p:cNvSpPr>
          <p:nvPr/>
        </p:nvSpPr>
        <p:spPr>
          <a:xfrm>
            <a:off x="347975" y="5591105"/>
            <a:ext cx="2308618" cy="15216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Outcomes </a:t>
            </a:r>
          </a:p>
          <a:p>
            <a:pPr marL="0" indent="0" algn="ctr">
              <a:buFont typeface="Arial" panose="020B0604020202020204" pitchFamily="34" charset="0"/>
              <a:buNone/>
            </a:pPr>
            <a:r>
              <a:rPr lang="en-US" b="1" dirty="0"/>
              <a:t>&amp; Impact </a:t>
            </a:r>
          </a:p>
        </p:txBody>
      </p:sp>
    </p:spTree>
    <p:extLst>
      <p:ext uri="{BB962C8B-B14F-4D97-AF65-F5344CB8AC3E}">
        <p14:creationId xmlns:p14="http://schemas.microsoft.com/office/powerpoint/2010/main" val="38844126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60A8A2-C5C8-7B6D-CFD9-18BC7AA64929}"/>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8DF20D5F-9173-A546-41FC-23A7D8DC1351}"/>
              </a:ext>
            </a:extLst>
          </p:cNvPr>
          <p:cNvSpPr/>
          <p:nvPr/>
        </p:nvSpPr>
        <p:spPr>
          <a:xfrm>
            <a:off x="1915885" y="4940996"/>
            <a:ext cx="8647559" cy="1739909"/>
          </a:xfrm>
          <a:prstGeom prst="rect">
            <a:avLst/>
          </a:prstGeom>
          <a:solidFill>
            <a:srgbClr val="0070C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4" name="Rectangle 43">
            <a:extLst>
              <a:ext uri="{FF2B5EF4-FFF2-40B4-BE49-F238E27FC236}">
                <a16:creationId xmlns:a16="http://schemas.microsoft.com/office/drawing/2014/main" id="{47CD02CC-5883-F302-192B-C7F6334D2F4F}"/>
              </a:ext>
            </a:extLst>
          </p:cNvPr>
          <p:cNvSpPr/>
          <p:nvPr/>
        </p:nvSpPr>
        <p:spPr>
          <a:xfrm>
            <a:off x="2214221" y="3264118"/>
            <a:ext cx="8349223" cy="1489599"/>
          </a:xfrm>
          <a:prstGeom prst="rect">
            <a:avLst/>
          </a:prstGeom>
          <a:solidFill>
            <a:schemeClr val="accent2">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B0D352CB-9F8B-A0D7-6AEE-45C98F484CD5}"/>
              </a:ext>
            </a:extLst>
          </p:cNvPr>
          <p:cNvSpPr/>
          <p:nvPr/>
        </p:nvSpPr>
        <p:spPr>
          <a:xfrm>
            <a:off x="2159118" y="1353526"/>
            <a:ext cx="8404326" cy="1744075"/>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itle 1">
            <a:extLst>
              <a:ext uri="{FF2B5EF4-FFF2-40B4-BE49-F238E27FC236}">
                <a16:creationId xmlns:a16="http://schemas.microsoft.com/office/drawing/2014/main" id="{0AA25774-AC80-46DF-D814-42A318ED4C29}"/>
              </a:ext>
            </a:extLst>
          </p:cNvPr>
          <p:cNvSpPr txBox="1">
            <a:spLocks/>
          </p:cNvSpPr>
          <p:nvPr/>
        </p:nvSpPr>
        <p:spPr>
          <a:xfrm>
            <a:off x="0" y="11366"/>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Values shape outcomes and impact</a:t>
            </a:r>
          </a:p>
        </p:txBody>
      </p:sp>
      <p:grpSp>
        <p:nvGrpSpPr>
          <p:cNvPr id="19" name="Group 18">
            <a:extLst>
              <a:ext uri="{FF2B5EF4-FFF2-40B4-BE49-F238E27FC236}">
                <a16:creationId xmlns:a16="http://schemas.microsoft.com/office/drawing/2014/main" id="{FB6A41F8-2D93-0F3C-BE3F-D718F609643A}"/>
              </a:ext>
            </a:extLst>
          </p:cNvPr>
          <p:cNvGrpSpPr/>
          <p:nvPr/>
        </p:nvGrpSpPr>
        <p:grpSpPr>
          <a:xfrm>
            <a:off x="10644280" y="6476875"/>
            <a:ext cx="1474613" cy="325672"/>
            <a:chOff x="19317" y="2690018"/>
            <a:chExt cx="11784755" cy="2025180"/>
          </a:xfrm>
        </p:grpSpPr>
        <p:pic>
          <p:nvPicPr>
            <p:cNvPr id="20" name="Picture 2">
              <a:extLst>
                <a:ext uri="{FF2B5EF4-FFF2-40B4-BE49-F238E27FC236}">
                  <a16:creationId xmlns:a16="http://schemas.microsoft.com/office/drawing/2014/main" id="{76E3E01A-AFF3-B3F1-1371-157CDE8317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20">
              <a:extLst>
                <a:ext uri="{FF2B5EF4-FFF2-40B4-BE49-F238E27FC236}">
                  <a16:creationId xmlns:a16="http://schemas.microsoft.com/office/drawing/2014/main" id="{F987F4E6-D8C0-595D-42E1-D82ED1ECF87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2E46C1BE-4DFC-D95F-60BC-5F35F42CCE8B}"/>
              </a:ext>
            </a:extLst>
          </p:cNvPr>
          <p:cNvSpPr>
            <a:spLocks noGrp="1"/>
          </p:cNvSpPr>
          <p:nvPr>
            <p:ph type="sldNum" sz="quarter" idx="12"/>
          </p:nvPr>
        </p:nvSpPr>
        <p:spPr/>
        <p:txBody>
          <a:bodyPr/>
          <a:lstStyle/>
          <a:p>
            <a:fld id="{D292B180-B274-DE43-B36F-C827C7616C05}" type="slidenum">
              <a:rPr lang="en-US" smtClean="0"/>
              <a:t>35</a:t>
            </a:fld>
            <a:endParaRPr lang="en-US"/>
          </a:p>
        </p:txBody>
      </p:sp>
      <p:sp>
        <p:nvSpPr>
          <p:cNvPr id="4" name="TextBox 3">
            <a:extLst>
              <a:ext uri="{FF2B5EF4-FFF2-40B4-BE49-F238E27FC236}">
                <a16:creationId xmlns:a16="http://schemas.microsoft.com/office/drawing/2014/main" id="{10016576-5229-63EA-4958-B70DFBF8ADC5}"/>
              </a:ext>
            </a:extLst>
          </p:cNvPr>
          <p:cNvSpPr txBox="1"/>
          <p:nvPr/>
        </p:nvSpPr>
        <p:spPr>
          <a:xfrm>
            <a:off x="3125131" y="1486427"/>
            <a:ext cx="231154" cy="369332"/>
          </a:xfrm>
          <a:prstGeom prst="rect">
            <a:avLst/>
          </a:prstGeom>
          <a:noFill/>
        </p:spPr>
        <p:txBody>
          <a:bodyPr wrap="none" rtlCol="0">
            <a:spAutoFit/>
          </a:bodyPr>
          <a:lstStyle/>
          <a:p>
            <a:r>
              <a:rPr lang="en-US" b="1" dirty="0"/>
              <a:t> </a:t>
            </a:r>
          </a:p>
        </p:txBody>
      </p:sp>
      <p:sp>
        <p:nvSpPr>
          <p:cNvPr id="5" name="Content Placeholder 2">
            <a:extLst>
              <a:ext uri="{FF2B5EF4-FFF2-40B4-BE49-F238E27FC236}">
                <a16:creationId xmlns:a16="http://schemas.microsoft.com/office/drawing/2014/main" id="{89150311-46CB-A42E-7EE7-00FE16AF321C}"/>
              </a:ext>
            </a:extLst>
          </p:cNvPr>
          <p:cNvSpPr txBox="1">
            <a:spLocks/>
          </p:cNvSpPr>
          <p:nvPr/>
        </p:nvSpPr>
        <p:spPr>
          <a:xfrm>
            <a:off x="2900722" y="1905730"/>
            <a:ext cx="7679938"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Value: </a:t>
            </a:r>
            <a:r>
              <a:rPr lang="en-US" sz="2400" b="1" dirty="0"/>
              <a:t>Integrity</a:t>
            </a:r>
            <a:r>
              <a:rPr lang="en-US" sz="2400" dirty="0"/>
              <a:t>.</a:t>
            </a:r>
            <a:r>
              <a:rPr lang="en-US" sz="2400" b="1" dirty="0"/>
              <a:t> </a:t>
            </a:r>
            <a:r>
              <a:rPr lang="en-US" sz="2400" dirty="0"/>
              <a:t>Showcasing ethical and responsible research.  </a:t>
            </a:r>
          </a:p>
        </p:txBody>
      </p:sp>
      <p:sp>
        <p:nvSpPr>
          <p:cNvPr id="6" name="Content Placeholder 2">
            <a:extLst>
              <a:ext uri="{FF2B5EF4-FFF2-40B4-BE49-F238E27FC236}">
                <a16:creationId xmlns:a16="http://schemas.microsoft.com/office/drawing/2014/main" id="{9AB38ABE-6C75-0620-3017-304C13D7EC1C}"/>
              </a:ext>
            </a:extLst>
          </p:cNvPr>
          <p:cNvSpPr txBox="1">
            <a:spLocks/>
          </p:cNvSpPr>
          <p:nvPr/>
        </p:nvSpPr>
        <p:spPr>
          <a:xfrm>
            <a:off x="2957510" y="5072039"/>
            <a:ext cx="7605935"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400" i="1" dirty="0"/>
              <a:t>Outcomes: </a:t>
            </a:r>
            <a:r>
              <a:rPr lang="en-US" sz="2400" dirty="0"/>
              <a:t>Learners </a:t>
            </a:r>
            <a:r>
              <a:rPr lang="en-US" sz="2400" b="1" dirty="0"/>
              <a:t>critically examine </a:t>
            </a:r>
            <a:r>
              <a:rPr lang="en-US" sz="2400" dirty="0"/>
              <a:t>a case study on AI usage for data analysis from an ethical perspective.</a:t>
            </a:r>
          </a:p>
        </p:txBody>
      </p:sp>
      <p:sp>
        <p:nvSpPr>
          <p:cNvPr id="8" name="Content Placeholder 2">
            <a:extLst>
              <a:ext uri="{FF2B5EF4-FFF2-40B4-BE49-F238E27FC236}">
                <a16:creationId xmlns:a16="http://schemas.microsoft.com/office/drawing/2014/main" id="{EB708D30-0665-76F5-1521-5A216464DA1C}"/>
              </a:ext>
            </a:extLst>
          </p:cNvPr>
          <p:cNvSpPr txBox="1">
            <a:spLocks/>
          </p:cNvSpPr>
          <p:nvPr/>
        </p:nvSpPr>
        <p:spPr>
          <a:xfrm>
            <a:off x="2868183" y="3264118"/>
            <a:ext cx="7617286"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Goal: </a:t>
            </a:r>
            <a:r>
              <a:rPr lang="en-US" sz="2400" dirty="0"/>
              <a:t>Learners </a:t>
            </a:r>
            <a:r>
              <a:rPr lang="en-US" sz="2400" b="1" dirty="0"/>
              <a:t>engage deeply </a:t>
            </a:r>
            <a:r>
              <a:rPr lang="en-US" sz="2400" dirty="0"/>
              <a:t>on the topic of AI usage in the research cycle.</a:t>
            </a:r>
          </a:p>
        </p:txBody>
      </p:sp>
      <p:sp>
        <p:nvSpPr>
          <p:cNvPr id="9" name="Content Placeholder 2">
            <a:extLst>
              <a:ext uri="{FF2B5EF4-FFF2-40B4-BE49-F238E27FC236}">
                <a16:creationId xmlns:a16="http://schemas.microsoft.com/office/drawing/2014/main" id="{16E14AA0-5F3F-C8F7-6C49-0035E480160A}"/>
              </a:ext>
            </a:extLst>
          </p:cNvPr>
          <p:cNvSpPr txBox="1">
            <a:spLocks/>
          </p:cNvSpPr>
          <p:nvPr/>
        </p:nvSpPr>
        <p:spPr>
          <a:xfrm>
            <a:off x="2900722" y="5863831"/>
            <a:ext cx="7497413"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Impact: </a:t>
            </a:r>
            <a:r>
              <a:rPr lang="en-US" sz="2400" dirty="0"/>
              <a:t>Learners have </a:t>
            </a:r>
            <a:r>
              <a:rPr lang="en-US" sz="2400" b="1" dirty="0"/>
              <a:t>increased ethical awareness </a:t>
            </a:r>
            <a:r>
              <a:rPr lang="en-US" sz="2400" dirty="0"/>
              <a:t>of AI usage in their research and beyond.</a:t>
            </a:r>
          </a:p>
        </p:txBody>
      </p:sp>
      <p:sp>
        <p:nvSpPr>
          <p:cNvPr id="10" name="Content Placeholder 2">
            <a:extLst>
              <a:ext uri="{FF2B5EF4-FFF2-40B4-BE49-F238E27FC236}">
                <a16:creationId xmlns:a16="http://schemas.microsoft.com/office/drawing/2014/main" id="{ADB72A03-8564-6B31-5FBD-E3F40A4E1552}"/>
              </a:ext>
            </a:extLst>
          </p:cNvPr>
          <p:cNvSpPr txBox="1">
            <a:spLocks/>
          </p:cNvSpPr>
          <p:nvPr/>
        </p:nvSpPr>
        <p:spPr>
          <a:xfrm>
            <a:off x="2891056" y="3992313"/>
            <a:ext cx="7617285" cy="822893"/>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2400" i="1" dirty="0"/>
              <a:t>Culture: </a:t>
            </a:r>
            <a:r>
              <a:rPr lang="en-US" sz="2400" dirty="0"/>
              <a:t>Set expectations that </a:t>
            </a:r>
            <a:r>
              <a:rPr lang="en-US" sz="2400" b="1" dirty="0"/>
              <a:t>integrity matters </a:t>
            </a:r>
            <a:r>
              <a:rPr lang="en-US" sz="2400" dirty="0"/>
              <a:t>for high-quality credible research and for public trust in science.</a:t>
            </a:r>
          </a:p>
        </p:txBody>
      </p:sp>
      <p:sp>
        <p:nvSpPr>
          <p:cNvPr id="31" name="Oval 30">
            <a:extLst>
              <a:ext uri="{FF2B5EF4-FFF2-40B4-BE49-F238E27FC236}">
                <a16:creationId xmlns:a16="http://schemas.microsoft.com/office/drawing/2014/main" id="{EAAE3F83-C9A5-8BED-7027-4BE8AC53703E}"/>
              </a:ext>
            </a:extLst>
          </p:cNvPr>
          <p:cNvSpPr/>
          <p:nvPr/>
        </p:nvSpPr>
        <p:spPr>
          <a:xfrm>
            <a:off x="143234" y="4046284"/>
            <a:ext cx="2757488" cy="2800350"/>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BBB8A63E-A6CD-6A96-3926-25CDBF941A77}"/>
              </a:ext>
            </a:extLst>
          </p:cNvPr>
          <p:cNvSpPr/>
          <p:nvPr/>
        </p:nvSpPr>
        <p:spPr>
          <a:xfrm>
            <a:off x="110696" y="2803145"/>
            <a:ext cx="2757488" cy="2800350"/>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3BC8B593-32E6-A5C3-08C3-CF9826A96D94}"/>
              </a:ext>
            </a:extLst>
          </p:cNvPr>
          <p:cNvSpPr/>
          <p:nvPr/>
        </p:nvSpPr>
        <p:spPr>
          <a:xfrm>
            <a:off x="42042" y="1010773"/>
            <a:ext cx="2757488" cy="280035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Content Placeholder 2">
            <a:extLst>
              <a:ext uri="{FF2B5EF4-FFF2-40B4-BE49-F238E27FC236}">
                <a16:creationId xmlns:a16="http://schemas.microsoft.com/office/drawing/2014/main" id="{974C8D03-D4A6-0180-608D-4A877E334C10}"/>
              </a:ext>
            </a:extLst>
          </p:cNvPr>
          <p:cNvSpPr>
            <a:spLocks noGrp="1"/>
          </p:cNvSpPr>
          <p:nvPr>
            <p:ph idx="1"/>
          </p:nvPr>
        </p:nvSpPr>
        <p:spPr>
          <a:xfrm>
            <a:off x="836977" y="2194060"/>
            <a:ext cx="1304925" cy="560388"/>
          </a:xfrm>
        </p:spPr>
        <p:txBody>
          <a:bodyPr/>
          <a:lstStyle/>
          <a:p>
            <a:pPr marL="0" indent="0">
              <a:buNone/>
            </a:pPr>
            <a:r>
              <a:rPr lang="en-US" b="1" dirty="0"/>
              <a:t>Values </a:t>
            </a:r>
          </a:p>
        </p:txBody>
      </p:sp>
      <p:sp>
        <p:nvSpPr>
          <p:cNvPr id="35" name="Content Placeholder 2">
            <a:extLst>
              <a:ext uri="{FF2B5EF4-FFF2-40B4-BE49-F238E27FC236}">
                <a16:creationId xmlns:a16="http://schemas.microsoft.com/office/drawing/2014/main" id="{07DFE33F-CF01-6B5A-5494-D361AB166BA6}"/>
              </a:ext>
            </a:extLst>
          </p:cNvPr>
          <p:cNvSpPr txBox="1">
            <a:spLocks/>
          </p:cNvSpPr>
          <p:nvPr/>
        </p:nvSpPr>
        <p:spPr>
          <a:xfrm>
            <a:off x="364298" y="3877164"/>
            <a:ext cx="2250282" cy="15216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Goals</a:t>
            </a:r>
          </a:p>
          <a:p>
            <a:pPr marL="0" indent="0" algn="ctr">
              <a:buFont typeface="Arial" panose="020B0604020202020204" pitchFamily="34" charset="0"/>
              <a:buNone/>
            </a:pPr>
            <a:r>
              <a:rPr lang="en-US" b="1" dirty="0"/>
              <a:t> &amp; Culture </a:t>
            </a:r>
          </a:p>
        </p:txBody>
      </p:sp>
      <p:sp>
        <p:nvSpPr>
          <p:cNvPr id="36" name="Content Placeholder 2">
            <a:extLst>
              <a:ext uri="{FF2B5EF4-FFF2-40B4-BE49-F238E27FC236}">
                <a16:creationId xmlns:a16="http://schemas.microsoft.com/office/drawing/2014/main" id="{4DCEA32B-9533-DC4A-97E2-E6D0316F087A}"/>
              </a:ext>
            </a:extLst>
          </p:cNvPr>
          <p:cNvSpPr txBox="1">
            <a:spLocks/>
          </p:cNvSpPr>
          <p:nvPr/>
        </p:nvSpPr>
        <p:spPr>
          <a:xfrm>
            <a:off x="347975" y="5591105"/>
            <a:ext cx="2308618" cy="152166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en-US" b="1" dirty="0"/>
              <a:t>Outcomes </a:t>
            </a:r>
          </a:p>
          <a:p>
            <a:pPr marL="0" indent="0" algn="ctr">
              <a:buFont typeface="Arial" panose="020B0604020202020204" pitchFamily="34" charset="0"/>
              <a:buNone/>
            </a:pPr>
            <a:r>
              <a:rPr lang="en-US" b="1" dirty="0"/>
              <a:t>&amp; Impact </a:t>
            </a:r>
          </a:p>
        </p:txBody>
      </p:sp>
    </p:spTree>
    <p:extLst>
      <p:ext uri="{BB962C8B-B14F-4D97-AF65-F5344CB8AC3E}">
        <p14:creationId xmlns:p14="http://schemas.microsoft.com/office/powerpoint/2010/main" val="21847657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39F19C-856E-6295-6214-D5618B87A386}"/>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11B793C7-5323-9665-2AA4-33B5C5E916B5}"/>
              </a:ext>
            </a:extLst>
          </p:cNvPr>
          <p:cNvSpPr txBox="1">
            <a:spLocks/>
          </p:cNvSpPr>
          <p:nvPr/>
        </p:nvSpPr>
        <p:spPr>
          <a:xfrm>
            <a:off x="3242"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Start inwards: What matters to me?</a:t>
            </a:r>
          </a:p>
        </p:txBody>
      </p:sp>
      <p:sp>
        <p:nvSpPr>
          <p:cNvPr id="8" name="TextBox 7">
            <a:extLst>
              <a:ext uri="{FF2B5EF4-FFF2-40B4-BE49-F238E27FC236}">
                <a16:creationId xmlns:a16="http://schemas.microsoft.com/office/drawing/2014/main" id="{CB901054-E4EA-1CC2-2CBC-8106F8FD15F6}"/>
              </a:ext>
            </a:extLst>
          </p:cNvPr>
          <p:cNvSpPr txBox="1"/>
          <p:nvPr/>
        </p:nvSpPr>
        <p:spPr>
          <a:xfrm>
            <a:off x="838200" y="5739570"/>
            <a:ext cx="1233030" cy="461665"/>
          </a:xfrm>
          <a:prstGeom prst="rect">
            <a:avLst/>
          </a:prstGeom>
          <a:noFill/>
        </p:spPr>
        <p:txBody>
          <a:bodyPr wrap="none" rtlCol="0">
            <a:spAutoFit/>
          </a:bodyPr>
          <a:lstStyle/>
          <a:p>
            <a:r>
              <a:rPr lang="en-US" sz="2400" dirty="0"/>
              <a:t>~5 mins</a:t>
            </a:r>
          </a:p>
        </p:txBody>
      </p:sp>
      <p:grpSp>
        <p:nvGrpSpPr>
          <p:cNvPr id="28" name="Group 27">
            <a:extLst>
              <a:ext uri="{FF2B5EF4-FFF2-40B4-BE49-F238E27FC236}">
                <a16:creationId xmlns:a16="http://schemas.microsoft.com/office/drawing/2014/main" id="{A0136D84-60A1-DE77-4353-95C910D983D1}"/>
              </a:ext>
            </a:extLst>
          </p:cNvPr>
          <p:cNvGrpSpPr/>
          <p:nvPr/>
        </p:nvGrpSpPr>
        <p:grpSpPr>
          <a:xfrm>
            <a:off x="10644280" y="6476875"/>
            <a:ext cx="1474613" cy="325672"/>
            <a:chOff x="19317" y="2690018"/>
            <a:chExt cx="11784755" cy="2025180"/>
          </a:xfrm>
        </p:grpSpPr>
        <p:pic>
          <p:nvPicPr>
            <p:cNvPr id="29" name="Picture 2">
              <a:extLst>
                <a:ext uri="{FF2B5EF4-FFF2-40B4-BE49-F238E27FC236}">
                  <a16:creationId xmlns:a16="http://schemas.microsoft.com/office/drawing/2014/main" id="{7D065905-FA4B-D666-9621-C600291D01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9">
              <a:extLst>
                <a:ext uri="{FF2B5EF4-FFF2-40B4-BE49-F238E27FC236}">
                  <a16:creationId xmlns:a16="http://schemas.microsoft.com/office/drawing/2014/main" id="{8BD7F617-F5D6-E083-67CC-D801D639C0D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70C9D415-520B-FA3E-1E28-2D2E431739B9}"/>
              </a:ext>
            </a:extLst>
          </p:cNvPr>
          <p:cNvSpPr>
            <a:spLocks noGrp="1"/>
          </p:cNvSpPr>
          <p:nvPr>
            <p:ph type="sldNum" sz="quarter" idx="12"/>
          </p:nvPr>
        </p:nvSpPr>
        <p:spPr/>
        <p:txBody>
          <a:bodyPr/>
          <a:lstStyle/>
          <a:p>
            <a:fld id="{D292B180-B274-DE43-B36F-C827C7616C05}" type="slidenum">
              <a:rPr lang="en-US" smtClean="0"/>
              <a:t>36</a:t>
            </a:fld>
            <a:endParaRPr lang="en-US"/>
          </a:p>
        </p:txBody>
      </p:sp>
      <p:sp>
        <p:nvSpPr>
          <p:cNvPr id="11" name="TextBox 10">
            <a:extLst>
              <a:ext uri="{FF2B5EF4-FFF2-40B4-BE49-F238E27FC236}">
                <a16:creationId xmlns:a16="http://schemas.microsoft.com/office/drawing/2014/main" id="{345DA982-C35A-F4DE-2C91-7F4773403FA4}"/>
              </a:ext>
            </a:extLst>
          </p:cNvPr>
          <p:cNvSpPr txBox="1"/>
          <p:nvPr/>
        </p:nvSpPr>
        <p:spPr>
          <a:xfrm>
            <a:off x="675252" y="1834751"/>
            <a:ext cx="6099858" cy="3816429"/>
          </a:xfrm>
          <a:prstGeom prst="rect">
            <a:avLst/>
          </a:prstGeom>
          <a:noFill/>
        </p:spPr>
        <p:txBody>
          <a:bodyPr wrap="square">
            <a:spAutoFit/>
          </a:bodyPr>
          <a:lstStyle/>
          <a:p>
            <a:r>
              <a:rPr lang="en-US" sz="2800" b="1" dirty="0"/>
              <a:t>1. Scan</a:t>
            </a:r>
            <a:r>
              <a:rPr lang="en-US" sz="2800" dirty="0"/>
              <a:t> through values table in workbook section 7.1</a:t>
            </a:r>
          </a:p>
          <a:p>
            <a:pPr marL="514350" indent="-514350">
              <a:buAutoNum type="arabicPeriod"/>
            </a:pPr>
            <a:endParaRPr lang="en-US" sz="2800" dirty="0"/>
          </a:p>
          <a:p>
            <a:r>
              <a:rPr lang="en-US" sz="2800" dirty="0"/>
              <a:t>2. </a:t>
            </a:r>
            <a:r>
              <a:rPr lang="en-US" sz="2800" b="1" dirty="0"/>
              <a:t>Self</a:t>
            </a:r>
            <a:r>
              <a:rPr lang="en-US" sz="2800" dirty="0"/>
              <a:t> </a:t>
            </a:r>
            <a:r>
              <a:rPr lang="en-US" sz="2800" b="1" dirty="0"/>
              <a:t>reflect </a:t>
            </a:r>
            <a:r>
              <a:rPr lang="en-US" sz="2800" dirty="0"/>
              <a:t>which leadership values </a:t>
            </a:r>
            <a:r>
              <a:rPr lang="en-US" sz="2800" b="1" dirty="0"/>
              <a:t>resonate </a:t>
            </a:r>
            <a:r>
              <a:rPr lang="en-US" sz="2800" dirty="0"/>
              <a:t>with you</a:t>
            </a:r>
          </a:p>
          <a:p>
            <a:pPr marL="514350" indent="-514350">
              <a:buAutoNum type="arabicPeriod"/>
            </a:pPr>
            <a:endParaRPr lang="en-US" sz="2800" dirty="0"/>
          </a:p>
          <a:p>
            <a:r>
              <a:rPr lang="en-US" sz="2800" dirty="0"/>
              <a:t>3. </a:t>
            </a:r>
            <a:r>
              <a:rPr lang="en-US" sz="2800" b="1" dirty="0"/>
              <a:t>Write</a:t>
            </a:r>
            <a:r>
              <a:rPr lang="en-US" sz="2800" dirty="0"/>
              <a:t> down </a:t>
            </a:r>
            <a:r>
              <a:rPr lang="en-US" sz="2800" b="1" dirty="0"/>
              <a:t>three values</a:t>
            </a:r>
            <a:r>
              <a:rPr lang="en-US" sz="2800" dirty="0"/>
              <a:t> in the workbook</a:t>
            </a:r>
          </a:p>
          <a:p>
            <a:endParaRPr lang="en-US" dirty="0"/>
          </a:p>
        </p:txBody>
      </p:sp>
      <p:sp>
        <p:nvSpPr>
          <p:cNvPr id="15" name="TextBox 14">
            <a:extLst>
              <a:ext uri="{FF2B5EF4-FFF2-40B4-BE49-F238E27FC236}">
                <a16:creationId xmlns:a16="http://schemas.microsoft.com/office/drawing/2014/main" id="{2C80AC81-1CB7-14EA-8F4E-CC400D92C6F2}"/>
              </a:ext>
            </a:extLst>
          </p:cNvPr>
          <p:cNvSpPr txBox="1"/>
          <p:nvPr/>
        </p:nvSpPr>
        <p:spPr>
          <a:xfrm>
            <a:off x="8096807" y="1446088"/>
            <a:ext cx="3419941" cy="4524315"/>
          </a:xfrm>
          <a:prstGeom prst="rect">
            <a:avLst/>
          </a:prstGeom>
          <a:solidFill>
            <a:schemeClr val="bg1">
              <a:lumMod val="65000"/>
              <a:alpha val="40653"/>
            </a:schemeClr>
          </a:solidFill>
        </p:spPr>
        <p:txBody>
          <a:bodyPr wrap="square">
            <a:spAutoFit/>
          </a:bodyPr>
          <a:lstStyle/>
          <a:p>
            <a:r>
              <a:rPr lang="en-US" sz="2400" b="1" dirty="0"/>
              <a:t>Tip</a:t>
            </a:r>
          </a:p>
          <a:p>
            <a:r>
              <a:rPr lang="en-US" sz="2400" dirty="0"/>
              <a:t>Take a look at the values table and guiding questions to help you.</a:t>
            </a:r>
          </a:p>
          <a:p>
            <a:endParaRPr lang="en-US" sz="2400" dirty="0"/>
          </a:p>
          <a:p>
            <a:r>
              <a:rPr lang="en-US" sz="2400" dirty="0"/>
              <a:t>Access workbook here: </a:t>
            </a:r>
            <a:r>
              <a:rPr lang="en-GB" sz="2400" dirty="0">
                <a:hlinkClick r:id="rId5"/>
              </a:rPr>
              <a:t>https://lmu-osc.github.io/train-the-trainer-open-research/workshop-design-workbook/</a:t>
            </a:r>
            <a:r>
              <a:rPr lang="en-GB" sz="2400" dirty="0"/>
              <a:t> </a:t>
            </a:r>
            <a:endParaRPr lang="en-US" sz="2400" dirty="0"/>
          </a:p>
          <a:p>
            <a:endParaRPr lang="en-US" sz="2400" dirty="0"/>
          </a:p>
        </p:txBody>
      </p:sp>
    </p:spTree>
    <p:extLst>
      <p:ext uri="{BB962C8B-B14F-4D97-AF65-F5344CB8AC3E}">
        <p14:creationId xmlns:p14="http://schemas.microsoft.com/office/powerpoint/2010/main" val="12781067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6CC048-89C9-E336-6353-61872FCE2689}"/>
            </a:ext>
          </a:extLst>
        </p:cNvPr>
        <p:cNvGrpSpPr/>
        <p:nvPr/>
      </p:nvGrpSpPr>
      <p:grpSpPr>
        <a:xfrm>
          <a:off x="0" y="0"/>
          <a:ext cx="0" cy="0"/>
          <a:chOff x="0" y="0"/>
          <a:chExt cx="0" cy="0"/>
        </a:xfrm>
      </p:grpSpPr>
      <p:grpSp>
        <p:nvGrpSpPr>
          <p:cNvPr id="53" name="Group 52">
            <a:extLst>
              <a:ext uri="{FF2B5EF4-FFF2-40B4-BE49-F238E27FC236}">
                <a16:creationId xmlns:a16="http://schemas.microsoft.com/office/drawing/2014/main" id="{84428DB9-C1C0-EBD8-3E09-172311D00AED}"/>
              </a:ext>
            </a:extLst>
          </p:cNvPr>
          <p:cNvGrpSpPr/>
          <p:nvPr/>
        </p:nvGrpSpPr>
        <p:grpSpPr>
          <a:xfrm>
            <a:off x="10644280" y="6476875"/>
            <a:ext cx="1474613" cy="325672"/>
            <a:chOff x="19317" y="2690018"/>
            <a:chExt cx="11784755" cy="2025180"/>
          </a:xfrm>
        </p:grpSpPr>
        <p:pic>
          <p:nvPicPr>
            <p:cNvPr id="54" name="Picture 2">
              <a:extLst>
                <a:ext uri="{FF2B5EF4-FFF2-40B4-BE49-F238E27FC236}">
                  <a16:creationId xmlns:a16="http://schemas.microsoft.com/office/drawing/2014/main" id="{C7822F7F-433E-C120-4C26-7FC09825BB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54">
              <a:extLst>
                <a:ext uri="{FF2B5EF4-FFF2-40B4-BE49-F238E27FC236}">
                  <a16:creationId xmlns:a16="http://schemas.microsoft.com/office/drawing/2014/main" id="{C4E30181-FFC4-9202-FC9F-F603289BDE6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14425937-884F-410A-80A4-B7B764729D91}"/>
              </a:ext>
            </a:extLst>
          </p:cNvPr>
          <p:cNvSpPr>
            <a:spLocks noGrp="1"/>
          </p:cNvSpPr>
          <p:nvPr>
            <p:ph type="title"/>
          </p:nvPr>
        </p:nvSpPr>
        <p:spPr>
          <a:xfrm>
            <a:off x="0" y="0"/>
            <a:ext cx="12192000" cy="1325563"/>
          </a:xfrm>
        </p:spPr>
        <p:txBody>
          <a:bodyPr/>
          <a:lstStyle/>
          <a:p>
            <a:r>
              <a:rPr lang="en-US" b="1" dirty="0"/>
              <a:t>Interim summary </a:t>
            </a:r>
          </a:p>
        </p:txBody>
      </p:sp>
      <p:sp>
        <p:nvSpPr>
          <p:cNvPr id="4" name="Slide Number Placeholder 3">
            <a:extLst>
              <a:ext uri="{FF2B5EF4-FFF2-40B4-BE49-F238E27FC236}">
                <a16:creationId xmlns:a16="http://schemas.microsoft.com/office/drawing/2014/main" id="{0FF5273F-1007-9C25-0422-977BA97066E5}"/>
              </a:ext>
            </a:extLst>
          </p:cNvPr>
          <p:cNvSpPr>
            <a:spLocks noGrp="1"/>
          </p:cNvSpPr>
          <p:nvPr>
            <p:ph type="sldNum" sz="quarter" idx="12"/>
          </p:nvPr>
        </p:nvSpPr>
        <p:spPr>
          <a:xfrm>
            <a:off x="8610600" y="6261350"/>
            <a:ext cx="2743200" cy="365125"/>
          </a:xfrm>
        </p:spPr>
        <p:txBody>
          <a:bodyPr/>
          <a:lstStyle/>
          <a:p>
            <a:fld id="{D292B180-B274-DE43-B36F-C827C7616C05}" type="slidenum">
              <a:rPr lang="en-US" smtClean="0"/>
              <a:t>37</a:t>
            </a:fld>
            <a:endParaRPr lang="en-US" dirty="0"/>
          </a:p>
        </p:txBody>
      </p:sp>
      <p:grpSp>
        <p:nvGrpSpPr>
          <p:cNvPr id="40" name="Group 39">
            <a:extLst>
              <a:ext uri="{FF2B5EF4-FFF2-40B4-BE49-F238E27FC236}">
                <a16:creationId xmlns:a16="http://schemas.microsoft.com/office/drawing/2014/main" id="{75C0862C-2719-A587-61D5-786FB675B7A4}"/>
              </a:ext>
            </a:extLst>
          </p:cNvPr>
          <p:cNvGrpSpPr/>
          <p:nvPr/>
        </p:nvGrpSpPr>
        <p:grpSpPr>
          <a:xfrm>
            <a:off x="9313268" y="1558792"/>
            <a:ext cx="1678336" cy="1771051"/>
            <a:chOff x="1407302" y="4270188"/>
            <a:chExt cx="1678336" cy="1771051"/>
          </a:xfrm>
        </p:grpSpPr>
        <p:grpSp>
          <p:nvGrpSpPr>
            <p:cNvPr id="3" name="Group 2">
              <a:extLst>
                <a:ext uri="{FF2B5EF4-FFF2-40B4-BE49-F238E27FC236}">
                  <a16:creationId xmlns:a16="http://schemas.microsoft.com/office/drawing/2014/main" id="{62D67323-38AB-D81A-8159-1A44544767E6}"/>
                </a:ext>
              </a:extLst>
            </p:cNvPr>
            <p:cNvGrpSpPr/>
            <p:nvPr/>
          </p:nvGrpSpPr>
          <p:grpSpPr>
            <a:xfrm>
              <a:off x="1962952" y="4270188"/>
              <a:ext cx="435694" cy="609604"/>
              <a:chOff x="5495102" y="2864334"/>
              <a:chExt cx="970294" cy="1360001"/>
            </a:xfrm>
          </p:grpSpPr>
          <p:grpSp>
            <p:nvGrpSpPr>
              <p:cNvPr id="5" name="Group 4">
                <a:extLst>
                  <a:ext uri="{FF2B5EF4-FFF2-40B4-BE49-F238E27FC236}">
                    <a16:creationId xmlns:a16="http://schemas.microsoft.com/office/drawing/2014/main" id="{5B1DE49C-076F-1C37-F1FB-257990613159}"/>
                  </a:ext>
                </a:extLst>
              </p:cNvPr>
              <p:cNvGrpSpPr/>
              <p:nvPr/>
            </p:nvGrpSpPr>
            <p:grpSpPr>
              <a:xfrm rot="10800000">
                <a:off x="5495102" y="2864334"/>
                <a:ext cx="970294" cy="995252"/>
                <a:chOff x="5610853" y="3734853"/>
                <a:chExt cx="970294" cy="995252"/>
              </a:xfrm>
            </p:grpSpPr>
            <p:sp>
              <p:nvSpPr>
                <p:cNvPr id="7" name="Oval 6">
                  <a:extLst>
                    <a:ext uri="{FF2B5EF4-FFF2-40B4-BE49-F238E27FC236}">
                      <a16:creationId xmlns:a16="http://schemas.microsoft.com/office/drawing/2014/main" id="{100932B7-4248-BA1D-922C-02DD96626FD9}"/>
                    </a:ext>
                  </a:extLst>
                </p:cNvPr>
                <p:cNvSpPr/>
                <p:nvPr/>
              </p:nvSpPr>
              <p:spPr>
                <a:xfrm>
                  <a:off x="5610853" y="3831769"/>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8" name="Graphic 7" descr="Caret Down with solid fill">
                  <a:extLst>
                    <a:ext uri="{FF2B5EF4-FFF2-40B4-BE49-F238E27FC236}">
                      <a16:creationId xmlns:a16="http://schemas.microsoft.com/office/drawing/2014/main" id="{F9827072-6B7C-306F-41C1-E79661541DA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3734853"/>
                  <a:ext cx="914400" cy="914400"/>
                </a:xfrm>
                <a:prstGeom prst="rect">
                  <a:avLst/>
                </a:prstGeom>
              </p:spPr>
            </p:pic>
          </p:grpSp>
          <p:sp>
            <p:nvSpPr>
              <p:cNvPr id="6" name="TextBox 5">
                <a:extLst>
                  <a:ext uri="{FF2B5EF4-FFF2-40B4-BE49-F238E27FC236}">
                    <a16:creationId xmlns:a16="http://schemas.microsoft.com/office/drawing/2014/main" id="{55952EAB-4876-87CF-E60A-7C60519B8198}"/>
                  </a:ext>
                </a:extLst>
              </p:cNvPr>
              <p:cNvSpPr txBox="1"/>
              <p:nvPr/>
            </p:nvSpPr>
            <p:spPr>
              <a:xfrm>
                <a:off x="5887884" y="3762670"/>
                <a:ext cx="184730" cy="461665"/>
              </a:xfrm>
              <a:prstGeom prst="rect">
                <a:avLst/>
              </a:prstGeom>
              <a:noFill/>
            </p:spPr>
            <p:txBody>
              <a:bodyPr wrap="none" rtlCol="0">
                <a:spAutoFit/>
              </a:bodyPr>
              <a:lstStyle/>
              <a:p>
                <a:pPr algn="ctr"/>
                <a:endParaRPr lang="en-US" sz="2400" i="1" dirty="0"/>
              </a:p>
            </p:txBody>
          </p:sp>
        </p:grpSp>
        <p:grpSp>
          <p:nvGrpSpPr>
            <p:cNvPr id="9" name="Group 8">
              <a:extLst>
                <a:ext uri="{FF2B5EF4-FFF2-40B4-BE49-F238E27FC236}">
                  <a16:creationId xmlns:a16="http://schemas.microsoft.com/office/drawing/2014/main" id="{CEB9241F-0778-0079-B938-4333BD5785D9}"/>
                </a:ext>
              </a:extLst>
            </p:cNvPr>
            <p:cNvGrpSpPr/>
            <p:nvPr/>
          </p:nvGrpSpPr>
          <p:grpSpPr>
            <a:xfrm>
              <a:off x="2472691" y="4685180"/>
              <a:ext cx="435694" cy="628884"/>
              <a:chOff x="7864892" y="5048043"/>
              <a:chExt cx="970294" cy="1403013"/>
            </a:xfrm>
          </p:grpSpPr>
          <p:grpSp>
            <p:nvGrpSpPr>
              <p:cNvPr id="10" name="Group 9">
                <a:extLst>
                  <a:ext uri="{FF2B5EF4-FFF2-40B4-BE49-F238E27FC236}">
                    <a16:creationId xmlns:a16="http://schemas.microsoft.com/office/drawing/2014/main" id="{409835EE-752B-2271-EDC1-34B420FE8AB0}"/>
                  </a:ext>
                </a:extLst>
              </p:cNvPr>
              <p:cNvGrpSpPr/>
              <p:nvPr/>
            </p:nvGrpSpPr>
            <p:grpSpPr>
              <a:xfrm>
                <a:off x="7864892" y="5048043"/>
                <a:ext cx="970294" cy="898336"/>
                <a:chOff x="7864892" y="5048043"/>
                <a:chExt cx="970294" cy="898336"/>
              </a:xfrm>
            </p:grpSpPr>
            <p:sp>
              <p:nvSpPr>
                <p:cNvPr id="12" name="Oval 11">
                  <a:extLst>
                    <a:ext uri="{FF2B5EF4-FFF2-40B4-BE49-F238E27FC236}">
                      <a16:creationId xmlns:a16="http://schemas.microsoft.com/office/drawing/2014/main" id="{82FBAEAE-4B8E-8634-DA34-E2F6EBF17856}"/>
                    </a:ext>
                  </a:extLst>
                </p:cNvPr>
                <p:cNvSpPr/>
                <p:nvPr/>
              </p:nvSpPr>
              <p:spPr>
                <a:xfrm>
                  <a:off x="7864892" y="5048043"/>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13" name="Graphic 12" descr="Transfer with solid fill">
                  <a:extLst>
                    <a:ext uri="{FF2B5EF4-FFF2-40B4-BE49-F238E27FC236}">
                      <a16:creationId xmlns:a16="http://schemas.microsoft.com/office/drawing/2014/main" id="{8055263B-D9FF-B010-964C-EDD4B2ED751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004521" y="5117203"/>
                  <a:ext cx="708202" cy="708202"/>
                </a:xfrm>
                <a:prstGeom prst="rect">
                  <a:avLst/>
                </a:prstGeom>
              </p:spPr>
            </p:pic>
          </p:grpSp>
          <p:sp>
            <p:nvSpPr>
              <p:cNvPr id="11" name="TextBox 10">
                <a:extLst>
                  <a:ext uri="{FF2B5EF4-FFF2-40B4-BE49-F238E27FC236}">
                    <a16:creationId xmlns:a16="http://schemas.microsoft.com/office/drawing/2014/main" id="{9DD23E65-7057-19F3-FF81-CB0B37418D5A}"/>
                  </a:ext>
                </a:extLst>
              </p:cNvPr>
              <p:cNvSpPr txBox="1"/>
              <p:nvPr/>
            </p:nvSpPr>
            <p:spPr>
              <a:xfrm>
                <a:off x="8253220" y="5989391"/>
                <a:ext cx="184730" cy="461665"/>
              </a:xfrm>
              <a:prstGeom prst="rect">
                <a:avLst/>
              </a:prstGeom>
              <a:noFill/>
            </p:spPr>
            <p:txBody>
              <a:bodyPr wrap="none" rtlCol="0">
                <a:spAutoFit/>
              </a:bodyPr>
              <a:lstStyle/>
              <a:p>
                <a:pPr algn="ctr"/>
                <a:endParaRPr lang="en-US" sz="2400" i="1" dirty="0"/>
              </a:p>
            </p:txBody>
          </p:sp>
        </p:grpSp>
        <p:grpSp>
          <p:nvGrpSpPr>
            <p:cNvPr id="14" name="Group 13">
              <a:extLst>
                <a:ext uri="{FF2B5EF4-FFF2-40B4-BE49-F238E27FC236}">
                  <a16:creationId xmlns:a16="http://schemas.microsoft.com/office/drawing/2014/main" id="{767201E5-BB38-77D7-6F1C-D89ADB3BA950}"/>
                </a:ext>
              </a:extLst>
            </p:cNvPr>
            <p:cNvGrpSpPr/>
            <p:nvPr/>
          </p:nvGrpSpPr>
          <p:grpSpPr>
            <a:xfrm>
              <a:off x="2460665" y="5385980"/>
              <a:ext cx="624973" cy="655259"/>
              <a:chOff x="9907694" y="4055615"/>
              <a:chExt cx="1391821" cy="1461855"/>
            </a:xfrm>
          </p:grpSpPr>
          <p:grpSp>
            <p:nvGrpSpPr>
              <p:cNvPr id="15" name="Group 14">
                <a:extLst>
                  <a:ext uri="{FF2B5EF4-FFF2-40B4-BE49-F238E27FC236}">
                    <a16:creationId xmlns:a16="http://schemas.microsoft.com/office/drawing/2014/main" id="{091E4F1B-4C0A-07BF-4272-3CF48846287A}"/>
                  </a:ext>
                </a:extLst>
              </p:cNvPr>
              <p:cNvGrpSpPr/>
              <p:nvPr/>
            </p:nvGrpSpPr>
            <p:grpSpPr>
              <a:xfrm>
                <a:off x="9907694" y="4055615"/>
                <a:ext cx="1391821" cy="914400"/>
                <a:chOff x="9907694" y="4055615"/>
                <a:chExt cx="1391821" cy="914400"/>
              </a:xfrm>
            </p:grpSpPr>
            <p:sp>
              <p:nvSpPr>
                <p:cNvPr id="17" name="Oval 16">
                  <a:extLst>
                    <a:ext uri="{FF2B5EF4-FFF2-40B4-BE49-F238E27FC236}">
                      <a16:creationId xmlns:a16="http://schemas.microsoft.com/office/drawing/2014/main" id="{8C23BDEF-367A-2054-45C7-F35F61A9AA9D}"/>
                    </a:ext>
                  </a:extLst>
                </p:cNvPr>
                <p:cNvSpPr/>
                <p:nvPr/>
              </p:nvSpPr>
              <p:spPr>
                <a:xfrm>
                  <a:off x="9907694" y="4055615"/>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dirty="0"/>
                </a:p>
              </p:txBody>
            </p:sp>
            <p:pic>
              <p:nvPicPr>
                <p:cNvPr id="18" name="Graphic 17" descr="Arrow Down with solid fill">
                  <a:extLst>
                    <a:ext uri="{FF2B5EF4-FFF2-40B4-BE49-F238E27FC236}">
                      <a16:creationId xmlns:a16="http://schemas.microsoft.com/office/drawing/2014/main" id="{83096C1B-D4C7-2832-38AE-82D7B7B9F450}"/>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rot="16200000">
                  <a:off x="10385115" y="4055615"/>
                  <a:ext cx="914400" cy="914400"/>
                </a:xfrm>
                <a:prstGeom prst="rect">
                  <a:avLst/>
                </a:prstGeom>
              </p:spPr>
            </p:pic>
          </p:grpSp>
          <p:sp>
            <p:nvSpPr>
              <p:cNvPr id="16" name="TextBox 15">
                <a:extLst>
                  <a:ext uri="{FF2B5EF4-FFF2-40B4-BE49-F238E27FC236}">
                    <a16:creationId xmlns:a16="http://schemas.microsoft.com/office/drawing/2014/main" id="{5A32D65A-2C18-4DF5-1A89-A348C554CE7B}"/>
                  </a:ext>
                </a:extLst>
              </p:cNvPr>
              <p:cNvSpPr txBox="1"/>
              <p:nvPr/>
            </p:nvSpPr>
            <p:spPr>
              <a:xfrm>
                <a:off x="10300476" y="5055805"/>
                <a:ext cx="184731" cy="461665"/>
              </a:xfrm>
              <a:prstGeom prst="rect">
                <a:avLst/>
              </a:prstGeom>
              <a:noFill/>
            </p:spPr>
            <p:txBody>
              <a:bodyPr wrap="none" rtlCol="0">
                <a:spAutoFit/>
              </a:bodyPr>
              <a:lstStyle/>
              <a:p>
                <a:pPr algn="ctr"/>
                <a:endParaRPr lang="en-US" sz="2400" i="1" dirty="0"/>
              </a:p>
            </p:txBody>
          </p:sp>
        </p:grpSp>
        <p:pic>
          <p:nvPicPr>
            <p:cNvPr id="19" name="Graphic 18" descr="User with solid fill">
              <a:extLst>
                <a:ext uri="{FF2B5EF4-FFF2-40B4-BE49-F238E27FC236}">
                  <a16:creationId xmlns:a16="http://schemas.microsoft.com/office/drawing/2014/main" id="{4A766BF3-00C0-4B88-95F8-7684EFBAF60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843675" y="4752539"/>
              <a:ext cx="604643" cy="683887"/>
            </a:xfrm>
            <a:prstGeom prst="rect">
              <a:avLst/>
            </a:prstGeom>
          </p:spPr>
        </p:pic>
        <p:grpSp>
          <p:nvGrpSpPr>
            <p:cNvPr id="20" name="Group 19">
              <a:extLst>
                <a:ext uri="{FF2B5EF4-FFF2-40B4-BE49-F238E27FC236}">
                  <a16:creationId xmlns:a16="http://schemas.microsoft.com/office/drawing/2014/main" id="{D18B7D29-B7B0-473B-251B-7E2ED8BD5D1C}"/>
                </a:ext>
              </a:extLst>
            </p:cNvPr>
            <p:cNvGrpSpPr/>
            <p:nvPr/>
          </p:nvGrpSpPr>
          <p:grpSpPr>
            <a:xfrm>
              <a:off x="1407302" y="4647137"/>
              <a:ext cx="435694" cy="648645"/>
              <a:chOff x="7864892" y="2862387"/>
              <a:chExt cx="970294" cy="1447098"/>
            </a:xfrm>
          </p:grpSpPr>
          <p:sp>
            <p:nvSpPr>
              <p:cNvPr id="21" name="Oval 20">
                <a:extLst>
                  <a:ext uri="{FF2B5EF4-FFF2-40B4-BE49-F238E27FC236}">
                    <a16:creationId xmlns:a16="http://schemas.microsoft.com/office/drawing/2014/main" id="{B21BAF2E-F4BC-8FA8-ACB4-19F748F9A490}"/>
                  </a:ext>
                </a:extLst>
              </p:cNvPr>
              <p:cNvSpPr/>
              <p:nvPr/>
            </p:nvSpPr>
            <p:spPr>
              <a:xfrm>
                <a:off x="7864892" y="2862387"/>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22" name="Graphic 21" descr="Line arrow: Rotate left with solid fill">
                <a:extLst>
                  <a:ext uri="{FF2B5EF4-FFF2-40B4-BE49-F238E27FC236}">
                    <a16:creationId xmlns:a16="http://schemas.microsoft.com/office/drawing/2014/main" id="{71967DB4-C8CA-8649-306E-6690E0E6079D}"/>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0310" y="2974343"/>
                <a:ext cx="674423" cy="674423"/>
              </a:xfrm>
              <a:prstGeom prst="rect">
                <a:avLst/>
              </a:prstGeom>
            </p:spPr>
          </p:pic>
          <p:sp>
            <p:nvSpPr>
              <p:cNvPr id="23" name="TextBox 22">
                <a:extLst>
                  <a:ext uri="{FF2B5EF4-FFF2-40B4-BE49-F238E27FC236}">
                    <a16:creationId xmlns:a16="http://schemas.microsoft.com/office/drawing/2014/main" id="{6BF011D5-3040-9A91-6356-D904B8EF4049}"/>
                  </a:ext>
                </a:extLst>
              </p:cNvPr>
              <p:cNvSpPr txBox="1"/>
              <p:nvPr/>
            </p:nvSpPr>
            <p:spPr>
              <a:xfrm>
                <a:off x="8255155" y="3847820"/>
                <a:ext cx="184730" cy="461665"/>
              </a:xfrm>
              <a:prstGeom prst="rect">
                <a:avLst/>
              </a:prstGeom>
              <a:noFill/>
            </p:spPr>
            <p:txBody>
              <a:bodyPr wrap="none" rtlCol="0">
                <a:spAutoFit/>
              </a:bodyPr>
              <a:lstStyle/>
              <a:p>
                <a:pPr algn="ctr"/>
                <a:endParaRPr lang="en-US" sz="2400" i="1" dirty="0"/>
              </a:p>
            </p:txBody>
          </p:sp>
        </p:grpSp>
        <p:grpSp>
          <p:nvGrpSpPr>
            <p:cNvPr id="24" name="Group 23">
              <a:extLst>
                <a:ext uri="{FF2B5EF4-FFF2-40B4-BE49-F238E27FC236}">
                  <a16:creationId xmlns:a16="http://schemas.microsoft.com/office/drawing/2014/main" id="{CB39B08E-8660-C934-DE95-820DE2A1FB1C}"/>
                </a:ext>
              </a:extLst>
            </p:cNvPr>
            <p:cNvGrpSpPr/>
            <p:nvPr/>
          </p:nvGrpSpPr>
          <p:grpSpPr>
            <a:xfrm>
              <a:off x="1420411" y="5334822"/>
              <a:ext cx="435694" cy="676207"/>
              <a:chOff x="5610853" y="4953951"/>
              <a:chExt cx="970294" cy="1508589"/>
            </a:xfrm>
          </p:grpSpPr>
          <p:grpSp>
            <p:nvGrpSpPr>
              <p:cNvPr id="25" name="Group 24">
                <a:extLst>
                  <a:ext uri="{FF2B5EF4-FFF2-40B4-BE49-F238E27FC236}">
                    <a16:creationId xmlns:a16="http://schemas.microsoft.com/office/drawing/2014/main" id="{C0F85632-93F2-6C91-7F24-28F2A263093E}"/>
                  </a:ext>
                </a:extLst>
              </p:cNvPr>
              <p:cNvGrpSpPr/>
              <p:nvPr/>
            </p:nvGrpSpPr>
            <p:grpSpPr>
              <a:xfrm>
                <a:off x="5610853" y="4953951"/>
                <a:ext cx="970294" cy="1030859"/>
                <a:chOff x="5610853" y="4953951"/>
                <a:chExt cx="970294" cy="1030859"/>
              </a:xfrm>
            </p:grpSpPr>
            <p:sp>
              <p:nvSpPr>
                <p:cNvPr id="27" name="Oval 26">
                  <a:extLst>
                    <a:ext uri="{FF2B5EF4-FFF2-40B4-BE49-F238E27FC236}">
                      <a16:creationId xmlns:a16="http://schemas.microsoft.com/office/drawing/2014/main" id="{A5B87D70-6E8C-B30F-3A94-A4896172759B}"/>
                    </a:ext>
                  </a:extLst>
                </p:cNvPr>
                <p:cNvSpPr/>
                <p:nvPr/>
              </p:nvSpPr>
              <p:spPr>
                <a:xfrm>
                  <a:off x="5610853" y="5086474"/>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28" name="Graphic 27" descr="Caret Down with solid fill">
                  <a:extLst>
                    <a:ext uri="{FF2B5EF4-FFF2-40B4-BE49-F238E27FC236}">
                      <a16:creationId xmlns:a16="http://schemas.microsoft.com/office/drawing/2014/main" id="{711AEE5D-0F50-3109-9E81-9FD1C499CFBC}"/>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rot="10800000">
                  <a:off x="5638800" y="4953951"/>
                  <a:ext cx="914400" cy="914400"/>
                </a:xfrm>
                <a:prstGeom prst="rect">
                  <a:avLst/>
                </a:prstGeom>
              </p:spPr>
            </p:pic>
          </p:grpSp>
          <p:sp>
            <p:nvSpPr>
              <p:cNvPr id="26" name="TextBox 25">
                <a:extLst>
                  <a:ext uri="{FF2B5EF4-FFF2-40B4-BE49-F238E27FC236}">
                    <a16:creationId xmlns:a16="http://schemas.microsoft.com/office/drawing/2014/main" id="{C51C1045-E88F-72C0-FBE7-2BC4DF219045}"/>
                  </a:ext>
                </a:extLst>
              </p:cNvPr>
              <p:cNvSpPr txBox="1"/>
              <p:nvPr/>
            </p:nvSpPr>
            <p:spPr>
              <a:xfrm>
                <a:off x="6003633" y="6000875"/>
                <a:ext cx="184730" cy="461665"/>
              </a:xfrm>
              <a:prstGeom prst="rect">
                <a:avLst/>
              </a:prstGeom>
              <a:noFill/>
            </p:spPr>
            <p:txBody>
              <a:bodyPr wrap="none" rtlCol="0">
                <a:spAutoFit/>
              </a:bodyPr>
              <a:lstStyle/>
              <a:p>
                <a:pPr algn="ctr"/>
                <a:endParaRPr lang="en-US" sz="2400" i="1" dirty="0"/>
              </a:p>
            </p:txBody>
          </p:sp>
        </p:grpSp>
      </p:grpSp>
      <p:sp>
        <p:nvSpPr>
          <p:cNvPr id="30" name="TextBox 29">
            <a:extLst>
              <a:ext uri="{FF2B5EF4-FFF2-40B4-BE49-F238E27FC236}">
                <a16:creationId xmlns:a16="http://schemas.microsoft.com/office/drawing/2014/main" id="{156848B5-74F2-BD6B-9F8A-5CFC02FB6310}"/>
              </a:ext>
            </a:extLst>
          </p:cNvPr>
          <p:cNvSpPr txBox="1"/>
          <p:nvPr/>
        </p:nvSpPr>
        <p:spPr>
          <a:xfrm>
            <a:off x="4506092" y="6325861"/>
            <a:ext cx="4095220" cy="461665"/>
          </a:xfrm>
          <a:prstGeom prst="rect">
            <a:avLst/>
          </a:prstGeom>
          <a:noFill/>
        </p:spPr>
        <p:txBody>
          <a:bodyPr wrap="square" rtlCol="0">
            <a:spAutoFit/>
          </a:bodyPr>
          <a:lstStyle/>
          <a:p>
            <a:r>
              <a:rPr lang="en-US" sz="2400" b="1" dirty="0"/>
              <a:t>Values</a:t>
            </a:r>
            <a:r>
              <a:rPr lang="en-US" sz="2400" dirty="0"/>
              <a:t> shape </a:t>
            </a:r>
            <a:r>
              <a:rPr lang="en-US" sz="2400" b="1" dirty="0"/>
              <a:t>actions</a:t>
            </a:r>
          </a:p>
        </p:txBody>
      </p:sp>
      <p:grpSp>
        <p:nvGrpSpPr>
          <p:cNvPr id="39" name="Group 38">
            <a:extLst>
              <a:ext uri="{FF2B5EF4-FFF2-40B4-BE49-F238E27FC236}">
                <a16:creationId xmlns:a16="http://schemas.microsoft.com/office/drawing/2014/main" id="{CD8B2DE9-4839-0DA9-DBB0-7F8749F0A3B9}"/>
              </a:ext>
            </a:extLst>
          </p:cNvPr>
          <p:cNvGrpSpPr/>
          <p:nvPr/>
        </p:nvGrpSpPr>
        <p:grpSpPr>
          <a:xfrm>
            <a:off x="4756301" y="5180131"/>
            <a:ext cx="2319706" cy="1045370"/>
            <a:chOff x="3896739" y="2725180"/>
            <a:chExt cx="2319706" cy="1045370"/>
          </a:xfrm>
        </p:grpSpPr>
        <p:sp>
          <p:nvSpPr>
            <p:cNvPr id="31" name="Oval 30">
              <a:extLst>
                <a:ext uri="{FF2B5EF4-FFF2-40B4-BE49-F238E27FC236}">
                  <a16:creationId xmlns:a16="http://schemas.microsoft.com/office/drawing/2014/main" id="{F6712D6A-5F2A-DF99-20C9-61083A2D030E}"/>
                </a:ext>
              </a:extLst>
            </p:cNvPr>
            <p:cNvSpPr/>
            <p:nvPr/>
          </p:nvSpPr>
          <p:spPr>
            <a:xfrm>
              <a:off x="5196203" y="2791757"/>
              <a:ext cx="1020242" cy="932041"/>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Oval 31">
              <a:extLst>
                <a:ext uri="{FF2B5EF4-FFF2-40B4-BE49-F238E27FC236}">
                  <a16:creationId xmlns:a16="http://schemas.microsoft.com/office/drawing/2014/main" id="{E7A5E636-F831-7E75-87DB-E8E4C72E96E3}"/>
                </a:ext>
              </a:extLst>
            </p:cNvPr>
            <p:cNvSpPr/>
            <p:nvPr/>
          </p:nvSpPr>
          <p:spPr>
            <a:xfrm>
              <a:off x="4589944" y="2778673"/>
              <a:ext cx="1033351" cy="95899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Oval 32">
              <a:extLst>
                <a:ext uri="{FF2B5EF4-FFF2-40B4-BE49-F238E27FC236}">
                  <a16:creationId xmlns:a16="http://schemas.microsoft.com/office/drawing/2014/main" id="{D03ACEDC-5573-7DB8-1BF5-E57E03693DB4}"/>
                </a:ext>
              </a:extLst>
            </p:cNvPr>
            <p:cNvSpPr/>
            <p:nvPr/>
          </p:nvSpPr>
          <p:spPr>
            <a:xfrm>
              <a:off x="3896739" y="2725180"/>
              <a:ext cx="1116380" cy="10453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43" name="TextBox 42">
            <a:extLst>
              <a:ext uri="{FF2B5EF4-FFF2-40B4-BE49-F238E27FC236}">
                <a16:creationId xmlns:a16="http://schemas.microsoft.com/office/drawing/2014/main" id="{362B5693-116E-AE14-37F1-DDEA345BCD5E}"/>
              </a:ext>
            </a:extLst>
          </p:cNvPr>
          <p:cNvSpPr txBox="1"/>
          <p:nvPr/>
        </p:nvSpPr>
        <p:spPr>
          <a:xfrm>
            <a:off x="213346" y="3611005"/>
            <a:ext cx="4044063" cy="1200329"/>
          </a:xfrm>
          <a:prstGeom prst="rect">
            <a:avLst/>
          </a:prstGeom>
          <a:noFill/>
        </p:spPr>
        <p:txBody>
          <a:bodyPr wrap="square">
            <a:spAutoFit/>
          </a:bodyPr>
          <a:lstStyle/>
          <a:p>
            <a:r>
              <a:rPr lang="en-US" sz="2400" dirty="0"/>
              <a:t>Leadership can be </a:t>
            </a:r>
            <a:r>
              <a:rPr lang="en-US" sz="2400" b="1" dirty="0"/>
              <a:t>formal</a:t>
            </a:r>
            <a:r>
              <a:rPr lang="en-US" sz="2400" dirty="0"/>
              <a:t> (e.g. supervisor) or </a:t>
            </a:r>
            <a:r>
              <a:rPr lang="en-US" sz="2400" b="1" dirty="0"/>
              <a:t>informal</a:t>
            </a:r>
            <a:r>
              <a:rPr lang="en-US" sz="2400" dirty="0"/>
              <a:t> (e.g. community champion)</a:t>
            </a:r>
          </a:p>
        </p:txBody>
      </p:sp>
      <p:sp>
        <p:nvSpPr>
          <p:cNvPr id="45" name="TextBox 44">
            <a:extLst>
              <a:ext uri="{FF2B5EF4-FFF2-40B4-BE49-F238E27FC236}">
                <a16:creationId xmlns:a16="http://schemas.microsoft.com/office/drawing/2014/main" id="{404E215F-43B6-F951-6C0B-C5FCEC7F5948}"/>
              </a:ext>
            </a:extLst>
          </p:cNvPr>
          <p:cNvSpPr txBox="1"/>
          <p:nvPr/>
        </p:nvSpPr>
        <p:spPr>
          <a:xfrm>
            <a:off x="4506092" y="3332771"/>
            <a:ext cx="3629175" cy="1569660"/>
          </a:xfrm>
          <a:prstGeom prst="rect">
            <a:avLst/>
          </a:prstGeom>
          <a:noFill/>
        </p:spPr>
        <p:txBody>
          <a:bodyPr wrap="square">
            <a:spAutoFit/>
          </a:bodyPr>
          <a:lstStyle/>
          <a:p>
            <a:r>
              <a:rPr lang="en-US" sz="2400" dirty="0"/>
              <a:t>Leadership is a </a:t>
            </a:r>
            <a:r>
              <a:rPr lang="en-US" sz="2400" b="1" dirty="0"/>
              <a:t>co-constructive process</a:t>
            </a:r>
            <a:r>
              <a:rPr lang="en-US" sz="2400" dirty="0"/>
              <a:t> between leaders and followers</a:t>
            </a:r>
          </a:p>
        </p:txBody>
      </p:sp>
      <p:sp>
        <p:nvSpPr>
          <p:cNvPr id="47" name="TextBox 46">
            <a:extLst>
              <a:ext uri="{FF2B5EF4-FFF2-40B4-BE49-F238E27FC236}">
                <a16:creationId xmlns:a16="http://schemas.microsoft.com/office/drawing/2014/main" id="{8067885D-92F5-EE0C-D442-C9A58278293F}"/>
              </a:ext>
            </a:extLst>
          </p:cNvPr>
          <p:cNvSpPr txBox="1"/>
          <p:nvPr/>
        </p:nvSpPr>
        <p:spPr>
          <a:xfrm>
            <a:off x="8635167" y="3502375"/>
            <a:ext cx="3629175" cy="830997"/>
          </a:xfrm>
          <a:prstGeom prst="rect">
            <a:avLst/>
          </a:prstGeom>
          <a:noFill/>
        </p:spPr>
        <p:txBody>
          <a:bodyPr wrap="square">
            <a:spAutoFit/>
          </a:bodyPr>
          <a:lstStyle/>
          <a:p>
            <a:r>
              <a:rPr lang="en-US" sz="2400" dirty="0"/>
              <a:t>Leadership is </a:t>
            </a:r>
            <a:r>
              <a:rPr lang="en-US" sz="2400" b="1" dirty="0"/>
              <a:t>multi-directional</a:t>
            </a:r>
          </a:p>
        </p:txBody>
      </p:sp>
      <p:grpSp>
        <p:nvGrpSpPr>
          <p:cNvPr id="52" name="Group 51">
            <a:extLst>
              <a:ext uri="{FF2B5EF4-FFF2-40B4-BE49-F238E27FC236}">
                <a16:creationId xmlns:a16="http://schemas.microsoft.com/office/drawing/2014/main" id="{5E195A3C-A76E-492B-C649-173482790A3D}"/>
              </a:ext>
            </a:extLst>
          </p:cNvPr>
          <p:cNvGrpSpPr/>
          <p:nvPr/>
        </p:nvGrpSpPr>
        <p:grpSpPr>
          <a:xfrm>
            <a:off x="4697462" y="1745107"/>
            <a:ext cx="2025707" cy="914400"/>
            <a:chOff x="4099570" y="2312765"/>
            <a:chExt cx="2025707" cy="914400"/>
          </a:xfrm>
        </p:grpSpPr>
        <p:pic>
          <p:nvPicPr>
            <p:cNvPr id="49" name="Graphic 48" descr="User with solid fill">
              <a:extLst>
                <a:ext uri="{FF2B5EF4-FFF2-40B4-BE49-F238E27FC236}">
                  <a16:creationId xmlns:a16="http://schemas.microsoft.com/office/drawing/2014/main" id="{6479F33A-73E3-1E4A-B94A-0F7982B4472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99570" y="2472319"/>
              <a:ext cx="554007" cy="627725"/>
            </a:xfrm>
            <a:prstGeom prst="rect">
              <a:avLst/>
            </a:prstGeom>
          </p:spPr>
        </p:pic>
        <p:pic>
          <p:nvPicPr>
            <p:cNvPr id="50" name="Graphic 49" descr="Users with solid fill">
              <a:extLst>
                <a:ext uri="{FF2B5EF4-FFF2-40B4-BE49-F238E27FC236}">
                  <a16:creationId xmlns:a16="http://schemas.microsoft.com/office/drawing/2014/main" id="{DDF1BB50-5CD9-71FF-75BC-E8A6E5D7733A}"/>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318262" y="2312765"/>
              <a:ext cx="807015" cy="914400"/>
            </a:xfrm>
            <a:prstGeom prst="rect">
              <a:avLst/>
            </a:prstGeom>
          </p:spPr>
        </p:pic>
        <p:pic>
          <p:nvPicPr>
            <p:cNvPr id="51" name="Graphic 50" descr="Transfer outline">
              <a:extLst>
                <a:ext uri="{FF2B5EF4-FFF2-40B4-BE49-F238E27FC236}">
                  <a16:creationId xmlns:a16="http://schemas.microsoft.com/office/drawing/2014/main" id="{52566BDE-33F2-CA72-534A-66CF791E0D0F}"/>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4668674" y="2468745"/>
              <a:ext cx="570427" cy="646331"/>
            </a:xfrm>
            <a:prstGeom prst="rect">
              <a:avLst/>
            </a:prstGeom>
          </p:spPr>
        </p:pic>
      </p:grpSp>
      <p:pic>
        <p:nvPicPr>
          <p:cNvPr id="29" name="Picture 28">
            <a:extLst>
              <a:ext uri="{FF2B5EF4-FFF2-40B4-BE49-F238E27FC236}">
                <a16:creationId xmlns:a16="http://schemas.microsoft.com/office/drawing/2014/main" id="{9103BC36-29D0-CE80-7A8B-DF8FCA0E4E30}"/>
              </a:ext>
            </a:extLst>
          </p:cNvPr>
          <p:cNvPicPr>
            <a:picLocks noChangeAspect="1"/>
          </p:cNvPicPr>
          <p:nvPr/>
        </p:nvPicPr>
        <p:blipFill>
          <a:blip r:embed="rId12"/>
          <a:srcRect l="27625" t="24521" r="27778" b="29195"/>
          <a:stretch>
            <a:fillRect/>
          </a:stretch>
        </p:blipFill>
        <p:spPr>
          <a:xfrm>
            <a:off x="747118" y="1092428"/>
            <a:ext cx="2370007" cy="2459597"/>
          </a:xfrm>
          <a:prstGeom prst="rect">
            <a:avLst/>
          </a:prstGeom>
        </p:spPr>
      </p:pic>
    </p:spTree>
    <p:extLst>
      <p:ext uri="{BB962C8B-B14F-4D97-AF65-F5344CB8AC3E}">
        <p14:creationId xmlns:p14="http://schemas.microsoft.com/office/powerpoint/2010/main" val="20392845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EEA23B8A-FBB5-C790-D332-9D2C484B8542}"/>
              </a:ext>
            </a:extLst>
          </p:cNvPr>
          <p:cNvGrpSpPr/>
          <p:nvPr/>
        </p:nvGrpSpPr>
        <p:grpSpPr>
          <a:xfrm>
            <a:off x="10644280" y="6476875"/>
            <a:ext cx="1474613" cy="325672"/>
            <a:chOff x="19317" y="2690018"/>
            <a:chExt cx="11784755" cy="2025180"/>
          </a:xfrm>
        </p:grpSpPr>
        <p:pic>
          <p:nvPicPr>
            <p:cNvPr id="13" name="Picture 2">
              <a:extLst>
                <a:ext uri="{FF2B5EF4-FFF2-40B4-BE49-F238E27FC236}">
                  <a16:creationId xmlns:a16="http://schemas.microsoft.com/office/drawing/2014/main" id="{7940EF9E-7B65-DB8D-0C7A-6B02FF4C44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8398D178-6C03-5759-018E-47B6121E7A39}"/>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7" name="Content Placeholder 6">
            <a:extLst>
              <a:ext uri="{FF2B5EF4-FFF2-40B4-BE49-F238E27FC236}">
                <a16:creationId xmlns:a16="http://schemas.microsoft.com/office/drawing/2014/main" id="{B19FA9B8-05F2-06BE-FB6A-04AC52978824}"/>
              </a:ext>
            </a:extLst>
          </p:cNvPr>
          <p:cNvPicPr>
            <a:picLocks noGrp="1" noChangeAspect="1"/>
          </p:cNvPicPr>
          <p:nvPr>
            <p:ph idx="1"/>
          </p:nvPr>
        </p:nvPicPr>
        <p:blipFill>
          <a:blip r:embed="rId5"/>
          <a:stretch>
            <a:fillRect/>
          </a:stretch>
        </p:blipFill>
        <p:spPr>
          <a:xfrm>
            <a:off x="178196" y="83204"/>
            <a:ext cx="11175604" cy="6273146"/>
          </a:xfrm>
          <a:prstGeom prst="rect">
            <a:avLst/>
          </a:prstGeom>
        </p:spPr>
      </p:pic>
      <p:sp>
        <p:nvSpPr>
          <p:cNvPr id="4" name="Slide Number Placeholder 3">
            <a:extLst>
              <a:ext uri="{FF2B5EF4-FFF2-40B4-BE49-F238E27FC236}">
                <a16:creationId xmlns:a16="http://schemas.microsoft.com/office/drawing/2014/main" id="{62584EB2-8131-FFDC-FE5A-C8492C0F9E7E}"/>
              </a:ext>
            </a:extLst>
          </p:cNvPr>
          <p:cNvSpPr>
            <a:spLocks noGrp="1"/>
          </p:cNvSpPr>
          <p:nvPr>
            <p:ph type="sldNum" sz="quarter" idx="12"/>
          </p:nvPr>
        </p:nvSpPr>
        <p:spPr>
          <a:xfrm>
            <a:off x="8610600" y="6273225"/>
            <a:ext cx="2743200" cy="365125"/>
          </a:xfrm>
        </p:spPr>
        <p:txBody>
          <a:bodyPr/>
          <a:lstStyle/>
          <a:p>
            <a:fld id="{D292B180-B274-DE43-B36F-C827C7616C05}" type="slidenum">
              <a:rPr lang="en-US" smtClean="0"/>
              <a:t>38</a:t>
            </a:fld>
            <a:endParaRPr lang="en-US" dirty="0"/>
          </a:p>
        </p:txBody>
      </p:sp>
    </p:spTree>
    <p:extLst>
      <p:ext uri="{BB962C8B-B14F-4D97-AF65-F5344CB8AC3E}">
        <p14:creationId xmlns:p14="http://schemas.microsoft.com/office/powerpoint/2010/main" val="225664879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60D6B5-C4CD-18D4-69CD-042DD50CB8BD}"/>
            </a:ext>
          </a:extLst>
        </p:cNvPr>
        <p:cNvGrpSpPr/>
        <p:nvPr/>
      </p:nvGrpSpPr>
      <p:grpSpPr>
        <a:xfrm>
          <a:off x="0" y="0"/>
          <a:ext cx="0" cy="0"/>
          <a:chOff x="0" y="0"/>
          <a:chExt cx="0" cy="0"/>
        </a:xfrm>
      </p:grpSpPr>
      <p:pic>
        <p:nvPicPr>
          <p:cNvPr id="11" name="Picture 10" descr="A diagram of a leadership&#10;&#10;AI-generated content may be incorrect.">
            <a:extLst>
              <a:ext uri="{FF2B5EF4-FFF2-40B4-BE49-F238E27FC236}">
                <a16:creationId xmlns:a16="http://schemas.microsoft.com/office/drawing/2014/main" id="{F7BBD644-74E3-FD5E-81DD-0C89C7082020}"/>
              </a:ext>
            </a:extLst>
          </p:cNvPr>
          <p:cNvPicPr>
            <a:picLocks noChangeAspect="1"/>
          </p:cNvPicPr>
          <p:nvPr/>
        </p:nvPicPr>
        <p:blipFill>
          <a:blip r:embed="rId3"/>
          <a:srcRect l="6066" b="2237"/>
          <a:stretch>
            <a:fillRect/>
          </a:stretch>
        </p:blipFill>
        <p:spPr>
          <a:xfrm>
            <a:off x="187339" y="79346"/>
            <a:ext cx="5250345" cy="6699308"/>
          </a:xfrm>
          <a:prstGeom prst="rect">
            <a:avLst/>
          </a:prstGeom>
        </p:spPr>
      </p:pic>
      <p:sp>
        <p:nvSpPr>
          <p:cNvPr id="2" name="Title 1">
            <a:extLst>
              <a:ext uri="{FF2B5EF4-FFF2-40B4-BE49-F238E27FC236}">
                <a16:creationId xmlns:a16="http://schemas.microsoft.com/office/drawing/2014/main" id="{1128A99E-2D17-2D5D-55AD-591BCE0E2F25}"/>
              </a:ext>
            </a:extLst>
          </p:cNvPr>
          <p:cNvSpPr>
            <a:spLocks noGrp="1"/>
          </p:cNvSpPr>
          <p:nvPr>
            <p:ph type="title"/>
          </p:nvPr>
        </p:nvSpPr>
        <p:spPr>
          <a:xfrm>
            <a:off x="4833190" y="0"/>
            <a:ext cx="7285703" cy="1325563"/>
          </a:xfrm>
        </p:spPr>
        <p:txBody>
          <a:bodyPr>
            <a:normAutofit/>
          </a:bodyPr>
          <a:lstStyle/>
          <a:p>
            <a:r>
              <a:rPr lang="en-US" b="1" dirty="0"/>
              <a:t>Shared values of effective leadership and Open Science</a:t>
            </a:r>
          </a:p>
        </p:txBody>
      </p:sp>
      <p:grpSp>
        <p:nvGrpSpPr>
          <p:cNvPr id="4" name="Group 3">
            <a:extLst>
              <a:ext uri="{FF2B5EF4-FFF2-40B4-BE49-F238E27FC236}">
                <a16:creationId xmlns:a16="http://schemas.microsoft.com/office/drawing/2014/main" id="{B7D4450D-134C-CD0E-536C-20D238BF22CA}"/>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3CE34784-902D-FB05-37F9-77EFCED914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FD0DBFA7-94DB-F580-986C-700F829B9145}"/>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3878F2CA-1EE7-E722-AA36-96745A07E3AC}"/>
              </a:ext>
            </a:extLst>
          </p:cNvPr>
          <p:cNvSpPr>
            <a:spLocks noGrp="1"/>
          </p:cNvSpPr>
          <p:nvPr>
            <p:ph type="sldNum" sz="quarter" idx="12"/>
          </p:nvPr>
        </p:nvSpPr>
        <p:spPr>
          <a:xfrm>
            <a:off x="10593572" y="6356350"/>
            <a:ext cx="760227" cy="365125"/>
          </a:xfrm>
        </p:spPr>
        <p:txBody>
          <a:bodyPr/>
          <a:lstStyle/>
          <a:p>
            <a:fld id="{D292B180-B274-DE43-B36F-C827C7616C05}" type="slidenum">
              <a:rPr lang="en-US" smtClean="0"/>
              <a:pPr/>
              <a:t>39</a:t>
            </a:fld>
            <a:endParaRPr lang="en-US" dirty="0"/>
          </a:p>
          <a:p>
            <a:endParaRPr lang="en-US" dirty="0"/>
          </a:p>
        </p:txBody>
      </p:sp>
      <p:sp>
        <p:nvSpPr>
          <p:cNvPr id="12" name="Right Brace 11">
            <a:extLst>
              <a:ext uri="{FF2B5EF4-FFF2-40B4-BE49-F238E27FC236}">
                <a16:creationId xmlns:a16="http://schemas.microsoft.com/office/drawing/2014/main" id="{5E6387B5-335B-3C82-3E9F-616AC2B1CC28}"/>
              </a:ext>
            </a:extLst>
          </p:cNvPr>
          <p:cNvSpPr/>
          <p:nvPr/>
        </p:nvSpPr>
        <p:spPr>
          <a:xfrm>
            <a:off x="5398355" y="1303440"/>
            <a:ext cx="1199090" cy="2709346"/>
          </a:xfrm>
          <a:prstGeom prst="rightBrace">
            <a:avLst>
              <a:gd name="adj1" fmla="val 18053"/>
              <a:gd name="adj2" fmla="val 48992"/>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30" name="Group 29">
            <a:extLst>
              <a:ext uri="{FF2B5EF4-FFF2-40B4-BE49-F238E27FC236}">
                <a16:creationId xmlns:a16="http://schemas.microsoft.com/office/drawing/2014/main" id="{4D76DD22-C2A5-5C9E-74E1-12E0FE516A7B}"/>
              </a:ext>
            </a:extLst>
          </p:cNvPr>
          <p:cNvGrpSpPr/>
          <p:nvPr/>
        </p:nvGrpSpPr>
        <p:grpSpPr>
          <a:xfrm>
            <a:off x="6816673" y="3636641"/>
            <a:ext cx="1517427" cy="1440662"/>
            <a:chOff x="6441763" y="3636641"/>
            <a:chExt cx="1517427" cy="1440662"/>
          </a:xfrm>
        </p:grpSpPr>
        <p:sp>
          <p:nvSpPr>
            <p:cNvPr id="27" name="Oval 26">
              <a:extLst>
                <a:ext uri="{FF2B5EF4-FFF2-40B4-BE49-F238E27FC236}">
                  <a16:creationId xmlns:a16="http://schemas.microsoft.com/office/drawing/2014/main" id="{BB5DE883-0E75-F6AD-9CDF-5742B2548CBD}"/>
                </a:ext>
              </a:extLst>
            </p:cNvPr>
            <p:cNvSpPr/>
            <p:nvPr/>
          </p:nvSpPr>
          <p:spPr>
            <a:xfrm>
              <a:off x="6441763" y="3636641"/>
              <a:ext cx="1517427" cy="144066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1" name="Graphic 20" descr="Users with solid fill">
              <a:extLst>
                <a:ext uri="{FF2B5EF4-FFF2-40B4-BE49-F238E27FC236}">
                  <a16:creationId xmlns:a16="http://schemas.microsoft.com/office/drawing/2014/main" id="{0D30A826-CED2-398E-644C-C931357FED9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59102" y="3666682"/>
              <a:ext cx="807015" cy="914400"/>
            </a:xfrm>
            <a:prstGeom prst="rect">
              <a:avLst/>
            </a:prstGeom>
          </p:spPr>
        </p:pic>
        <p:sp>
          <p:nvSpPr>
            <p:cNvPr id="23" name="TextBox 22">
              <a:extLst>
                <a:ext uri="{FF2B5EF4-FFF2-40B4-BE49-F238E27FC236}">
                  <a16:creationId xmlns:a16="http://schemas.microsoft.com/office/drawing/2014/main" id="{230A0735-FFCE-A88B-1E25-5CE3CDEFB79B}"/>
                </a:ext>
              </a:extLst>
            </p:cNvPr>
            <p:cNvSpPr txBox="1"/>
            <p:nvPr/>
          </p:nvSpPr>
          <p:spPr>
            <a:xfrm>
              <a:off x="6552736" y="4396416"/>
              <a:ext cx="1295483" cy="369332"/>
            </a:xfrm>
            <a:prstGeom prst="rect">
              <a:avLst/>
            </a:prstGeom>
            <a:noFill/>
          </p:spPr>
          <p:txBody>
            <a:bodyPr wrap="none" rtlCol="0">
              <a:spAutoFit/>
            </a:bodyPr>
            <a:lstStyle/>
            <a:p>
              <a:r>
                <a:rPr lang="en-US" i="1" dirty="0"/>
                <a:t>Leadership</a:t>
              </a:r>
            </a:p>
          </p:txBody>
        </p:sp>
      </p:grpSp>
      <p:grpSp>
        <p:nvGrpSpPr>
          <p:cNvPr id="29" name="Group 28">
            <a:extLst>
              <a:ext uri="{FF2B5EF4-FFF2-40B4-BE49-F238E27FC236}">
                <a16:creationId xmlns:a16="http://schemas.microsoft.com/office/drawing/2014/main" id="{E5CB16A5-E99C-BA60-2234-2500634F87D1}"/>
              </a:ext>
            </a:extLst>
          </p:cNvPr>
          <p:cNvGrpSpPr/>
          <p:nvPr/>
        </p:nvGrpSpPr>
        <p:grpSpPr>
          <a:xfrm>
            <a:off x="8925854" y="3636641"/>
            <a:ext cx="1574470" cy="1440662"/>
            <a:chOff x="10051715" y="3728743"/>
            <a:chExt cx="1574470" cy="1440662"/>
          </a:xfrm>
        </p:grpSpPr>
        <p:sp>
          <p:nvSpPr>
            <p:cNvPr id="28" name="Oval 27">
              <a:extLst>
                <a:ext uri="{FF2B5EF4-FFF2-40B4-BE49-F238E27FC236}">
                  <a16:creationId xmlns:a16="http://schemas.microsoft.com/office/drawing/2014/main" id="{6B1B6310-05E1-A15C-E49E-FE8EC4A88F43}"/>
                </a:ext>
              </a:extLst>
            </p:cNvPr>
            <p:cNvSpPr/>
            <p:nvPr/>
          </p:nvSpPr>
          <p:spPr>
            <a:xfrm>
              <a:off x="10051715" y="3728743"/>
              <a:ext cx="1517427" cy="1440662"/>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descr="Unlock outline">
              <a:extLst>
                <a:ext uri="{FF2B5EF4-FFF2-40B4-BE49-F238E27FC236}">
                  <a16:creationId xmlns:a16="http://schemas.microsoft.com/office/drawing/2014/main" id="{43E365D2-7ACB-0FEA-D908-DA54EA57C13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10437533" y="3761994"/>
              <a:ext cx="667727" cy="756578"/>
            </a:xfrm>
            <a:prstGeom prst="rect">
              <a:avLst/>
            </a:prstGeom>
          </p:spPr>
        </p:pic>
        <p:sp>
          <p:nvSpPr>
            <p:cNvPr id="24" name="TextBox 23">
              <a:extLst>
                <a:ext uri="{FF2B5EF4-FFF2-40B4-BE49-F238E27FC236}">
                  <a16:creationId xmlns:a16="http://schemas.microsoft.com/office/drawing/2014/main" id="{A69BDC02-CE2E-ECFC-ABC5-ED82F4AA6764}"/>
                </a:ext>
              </a:extLst>
            </p:cNvPr>
            <p:cNvSpPr txBox="1"/>
            <p:nvPr/>
          </p:nvSpPr>
          <p:spPr>
            <a:xfrm>
              <a:off x="10051715" y="4458300"/>
              <a:ext cx="1574470" cy="369332"/>
            </a:xfrm>
            <a:prstGeom prst="rect">
              <a:avLst/>
            </a:prstGeom>
            <a:noFill/>
          </p:spPr>
          <p:txBody>
            <a:bodyPr wrap="none" rtlCol="0">
              <a:spAutoFit/>
            </a:bodyPr>
            <a:lstStyle/>
            <a:p>
              <a:r>
                <a:rPr lang="en-US" i="1" dirty="0"/>
                <a:t>Open Science</a:t>
              </a:r>
            </a:p>
          </p:txBody>
        </p:sp>
      </p:grpSp>
      <p:sp>
        <p:nvSpPr>
          <p:cNvPr id="26" name="TextBox 25">
            <a:extLst>
              <a:ext uri="{FF2B5EF4-FFF2-40B4-BE49-F238E27FC236}">
                <a16:creationId xmlns:a16="http://schemas.microsoft.com/office/drawing/2014/main" id="{7DED1F94-462E-DC29-8787-4215E88D91A8}"/>
              </a:ext>
            </a:extLst>
          </p:cNvPr>
          <p:cNvSpPr txBox="1"/>
          <p:nvPr/>
        </p:nvSpPr>
        <p:spPr>
          <a:xfrm>
            <a:off x="6726059" y="2021030"/>
            <a:ext cx="5082402" cy="1200329"/>
          </a:xfrm>
          <a:prstGeom prst="rect">
            <a:avLst/>
          </a:prstGeom>
          <a:noFill/>
        </p:spPr>
        <p:txBody>
          <a:bodyPr wrap="square">
            <a:spAutoFit/>
          </a:bodyPr>
          <a:lstStyle/>
          <a:p>
            <a:pPr marL="0" indent="0">
              <a:buNone/>
            </a:pPr>
            <a:r>
              <a:rPr lang="en-US" sz="2400" dirty="0"/>
              <a:t>There are lots of values of effective leadership that overlap with values we strive for in Open Science!</a:t>
            </a:r>
          </a:p>
        </p:txBody>
      </p:sp>
      <p:pic>
        <p:nvPicPr>
          <p:cNvPr id="31" name="Graphic 30" descr="Transfer outline">
            <a:extLst>
              <a:ext uri="{FF2B5EF4-FFF2-40B4-BE49-F238E27FC236}">
                <a16:creationId xmlns:a16="http://schemas.microsoft.com/office/drawing/2014/main" id="{379979DD-288D-1DE3-AF1A-9F3BDDC1695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8355427" y="4024425"/>
            <a:ext cx="570427" cy="646331"/>
          </a:xfrm>
          <a:prstGeom prst="rect">
            <a:avLst/>
          </a:prstGeom>
        </p:spPr>
      </p:pic>
      <p:pic>
        <p:nvPicPr>
          <p:cNvPr id="9" name="Picture 8">
            <a:extLst>
              <a:ext uri="{FF2B5EF4-FFF2-40B4-BE49-F238E27FC236}">
                <a16:creationId xmlns:a16="http://schemas.microsoft.com/office/drawing/2014/main" id="{DA9C1E2E-7D46-E021-88E5-A53AF24D4235}"/>
              </a:ext>
            </a:extLst>
          </p:cNvPr>
          <p:cNvPicPr>
            <a:picLocks noChangeAspect="1"/>
          </p:cNvPicPr>
          <p:nvPr/>
        </p:nvPicPr>
        <p:blipFill>
          <a:blip r:embed="rId9"/>
          <a:srcRect l="25891" t="22584" r="23267" b="27652"/>
          <a:stretch>
            <a:fillRect/>
          </a:stretch>
        </p:blipFill>
        <p:spPr>
          <a:xfrm>
            <a:off x="45202" y="1700876"/>
            <a:ext cx="3729965" cy="3650884"/>
          </a:xfrm>
          <a:prstGeom prst="rect">
            <a:avLst/>
          </a:prstGeom>
        </p:spPr>
      </p:pic>
    </p:spTree>
    <p:extLst>
      <p:ext uri="{BB962C8B-B14F-4D97-AF65-F5344CB8AC3E}">
        <p14:creationId xmlns:p14="http://schemas.microsoft.com/office/powerpoint/2010/main" val="197216356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415FA-75BE-37A4-D0E1-C5A9147BDB5D}"/>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9EEEFB94-069E-E3F1-83BD-59F0FCC9934A}"/>
              </a:ext>
            </a:extLst>
          </p:cNvPr>
          <p:cNvSpPr/>
          <p:nvPr/>
        </p:nvSpPr>
        <p:spPr>
          <a:xfrm>
            <a:off x="6381141" y="902839"/>
            <a:ext cx="3840618" cy="1098789"/>
          </a:xfrm>
          <a:prstGeom prst="rect">
            <a:avLst/>
          </a:prstGeom>
          <a:solidFill>
            <a:srgbClr val="00B05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93E91224-9C6D-C5A4-6CE2-61978851550C}"/>
              </a:ext>
            </a:extLst>
          </p:cNvPr>
          <p:cNvSpPr/>
          <p:nvPr/>
        </p:nvSpPr>
        <p:spPr>
          <a:xfrm>
            <a:off x="2587159" y="915771"/>
            <a:ext cx="3607020" cy="1102748"/>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9A501F48-0F00-C586-903B-5878F15B9F4D}"/>
              </a:ext>
            </a:extLst>
          </p:cNvPr>
          <p:cNvSpPr/>
          <p:nvPr/>
        </p:nvSpPr>
        <p:spPr>
          <a:xfrm>
            <a:off x="6374090" y="4122130"/>
            <a:ext cx="3857694" cy="2168800"/>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6D715D1F-51CA-0818-35B3-C84DB62F650D}"/>
              </a:ext>
            </a:extLst>
          </p:cNvPr>
          <p:cNvSpPr/>
          <p:nvPr/>
        </p:nvSpPr>
        <p:spPr>
          <a:xfrm>
            <a:off x="6377719" y="898204"/>
            <a:ext cx="3840618" cy="3139629"/>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7FD5F7C2-51A9-0B24-13CB-B95264EE4BBA}"/>
              </a:ext>
            </a:extLst>
          </p:cNvPr>
          <p:cNvSpPr/>
          <p:nvPr/>
        </p:nvSpPr>
        <p:spPr>
          <a:xfrm>
            <a:off x="740504" y="4151422"/>
            <a:ext cx="1757321" cy="2166864"/>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0661EE5-A00C-8895-7649-C625155E0811}"/>
              </a:ext>
            </a:extLst>
          </p:cNvPr>
          <p:cNvSpPr/>
          <p:nvPr/>
        </p:nvSpPr>
        <p:spPr>
          <a:xfrm>
            <a:off x="2587142" y="4136094"/>
            <a:ext cx="3607037" cy="2182191"/>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E474B6D6-B28E-34F9-97E4-1B0EE48B8EEF}"/>
              </a:ext>
            </a:extLst>
          </p:cNvPr>
          <p:cNvSpPr/>
          <p:nvPr/>
        </p:nvSpPr>
        <p:spPr>
          <a:xfrm>
            <a:off x="742440" y="2064626"/>
            <a:ext cx="1755385" cy="1987171"/>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B749128E-EFC5-9DAB-B888-2CD5D88B2E76}"/>
              </a:ext>
            </a:extLst>
          </p:cNvPr>
          <p:cNvSpPr/>
          <p:nvPr/>
        </p:nvSpPr>
        <p:spPr>
          <a:xfrm>
            <a:off x="2587143" y="916696"/>
            <a:ext cx="3607038" cy="3139629"/>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DCDA55-7624-245B-2384-96D8C37B2D23}"/>
              </a:ext>
            </a:extLst>
          </p:cNvPr>
          <p:cNvSpPr>
            <a:spLocks noGrp="1"/>
          </p:cNvSpPr>
          <p:nvPr>
            <p:ph type="title"/>
          </p:nvPr>
        </p:nvSpPr>
        <p:spPr>
          <a:xfrm>
            <a:off x="-1" y="173"/>
            <a:ext cx="12118894" cy="873847"/>
          </a:xfrm>
        </p:spPr>
        <p:txBody>
          <a:bodyPr>
            <a:normAutofit fontScale="90000"/>
          </a:bodyPr>
          <a:lstStyle/>
          <a:p>
            <a:r>
              <a:rPr lang="en-US" b="1" dirty="0"/>
              <a:t>Example of shared values: transparency and integrity</a:t>
            </a:r>
          </a:p>
        </p:txBody>
      </p:sp>
      <p:grpSp>
        <p:nvGrpSpPr>
          <p:cNvPr id="4" name="Group 3">
            <a:extLst>
              <a:ext uri="{FF2B5EF4-FFF2-40B4-BE49-F238E27FC236}">
                <a16:creationId xmlns:a16="http://schemas.microsoft.com/office/drawing/2014/main" id="{B733E5CC-9BC8-EEF2-9F3A-371DC1AB38A6}"/>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1E43D5B9-FDE8-DBBD-A3F7-4A126ABA64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A04E459-ACEC-9495-517F-E9A37B5DED5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8F6D22F0-6D1A-C805-D1D5-B5B901A84180}"/>
              </a:ext>
            </a:extLst>
          </p:cNvPr>
          <p:cNvSpPr>
            <a:spLocks noGrp="1"/>
          </p:cNvSpPr>
          <p:nvPr>
            <p:ph type="sldNum" sz="quarter" idx="12"/>
          </p:nvPr>
        </p:nvSpPr>
        <p:spPr>
          <a:xfrm>
            <a:off x="10448364" y="6356350"/>
            <a:ext cx="905435" cy="365125"/>
          </a:xfrm>
        </p:spPr>
        <p:txBody>
          <a:bodyPr/>
          <a:lstStyle/>
          <a:p>
            <a:fld id="{D292B180-B274-DE43-B36F-C827C7616C05}" type="slidenum">
              <a:rPr lang="en-US" smtClean="0"/>
              <a:pPr/>
              <a:t>40</a:t>
            </a:fld>
            <a:endParaRPr lang="en-US" dirty="0"/>
          </a:p>
          <a:p>
            <a:endParaRPr lang="en-US" dirty="0"/>
          </a:p>
        </p:txBody>
      </p:sp>
      <p:sp>
        <p:nvSpPr>
          <p:cNvPr id="13" name="TextBox 12">
            <a:extLst>
              <a:ext uri="{FF2B5EF4-FFF2-40B4-BE49-F238E27FC236}">
                <a16:creationId xmlns:a16="http://schemas.microsoft.com/office/drawing/2014/main" id="{AE99856C-681F-AB2C-92C7-AC73E0C1BAC1}"/>
              </a:ext>
            </a:extLst>
          </p:cNvPr>
          <p:cNvSpPr txBox="1"/>
          <p:nvPr/>
        </p:nvSpPr>
        <p:spPr>
          <a:xfrm>
            <a:off x="872182" y="2784858"/>
            <a:ext cx="1695999" cy="646331"/>
          </a:xfrm>
          <a:prstGeom prst="rect">
            <a:avLst/>
          </a:prstGeom>
          <a:noFill/>
        </p:spPr>
        <p:txBody>
          <a:bodyPr wrap="square" rtlCol="0">
            <a:spAutoFit/>
          </a:bodyPr>
          <a:lstStyle/>
          <a:p>
            <a:r>
              <a:rPr lang="en-US" b="1" dirty="0"/>
              <a:t>Transparency </a:t>
            </a:r>
          </a:p>
          <a:p>
            <a:r>
              <a:rPr lang="en-US" b="1" dirty="0"/>
              <a:t>and integrity </a:t>
            </a:r>
          </a:p>
        </p:txBody>
      </p:sp>
      <p:pic>
        <p:nvPicPr>
          <p:cNvPr id="15" name="Graphic 14" descr="Users with solid fill">
            <a:extLst>
              <a:ext uri="{FF2B5EF4-FFF2-40B4-BE49-F238E27FC236}">
                <a16:creationId xmlns:a16="http://schemas.microsoft.com/office/drawing/2014/main" id="{D6D10A31-AA7B-945D-B225-78A01E1606AF}"/>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73366" y="912168"/>
            <a:ext cx="807015" cy="914400"/>
          </a:xfrm>
          <a:prstGeom prst="rect">
            <a:avLst/>
          </a:prstGeom>
        </p:spPr>
      </p:pic>
      <p:sp>
        <p:nvSpPr>
          <p:cNvPr id="17" name="TextBox 16">
            <a:extLst>
              <a:ext uri="{FF2B5EF4-FFF2-40B4-BE49-F238E27FC236}">
                <a16:creationId xmlns:a16="http://schemas.microsoft.com/office/drawing/2014/main" id="{0C9D06F5-0715-3EBD-7F3F-175EE9A2D411}"/>
              </a:ext>
            </a:extLst>
          </p:cNvPr>
          <p:cNvSpPr txBox="1"/>
          <p:nvPr/>
        </p:nvSpPr>
        <p:spPr>
          <a:xfrm>
            <a:off x="2640357" y="2415587"/>
            <a:ext cx="3470452" cy="1323439"/>
          </a:xfrm>
          <a:prstGeom prst="rect">
            <a:avLst/>
          </a:prstGeom>
          <a:noFill/>
        </p:spPr>
        <p:txBody>
          <a:bodyPr wrap="square">
            <a:spAutoFit/>
          </a:bodyPr>
          <a:lstStyle/>
          <a:p>
            <a:r>
              <a:rPr lang="en-US" sz="2000" dirty="0"/>
              <a:t>Openness of </a:t>
            </a:r>
            <a:r>
              <a:rPr lang="en-US" sz="2000" b="1" dirty="0"/>
              <a:t>decision-making processes </a:t>
            </a:r>
            <a:r>
              <a:rPr lang="en-US" sz="2000" dirty="0"/>
              <a:t>and clear </a:t>
            </a:r>
            <a:r>
              <a:rPr lang="en-US" sz="2000" b="1" dirty="0"/>
              <a:t>communication</a:t>
            </a:r>
            <a:r>
              <a:rPr lang="en-US" sz="2000" dirty="0"/>
              <a:t> helps </a:t>
            </a:r>
            <a:r>
              <a:rPr lang="en-US" sz="2000" b="1" dirty="0"/>
              <a:t>build trust </a:t>
            </a:r>
            <a:r>
              <a:rPr lang="en-US" sz="2000" dirty="0"/>
              <a:t>within a group.</a:t>
            </a:r>
          </a:p>
        </p:txBody>
      </p:sp>
      <p:pic>
        <p:nvPicPr>
          <p:cNvPr id="19" name="Graphic 18" descr="Unlock outline">
            <a:extLst>
              <a:ext uri="{FF2B5EF4-FFF2-40B4-BE49-F238E27FC236}">
                <a16:creationId xmlns:a16="http://schemas.microsoft.com/office/drawing/2014/main" id="{1103AB4E-594E-125C-43EB-0678A6D155E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8063860" y="949113"/>
            <a:ext cx="686021" cy="777306"/>
          </a:xfrm>
          <a:prstGeom prst="rect">
            <a:avLst/>
          </a:prstGeom>
        </p:spPr>
      </p:pic>
      <p:sp>
        <p:nvSpPr>
          <p:cNvPr id="23" name="TextBox 22">
            <a:extLst>
              <a:ext uri="{FF2B5EF4-FFF2-40B4-BE49-F238E27FC236}">
                <a16:creationId xmlns:a16="http://schemas.microsoft.com/office/drawing/2014/main" id="{60B0B5AA-8A59-29D1-6F45-E5EDEF3AE6CE}"/>
              </a:ext>
            </a:extLst>
          </p:cNvPr>
          <p:cNvSpPr txBox="1"/>
          <p:nvPr/>
        </p:nvSpPr>
        <p:spPr>
          <a:xfrm>
            <a:off x="3657710" y="1646260"/>
            <a:ext cx="1295483" cy="369332"/>
          </a:xfrm>
          <a:prstGeom prst="rect">
            <a:avLst/>
          </a:prstGeom>
          <a:noFill/>
        </p:spPr>
        <p:txBody>
          <a:bodyPr wrap="none" rtlCol="0">
            <a:spAutoFit/>
          </a:bodyPr>
          <a:lstStyle/>
          <a:p>
            <a:r>
              <a:rPr lang="en-US" i="1" dirty="0"/>
              <a:t>Leadership</a:t>
            </a:r>
          </a:p>
        </p:txBody>
      </p:sp>
      <p:sp>
        <p:nvSpPr>
          <p:cNvPr id="24" name="TextBox 23">
            <a:extLst>
              <a:ext uri="{FF2B5EF4-FFF2-40B4-BE49-F238E27FC236}">
                <a16:creationId xmlns:a16="http://schemas.microsoft.com/office/drawing/2014/main" id="{FD3AD68D-E442-39B9-CC8D-746CFCEF28D4}"/>
              </a:ext>
            </a:extLst>
          </p:cNvPr>
          <p:cNvSpPr txBox="1"/>
          <p:nvPr/>
        </p:nvSpPr>
        <p:spPr>
          <a:xfrm>
            <a:off x="7619635" y="1652912"/>
            <a:ext cx="1574470" cy="369332"/>
          </a:xfrm>
          <a:prstGeom prst="rect">
            <a:avLst/>
          </a:prstGeom>
          <a:noFill/>
        </p:spPr>
        <p:txBody>
          <a:bodyPr wrap="none" rtlCol="0">
            <a:spAutoFit/>
          </a:bodyPr>
          <a:lstStyle/>
          <a:p>
            <a:r>
              <a:rPr lang="en-US" i="1" dirty="0"/>
              <a:t>Open Science</a:t>
            </a:r>
          </a:p>
        </p:txBody>
      </p:sp>
      <p:sp>
        <p:nvSpPr>
          <p:cNvPr id="39" name="Content Placeholder 2">
            <a:extLst>
              <a:ext uri="{FF2B5EF4-FFF2-40B4-BE49-F238E27FC236}">
                <a16:creationId xmlns:a16="http://schemas.microsoft.com/office/drawing/2014/main" id="{43044D90-932D-B64B-4DCC-2F5579849629}"/>
              </a:ext>
            </a:extLst>
          </p:cNvPr>
          <p:cNvSpPr txBox="1">
            <a:spLocks/>
          </p:cNvSpPr>
          <p:nvPr/>
        </p:nvSpPr>
        <p:spPr>
          <a:xfrm rot="16200000">
            <a:off x="-778449" y="3234329"/>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Values</a:t>
            </a:r>
          </a:p>
        </p:txBody>
      </p:sp>
      <p:sp>
        <p:nvSpPr>
          <p:cNvPr id="40" name="Content Placeholder 2">
            <a:extLst>
              <a:ext uri="{FF2B5EF4-FFF2-40B4-BE49-F238E27FC236}">
                <a16:creationId xmlns:a16="http://schemas.microsoft.com/office/drawing/2014/main" id="{98471312-116B-6D10-593A-3813CA2BF936}"/>
              </a:ext>
            </a:extLst>
          </p:cNvPr>
          <p:cNvSpPr txBox="1">
            <a:spLocks/>
          </p:cNvSpPr>
          <p:nvPr/>
        </p:nvSpPr>
        <p:spPr>
          <a:xfrm>
            <a:off x="5665583" y="6456572"/>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Context</a:t>
            </a:r>
          </a:p>
        </p:txBody>
      </p:sp>
    </p:spTree>
    <p:extLst>
      <p:ext uri="{BB962C8B-B14F-4D97-AF65-F5344CB8AC3E}">
        <p14:creationId xmlns:p14="http://schemas.microsoft.com/office/powerpoint/2010/main" val="307595652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B3CF2-65F8-A4C0-129D-A03D0B6B8E81}"/>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B0A26D4C-9086-C077-24EA-0BAB6F4A2D31}"/>
              </a:ext>
            </a:extLst>
          </p:cNvPr>
          <p:cNvSpPr/>
          <p:nvPr/>
        </p:nvSpPr>
        <p:spPr>
          <a:xfrm>
            <a:off x="6381141" y="902839"/>
            <a:ext cx="3840618" cy="1098789"/>
          </a:xfrm>
          <a:prstGeom prst="rect">
            <a:avLst/>
          </a:prstGeom>
          <a:solidFill>
            <a:srgbClr val="00B05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3D2F529A-D1B5-AD90-04CA-1C0E72200444}"/>
              </a:ext>
            </a:extLst>
          </p:cNvPr>
          <p:cNvSpPr/>
          <p:nvPr/>
        </p:nvSpPr>
        <p:spPr>
          <a:xfrm>
            <a:off x="2587159" y="915771"/>
            <a:ext cx="3607020" cy="1102748"/>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D81FEA39-707D-1E5A-0218-BDF6293787B0}"/>
              </a:ext>
            </a:extLst>
          </p:cNvPr>
          <p:cNvSpPr/>
          <p:nvPr/>
        </p:nvSpPr>
        <p:spPr>
          <a:xfrm>
            <a:off x="6374090" y="4122130"/>
            <a:ext cx="3857694" cy="2168800"/>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9003E3F7-FEDE-586A-FAE2-52FAF5C87B11}"/>
              </a:ext>
            </a:extLst>
          </p:cNvPr>
          <p:cNvSpPr/>
          <p:nvPr/>
        </p:nvSpPr>
        <p:spPr>
          <a:xfrm>
            <a:off x="6377719" y="898204"/>
            <a:ext cx="3840618" cy="3139629"/>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AC92AB12-9060-FF4C-2AB3-15E2F09E7325}"/>
              </a:ext>
            </a:extLst>
          </p:cNvPr>
          <p:cNvSpPr/>
          <p:nvPr/>
        </p:nvSpPr>
        <p:spPr>
          <a:xfrm>
            <a:off x="740504" y="4151422"/>
            <a:ext cx="1757321" cy="2166864"/>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62F855AC-02A1-730F-63EC-45C4C286E89F}"/>
              </a:ext>
            </a:extLst>
          </p:cNvPr>
          <p:cNvSpPr/>
          <p:nvPr/>
        </p:nvSpPr>
        <p:spPr>
          <a:xfrm>
            <a:off x="2587142" y="4136094"/>
            <a:ext cx="3607037" cy="2182191"/>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76BB758F-655D-3BE2-B16C-2F851D4CC794}"/>
              </a:ext>
            </a:extLst>
          </p:cNvPr>
          <p:cNvSpPr/>
          <p:nvPr/>
        </p:nvSpPr>
        <p:spPr>
          <a:xfrm>
            <a:off x="742440" y="2064626"/>
            <a:ext cx="1755385" cy="1987171"/>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E4D3EA73-0323-F472-791C-CFEFC3D18A76}"/>
              </a:ext>
            </a:extLst>
          </p:cNvPr>
          <p:cNvSpPr/>
          <p:nvPr/>
        </p:nvSpPr>
        <p:spPr>
          <a:xfrm>
            <a:off x="2587143" y="916696"/>
            <a:ext cx="3607038" cy="3139629"/>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BE3814D-34ED-030F-E97D-65F213FF511B}"/>
              </a:ext>
            </a:extLst>
          </p:cNvPr>
          <p:cNvSpPr>
            <a:spLocks noGrp="1"/>
          </p:cNvSpPr>
          <p:nvPr>
            <p:ph type="title"/>
          </p:nvPr>
        </p:nvSpPr>
        <p:spPr>
          <a:xfrm>
            <a:off x="-1" y="173"/>
            <a:ext cx="12118894" cy="873847"/>
          </a:xfrm>
        </p:spPr>
        <p:txBody>
          <a:bodyPr>
            <a:normAutofit fontScale="90000"/>
          </a:bodyPr>
          <a:lstStyle/>
          <a:p>
            <a:r>
              <a:rPr lang="en-US" b="1" dirty="0"/>
              <a:t>Example of shared values: transparency and integrity</a:t>
            </a:r>
          </a:p>
        </p:txBody>
      </p:sp>
      <p:grpSp>
        <p:nvGrpSpPr>
          <p:cNvPr id="4" name="Group 3">
            <a:extLst>
              <a:ext uri="{FF2B5EF4-FFF2-40B4-BE49-F238E27FC236}">
                <a16:creationId xmlns:a16="http://schemas.microsoft.com/office/drawing/2014/main" id="{50B816FF-B514-407E-BB7C-FEA328638F13}"/>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CA14731B-8DFE-282A-87B8-93B9B32010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6452860-C125-CC16-AFD2-774E97086DC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09FD8E5F-AE39-82A6-279F-A2699A62C14E}"/>
              </a:ext>
            </a:extLst>
          </p:cNvPr>
          <p:cNvSpPr>
            <a:spLocks noGrp="1"/>
          </p:cNvSpPr>
          <p:nvPr>
            <p:ph type="sldNum" sz="quarter" idx="12"/>
          </p:nvPr>
        </p:nvSpPr>
        <p:spPr>
          <a:xfrm>
            <a:off x="10448364" y="6356350"/>
            <a:ext cx="905435" cy="365125"/>
          </a:xfrm>
        </p:spPr>
        <p:txBody>
          <a:bodyPr/>
          <a:lstStyle/>
          <a:p>
            <a:fld id="{D292B180-B274-DE43-B36F-C827C7616C05}" type="slidenum">
              <a:rPr lang="en-US" smtClean="0"/>
              <a:pPr/>
              <a:t>41</a:t>
            </a:fld>
            <a:endParaRPr lang="en-US" dirty="0"/>
          </a:p>
          <a:p>
            <a:endParaRPr lang="en-US" dirty="0"/>
          </a:p>
        </p:txBody>
      </p:sp>
      <p:sp>
        <p:nvSpPr>
          <p:cNvPr id="13" name="TextBox 12">
            <a:extLst>
              <a:ext uri="{FF2B5EF4-FFF2-40B4-BE49-F238E27FC236}">
                <a16:creationId xmlns:a16="http://schemas.microsoft.com/office/drawing/2014/main" id="{CAE17A55-4405-23C7-BD19-D32C43B3DD67}"/>
              </a:ext>
            </a:extLst>
          </p:cNvPr>
          <p:cNvSpPr txBox="1"/>
          <p:nvPr/>
        </p:nvSpPr>
        <p:spPr>
          <a:xfrm>
            <a:off x="872182" y="2784858"/>
            <a:ext cx="1695999" cy="646331"/>
          </a:xfrm>
          <a:prstGeom prst="rect">
            <a:avLst/>
          </a:prstGeom>
          <a:noFill/>
        </p:spPr>
        <p:txBody>
          <a:bodyPr wrap="square" rtlCol="0">
            <a:spAutoFit/>
          </a:bodyPr>
          <a:lstStyle/>
          <a:p>
            <a:r>
              <a:rPr lang="en-US" b="1" dirty="0"/>
              <a:t>Transparency </a:t>
            </a:r>
          </a:p>
          <a:p>
            <a:r>
              <a:rPr lang="en-US" b="1" dirty="0"/>
              <a:t>and integrity </a:t>
            </a:r>
          </a:p>
        </p:txBody>
      </p:sp>
      <p:pic>
        <p:nvPicPr>
          <p:cNvPr id="15" name="Graphic 14" descr="Users with solid fill">
            <a:extLst>
              <a:ext uri="{FF2B5EF4-FFF2-40B4-BE49-F238E27FC236}">
                <a16:creationId xmlns:a16="http://schemas.microsoft.com/office/drawing/2014/main" id="{56FD744D-B4AA-6590-B0A5-26E31B9BB57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73366" y="912168"/>
            <a:ext cx="807015" cy="914400"/>
          </a:xfrm>
          <a:prstGeom prst="rect">
            <a:avLst/>
          </a:prstGeom>
        </p:spPr>
      </p:pic>
      <p:sp>
        <p:nvSpPr>
          <p:cNvPr id="17" name="TextBox 16">
            <a:extLst>
              <a:ext uri="{FF2B5EF4-FFF2-40B4-BE49-F238E27FC236}">
                <a16:creationId xmlns:a16="http://schemas.microsoft.com/office/drawing/2014/main" id="{D9110422-55EA-EA79-5B14-EFCE49C165F5}"/>
              </a:ext>
            </a:extLst>
          </p:cNvPr>
          <p:cNvSpPr txBox="1"/>
          <p:nvPr/>
        </p:nvSpPr>
        <p:spPr>
          <a:xfrm>
            <a:off x="2640357" y="2415587"/>
            <a:ext cx="3470452" cy="1323439"/>
          </a:xfrm>
          <a:prstGeom prst="rect">
            <a:avLst/>
          </a:prstGeom>
          <a:noFill/>
        </p:spPr>
        <p:txBody>
          <a:bodyPr wrap="square">
            <a:spAutoFit/>
          </a:bodyPr>
          <a:lstStyle/>
          <a:p>
            <a:r>
              <a:rPr lang="en-US" sz="2000" dirty="0"/>
              <a:t>Openness of </a:t>
            </a:r>
            <a:r>
              <a:rPr lang="en-US" sz="2000" b="1" dirty="0"/>
              <a:t>decision-making processes </a:t>
            </a:r>
            <a:r>
              <a:rPr lang="en-US" sz="2000" dirty="0"/>
              <a:t>and clear </a:t>
            </a:r>
            <a:r>
              <a:rPr lang="en-US" sz="2000" b="1" dirty="0"/>
              <a:t>communication</a:t>
            </a:r>
            <a:r>
              <a:rPr lang="en-US" sz="2000" dirty="0"/>
              <a:t> helps </a:t>
            </a:r>
            <a:r>
              <a:rPr lang="en-US" sz="2000" b="1" dirty="0"/>
              <a:t>build trust </a:t>
            </a:r>
            <a:r>
              <a:rPr lang="en-US" sz="2000" dirty="0"/>
              <a:t>within a group.</a:t>
            </a:r>
          </a:p>
        </p:txBody>
      </p:sp>
      <p:pic>
        <p:nvPicPr>
          <p:cNvPr id="19" name="Graphic 18" descr="Unlock outline">
            <a:extLst>
              <a:ext uri="{FF2B5EF4-FFF2-40B4-BE49-F238E27FC236}">
                <a16:creationId xmlns:a16="http://schemas.microsoft.com/office/drawing/2014/main" id="{E739D26B-61D9-104F-615A-3D63300DD691}"/>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8063860" y="949113"/>
            <a:ext cx="686021" cy="777306"/>
          </a:xfrm>
          <a:prstGeom prst="rect">
            <a:avLst/>
          </a:prstGeom>
        </p:spPr>
      </p:pic>
      <p:sp>
        <p:nvSpPr>
          <p:cNvPr id="23" name="TextBox 22">
            <a:extLst>
              <a:ext uri="{FF2B5EF4-FFF2-40B4-BE49-F238E27FC236}">
                <a16:creationId xmlns:a16="http://schemas.microsoft.com/office/drawing/2014/main" id="{39DC5E53-7556-F9EB-EC9D-5FBE268C4A24}"/>
              </a:ext>
            </a:extLst>
          </p:cNvPr>
          <p:cNvSpPr txBox="1"/>
          <p:nvPr/>
        </p:nvSpPr>
        <p:spPr>
          <a:xfrm>
            <a:off x="3657710" y="1646260"/>
            <a:ext cx="1295483" cy="369332"/>
          </a:xfrm>
          <a:prstGeom prst="rect">
            <a:avLst/>
          </a:prstGeom>
          <a:noFill/>
        </p:spPr>
        <p:txBody>
          <a:bodyPr wrap="none" rtlCol="0">
            <a:spAutoFit/>
          </a:bodyPr>
          <a:lstStyle/>
          <a:p>
            <a:r>
              <a:rPr lang="en-US" i="1" dirty="0"/>
              <a:t>Leadership</a:t>
            </a:r>
          </a:p>
        </p:txBody>
      </p:sp>
      <p:sp>
        <p:nvSpPr>
          <p:cNvPr id="24" name="TextBox 23">
            <a:extLst>
              <a:ext uri="{FF2B5EF4-FFF2-40B4-BE49-F238E27FC236}">
                <a16:creationId xmlns:a16="http://schemas.microsoft.com/office/drawing/2014/main" id="{890569AE-D1F2-89C6-D703-745992E19578}"/>
              </a:ext>
            </a:extLst>
          </p:cNvPr>
          <p:cNvSpPr txBox="1"/>
          <p:nvPr/>
        </p:nvSpPr>
        <p:spPr>
          <a:xfrm>
            <a:off x="7619635" y="1652912"/>
            <a:ext cx="1574470" cy="369332"/>
          </a:xfrm>
          <a:prstGeom prst="rect">
            <a:avLst/>
          </a:prstGeom>
          <a:noFill/>
        </p:spPr>
        <p:txBody>
          <a:bodyPr wrap="none" rtlCol="0">
            <a:spAutoFit/>
          </a:bodyPr>
          <a:lstStyle/>
          <a:p>
            <a:r>
              <a:rPr lang="en-US" i="1" dirty="0"/>
              <a:t>Open Science</a:t>
            </a:r>
          </a:p>
        </p:txBody>
      </p:sp>
      <p:sp>
        <p:nvSpPr>
          <p:cNvPr id="39" name="Content Placeholder 2">
            <a:extLst>
              <a:ext uri="{FF2B5EF4-FFF2-40B4-BE49-F238E27FC236}">
                <a16:creationId xmlns:a16="http://schemas.microsoft.com/office/drawing/2014/main" id="{70745E15-BAB4-7256-B612-79C87F3F4F21}"/>
              </a:ext>
            </a:extLst>
          </p:cNvPr>
          <p:cNvSpPr txBox="1">
            <a:spLocks/>
          </p:cNvSpPr>
          <p:nvPr/>
        </p:nvSpPr>
        <p:spPr>
          <a:xfrm rot="16200000">
            <a:off x="-778449" y="3234329"/>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Values</a:t>
            </a:r>
          </a:p>
        </p:txBody>
      </p:sp>
      <p:sp>
        <p:nvSpPr>
          <p:cNvPr id="40" name="Content Placeholder 2">
            <a:extLst>
              <a:ext uri="{FF2B5EF4-FFF2-40B4-BE49-F238E27FC236}">
                <a16:creationId xmlns:a16="http://schemas.microsoft.com/office/drawing/2014/main" id="{177A4804-D572-E289-C266-79B33421E72F}"/>
              </a:ext>
            </a:extLst>
          </p:cNvPr>
          <p:cNvSpPr txBox="1">
            <a:spLocks/>
          </p:cNvSpPr>
          <p:nvPr/>
        </p:nvSpPr>
        <p:spPr>
          <a:xfrm>
            <a:off x="5665583" y="6456572"/>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Context</a:t>
            </a:r>
          </a:p>
        </p:txBody>
      </p:sp>
      <p:sp>
        <p:nvSpPr>
          <p:cNvPr id="43" name="TextBox 42">
            <a:extLst>
              <a:ext uri="{FF2B5EF4-FFF2-40B4-BE49-F238E27FC236}">
                <a16:creationId xmlns:a16="http://schemas.microsoft.com/office/drawing/2014/main" id="{AE8FB6BB-86BC-6817-D19B-13A31C55F720}"/>
              </a:ext>
            </a:extLst>
          </p:cNvPr>
          <p:cNvSpPr txBox="1"/>
          <p:nvPr/>
        </p:nvSpPr>
        <p:spPr>
          <a:xfrm>
            <a:off x="6436700" y="2212598"/>
            <a:ext cx="3778008" cy="1631216"/>
          </a:xfrm>
          <a:prstGeom prst="rect">
            <a:avLst/>
          </a:prstGeom>
          <a:noFill/>
        </p:spPr>
        <p:txBody>
          <a:bodyPr wrap="square">
            <a:spAutoFit/>
          </a:bodyPr>
          <a:lstStyle/>
          <a:p>
            <a:r>
              <a:rPr lang="en-US" sz="2000" dirty="0"/>
              <a:t>Thoughtful </a:t>
            </a:r>
            <a:r>
              <a:rPr lang="en-US" sz="2000" b="1" dirty="0"/>
              <a:t>planning </a:t>
            </a:r>
            <a:r>
              <a:rPr lang="en-US" sz="2000" dirty="0"/>
              <a:t>and transparently </a:t>
            </a:r>
            <a:r>
              <a:rPr lang="en-US" sz="2000" b="1" dirty="0"/>
              <a:t>documenting</a:t>
            </a:r>
            <a:r>
              <a:rPr lang="en-US" sz="2000" dirty="0"/>
              <a:t> </a:t>
            </a:r>
            <a:r>
              <a:rPr lang="en-US" sz="2000" b="1" dirty="0"/>
              <a:t>study</a:t>
            </a:r>
            <a:r>
              <a:rPr lang="en-US" sz="2000" dirty="0"/>
              <a:t> design, data collection and analysis in a </a:t>
            </a:r>
            <a:r>
              <a:rPr lang="en-US" sz="2000" b="1" dirty="0"/>
              <a:t>preregistration</a:t>
            </a:r>
            <a:r>
              <a:rPr lang="en-US" sz="2000" dirty="0"/>
              <a:t> improves </a:t>
            </a:r>
            <a:r>
              <a:rPr lang="en-US" sz="2000" b="1" dirty="0"/>
              <a:t>credibility</a:t>
            </a:r>
            <a:r>
              <a:rPr lang="en-US" sz="2000" dirty="0"/>
              <a:t> of research.</a:t>
            </a:r>
          </a:p>
        </p:txBody>
      </p:sp>
    </p:spTree>
    <p:extLst>
      <p:ext uri="{BB962C8B-B14F-4D97-AF65-F5344CB8AC3E}">
        <p14:creationId xmlns:p14="http://schemas.microsoft.com/office/powerpoint/2010/main" val="6473079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B0826-877A-CFEA-AC2D-15B9A58B3BBF}"/>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63D79D30-CA76-87B5-1CA5-56D218F3B747}"/>
              </a:ext>
            </a:extLst>
          </p:cNvPr>
          <p:cNvSpPr/>
          <p:nvPr/>
        </p:nvSpPr>
        <p:spPr>
          <a:xfrm>
            <a:off x="6381141" y="902839"/>
            <a:ext cx="3840618" cy="1098789"/>
          </a:xfrm>
          <a:prstGeom prst="rect">
            <a:avLst/>
          </a:prstGeom>
          <a:solidFill>
            <a:srgbClr val="00B05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DB631258-B00C-0F73-8EF4-CDBA5293D02F}"/>
              </a:ext>
            </a:extLst>
          </p:cNvPr>
          <p:cNvSpPr/>
          <p:nvPr/>
        </p:nvSpPr>
        <p:spPr>
          <a:xfrm>
            <a:off x="2587159" y="915771"/>
            <a:ext cx="3607020" cy="1102748"/>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4FDC9821-2388-36F1-BF1C-BCC09E50FA26}"/>
              </a:ext>
            </a:extLst>
          </p:cNvPr>
          <p:cNvSpPr/>
          <p:nvPr/>
        </p:nvSpPr>
        <p:spPr>
          <a:xfrm>
            <a:off x="6374090" y="4122130"/>
            <a:ext cx="3857694" cy="2168800"/>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49C77AA3-41EE-1D5D-FFB6-1E671B255F69}"/>
              </a:ext>
            </a:extLst>
          </p:cNvPr>
          <p:cNvSpPr/>
          <p:nvPr/>
        </p:nvSpPr>
        <p:spPr>
          <a:xfrm>
            <a:off x="6377719" y="898204"/>
            <a:ext cx="3840618" cy="3139629"/>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16BAA269-C1F4-75E3-BEB3-A502D7D50825}"/>
              </a:ext>
            </a:extLst>
          </p:cNvPr>
          <p:cNvSpPr/>
          <p:nvPr/>
        </p:nvSpPr>
        <p:spPr>
          <a:xfrm>
            <a:off x="740504" y="4151422"/>
            <a:ext cx="1757321" cy="2166864"/>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DAEBCD4F-F7EF-FC6D-DAC3-78E0E651A468}"/>
              </a:ext>
            </a:extLst>
          </p:cNvPr>
          <p:cNvSpPr/>
          <p:nvPr/>
        </p:nvSpPr>
        <p:spPr>
          <a:xfrm>
            <a:off x="2587142" y="4136094"/>
            <a:ext cx="3607037" cy="2182191"/>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3F4F6B57-E08F-56F0-C967-6A8A033A3E85}"/>
              </a:ext>
            </a:extLst>
          </p:cNvPr>
          <p:cNvSpPr/>
          <p:nvPr/>
        </p:nvSpPr>
        <p:spPr>
          <a:xfrm>
            <a:off x="742440" y="2064626"/>
            <a:ext cx="1755385" cy="1987171"/>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0B765E28-AF32-54B8-2C2F-011CA22B5C92}"/>
              </a:ext>
            </a:extLst>
          </p:cNvPr>
          <p:cNvSpPr/>
          <p:nvPr/>
        </p:nvSpPr>
        <p:spPr>
          <a:xfrm>
            <a:off x="2587143" y="916696"/>
            <a:ext cx="3607038" cy="3139629"/>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70C72A3-DA4E-7282-1B4C-5951D474E42B}"/>
              </a:ext>
            </a:extLst>
          </p:cNvPr>
          <p:cNvSpPr>
            <a:spLocks noGrp="1"/>
          </p:cNvSpPr>
          <p:nvPr>
            <p:ph type="title"/>
          </p:nvPr>
        </p:nvSpPr>
        <p:spPr>
          <a:xfrm>
            <a:off x="-1" y="173"/>
            <a:ext cx="12118894" cy="873847"/>
          </a:xfrm>
        </p:spPr>
        <p:txBody>
          <a:bodyPr>
            <a:normAutofit/>
          </a:bodyPr>
          <a:lstStyle/>
          <a:p>
            <a:r>
              <a:rPr lang="en-US" b="1" dirty="0"/>
              <a:t>Example of shared values: co-development</a:t>
            </a:r>
          </a:p>
        </p:txBody>
      </p:sp>
      <p:grpSp>
        <p:nvGrpSpPr>
          <p:cNvPr id="4" name="Group 3">
            <a:extLst>
              <a:ext uri="{FF2B5EF4-FFF2-40B4-BE49-F238E27FC236}">
                <a16:creationId xmlns:a16="http://schemas.microsoft.com/office/drawing/2014/main" id="{B91BEAF7-1B6F-361D-C2AB-7E6999DC4F66}"/>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46EA0666-0636-9EC3-5E01-B43DE9E4DA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9DF7AAD8-D7B7-11F7-F64E-1FEBFB8FFC0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62DFD320-2F0D-E7F9-9C69-3CFBBEC3AE85}"/>
              </a:ext>
            </a:extLst>
          </p:cNvPr>
          <p:cNvSpPr>
            <a:spLocks noGrp="1"/>
          </p:cNvSpPr>
          <p:nvPr>
            <p:ph type="sldNum" sz="quarter" idx="12"/>
          </p:nvPr>
        </p:nvSpPr>
        <p:spPr>
          <a:xfrm>
            <a:off x="10448364" y="6356350"/>
            <a:ext cx="905435" cy="365125"/>
          </a:xfrm>
        </p:spPr>
        <p:txBody>
          <a:bodyPr/>
          <a:lstStyle/>
          <a:p>
            <a:fld id="{D292B180-B274-DE43-B36F-C827C7616C05}" type="slidenum">
              <a:rPr lang="en-US" smtClean="0"/>
              <a:pPr/>
              <a:t>42</a:t>
            </a:fld>
            <a:endParaRPr lang="en-US" dirty="0"/>
          </a:p>
          <a:p>
            <a:endParaRPr lang="en-US" dirty="0"/>
          </a:p>
        </p:txBody>
      </p:sp>
      <p:sp>
        <p:nvSpPr>
          <p:cNvPr id="13" name="TextBox 12">
            <a:extLst>
              <a:ext uri="{FF2B5EF4-FFF2-40B4-BE49-F238E27FC236}">
                <a16:creationId xmlns:a16="http://schemas.microsoft.com/office/drawing/2014/main" id="{DC8E9E2F-7C42-C771-5752-9101359FB018}"/>
              </a:ext>
            </a:extLst>
          </p:cNvPr>
          <p:cNvSpPr txBox="1"/>
          <p:nvPr/>
        </p:nvSpPr>
        <p:spPr>
          <a:xfrm>
            <a:off x="872182" y="2784858"/>
            <a:ext cx="1695999" cy="646331"/>
          </a:xfrm>
          <a:prstGeom prst="rect">
            <a:avLst/>
          </a:prstGeom>
          <a:noFill/>
        </p:spPr>
        <p:txBody>
          <a:bodyPr wrap="square" rtlCol="0">
            <a:spAutoFit/>
          </a:bodyPr>
          <a:lstStyle/>
          <a:p>
            <a:r>
              <a:rPr lang="en-US" b="1" dirty="0"/>
              <a:t>Transparency </a:t>
            </a:r>
          </a:p>
          <a:p>
            <a:r>
              <a:rPr lang="en-US" b="1" dirty="0"/>
              <a:t>and integrity </a:t>
            </a:r>
          </a:p>
        </p:txBody>
      </p:sp>
      <p:pic>
        <p:nvPicPr>
          <p:cNvPr id="15" name="Graphic 14" descr="Users with solid fill">
            <a:extLst>
              <a:ext uri="{FF2B5EF4-FFF2-40B4-BE49-F238E27FC236}">
                <a16:creationId xmlns:a16="http://schemas.microsoft.com/office/drawing/2014/main" id="{7092C94C-8E8E-C81B-1258-BD50F24D5D1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73366" y="912168"/>
            <a:ext cx="807015" cy="914400"/>
          </a:xfrm>
          <a:prstGeom prst="rect">
            <a:avLst/>
          </a:prstGeom>
        </p:spPr>
      </p:pic>
      <p:sp>
        <p:nvSpPr>
          <p:cNvPr id="17" name="TextBox 16">
            <a:extLst>
              <a:ext uri="{FF2B5EF4-FFF2-40B4-BE49-F238E27FC236}">
                <a16:creationId xmlns:a16="http://schemas.microsoft.com/office/drawing/2014/main" id="{1775184B-6F70-66F9-3ED2-3A05F00AB1C8}"/>
              </a:ext>
            </a:extLst>
          </p:cNvPr>
          <p:cNvSpPr txBox="1"/>
          <p:nvPr/>
        </p:nvSpPr>
        <p:spPr>
          <a:xfrm>
            <a:off x="2640357" y="2415587"/>
            <a:ext cx="3470452" cy="1323439"/>
          </a:xfrm>
          <a:prstGeom prst="rect">
            <a:avLst/>
          </a:prstGeom>
          <a:noFill/>
        </p:spPr>
        <p:txBody>
          <a:bodyPr wrap="square">
            <a:spAutoFit/>
          </a:bodyPr>
          <a:lstStyle/>
          <a:p>
            <a:r>
              <a:rPr lang="en-US" sz="2000" dirty="0"/>
              <a:t>Openness of </a:t>
            </a:r>
            <a:r>
              <a:rPr lang="en-US" sz="2000" b="1" dirty="0"/>
              <a:t>decision-making processes </a:t>
            </a:r>
            <a:r>
              <a:rPr lang="en-US" sz="2000" dirty="0"/>
              <a:t>and clear </a:t>
            </a:r>
            <a:r>
              <a:rPr lang="en-US" sz="2000" b="1" dirty="0"/>
              <a:t>communication</a:t>
            </a:r>
            <a:r>
              <a:rPr lang="en-US" sz="2000" dirty="0"/>
              <a:t> helps </a:t>
            </a:r>
            <a:r>
              <a:rPr lang="en-US" sz="2000" b="1" dirty="0"/>
              <a:t>build trust </a:t>
            </a:r>
            <a:r>
              <a:rPr lang="en-US" sz="2000" dirty="0"/>
              <a:t>within a group.</a:t>
            </a:r>
          </a:p>
        </p:txBody>
      </p:sp>
      <p:pic>
        <p:nvPicPr>
          <p:cNvPr id="19" name="Graphic 18" descr="Unlock outline">
            <a:extLst>
              <a:ext uri="{FF2B5EF4-FFF2-40B4-BE49-F238E27FC236}">
                <a16:creationId xmlns:a16="http://schemas.microsoft.com/office/drawing/2014/main" id="{863C8FA7-9ABC-E1EC-9518-B73B4EAF59A2}"/>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8063860" y="949113"/>
            <a:ext cx="686021" cy="777306"/>
          </a:xfrm>
          <a:prstGeom prst="rect">
            <a:avLst/>
          </a:prstGeom>
        </p:spPr>
      </p:pic>
      <p:sp>
        <p:nvSpPr>
          <p:cNvPr id="8" name="TextBox 7">
            <a:extLst>
              <a:ext uri="{FF2B5EF4-FFF2-40B4-BE49-F238E27FC236}">
                <a16:creationId xmlns:a16="http://schemas.microsoft.com/office/drawing/2014/main" id="{B97EC33B-1E37-15DC-EB0A-38B9D4DC12F6}"/>
              </a:ext>
            </a:extLst>
          </p:cNvPr>
          <p:cNvSpPr txBox="1"/>
          <p:nvPr/>
        </p:nvSpPr>
        <p:spPr>
          <a:xfrm>
            <a:off x="697281" y="5024964"/>
            <a:ext cx="1930203" cy="353943"/>
          </a:xfrm>
          <a:prstGeom prst="rect">
            <a:avLst/>
          </a:prstGeom>
          <a:noFill/>
        </p:spPr>
        <p:txBody>
          <a:bodyPr wrap="square">
            <a:spAutoFit/>
          </a:bodyPr>
          <a:lstStyle/>
          <a:p>
            <a:r>
              <a:rPr lang="en-US" sz="1700" b="1" dirty="0"/>
              <a:t>Co-development</a:t>
            </a:r>
          </a:p>
        </p:txBody>
      </p:sp>
      <p:sp>
        <p:nvSpPr>
          <p:cNvPr id="9" name="TextBox 8">
            <a:extLst>
              <a:ext uri="{FF2B5EF4-FFF2-40B4-BE49-F238E27FC236}">
                <a16:creationId xmlns:a16="http://schemas.microsoft.com/office/drawing/2014/main" id="{2FD42020-8120-7545-F37B-AC611EE2769A}"/>
              </a:ext>
            </a:extLst>
          </p:cNvPr>
          <p:cNvSpPr txBox="1"/>
          <p:nvPr/>
        </p:nvSpPr>
        <p:spPr>
          <a:xfrm>
            <a:off x="2655835" y="4301736"/>
            <a:ext cx="3517966" cy="1938992"/>
          </a:xfrm>
          <a:prstGeom prst="rect">
            <a:avLst/>
          </a:prstGeom>
          <a:noFill/>
        </p:spPr>
        <p:txBody>
          <a:bodyPr wrap="square">
            <a:spAutoFit/>
          </a:bodyPr>
          <a:lstStyle/>
          <a:p>
            <a:r>
              <a:rPr lang="en-US" sz="2000" b="1" dirty="0"/>
              <a:t>Relational </a:t>
            </a:r>
            <a:r>
              <a:rPr lang="en-US" sz="2000" dirty="0"/>
              <a:t>leadership, </a:t>
            </a:r>
            <a:r>
              <a:rPr lang="en-US" sz="2000" b="1" dirty="0"/>
              <a:t>collective role </a:t>
            </a:r>
            <a:r>
              <a:rPr lang="en-US" sz="2000" dirty="0"/>
              <a:t>in decision-making process, empowering everyone to </a:t>
            </a:r>
            <a:r>
              <a:rPr lang="en-US" sz="2000" b="1" dirty="0"/>
              <a:t>contribute</a:t>
            </a:r>
            <a:r>
              <a:rPr lang="en-US" sz="2000" dirty="0"/>
              <a:t>, ability to balance multiple (sometimes conflicting) ideas. </a:t>
            </a:r>
          </a:p>
        </p:txBody>
      </p:sp>
      <p:sp>
        <p:nvSpPr>
          <p:cNvPr id="21" name="TextBox 20">
            <a:extLst>
              <a:ext uri="{FF2B5EF4-FFF2-40B4-BE49-F238E27FC236}">
                <a16:creationId xmlns:a16="http://schemas.microsoft.com/office/drawing/2014/main" id="{E9A56305-4E39-1DEE-D2E3-5951D92B5A62}"/>
              </a:ext>
            </a:extLst>
          </p:cNvPr>
          <p:cNvSpPr txBox="1"/>
          <p:nvPr/>
        </p:nvSpPr>
        <p:spPr>
          <a:xfrm>
            <a:off x="6436700" y="2212598"/>
            <a:ext cx="3778008" cy="1631216"/>
          </a:xfrm>
          <a:prstGeom prst="rect">
            <a:avLst/>
          </a:prstGeom>
          <a:noFill/>
        </p:spPr>
        <p:txBody>
          <a:bodyPr wrap="square">
            <a:spAutoFit/>
          </a:bodyPr>
          <a:lstStyle/>
          <a:p>
            <a:r>
              <a:rPr lang="en-US" sz="2000" dirty="0"/>
              <a:t>Thoughtful </a:t>
            </a:r>
            <a:r>
              <a:rPr lang="en-US" sz="2000" b="1" dirty="0"/>
              <a:t>planning </a:t>
            </a:r>
            <a:r>
              <a:rPr lang="en-US" sz="2000" dirty="0"/>
              <a:t>and transparently </a:t>
            </a:r>
            <a:r>
              <a:rPr lang="en-US" sz="2000" b="1" dirty="0"/>
              <a:t>documenting</a:t>
            </a:r>
            <a:r>
              <a:rPr lang="en-US" sz="2000" dirty="0"/>
              <a:t> </a:t>
            </a:r>
            <a:r>
              <a:rPr lang="en-US" sz="2000" b="1" dirty="0"/>
              <a:t>study</a:t>
            </a:r>
            <a:r>
              <a:rPr lang="en-US" sz="2000" dirty="0"/>
              <a:t> design, data collection and analysis in a </a:t>
            </a:r>
            <a:r>
              <a:rPr lang="en-US" sz="2000" b="1" dirty="0"/>
              <a:t>preregistration</a:t>
            </a:r>
            <a:r>
              <a:rPr lang="en-US" sz="2000" dirty="0"/>
              <a:t> improves </a:t>
            </a:r>
            <a:r>
              <a:rPr lang="en-US" sz="2000" b="1" dirty="0"/>
              <a:t>credibility</a:t>
            </a:r>
            <a:r>
              <a:rPr lang="en-US" sz="2000" dirty="0"/>
              <a:t> of research.</a:t>
            </a:r>
          </a:p>
        </p:txBody>
      </p:sp>
      <p:sp>
        <p:nvSpPr>
          <p:cNvPr id="23" name="TextBox 22">
            <a:extLst>
              <a:ext uri="{FF2B5EF4-FFF2-40B4-BE49-F238E27FC236}">
                <a16:creationId xmlns:a16="http://schemas.microsoft.com/office/drawing/2014/main" id="{F102044A-7DF5-F339-3E0A-6343F7048AA6}"/>
              </a:ext>
            </a:extLst>
          </p:cNvPr>
          <p:cNvSpPr txBox="1"/>
          <p:nvPr/>
        </p:nvSpPr>
        <p:spPr>
          <a:xfrm>
            <a:off x="3657710" y="1646260"/>
            <a:ext cx="1295483" cy="369332"/>
          </a:xfrm>
          <a:prstGeom prst="rect">
            <a:avLst/>
          </a:prstGeom>
          <a:noFill/>
        </p:spPr>
        <p:txBody>
          <a:bodyPr wrap="none" rtlCol="0">
            <a:spAutoFit/>
          </a:bodyPr>
          <a:lstStyle/>
          <a:p>
            <a:r>
              <a:rPr lang="en-US" i="1" dirty="0"/>
              <a:t>Leadership</a:t>
            </a:r>
          </a:p>
        </p:txBody>
      </p:sp>
      <p:sp>
        <p:nvSpPr>
          <p:cNvPr id="24" name="TextBox 23">
            <a:extLst>
              <a:ext uri="{FF2B5EF4-FFF2-40B4-BE49-F238E27FC236}">
                <a16:creationId xmlns:a16="http://schemas.microsoft.com/office/drawing/2014/main" id="{D18E77BD-704E-A20C-23DE-12985253DD4B}"/>
              </a:ext>
            </a:extLst>
          </p:cNvPr>
          <p:cNvSpPr txBox="1"/>
          <p:nvPr/>
        </p:nvSpPr>
        <p:spPr>
          <a:xfrm>
            <a:off x="7619635" y="1652912"/>
            <a:ext cx="1574470" cy="369332"/>
          </a:xfrm>
          <a:prstGeom prst="rect">
            <a:avLst/>
          </a:prstGeom>
          <a:noFill/>
        </p:spPr>
        <p:txBody>
          <a:bodyPr wrap="none" rtlCol="0">
            <a:spAutoFit/>
          </a:bodyPr>
          <a:lstStyle/>
          <a:p>
            <a:r>
              <a:rPr lang="en-US" i="1" dirty="0"/>
              <a:t>Open Science</a:t>
            </a:r>
          </a:p>
        </p:txBody>
      </p:sp>
      <p:sp>
        <p:nvSpPr>
          <p:cNvPr id="39" name="Content Placeholder 2">
            <a:extLst>
              <a:ext uri="{FF2B5EF4-FFF2-40B4-BE49-F238E27FC236}">
                <a16:creationId xmlns:a16="http://schemas.microsoft.com/office/drawing/2014/main" id="{13A4AF5A-C233-E6D1-93D1-4D2558C1250C}"/>
              </a:ext>
            </a:extLst>
          </p:cNvPr>
          <p:cNvSpPr txBox="1">
            <a:spLocks/>
          </p:cNvSpPr>
          <p:nvPr/>
        </p:nvSpPr>
        <p:spPr>
          <a:xfrm rot="16200000">
            <a:off x="-778449" y="3234329"/>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Values</a:t>
            </a:r>
          </a:p>
        </p:txBody>
      </p:sp>
      <p:sp>
        <p:nvSpPr>
          <p:cNvPr id="40" name="Content Placeholder 2">
            <a:extLst>
              <a:ext uri="{FF2B5EF4-FFF2-40B4-BE49-F238E27FC236}">
                <a16:creationId xmlns:a16="http://schemas.microsoft.com/office/drawing/2014/main" id="{6CBEA119-851A-A156-360C-AACE222F5467}"/>
              </a:ext>
            </a:extLst>
          </p:cNvPr>
          <p:cNvSpPr txBox="1">
            <a:spLocks/>
          </p:cNvSpPr>
          <p:nvPr/>
        </p:nvSpPr>
        <p:spPr>
          <a:xfrm>
            <a:off x="5665583" y="6456572"/>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Context</a:t>
            </a:r>
          </a:p>
        </p:txBody>
      </p:sp>
      <p:sp>
        <p:nvSpPr>
          <p:cNvPr id="3" name="Rectangle 2">
            <a:extLst>
              <a:ext uri="{FF2B5EF4-FFF2-40B4-BE49-F238E27FC236}">
                <a16:creationId xmlns:a16="http://schemas.microsoft.com/office/drawing/2014/main" id="{F1E9D5EA-9BEB-9FAE-24D8-DB87236DC18F}"/>
              </a:ext>
            </a:extLst>
          </p:cNvPr>
          <p:cNvSpPr/>
          <p:nvPr/>
        </p:nvSpPr>
        <p:spPr>
          <a:xfrm>
            <a:off x="670149" y="2001711"/>
            <a:ext cx="10087497" cy="2081062"/>
          </a:xfrm>
          <a:prstGeom prst="rect">
            <a:avLst/>
          </a:prstGeom>
          <a:solidFill>
            <a:schemeClr val="bg1">
              <a:alpha val="6847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3670667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2EF419-6F1C-9CEF-18AF-167611D69ED7}"/>
            </a:ext>
          </a:extLst>
        </p:cNvPr>
        <p:cNvGrpSpPr/>
        <p:nvPr/>
      </p:nvGrpSpPr>
      <p:grpSpPr>
        <a:xfrm>
          <a:off x="0" y="0"/>
          <a:ext cx="0" cy="0"/>
          <a:chOff x="0" y="0"/>
          <a:chExt cx="0" cy="0"/>
        </a:xfrm>
      </p:grpSpPr>
      <p:sp>
        <p:nvSpPr>
          <p:cNvPr id="38" name="Rectangle 37">
            <a:extLst>
              <a:ext uri="{FF2B5EF4-FFF2-40B4-BE49-F238E27FC236}">
                <a16:creationId xmlns:a16="http://schemas.microsoft.com/office/drawing/2014/main" id="{AB174995-FE67-48E7-5D73-921F8B456B6F}"/>
              </a:ext>
            </a:extLst>
          </p:cNvPr>
          <p:cNvSpPr/>
          <p:nvPr/>
        </p:nvSpPr>
        <p:spPr>
          <a:xfrm>
            <a:off x="6381141" y="902839"/>
            <a:ext cx="3840618" cy="1098789"/>
          </a:xfrm>
          <a:prstGeom prst="rect">
            <a:avLst/>
          </a:prstGeom>
          <a:solidFill>
            <a:srgbClr val="00B05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Rectangle 36">
            <a:extLst>
              <a:ext uri="{FF2B5EF4-FFF2-40B4-BE49-F238E27FC236}">
                <a16:creationId xmlns:a16="http://schemas.microsoft.com/office/drawing/2014/main" id="{77BF2227-52B6-BE8E-36B4-36D96B0AE808}"/>
              </a:ext>
            </a:extLst>
          </p:cNvPr>
          <p:cNvSpPr/>
          <p:nvPr/>
        </p:nvSpPr>
        <p:spPr>
          <a:xfrm>
            <a:off x="2587159" y="915771"/>
            <a:ext cx="3607020" cy="1102748"/>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Rectangle 35">
            <a:extLst>
              <a:ext uri="{FF2B5EF4-FFF2-40B4-BE49-F238E27FC236}">
                <a16:creationId xmlns:a16="http://schemas.microsoft.com/office/drawing/2014/main" id="{7774F3DA-6470-0118-0B3C-ACADE6CE8CD3}"/>
              </a:ext>
            </a:extLst>
          </p:cNvPr>
          <p:cNvSpPr/>
          <p:nvPr/>
        </p:nvSpPr>
        <p:spPr>
          <a:xfrm>
            <a:off x="6374090" y="4122130"/>
            <a:ext cx="3857694" cy="2168800"/>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CB9402E6-BE9F-0076-0C9E-8DA4D361016B}"/>
              </a:ext>
            </a:extLst>
          </p:cNvPr>
          <p:cNvSpPr/>
          <p:nvPr/>
        </p:nvSpPr>
        <p:spPr>
          <a:xfrm>
            <a:off x="6377719" y="898204"/>
            <a:ext cx="3840618" cy="3139629"/>
          </a:xfrm>
          <a:prstGeom prst="rect">
            <a:avLst/>
          </a:prstGeom>
          <a:solidFill>
            <a:srgbClr val="45B08B">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C400F20C-6EF8-8397-0FAF-8AF1FB9A5DE5}"/>
              </a:ext>
            </a:extLst>
          </p:cNvPr>
          <p:cNvSpPr/>
          <p:nvPr/>
        </p:nvSpPr>
        <p:spPr>
          <a:xfrm>
            <a:off x="740504" y="4151422"/>
            <a:ext cx="1757321" cy="2166864"/>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11C3B7E8-534F-E62B-A9BF-2D836476B504}"/>
              </a:ext>
            </a:extLst>
          </p:cNvPr>
          <p:cNvSpPr/>
          <p:nvPr/>
        </p:nvSpPr>
        <p:spPr>
          <a:xfrm>
            <a:off x="2587142" y="4136094"/>
            <a:ext cx="3607037" cy="2182191"/>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AB6C12E4-9CD4-56D2-E912-7A90EDDC63ED}"/>
              </a:ext>
            </a:extLst>
          </p:cNvPr>
          <p:cNvSpPr/>
          <p:nvPr/>
        </p:nvSpPr>
        <p:spPr>
          <a:xfrm>
            <a:off x="742440" y="2064626"/>
            <a:ext cx="1755385" cy="1987171"/>
          </a:xfrm>
          <a:prstGeom prst="rect">
            <a:avLst/>
          </a:prstGeom>
          <a:solidFill>
            <a:srgbClr val="FFC000">
              <a:alpha val="5768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Rectangle 25">
            <a:extLst>
              <a:ext uri="{FF2B5EF4-FFF2-40B4-BE49-F238E27FC236}">
                <a16:creationId xmlns:a16="http://schemas.microsoft.com/office/drawing/2014/main" id="{81E095AB-8CD2-493B-BB18-945F196BCC05}"/>
              </a:ext>
            </a:extLst>
          </p:cNvPr>
          <p:cNvSpPr/>
          <p:nvPr/>
        </p:nvSpPr>
        <p:spPr>
          <a:xfrm>
            <a:off x="2587143" y="916696"/>
            <a:ext cx="3607038" cy="3139629"/>
          </a:xfrm>
          <a:prstGeom prst="rect">
            <a:avLst/>
          </a:prstGeom>
          <a:solidFill>
            <a:schemeClr val="bg2">
              <a:lumMod val="75000"/>
              <a:alpha val="5768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1DB787-B972-4DB6-0D9B-8EC99DBE6579}"/>
              </a:ext>
            </a:extLst>
          </p:cNvPr>
          <p:cNvSpPr>
            <a:spLocks noGrp="1"/>
          </p:cNvSpPr>
          <p:nvPr>
            <p:ph type="title"/>
          </p:nvPr>
        </p:nvSpPr>
        <p:spPr>
          <a:xfrm>
            <a:off x="-1" y="173"/>
            <a:ext cx="12118894" cy="873847"/>
          </a:xfrm>
        </p:spPr>
        <p:txBody>
          <a:bodyPr>
            <a:normAutofit/>
          </a:bodyPr>
          <a:lstStyle/>
          <a:p>
            <a:r>
              <a:rPr lang="en-US" b="1" dirty="0"/>
              <a:t>Example of shared values: co-development</a:t>
            </a:r>
          </a:p>
        </p:txBody>
      </p:sp>
      <p:grpSp>
        <p:nvGrpSpPr>
          <p:cNvPr id="4" name="Group 3">
            <a:extLst>
              <a:ext uri="{FF2B5EF4-FFF2-40B4-BE49-F238E27FC236}">
                <a16:creationId xmlns:a16="http://schemas.microsoft.com/office/drawing/2014/main" id="{517576CF-D266-C997-4D85-B1CCCA6F410F}"/>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A186C202-2F89-9EB9-5CEC-38E7FC5688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CEBD0E2-DD76-FD2B-27E8-D2A24906440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8573F5E3-C31C-32C2-0403-EE87FEBF7016}"/>
              </a:ext>
            </a:extLst>
          </p:cNvPr>
          <p:cNvSpPr>
            <a:spLocks noGrp="1"/>
          </p:cNvSpPr>
          <p:nvPr>
            <p:ph type="sldNum" sz="quarter" idx="12"/>
          </p:nvPr>
        </p:nvSpPr>
        <p:spPr>
          <a:xfrm>
            <a:off x="10448364" y="6356350"/>
            <a:ext cx="905435" cy="365125"/>
          </a:xfrm>
        </p:spPr>
        <p:txBody>
          <a:bodyPr/>
          <a:lstStyle/>
          <a:p>
            <a:fld id="{D292B180-B274-DE43-B36F-C827C7616C05}" type="slidenum">
              <a:rPr lang="en-US" smtClean="0"/>
              <a:pPr/>
              <a:t>43</a:t>
            </a:fld>
            <a:endParaRPr lang="en-US" dirty="0"/>
          </a:p>
          <a:p>
            <a:endParaRPr lang="en-US" dirty="0"/>
          </a:p>
        </p:txBody>
      </p:sp>
      <p:sp>
        <p:nvSpPr>
          <p:cNvPr id="13" name="TextBox 12">
            <a:extLst>
              <a:ext uri="{FF2B5EF4-FFF2-40B4-BE49-F238E27FC236}">
                <a16:creationId xmlns:a16="http://schemas.microsoft.com/office/drawing/2014/main" id="{6ED2F772-9ED6-349C-7A33-60BF09C7D1D6}"/>
              </a:ext>
            </a:extLst>
          </p:cNvPr>
          <p:cNvSpPr txBox="1"/>
          <p:nvPr/>
        </p:nvSpPr>
        <p:spPr>
          <a:xfrm>
            <a:off x="872182" y="2784858"/>
            <a:ext cx="1695999" cy="646331"/>
          </a:xfrm>
          <a:prstGeom prst="rect">
            <a:avLst/>
          </a:prstGeom>
          <a:noFill/>
        </p:spPr>
        <p:txBody>
          <a:bodyPr wrap="square" rtlCol="0">
            <a:spAutoFit/>
          </a:bodyPr>
          <a:lstStyle/>
          <a:p>
            <a:r>
              <a:rPr lang="en-US" b="1" dirty="0"/>
              <a:t>Transparency </a:t>
            </a:r>
          </a:p>
          <a:p>
            <a:r>
              <a:rPr lang="en-US" b="1" dirty="0"/>
              <a:t>and integrity </a:t>
            </a:r>
          </a:p>
        </p:txBody>
      </p:sp>
      <p:pic>
        <p:nvPicPr>
          <p:cNvPr id="15" name="Graphic 14" descr="Users with solid fill">
            <a:extLst>
              <a:ext uri="{FF2B5EF4-FFF2-40B4-BE49-F238E27FC236}">
                <a16:creationId xmlns:a16="http://schemas.microsoft.com/office/drawing/2014/main" id="{EF199218-619B-0A9D-53AB-E1850675CDE3}"/>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73366" y="912168"/>
            <a:ext cx="807015" cy="914400"/>
          </a:xfrm>
          <a:prstGeom prst="rect">
            <a:avLst/>
          </a:prstGeom>
        </p:spPr>
      </p:pic>
      <p:sp>
        <p:nvSpPr>
          <p:cNvPr id="17" name="TextBox 16">
            <a:extLst>
              <a:ext uri="{FF2B5EF4-FFF2-40B4-BE49-F238E27FC236}">
                <a16:creationId xmlns:a16="http://schemas.microsoft.com/office/drawing/2014/main" id="{9E79347B-E205-4553-C6E8-251869BC45A7}"/>
              </a:ext>
            </a:extLst>
          </p:cNvPr>
          <p:cNvSpPr txBox="1"/>
          <p:nvPr/>
        </p:nvSpPr>
        <p:spPr>
          <a:xfrm>
            <a:off x="2640357" y="2415587"/>
            <a:ext cx="3470452" cy="1323439"/>
          </a:xfrm>
          <a:prstGeom prst="rect">
            <a:avLst/>
          </a:prstGeom>
          <a:noFill/>
        </p:spPr>
        <p:txBody>
          <a:bodyPr wrap="square">
            <a:spAutoFit/>
          </a:bodyPr>
          <a:lstStyle/>
          <a:p>
            <a:r>
              <a:rPr lang="en-US" sz="2000" dirty="0"/>
              <a:t>Openness of </a:t>
            </a:r>
            <a:r>
              <a:rPr lang="en-US" sz="2000" b="1" dirty="0"/>
              <a:t>decision-making processes </a:t>
            </a:r>
            <a:r>
              <a:rPr lang="en-US" sz="2000" dirty="0"/>
              <a:t>and clear </a:t>
            </a:r>
            <a:r>
              <a:rPr lang="en-US" sz="2000" b="1" dirty="0"/>
              <a:t>communication</a:t>
            </a:r>
            <a:r>
              <a:rPr lang="en-US" sz="2000" dirty="0"/>
              <a:t> helps </a:t>
            </a:r>
            <a:r>
              <a:rPr lang="en-US" sz="2000" b="1" dirty="0"/>
              <a:t>build trust </a:t>
            </a:r>
            <a:r>
              <a:rPr lang="en-US" sz="2000" dirty="0"/>
              <a:t>within a group.</a:t>
            </a:r>
          </a:p>
        </p:txBody>
      </p:sp>
      <p:pic>
        <p:nvPicPr>
          <p:cNvPr id="19" name="Graphic 18" descr="Unlock outline">
            <a:extLst>
              <a:ext uri="{FF2B5EF4-FFF2-40B4-BE49-F238E27FC236}">
                <a16:creationId xmlns:a16="http://schemas.microsoft.com/office/drawing/2014/main" id="{8C4A26A8-B105-ABB2-888A-8D1B6D380AEE}"/>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8063860" y="949113"/>
            <a:ext cx="686021" cy="777306"/>
          </a:xfrm>
          <a:prstGeom prst="rect">
            <a:avLst/>
          </a:prstGeom>
        </p:spPr>
      </p:pic>
      <p:sp>
        <p:nvSpPr>
          <p:cNvPr id="8" name="TextBox 7">
            <a:extLst>
              <a:ext uri="{FF2B5EF4-FFF2-40B4-BE49-F238E27FC236}">
                <a16:creationId xmlns:a16="http://schemas.microsoft.com/office/drawing/2014/main" id="{C0C3250F-61A5-FD74-A67A-155B250D438F}"/>
              </a:ext>
            </a:extLst>
          </p:cNvPr>
          <p:cNvSpPr txBox="1"/>
          <p:nvPr/>
        </p:nvSpPr>
        <p:spPr>
          <a:xfrm>
            <a:off x="697281" y="5024964"/>
            <a:ext cx="1930203" cy="353943"/>
          </a:xfrm>
          <a:prstGeom prst="rect">
            <a:avLst/>
          </a:prstGeom>
          <a:noFill/>
        </p:spPr>
        <p:txBody>
          <a:bodyPr wrap="square">
            <a:spAutoFit/>
          </a:bodyPr>
          <a:lstStyle/>
          <a:p>
            <a:r>
              <a:rPr lang="en-US" sz="1700" b="1" dirty="0"/>
              <a:t>Co-development</a:t>
            </a:r>
          </a:p>
        </p:txBody>
      </p:sp>
      <p:sp>
        <p:nvSpPr>
          <p:cNvPr id="9" name="TextBox 8">
            <a:extLst>
              <a:ext uri="{FF2B5EF4-FFF2-40B4-BE49-F238E27FC236}">
                <a16:creationId xmlns:a16="http://schemas.microsoft.com/office/drawing/2014/main" id="{32403A9F-9B20-2EBC-DC96-28C7884B25BA}"/>
              </a:ext>
            </a:extLst>
          </p:cNvPr>
          <p:cNvSpPr txBox="1"/>
          <p:nvPr/>
        </p:nvSpPr>
        <p:spPr>
          <a:xfrm>
            <a:off x="2655835" y="4301736"/>
            <a:ext cx="3517966" cy="1938992"/>
          </a:xfrm>
          <a:prstGeom prst="rect">
            <a:avLst/>
          </a:prstGeom>
          <a:noFill/>
        </p:spPr>
        <p:txBody>
          <a:bodyPr wrap="square">
            <a:spAutoFit/>
          </a:bodyPr>
          <a:lstStyle/>
          <a:p>
            <a:r>
              <a:rPr lang="en-US" sz="2000" b="1" dirty="0"/>
              <a:t>Relational </a:t>
            </a:r>
            <a:r>
              <a:rPr lang="en-US" sz="2000" dirty="0"/>
              <a:t>leadership, </a:t>
            </a:r>
            <a:r>
              <a:rPr lang="en-US" sz="2000" b="1" dirty="0"/>
              <a:t>collective role </a:t>
            </a:r>
            <a:r>
              <a:rPr lang="en-US" sz="2000" dirty="0"/>
              <a:t>in decision-making process, empowering everyone to </a:t>
            </a:r>
            <a:r>
              <a:rPr lang="en-US" sz="2000" b="1" dirty="0"/>
              <a:t>contribute</a:t>
            </a:r>
            <a:r>
              <a:rPr lang="en-US" sz="2000" dirty="0"/>
              <a:t>, ability to balance multiple (sometimes conflicting) ideas. </a:t>
            </a:r>
          </a:p>
        </p:txBody>
      </p:sp>
      <p:sp>
        <p:nvSpPr>
          <p:cNvPr id="16" name="TextBox 15">
            <a:extLst>
              <a:ext uri="{FF2B5EF4-FFF2-40B4-BE49-F238E27FC236}">
                <a16:creationId xmlns:a16="http://schemas.microsoft.com/office/drawing/2014/main" id="{2A63DB4E-0317-2B2D-577B-430CF7FB940E}"/>
              </a:ext>
            </a:extLst>
          </p:cNvPr>
          <p:cNvSpPr txBox="1"/>
          <p:nvPr/>
        </p:nvSpPr>
        <p:spPr>
          <a:xfrm>
            <a:off x="6406041" y="4219343"/>
            <a:ext cx="3840618" cy="1938992"/>
          </a:xfrm>
          <a:prstGeom prst="rect">
            <a:avLst/>
          </a:prstGeom>
          <a:noFill/>
        </p:spPr>
        <p:txBody>
          <a:bodyPr wrap="square" rtlCol="0">
            <a:spAutoFit/>
          </a:bodyPr>
          <a:lstStyle/>
          <a:p>
            <a:r>
              <a:rPr lang="en-US" sz="2000" dirty="0"/>
              <a:t>Embedding </a:t>
            </a:r>
            <a:r>
              <a:rPr lang="en-US" sz="2000" b="1" dirty="0"/>
              <a:t>CARE principles </a:t>
            </a:r>
            <a:r>
              <a:rPr lang="en-US" sz="2000" dirty="0"/>
              <a:t>into research, </a:t>
            </a:r>
            <a:r>
              <a:rPr lang="en-US" sz="2000" b="1" dirty="0"/>
              <a:t>co-producing</a:t>
            </a:r>
            <a:r>
              <a:rPr lang="en-US" sz="2000" dirty="0"/>
              <a:t> data governance policies with communities, minimizing harm and improving quality of research (</a:t>
            </a:r>
            <a:r>
              <a:rPr lang="en-US" sz="2000" dirty="0">
                <a:hlinkClick r:id="rId7"/>
              </a:rPr>
              <a:t>Carroll et al. 2021</a:t>
            </a:r>
            <a:r>
              <a:rPr lang="en-US" sz="2000" dirty="0"/>
              <a:t>).</a:t>
            </a:r>
          </a:p>
        </p:txBody>
      </p:sp>
      <p:sp>
        <p:nvSpPr>
          <p:cNvPr id="21" name="TextBox 20">
            <a:extLst>
              <a:ext uri="{FF2B5EF4-FFF2-40B4-BE49-F238E27FC236}">
                <a16:creationId xmlns:a16="http://schemas.microsoft.com/office/drawing/2014/main" id="{4F41C6D3-559D-3F93-34FA-37741119275F}"/>
              </a:ext>
            </a:extLst>
          </p:cNvPr>
          <p:cNvSpPr txBox="1"/>
          <p:nvPr/>
        </p:nvSpPr>
        <p:spPr>
          <a:xfrm>
            <a:off x="6436700" y="2212598"/>
            <a:ext cx="3778008" cy="1631216"/>
          </a:xfrm>
          <a:prstGeom prst="rect">
            <a:avLst/>
          </a:prstGeom>
          <a:noFill/>
        </p:spPr>
        <p:txBody>
          <a:bodyPr wrap="square">
            <a:spAutoFit/>
          </a:bodyPr>
          <a:lstStyle/>
          <a:p>
            <a:r>
              <a:rPr lang="en-US" sz="2000" dirty="0"/>
              <a:t>Thoughtful </a:t>
            </a:r>
            <a:r>
              <a:rPr lang="en-US" sz="2000" b="1" dirty="0"/>
              <a:t>planning </a:t>
            </a:r>
            <a:r>
              <a:rPr lang="en-US" sz="2000" dirty="0"/>
              <a:t>and transparently </a:t>
            </a:r>
            <a:r>
              <a:rPr lang="en-US" sz="2000" b="1" dirty="0"/>
              <a:t>documenting</a:t>
            </a:r>
            <a:r>
              <a:rPr lang="en-US" sz="2000" dirty="0"/>
              <a:t> </a:t>
            </a:r>
            <a:r>
              <a:rPr lang="en-US" sz="2000" b="1" dirty="0"/>
              <a:t>study</a:t>
            </a:r>
            <a:r>
              <a:rPr lang="en-US" sz="2000" dirty="0"/>
              <a:t> design, data collection and analysis in a </a:t>
            </a:r>
            <a:r>
              <a:rPr lang="en-US" sz="2000" b="1" dirty="0"/>
              <a:t>preregistration</a:t>
            </a:r>
            <a:r>
              <a:rPr lang="en-US" sz="2000" dirty="0"/>
              <a:t> improves </a:t>
            </a:r>
            <a:r>
              <a:rPr lang="en-US" sz="2000" b="1" dirty="0"/>
              <a:t>credibility</a:t>
            </a:r>
            <a:r>
              <a:rPr lang="en-US" sz="2000" dirty="0"/>
              <a:t> of research.</a:t>
            </a:r>
          </a:p>
        </p:txBody>
      </p:sp>
      <p:sp>
        <p:nvSpPr>
          <p:cNvPr id="23" name="TextBox 22">
            <a:extLst>
              <a:ext uri="{FF2B5EF4-FFF2-40B4-BE49-F238E27FC236}">
                <a16:creationId xmlns:a16="http://schemas.microsoft.com/office/drawing/2014/main" id="{341B86CE-1176-4DA7-CE2A-C3A0E0699E2A}"/>
              </a:ext>
            </a:extLst>
          </p:cNvPr>
          <p:cNvSpPr txBox="1"/>
          <p:nvPr/>
        </p:nvSpPr>
        <p:spPr>
          <a:xfrm>
            <a:off x="3657710" y="1646260"/>
            <a:ext cx="1295483" cy="369332"/>
          </a:xfrm>
          <a:prstGeom prst="rect">
            <a:avLst/>
          </a:prstGeom>
          <a:noFill/>
        </p:spPr>
        <p:txBody>
          <a:bodyPr wrap="none" rtlCol="0">
            <a:spAutoFit/>
          </a:bodyPr>
          <a:lstStyle/>
          <a:p>
            <a:r>
              <a:rPr lang="en-US" i="1" dirty="0"/>
              <a:t>Leadership</a:t>
            </a:r>
          </a:p>
        </p:txBody>
      </p:sp>
      <p:sp>
        <p:nvSpPr>
          <p:cNvPr id="24" name="TextBox 23">
            <a:extLst>
              <a:ext uri="{FF2B5EF4-FFF2-40B4-BE49-F238E27FC236}">
                <a16:creationId xmlns:a16="http://schemas.microsoft.com/office/drawing/2014/main" id="{928ECAEE-E3B7-C724-E912-A7FE8BEE764A}"/>
              </a:ext>
            </a:extLst>
          </p:cNvPr>
          <p:cNvSpPr txBox="1"/>
          <p:nvPr/>
        </p:nvSpPr>
        <p:spPr>
          <a:xfrm>
            <a:off x="7619635" y="1652912"/>
            <a:ext cx="1574470" cy="369332"/>
          </a:xfrm>
          <a:prstGeom prst="rect">
            <a:avLst/>
          </a:prstGeom>
          <a:noFill/>
        </p:spPr>
        <p:txBody>
          <a:bodyPr wrap="none" rtlCol="0">
            <a:spAutoFit/>
          </a:bodyPr>
          <a:lstStyle/>
          <a:p>
            <a:r>
              <a:rPr lang="en-US" i="1" dirty="0"/>
              <a:t>Open Science</a:t>
            </a:r>
          </a:p>
        </p:txBody>
      </p:sp>
      <p:sp>
        <p:nvSpPr>
          <p:cNvPr id="39" name="Content Placeholder 2">
            <a:extLst>
              <a:ext uri="{FF2B5EF4-FFF2-40B4-BE49-F238E27FC236}">
                <a16:creationId xmlns:a16="http://schemas.microsoft.com/office/drawing/2014/main" id="{A1130568-9FD1-87ED-C520-A98DA961E29B}"/>
              </a:ext>
            </a:extLst>
          </p:cNvPr>
          <p:cNvSpPr txBox="1">
            <a:spLocks/>
          </p:cNvSpPr>
          <p:nvPr/>
        </p:nvSpPr>
        <p:spPr>
          <a:xfrm rot="16200000">
            <a:off x="-778449" y="3234329"/>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Values</a:t>
            </a:r>
          </a:p>
        </p:txBody>
      </p:sp>
      <p:sp>
        <p:nvSpPr>
          <p:cNvPr id="40" name="Content Placeholder 2">
            <a:extLst>
              <a:ext uri="{FF2B5EF4-FFF2-40B4-BE49-F238E27FC236}">
                <a16:creationId xmlns:a16="http://schemas.microsoft.com/office/drawing/2014/main" id="{716C8D80-392C-F4F7-85B8-BB49EED9AAAB}"/>
              </a:ext>
            </a:extLst>
          </p:cNvPr>
          <p:cNvSpPr txBox="1">
            <a:spLocks/>
          </p:cNvSpPr>
          <p:nvPr/>
        </p:nvSpPr>
        <p:spPr>
          <a:xfrm>
            <a:off x="5665583" y="6456572"/>
            <a:ext cx="2456364" cy="440831"/>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Context</a:t>
            </a:r>
          </a:p>
        </p:txBody>
      </p:sp>
      <p:sp>
        <p:nvSpPr>
          <p:cNvPr id="3" name="Rectangle 2">
            <a:extLst>
              <a:ext uri="{FF2B5EF4-FFF2-40B4-BE49-F238E27FC236}">
                <a16:creationId xmlns:a16="http://schemas.microsoft.com/office/drawing/2014/main" id="{8CAE7728-D23A-2F85-74CC-20F4DD653532}"/>
              </a:ext>
            </a:extLst>
          </p:cNvPr>
          <p:cNvSpPr/>
          <p:nvPr/>
        </p:nvSpPr>
        <p:spPr>
          <a:xfrm>
            <a:off x="670149" y="2001711"/>
            <a:ext cx="10087497" cy="2081062"/>
          </a:xfrm>
          <a:prstGeom prst="rect">
            <a:avLst/>
          </a:prstGeom>
          <a:solidFill>
            <a:schemeClr val="bg1">
              <a:alpha val="6847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5898164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0D6C89DF-1B05-386E-D58B-60252EA659C7}"/>
              </a:ext>
            </a:extLst>
          </p:cNvPr>
          <p:cNvGrpSpPr/>
          <p:nvPr/>
        </p:nvGrpSpPr>
        <p:grpSpPr>
          <a:xfrm>
            <a:off x="10644280" y="6476875"/>
            <a:ext cx="1474613" cy="325672"/>
            <a:chOff x="19317" y="2690018"/>
            <a:chExt cx="11784755" cy="2025180"/>
          </a:xfrm>
        </p:grpSpPr>
        <p:pic>
          <p:nvPicPr>
            <p:cNvPr id="13" name="Picture 2">
              <a:extLst>
                <a:ext uri="{FF2B5EF4-FFF2-40B4-BE49-F238E27FC236}">
                  <a16:creationId xmlns:a16="http://schemas.microsoft.com/office/drawing/2014/main" id="{B9D7D9EF-CBA8-9788-D09B-85415BCC552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2C3F2738-C1F0-F2E5-9036-500C10C2E6A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EA450658-A8F6-69A9-8A52-997C3977603A}"/>
              </a:ext>
            </a:extLst>
          </p:cNvPr>
          <p:cNvSpPr>
            <a:spLocks noGrp="1"/>
          </p:cNvSpPr>
          <p:nvPr>
            <p:ph type="title"/>
          </p:nvPr>
        </p:nvSpPr>
        <p:spPr>
          <a:xfrm>
            <a:off x="0" y="0"/>
            <a:ext cx="12192000" cy="1325563"/>
          </a:xfrm>
        </p:spPr>
        <p:txBody>
          <a:bodyPr/>
          <a:lstStyle/>
          <a:p>
            <a:r>
              <a:rPr lang="en-US" b="1" dirty="0"/>
              <a:t>Shared values towards an open research culture </a:t>
            </a:r>
          </a:p>
        </p:txBody>
      </p:sp>
      <p:sp>
        <p:nvSpPr>
          <p:cNvPr id="4" name="Slide Number Placeholder 3">
            <a:extLst>
              <a:ext uri="{FF2B5EF4-FFF2-40B4-BE49-F238E27FC236}">
                <a16:creationId xmlns:a16="http://schemas.microsoft.com/office/drawing/2014/main" id="{F78C2729-0AE8-0328-B582-56109B75D7AE}"/>
              </a:ext>
            </a:extLst>
          </p:cNvPr>
          <p:cNvSpPr>
            <a:spLocks noGrp="1"/>
          </p:cNvSpPr>
          <p:nvPr>
            <p:ph type="sldNum" sz="quarter" idx="12"/>
          </p:nvPr>
        </p:nvSpPr>
        <p:spPr/>
        <p:txBody>
          <a:bodyPr/>
          <a:lstStyle/>
          <a:p>
            <a:fld id="{D292B180-B274-DE43-B36F-C827C7616C05}" type="slidenum">
              <a:rPr lang="en-US" smtClean="0"/>
              <a:t>44</a:t>
            </a:fld>
            <a:endParaRPr lang="en-US" dirty="0"/>
          </a:p>
        </p:txBody>
      </p:sp>
      <p:pic>
        <p:nvPicPr>
          <p:cNvPr id="5" name="Picture 4">
            <a:extLst>
              <a:ext uri="{FF2B5EF4-FFF2-40B4-BE49-F238E27FC236}">
                <a16:creationId xmlns:a16="http://schemas.microsoft.com/office/drawing/2014/main" id="{BC24F1DA-37F2-C1D6-67D4-4EA0BFDA5504}"/>
              </a:ext>
            </a:extLst>
          </p:cNvPr>
          <p:cNvPicPr>
            <a:picLocks noChangeAspect="1"/>
          </p:cNvPicPr>
          <p:nvPr/>
        </p:nvPicPr>
        <p:blipFill>
          <a:blip r:embed="rId5"/>
          <a:srcRect l="1558" t="2281" r="6835" b="21130"/>
          <a:stretch>
            <a:fillRect/>
          </a:stretch>
        </p:blipFill>
        <p:spPr>
          <a:xfrm>
            <a:off x="1472381" y="1631940"/>
            <a:ext cx="9689689" cy="4713660"/>
          </a:xfrm>
          <a:prstGeom prst="rect">
            <a:avLst/>
          </a:prstGeom>
        </p:spPr>
      </p:pic>
      <p:sp>
        <p:nvSpPr>
          <p:cNvPr id="6" name="TextBox 5">
            <a:extLst>
              <a:ext uri="{FF2B5EF4-FFF2-40B4-BE49-F238E27FC236}">
                <a16:creationId xmlns:a16="http://schemas.microsoft.com/office/drawing/2014/main" id="{8ED642D2-C18D-5EEF-13AA-DD254F4DE4A3}"/>
              </a:ext>
            </a:extLst>
          </p:cNvPr>
          <p:cNvSpPr txBox="1"/>
          <p:nvPr/>
        </p:nvSpPr>
        <p:spPr>
          <a:xfrm>
            <a:off x="142767" y="1094730"/>
            <a:ext cx="12049233" cy="461665"/>
          </a:xfrm>
          <a:prstGeom prst="rect">
            <a:avLst/>
          </a:prstGeom>
          <a:noFill/>
        </p:spPr>
        <p:txBody>
          <a:bodyPr wrap="square" rtlCol="0">
            <a:spAutoFit/>
          </a:bodyPr>
          <a:lstStyle/>
          <a:p>
            <a:r>
              <a:rPr lang="en-GB" sz="2400" dirty="0"/>
              <a:t>“What words or aspects to research come to mind when you think of research culture?”</a:t>
            </a:r>
          </a:p>
        </p:txBody>
      </p:sp>
      <p:sp>
        <p:nvSpPr>
          <p:cNvPr id="8" name="TextBox 7">
            <a:extLst>
              <a:ext uri="{FF2B5EF4-FFF2-40B4-BE49-F238E27FC236}">
                <a16:creationId xmlns:a16="http://schemas.microsoft.com/office/drawing/2014/main" id="{0F99AFDC-23E1-599E-D41E-67EAD15EF3BD}"/>
              </a:ext>
            </a:extLst>
          </p:cNvPr>
          <p:cNvSpPr txBox="1"/>
          <p:nvPr/>
        </p:nvSpPr>
        <p:spPr>
          <a:xfrm>
            <a:off x="4778292" y="6356350"/>
            <a:ext cx="3438634" cy="369332"/>
          </a:xfrm>
          <a:prstGeom prst="rect">
            <a:avLst/>
          </a:prstGeom>
          <a:noFill/>
        </p:spPr>
        <p:txBody>
          <a:bodyPr wrap="none" rtlCol="0">
            <a:spAutoFit/>
          </a:bodyPr>
          <a:lstStyle/>
          <a:p>
            <a:r>
              <a:rPr lang="en-US" dirty="0">
                <a:solidFill>
                  <a:schemeClr val="bg1">
                    <a:lumMod val="50000"/>
                  </a:schemeClr>
                </a:solidFill>
              </a:rPr>
              <a:t>Adapted from </a:t>
            </a:r>
            <a:r>
              <a:rPr lang="en-US" dirty="0">
                <a:solidFill>
                  <a:schemeClr val="bg1">
                    <a:lumMod val="50000"/>
                  </a:schemeClr>
                </a:solidFill>
                <a:hlinkClick r:id="rId6"/>
              </a:rPr>
              <a:t>Lacey et al. (2026) </a:t>
            </a:r>
            <a:endParaRPr lang="en-US" dirty="0">
              <a:solidFill>
                <a:schemeClr val="bg1">
                  <a:lumMod val="50000"/>
                </a:schemeClr>
              </a:solidFill>
            </a:endParaRPr>
          </a:p>
        </p:txBody>
      </p:sp>
      <p:sp>
        <p:nvSpPr>
          <p:cNvPr id="11" name="Up Arrow 10">
            <a:extLst>
              <a:ext uri="{FF2B5EF4-FFF2-40B4-BE49-F238E27FC236}">
                <a16:creationId xmlns:a16="http://schemas.microsoft.com/office/drawing/2014/main" id="{3D82B113-53AC-D381-3A8A-2F062D695ED0}"/>
              </a:ext>
            </a:extLst>
          </p:cNvPr>
          <p:cNvSpPr/>
          <p:nvPr/>
        </p:nvSpPr>
        <p:spPr>
          <a:xfrm rot="4049543">
            <a:off x="801329" y="5483998"/>
            <a:ext cx="811162" cy="1445342"/>
          </a:xfrm>
          <a:prstGeom prst="upArrow">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551455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9EE91C-21F6-16C9-ACB6-1A8C8F5B0A6A}"/>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1E9E8165-19BF-2498-6AA9-E61F3F22ABED}"/>
              </a:ext>
            </a:extLst>
          </p:cNvPr>
          <p:cNvPicPr>
            <a:picLocks noChangeAspect="1"/>
          </p:cNvPicPr>
          <p:nvPr/>
        </p:nvPicPr>
        <p:blipFill>
          <a:blip r:embed="rId3"/>
          <a:srcRect b="7144"/>
          <a:stretch>
            <a:fillRect/>
          </a:stretch>
        </p:blipFill>
        <p:spPr>
          <a:xfrm>
            <a:off x="5429096" y="169685"/>
            <a:ext cx="6689797" cy="6211902"/>
          </a:xfrm>
          <a:prstGeom prst="rect">
            <a:avLst/>
          </a:prstGeom>
        </p:spPr>
      </p:pic>
      <p:sp>
        <p:nvSpPr>
          <p:cNvPr id="2" name="Title 1">
            <a:extLst>
              <a:ext uri="{FF2B5EF4-FFF2-40B4-BE49-F238E27FC236}">
                <a16:creationId xmlns:a16="http://schemas.microsoft.com/office/drawing/2014/main" id="{7AFE7A9C-19D2-A5F3-A505-A9E8EACECC25}"/>
              </a:ext>
            </a:extLst>
          </p:cNvPr>
          <p:cNvSpPr>
            <a:spLocks noGrp="1"/>
          </p:cNvSpPr>
          <p:nvPr>
            <p:ph type="title"/>
          </p:nvPr>
        </p:nvSpPr>
        <p:spPr>
          <a:xfrm>
            <a:off x="205808" y="150799"/>
            <a:ext cx="6096000" cy="874059"/>
          </a:xfrm>
        </p:spPr>
        <p:txBody>
          <a:bodyPr>
            <a:normAutofit fontScale="90000"/>
          </a:bodyPr>
          <a:lstStyle/>
          <a:p>
            <a:r>
              <a:rPr lang="en-US" b="1" dirty="0"/>
              <a:t>Current context shapes research culture</a:t>
            </a:r>
          </a:p>
        </p:txBody>
      </p:sp>
      <p:grpSp>
        <p:nvGrpSpPr>
          <p:cNvPr id="4" name="Group 3">
            <a:extLst>
              <a:ext uri="{FF2B5EF4-FFF2-40B4-BE49-F238E27FC236}">
                <a16:creationId xmlns:a16="http://schemas.microsoft.com/office/drawing/2014/main" id="{269899C0-D9D5-4D0C-F6AF-D392925A5DC2}"/>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26A4CF64-F9B3-DF96-2E18-07D528D9545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D3B8927-BCB1-19AC-50C3-261FD4093A63}"/>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69DE32E9-9C94-BFFE-94AB-EE8CDB013A0B}"/>
              </a:ext>
            </a:extLst>
          </p:cNvPr>
          <p:cNvSpPr>
            <a:spLocks noGrp="1"/>
          </p:cNvSpPr>
          <p:nvPr>
            <p:ph type="sldNum" sz="quarter" idx="12"/>
          </p:nvPr>
        </p:nvSpPr>
        <p:spPr/>
        <p:txBody>
          <a:bodyPr/>
          <a:lstStyle/>
          <a:p>
            <a:fld id="{D292B180-B274-DE43-B36F-C827C7616C05}" type="slidenum">
              <a:rPr lang="en-US" smtClean="0"/>
              <a:t>45</a:t>
            </a:fld>
            <a:endParaRPr lang="en-US"/>
          </a:p>
        </p:txBody>
      </p:sp>
      <p:sp>
        <p:nvSpPr>
          <p:cNvPr id="20" name="Right Brace 19">
            <a:extLst>
              <a:ext uri="{FF2B5EF4-FFF2-40B4-BE49-F238E27FC236}">
                <a16:creationId xmlns:a16="http://schemas.microsoft.com/office/drawing/2014/main" id="{A6CB87FD-0E92-D917-2231-13F0C9CF9948}"/>
              </a:ext>
            </a:extLst>
          </p:cNvPr>
          <p:cNvSpPr/>
          <p:nvPr/>
        </p:nvSpPr>
        <p:spPr>
          <a:xfrm rot="9208789">
            <a:off x="4674009" y="4471677"/>
            <a:ext cx="1199090" cy="2555088"/>
          </a:xfrm>
          <a:prstGeom prst="rightBrace">
            <a:avLst>
              <a:gd name="adj1" fmla="val 18053"/>
              <a:gd name="adj2" fmla="val 48992"/>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22" name="TextBox 21">
            <a:extLst>
              <a:ext uri="{FF2B5EF4-FFF2-40B4-BE49-F238E27FC236}">
                <a16:creationId xmlns:a16="http://schemas.microsoft.com/office/drawing/2014/main" id="{21C4914C-0469-7C9D-C2FB-2A46F885F07F}"/>
              </a:ext>
            </a:extLst>
          </p:cNvPr>
          <p:cNvSpPr txBox="1"/>
          <p:nvPr/>
        </p:nvSpPr>
        <p:spPr>
          <a:xfrm>
            <a:off x="1533206" y="5412753"/>
            <a:ext cx="3130797" cy="1179041"/>
          </a:xfrm>
          <a:prstGeom prst="rect">
            <a:avLst/>
          </a:prstGeom>
          <a:noFill/>
        </p:spPr>
        <p:txBody>
          <a:bodyPr wrap="square">
            <a:spAutoFit/>
          </a:bodyPr>
          <a:lstStyle/>
          <a:p>
            <a:pPr marL="0" indent="0">
              <a:lnSpc>
                <a:spcPct val="120000"/>
              </a:lnSpc>
              <a:buNone/>
            </a:pPr>
            <a:r>
              <a:rPr lang="en-US" sz="2000" dirty="0"/>
              <a:t>The environment in which research happens is </a:t>
            </a:r>
            <a:r>
              <a:rPr lang="en-US" sz="2000" b="1" dirty="0"/>
              <a:t>not </a:t>
            </a:r>
            <a:r>
              <a:rPr lang="en-US" sz="2000" dirty="0"/>
              <a:t>a</a:t>
            </a:r>
            <a:r>
              <a:rPr lang="en-US" sz="2000" b="1" dirty="0"/>
              <a:t> neutral </a:t>
            </a:r>
            <a:r>
              <a:rPr lang="en-US" sz="2000" dirty="0"/>
              <a:t>backdrop.</a:t>
            </a:r>
          </a:p>
        </p:txBody>
      </p:sp>
      <p:pic>
        <p:nvPicPr>
          <p:cNvPr id="3" name="Picture 2">
            <a:extLst>
              <a:ext uri="{FF2B5EF4-FFF2-40B4-BE49-F238E27FC236}">
                <a16:creationId xmlns:a16="http://schemas.microsoft.com/office/drawing/2014/main" id="{37ACAA4E-2926-7B9C-EB36-4D6D3877A01C}"/>
              </a:ext>
            </a:extLst>
          </p:cNvPr>
          <p:cNvPicPr>
            <a:picLocks noChangeAspect="1"/>
          </p:cNvPicPr>
          <p:nvPr/>
        </p:nvPicPr>
        <p:blipFill>
          <a:blip r:embed="rId6"/>
          <a:srcRect l="25891" t="22584" r="23267" b="27652"/>
          <a:stretch>
            <a:fillRect/>
          </a:stretch>
        </p:blipFill>
        <p:spPr>
          <a:xfrm>
            <a:off x="7145547" y="1680755"/>
            <a:ext cx="3443219" cy="3370217"/>
          </a:xfrm>
          <a:prstGeom prst="rect">
            <a:avLst/>
          </a:prstGeom>
        </p:spPr>
      </p:pic>
    </p:spTree>
    <p:extLst>
      <p:ext uri="{BB962C8B-B14F-4D97-AF65-F5344CB8AC3E}">
        <p14:creationId xmlns:p14="http://schemas.microsoft.com/office/powerpoint/2010/main" val="421182210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7897B7-96E2-364A-7877-0BC17EE52D9A}"/>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56B8F281-1D58-5FC3-517D-6BC31B712232}"/>
              </a:ext>
            </a:extLst>
          </p:cNvPr>
          <p:cNvPicPr>
            <a:picLocks noChangeAspect="1"/>
          </p:cNvPicPr>
          <p:nvPr/>
        </p:nvPicPr>
        <p:blipFill>
          <a:blip r:embed="rId3"/>
          <a:srcRect b="7144"/>
          <a:stretch>
            <a:fillRect/>
          </a:stretch>
        </p:blipFill>
        <p:spPr>
          <a:xfrm>
            <a:off x="5429096" y="169685"/>
            <a:ext cx="6689797" cy="6211902"/>
          </a:xfrm>
          <a:prstGeom prst="rect">
            <a:avLst/>
          </a:prstGeom>
        </p:spPr>
      </p:pic>
      <p:sp>
        <p:nvSpPr>
          <p:cNvPr id="2" name="Title 1">
            <a:extLst>
              <a:ext uri="{FF2B5EF4-FFF2-40B4-BE49-F238E27FC236}">
                <a16:creationId xmlns:a16="http://schemas.microsoft.com/office/drawing/2014/main" id="{0764DE2E-B742-4630-DB21-C840DCBA1749}"/>
              </a:ext>
            </a:extLst>
          </p:cNvPr>
          <p:cNvSpPr>
            <a:spLocks noGrp="1"/>
          </p:cNvSpPr>
          <p:nvPr>
            <p:ph type="title"/>
          </p:nvPr>
        </p:nvSpPr>
        <p:spPr>
          <a:xfrm>
            <a:off x="205808" y="150799"/>
            <a:ext cx="6096000" cy="874059"/>
          </a:xfrm>
        </p:spPr>
        <p:txBody>
          <a:bodyPr>
            <a:normAutofit fontScale="90000"/>
          </a:bodyPr>
          <a:lstStyle/>
          <a:p>
            <a:r>
              <a:rPr lang="en-US" b="1" dirty="0"/>
              <a:t>Current context shapes research culture</a:t>
            </a:r>
          </a:p>
        </p:txBody>
      </p:sp>
      <p:grpSp>
        <p:nvGrpSpPr>
          <p:cNvPr id="4" name="Group 3">
            <a:extLst>
              <a:ext uri="{FF2B5EF4-FFF2-40B4-BE49-F238E27FC236}">
                <a16:creationId xmlns:a16="http://schemas.microsoft.com/office/drawing/2014/main" id="{E11EEDE9-32BA-8271-2B14-DEC82A995821}"/>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DD7E16B8-4FEE-17B9-2DB5-6A50BCC0801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B0C77681-F6B4-7163-538B-77AFC072DF74}"/>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2DF6FAEE-0E79-3A2D-B6D1-6A876E9CAF55}"/>
              </a:ext>
            </a:extLst>
          </p:cNvPr>
          <p:cNvSpPr>
            <a:spLocks noGrp="1"/>
          </p:cNvSpPr>
          <p:nvPr>
            <p:ph type="sldNum" sz="quarter" idx="12"/>
          </p:nvPr>
        </p:nvSpPr>
        <p:spPr/>
        <p:txBody>
          <a:bodyPr/>
          <a:lstStyle/>
          <a:p>
            <a:fld id="{D292B180-B274-DE43-B36F-C827C7616C05}" type="slidenum">
              <a:rPr lang="en-US" smtClean="0"/>
              <a:t>46</a:t>
            </a:fld>
            <a:endParaRPr lang="en-US"/>
          </a:p>
        </p:txBody>
      </p:sp>
      <p:sp>
        <p:nvSpPr>
          <p:cNvPr id="20" name="Right Brace 19">
            <a:extLst>
              <a:ext uri="{FF2B5EF4-FFF2-40B4-BE49-F238E27FC236}">
                <a16:creationId xmlns:a16="http://schemas.microsoft.com/office/drawing/2014/main" id="{774D2D08-50F9-A701-DEB3-723128B1D2A1}"/>
              </a:ext>
            </a:extLst>
          </p:cNvPr>
          <p:cNvSpPr/>
          <p:nvPr/>
        </p:nvSpPr>
        <p:spPr>
          <a:xfrm rot="9208789">
            <a:off x="4674009" y="4471677"/>
            <a:ext cx="1199090" cy="2555088"/>
          </a:xfrm>
          <a:prstGeom prst="rightBrace">
            <a:avLst>
              <a:gd name="adj1" fmla="val 18053"/>
              <a:gd name="adj2" fmla="val 48992"/>
            </a:avLst>
          </a:prstGeom>
          <a:ln w="50800">
            <a:solidFill>
              <a:schemeClr val="tx1">
                <a:alpha val="9622"/>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22" name="TextBox 21">
            <a:extLst>
              <a:ext uri="{FF2B5EF4-FFF2-40B4-BE49-F238E27FC236}">
                <a16:creationId xmlns:a16="http://schemas.microsoft.com/office/drawing/2014/main" id="{602FB413-8F3A-DB71-B124-56F9E4A52196}"/>
              </a:ext>
            </a:extLst>
          </p:cNvPr>
          <p:cNvSpPr txBox="1"/>
          <p:nvPr/>
        </p:nvSpPr>
        <p:spPr>
          <a:xfrm>
            <a:off x="1533206" y="5412753"/>
            <a:ext cx="3130797" cy="1179041"/>
          </a:xfrm>
          <a:prstGeom prst="rect">
            <a:avLst/>
          </a:prstGeom>
          <a:noFill/>
        </p:spPr>
        <p:txBody>
          <a:bodyPr wrap="square">
            <a:spAutoFit/>
          </a:bodyPr>
          <a:lstStyle/>
          <a:p>
            <a:pPr marL="0" indent="0">
              <a:lnSpc>
                <a:spcPct val="120000"/>
              </a:lnSpc>
              <a:buNone/>
            </a:pPr>
            <a:r>
              <a:rPr lang="en-US" sz="2000" dirty="0"/>
              <a:t>The environment in which research happens is </a:t>
            </a:r>
            <a:r>
              <a:rPr lang="en-US" sz="2000" b="1" dirty="0"/>
              <a:t>not </a:t>
            </a:r>
            <a:r>
              <a:rPr lang="en-US" sz="2000" dirty="0"/>
              <a:t>a</a:t>
            </a:r>
            <a:r>
              <a:rPr lang="en-US" sz="2000" b="1" dirty="0"/>
              <a:t> neutral </a:t>
            </a:r>
            <a:r>
              <a:rPr lang="en-US" sz="2000" dirty="0"/>
              <a:t>backdrop.</a:t>
            </a:r>
          </a:p>
        </p:txBody>
      </p:sp>
      <p:sp>
        <p:nvSpPr>
          <p:cNvPr id="24" name="TextBox 23">
            <a:extLst>
              <a:ext uri="{FF2B5EF4-FFF2-40B4-BE49-F238E27FC236}">
                <a16:creationId xmlns:a16="http://schemas.microsoft.com/office/drawing/2014/main" id="{18090A6B-91A8-0544-6FB8-7CDCF9861F42}"/>
              </a:ext>
            </a:extLst>
          </p:cNvPr>
          <p:cNvSpPr txBox="1"/>
          <p:nvPr/>
        </p:nvSpPr>
        <p:spPr>
          <a:xfrm>
            <a:off x="450883" y="3261942"/>
            <a:ext cx="4070979" cy="1548309"/>
          </a:xfrm>
          <a:prstGeom prst="rect">
            <a:avLst/>
          </a:prstGeom>
          <a:noFill/>
        </p:spPr>
        <p:txBody>
          <a:bodyPr wrap="square">
            <a:spAutoFit/>
          </a:bodyPr>
          <a:lstStyle/>
          <a:p>
            <a:pPr marL="0" indent="0">
              <a:lnSpc>
                <a:spcPct val="120000"/>
              </a:lnSpc>
              <a:buNone/>
            </a:pPr>
            <a:r>
              <a:rPr lang="en-US" sz="2000" b="1" dirty="0"/>
              <a:t>Social</a:t>
            </a:r>
            <a:r>
              <a:rPr lang="en-US" sz="2000" dirty="0"/>
              <a:t>, </a:t>
            </a:r>
            <a:r>
              <a:rPr lang="en-US" sz="2000" b="1" dirty="0"/>
              <a:t>cultural</a:t>
            </a:r>
            <a:r>
              <a:rPr lang="en-US" sz="2000" dirty="0"/>
              <a:t>, </a:t>
            </a:r>
            <a:r>
              <a:rPr lang="en-US" sz="2000" b="1" dirty="0"/>
              <a:t>educational</a:t>
            </a:r>
            <a:r>
              <a:rPr lang="en-US" sz="2000" dirty="0"/>
              <a:t> background, </a:t>
            </a:r>
            <a:r>
              <a:rPr lang="en-US" sz="2000" b="1" dirty="0"/>
              <a:t>economic</a:t>
            </a:r>
            <a:r>
              <a:rPr lang="en-US" sz="2000" dirty="0"/>
              <a:t> factors influences how we lead and respond to challenges.</a:t>
            </a:r>
          </a:p>
        </p:txBody>
      </p:sp>
      <p:sp>
        <p:nvSpPr>
          <p:cNvPr id="28" name="Rectangle 27">
            <a:extLst>
              <a:ext uri="{FF2B5EF4-FFF2-40B4-BE49-F238E27FC236}">
                <a16:creationId xmlns:a16="http://schemas.microsoft.com/office/drawing/2014/main" id="{692E4000-EB0A-2EEE-EF16-A0A6F51B07A9}"/>
              </a:ext>
            </a:extLst>
          </p:cNvPr>
          <p:cNvSpPr/>
          <p:nvPr/>
        </p:nvSpPr>
        <p:spPr>
          <a:xfrm>
            <a:off x="952157" y="4776938"/>
            <a:ext cx="3711846" cy="2081062"/>
          </a:xfrm>
          <a:prstGeom prst="rect">
            <a:avLst/>
          </a:prstGeom>
          <a:solidFill>
            <a:schemeClr val="bg1">
              <a:alpha val="6847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 name="Picture 2">
            <a:extLst>
              <a:ext uri="{FF2B5EF4-FFF2-40B4-BE49-F238E27FC236}">
                <a16:creationId xmlns:a16="http://schemas.microsoft.com/office/drawing/2014/main" id="{914B4EBD-1B0A-F176-25CE-9C4F79E6EF46}"/>
              </a:ext>
            </a:extLst>
          </p:cNvPr>
          <p:cNvPicPr>
            <a:picLocks noChangeAspect="1"/>
          </p:cNvPicPr>
          <p:nvPr/>
        </p:nvPicPr>
        <p:blipFill>
          <a:blip r:embed="rId6"/>
          <a:srcRect l="25891" t="22584" r="23267" b="27652"/>
          <a:stretch>
            <a:fillRect/>
          </a:stretch>
        </p:blipFill>
        <p:spPr>
          <a:xfrm>
            <a:off x="7145547" y="1680755"/>
            <a:ext cx="3443219" cy="3370217"/>
          </a:xfrm>
          <a:prstGeom prst="rect">
            <a:avLst/>
          </a:prstGeom>
        </p:spPr>
      </p:pic>
    </p:spTree>
    <p:extLst>
      <p:ext uri="{BB962C8B-B14F-4D97-AF65-F5344CB8AC3E}">
        <p14:creationId xmlns:p14="http://schemas.microsoft.com/office/powerpoint/2010/main" val="30445131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E60529-626C-EB2C-0451-0F0B2895C5AC}"/>
            </a:ext>
          </a:extLst>
        </p:cNvPr>
        <p:cNvGrpSpPr/>
        <p:nvPr/>
      </p:nvGrpSpPr>
      <p:grpSpPr>
        <a:xfrm>
          <a:off x="0" y="0"/>
          <a:ext cx="0" cy="0"/>
          <a:chOff x="0" y="0"/>
          <a:chExt cx="0" cy="0"/>
        </a:xfrm>
      </p:grpSpPr>
      <p:pic>
        <p:nvPicPr>
          <p:cNvPr id="19" name="Picture 18">
            <a:extLst>
              <a:ext uri="{FF2B5EF4-FFF2-40B4-BE49-F238E27FC236}">
                <a16:creationId xmlns:a16="http://schemas.microsoft.com/office/drawing/2014/main" id="{04AD758A-9D1C-98B5-C4D3-56ECBFDD476F}"/>
              </a:ext>
            </a:extLst>
          </p:cNvPr>
          <p:cNvPicPr>
            <a:picLocks noChangeAspect="1"/>
          </p:cNvPicPr>
          <p:nvPr/>
        </p:nvPicPr>
        <p:blipFill>
          <a:blip r:embed="rId3"/>
          <a:srcRect b="7144"/>
          <a:stretch>
            <a:fillRect/>
          </a:stretch>
        </p:blipFill>
        <p:spPr>
          <a:xfrm>
            <a:off x="5429096" y="169685"/>
            <a:ext cx="6689797" cy="6211902"/>
          </a:xfrm>
          <a:prstGeom prst="rect">
            <a:avLst/>
          </a:prstGeom>
        </p:spPr>
      </p:pic>
      <p:sp>
        <p:nvSpPr>
          <p:cNvPr id="2" name="Title 1">
            <a:extLst>
              <a:ext uri="{FF2B5EF4-FFF2-40B4-BE49-F238E27FC236}">
                <a16:creationId xmlns:a16="http://schemas.microsoft.com/office/drawing/2014/main" id="{090988C0-B073-DF10-3834-986C4F3BB404}"/>
              </a:ext>
            </a:extLst>
          </p:cNvPr>
          <p:cNvSpPr>
            <a:spLocks noGrp="1"/>
          </p:cNvSpPr>
          <p:nvPr>
            <p:ph type="title"/>
          </p:nvPr>
        </p:nvSpPr>
        <p:spPr>
          <a:xfrm>
            <a:off x="205808" y="150799"/>
            <a:ext cx="6096000" cy="874059"/>
          </a:xfrm>
        </p:spPr>
        <p:txBody>
          <a:bodyPr>
            <a:normAutofit fontScale="90000"/>
          </a:bodyPr>
          <a:lstStyle/>
          <a:p>
            <a:r>
              <a:rPr lang="en-US" b="1" dirty="0"/>
              <a:t>Current context shapes research culture</a:t>
            </a:r>
          </a:p>
        </p:txBody>
      </p:sp>
      <p:sp>
        <p:nvSpPr>
          <p:cNvPr id="3" name="Content Placeholder 2">
            <a:extLst>
              <a:ext uri="{FF2B5EF4-FFF2-40B4-BE49-F238E27FC236}">
                <a16:creationId xmlns:a16="http://schemas.microsoft.com/office/drawing/2014/main" id="{849C7E1D-5A31-3BB4-16BE-E869C5CC521D}"/>
              </a:ext>
            </a:extLst>
          </p:cNvPr>
          <p:cNvSpPr>
            <a:spLocks noGrp="1"/>
          </p:cNvSpPr>
          <p:nvPr>
            <p:ph idx="1"/>
          </p:nvPr>
        </p:nvSpPr>
        <p:spPr>
          <a:xfrm>
            <a:off x="1533206" y="1300083"/>
            <a:ext cx="3740348" cy="1686634"/>
          </a:xfrm>
        </p:spPr>
        <p:txBody>
          <a:bodyPr>
            <a:normAutofit fontScale="70000" lnSpcReduction="20000"/>
          </a:bodyPr>
          <a:lstStyle/>
          <a:p>
            <a:pPr marL="0" indent="0">
              <a:lnSpc>
                <a:spcPct val="120000"/>
              </a:lnSpc>
              <a:buNone/>
            </a:pPr>
            <a:r>
              <a:rPr lang="en-US" b="1" dirty="0"/>
              <a:t>Leadership</a:t>
            </a:r>
            <a:r>
              <a:rPr lang="en-US" dirty="0"/>
              <a:t> is a </a:t>
            </a:r>
            <a:r>
              <a:rPr lang="en-US" b="1" dirty="0"/>
              <a:t>critical</a:t>
            </a:r>
            <a:r>
              <a:rPr lang="en-US" dirty="0"/>
              <a:t> mediating factor in fostering a research culture that is </a:t>
            </a:r>
            <a:r>
              <a:rPr lang="en-US" b="1" dirty="0"/>
              <a:t>open</a:t>
            </a:r>
            <a:r>
              <a:rPr lang="en-US" dirty="0"/>
              <a:t>, </a:t>
            </a:r>
            <a:r>
              <a:rPr lang="en-US" b="1" dirty="0"/>
              <a:t>equitable</a:t>
            </a:r>
            <a:r>
              <a:rPr lang="en-US" dirty="0"/>
              <a:t> and </a:t>
            </a:r>
            <a:r>
              <a:rPr lang="en-US" b="1" dirty="0"/>
              <a:t>collaborative</a:t>
            </a:r>
            <a:r>
              <a:rPr lang="en-US" dirty="0"/>
              <a:t>.</a:t>
            </a:r>
          </a:p>
        </p:txBody>
      </p:sp>
      <p:grpSp>
        <p:nvGrpSpPr>
          <p:cNvPr id="4" name="Group 3">
            <a:extLst>
              <a:ext uri="{FF2B5EF4-FFF2-40B4-BE49-F238E27FC236}">
                <a16:creationId xmlns:a16="http://schemas.microsoft.com/office/drawing/2014/main" id="{9DB122A8-BA87-9C9F-D633-F80ACC20BC5E}"/>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76479222-1989-3147-886C-80821084F64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01DD5B4-980C-B4C8-8ACE-431AA8A11121}"/>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7" name="Slide Number Placeholder 6">
            <a:extLst>
              <a:ext uri="{FF2B5EF4-FFF2-40B4-BE49-F238E27FC236}">
                <a16:creationId xmlns:a16="http://schemas.microsoft.com/office/drawing/2014/main" id="{B708ECA5-4EF9-E98F-012E-A86AD85D0F8E}"/>
              </a:ext>
            </a:extLst>
          </p:cNvPr>
          <p:cNvSpPr>
            <a:spLocks noGrp="1"/>
          </p:cNvSpPr>
          <p:nvPr>
            <p:ph type="sldNum" sz="quarter" idx="12"/>
          </p:nvPr>
        </p:nvSpPr>
        <p:spPr/>
        <p:txBody>
          <a:bodyPr/>
          <a:lstStyle/>
          <a:p>
            <a:fld id="{D292B180-B274-DE43-B36F-C827C7616C05}" type="slidenum">
              <a:rPr lang="en-US" smtClean="0"/>
              <a:t>47</a:t>
            </a:fld>
            <a:endParaRPr lang="en-US"/>
          </a:p>
        </p:txBody>
      </p:sp>
      <p:sp>
        <p:nvSpPr>
          <p:cNvPr id="22" name="TextBox 21">
            <a:extLst>
              <a:ext uri="{FF2B5EF4-FFF2-40B4-BE49-F238E27FC236}">
                <a16:creationId xmlns:a16="http://schemas.microsoft.com/office/drawing/2014/main" id="{2FF23D13-FB89-D670-FEDB-DEA50496F17B}"/>
              </a:ext>
            </a:extLst>
          </p:cNvPr>
          <p:cNvSpPr txBox="1"/>
          <p:nvPr/>
        </p:nvSpPr>
        <p:spPr>
          <a:xfrm>
            <a:off x="1533206" y="5412753"/>
            <a:ext cx="3130797" cy="1179041"/>
          </a:xfrm>
          <a:prstGeom prst="rect">
            <a:avLst/>
          </a:prstGeom>
          <a:noFill/>
        </p:spPr>
        <p:txBody>
          <a:bodyPr wrap="square">
            <a:spAutoFit/>
          </a:bodyPr>
          <a:lstStyle/>
          <a:p>
            <a:pPr marL="0" indent="0">
              <a:lnSpc>
                <a:spcPct val="120000"/>
              </a:lnSpc>
              <a:buNone/>
            </a:pPr>
            <a:r>
              <a:rPr lang="en-US" sz="2000" dirty="0"/>
              <a:t>The environment in which research happens is </a:t>
            </a:r>
            <a:r>
              <a:rPr lang="en-US" sz="2000" b="1" dirty="0"/>
              <a:t>not </a:t>
            </a:r>
            <a:r>
              <a:rPr lang="en-US" sz="2000" dirty="0"/>
              <a:t>a</a:t>
            </a:r>
            <a:r>
              <a:rPr lang="en-US" sz="2000" b="1" dirty="0"/>
              <a:t> neutral </a:t>
            </a:r>
            <a:r>
              <a:rPr lang="en-US" sz="2000" dirty="0"/>
              <a:t>backdrop.</a:t>
            </a:r>
          </a:p>
        </p:txBody>
      </p:sp>
      <p:sp>
        <p:nvSpPr>
          <p:cNvPr id="24" name="TextBox 23">
            <a:extLst>
              <a:ext uri="{FF2B5EF4-FFF2-40B4-BE49-F238E27FC236}">
                <a16:creationId xmlns:a16="http://schemas.microsoft.com/office/drawing/2014/main" id="{5621836E-614B-6AEA-E691-C299C1DEB2EF}"/>
              </a:ext>
            </a:extLst>
          </p:cNvPr>
          <p:cNvSpPr txBox="1"/>
          <p:nvPr/>
        </p:nvSpPr>
        <p:spPr>
          <a:xfrm>
            <a:off x="450883" y="3261942"/>
            <a:ext cx="4070979" cy="1548309"/>
          </a:xfrm>
          <a:prstGeom prst="rect">
            <a:avLst/>
          </a:prstGeom>
          <a:noFill/>
        </p:spPr>
        <p:txBody>
          <a:bodyPr wrap="square">
            <a:spAutoFit/>
          </a:bodyPr>
          <a:lstStyle/>
          <a:p>
            <a:pPr marL="0" indent="0">
              <a:lnSpc>
                <a:spcPct val="120000"/>
              </a:lnSpc>
              <a:buNone/>
            </a:pPr>
            <a:r>
              <a:rPr lang="en-US" sz="2000" b="1" dirty="0"/>
              <a:t>Social</a:t>
            </a:r>
            <a:r>
              <a:rPr lang="en-US" sz="2000" dirty="0"/>
              <a:t>, </a:t>
            </a:r>
            <a:r>
              <a:rPr lang="en-US" sz="2000" b="1" dirty="0"/>
              <a:t>cultural</a:t>
            </a:r>
            <a:r>
              <a:rPr lang="en-US" sz="2000" dirty="0"/>
              <a:t>, </a:t>
            </a:r>
            <a:r>
              <a:rPr lang="en-US" sz="2000" b="1" dirty="0"/>
              <a:t>educational</a:t>
            </a:r>
            <a:r>
              <a:rPr lang="en-US" sz="2000" dirty="0"/>
              <a:t> background, </a:t>
            </a:r>
            <a:r>
              <a:rPr lang="en-US" sz="2000" b="1" dirty="0"/>
              <a:t>economic</a:t>
            </a:r>
            <a:r>
              <a:rPr lang="en-US" sz="2000" dirty="0"/>
              <a:t> factors influences how we lead and respond to challenges.</a:t>
            </a:r>
          </a:p>
        </p:txBody>
      </p:sp>
      <p:sp>
        <p:nvSpPr>
          <p:cNvPr id="25" name="Right Brace 24">
            <a:extLst>
              <a:ext uri="{FF2B5EF4-FFF2-40B4-BE49-F238E27FC236}">
                <a16:creationId xmlns:a16="http://schemas.microsoft.com/office/drawing/2014/main" id="{C696C579-5F54-D736-CDDC-E48F4C510AFA}"/>
              </a:ext>
            </a:extLst>
          </p:cNvPr>
          <p:cNvSpPr/>
          <p:nvPr/>
        </p:nvSpPr>
        <p:spPr>
          <a:xfrm rot="12295514">
            <a:off x="5125208" y="865856"/>
            <a:ext cx="1199090" cy="2555088"/>
          </a:xfrm>
          <a:prstGeom prst="rightBrace">
            <a:avLst>
              <a:gd name="adj1" fmla="val 18053"/>
              <a:gd name="adj2" fmla="val 48992"/>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8" name="Rectangle 7">
            <a:extLst>
              <a:ext uri="{FF2B5EF4-FFF2-40B4-BE49-F238E27FC236}">
                <a16:creationId xmlns:a16="http://schemas.microsoft.com/office/drawing/2014/main" id="{F85F1861-97D7-22E5-9C6A-C43323E3487E}"/>
              </a:ext>
            </a:extLst>
          </p:cNvPr>
          <p:cNvSpPr/>
          <p:nvPr/>
        </p:nvSpPr>
        <p:spPr>
          <a:xfrm>
            <a:off x="0" y="3146961"/>
            <a:ext cx="4664003" cy="3711039"/>
          </a:xfrm>
          <a:prstGeom prst="rect">
            <a:avLst/>
          </a:prstGeom>
          <a:solidFill>
            <a:schemeClr val="bg1">
              <a:alpha val="68471"/>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Right Brace 8">
            <a:extLst>
              <a:ext uri="{FF2B5EF4-FFF2-40B4-BE49-F238E27FC236}">
                <a16:creationId xmlns:a16="http://schemas.microsoft.com/office/drawing/2014/main" id="{7D28372F-A1E3-5B73-CB8A-2B91A919E2B4}"/>
              </a:ext>
            </a:extLst>
          </p:cNvPr>
          <p:cNvSpPr/>
          <p:nvPr/>
        </p:nvSpPr>
        <p:spPr>
          <a:xfrm rot="9208789">
            <a:off x="4674009" y="4471677"/>
            <a:ext cx="1199090" cy="2555088"/>
          </a:xfrm>
          <a:prstGeom prst="rightBrace">
            <a:avLst>
              <a:gd name="adj1" fmla="val 18053"/>
              <a:gd name="adj2" fmla="val 48992"/>
            </a:avLst>
          </a:prstGeom>
          <a:ln w="50800">
            <a:solidFill>
              <a:schemeClr val="tx1">
                <a:alpha val="9622"/>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pic>
        <p:nvPicPr>
          <p:cNvPr id="10" name="Picture 9">
            <a:extLst>
              <a:ext uri="{FF2B5EF4-FFF2-40B4-BE49-F238E27FC236}">
                <a16:creationId xmlns:a16="http://schemas.microsoft.com/office/drawing/2014/main" id="{03E21038-3972-39E8-9FE4-5F649894BBFF}"/>
              </a:ext>
            </a:extLst>
          </p:cNvPr>
          <p:cNvPicPr>
            <a:picLocks noChangeAspect="1"/>
          </p:cNvPicPr>
          <p:nvPr/>
        </p:nvPicPr>
        <p:blipFill>
          <a:blip r:embed="rId6"/>
          <a:srcRect l="25891" t="22584" r="23267" b="27652"/>
          <a:stretch>
            <a:fillRect/>
          </a:stretch>
        </p:blipFill>
        <p:spPr>
          <a:xfrm>
            <a:off x="7145547" y="1680755"/>
            <a:ext cx="3443219" cy="3370217"/>
          </a:xfrm>
          <a:prstGeom prst="rect">
            <a:avLst/>
          </a:prstGeom>
        </p:spPr>
      </p:pic>
    </p:spTree>
    <p:extLst>
      <p:ext uri="{BB962C8B-B14F-4D97-AF65-F5344CB8AC3E}">
        <p14:creationId xmlns:p14="http://schemas.microsoft.com/office/powerpoint/2010/main" val="197741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1117C0-C0C7-F46A-F1B2-546B3E343DA9}"/>
            </a:ext>
          </a:extLst>
        </p:cNvPr>
        <p:cNvGrpSpPr/>
        <p:nvPr/>
      </p:nvGrpSpPr>
      <p:grpSpPr>
        <a:xfrm>
          <a:off x="0" y="0"/>
          <a:ext cx="0" cy="0"/>
          <a:chOff x="0" y="0"/>
          <a:chExt cx="0" cy="0"/>
        </a:xfrm>
      </p:grpSpPr>
      <p:grpSp>
        <p:nvGrpSpPr>
          <p:cNvPr id="11" name="Group 10">
            <a:extLst>
              <a:ext uri="{FF2B5EF4-FFF2-40B4-BE49-F238E27FC236}">
                <a16:creationId xmlns:a16="http://schemas.microsoft.com/office/drawing/2014/main" id="{25E243DC-DBBD-8525-98D2-56179D98FA54}"/>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3335136B-DD19-03E1-246F-3A003D64BA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86AE8F1E-82CF-DF2A-3445-532B430CF4D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01E2D4CC-5656-B1DC-2FB2-31D40F42CC2B}"/>
              </a:ext>
            </a:extLst>
          </p:cNvPr>
          <p:cNvSpPr>
            <a:spLocks noGrp="1"/>
          </p:cNvSpPr>
          <p:nvPr>
            <p:ph type="sldNum" sz="quarter" idx="12"/>
          </p:nvPr>
        </p:nvSpPr>
        <p:spPr/>
        <p:txBody>
          <a:bodyPr/>
          <a:lstStyle/>
          <a:p>
            <a:fld id="{D292B180-B274-DE43-B36F-C827C7616C05}" type="slidenum">
              <a:rPr lang="en-US" smtClean="0"/>
              <a:t>48</a:t>
            </a:fld>
            <a:endParaRPr lang="en-US" dirty="0"/>
          </a:p>
        </p:txBody>
      </p:sp>
      <p:sp>
        <p:nvSpPr>
          <p:cNvPr id="9" name="TextBox 8">
            <a:extLst>
              <a:ext uri="{FF2B5EF4-FFF2-40B4-BE49-F238E27FC236}">
                <a16:creationId xmlns:a16="http://schemas.microsoft.com/office/drawing/2014/main" id="{103F1139-A890-37A9-8E28-4F1C1908DFCA}"/>
              </a:ext>
            </a:extLst>
          </p:cNvPr>
          <p:cNvSpPr txBox="1"/>
          <p:nvPr/>
        </p:nvSpPr>
        <p:spPr>
          <a:xfrm>
            <a:off x="877778" y="935811"/>
            <a:ext cx="3773735" cy="1938992"/>
          </a:xfrm>
          <a:prstGeom prst="rect">
            <a:avLst/>
          </a:prstGeom>
          <a:noFill/>
        </p:spPr>
        <p:txBody>
          <a:bodyPr wrap="square" rtlCol="0">
            <a:spAutoFit/>
          </a:bodyPr>
          <a:lstStyle/>
          <a:p>
            <a:r>
              <a:rPr lang="en-US" sz="2400" dirty="0"/>
              <a:t>Adoption of Open Science practices </a:t>
            </a:r>
            <a:r>
              <a:rPr lang="en-US" sz="2400" b="1" dirty="0"/>
              <a:t>varies</a:t>
            </a:r>
            <a:r>
              <a:rPr lang="en-US" sz="2400" dirty="0"/>
              <a:t> across teams, career stage, departments, disciplines and regions.</a:t>
            </a:r>
          </a:p>
        </p:txBody>
      </p:sp>
      <p:grpSp>
        <p:nvGrpSpPr>
          <p:cNvPr id="5" name="Group 4">
            <a:extLst>
              <a:ext uri="{FF2B5EF4-FFF2-40B4-BE49-F238E27FC236}">
                <a16:creationId xmlns:a16="http://schemas.microsoft.com/office/drawing/2014/main" id="{9DCCD030-4D0E-12E4-AB64-AE3C15368857}"/>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16900923-CC5D-6101-FCCE-B38A0FAA6790}"/>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410C0DE2-16F6-7255-C137-0C7646053A87}"/>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41" name="Straight Connector 40">
            <a:extLst>
              <a:ext uri="{FF2B5EF4-FFF2-40B4-BE49-F238E27FC236}">
                <a16:creationId xmlns:a16="http://schemas.microsoft.com/office/drawing/2014/main" id="{60CE4EA2-9B82-394C-294C-1D64D64F820E}"/>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CDD84264-D5CA-40BD-5D98-520C82D5F2A9}"/>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itle 1">
            <a:extLst>
              <a:ext uri="{FF2B5EF4-FFF2-40B4-BE49-F238E27FC236}">
                <a16:creationId xmlns:a16="http://schemas.microsoft.com/office/drawing/2014/main" id="{FE728AC8-96DE-D3F0-D014-2542A2F4A27F}"/>
              </a:ext>
            </a:extLst>
          </p:cNvPr>
          <p:cNvSpPr txBox="1">
            <a:spLocks/>
          </p:cNvSpPr>
          <p:nvPr/>
        </p:nvSpPr>
        <p:spPr>
          <a:xfrm>
            <a:off x="73818" y="0"/>
            <a:ext cx="12044363" cy="8195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Adoption of Open Science practices varies</a:t>
            </a:r>
          </a:p>
        </p:txBody>
      </p:sp>
    </p:spTree>
    <p:extLst>
      <p:ext uri="{BB962C8B-B14F-4D97-AF65-F5344CB8AC3E}">
        <p14:creationId xmlns:p14="http://schemas.microsoft.com/office/powerpoint/2010/main" val="12725532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CB579-1862-E7F7-7133-257E971CD35E}"/>
            </a:ext>
          </a:extLst>
        </p:cNvPr>
        <p:cNvGrpSpPr/>
        <p:nvPr/>
      </p:nvGrpSpPr>
      <p:grpSpPr>
        <a:xfrm>
          <a:off x="0" y="0"/>
          <a:ext cx="0" cy="0"/>
          <a:chOff x="0" y="0"/>
          <a:chExt cx="0" cy="0"/>
        </a:xfrm>
      </p:grpSpPr>
      <p:sp>
        <p:nvSpPr>
          <p:cNvPr id="10" name="TextBox 9">
            <a:extLst>
              <a:ext uri="{FF2B5EF4-FFF2-40B4-BE49-F238E27FC236}">
                <a16:creationId xmlns:a16="http://schemas.microsoft.com/office/drawing/2014/main" id="{9DAAA694-3C1F-1E32-357F-2AAF63A5F0CD}"/>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82398CF7-2384-E37C-F35E-85C12107F0FC}"/>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17E23FB8-C58D-4D7A-1B24-2557E17EC2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EDF5036F-6DCB-EFBA-EEE2-0BCFF63B06C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C3C580B9-6C47-AA90-8158-502D0626D82A}"/>
              </a:ext>
            </a:extLst>
          </p:cNvPr>
          <p:cNvSpPr>
            <a:spLocks noGrp="1"/>
          </p:cNvSpPr>
          <p:nvPr>
            <p:ph type="sldNum" sz="quarter" idx="12"/>
          </p:nvPr>
        </p:nvSpPr>
        <p:spPr/>
        <p:txBody>
          <a:bodyPr/>
          <a:lstStyle/>
          <a:p>
            <a:fld id="{D292B180-B274-DE43-B36F-C827C7616C05}" type="slidenum">
              <a:rPr lang="en-US" smtClean="0"/>
              <a:t>49</a:t>
            </a:fld>
            <a:endParaRPr lang="en-US" dirty="0"/>
          </a:p>
        </p:txBody>
      </p:sp>
      <p:sp>
        <p:nvSpPr>
          <p:cNvPr id="9" name="TextBox 8">
            <a:extLst>
              <a:ext uri="{FF2B5EF4-FFF2-40B4-BE49-F238E27FC236}">
                <a16:creationId xmlns:a16="http://schemas.microsoft.com/office/drawing/2014/main" id="{65B36EF8-9A7B-568D-0F6E-626EAC850E36}"/>
              </a:ext>
            </a:extLst>
          </p:cNvPr>
          <p:cNvSpPr txBox="1"/>
          <p:nvPr/>
        </p:nvSpPr>
        <p:spPr>
          <a:xfrm>
            <a:off x="877778" y="935811"/>
            <a:ext cx="3773735" cy="1938992"/>
          </a:xfrm>
          <a:prstGeom prst="rect">
            <a:avLst/>
          </a:prstGeom>
          <a:noFill/>
        </p:spPr>
        <p:txBody>
          <a:bodyPr wrap="square" rtlCol="0">
            <a:spAutoFit/>
          </a:bodyPr>
          <a:lstStyle/>
          <a:p>
            <a:r>
              <a:rPr lang="en-US" sz="2400" dirty="0"/>
              <a:t>Adoption of Open Science practices </a:t>
            </a:r>
            <a:r>
              <a:rPr lang="en-US" sz="2400" b="1" dirty="0"/>
              <a:t>varies</a:t>
            </a:r>
            <a:r>
              <a:rPr lang="en-US" sz="2400" dirty="0"/>
              <a:t> across teams, career stage, departments, disciplines and regions.</a:t>
            </a:r>
          </a:p>
        </p:txBody>
      </p:sp>
      <p:grpSp>
        <p:nvGrpSpPr>
          <p:cNvPr id="5" name="Group 4">
            <a:extLst>
              <a:ext uri="{FF2B5EF4-FFF2-40B4-BE49-F238E27FC236}">
                <a16:creationId xmlns:a16="http://schemas.microsoft.com/office/drawing/2014/main" id="{BE63D3F9-A593-5AC9-022F-E72A623DCAE7}"/>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242E4928-6D1B-9738-DD28-5E6F903CED61}"/>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79441D8F-AEE6-DBFD-4CD5-95D00044AA4A}"/>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2207FC1F-14D7-BF9B-9AEC-C31D270B2C0F}"/>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64B099B2-AA7B-44C9-A580-0A67F5BC3A25}"/>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6DA0BDBE-9FF0-854E-8ED7-179B49D4ACA2}"/>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E782F458-3916-3502-17F6-FB11B36AF21A}"/>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41" name="Straight Connector 40">
            <a:extLst>
              <a:ext uri="{FF2B5EF4-FFF2-40B4-BE49-F238E27FC236}">
                <a16:creationId xmlns:a16="http://schemas.microsoft.com/office/drawing/2014/main" id="{74892BD5-C525-1BAE-41CB-242712F98CCF}"/>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6ABAE1CF-ABC7-EB32-7350-1E45183CEEE3}"/>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CD4BF131-6BFB-F643-CCA8-65E11004A3E6}"/>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14" name="TextBox 13">
            <a:extLst>
              <a:ext uri="{FF2B5EF4-FFF2-40B4-BE49-F238E27FC236}">
                <a16:creationId xmlns:a16="http://schemas.microsoft.com/office/drawing/2014/main" id="{43E6B3C3-5235-C5AD-91DD-5CF77F121966}"/>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
        <p:nvSpPr>
          <p:cNvPr id="8" name="TextBox 7">
            <a:extLst>
              <a:ext uri="{FF2B5EF4-FFF2-40B4-BE49-F238E27FC236}">
                <a16:creationId xmlns:a16="http://schemas.microsoft.com/office/drawing/2014/main" id="{4E5DFB8A-D54A-9B9D-6429-8E4B889E7664}"/>
              </a:ext>
            </a:extLst>
          </p:cNvPr>
          <p:cNvSpPr txBox="1"/>
          <p:nvPr/>
        </p:nvSpPr>
        <p:spPr>
          <a:xfrm>
            <a:off x="8740187" y="659542"/>
            <a:ext cx="3158968" cy="3046988"/>
          </a:xfrm>
          <a:prstGeom prst="rect">
            <a:avLst/>
          </a:prstGeom>
          <a:noFill/>
        </p:spPr>
        <p:txBody>
          <a:bodyPr wrap="square" rtlCol="0">
            <a:spAutoFit/>
          </a:bodyPr>
          <a:lstStyle/>
          <a:p>
            <a:r>
              <a:rPr lang="en-US" sz="2400" dirty="0">
                <a:solidFill>
                  <a:schemeClr val="tx1">
                    <a:lumMod val="95000"/>
                    <a:lumOff val="5000"/>
                  </a:schemeClr>
                </a:solidFill>
              </a:rPr>
              <a:t>The </a:t>
            </a:r>
            <a:r>
              <a:rPr lang="en-US" sz="2400" b="1" dirty="0">
                <a:solidFill>
                  <a:schemeClr val="tx1">
                    <a:lumMod val="95000"/>
                    <a:lumOff val="5000"/>
                  </a:schemeClr>
                </a:solidFill>
              </a:rPr>
              <a:t>diffusion of innovation </a:t>
            </a:r>
            <a:r>
              <a:rPr lang="en-US" sz="2400" dirty="0">
                <a:solidFill>
                  <a:schemeClr val="tx1">
                    <a:lumMod val="95000"/>
                    <a:lumOff val="5000"/>
                  </a:schemeClr>
                </a:solidFill>
              </a:rPr>
              <a:t>model is a helpful guide to think about </a:t>
            </a:r>
            <a:r>
              <a:rPr lang="en-US" sz="2400" b="1" dirty="0">
                <a:solidFill>
                  <a:schemeClr val="tx1">
                    <a:lumMod val="95000"/>
                    <a:lumOff val="5000"/>
                  </a:schemeClr>
                </a:solidFill>
              </a:rPr>
              <a:t>types of adopters </a:t>
            </a:r>
            <a:r>
              <a:rPr lang="en-US" sz="2400" dirty="0">
                <a:solidFill>
                  <a:schemeClr val="tx1">
                    <a:lumMod val="95000"/>
                    <a:lumOff val="5000"/>
                  </a:schemeClr>
                </a:solidFill>
              </a:rPr>
              <a:t>and how to </a:t>
            </a:r>
            <a:r>
              <a:rPr lang="en-US" sz="2400" b="1" dirty="0">
                <a:solidFill>
                  <a:schemeClr val="tx1">
                    <a:lumMod val="95000"/>
                    <a:lumOff val="5000"/>
                  </a:schemeClr>
                </a:solidFill>
              </a:rPr>
              <a:t>communicate/</a:t>
            </a:r>
          </a:p>
          <a:p>
            <a:r>
              <a:rPr lang="en-US" sz="2400" b="1" dirty="0">
                <a:solidFill>
                  <a:schemeClr val="tx1">
                    <a:lumMod val="95000"/>
                    <a:lumOff val="5000"/>
                  </a:schemeClr>
                </a:solidFill>
              </a:rPr>
              <a:t>advocate </a:t>
            </a:r>
            <a:r>
              <a:rPr lang="en-US" sz="2400" dirty="0">
                <a:solidFill>
                  <a:schemeClr val="tx1">
                    <a:lumMod val="95000"/>
                    <a:lumOff val="5000"/>
                  </a:schemeClr>
                </a:solidFill>
              </a:rPr>
              <a:t>across the </a:t>
            </a:r>
            <a:r>
              <a:rPr lang="en-US" sz="2400" b="1" dirty="0">
                <a:solidFill>
                  <a:schemeClr val="tx1">
                    <a:lumMod val="95000"/>
                    <a:lumOff val="5000"/>
                  </a:schemeClr>
                </a:solidFill>
              </a:rPr>
              <a:t>adoption spectrum. </a:t>
            </a:r>
          </a:p>
        </p:txBody>
      </p:sp>
      <p:sp>
        <p:nvSpPr>
          <p:cNvPr id="16" name="Rectangle 15">
            <a:extLst>
              <a:ext uri="{FF2B5EF4-FFF2-40B4-BE49-F238E27FC236}">
                <a16:creationId xmlns:a16="http://schemas.microsoft.com/office/drawing/2014/main" id="{6F6757CD-1CE1-24A3-F6BA-66CAC65121E6}"/>
              </a:ext>
            </a:extLst>
          </p:cNvPr>
          <p:cNvSpPr/>
          <p:nvPr/>
        </p:nvSpPr>
        <p:spPr>
          <a:xfrm>
            <a:off x="945257" y="633057"/>
            <a:ext cx="3679263" cy="1751562"/>
          </a:xfrm>
          <a:prstGeom prst="rect">
            <a:avLst/>
          </a:prstGeom>
          <a:solidFill>
            <a:schemeClr val="bg1">
              <a:alpha val="38795"/>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0D3BC23-6037-FF67-F8A0-CF842D394095}"/>
              </a:ext>
            </a:extLst>
          </p:cNvPr>
          <p:cNvSpPr/>
          <p:nvPr/>
        </p:nvSpPr>
        <p:spPr>
          <a:xfrm>
            <a:off x="764252" y="2403925"/>
            <a:ext cx="2691600" cy="1751562"/>
          </a:xfrm>
          <a:prstGeom prst="rect">
            <a:avLst/>
          </a:prstGeom>
          <a:solidFill>
            <a:schemeClr val="bg1">
              <a:alpha val="3925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7341AA64-2B71-7BC1-F562-F304C36A86E2}"/>
              </a:ext>
            </a:extLst>
          </p:cNvPr>
          <p:cNvSpPr txBox="1">
            <a:spLocks/>
          </p:cNvSpPr>
          <p:nvPr/>
        </p:nvSpPr>
        <p:spPr>
          <a:xfrm>
            <a:off x="-1" y="0"/>
            <a:ext cx="12044363" cy="81959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a:t>Culture change curve</a:t>
            </a:r>
            <a:endParaRPr lang="en-US" b="1" dirty="0"/>
          </a:p>
        </p:txBody>
      </p:sp>
    </p:spTree>
    <p:extLst>
      <p:ext uri="{BB962C8B-B14F-4D97-AF65-F5344CB8AC3E}">
        <p14:creationId xmlns:p14="http://schemas.microsoft.com/office/powerpoint/2010/main" val="382780004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F6759D-9DFF-B476-6D52-01FB4B6A1264}"/>
            </a:ext>
          </a:extLst>
        </p:cNvPr>
        <p:cNvGrpSpPr/>
        <p:nvPr/>
      </p:nvGrpSpPr>
      <p:grpSpPr>
        <a:xfrm>
          <a:off x="0" y="0"/>
          <a:ext cx="0" cy="0"/>
          <a:chOff x="0" y="0"/>
          <a:chExt cx="0" cy="0"/>
        </a:xfrm>
      </p:grpSpPr>
      <p:sp>
        <p:nvSpPr>
          <p:cNvPr id="40" name="Oval 39">
            <a:extLst>
              <a:ext uri="{FF2B5EF4-FFF2-40B4-BE49-F238E27FC236}">
                <a16:creationId xmlns:a16="http://schemas.microsoft.com/office/drawing/2014/main" id="{2D1E0C0B-E56E-F314-0BA4-6132B41EC75C}"/>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8B5FE-4D0E-AFBA-9489-D9666A41E538}"/>
              </a:ext>
            </a:extLst>
          </p:cNvPr>
          <p:cNvSpPr>
            <a:spLocks noGrp="1"/>
          </p:cNvSpPr>
          <p:nvPr>
            <p:ph type="title"/>
          </p:nvPr>
        </p:nvSpPr>
        <p:spPr>
          <a:xfrm>
            <a:off x="-1" y="0"/>
            <a:ext cx="12044363" cy="819599"/>
          </a:xfrm>
        </p:spPr>
        <p:txBody>
          <a:bodyPr/>
          <a:lstStyle/>
          <a:p>
            <a:r>
              <a:rPr lang="en-US" b="1" dirty="0"/>
              <a:t>Culture change curve: innovators</a:t>
            </a:r>
          </a:p>
        </p:txBody>
      </p:sp>
      <p:sp>
        <p:nvSpPr>
          <p:cNvPr id="10" name="TextBox 9">
            <a:extLst>
              <a:ext uri="{FF2B5EF4-FFF2-40B4-BE49-F238E27FC236}">
                <a16:creationId xmlns:a16="http://schemas.microsoft.com/office/drawing/2014/main" id="{957333A1-767A-DDB6-FA84-37C82CE71C7E}"/>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A7BC2DE1-3B6C-9D69-A287-20D2BA637680}"/>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0B86C625-8470-F7AC-8B29-4A51217459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01EA2BE6-8B7D-8CF9-109A-77456129DBDA}"/>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4C264847-7C95-01B8-313B-82A45F3FF595}"/>
              </a:ext>
            </a:extLst>
          </p:cNvPr>
          <p:cNvSpPr>
            <a:spLocks noGrp="1"/>
          </p:cNvSpPr>
          <p:nvPr>
            <p:ph type="sldNum" sz="quarter" idx="12"/>
          </p:nvPr>
        </p:nvSpPr>
        <p:spPr/>
        <p:txBody>
          <a:bodyPr/>
          <a:lstStyle/>
          <a:p>
            <a:fld id="{D292B180-B274-DE43-B36F-C827C7616C05}" type="slidenum">
              <a:rPr lang="en-US" smtClean="0"/>
              <a:t>50</a:t>
            </a:fld>
            <a:endParaRPr lang="en-US" dirty="0"/>
          </a:p>
        </p:txBody>
      </p:sp>
      <p:sp>
        <p:nvSpPr>
          <p:cNvPr id="22" name="TextBox 21">
            <a:extLst>
              <a:ext uri="{FF2B5EF4-FFF2-40B4-BE49-F238E27FC236}">
                <a16:creationId xmlns:a16="http://schemas.microsoft.com/office/drawing/2014/main" id="{A5B59F1B-B7CD-4298-DDDF-C92565C0E4B4}"/>
              </a:ext>
            </a:extLst>
          </p:cNvPr>
          <p:cNvSpPr txBox="1"/>
          <p:nvPr/>
        </p:nvSpPr>
        <p:spPr>
          <a:xfrm>
            <a:off x="828004" y="4003644"/>
            <a:ext cx="1873462" cy="646331"/>
          </a:xfrm>
          <a:prstGeom prst="rect">
            <a:avLst/>
          </a:prstGeom>
          <a:solidFill>
            <a:srgbClr val="45B08B">
              <a:alpha val="26176"/>
            </a:srgbClr>
          </a:solidFill>
        </p:spPr>
        <p:txBody>
          <a:bodyPr wrap="none" rtlCol="0">
            <a:spAutoFit/>
          </a:bodyPr>
          <a:lstStyle/>
          <a:p>
            <a:r>
              <a:rPr lang="en-US" dirty="0"/>
              <a:t>“Ooh this new</a:t>
            </a:r>
          </a:p>
          <a:p>
            <a:r>
              <a:rPr lang="en-US" dirty="0"/>
              <a:t>thing is exciting!”</a:t>
            </a:r>
          </a:p>
        </p:txBody>
      </p:sp>
      <p:grpSp>
        <p:nvGrpSpPr>
          <p:cNvPr id="5" name="Group 4">
            <a:extLst>
              <a:ext uri="{FF2B5EF4-FFF2-40B4-BE49-F238E27FC236}">
                <a16:creationId xmlns:a16="http://schemas.microsoft.com/office/drawing/2014/main" id="{C37E18E6-8F0F-68AE-FE57-8ADBDC947B17}"/>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42BD6C4B-5986-2379-9AED-D3A19B0D6A2B}"/>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3C27406C-DBD3-04A6-F1A1-3669C97B3E42}"/>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6ED0592A-24C9-7477-8E28-80405347602D}"/>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66147122-4B14-A033-7E52-89C1CDCE142C}"/>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6E5D5B05-FB43-2B2D-4984-6682CBF5369E}"/>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B115A256-E481-4630-668D-FB156BDD8C20}"/>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3311ACF0-44EE-C4E1-FEC9-E4983F408525}"/>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cxnSp>
        <p:nvCxnSpPr>
          <p:cNvPr id="41" name="Straight Connector 40">
            <a:extLst>
              <a:ext uri="{FF2B5EF4-FFF2-40B4-BE49-F238E27FC236}">
                <a16:creationId xmlns:a16="http://schemas.microsoft.com/office/drawing/2014/main" id="{5C2065E1-6D33-A11E-644B-94808214BB14}"/>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257A9497-B340-8101-A09D-32D97FC7F44F}"/>
              </a:ext>
            </a:extLst>
          </p:cNvPr>
          <p:cNvSpPr txBox="1"/>
          <p:nvPr/>
        </p:nvSpPr>
        <p:spPr>
          <a:xfrm>
            <a:off x="2297240" y="6033848"/>
            <a:ext cx="688009" cy="369332"/>
          </a:xfrm>
          <a:prstGeom prst="rect">
            <a:avLst/>
          </a:prstGeom>
          <a:noFill/>
        </p:spPr>
        <p:txBody>
          <a:bodyPr wrap="none" rtlCol="0">
            <a:spAutoFit/>
          </a:bodyPr>
          <a:lstStyle/>
          <a:p>
            <a:r>
              <a:rPr lang="en-US" dirty="0">
                <a:solidFill>
                  <a:schemeClr val="tx1">
                    <a:lumMod val="65000"/>
                    <a:lumOff val="35000"/>
                  </a:schemeClr>
                </a:solidFill>
              </a:rPr>
              <a:t>2.5%</a:t>
            </a:r>
          </a:p>
        </p:txBody>
      </p:sp>
      <p:cxnSp>
        <p:nvCxnSpPr>
          <p:cNvPr id="19" name="Straight Connector 18">
            <a:extLst>
              <a:ext uri="{FF2B5EF4-FFF2-40B4-BE49-F238E27FC236}">
                <a16:creationId xmlns:a16="http://schemas.microsoft.com/office/drawing/2014/main" id="{6517E466-13C7-B1DF-4D7C-13172854C2DC}"/>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CF992262-F5C3-1FA0-E9D9-2239A2110644}"/>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14" name="TextBox 13">
            <a:extLst>
              <a:ext uri="{FF2B5EF4-FFF2-40B4-BE49-F238E27FC236}">
                <a16:creationId xmlns:a16="http://schemas.microsoft.com/office/drawing/2014/main" id="{D7AF7FC3-A21D-2E10-DCD9-A068A7722968}"/>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Tree>
    <p:extLst>
      <p:ext uri="{BB962C8B-B14F-4D97-AF65-F5344CB8AC3E}">
        <p14:creationId xmlns:p14="http://schemas.microsoft.com/office/powerpoint/2010/main" val="253236343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91029-D10B-C049-0ED2-5C0B2E4D0CAB}"/>
            </a:ext>
          </a:extLst>
        </p:cNvPr>
        <p:cNvGrpSpPr/>
        <p:nvPr/>
      </p:nvGrpSpPr>
      <p:grpSpPr>
        <a:xfrm>
          <a:off x="0" y="0"/>
          <a:ext cx="0" cy="0"/>
          <a:chOff x="0" y="0"/>
          <a:chExt cx="0" cy="0"/>
        </a:xfrm>
      </p:grpSpPr>
      <p:sp>
        <p:nvSpPr>
          <p:cNvPr id="53" name="Oval 52">
            <a:extLst>
              <a:ext uri="{FF2B5EF4-FFF2-40B4-BE49-F238E27FC236}">
                <a16:creationId xmlns:a16="http://schemas.microsoft.com/office/drawing/2014/main" id="{6007B584-2CF7-C360-EB74-EE2D518B6768}"/>
              </a:ext>
            </a:extLst>
          </p:cNvPr>
          <p:cNvSpPr/>
          <p:nvPr/>
        </p:nvSpPr>
        <p:spPr>
          <a:xfrm>
            <a:off x="2696187" y="3065123"/>
            <a:ext cx="1318849" cy="1207947"/>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0CC8BE87-E826-955A-4ACF-8D0E37018862}"/>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D54B5D7-5C2F-9EEF-8967-0AF0B383738C}"/>
              </a:ext>
            </a:extLst>
          </p:cNvPr>
          <p:cNvSpPr>
            <a:spLocks noGrp="1"/>
          </p:cNvSpPr>
          <p:nvPr>
            <p:ph type="title"/>
          </p:nvPr>
        </p:nvSpPr>
        <p:spPr>
          <a:xfrm>
            <a:off x="-1" y="0"/>
            <a:ext cx="12044363" cy="819599"/>
          </a:xfrm>
        </p:spPr>
        <p:txBody>
          <a:bodyPr/>
          <a:lstStyle/>
          <a:p>
            <a:r>
              <a:rPr lang="en-US" b="1" dirty="0"/>
              <a:t>Culture change curve: early adopters</a:t>
            </a:r>
          </a:p>
        </p:txBody>
      </p:sp>
      <p:sp>
        <p:nvSpPr>
          <p:cNvPr id="10" name="TextBox 9">
            <a:extLst>
              <a:ext uri="{FF2B5EF4-FFF2-40B4-BE49-F238E27FC236}">
                <a16:creationId xmlns:a16="http://schemas.microsoft.com/office/drawing/2014/main" id="{8C56B64D-8779-0177-B9B9-2AADDC96E6CC}"/>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BCD6E9A3-BC07-6CD6-F93C-90964341AA07}"/>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6EA85F2C-6B67-A621-F128-965F31A267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B3D5878-2464-3151-C2D3-DDD2B5FEC15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6719C9DF-57E4-8ADB-5D81-8C825F7D441F}"/>
              </a:ext>
            </a:extLst>
          </p:cNvPr>
          <p:cNvSpPr>
            <a:spLocks noGrp="1"/>
          </p:cNvSpPr>
          <p:nvPr>
            <p:ph type="sldNum" sz="quarter" idx="12"/>
          </p:nvPr>
        </p:nvSpPr>
        <p:spPr/>
        <p:txBody>
          <a:bodyPr/>
          <a:lstStyle/>
          <a:p>
            <a:fld id="{D292B180-B274-DE43-B36F-C827C7616C05}" type="slidenum">
              <a:rPr lang="en-US" smtClean="0"/>
              <a:t>51</a:t>
            </a:fld>
            <a:endParaRPr lang="en-US" dirty="0"/>
          </a:p>
        </p:txBody>
      </p:sp>
      <p:sp>
        <p:nvSpPr>
          <p:cNvPr id="22" name="TextBox 21">
            <a:extLst>
              <a:ext uri="{FF2B5EF4-FFF2-40B4-BE49-F238E27FC236}">
                <a16:creationId xmlns:a16="http://schemas.microsoft.com/office/drawing/2014/main" id="{976DA85B-4A1F-1D3E-3BEC-CCDE3C846802}"/>
              </a:ext>
            </a:extLst>
          </p:cNvPr>
          <p:cNvSpPr txBox="1"/>
          <p:nvPr/>
        </p:nvSpPr>
        <p:spPr>
          <a:xfrm>
            <a:off x="828004" y="4003644"/>
            <a:ext cx="1873462" cy="646331"/>
          </a:xfrm>
          <a:prstGeom prst="rect">
            <a:avLst/>
          </a:prstGeom>
          <a:solidFill>
            <a:srgbClr val="45B08B">
              <a:alpha val="26176"/>
            </a:srgbClr>
          </a:solidFill>
        </p:spPr>
        <p:txBody>
          <a:bodyPr wrap="none" rtlCol="0">
            <a:spAutoFit/>
          </a:bodyPr>
          <a:lstStyle/>
          <a:p>
            <a:r>
              <a:rPr lang="en-US" dirty="0"/>
              <a:t>“Ooh this new</a:t>
            </a:r>
          </a:p>
          <a:p>
            <a:r>
              <a:rPr lang="en-US" dirty="0"/>
              <a:t>thing is exciting!”</a:t>
            </a:r>
          </a:p>
        </p:txBody>
      </p:sp>
      <p:sp>
        <p:nvSpPr>
          <p:cNvPr id="26" name="TextBox 25">
            <a:extLst>
              <a:ext uri="{FF2B5EF4-FFF2-40B4-BE49-F238E27FC236}">
                <a16:creationId xmlns:a16="http://schemas.microsoft.com/office/drawing/2014/main" id="{8D158795-626C-AA54-18F1-554642AC819F}"/>
              </a:ext>
            </a:extLst>
          </p:cNvPr>
          <p:cNvSpPr txBox="1"/>
          <p:nvPr/>
        </p:nvSpPr>
        <p:spPr>
          <a:xfrm>
            <a:off x="1765754" y="2405988"/>
            <a:ext cx="2097881" cy="646331"/>
          </a:xfrm>
          <a:prstGeom prst="rect">
            <a:avLst/>
          </a:prstGeom>
          <a:solidFill>
            <a:srgbClr val="92D050">
              <a:alpha val="19129"/>
            </a:srgbClr>
          </a:solidFill>
        </p:spPr>
        <p:txBody>
          <a:bodyPr wrap="square" rtlCol="0">
            <a:spAutoFit/>
          </a:bodyPr>
          <a:lstStyle/>
          <a:p>
            <a:r>
              <a:rPr lang="en-US" dirty="0"/>
              <a:t>“This looks great to use for my study.”</a:t>
            </a:r>
          </a:p>
        </p:txBody>
      </p:sp>
      <p:grpSp>
        <p:nvGrpSpPr>
          <p:cNvPr id="5" name="Group 4">
            <a:extLst>
              <a:ext uri="{FF2B5EF4-FFF2-40B4-BE49-F238E27FC236}">
                <a16:creationId xmlns:a16="http://schemas.microsoft.com/office/drawing/2014/main" id="{734971DC-740F-ACC0-9A9F-03121C7031B8}"/>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6C60055F-477F-58C6-5322-37609738E005}"/>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CAD4CE55-FD2C-DB5D-9F84-9B1F1E584BFB}"/>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C701ADF7-850D-2864-0189-6E2DAC68B1EF}"/>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DC326C32-29E3-4F2C-E2AD-A1C9E4AF0296}"/>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D6984EA6-9304-A7A4-9F9D-77747FA9CC56}"/>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8BF5352A-D00B-254E-1379-F62B9459B15A}"/>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87615B35-12AB-A41E-EFDB-8D16140AF09F}"/>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sp>
        <p:nvSpPr>
          <p:cNvPr id="36" name="TextBox 35">
            <a:extLst>
              <a:ext uri="{FF2B5EF4-FFF2-40B4-BE49-F238E27FC236}">
                <a16:creationId xmlns:a16="http://schemas.microsoft.com/office/drawing/2014/main" id="{6D6C256A-332B-B34C-38C6-282ABD00E3B5}"/>
              </a:ext>
            </a:extLst>
          </p:cNvPr>
          <p:cNvSpPr txBox="1"/>
          <p:nvPr/>
        </p:nvSpPr>
        <p:spPr>
          <a:xfrm>
            <a:off x="2794274" y="3303574"/>
            <a:ext cx="1123834" cy="646331"/>
          </a:xfrm>
          <a:prstGeom prst="rect">
            <a:avLst/>
          </a:prstGeom>
          <a:noFill/>
        </p:spPr>
        <p:txBody>
          <a:bodyPr wrap="none" rtlCol="0">
            <a:spAutoFit/>
          </a:bodyPr>
          <a:lstStyle/>
          <a:p>
            <a:pPr algn="ctr"/>
            <a:r>
              <a:rPr lang="en-US" b="1" dirty="0"/>
              <a:t>Early </a:t>
            </a:r>
          </a:p>
          <a:p>
            <a:pPr algn="ctr"/>
            <a:r>
              <a:rPr lang="en-US" b="1" dirty="0"/>
              <a:t>adopters</a:t>
            </a:r>
          </a:p>
        </p:txBody>
      </p:sp>
      <p:cxnSp>
        <p:nvCxnSpPr>
          <p:cNvPr id="41" name="Straight Connector 40">
            <a:extLst>
              <a:ext uri="{FF2B5EF4-FFF2-40B4-BE49-F238E27FC236}">
                <a16:creationId xmlns:a16="http://schemas.microsoft.com/office/drawing/2014/main" id="{9497498A-5290-90DF-095D-2F01C5DDB5CF}"/>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7CBC672F-E32D-3D5D-8436-9917F45E28F3}"/>
              </a:ext>
            </a:extLst>
          </p:cNvPr>
          <p:cNvSpPr txBox="1"/>
          <p:nvPr/>
        </p:nvSpPr>
        <p:spPr>
          <a:xfrm>
            <a:off x="2297240" y="6033848"/>
            <a:ext cx="688009" cy="369332"/>
          </a:xfrm>
          <a:prstGeom prst="rect">
            <a:avLst/>
          </a:prstGeom>
          <a:noFill/>
        </p:spPr>
        <p:txBody>
          <a:bodyPr wrap="none" rtlCol="0">
            <a:spAutoFit/>
          </a:bodyPr>
          <a:lstStyle/>
          <a:p>
            <a:r>
              <a:rPr lang="en-US" dirty="0">
                <a:solidFill>
                  <a:schemeClr val="tx1">
                    <a:lumMod val="65000"/>
                    <a:lumOff val="35000"/>
                  </a:schemeClr>
                </a:solidFill>
              </a:rPr>
              <a:t>2.5%</a:t>
            </a:r>
          </a:p>
        </p:txBody>
      </p:sp>
      <p:sp>
        <p:nvSpPr>
          <p:cNvPr id="8" name="TextBox 7">
            <a:extLst>
              <a:ext uri="{FF2B5EF4-FFF2-40B4-BE49-F238E27FC236}">
                <a16:creationId xmlns:a16="http://schemas.microsoft.com/office/drawing/2014/main" id="{0570E0FB-1DF1-D728-515C-E639F6406546}"/>
              </a:ext>
            </a:extLst>
          </p:cNvPr>
          <p:cNvSpPr txBox="1"/>
          <p:nvPr/>
        </p:nvSpPr>
        <p:spPr>
          <a:xfrm>
            <a:off x="3695414" y="6028506"/>
            <a:ext cx="811441" cy="369332"/>
          </a:xfrm>
          <a:prstGeom prst="rect">
            <a:avLst/>
          </a:prstGeom>
          <a:noFill/>
        </p:spPr>
        <p:txBody>
          <a:bodyPr wrap="none" rtlCol="0">
            <a:spAutoFit/>
          </a:bodyPr>
          <a:lstStyle/>
          <a:p>
            <a:r>
              <a:rPr lang="en-US" dirty="0">
                <a:solidFill>
                  <a:schemeClr val="tx1">
                    <a:lumMod val="65000"/>
                    <a:lumOff val="35000"/>
                  </a:schemeClr>
                </a:solidFill>
              </a:rPr>
              <a:t>13.5%</a:t>
            </a:r>
          </a:p>
        </p:txBody>
      </p:sp>
      <p:cxnSp>
        <p:nvCxnSpPr>
          <p:cNvPr id="19" name="Straight Connector 18">
            <a:extLst>
              <a:ext uri="{FF2B5EF4-FFF2-40B4-BE49-F238E27FC236}">
                <a16:creationId xmlns:a16="http://schemas.microsoft.com/office/drawing/2014/main" id="{69C9C868-A29E-7D50-EA62-120F0906EBFD}"/>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72336240-2B7B-0EE1-9F60-2FFC76B19889}"/>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14" name="TextBox 13">
            <a:extLst>
              <a:ext uri="{FF2B5EF4-FFF2-40B4-BE49-F238E27FC236}">
                <a16:creationId xmlns:a16="http://schemas.microsoft.com/office/drawing/2014/main" id="{0F3D8506-168A-7DB8-88DA-510ECA461796}"/>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Tree>
    <p:extLst>
      <p:ext uri="{BB962C8B-B14F-4D97-AF65-F5344CB8AC3E}">
        <p14:creationId xmlns:p14="http://schemas.microsoft.com/office/powerpoint/2010/main" val="308338269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F533C-D0F7-5317-7AEE-5E091AF554D7}"/>
            </a:ext>
          </a:extLst>
        </p:cNvPr>
        <p:cNvGrpSpPr/>
        <p:nvPr/>
      </p:nvGrpSpPr>
      <p:grpSpPr>
        <a:xfrm>
          <a:off x="0" y="0"/>
          <a:ext cx="0" cy="0"/>
          <a:chOff x="0" y="0"/>
          <a:chExt cx="0" cy="0"/>
        </a:xfrm>
      </p:grpSpPr>
      <p:sp>
        <p:nvSpPr>
          <p:cNvPr id="54" name="Oval 53">
            <a:extLst>
              <a:ext uri="{FF2B5EF4-FFF2-40B4-BE49-F238E27FC236}">
                <a16:creationId xmlns:a16="http://schemas.microsoft.com/office/drawing/2014/main" id="{2CC0511A-210E-461C-77C9-18069FC97AF9}"/>
              </a:ext>
            </a:extLst>
          </p:cNvPr>
          <p:cNvSpPr/>
          <p:nvPr/>
        </p:nvSpPr>
        <p:spPr>
          <a:xfrm>
            <a:off x="4301988" y="1125454"/>
            <a:ext cx="1318849" cy="1207947"/>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E206AF76-B5FC-B661-AC2F-AA505F8EF321}"/>
              </a:ext>
            </a:extLst>
          </p:cNvPr>
          <p:cNvSpPr/>
          <p:nvPr/>
        </p:nvSpPr>
        <p:spPr>
          <a:xfrm>
            <a:off x="2696187" y="3065123"/>
            <a:ext cx="1318849" cy="1207947"/>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3DD8AE04-CFD6-D31C-3C06-5035CBDA7063}"/>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2F6EA47-61E1-30CE-7215-3F81842891AC}"/>
              </a:ext>
            </a:extLst>
          </p:cNvPr>
          <p:cNvSpPr>
            <a:spLocks noGrp="1"/>
          </p:cNvSpPr>
          <p:nvPr>
            <p:ph type="title"/>
          </p:nvPr>
        </p:nvSpPr>
        <p:spPr>
          <a:xfrm>
            <a:off x="-1" y="0"/>
            <a:ext cx="12044363" cy="819599"/>
          </a:xfrm>
        </p:spPr>
        <p:txBody>
          <a:bodyPr/>
          <a:lstStyle/>
          <a:p>
            <a:r>
              <a:rPr lang="en-US" b="1" dirty="0"/>
              <a:t>Culture change curve: early majority</a:t>
            </a:r>
          </a:p>
        </p:txBody>
      </p:sp>
      <p:sp>
        <p:nvSpPr>
          <p:cNvPr id="10" name="TextBox 9">
            <a:extLst>
              <a:ext uri="{FF2B5EF4-FFF2-40B4-BE49-F238E27FC236}">
                <a16:creationId xmlns:a16="http://schemas.microsoft.com/office/drawing/2014/main" id="{302D9F2E-B450-8CAC-F3AF-95EB816524E7}"/>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4816E0AC-14E0-2692-DB61-AB80AE02391C}"/>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93B2367C-C775-6ED4-9B1D-39025BFE3B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9A37AF1F-E272-7EB6-4F54-990787FDA65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12E97CC6-F1BE-3A18-1B49-31DE98D2D4FC}"/>
              </a:ext>
            </a:extLst>
          </p:cNvPr>
          <p:cNvSpPr>
            <a:spLocks noGrp="1"/>
          </p:cNvSpPr>
          <p:nvPr>
            <p:ph type="sldNum" sz="quarter" idx="12"/>
          </p:nvPr>
        </p:nvSpPr>
        <p:spPr/>
        <p:txBody>
          <a:bodyPr/>
          <a:lstStyle/>
          <a:p>
            <a:fld id="{D292B180-B274-DE43-B36F-C827C7616C05}" type="slidenum">
              <a:rPr lang="en-US" smtClean="0"/>
              <a:t>52</a:t>
            </a:fld>
            <a:endParaRPr lang="en-US" dirty="0"/>
          </a:p>
        </p:txBody>
      </p:sp>
      <p:sp>
        <p:nvSpPr>
          <p:cNvPr id="22" name="TextBox 21">
            <a:extLst>
              <a:ext uri="{FF2B5EF4-FFF2-40B4-BE49-F238E27FC236}">
                <a16:creationId xmlns:a16="http://schemas.microsoft.com/office/drawing/2014/main" id="{CFEA9B74-3900-6AF3-C11E-5993EA842A71}"/>
              </a:ext>
            </a:extLst>
          </p:cNvPr>
          <p:cNvSpPr txBox="1"/>
          <p:nvPr/>
        </p:nvSpPr>
        <p:spPr>
          <a:xfrm>
            <a:off x="828004" y="4003644"/>
            <a:ext cx="1873462" cy="646331"/>
          </a:xfrm>
          <a:prstGeom prst="rect">
            <a:avLst/>
          </a:prstGeom>
          <a:solidFill>
            <a:srgbClr val="45B08B">
              <a:alpha val="26176"/>
            </a:srgbClr>
          </a:solidFill>
        </p:spPr>
        <p:txBody>
          <a:bodyPr wrap="none" rtlCol="0">
            <a:spAutoFit/>
          </a:bodyPr>
          <a:lstStyle/>
          <a:p>
            <a:r>
              <a:rPr lang="en-US" dirty="0"/>
              <a:t>“Ooh this new</a:t>
            </a:r>
          </a:p>
          <a:p>
            <a:r>
              <a:rPr lang="en-US" dirty="0"/>
              <a:t>thing is exciting!”</a:t>
            </a:r>
          </a:p>
        </p:txBody>
      </p:sp>
      <p:sp>
        <p:nvSpPr>
          <p:cNvPr id="23" name="TextBox 22">
            <a:extLst>
              <a:ext uri="{FF2B5EF4-FFF2-40B4-BE49-F238E27FC236}">
                <a16:creationId xmlns:a16="http://schemas.microsoft.com/office/drawing/2014/main" id="{D9767C18-C686-8516-45FE-2C64735C538D}"/>
              </a:ext>
            </a:extLst>
          </p:cNvPr>
          <p:cNvSpPr txBox="1"/>
          <p:nvPr/>
        </p:nvSpPr>
        <p:spPr>
          <a:xfrm>
            <a:off x="2325559" y="1420304"/>
            <a:ext cx="1952650" cy="646331"/>
          </a:xfrm>
          <a:prstGeom prst="rect">
            <a:avLst/>
          </a:prstGeom>
          <a:solidFill>
            <a:srgbClr val="FFC000">
              <a:alpha val="21000"/>
            </a:srgbClr>
          </a:solidFill>
        </p:spPr>
        <p:txBody>
          <a:bodyPr wrap="none" rtlCol="0">
            <a:spAutoFit/>
          </a:bodyPr>
          <a:lstStyle/>
          <a:p>
            <a:r>
              <a:rPr lang="en-US" dirty="0"/>
              <a:t>“I heard about it, </a:t>
            </a:r>
          </a:p>
          <a:p>
            <a:r>
              <a:rPr lang="en-US" dirty="0"/>
              <a:t>might give it a go.”</a:t>
            </a:r>
          </a:p>
        </p:txBody>
      </p:sp>
      <p:sp>
        <p:nvSpPr>
          <p:cNvPr id="26" name="TextBox 25">
            <a:extLst>
              <a:ext uri="{FF2B5EF4-FFF2-40B4-BE49-F238E27FC236}">
                <a16:creationId xmlns:a16="http://schemas.microsoft.com/office/drawing/2014/main" id="{6E526C4F-6F4B-7DE9-A1F9-760D42031AE0}"/>
              </a:ext>
            </a:extLst>
          </p:cNvPr>
          <p:cNvSpPr txBox="1"/>
          <p:nvPr/>
        </p:nvSpPr>
        <p:spPr>
          <a:xfrm>
            <a:off x="1765754" y="2405988"/>
            <a:ext cx="2097881" cy="646331"/>
          </a:xfrm>
          <a:prstGeom prst="rect">
            <a:avLst/>
          </a:prstGeom>
          <a:solidFill>
            <a:srgbClr val="92D050">
              <a:alpha val="19129"/>
            </a:srgbClr>
          </a:solidFill>
        </p:spPr>
        <p:txBody>
          <a:bodyPr wrap="square" rtlCol="0">
            <a:spAutoFit/>
          </a:bodyPr>
          <a:lstStyle/>
          <a:p>
            <a:r>
              <a:rPr lang="en-US" dirty="0"/>
              <a:t>“This looks great to use for my study.”</a:t>
            </a:r>
          </a:p>
        </p:txBody>
      </p:sp>
      <p:grpSp>
        <p:nvGrpSpPr>
          <p:cNvPr id="5" name="Group 4">
            <a:extLst>
              <a:ext uri="{FF2B5EF4-FFF2-40B4-BE49-F238E27FC236}">
                <a16:creationId xmlns:a16="http://schemas.microsoft.com/office/drawing/2014/main" id="{1BC1A799-433B-5641-343C-0D6E1DE74DB9}"/>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C5728CAD-1092-22AC-2FC8-5B97E1911D8D}"/>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FE8B35E4-23A2-D6F6-3662-9F95F4547F41}"/>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EA92B93B-429F-4854-6A58-010D7E9DE8C0}"/>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D945B097-C4E0-01BE-CF8B-C4EB81E48CBC}"/>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7A23F05E-6B23-FFC7-54DB-BE62C2BC2FC6}"/>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2A489C06-4630-1BBF-24A2-F670BD69BD51}"/>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D64CD7D2-7310-530E-28B8-FB3A405ED925}"/>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sp>
        <p:nvSpPr>
          <p:cNvPr id="36" name="TextBox 35">
            <a:extLst>
              <a:ext uri="{FF2B5EF4-FFF2-40B4-BE49-F238E27FC236}">
                <a16:creationId xmlns:a16="http://schemas.microsoft.com/office/drawing/2014/main" id="{5284CD53-B081-0D95-D171-5498E4314F64}"/>
              </a:ext>
            </a:extLst>
          </p:cNvPr>
          <p:cNvSpPr txBox="1"/>
          <p:nvPr/>
        </p:nvSpPr>
        <p:spPr>
          <a:xfrm>
            <a:off x="2794274" y="3303574"/>
            <a:ext cx="1123834" cy="646331"/>
          </a:xfrm>
          <a:prstGeom prst="rect">
            <a:avLst/>
          </a:prstGeom>
          <a:noFill/>
        </p:spPr>
        <p:txBody>
          <a:bodyPr wrap="none" rtlCol="0">
            <a:spAutoFit/>
          </a:bodyPr>
          <a:lstStyle/>
          <a:p>
            <a:pPr algn="ctr"/>
            <a:r>
              <a:rPr lang="en-US" b="1" dirty="0"/>
              <a:t>Early </a:t>
            </a:r>
          </a:p>
          <a:p>
            <a:pPr algn="ctr"/>
            <a:r>
              <a:rPr lang="en-US" b="1" dirty="0"/>
              <a:t>adopters</a:t>
            </a:r>
          </a:p>
        </p:txBody>
      </p:sp>
      <p:sp>
        <p:nvSpPr>
          <p:cNvPr id="37" name="TextBox 36">
            <a:extLst>
              <a:ext uri="{FF2B5EF4-FFF2-40B4-BE49-F238E27FC236}">
                <a16:creationId xmlns:a16="http://schemas.microsoft.com/office/drawing/2014/main" id="{F8DBF6E8-7CD0-CEF1-A734-E8CD152D6D8A}"/>
              </a:ext>
            </a:extLst>
          </p:cNvPr>
          <p:cNvSpPr txBox="1"/>
          <p:nvPr/>
        </p:nvSpPr>
        <p:spPr>
          <a:xfrm>
            <a:off x="4410086" y="1388552"/>
            <a:ext cx="1055097" cy="646331"/>
          </a:xfrm>
          <a:prstGeom prst="rect">
            <a:avLst/>
          </a:prstGeom>
          <a:noFill/>
        </p:spPr>
        <p:txBody>
          <a:bodyPr wrap="none" rtlCol="0">
            <a:spAutoFit/>
          </a:bodyPr>
          <a:lstStyle/>
          <a:p>
            <a:pPr algn="ctr"/>
            <a:r>
              <a:rPr lang="en-US" b="1" dirty="0"/>
              <a:t>Early </a:t>
            </a:r>
          </a:p>
          <a:p>
            <a:pPr algn="ctr"/>
            <a:r>
              <a:rPr lang="en-US" b="1" dirty="0"/>
              <a:t>majority</a:t>
            </a:r>
          </a:p>
        </p:txBody>
      </p:sp>
      <p:cxnSp>
        <p:nvCxnSpPr>
          <p:cNvPr id="41" name="Straight Connector 40">
            <a:extLst>
              <a:ext uri="{FF2B5EF4-FFF2-40B4-BE49-F238E27FC236}">
                <a16:creationId xmlns:a16="http://schemas.microsoft.com/office/drawing/2014/main" id="{FD7D7160-40E3-C011-1646-9EBE4150475F}"/>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3FDD6446-29E1-854B-3B9E-29A08ECD071C}"/>
              </a:ext>
            </a:extLst>
          </p:cNvPr>
          <p:cNvSpPr txBox="1"/>
          <p:nvPr/>
        </p:nvSpPr>
        <p:spPr>
          <a:xfrm>
            <a:off x="2297240" y="6033848"/>
            <a:ext cx="688009" cy="369332"/>
          </a:xfrm>
          <a:prstGeom prst="rect">
            <a:avLst/>
          </a:prstGeom>
          <a:noFill/>
        </p:spPr>
        <p:txBody>
          <a:bodyPr wrap="none" rtlCol="0">
            <a:spAutoFit/>
          </a:bodyPr>
          <a:lstStyle/>
          <a:p>
            <a:r>
              <a:rPr lang="en-US" dirty="0">
                <a:solidFill>
                  <a:schemeClr val="tx1">
                    <a:lumMod val="65000"/>
                    <a:lumOff val="35000"/>
                  </a:schemeClr>
                </a:solidFill>
              </a:rPr>
              <a:t>2.5%</a:t>
            </a:r>
          </a:p>
        </p:txBody>
      </p:sp>
      <p:sp>
        <p:nvSpPr>
          <p:cNvPr id="8" name="TextBox 7">
            <a:extLst>
              <a:ext uri="{FF2B5EF4-FFF2-40B4-BE49-F238E27FC236}">
                <a16:creationId xmlns:a16="http://schemas.microsoft.com/office/drawing/2014/main" id="{AAADC4C9-6626-8939-A423-001404BCC5B5}"/>
              </a:ext>
            </a:extLst>
          </p:cNvPr>
          <p:cNvSpPr txBox="1"/>
          <p:nvPr/>
        </p:nvSpPr>
        <p:spPr>
          <a:xfrm>
            <a:off x="3695414" y="6028506"/>
            <a:ext cx="811441" cy="369332"/>
          </a:xfrm>
          <a:prstGeom prst="rect">
            <a:avLst/>
          </a:prstGeom>
          <a:noFill/>
        </p:spPr>
        <p:txBody>
          <a:bodyPr wrap="none" rtlCol="0">
            <a:spAutoFit/>
          </a:bodyPr>
          <a:lstStyle/>
          <a:p>
            <a:r>
              <a:rPr lang="en-US" dirty="0">
                <a:solidFill>
                  <a:schemeClr val="tx1">
                    <a:lumMod val="65000"/>
                    <a:lumOff val="35000"/>
                  </a:schemeClr>
                </a:solidFill>
              </a:rPr>
              <a:t>13.5%</a:t>
            </a:r>
          </a:p>
        </p:txBody>
      </p:sp>
      <p:sp>
        <p:nvSpPr>
          <p:cNvPr id="17" name="TextBox 16">
            <a:extLst>
              <a:ext uri="{FF2B5EF4-FFF2-40B4-BE49-F238E27FC236}">
                <a16:creationId xmlns:a16="http://schemas.microsoft.com/office/drawing/2014/main" id="{84F506AB-8EFD-FF25-44C3-C7DDFB3DA389}"/>
              </a:ext>
            </a:extLst>
          </p:cNvPr>
          <p:cNvSpPr txBox="1"/>
          <p:nvPr/>
        </p:nvSpPr>
        <p:spPr>
          <a:xfrm>
            <a:off x="4965071" y="6033848"/>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cxnSp>
        <p:nvCxnSpPr>
          <p:cNvPr id="19" name="Straight Connector 18">
            <a:extLst>
              <a:ext uri="{FF2B5EF4-FFF2-40B4-BE49-F238E27FC236}">
                <a16:creationId xmlns:a16="http://schemas.microsoft.com/office/drawing/2014/main" id="{BAD17F62-8160-5196-35DD-C1EE57946467}"/>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42DA68B7-59CD-B2A3-414E-9F0ACEE97C23}"/>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14" name="TextBox 13">
            <a:extLst>
              <a:ext uri="{FF2B5EF4-FFF2-40B4-BE49-F238E27FC236}">
                <a16:creationId xmlns:a16="http://schemas.microsoft.com/office/drawing/2014/main" id="{C6D287F6-AB3F-CC31-D581-40C3CCDE7FA4}"/>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Tree>
    <p:extLst>
      <p:ext uri="{BB962C8B-B14F-4D97-AF65-F5344CB8AC3E}">
        <p14:creationId xmlns:p14="http://schemas.microsoft.com/office/powerpoint/2010/main" val="147072156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2C0E0-FBF7-3EE1-2112-2F778A573DBD}"/>
            </a:ext>
          </a:extLst>
        </p:cNvPr>
        <p:cNvGrpSpPr/>
        <p:nvPr/>
      </p:nvGrpSpPr>
      <p:grpSpPr>
        <a:xfrm>
          <a:off x="0" y="0"/>
          <a:ext cx="0" cy="0"/>
          <a:chOff x="0" y="0"/>
          <a:chExt cx="0" cy="0"/>
        </a:xfrm>
      </p:grpSpPr>
      <p:sp>
        <p:nvSpPr>
          <p:cNvPr id="55" name="Oval 54">
            <a:extLst>
              <a:ext uri="{FF2B5EF4-FFF2-40B4-BE49-F238E27FC236}">
                <a16:creationId xmlns:a16="http://schemas.microsoft.com/office/drawing/2014/main" id="{572167F1-3D10-C69B-5A2C-F69AB928D391}"/>
              </a:ext>
            </a:extLst>
          </p:cNvPr>
          <p:cNvSpPr/>
          <p:nvPr/>
        </p:nvSpPr>
        <p:spPr>
          <a:xfrm>
            <a:off x="6596827" y="1121205"/>
            <a:ext cx="1318849" cy="1207947"/>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DA5BF483-50C4-18AB-FB17-33FC57BA30D8}"/>
              </a:ext>
            </a:extLst>
          </p:cNvPr>
          <p:cNvSpPr/>
          <p:nvPr/>
        </p:nvSpPr>
        <p:spPr>
          <a:xfrm>
            <a:off x="4301988" y="1125454"/>
            <a:ext cx="1318849" cy="1207947"/>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BC9E21E5-7CA8-8A03-2657-CC0E08B03F4C}"/>
              </a:ext>
            </a:extLst>
          </p:cNvPr>
          <p:cNvSpPr/>
          <p:nvPr/>
        </p:nvSpPr>
        <p:spPr>
          <a:xfrm>
            <a:off x="2696187" y="3065123"/>
            <a:ext cx="1318849" cy="1207947"/>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9EF6DD41-E655-5B5F-DC6B-EE0086A47207}"/>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46F46E-2D41-17C4-2B64-DD77483F0574}"/>
              </a:ext>
            </a:extLst>
          </p:cNvPr>
          <p:cNvSpPr>
            <a:spLocks noGrp="1"/>
          </p:cNvSpPr>
          <p:nvPr>
            <p:ph type="title"/>
          </p:nvPr>
        </p:nvSpPr>
        <p:spPr>
          <a:xfrm>
            <a:off x="-1" y="0"/>
            <a:ext cx="12044363" cy="819599"/>
          </a:xfrm>
        </p:spPr>
        <p:txBody>
          <a:bodyPr/>
          <a:lstStyle/>
          <a:p>
            <a:r>
              <a:rPr lang="en-US" b="1" dirty="0"/>
              <a:t>Culture change curve: late majority</a:t>
            </a:r>
          </a:p>
        </p:txBody>
      </p:sp>
      <p:sp>
        <p:nvSpPr>
          <p:cNvPr id="10" name="TextBox 9">
            <a:extLst>
              <a:ext uri="{FF2B5EF4-FFF2-40B4-BE49-F238E27FC236}">
                <a16:creationId xmlns:a16="http://schemas.microsoft.com/office/drawing/2014/main" id="{A3076DCF-1DAD-A73E-B9DE-6A55698D2A97}"/>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14143B5F-CC75-B5DE-486A-1B6AA3CB7C0B}"/>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29CE7E40-45CA-251B-08F1-616DDA68761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4FDCE0C7-DE77-3EBC-6CFE-B3888867651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7396EFF0-2F1A-3DCC-EEF6-408762A989A4}"/>
              </a:ext>
            </a:extLst>
          </p:cNvPr>
          <p:cNvSpPr>
            <a:spLocks noGrp="1"/>
          </p:cNvSpPr>
          <p:nvPr>
            <p:ph type="sldNum" sz="quarter" idx="12"/>
          </p:nvPr>
        </p:nvSpPr>
        <p:spPr/>
        <p:txBody>
          <a:bodyPr/>
          <a:lstStyle/>
          <a:p>
            <a:fld id="{D292B180-B274-DE43-B36F-C827C7616C05}" type="slidenum">
              <a:rPr lang="en-US" smtClean="0"/>
              <a:t>53</a:t>
            </a:fld>
            <a:endParaRPr lang="en-US" dirty="0"/>
          </a:p>
        </p:txBody>
      </p:sp>
      <p:sp>
        <p:nvSpPr>
          <p:cNvPr id="22" name="TextBox 21">
            <a:extLst>
              <a:ext uri="{FF2B5EF4-FFF2-40B4-BE49-F238E27FC236}">
                <a16:creationId xmlns:a16="http://schemas.microsoft.com/office/drawing/2014/main" id="{830E0FA9-C0AB-EB8F-F4B7-EEF647B745EF}"/>
              </a:ext>
            </a:extLst>
          </p:cNvPr>
          <p:cNvSpPr txBox="1"/>
          <p:nvPr/>
        </p:nvSpPr>
        <p:spPr>
          <a:xfrm>
            <a:off x="828004" y="4003644"/>
            <a:ext cx="1873462" cy="646331"/>
          </a:xfrm>
          <a:prstGeom prst="rect">
            <a:avLst/>
          </a:prstGeom>
          <a:solidFill>
            <a:srgbClr val="45B08B">
              <a:alpha val="26176"/>
            </a:srgbClr>
          </a:solidFill>
        </p:spPr>
        <p:txBody>
          <a:bodyPr wrap="none" rtlCol="0">
            <a:spAutoFit/>
          </a:bodyPr>
          <a:lstStyle/>
          <a:p>
            <a:r>
              <a:rPr lang="en-US" dirty="0"/>
              <a:t>“Ooh this new</a:t>
            </a:r>
          </a:p>
          <a:p>
            <a:r>
              <a:rPr lang="en-US" dirty="0"/>
              <a:t>thing is exciting!”</a:t>
            </a:r>
          </a:p>
        </p:txBody>
      </p:sp>
      <p:sp>
        <p:nvSpPr>
          <p:cNvPr id="23" name="TextBox 22">
            <a:extLst>
              <a:ext uri="{FF2B5EF4-FFF2-40B4-BE49-F238E27FC236}">
                <a16:creationId xmlns:a16="http://schemas.microsoft.com/office/drawing/2014/main" id="{1D9DA816-5252-A3A8-3C95-6DFC90E760F9}"/>
              </a:ext>
            </a:extLst>
          </p:cNvPr>
          <p:cNvSpPr txBox="1"/>
          <p:nvPr/>
        </p:nvSpPr>
        <p:spPr>
          <a:xfrm>
            <a:off x="2325559" y="1420304"/>
            <a:ext cx="1952650" cy="646331"/>
          </a:xfrm>
          <a:prstGeom prst="rect">
            <a:avLst/>
          </a:prstGeom>
          <a:solidFill>
            <a:srgbClr val="FFC000">
              <a:alpha val="21000"/>
            </a:srgbClr>
          </a:solidFill>
        </p:spPr>
        <p:txBody>
          <a:bodyPr wrap="none" rtlCol="0">
            <a:spAutoFit/>
          </a:bodyPr>
          <a:lstStyle/>
          <a:p>
            <a:r>
              <a:rPr lang="en-US" dirty="0"/>
              <a:t>“I heard about it, </a:t>
            </a:r>
          </a:p>
          <a:p>
            <a:r>
              <a:rPr lang="en-US" dirty="0"/>
              <a:t>might give it a go.”</a:t>
            </a:r>
          </a:p>
        </p:txBody>
      </p:sp>
      <p:sp>
        <p:nvSpPr>
          <p:cNvPr id="26" name="TextBox 25">
            <a:extLst>
              <a:ext uri="{FF2B5EF4-FFF2-40B4-BE49-F238E27FC236}">
                <a16:creationId xmlns:a16="http://schemas.microsoft.com/office/drawing/2014/main" id="{39358027-7BEA-D06E-99C5-21D3E01489A3}"/>
              </a:ext>
            </a:extLst>
          </p:cNvPr>
          <p:cNvSpPr txBox="1"/>
          <p:nvPr/>
        </p:nvSpPr>
        <p:spPr>
          <a:xfrm>
            <a:off x="1765754" y="2405988"/>
            <a:ext cx="2097881" cy="646331"/>
          </a:xfrm>
          <a:prstGeom prst="rect">
            <a:avLst/>
          </a:prstGeom>
          <a:solidFill>
            <a:srgbClr val="92D050">
              <a:alpha val="19129"/>
            </a:srgbClr>
          </a:solidFill>
        </p:spPr>
        <p:txBody>
          <a:bodyPr wrap="square" rtlCol="0">
            <a:spAutoFit/>
          </a:bodyPr>
          <a:lstStyle/>
          <a:p>
            <a:r>
              <a:rPr lang="en-US" dirty="0"/>
              <a:t>“This looks great to use for my study.”</a:t>
            </a:r>
          </a:p>
        </p:txBody>
      </p:sp>
      <p:grpSp>
        <p:nvGrpSpPr>
          <p:cNvPr id="5" name="Group 4">
            <a:extLst>
              <a:ext uri="{FF2B5EF4-FFF2-40B4-BE49-F238E27FC236}">
                <a16:creationId xmlns:a16="http://schemas.microsoft.com/office/drawing/2014/main" id="{F10E0C69-BFA9-2836-D5C5-32FF987602A7}"/>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0721AD6B-2FBF-6058-65A2-E1AA4D32427E}"/>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24BEFE9D-A7A9-9016-9D63-2BBF30C2B35B}"/>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A98F5AC6-3DF5-02AE-4647-37D1133136B3}"/>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C29BE8C7-3570-48E6-EC5C-A5A901D5C665}"/>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D6892D58-6D8F-4393-CCE5-1F1896EEF01C}"/>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DB33B9E-D9A8-3A8B-A42F-AD89DF113159}"/>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62F2F5E9-9B27-FCAE-A56E-49CE797A5BC9}"/>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sp>
        <p:nvSpPr>
          <p:cNvPr id="36" name="TextBox 35">
            <a:extLst>
              <a:ext uri="{FF2B5EF4-FFF2-40B4-BE49-F238E27FC236}">
                <a16:creationId xmlns:a16="http://schemas.microsoft.com/office/drawing/2014/main" id="{D3DEB76E-5906-F531-46B1-D683368EED9B}"/>
              </a:ext>
            </a:extLst>
          </p:cNvPr>
          <p:cNvSpPr txBox="1"/>
          <p:nvPr/>
        </p:nvSpPr>
        <p:spPr>
          <a:xfrm>
            <a:off x="2794274" y="3303574"/>
            <a:ext cx="1123834" cy="646331"/>
          </a:xfrm>
          <a:prstGeom prst="rect">
            <a:avLst/>
          </a:prstGeom>
          <a:noFill/>
        </p:spPr>
        <p:txBody>
          <a:bodyPr wrap="none" rtlCol="0">
            <a:spAutoFit/>
          </a:bodyPr>
          <a:lstStyle/>
          <a:p>
            <a:pPr algn="ctr"/>
            <a:r>
              <a:rPr lang="en-US" b="1" dirty="0"/>
              <a:t>Early </a:t>
            </a:r>
          </a:p>
          <a:p>
            <a:pPr algn="ctr"/>
            <a:r>
              <a:rPr lang="en-US" b="1" dirty="0"/>
              <a:t>adopters</a:t>
            </a:r>
          </a:p>
        </p:txBody>
      </p:sp>
      <p:sp>
        <p:nvSpPr>
          <p:cNvPr id="37" name="TextBox 36">
            <a:extLst>
              <a:ext uri="{FF2B5EF4-FFF2-40B4-BE49-F238E27FC236}">
                <a16:creationId xmlns:a16="http://schemas.microsoft.com/office/drawing/2014/main" id="{D1A5BA98-7982-45F9-8DB4-C7F28B90B484}"/>
              </a:ext>
            </a:extLst>
          </p:cNvPr>
          <p:cNvSpPr txBox="1"/>
          <p:nvPr/>
        </p:nvSpPr>
        <p:spPr>
          <a:xfrm>
            <a:off x="4410086" y="1388552"/>
            <a:ext cx="1055097" cy="646331"/>
          </a:xfrm>
          <a:prstGeom prst="rect">
            <a:avLst/>
          </a:prstGeom>
          <a:noFill/>
        </p:spPr>
        <p:txBody>
          <a:bodyPr wrap="none" rtlCol="0">
            <a:spAutoFit/>
          </a:bodyPr>
          <a:lstStyle/>
          <a:p>
            <a:pPr algn="ctr"/>
            <a:r>
              <a:rPr lang="en-US" b="1" dirty="0"/>
              <a:t>Early </a:t>
            </a:r>
          </a:p>
          <a:p>
            <a:pPr algn="ctr"/>
            <a:r>
              <a:rPr lang="en-US" b="1" dirty="0"/>
              <a:t>majority</a:t>
            </a:r>
          </a:p>
        </p:txBody>
      </p:sp>
      <p:sp>
        <p:nvSpPr>
          <p:cNvPr id="38" name="TextBox 37">
            <a:extLst>
              <a:ext uri="{FF2B5EF4-FFF2-40B4-BE49-F238E27FC236}">
                <a16:creationId xmlns:a16="http://schemas.microsoft.com/office/drawing/2014/main" id="{FD22419C-12FA-0FDE-FDB1-10E0E6F448DB}"/>
              </a:ext>
            </a:extLst>
          </p:cNvPr>
          <p:cNvSpPr txBox="1"/>
          <p:nvPr/>
        </p:nvSpPr>
        <p:spPr>
          <a:xfrm>
            <a:off x="6728702" y="1338459"/>
            <a:ext cx="1055097" cy="646331"/>
          </a:xfrm>
          <a:prstGeom prst="rect">
            <a:avLst/>
          </a:prstGeom>
          <a:noFill/>
        </p:spPr>
        <p:txBody>
          <a:bodyPr wrap="none" rtlCol="0">
            <a:spAutoFit/>
          </a:bodyPr>
          <a:lstStyle/>
          <a:p>
            <a:pPr algn="ctr"/>
            <a:r>
              <a:rPr lang="en-US" b="1" dirty="0"/>
              <a:t>Late </a:t>
            </a:r>
          </a:p>
          <a:p>
            <a:pPr algn="ctr"/>
            <a:r>
              <a:rPr lang="en-US" b="1" dirty="0"/>
              <a:t>majority</a:t>
            </a:r>
          </a:p>
        </p:txBody>
      </p:sp>
      <p:cxnSp>
        <p:nvCxnSpPr>
          <p:cNvPr id="41" name="Straight Connector 40">
            <a:extLst>
              <a:ext uri="{FF2B5EF4-FFF2-40B4-BE49-F238E27FC236}">
                <a16:creationId xmlns:a16="http://schemas.microsoft.com/office/drawing/2014/main" id="{E274F6A9-4501-571E-9E60-FA442F184A91}"/>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B3DB3528-EF69-EB46-D36F-B46A806433D4}"/>
              </a:ext>
            </a:extLst>
          </p:cNvPr>
          <p:cNvSpPr txBox="1"/>
          <p:nvPr/>
        </p:nvSpPr>
        <p:spPr>
          <a:xfrm>
            <a:off x="2297240" y="6033848"/>
            <a:ext cx="688009" cy="369332"/>
          </a:xfrm>
          <a:prstGeom prst="rect">
            <a:avLst/>
          </a:prstGeom>
          <a:noFill/>
        </p:spPr>
        <p:txBody>
          <a:bodyPr wrap="none" rtlCol="0">
            <a:spAutoFit/>
          </a:bodyPr>
          <a:lstStyle/>
          <a:p>
            <a:r>
              <a:rPr lang="en-US" dirty="0">
                <a:solidFill>
                  <a:schemeClr val="tx1">
                    <a:lumMod val="65000"/>
                    <a:lumOff val="35000"/>
                  </a:schemeClr>
                </a:solidFill>
              </a:rPr>
              <a:t>2.5%</a:t>
            </a:r>
          </a:p>
        </p:txBody>
      </p:sp>
      <p:sp>
        <p:nvSpPr>
          <p:cNvPr id="8" name="TextBox 7">
            <a:extLst>
              <a:ext uri="{FF2B5EF4-FFF2-40B4-BE49-F238E27FC236}">
                <a16:creationId xmlns:a16="http://schemas.microsoft.com/office/drawing/2014/main" id="{EA6AB563-35E1-6E3D-E7AC-FEB403AD3147}"/>
              </a:ext>
            </a:extLst>
          </p:cNvPr>
          <p:cNvSpPr txBox="1"/>
          <p:nvPr/>
        </p:nvSpPr>
        <p:spPr>
          <a:xfrm>
            <a:off x="3695414" y="6028506"/>
            <a:ext cx="811441" cy="369332"/>
          </a:xfrm>
          <a:prstGeom prst="rect">
            <a:avLst/>
          </a:prstGeom>
          <a:noFill/>
        </p:spPr>
        <p:txBody>
          <a:bodyPr wrap="none" rtlCol="0">
            <a:spAutoFit/>
          </a:bodyPr>
          <a:lstStyle/>
          <a:p>
            <a:r>
              <a:rPr lang="en-US" dirty="0">
                <a:solidFill>
                  <a:schemeClr val="tx1">
                    <a:lumMod val="65000"/>
                    <a:lumOff val="35000"/>
                  </a:schemeClr>
                </a:solidFill>
              </a:rPr>
              <a:t>13.5%</a:t>
            </a:r>
          </a:p>
        </p:txBody>
      </p:sp>
      <p:sp>
        <p:nvSpPr>
          <p:cNvPr id="17" name="TextBox 16">
            <a:extLst>
              <a:ext uri="{FF2B5EF4-FFF2-40B4-BE49-F238E27FC236}">
                <a16:creationId xmlns:a16="http://schemas.microsoft.com/office/drawing/2014/main" id="{4662BDDC-92DC-CAA8-409A-A0A7DDC97A30}"/>
              </a:ext>
            </a:extLst>
          </p:cNvPr>
          <p:cNvSpPr txBox="1"/>
          <p:nvPr/>
        </p:nvSpPr>
        <p:spPr>
          <a:xfrm>
            <a:off x="4965071" y="6033848"/>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sp>
        <p:nvSpPr>
          <p:cNvPr id="18" name="TextBox 17">
            <a:extLst>
              <a:ext uri="{FF2B5EF4-FFF2-40B4-BE49-F238E27FC236}">
                <a16:creationId xmlns:a16="http://schemas.microsoft.com/office/drawing/2014/main" id="{7026978E-F5CF-C9D7-BC29-89005C4A4DB8}"/>
              </a:ext>
            </a:extLst>
          </p:cNvPr>
          <p:cNvSpPr txBox="1"/>
          <p:nvPr/>
        </p:nvSpPr>
        <p:spPr>
          <a:xfrm>
            <a:off x="6424767" y="6038455"/>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cxnSp>
        <p:nvCxnSpPr>
          <p:cNvPr id="19" name="Straight Connector 18">
            <a:extLst>
              <a:ext uri="{FF2B5EF4-FFF2-40B4-BE49-F238E27FC236}">
                <a16:creationId xmlns:a16="http://schemas.microsoft.com/office/drawing/2014/main" id="{2544559B-4A54-C867-AC5F-D7EF6EDD0120}"/>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517A41AF-A780-CF19-4D71-DEAC6EE4A9F9}"/>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14" name="TextBox 13">
            <a:extLst>
              <a:ext uri="{FF2B5EF4-FFF2-40B4-BE49-F238E27FC236}">
                <a16:creationId xmlns:a16="http://schemas.microsoft.com/office/drawing/2014/main" id="{4BCE4319-CA1B-B1B5-A69B-9B20003F42AA}"/>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
        <p:nvSpPr>
          <p:cNvPr id="20" name="TextBox 19">
            <a:extLst>
              <a:ext uri="{FF2B5EF4-FFF2-40B4-BE49-F238E27FC236}">
                <a16:creationId xmlns:a16="http://schemas.microsoft.com/office/drawing/2014/main" id="{A5B4CF5F-FCE1-C848-0010-2B74B87771A1}"/>
              </a:ext>
            </a:extLst>
          </p:cNvPr>
          <p:cNvSpPr txBox="1"/>
          <p:nvPr/>
        </p:nvSpPr>
        <p:spPr>
          <a:xfrm>
            <a:off x="7957212" y="1327031"/>
            <a:ext cx="2722698" cy="646331"/>
          </a:xfrm>
          <a:prstGeom prst="rect">
            <a:avLst/>
          </a:prstGeom>
          <a:solidFill>
            <a:schemeClr val="accent2">
              <a:alpha val="23007"/>
            </a:schemeClr>
          </a:solidFill>
        </p:spPr>
        <p:txBody>
          <a:bodyPr wrap="square" rtlCol="0">
            <a:spAutoFit/>
          </a:bodyPr>
          <a:lstStyle/>
          <a:p>
            <a:r>
              <a:rPr lang="en-US" dirty="0"/>
              <a:t>  “Most of my colleagues use it, I’ll give it a go.”</a:t>
            </a:r>
          </a:p>
        </p:txBody>
      </p:sp>
    </p:spTree>
    <p:extLst>
      <p:ext uri="{BB962C8B-B14F-4D97-AF65-F5344CB8AC3E}">
        <p14:creationId xmlns:p14="http://schemas.microsoft.com/office/powerpoint/2010/main" val="1916803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EAD120-7924-2B08-FC98-DD5C2A2D7320}"/>
            </a:ext>
          </a:extLst>
        </p:cNvPr>
        <p:cNvGrpSpPr/>
        <p:nvPr/>
      </p:nvGrpSpPr>
      <p:grpSpPr>
        <a:xfrm>
          <a:off x="0" y="0"/>
          <a:ext cx="0" cy="0"/>
          <a:chOff x="0" y="0"/>
          <a:chExt cx="0" cy="0"/>
        </a:xfrm>
      </p:grpSpPr>
      <p:sp>
        <p:nvSpPr>
          <p:cNvPr id="56" name="Oval 55">
            <a:extLst>
              <a:ext uri="{FF2B5EF4-FFF2-40B4-BE49-F238E27FC236}">
                <a16:creationId xmlns:a16="http://schemas.microsoft.com/office/drawing/2014/main" id="{4661A669-3B21-527E-AD03-2B97AA6BC8A8}"/>
              </a:ext>
            </a:extLst>
          </p:cNvPr>
          <p:cNvSpPr/>
          <p:nvPr/>
        </p:nvSpPr>
        <p:spPr>
          <a:xfrm>
            <a:off x="8208295" y="3669096"/>
            <a:ext cx="1318849" cy="1207947"/>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E951E056-7E00-7099-2155-3B5747CD21F7}"/>
              </a:ext>
            </a:extLst>
          </p:cNvPr>
          <p:cNvSpPr/>
          <p:nvPr/>
        </p:nvSpPr>
        <p:spPr>
          <a:xfrm>
            <a:off x="6596827" y="1121205"/>
            <a:ext cx="1318849" cy="1207947"/>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2DCF09E-5F12-9D1E-9A8A-237D52F799B0}"/>
              </a:ext>
            </a:extLst>
          </p:cNvPr>
          <p:cNvSpPr/>
          <p:nvPr/>
        </p:nvSpPr>
        <p:spPr>
          <a:xfrm>
            <a:off x="4301988" y="1125454"/>
            <a:ext cx="1318849" cy="1207947"/>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D21B6C1-B326-DB4E-4A9A-8D52A4272A42}"/>
              </a:ext>
            </a:extLst>
          </p:cNvPr>
          <p:cNvSpPr/>
          <p:nvPr/>
        </p:nvSpPr>
        <p:spPr>
          <a:xfrm>
            <a:off x="2696187" y="3065123"/>
            <a:ext cx="1318849" cy="1207947"/>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2BE747B-DEE6-D048-F42D-18D26B3B67F9}"/>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791914-030F-423C-049F-A4C40B75F414}"/>
              </a:ext>
            </a:extLst>
          </p:cNvPr>
          <p:cNvSpPr>
            <a:spLocks noGrp="1"/>
          </p:cNvSpPr>
          <p:nvPr>
            <p:ph type="title"/>
          </p:nvPr>
        </p:nvSpPr>
        <p:spPr>
          <a:xfrm>
            <a:off x="-1" y="0"/>
            <a:ext cx="12044363" cy="819599"/>
          </a:xfrm>
        </p:spPr>
        <p:txBody>
          <a:bodyPr/>
          <a:lstStyle/>
          <a:p>
            <a:r>
              <a:rPr lang="en-US" b="1" dirty="0"/>
              <a:t>Culture change curve: laggards</a:t>
            </a:r>
          </a:p>
        </p:txBody>
      </p:sp>
      <p:sp>
        <p:nvSpPr>
          <p:cNvPr id="10" name="TextBox 9">
            <a:extLst>
              <a:ext uri="{FF2B5EF4-FFF2-40B4-BE49-F238E27FC236}">
                <a16:creationId xmlns:a16="http://schemas.microsoft.com/office/drawing/2014/main" id="{2653C5B4-5C30-182E-6A8B-0A4F0AC4C316}"/>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75FE6BE1-80D9-B0B8-19D1-B4EC0DA9ED39}"/>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9253D32B-F522-9E8D-1FFE-E9531510A7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B9555FE6-697F-5290-D013-0F4B30FE0F0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3D01B248-15F3-5AB3-0BA9-0A261927B9C9}"/>
              </a:ext>
            </a:extLst>
          </p:cNvPr>
          <p:cNvSpPr>
            <a:spLocks noGrp="1"/>
          </p:cNvSpPr>
          <p:nvPr>
            <p:ph type="sldNum" sz="quarter" idx="12"/>
          </p:nvPr>
        </p:nvSpPr>
        <p:spPr/>
        <p:txBody>
          <a:bodyPr/>
          <a:lstStyle/>
          <a:p>
            <a:fld id="{D292B180-B274-DE43-B36F-C827C7616C05}" type="slidenum">
              <a:rPr lang="en-US" smtClean="0"/>
              <a:t>54</a:t>
            </a:fld>
            <a:endParaRPr lang="en-US" dirty="0"/>
          </a:p>
        </p:txBody>
      </p:sp>
      <p:sp>
        <p:nvSpPr>
          <p:cNvPr id="22" name="TextBox 21">
            <a:extLst>
              <a:ext uri="{FF2B5EF4-FFF2-40B4-BE49-F238E27FC236}">
                <a16:creationId xmlns:a16="http://schemas.microsoft.com/office/drawing/2014/main" id="{2AC11203-3F47-EEC0-AFDE-FD81AF649DAC}"/>
              </a:ext>
            </a:extLst>
          </p:cNvPr>
          <p:cNvSpPr txBox="1"/>
          <p:nvPr/>
        </p:nvSpPr>
        <p:spPr>
          <a:xfrm>
            <a:off x="828004" y="4003644"/>
            <a:ext cx="1873462" cy="646331"/>
          </a:xfrm>
          <a:prstGeom prst="rect">
            <a:avLst/>
          </a:prstGeom>
          <a:solidFill>
            <a:srgbClr val="45B08B">
              <a:alpha val="26176"/>
            </a:srgbClr>
          </a:solidFill>
        </p:spPr>
        <p:txBody>
          <a:bodyPr wrap="none" rtlCol="0">
            <a:spAutoFit/>
          </a:bodyPr>
          <a:lstStyle/>
          <a:p>
            <a:r>
              <a:rPr lang="en-US" dirty="0"/>
              <a:t>“Ooh this new</a:t>
            </a:r>
          </a:p>
          <a:p>
            <a:r>
              <a:rPr lang="en-US" dirty="0"/>
              <a:t>thing is exciting!”</a:t>
            </a:r>
          </a:p>
        </p:txBody>
      </p:sp>
      <p:sp>
        <p:nvSpPr>
          <p:cNvPr id="23" name="TextBox 22">
            <a:extLst>
              <a:ext uri="{FF2B5EF4-FFF2-40B4-BE49-F238E27FC236}">
                <a16:creationId xmlns:a16="http://schemas.microsoft.com/office/drawing/2014/main" id="{204F1B65-FF45-61C2-53F1-A35B71223083}"/>
              </a:ext>
            </a:extLst>
          </p:cNvPr>
          <p:cNvSpPr txBox="1"/>
          <p:nvPr/>
        </p:nvSpPr>
        <p:spPr>
          <a:xfrm>
            <a:off x="2325559" y="1420304"/>
            <a:ext cx="1952650" cy="646331"/>
          </a:xfrm>
          <a:prstGeom prst="rect">
            <a:avLst/>
          </a:prstGeom>
          <a:solidFill>
            <a:srgbClr val="FFC000">
              <a:alpha val="21000"/>
            </a:srgbClr>
          </a:solidFill>
        </p:spPr>
        <p:txBody>
          <a:bodyPr wrap="none" rtlCol="0">
            <a:spAutoFit/>
          </a:bodyPr>
          <a:lstStyle/>
          <a:p>
            <a:r>
              <a:rPr lang="en-US" dirty="0"/>
              <a:t>“I heard about it, </a:t>
            </a:r>
          </a:p>
          <a:p>
            <a:r>
              <a:rPr lang="en-US" dirty="0"/>
              <a:t>might give it a go.”</a:t>
            </a:r>
          </a:p>
        </p:txBody>
      </p:sp>
      <p:sp>
        <p:nvSpPr>
          <p:cNvPr id="24" name="TextBox 23">
            <a:extLst>
              <a:ext uri="{FF2B5EF4-FFF2-40B4-BE49-F238E27FC236}">
                <a16:creationId xmlns:a16="http://schemas.microsoft.com/office/drawing/2014/main" id="{319BB050-924F-B5D9-7912-14D242CEE4E0}"/>
              </a:ext>
            </a:extLst>
          </p:cNvPr>
          <p:cNvSpPr txBox="1"/>
          <p:nvPr/>
        </p:nvSpPr>
        <p:spPr>
          <a:xfrm>
            <a:off x="9579690" y="3891728"/>
            <a:ext cx="1728305" cy="646331"/>
          </a:xfrm>
          <a:prstGeom prst="rect">
            <a:avLst/>
          </a:prstGeom>
          <a:solidFill>
            <a:srgbClr val="C00000">
              <a:alpha val="15067"/>
            </a:srgbClr>
          </a:solidFill>
        </p:spPr>
        <p:txBody>
          <a:bodyPr wrap="square" rtlCol="0">
            <a:spAutoFit/>
          </a:bodyPr>
          <a:lstStyle/>
          <a:p>
            <a:r>
              <a:rPr lang="en-US" dirty="0"/>
              <a:t>   “Do I have to </a:t>
            </a:r>
          </a:p>
          <a:p>
            <a:r>
              <a:rPr lang="en-US" dirty="0"/>
              <a:t>   use this?”</a:t>
            </a:r>
          </a:p>
        </p:txBody>
      </p:sp>
      <p:sp>
        <p:nvSpPr>
          <p:cNvPr id="25" name="TextBox 24">
            <a:extLst>
              <a:ext uri="{FF2B5EF4-FFF2-40B4-BE49-F238E27FC236}">
                <a16:creationId xmlns:a16="http://schemas.microsoft.com/office/drawing/2014/main" id="{C7898E25-7F36-D114-A649-090A997C24EF}"/>
              </a:ext>
            </a:extLst>
          </p:cNvPr>
          <p:cNvSpPr txBox="1"/>
          <p:nvPr/>
        </p:nvSpPr>
        <p:spPr>
          <a:xfrm>
            <a:off x="7957212" y="1327031"/>
            <a:ext cx="2722698" cy="646331"/>
          </a:xfrm>
          <a:prstGeom prst="rect">
            <a:avLst/>
          </a:prstGeom>
          <a:solidFill>
            <a:schemeClr val="accent2">
              <a:alpha val="23007"/>
            </a:schemeClr>
          </a:solidFill>
        </p:spPr>
        <p:txBody>
          <a:bodyPr wrap="square" rtlCol="0">
            <a:spAutoFit/>
          </a:bodyPr>
          <a:lstStyle/>
          <a:p>
            <a:r>
              <a:rPr lang="en-US" dirty="0"/>
              <a:t>  “Most of my colleagues use it, I’ll give it a go.”</a:t>
            </a:r>
          </a:p>
        </p:txBody>
      </p:sp>
      <p:sp>
        <p:nvSpPr>
          <p:cNvPr id="26" name="TextBox 25">
            <a:extLst>
              <a:ext uri="{FF2B5EF4-FFF2-40B4-BE49-F238E27FC236}">
                <a16:creationId xmlns:a16="http://schemas.microsoft.com/office/drawing/2014/main" id="{ED0D09E5-C932-75C0-152E-8451F72E2525}"/>
              </a:ext>
            </a:extLst>
          </p:cNvPr>
          <p:cNvSpPr txBox="1"/>
          <p:nvPr/>
        </p:nvSpPr>
        <p:spPr>
          <a:xfrm>
            <a:off x="1765754" y="2405988"/>
            <a:ext cx="2097881" cy="646331"/>
          </a:xfrm>
          <a:prstGeom prst="rect">
            <a:avLst/>
          </a:prstGeom>
          <a:solidFill>
            <a:srgbClr val="92D050">
              <a:alpha val="19129"/>
            </a:srgbClr>
          </a:solidFill>
        </p:spPr>
        <p:txBody>
          <a:bodyPr wrap="square" rtlCol="0">
            <a:spAutoFit/>
          </a:bodyPr>
          <a:lstStyle/>
          <a:p>
            <a:r>
              <a:rPr lang="en-US" dirty="0"/>
              <a:t>“This looks great to use for my study.”</a:t>
            </a:r>
          </a:p>
        </p:txBody>
      </p:sp>
      <p:grpSp>
        <p:nvGrpSpPr>
          <p:cNvPr id="5" name="Group 4">
            <a:extLst>
              <a:ext uri="{FF2B5EF4-FFF2-40B4-BE49-F238E27FC236}">
                <a16:creationId xmlns:a16="http://schemas.microsoft.com/office/drawing/2014/main" id="{3F04A48C-8DA3-B6B7-6E7E-B5B518451413}"/>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C6887F10-B2BB-5557-2BB9-A01484668617}"/>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F2576B2D-3A2F-546F-EDDE-E7650A9F46D5}"/>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5F0ECE28-03B3-D576-6DF4-357CB74996B3}"/>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F55CFE2F-1372-76DE-C8C3-DFC975C2370F}"/>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C77CB114-0524-8AE0-E59C-BB0CC292E948}"/>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0DE2F1B9-3C90-F970-666E-7AE85AC5BB57}"/>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4AAED7A4-5B05-774E-0D99-1E0E2B43B3AF}"/>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sp>
        <p:nvSpPr>
          <p:cNvPr id="36" name="TextBox 35">
            <a:extLst>
              <a:ext uri="{FF2B5EF4-FFF2-40B4-BE49-F238E27FC236}">
                <a16:creationId xmlns:a16="http://schemas.microsoft.com/office/drawing/2014/main" id="{A44B13AA-7DB7-93DE-33DE-F1B4D8523404}"/>
              </a:ext>
            </a:extLst>
          </p:cNvPr>
          <p:cNvSpPr txBox="1"/>
          <p:nvPr/>
        </p:nvSpPr>
        <p:spPr>
          <a:xfrm>
            <a:off x="2794274" y="3303574"/>
            <a:ext cx="1123834" cy="646331"/>
          </a:xfrm>
          <a:prstGeom prst="rect">
            <a:avLst/>
          </a:prstGeom>
          <a:noFill/>
        </p:spPr>
        <p:txBody>
          <a:bodyPr wrap="none" rtlCol="0">
            <a:spAutoFit/>
          </a:bodyPr>
          <a:lstStyle/>
          <a:p>
            <a:pPr algn="ctr"/>
            <a:r>
              <a:rPr lang="en-US" b="1" dirty="0"/>
              <a:t>Early </a:t>
            </a:r>
          </a:p>
          <a:p>
            <a:pPr algn="ctr"/>
            <a:r>
              <a:rPr lang="en-US" b="1" dirty="0"/>
              <a:t>adopters</a:t>
            </a:r>
          </a:p>
        </p:txBody>
      </p:sp>
      <p:sp>
        <p:nvSpPr>
          <p:cNvPr id="37" name="TextBox 36">
            <a:extLst>
              <a:ext uri="{FF2B5EF4-FFF2-40B4-BE49-F238E27FC236}">
                <a16:creationId xmlns:a16="http://schemas.microsoft.com/office/drawing/2014/main" id="{1440DA0E-1FAC-2F90-2179-D717B13FCBB4}"/>
              </a:ext>
            </a:extLst>
          </p:cNvPr>
          <p:cNvSpPr txBox="1"/>
          <p:nvPr/>
        </p:nvSpPr>
        <p:spPr>
          <a:xfrm>
            <a:off x="4410086" y="1388552"/>
            <a:ext cx="1055097" cy="646331"/>
          </a:xfrm>
          <a:prstGeom prst="rect">
            <a:avLst/>
          </a:prstGeom>
          <a:noFill/>
        </p:spPr>
        <p:txBody>
          <a:bodyPr wrap="none" rtlCol="0">
            <a:spAutoFit/>
          </a:bodyPr>
          <a:lstStyle/>
          <a:p>
            <a:pPr algn="ctr"/>
            <a:r>
              <a:rPr lang="en-US" b="1" dirty="0"/>
              <a:t>Early </a:t>
            </a:r>
          </a:p>
          <a:p>
            <a:pPr algn="ctr"/>
            <a:r>
              <a:rPr lang="en-US" b="1" dirty="0"/>
              <a:t>majority</a:t>
            </a:r>
          </a:p>
        </p:txBody>
      </p:sp>
      <p:sp>
        <p:nvSpPr>
          <p:cNvPr id="38" name="TextBox 37">
            <a:extLst>
              <a:ext uri="{FF2B5EF4-FFF2-40B4-BE49-F238E27FC236}">
                <a16:creationId xmlns:a16="http://schemas.microsoft.com/office/drawing/2014/main" id="{6C71E991-731F-4A4D-8CE1-585D72A6849D}"/>
              </a:ext>
            </a:extLst>
          </p:cNvPr>
          <p:cNvSpPr txBox="1"/>
          <p:nvPr/>
        </p:nvSpPr>
        <p:spPr>
          <a:xfrm>
            <a:off x="6728702" y="1338459"/>
            <a:ext cx="1055097" cy="646331"/>
          </a:xfrm>
          <a:prstGeom prst="rect">
            <a:avLst/>
          </a:prstGeom>
          <a:noFill/>
        </p:spPr>
        <p:txBody>
          <a:bodyPr wrap="none" rtlCol="0">
            <a:spAutoFit/>
          </a:bodyPr>
          <a:lstStyle/>
          <a:p>
            <a:pPr algn="ctr"/>
            <a:r>
              <a:rPr lang="en-US" b="1" dirty="0"/>
              <a:t>Late </a:t>
            </a:r>
          </a:p>
          <a:p>
            <a:pPr algn="ctr"/>
            <a:r>
              <a:rPr lang="en-US" b="1" dirty="0"/>
              <a:t>majority</a:t>
            </a:r>
          </a:p>
        </p:txBody>
      </p:sp>
      <p:sp>
        <p:nvSpPr>
          <p:cNvPr id="39" name="TextBox 38">
            <a:extLst>
              <a:ext uri="{FF2B5EF4-FFF2-40B4-BE49-F238E27FC236}">
                <a16:creationId xmlns:a16="http://schemas.microsoft.com/office/drawing/2014/main" id="{BA1EDF35-5297-72FC-E024-D340EF49CFBA}"/>
              </a:ext>
            </a:extLst>
          </p:cNvPr>
          <p:cNvSpPr txBox="1"/>
          <p:nvPr/>
        </p:nvSpPr>
        <p:spPr>
          <a:xfrm>
            <a:off x="8328677" y="4075673"/>
            <a:ext cx="1130631" cy="369332"/>
          </a:xfrm>
          <a:prstGeom prst="rect">
            <a:avLst/>
          </a:prstGeom>
          <a:noFill/>
        </p:spPr>
        <p:txBody>
          <a:bodyPr wrap="none" rtlCol="0">
            <a:spAutoFit/>
          </a:bodyPr>
          <a:lstStyle/>
          <a:p>
            <a:r>
              <a:rPr lang="en-US" b="1" dirty="0"/>
              <a:t>Laggards</a:t>
            </a:r>
          </a:p>
        </p:txBody>
      </p:sp>
      <p:cxnSp>
        <p:nvCxnSpPr>
          <p:cNvPr id="41" name="Straight Connector 40">
            <a:extLst>
              <a:ext uri="{FF2B5EF4-FFF2-40B4-BE49-F238E27FC236}">
                <a16:creationId xmlns:a16="http://schemas.microsoft.com/office/drawing/2014/main" id="{87C34712-B6AB-B9C0-3E71-65A0B89F43F6}"/>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A0E23B34-2490-7465-94C3-AACA22FA3AF9}"/>
              </a:ext>
            </a:extLst>
          </p:cNvPr>
          <p:cNvSpPr txBox="1"/>
          <p:nvPr/>
        </p:nvSpPr>
        <p:spPr>
          <a:xfrm>
            <a:off x="2297240" y="6033848"/>
            <a:ext cx="688009" cy="369332"/>
          </a:xfrm>
          <a:prstGeom prst="rect">
            <a:avLst/>
          </a:prstGeom>
          <a:noFill/>
        </p:spPr>
        <p:txBody>
          <a:bodyPr wrap="none" rtlCol="0">
            <a:spAutoFit/>
          </a:bodyPr>
          <a:lstStyle/>
          <a:p>
            <a:r>
              <a:rPr lang="en-US" dirty="0">
                <a:solidFill>
                  <a:schemeClr val="tx1">
                    <a:lumMod val="65000"/>
                    <a:lumOff val="35000"/>
                  </a:schemeClr>
                </a:solidFill>
              </a:rPr>
              <a:t>2.5%</a:t>
            </a:r>
          </a:p>
        </p:txBody>
      </p:sp>
      <p:sp>
        <p:nvSpPr>
          <p:cNvPr id="8" name="TextBox 7">
            <a:extLst>
              <a:ext uri="{FF2B5EF4-FFF2-40B4-BE49-F238E27FC236}">
                <a16:creationId xmlns:a16="http://schemas.microsoft.com/office/drawing/2014/main" id="{1B2FD202-8961-13B9-33C0-A1D100095C83}"/>
              </a:ext>
            </a:extLst>
          </p:cNvPr>
          <p:cNvSpPr txBox="1"/>
          <p:nvPr/>
        </p:nvSpPr>
        <p:spPr>
          <a:xfrm>
            <a:off x="3695414" y="6028506"/>
            <a:ext cx="811441" cy="369332"/>
          </a:xfrm>
          <a:prstGeom prst="rect">
            <a:avLst/>
          </a:prstGeom>
          <a:noFill/>
        </p:spPr>
        <p:txBody>
          <a:bodyPr wrap="none" rtlCol="0">
            <a:spAutoFit/>
          </a:bodyPr>
          <a:lstStyle/>
          <a:p>
            <a:r>
              <a:rPr lang="en-US" dirty="0">
                <a:solidFill>
                  <a:schemeClr val="tx1">
                    <a:lumMod val="65000"/>
                    <a:lumOff val="35000"/>
                  </a:schemeClr>
                </a:solidFill>
              </a:rPr>
              <a:t>13.5%</a:t>
            </a:r>
          </a:p>
        </p:txBody>
      </p:sp>
      <p:sp>
        <p:nvSpPr>
          <p:cNvPr id="16" name="TextBox 15">
            <a:extLst>
              <a:ext uri="{FF2B5EF4-FFF2-40B4-BE49-F238E27FC236}">
                <a16:creationId xmlns:a16="http://schemas.microsoft.com/office/drawing/2014/main" id="{B2C1B2C7-F4C1-0D40-3D6C-A0E6F02369DA}"/>
              </a:ext>
            </a:extLst>
          </p:cNvPr>
          <p:cNvSpPr txBox="1"/>
          <p:nvPr/>
        </p:nvSpPr>
        <p:spPr>
          <a:xfrm>
            <a:off x="8489335" y="6029004"/>
            <a:ext cx="622286" cy="369332"/>
          </a:xfrm>
          <a:prstGeom prst="rect">
            <a:avLst/>
          </a:prstGeom>
          <a:noFill/>
        </p:spPr>
        <p:txBody>
          <a:bodyPr wrap="none" rtlCol="0">
            <a:spAutoFit/>
          </a:bodyPr>
          <a:lstStyle/>
          <a:p>
            <a:r>
              <a:rPr lang="en-US" dirty="0">
                <a:solidFill>
                  <a:schemeClr val="tx1">
                    <a:lumMod val="65000"/>
                    <a:lumOff val="35000"/>
                  </a:schemeClr>
                </a:solidFill>
              </a:rPr>
              <a:t>16%</a:t>
            </a:r>
          </a:p>
        </p:txBody>
      </p:sp>
      <p:sp>
        <p:nvSpPr>
          <p:cNvPr id="17" name="TextBox 16">
            <a:extLst>
              <a:ext uri="{FF2B5EF4-FFF2-40B4-BE49-F238E27FC236}">
                <a16:creationId xmlns:a16="http://schemas.microsoft.com/office/drawing/2014/main" id="{F1C1875C-C041-5294-0AA3-708C0FD71550}"/>
              </a:ext>
            </a:extLst>
          </p:cNvPr>
          <p:cNvSpPr txBox="1"/>
          <p:nvPr/>
        </p:nvSpPr>
        <p:spPr>
          <a:xfrm>
            <a:off x="4965071" y="6033848"/>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sp>
        <p:nvSpPr>
          <p:cNvPr id="18" name="TextBox 17">
            <a:extLst>
              <a:ext uri="{FF2B5EF4-FFF2-40B4-BE49-F238E27FC236}">
                <a16:creationId xmlns:a16="http://schemas.microsoft.com/office/drawing/2014/main" id="{E6DACD0A-7B64-F761-0530-234CDA6A85E7}"/>
              </a:ext>
            </a:extLst>
          </p:cNvPr>
          <p:cNvSpPr txBox="1"/>
          <p:nvPr/>
        </p:nvSpPr>
        <p:spPr>
          <a:xfrm>
            <a:off x="6424767" y="6038455"/>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cxnSp>
        <p:nvCxnSpPr>
          <p:cNvPr id="19" name="Straight Connector 18">
            <a:extLst>
              <a:ext uri="{FF2B5EF4-FFF2-40B4-BE49-F238E27FC236}">
                <a16:creationId xmlns:a16="http://schemas.microsoft.com/office/drawing/2014/main" id="{863A2F39-0141-7A93-AAC8-457C59C494B4}"/>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DA60E312-D692-3AEA-6EBB-691AA0CEE1DA}"/>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33" name="TextBox 32">
            <a:extLst>
              <a:ext uri="{FF2B5EF4-FFF2-40B4-BE49-F238E27FC236}">
                <a16:creationId xmlns:a16="http://schemas.microsoft.com/office/drawing/2014/main" id="{EED22148-3573-70EE-9702-07433D052C3A}"/>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Tree>
    <p:extLst>
      <p:ext uri="{BB962C8B-B14F-4D97-AF65-F5344CB8AC3E}">
        <p14:creationId xmlns:p14="http://schemas.microsoft.com/office/powerpoint/2010/main" val="26749451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49F549-A272-B5DB-3D65-C9B55B471F24}"/>
            </a:ext>
          </a:extLst>
        </p:cNvPr>
        <p:cNvGrpSpPr/>
        <p:nvPr/>
      </p:nvGrpSpPr>
      <p:grpSpPr>
        <a:xfrm>
          <a:off x="0" y="0"/>
          <a:ext cx="0" cy="0"/>
          <a:chOff x="0" y="0"/>
          <a:chExt cx="0" cy="0"/>
        </a:xfrm>
      </p:grpSpPr>
      <p:sp>
        <p:nvSpPr>
          <p:cNvPr id="56" name="Oval 55">
            <a:extLst>
              <a:ext uri="{FF2B5EF4-FFF2-40B4-BE49-F238E27FC236}">
                <a16:creationId xmlns:a16="http://schemas.microsoft.com/office/drawing/2014/main" id="{130E72D2-3E18-397D-25A2-579F9AC1DA00}"/>
              </a:ext>
            </a:extLst>
          </p:cNvPr>
          <p:cNvSpPr/>
          <p:nvPr/>
        </p:nvSpPr>
        <p:spPr>
          <a:xfrm>
            <a:off x="8208295" y="3669096"/>
            <a:ext cx="1318849" cy="1207947"/>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1F500830-B575-B6DE-3E65-579EF6BA7214}"/>
              </a:ext>
            </a:extLst>
          </p:cNvPr>
          <p:cNvSpPr/>
          <p:nvPr/>
        </p:nvSpPr>
        <p:spPr>
          <a:xfrm>
            <a:off x="6596827" y="1121205"/>
            <a:ext cx="1318849" cy="1207947"/>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593AF74A-A4F4-5843-DFC8-55AE55B619CA}"/>
              </a:ext>
            </a:extLst>
          </p:cNvPr>
          <p:cNvSpPr/>
          <p:nvPr/>
        </p:nvSpPr>
        <p:spPr>
          <a:xfrm>
            <a:off x="4301988" y="1125454"/>
            <a:ext cx="1318849" cy="1207947"/>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7BDD6BC6-7879-E7EC-577E-7D2F8038C073}"/>
              </a:ext>
            </a:extLst>
          </p:cNvPr>
          <p:cNvSpPr/>
          <p:nvPr/>
        </p:nvSpPr>
        <p:spPr>
          <a:xfrm>
            <a:off x="2696187" y="3065123"/>
            <a:ext cx="1318849" cy="1207947"/>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5FAC055-6E79-15BA-D00D-31DA75DDC928}"/>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A8A834-9B6A-168D-CC1A-5F578A44AD77}"/>
              </a:ext>
            </a:extLst>
          </p:cNvPr>
          <p:cNvSpPr>
            <a:spLocks noGrp="1"/>
          </p:cNvSpPr>
          <p:nvPr>
            <p:ph type="title"/>
          </p:nvPr>
        </p:nvSpPr>
        <p:spPr>
          <a:xfrm>
            <a:off x="-1" y="0"/>
            <a:ext cx="12044363" cy="819599"/>
          </a:xfrm>
        </p:spPr>
        <p:txBody>
          <a:bodyPr/>
          <a:lstStyle/>
          <a:p>
            <a:r>
              <a:rPr lang="en-US" b="1" dirty="0"/>
              <a:t>Culture change curve: time to adoption</a:t>
            </a:r>
          </a:p>
        </p:txBody>
      </p:sp>
      <p:sp>
        <p:nvSpPr>
          <p:cNvPr id="10" name="TextBox 9">
            <a:extLst>
              <a:ext uri="{FF2B5EF4-FFF2-40B4-BE49-F238E27FC236}">
                <a16:creationId xmlns:a16="http://schemas.microsoft.com/office/drawing/2014/main" id="{51AFF777-6B65-78E8-7750-94F14B70AF52}"/>
              </a:ext>
            </a:extLst>
          </p:cNvPr>
          <p:cNvSpPr txBox="1"/>
          <p:nvPr/>
        </p:nvSpPr>
        <p:spPr>
          <a:xfrm>
            <a:off x="5537879" y="6433215"/>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7BADB7A8-6961-B5AE-872E-88692E4DDAFE}"/>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5122F391-5F09-22D2-593C-07BC9E725B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07FF0B84-FFCF-830C-5C32-4075AD7B177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5E115D52-C588-0041-B946-90D205516444}"/>
              </a:ext>
            </a:extLst>
          </p:cNvPr>
          <p:cNvSpPr>
            <a:spLocks noGrp="1"/>
          </p:cNvSpPr>
          <p:nvPr>
            <p:ph type="sldNum" sz="quarter" idx="12"/>
          </p:nvPr>
        </p:nvSpPr>
        <p:spPr/>
        <p:txBody>
          <a:bodyPr/>
          <a:lstStyle/>
          <a:p>
            <a:fld id="{D292B180-B274-DE43-B36F-C827C7616C05}" type="slidenum">
              <a:rPr lang="en-US" smtClean="0"/>
              <a:t>55</a:t>
            </a:fld>
            <a:endParaRPr lang="en-US" dirty="0"/>
          </a:p>
        </p:txBody>
      </p:sp>
      <p:grpSp>
        <p:nvGrpSpPr>
          <p:cNvPr id="5" name="Group 4">
            <a:extLst>
              <a:ext uri="{FF2B5EF4-FFF2-40B4-BE49-F238E27FC236}">
                <a16:creationId xmlns:a16="http://schemas.microsoft.com/office/drawing/2014/main" id="{BAC6C3C8-0FED-05FB-E64E-CD175CE44BA3}"/>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3EA81BF1-B318-56EB-B130-9B123052D9F0}"/>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496D4A26-D5A7-C14E-C660-CCBD39920A93}"/>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4E303451-8383-7D3F-52F9-645AADB0AF8B}"/>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481EADE8-5E3D-CDAC-1949-5D4CB7763825}"/>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6BF42A4A-0C9A-26D2-126A-50FB3598DC51}"/>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CDFE50DD-47C0-D316-5C72-32A563AA1DA8}"/>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AE035BE8-DA93-4D4E-A7C4-B6B8AB938A65}"/>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sp>
        <p:nvSpPr>
          <p:cNvPr id="36" name="TextBox 35">
            <a:extLst>
              <a:ext uri="{FF2B5EF4-FFF2-40B4-BE49-F238E27FC236}">
                <a16:creationId xmlns:a16="http://schemas.microsoft.com/office/drawing/2014/main" id="{99519505-86A4-BBD4-F532-8C31790B914B}"/>
              </a:ext>
            </a:extLst>
          </p:cNvPr>
          <p:cNvSpPr txBox="1"/>
          <p:nvPr/>
        </p:nvSpPr>
        <p:spPr>
          <a:xfrm>
            <a:off x="2794274" y="3303574"/>
            <a:ext cx="1123834" cy="646331"/>
          </a:xfrm>
          <a:prstGeom prst="rect">
            <a:avLst/>
          </a:prstGeom>
          <a:noFill/>
        </p:spPr>
        <p:txBody>
          <a:bodyPr wrap="none" rtlCol="0">
            <a:spAutoFit/>
          </a:bodyPr>
          <a:lstStyle/>
          <a:p>
            <a:pPr algn="ctr"/>
            <a:r>
              <a:rPr lang="en-US" b="1" dirty="0"/>
              <a:t>Early </a:t>
            </a:r>
          </a:p>
          <a:p>
            <a:pPr algn="ctr"/>
            <a:r>
              <a:rPr lang="en-US" b="1" dirty="0"/>
              <a:t>adopters</a:t>
            </a:r>
          </a:p>
        </p:txBody>
      </p:sp>
      <p:sp>
        <p:nvSpPr>
          <p:cNvPr id="37" name="TextBox 36">
            <a:extLst>
              <a:ext uri="{FF2B5EF4-FFF2-40B4-BE49-F238E27FC236}">
                <a16:creationId xmlns:a16="http://schemas.microsoft.com/office/drawing/2014/main" id="{51645E01-6672-36B2-F1F0-D96953CAD5FD}"/>
              </a:ext>
            </a:extLst>
          </p:cNvPr>
          <p:cNvSpPr txBox="1"/>
          <p:nvPr/>
        </p:nvSpPr>
        <p:spPr>
          <a:xfrm>
            <a:off x="4410086" y="1388552"/>
            <a:ext cx="1055097" cy="646331"/>
          </a:xfrm>
          <a:prstGeom prst="rect">
            <a:avLst/>
          </a:prstGeom>
          <a:noFill/>
        </p:spPr>
        <p:txBody>
          <a:bodyPr wrap="none" rtlCol="0">
            <a:spAutoFit/>
          </a:bodyPr>
          <a:lstStyle/>
          <a:p>
            <a:pPr algn="ctr"/>
            <a:r>
              <a:rPr lang="en-US" b="1" dirty="0"/>
              <a:t>Early </a:t>
            </a:r>
          </a:p>
          <a:p>
            <a:pPr algn="ctr"/>
            <a:r>
              <a:rPr lang="en-US" b="1" dirty="0"/>
              <a:t>majority</a:t>
            </a:r>
          </a:p>
        </p:txBody>
      </p:sp>
      <p:sp>
        <p:nvSpPr>
          <p:cNvPr id="38" name="TextBox 37">
            <a:extLst>
              <a:ext uri="{FF2B5EF4-FFF2-40B4-BE49-F238E27FC236}">
                <a16:creationId xmlns:a16="http://schemas.microsoft.com/office/drawing/2014/main" id="{2DE4FDFF-009A-AC23-C5C2-91313123EAFE}"/>
              </a:ext>
            </a:extLst>
          </p:cNvPr>
          <p:cNvSpPr txBox="1"/>
          <p:nvPr/>
        </p:nvSpPr>
        <p:spPr>
          <a:xfrm>
            <a:off x="6728702" y="1338459"/>
            <a:ext cx="1055097" cy="646331"/>
          </a:xfrm>
          <a:prstGeom prst="rect">
            <a:avLst/>
          </a:prstGeom>
          <a:noFill/>
        </p:spPr>
        <p:txBody>
          <a:bodyPr wrap="none" rtlCol="0">
            <a:spAutoFit/>
          </a:bodyPr>
          <a:lstStyle/>
          <a:p>
            <a:pPr algn="ctr"/>
            <a:r>
              <a:rPr lang="en-US" b="1" dirty="0"/>
              <a:t>Late </a:t>
            </a:r>
          </a:p>
          <a:p>
            <a:pPr algn="ctr"/>
            <a:r>
              <a:rPr lang="en-US" b="1" dirty="0"/>
              <a:t>majority</a:t>
            </a:r>
          </a:p>
        </p:txBody>
      </p:sp>
      <p:sp>
        <p:nvSpPr>
          <p:cNvPr id="39" name="TextBox 38">
            <a:extLst>
              <a:ext uri="{FF2B5EF4-FFF2-40B4-BE49-F238E27FC236}">
                <a16:creationId xmlns:a16="http://schemas.microsoft.com/office/drawing/2014/main" id="{8E4B1F3F-15D6-C940-7A02-CB6EB266D2AD}"/>
              </a:ext>
            </a:extLst>
          </p:cNvPr>
          <p:cNvSpPr txBox="1"/>
          <p:nvPr/>
        </p:nvSpPr>
        <p:spPr>
          <a:xfrm>
            <a:off x="8328677" y="4075673"/>
            <a:ext cx="1130631" cy="369332"/>
          </a:xfrm>
          <a:prstGeom prst="rect">
            <a:avLst/>
          </a:prstGeom>
          <a:noFill/>
        </p:spPr>
        <p:txBody>
          <a:bodyPr wrap="none" rtlCol="0">
            <a:spAutoFit/>
          </a:bodyPr>
          <a:lstStyle/>
          <a:p>
            <a:r>
              <a:rPr lang="en-US" b="1" dirty="0"/>
              <a:t>Laggards</a:t>
            </a:r>
          </a:p>
        </p:txBody>
      </p:sp>
      <p:cxnSp>
        <p:nvCxnSpPr>
          <p:cNvPr id="41" name="Straight Connector 40">
            <a:extLst>
              <a:ext uri="{FF2B5EF4-FFF2-40B4-BE49-F238E27FC236}">
                <a16:creationId xmlns:a16="http://schemas.microsoft.com/office/drawing/2014/main" id="{8338DAD5-EFB5-B983-42EF-5FE15B237794}"/>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4" name="TextBox 3">
            <a:extLst>
              <a:ext uri="{FF2B5EF4-FFF2-40B4-BE49-F238E27FC236}">
                <a16:creationId xmlns:a16="http://schemas.microsoft.com/office/drawing/2014/main" id="{DA2B3BFC-9365-CF02-2031-F3A7F6C97673}"/>
              </a:ext>
            </a:extLst>
          </p:cNvPr>
          <p:cNvSpPr txBox="1"/>
          <p:nvPr/>
        </p:nvSpPr>
        <p:spPr>
          <a:xfrm>
            <a:off x="2297240" y="6033848"/>
            <a:ext cx="688009" cy="369332"/>
          </a:xfrm>
          <a:prstGeom prst="rect">
            <a:avLst/>
          </a:prstGeom>
          <a:noFill/>
        </p:spPr>
        <p:txBody>
          <a:bodyPr wrap="none" rtlCol="0">
            <a:spAutoFit/>
          </a:bodyPr>
          <a:lstStyle/>
          <a:p>
            <a:r>
              <a:rPr lang="en-US" dirty="0">
                <a:solidFill>
                  <a:schemeClr val="tx1">
                    <a:lumMod val="65000"/>
                    <a:lumOff val="35000"/>
                  </a:schemeClr>
                </a:solidFill>
              </a:rPr>
              <a:t>2.5%</a:t>
            </a:r>
          </a:p>
        </p:txBody>
      </p:sp>
      <p:sp>
        <p:nvSpPr>
          <p:cNvPr id="8" name="TextBox 7">
            <a:extLst>
              <a:ext uri="{FF2B5EF4-FFF2-40B4-BE49-F238E27FC236}">
                <a16:creationId xmlns:a16="http://schemas.microsoft.com/office/drawing/2014/main" id="{C2B155E3-D0C2-82F4-0EB3-5AE5178CEB3F}"/>
              </a:ext>
            </a:extLst>
          </p:cNvPr>
          <p:cNvSpPr txBox="1"/>
          <p:nvPr/>
        </p:nvSpPr>
        <p:spPr>
          <a:xfrm>
            <a:off x="3695414" y="6028506"/>
            <a:ext cx="811441" cy="369332"/>
          </a:xfrm>
          <a:prstGeom prst="rect">
            <a:avLst/>
          </a:prstGeom>
          <a:noFill/>
        </p:spPr>
        <p:txBody>
          <a:bodyPr wrap="none" rtlCol="0">
            <a:spAutoFit/>
          </a:bodyPr>
          <a:lstStyle/>
          <a:p>
            <a:r>
              <a:rPr lang="en-US" dirty="0">
                <a:solidFill>
                  <a:schemeClr val="tx1">
                    <a:lumMod val="65000"/>
                    <a:lumOff val="35000"/>
                  </a:schemeClr>
                </a:solidFill>
              </a:rPr>
              <a:t>13.5%</a:t>
            </a:r>
          </a:p>
        </p:txBody>
      </p:sp>
      <p:sp>
        <p:nvSpPr>
          <p:cNvPr id="16" name="TextBox 15">
            <a:extLst>
              <a:ext uri="{FF2B5EF4-FFF2-40B4-BE49-F238E27FC236}">
                <a16:creationId xmlns:a16="http://schemas.microsoft.com/office/drawing/2014/main" id="{626EC25C-59DD-0485-E617-401AC096121F}"/>
              </a:ext>
            </a:extLst>
          </p:cNvPr>
          <p:cNvSpPr txBox="1"/>
          <p:nvPr/>
        </p:nvSpPr>
        <p:spPr>
          <a:xfrm>
            <a:off x="8489335" y="6029004"/>
            <a:ext cx="622286" cy="369332"/>
          </a:xfrm>
          <a:prstGeom prst="rect">
            <a:avLst/>
          </a:prstGeom>
          <a:noFill/>
        </p:spPr>
        <p:txBody>
          <a:bodyPr wrap="none" rtlCol="0">
            <a:spAutoFit/>
          </a:bodyPr>
          <a:lstStyle/>
          <a:p>
            <a:r>
              <a:rPr lang="en-US" dirty="0">
                <a:solidFill>
                  <a:schemeClr val="tx1">
                    <a:lumMod val="65000"/>
                    <a:lumOff val="35000"/>
                  </a:schemeClr>
                </a:solidFill>
              </a:rPr>
              <a:t>16%</a:t>
            </a:r>
          </a:p>
        </p:txBody>
      </p:sp>
      <p:sp>
        <p:nvSpPr>
          <p:cNvPr id="17" name="TextBox 16">
            <a:extLst>
              <a:ext uri="{FF2B5EF4-FFF2-40B4-BE49-F238E27FC236}">
                <a16:creationId xmlns:a16="http://schemas.microsoft.com/office/drawing/2014/main" id="{200E3665-6F01-DBE1-895B-5002667A3C59}"/>
              </a:ext>
            </a:extLst>
          </p:cNvPr>
          <p:cNvSpPr txBox="1"/>
          <p:nvPr/>
        </p:nvSpPr>
        <p:spPr>
          <a:xfrm>
            <a:off x="4965071" y="6033848"/>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sp>
        <p:nvSpPr>
          <p:cNvPr id="18" name="TextBox 17">
            <a:extLst>
              <a:ext uri="{FF2B5EF4-FFF2-40B4-BE49-F238E27FC236}">
                <a16:creationId xmlns:a16="http://schemas.microsoft.com/office/drawing/2014/main" id="{25C92B0A-B736-BF5D-A635-EB440F80B134}"/>
              </a:ext>
            </a:extLst>
          </p:cNvPr>
          <p:cNvSpPr txBox="1"/>
          <p:nvPr/>
        </p:nvSpPr>
        <p:spPr>
          <a:xfrm>
            <a:off x="6424767" y="6038455"/>
            <a:ext cx="622286" cy="369332"/>
          </a:xfrm>
          <a:prstGeom prst="rect">
            <a:avLst/>
          </a:prstGeom>
          <a:noFill/>
        </p:spPr>
        <p:txBody>
          <a:bodyPr wrap="none" rtlCol="0">
            <a:spAutoFit/>
          </a:bodyPr>
          <a:lstStyle/>
          <a:p>
            <a:r>
              <a:rPr lang="en-US" dirty="0">
                <a:solidFill>
                  <a:schemeClr val="tx1">
                    <a:lumMod val="65000"/>
                    <a:lumOff val="35000"/>
                  </a:schemeClr>
                </a:solidFill>
              </a:rPr>
              <a:t>34%</a:t>
            </a:r>
          </a:p>
        </p:txBody>
      </p:sp>
      <p:cxnSp>
        <p:nvCxnSpPr>
          <p:cNvPr id="19" name="Straight Connector 18">
            <a:extLst>
              <a:ext uri="{FF2B5EF4-FFF2-40B4-BE49-F238E27FC236}">
                <a16:creationId xmlns:a16="http://schemas.microsoft.com/office/drawing/2014/main" id="{3799C256-3634-8DF3-2E4C-FBFF4134CC91}"/>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B91AE334-9893-3A17-4CC9-9A08C2CA0CAF}"/>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20" name="TextBox 19">
            <a:extLst>
              <a:ext uri="{FF2B5EF4-FFF2-40B4-BE49-F238E27FC236}">
                <a16:creationId xmlns:a16="http://schemas.microsoft.com/office/drawing/2014/main" id="{4F3AD58F-CD3C-B020-C968-491F256D42FB}"/>
              </a:ext>
            </a:extLst>
          </p:cNvPr>
          <p:cNvSpPr txBox="1"/>
          <p:nvPr/>
        </p:nvSpPr>
        <p:spPr>
          <a:xfrm>
            <a:off x="9572649" y="3870169"/>
            <a:ext cx="2601981" cy="646331"/>
          </a:xfrm>
          <a:prstGeom prst="rect">
            <a:avLst/>
          </a:prstGeom>
          <a:solidFill>
            <a:srgbClr val="C00000">
              <a:alpha val="19000"/>
            </a:srgbClr>
          </a:solidFill>
        </p:spPr>
        <p:txBody>
          <a:bodyPr wrap="square" rtlCol="0">
            <a:spAutoFit/>
          </a:bodyPr>
          <a:lstStyle/>
          <a:p>
            <a:r>
              <a:rPr lang="en-US" dirty="0"/>
              <a:t>Adopt practice when a </a:t>
            </a:r>
            <a:r>
              <a:rPr lang="en-US" b="1" dirty="0"/>
              <a:t>policy requires </a:t>
            </a:r>
            <a:r>
              <a:rPr lang="en-US" dirty="0"/>
              <a:t>change</a:t>
            </a:r>
          </a:p>
        </p:txBody>
      </p:sp>
      <p:sp>
        <p:nvSpPr>
          <p:cNvPr id="27" name="TextBox 26">
            <a:extLst>
              <a:ext uri="{FF2B5EF4-FFF2-40B4-BE49-F238E27FC236}">
                <a16:creationId xmlns:a16="http://schemas.microsoft.com/office/drawing/2014/main" id="{DA4FA5AB-F103-5569-C05A-1B3D1481D3A0}"/>
              </a:ext>
            </a:extLst>
          </p:cNvPr>
          <p:cNvSpPr txBox="1"/>
          <p:nvPr/>
        </p:nvSpPr>
        <p:spPr>
          <a:xfrm>
            <a:off x="73107" y="6534921"/>
            <a:ext cx="6484401"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a:t>
            </a:r>
          </a:p>
        </p:txBody>
      </p:sp>
      <p:sp>
        <p:nvSpPr>
          <p:cNvPr id="33" name="TextBox 32">
            <a:extLst>
              <a:ext uri="{FF2B5EF4-FFF2-40B4-BE49-F238E27FC236}">
                <a16:creationId xmlns:a16="http://schemas.microsoft.com/office/drawing/2014/main" id="{60062656-6602-51B2-0C78-8815AB0690F2}"/>
              </a:ext>
            </a:extLst>
          </p:cNvPr>
          <p:cNvSpPr txBox="1"/>
          <p:nvPr/>
        </p:nvSpPr>
        <p:spPr>
          <a:xfrm>
            <a:off x="7950987" y="1383319"/>
            <a:ext cx="3043069" cy="646331"/>
          </a:xfrm>
          <a:prstGeom prst="rect">
            <a:avLst/>
          </a:prstGeom>
          <a:solidFill>
            <a:schemeClr val="accent2">
              <a:alpha val="21062"/>
            </a:schemeClr>
          </a:solidFill>
        </p:spPr>
        <p:txBody>
          <a:bodyPr wrap="square" rtlCol="0">
            <a:spAutoFit/>
          </a:bodyPr>
          <a:lstStyle/>
          <a:p>
            <a:r>
              <a:rPr lang="en-US" dirty="0"/>
              <a:t>Adopt when practice is already </a:t>
            </a:r>
            <a:r>
              <a:rPr lang="en-US" b="1" dirty="0"/>
              <a:t>mainstream</a:t>
            </a:r>
          </a:p>
        </p:txBody>
      </p:sp>
      <p:sp>
        <p:nvSpPr>
          <p:cNvPr id="34" name="TextBox 33">
            <a:extLst>
              <a:ext uri="{FF2B5EF4-FFF2-40B4-BE49-F238E27FC236}">
                <a16:creationId xmlns:a16="http://schemas.microsoft.com/office/drawing/2014/main" id="{CDBFF326-EDBE-6853-FD4C-04AF5F326016}"/>
              </a:ext>
            </a:extLst>
          </p:cNvPr>
          <p:cNvSpPr txBox="1"/>
          <p:nvPr/>
        </p:nvSpPr>
        <p:spPr>
          <a:xfrm>
            <a:off x="1209544" y="1323538"/>
            <a:ext cx="3057133" cy="646331"/>
          </a:xfrm>
          <a:prstGeom prst="rect">
            <a:avLst/>
          </a:prstGeom>
          <a:solidFill>
            <a:srgbClr val="FFC000">
              <a:alpha val="28000"/>
            </a:srgbClr>
          </a:solidFill>
        </p:spPr>
        <p:txBody>
          <a:bodyPr wrap="square" rtlCol="0">
            <a:spAutoFit/>
          </a:bodyPr>
          <a:lstStyle/>
          <a:p>
            <a:r>
              <a:rPr lang="en-US" dirty="0"/>
              <a:t>More </a:t>
            </a:r>
            <a:r>
              <a:rPr lang="en-US" b="1" dirty="0"/>
              <a:t>cautious </a:t>
            </a:r>
            <a:r>
              <a:rPr lang="en-US" dirty="0"/>
              <a:t>and </a:t>
            </a:r>
            <a:r>
              <a:rPr lang="en-US" b="1" dirty="0"/>
              <a:t>critical </a:t>
            </a:r>
            <a:r>
              <a:rPr lang="en-US" dirty="0"/>
              <a:t>before adopting practice</a:t>
            </a:r>
          </a:p>
        </p:txBody>
      </p:sp>
      <p:sp>
        <p:nvSpPr>
          <p:cNvPr id="44" name="TextBox 43">
            <a:extLst>
              <a:ext uri="{FF2B5EF4-FFF2-40B4-BE49-F238E27FC236}">
                <a16:creationId xmlns:a16="http://schemas.microsoft.com/office/drawing/2014/main" id="{618C0105-188B-A1D7-690E-8629A800FD3E}"/>
              </a:ext>
            </a:extLst>
          </p:cNvPr>
          <p:cNvSpPr txBox="1"/>
          <p:nvPr/>
        </p:nvSpPr>
        <p:spPr>
          <a:xfrm>
            <a:off x="922648" y="3457027"/>
            <a:ext cx="1246366" cy="1200329"/>
          </a:xfrm>
          <a:prstGeom prst="rect">
            <a:avLst/>
          </a:prstGeom>
          <a:solidFill>
            <a:srgbClr val="45B08B">
              <a:alpha val="23426"/>
            </a:srgbClr>
          </a:solidFill>
        </p:spPr>
        <p:txBody>
          <a:bodyPr wrap="square" rtlCol="0">
            <a:spAutoFit/>
          </a:bodyPr>
          <a:lstStyle/>
          <a:p>
            <a:r>
              <a:rPr lang="en-US" b="1" dirty="0"/>
              <a:t>First</a:t>
            </a:r>
            <a:r>
              <a:rPr lang="en-US" dirty="0"/>
              <a:t> ones to try out prototype/practice </a:t>
            </a:r>
          </a:p>
        </p:txBody>
      </p:sp>
      <p:sp>
        <p:nvSpPr>
          <p:cNvPr id="45" name="TextBox 44">
            <a:extLst>
              <a:ext uri="{FF2B5EF4-FFF2-40B4-BE49-F238E27FC236}">
                <a16:creationId xmlns:a16="http://schemas.microsoft.com/office/drawing/2014/main" id="{91212130-14B5-0685-21C0-9ABCD8A8476C}"/>
              </a:ext>
            </a:extLst>
          </p:cNvPr>
          <p:cNvSpPr txBox="1"/>
          <p:nvPr/>
        </p:nvSpPr>
        <p:spPr>
          <a:xfrm>
            <a:off x="1323712" y="2377265"/>
            <a:ext cx="2619439" cy="646331"/>
          </a:xfrm>
          <a:prstGeom prst="rect">
            <a:avLst/>
          </a:prstGeom>
          <a:solidFill>
            <a:srgbClr val="92D050">
              <a:alpha val="25036"/>
            </a:srgbClr>
          </a:solidFill>
        </p:spPr>
        <p:txBody>
          <a:bodyPr wrap="square" rtlCol="0">
            <a:spAutoFit/>
          </a:bodyPr>
          <a:lstStyle/>
          <a:p>
            <a:r>
              <a:rPr lang="en-US" b="1" dirty="0"/>
              <a:t>Curious</a:t>
            </a:r>
            <a:r>
              <a:rPr lang="en-US" dirty="0"/>
              <a:t> to see </a:t>
            </a:r>
            <a:r>
              <a:rPr lang="en-US" b="1" dirty="0"/>
              <a:t>benefits</a:t>
            </a:r>
            <a:r>
              <a:rPr lang="en-US" dirty="0"/>
              <a:t> before adopting practice </a:t>
            </a:r>
          </a:p>
        </p:txBody>
      </p:sp>
    </p:spTree>
    <p:extLst>
      <p:ext uri="{BB962C8B-B14F-4D97-AF65-F5344CB8AC3E}">
        <p14:creationId xmlns:p14="http://schemas.microsoft.com/office/powerpoint/2010/main" val="159496137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9577D8-E526-3216-B405-347CE15223D4}"/>
            </a:ext>
          </a:extLst>
        </p:cNvPr>
        <p:cNvGrpSpPr/>
        <p:nvPr/>
      </p:nvGrpSpPr>
      <p:grpSpPr>
        <a:xfrm>
          <a:off x="0" y="0"/>
          <a:ext cx="0" cy="0"/>
          <a:chOff x="0" y="0"/>
          <a:chExt cx="0" cy="0"/>
        </a:xfrm>
      </p:grpSpPr>
      <p:sp>
        <p:nvSpPr>
          <p:cNvPr id="56" name="Oval 55">
            <a:extLst>
              <a:ext uri="{FF2B5EF4-FFF2-40B4-BE49-F238E27FC236}">
                <a16:creationId xmlns:a16="http://schemas.microsoft.com/office/drawing/2014/main" id="{9B548885-E8FD-601D-C42D-A556096642EE}"/>
              </a:ext>
            </a:extLst>
          </p:cNvPr>
          <p:cNvSpPr/>
          <p:nvPr/>
        </p:nvSpPr>
        <p:spPr>
          <a:xfrm>
            <a:off x="8208295" y="3669096"/>
            <a:ext cx="1318849" cy="1207947"/>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A257FD86-1D83-F449-7781-3A77D5988D76}"/>
              </a:ext>
            </a:extLst>
          </p:cNvPr>
          <p:cNvSpPr/>
          <p:nvPr/>
        </p:nvSpPr>
        <p:spPr>
          <a:xfrm>
            <a:off x="6596827" y="1121205"/>
            <a:ext cx="1318849" cy="1207947"/>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ACDA72AE-2849-EC7C-BA67-728F71CE18BA}"/>
              </a:ext>
            </a:extLst>
          </p:cNvPr>
          <p:cNvSpPr/>
          <p:nvPr/>
        </p:nvSpPr>
        <p:spPr>
          <a:xfrm>
            <a:off x="4301988" y="1125454"/>
            <a:ext cx="1318849" cy="1207947"/>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A10CFB82-2216-F6AE-C27B-4DCE63ECB96E}"/>
              </a:ext>
            </a:extLst>
          </p:cNvPr>
          <p:cNvSpPr/>
          <p:nvPr/>
        </p:nvSpPr>
        <p:spPr>
          <a:xfrm>
            <a:off x="2696187" y="3065123"/>
            <a:ext cx="1318849" cy="1207947"/>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C4FE060F-4AA1-240E-7EC3-11CE5B728BDC}"/>
              </a:ext>
            </a:extLst>
          </p:cNvPr>
          <p:cNvSpPr/>
          <p:nvPr/>
        </p:nvSpPr>
        <p:spPr>
          <a:xfrm>
            <a:off x="1352942" y="4687254"/>
            <a:ext cx="1318849" cy="1207947"/>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A070D2-D8D2-39B8-705A-E4F8AC1E4383}"/>
              </a:ext>
            </a:extLst>
          </p:cNvPr>
          <p:cNvSpPr>
            <a:spLocks noGrp="1"/>
          </p:cNvSpPr>
          <p:nvPr>
            <p:ph type="title"/>
          </p:nvPr>
        </p:nvSpPr>
        <p:spPr>
          <a:xfrm>
            <a:off x="0" y="0"/>
            <a:ext cx="12044363" cy="819599"/>
          </a:xfrm>
        </p:spPr>
        <p:txBody>
          <a:bodyPr/>
          <a:lstStyle/>
          <a:p>
            <a:r>
              <a:rPr lang="en-US" b="1" dirty="0"/>
              <a:t>Communicating with different adopter types</a:t>
            </a:r>
          </a:p>
        </p:txBody>
      </p:sp>
      <p:sp>
        <p:nvSpPr>
          <p:cNvPr id="10" name="TextBox 9">
            <a:extLst>
              <a:ext uri="{FF2B5EF4-FFF2-40B4-BE49-F238E27FC236}">
                <a16:creationId xmlns:a16="http://schemas.microsoft.com/office/drawing/2014/main" id="{F66F088D-6396-0E0E-F255-B3027DB4529B}"/>
              </a:ext>
            </a:extLst>
          </p:cNvPr>
          <p:cNvSpPr txBox="1"/>
          <p:nvPr/>
        </p:nvSpPr>
        <p:spPr>
          <a:xfrm>
            <a:off x="11380559" y="5820783"/>
            <a:ext cx="811441" cy="369332"/>
          </a:xfrm>
          <a:prstGeom prst="rect">
            <a:avLst/>
          </a:prstGeom>
          <a:noFill/>
        </p:spPr>
        <p:txBody>
          <a:bodyPr wrap="square">
            <a:spAutoFit/>
          </a:bodyPr>
          <a:lstStyle/>
          <a:p>
            <a:r>
              <a:rPr lang="en-US" b="1" dirty="0"/>
              <a:t>Time </a:t>
            </a:r>
            <a:endParaRPr lang="en-US" dirty="0"/>
          </a:p>
        </p:txBody>
      </p:sp>
      <p:grpSp>
        <p:nvGrpSpPr>
          <p:cNvPr id="11" name="Group 10">
            <a:extLst>
              <a:ext uri="{FF2B5EF4-FFF2-40B4-BE49-F238E27FC236}">
                <a16:creationId xmlns:a16="http://schemas.microsoft.com/office/drawing/2014/main" id="{663B05E7-66E9-6C42-27B3-8D513D415957}"/>
              </a:ext>
            </a:extLst>
          </p:cNvPr>
          <p:cNvGrpSpPr/>
          <p:nvPr/>
        </p:nvGrpSpPr>
        <p:grpSpPr>
          <a:xfrm>
            <a:off x="10644280" y="6476875"/>
            <a:ext cx="1474613" cy="325672"/>
            <a:chOff x="19317" y="2690018"/>
            <a:chExt cx="11784755" cy="2025180"/>
          </a:xfrm>
        </p:grpSpPr>
        <p:pic>
          <p:nvPicPr>
            <p:cNvPr id="12" name="Picture 2">
              <a:extLst>
                <a:ext uri="{FF2B5EF4-FFF2-40B4-BE49-F238E27FC236}">
                  <a16:creationId xmlns:a16="http://schemas.microsoft.com/office/drawing/2014/main" id="{AEA4C687-A2ED-72AF-0C01-B113B1FD8CA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22649FA1-32AD-1EB2-0036-09472E26C8A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02D30BD4-A90B-7388-7198-B10665E74196}"/>
              </a:ext>
            </a:extLst>
          </p:cNvPr>
          <p:cNvSpPr>
            <a:spLocks noGrp="1"/>
          </p:cNvSpPr>
          <p:nvPr>
            <p:ph type="sldNum" sz="quarter" idx="12"/>
          </p:nvPr>
        </p:nvSpPr>
        <p:spPr/>
        <p:txBody>
          <a:bodyPr/>
          <a:lstStyle/>
          <a:p>
            <a:fld id="{D292B180-B274-DE43-B36F-C827C7616C05}" type="slidenum">
              <a:rPr lang="en-US" smtClean="0"/>
              <a:t>56</a:t>
            </a:fld>
            <a:endParaRPr lang="en-US" dirty="0"/>
          </a:p>
        </p:txBody>
      </p:sp>
      <p:grpSp>
        <p:nvGrpSpPr>
          <p:cNvPr id="5" name="Group 4">
            <a:extLst>
              <a:ext uri="{FF2B5EF4-FFF2-40B4-BE49-F238E27FC236}">
                <a16:creationId xmlns:a16="http://schemas.microsoft.com/office/drawing/2014/main" id="{1C81BB3A-85E2-2A18-131C-EB55F272A8FB}"/>
              </a:ext>
            </a:extLst>
          </p:cNvPr>
          <p:cNvGrpSpPr/>
          <p:nvPr/>
        </p:nvGrpSpPr>
        <p:grpSpPr>
          <a:xfrm>
            <a:off x="134023" y="1639937"/>
            <a:ext cx="11464855" cy="4632749"/>
            <a:chOff x="4373172" y="914401"/>
            <a:chExt cx="6620884" cy="5617758"/>
          </a:xfrm>
        </p:grpSpPr>
        <p:pic>
          <p:nvPicPr>
            <p:cNvPr id="6" name="Graphic 5" descr="Normal Distribution outline">
              <a:extLst>
                <a:ext uri="{FF2B5EF4-FFF2-40B4-BE49-F238E27FC236}">
                  <a16:creationId xmlns:a16="http://schemas.microsoft.com/office/drawing/2014/main" id="{A5EEB3F7-63D1-4FD8-FC08-103219E25580}"/>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7" name="Rectangle 6">
              <a:extLst>
                <a:ext uri="{FF2B5EF4-FFF2-40B4-BE49-F238E27FC236}">
                  <a16:creationId xmlns:a16="http://schemas.microsoft.com/office/drawing/2014/main" id="{28A4D612-7E1C-BFFE-B288-FBE9705767CE}"/>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5" name="Straight Connector 14">
            <a:extLst>
              <a:ext uri="{FF2B5EF4-FFF2-40B4-BE49-F238E27FC236}">
                <a16:creationId xmlns:a16="http://schemas.microsoft.com/office/drawing/2014/main" id="{B37E9735-5EAB-620C-E317-FEECE0F78A55}"/>
              </a:ext>
            </a:extLst>
          </p:cNvPr>
          <p:cNvCxnSpPr>
            <a:cxnSpLocks/>
          </p:cNvCxnSpPr>
          <p:nvPr/>
        </p:nvCxnSpPr>
        <p:spPr>
          <a:xfrm>
            <a:off x="5943600" y="2183036"/>
            <a:ext cx="0" cy="3847266"/>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1" name="Straight Connector 20">
            <a:extLst>
              <a:ext uri="{FF2B5EF4-FFF2-40B4-BE49-F238E27FC236}">
                <a16:creationId xmlns:a16="http://schemas.microsoft.com/office/drawing/2014/main" id="{96328205-0C8C-9F42-694B-E2BF96D7CD1B}"/>
              </a:ext>
            </a:extLst>
          </p:cNvPr>
          <p:cNvCxnSpPr>
            <a:cxnSpLocks/>
          </p:cNvCxnSpPr>
          <p:nvPr/>
        </p:nvCxnSpPr>
        <p:spPr>
          <a:xfrm>
            <a:off x="7447913" y="2777693"/>
            <a:ext cx="0" cy="3269611"/>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29" name="Straight Connector 28">
            <a:extLst>
              <a:ext uri="{FF2B5EF4-FFF2-40B4-BE49-F238E27FC236}">
                <a16:creationId xmlns:a16="http://schemas.microsoft.com/office/drawing/2014/main" id="{510CC3E0-AD34-8157-6D12-5DA7D7019D2F}"/>
              </a:ext>
            </a:extLst>
          </p:cNvPr>
          <p:cNvCxnSpPr>
            <a:cxnSpLocks/>
          </p:cNvCxnSpPr>
          <p:nvPr/>
        </p:nvCxnSpPr>
        <p:spPr>
          <a:xfrm>
            <a:off x="4546091" y="2777693"/>
            <a:ext cx="26993" cy="32526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30" name="Straight Connector 29">
            <a:extLst>
              <a:ext uri="{FF2B5EF4-FFF2-40B4-BE49-F238E27FC236}">
                <a16:creationId xmlns:a16="http://schemas.microsoft.com/office/drawing/2014/main" id="{F10E2852-BDAE-B81E-8381-EB9387AFA8D1}"/>
              </a:ext>
            </a:extLst>
          </p:cNvPr>
          <p:cNvCxnSpPr>
            <a:cxnSpLocks/>
          </p:cNvCxnSpPr>
          <p:nvPr/>
        </p:nvCxnSpPr>
        <p:spPr>
          <a:xfrm>
            <a:off x="3615608" y="4944594"/>
            <a:ext cx="0" cy="1085708"/>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014081C4-D656-0EAE-1394-5C15E3C26ECD}"/>
              </a:ext>
            </a:extLst>
          </p:cNvPr>
          <p:cNvSpPr txBox="1"/>
          <p:nvPr/>
        </p:nvSpPr>
        <p:spPr>
          <a:xfrm>
            <a:off x="1420152" y="5106561"/>
            <a:ext cx="1300356" cy="369332"/>
          </a:xfrm>
          <a:prstGeom prst="rect">
            <a:avLst/>
          </a:prstGeom>
          <a:noFill/>
        </p:spPr>
        <p:txBody>
          <a:bodyPr wrap="none" rtlCol="0">
            <a:spAutoFit/>
          </a:bodyPr>
          <a:lstStyle/>
          <a:p>
            <a:r>
              <a:rPr lang="en-US" b="1" dirty="0"/>
              <a:t>Innovators</a:t>
            </a:r>
          </a:p>
        </p:txBody>
      </p:sp>
      <p:sp>
        <p:nvSpPr>
          <p:cNvPr id="36" name="TextBox 35">
            <a:extLst>
              <a:ext uri="{FF2B5EF4-FFF2-40B4-BE49-F238E27FC236}">
                <a16:creationId xmlns:a16="http://schemas.microsoft.com/office/drawing/2014/main" id="{B8C515F4-04C8-30ED-CB25-E172C37CD437}"/>
              </a:ext>
            </a:extLst>
          </p:cNvPr>
          <p:cNvSpPr txBox="1"/>
          <p:nvPr/>
        </p:nvSpPr>
        <p:spPr>
          <a:xfrm>
            <a:off x="2794274" y="3303574"/>
            <a:ext cx="1123834" cy="646331"/>
          </a:xfrm>
          <a:prstGeom prst="rect">
            <a:avLst/>
          </a:prstGeom>
          <a:noFill/>
        </p:spPr>
        <p:txBody>
          <a:bodyPr wrap="none" rtlCol="0">
            <a:spAutoFit/>
          </a:bodyPr>
          <a:lstStyle/>
          <a:p>
            <a:pPr algn="ctr"/>
            <a:r>
              <a:rPr lang="en-US" b="1" dirty="0"/>
              <a:t>Early </a:t>
            </a:r>
          </a:p>
          <a:p>
            <a:pPr algn="ctr"/>
            <a:r>
              <a:rPr lang="en-US" b="1" dirty="0"/>
              <a:t>adopters</a:t>
            </a:r>
          </a:p>
        </p:txBody>
      </p:sp>
      <p:sp>
        <p:nvSpPr>
          <p:cNvPr id="37" name="TextBox 36">
            <a:extLst>
              <a:ext uri="{FF2B5EF4-FFF2-40B4-BE49-F238E27FC236}">
                <a16:creationId xmlns:a16="http://schemas.microsoft.com/office/drawing/2014/main" id="{44EDC22D-A735-7898-1550-189658624BA8}"/>
              </a:ext>
            </a:extLst>
          </p:cNvPr>
          <p:cNvSpPr txBox="1"/>
          <p:nvPr/>
        </p:nvSpPr>
        <p:spPr>
          <a:xfrm>
            <a:off x="4410086" y="1388552"/>
            <a:ext cx="1055097" cy="646331"/>
          </a:xfrm>
          <a:prstGeom prst="rect">
            <a:avLst/>
          </a:prstGeom>
          <a:noFill/>
        </p:spPr>
        <p:txBody>
          <a:bodyPr wrap="none" rtlCol="0">
            <a:spAutoFit/>
          </a:bodyPr>
          <a:lstStyle/>
          <a:p>
            <a:pPr algn="ctr"/>
            <a:r>
              <a:rPr lang="en-US" b="1" dirty="0"/>
              <a:t>Early </a:t>
            </a:r>
          </a:p>
          <a:p>
            <a:pPr algn="ctr"/>
            <a:r>
              <a:rPr lang="en-US" b="1" dirty="0"/>
              <a:t>majority</a:t>
            </a:r>
          </a:p>
        </p:txBody>
      </p:sp>
      <p:sp>
        <p:nvSpPr>
          <p:cNvPr id="38" name="TextBox 37">
            <a:extLst>
              <a:ext uri="{FF2B5EF4-FFF2-40B4-BE49-F238E27FC236}">
                <a16:creationId xmlns:a16="http://schemas.microsoft.com/office/drawing/2014/main" id="{D97A3963-E2F7-69F4-FBDF-7E037A11D6A0}"/>
              </a:ext>
            </a:extLst>
          </p:cNvPr>
          <p:cNvSpPr txBox="1"/>
          <p:nvPr/>
        </p:nvSpPr>
        <p:spPr>
          <a:xfrm>
            <a:off x="6728702" y="1338459"/>
            <a:ext cx="1055097" cy="646331"/>
          </a:xfrm>
          <a:prstGeom prst="rect">
            <a:avLst/>
          </a:prstGeom>
          <a:noFill/>
        </p:spPr>
        <p:txBody>
          <a:bodyPr wrap="none" rtlCol="0">
            <a:spAutoFit/>
          </a:bodyPr>
          <a:lstStyle/>
          <a:p>
            <a:pPr algn="ctr"/>
            <a:r>
              <a:rPr lang="en-US" b="1" dirty="0"/>
              <a:t>Late </a:t>
            </a:r>
          </a:p>
          <a:p>
            <a:pPr algn="ctr"/>
            <a:r>
              <a:rPr lang="en-US" b="1" dirty="0"/>
              <a:t>majority</a:t>
            </a:r>
          </a:p>
        </p:txBody>
      </p:sp>
      <p:sp>
        <p:nvSpPr>
          <p:cNvPr id="39" name="TextBox 38">
            <a:extLst>
              <a:ext uri="{FF2B5EF4-FFF2-40B4-BE49-F238E27FC236}">
                <a16:creationId xmlns:a16="http://schemas.microsoft.com/office/drawing/2014/main" id="{0C403267-4582-8479-8B06-82F96E146A14}"/>
              </a:ext>
            </a:extLst>
          </p:cNvPr>
          <p:cNvSpPr txBox="1"/>
          <p:nvPr/>
        </p:nvSpPr>
        <p:spPr>
          <a:xfrm>
            <a:off x="8328677" y="4075673"/>
            <a:ext cx="1130631" cy="369332"/>
          </a:xfrm>
          <a:prstGeom prst="rect">
            <a:avLst/>
          </a:prstGeom>
          <a:noFill/>
        </p:spPr>
        <p:txBody>
          <a:bodyPr wrap="none" rtlCol="0">
            <a:spAutoFit/>
          </a:bodyPr>
          <a:lstStyle/>
          <a:p>
            <a:r>
              <a:rPr lang="en-US" b="1" dirty="0"/>
              <a:t>Laggards</a:t>
            </a:r>
          </a:p>
        </p:txBody>
      </p:sp>
      <p:cxnSp>
        <p:nvCxnSpPr>
          <p:cNvPr id="41" name="Straight Connector 40">
            <a:extLst>
              <a:ext uri="{FF2B5EF4-FFF2-40B4-BE49-F238E27FC236}">
                <a16:creationId xmlns:a16="http://schemas.microsoft.com/office/drawing/2014/main" id="{C940394B-9359-1AC2-BC83-9E1441434B16}"/>
              </a:ext>
            </a:extLst>
          </p:cNvPr>
          <p:cNvCxnSpPr>
            <a:cxnSpLocks/>
          </p:cNvCxnSpPr>
          <p:nvPr/>
        </p:nvCxnSpPr>
        <p:spPr>
          <a:xfrm flipH="1">
            <a:off x="728867" y="6030302"/>
            <a:ext cx="10472533" cy="2909"/>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cxnSp>
        <p:nvCxnSpPr>
          <p:cNvPr id="19" name="Straight Connector 18">
            <a:extLst>
              <a:ext uri="{FF2B5EF4-FFF2-40B4-BE49-F238E27FC236}">
                <a16:creationId xmlns:a16="http://schemas.microsoft.com/office/drawing/2014/main" id="{96625EA8-8F4B-B851-182B-74E1957A2A32}"/>
              </a:ext>
            </a:extLst>
          </p:cNvPr>
          <p:cNvCxnSpPr>
            <a:cxnSpLocks/>
          </p:cNvCxnSpPr>
          <p:nvPr/>
        </p:nvCxnSpPr>
        <p:spPr>
          <a:xfrm>
            <a:off x="728867" y="1235034"/>
            <a:ext cx="0" cy="4828075"/>
          </a:xfrm>
          <a:prstGeom prst="line">
            <a:avLst/>
          </a:prstGeom>
          <a:ln w="57150">
            <a:solidFill>
              <a:schemeClr val="tx1"/>
            </a:solidFill>
          </a:ln>
        </p:spPr>
        <p:style>
          <a:lnRef idx="1">
            <a:schemeClr val="dk1"/>
          </a:lnRef>
          <a:fillRef idx="0">
            <a:schemeClr val="dk1"/>
          </a:fillRef>
          <a:effectRef idx="0">
            <a:schemeClr val="dk1"/>
          </a:effectRef>
          <a:fontRef idx="minor">
            <a:schemeClr val="tx1"/>
          </a:fontRef>
        </p:style>
      </p:cxnSp>
      <p:sp>
        <p:nvSpPr>
          <p:cNvPr id="32" name="TextBox 31">
            <a:extLst>
              <a:ext uri="{FF2B5EF4-FFF2-40B4-BE49-F238E27FC236}">
                <a16:creationId xmlns:a16="http://schemas.microsoft.com/office/drawing/2014/main" id="{F6664407-ABF3-FA3D-6217-930E24B1A3C5}"/>
              </a:ext>
            </a:extLst>
          </p:cNvPr>
          <p:cNvSpPr txBox="1"/>
          <p:nvPr/>
        </p:nvSpPr>
        <p:spPr>
          <a:xfrm rot="16200000">
            <a:off x="-1822212" y="3323495"/>
            <a:ext cx="4490257" cy="369332"/>
          </a:xfrm>
          <a:prstGeom prst="rect">
            <a:avLst/>
          </a:prstGeom>
          <a:noFill/>
        </p:spPr>
        <p:txBody>
          <a:bodyPr wrap="square">
            <a:spAutoFit/>
          </a:bodyPr>
          <a:lstStyle/>
          <a:p>
            <a:r>
              <a:rPr lang="en-US" b="1" dirty="0"/>
              <a:t>Adoption of an Open Science practice</a:t>
            </a:r>
            <a:endParaRPr lang="en-US" dirty="0"/>
          </a:p>
        </p:txBody>
      </p:sp>
      <p:sp>
        <p:nvSpPr>
          <p:cNvPr id="20" name="TextBox 19">
            <a:extLst>
              <a:ext uri="{FF2B5EF4-FFF2-40B4-BE49-F238E27FC236}">
                <a16:creationId xmlns:a16="http://schemas.microsoft.com/office/drawing/2014/main" id="{2B1E0DDA-32A5-E5E7-4F33-556BE0C61BE0}"/>
              </a:ext>
            </a:extLst>
          </p:cNvPr>
          <p:cNvSpPr txBox="1"/>
          <p:nvPr/>
        </p:nvSpPr>
        <p:spPr>
          <a:xfrm>
            <a:off x="9549130" y="3818024"/>
            <a:ext cx="1914003" cy="738664"/>
          </a:xfrm>
          <a:prstGeom prst="rect">
            <a:avLst/>
          </a:prstGeom>
          <a:solidFill>
            <a:srgbClr val="C00000">
              <a:alpha val="19000"/>
            </a:srgbClr>
          </a:solidFill>
        </p:spPr>
        <p:txBody>
          <a:bodyPr wrap="square" rtlCol="0">
            <a:spAutoFit/>
          </a:bodyPr>
          <a:lstStyle/>
          <a:p>
            <a:r>
              <a:rPr lang="en-US" sz="1400" dirty="0"/>
              <a:t>There is a policy in place now which requires X.</a:t>
            </a:r>
          </a:p>
        </p:txBody>
      </p:sp>
      <p:sp>
        <p:nvSpPr>
          <p:cNvPr id="27" name="TextBox 26">
            <a:extLst>
              <a:ext uri="{FF2B5EF4-FFF2-40B4-BE49-F238E27FC236}">
                <a16:creationId xmlns:a16="http://schemas.microsoft.com/office/drawing/2014/main" id="{6ABD4A63-21B9-6557-B27F-BF172E565879}"/>
              </a:ext>
            </a:extLst>
          </p:cNvPr>
          <p:cNvSpPr txBox="1"/>
          <p:nvPr/>
        </p:nvSpPr>
        <p:spPr>
          <a:xfrm>
            <a:off x="73107" y="6534921"/>
            <a:ext cx="8015816" cy="338554"/>
          </a:xfrm>
          <a:prstGeom prst="rect">
            <a:avLst/>
          </a:prstGeom>
          <a:noFill/>
        </p:spPr>
        <p:txBody>
          <a:bodyPr wrap="square" rtlCol="0">
            <a:spAutoFit/>
          </a:bodyPr>
          <a:lstStyle/>
          <a:p>
            <a:r>
              <a:rPr lang="en-US" sz="1600" dirty="0">
                <a:solidFill>
                  <a:schemeClr val="bg1">
                    <a:lumMod val="65000"/>
                  </a:schemeClr>
                </a:solidFill>
              </a:rPr>
              <a:t>Adaptation of diffusion of innovation model by Rogers (1983); Skelly &amp; Rusu (2023)</a:t>
            </a:r>
          </a:p>
        </p:txBody>
      </p:sp>
      <p:sp>
        <p:nvSpPr>
          <p:cNvPr id="33" name="TextBox 32">
            <a:extLst>
              <a:ext uri="{FF2B5EF4-FFF2-40B4-BE49-F238E27FC236}">
                <a16:creationId xmlns:a16="http://schemas.microsoft.com/office/drawing/2014/main" id="{1A785E35-299F-350C-DAE0-4F20668CE0FC}"/>
              </a:ext>
            </a:extLst>
          </p:cNvPr>
          <p:cNvSpPr txBox="1"/>
          <p:nvPr/>
        </p:nvSpPr>
        <p:spPr>
          <a:xfrm>
            <a:off x="7979603" y="1229777"/>
            <a:ext cx="2601981" cy="1600438"/>
          </a:xfrm>
          <a:prstGeom prst="rect">
            <a:avLst/>
          </a:prstGeom>
          <a:solidFill>
            <a:schemeClr val="accent2">
              <a:alpha val="21062"/>
            </a:schemeClr>
          </a:solidFill>
        </p:spPr>
        <p:txBody>
          <a:bodyPr wrap="square" rtlCol="0">
            <a:spAutoFit/>
          </a:bodyPr>
          <a:lstStyle/>
          <a:p>
            <a:r>
              <a:rPr lang="en-US" sz="1400" dirty="0"/>
              <a:t>65% of researcher are using this </a:t>
            </a:r>
            <a:r>
              <a:rPr lang="en-GB" sz="1400" dirty="0">
                <a:solidFill>
                  <a:schemeClr val="dk1"/>
                </a:solidFill>
              </a:rPr>
              <a:t>Open Science </a:t>
            </a:r>
            <a:r>
              <a:rPr lang="en-US" sz="1400" dirty="0"/>
              <a:t>tool/practice. There is a policy coming soon that you’ll have to comply with. Learn about the tool/practice now ahead of the policy.</a:t>
            </a:r>
            <a:endParaRPr lang="en-US" sz="1400" b="1" dirty="0"/>
          </a:p>
        </p:txBody>
      </p:sp>
      <p:sp>
        <p:nvSpPr>
          <p:cNvPr id="34" name="TextBox 33">
            <a:extLst>
              <a:ext uri="{FF2B5EF4-FFF2-40B4-BE49-F238E27FC236}">
                <a16:creationId xmlns:a16="http://schemas.microsoft.com/office/drawing/2014/main" id="{1CDE8ABA-D7AB-F91D-5A6F-430D96905FD2}"/>
              </a:ext>
            </a:extLst>
          </p:cNvPr>
          <p:cNvSpPr txBox="1"/>
          <p:nvPr/>
        </p:nvSpPr>
        <p:spPr>
          <a:xfrm>
            <a:off x="885517" y="1302705"/>
            <a:ext cx="3368911" cy="954107"/>
          </a:xfrm>
          <a:prstGeom prst="rect">
            <a:avLst/>
          </a:prstGeom>
          <a:solidFill>
            <a:srgbClr val="FFC000">
              <a:alpha val="28000"/>
            </a:srgbClr>
          </a:solidFill>
        </p:spPr>
        <p:txBody>
          <a:bodyPr wrap="square" rtlCol="0">
            <a:spAutoFit/>
          </a:bodyPr>
          <a:lstStyle/>
          <a:p>
            <a:r>
              <a:rPr lang="en-US" sz="1400" dirty="0"/>
              <a:t>Did you know 25% of researchers already use this </a:t>
            </a:r>
            <a:r>
              <a:rPr lang="en-GB" sz="1400" dirty="0">
                <a:solidFill>
                  <a:schemeClr val="dk1"/>
                </a:solidFill>
              </a:rPr>
              <a:t>Open Science </a:t>
            </a:r>
            <a:r>
              <a:rPr lang="en-US" sz="1400" dirty="0"/>
              <a:t>tool/practice? Join in future of X by trying out this </a:t>
            </a:r>
            <a:r>
              <a:rPr lang="en-GB" sz="1400" dirty="0">
                <a:solidFill>
                  <a:schemeClr val="dk1"/>
                </a:solidFill>
              </a:rPr>
              <a:t>tool/practice!</a:t>
            </a:r>
            <a:endParaRPr lang="en-US" sz="1400" dirty="0"/>
          </a:p>
        </p:txBody>
      </p:sp>
      <p:sp>
        <p:nvSpPr>
          <p:cNvPr id="44" name="TextBox 43">
            <a:extLst>
              <a:ext uri="{FF2B5EF4-FFF2-40B4-BE49-F238E27FC236}">
                <a16:creationId xmlns:a16="http://schemas.microsoft.com/office/drawing/2014/main" id="{38D2857B-CF94-67AB-E8A9-2C5F142D23F5}"/>
              </a:ext>
            </a:extLst>
          </p:cNvPr>
          <p:cNvSpPr txBox="1"/>
          <p:nvPr/>
        </p:nvSpPr>
        <p:spPr>
          <a:xfrm>
            <a:off x="913524" y="3503610"/>
            <a:ext cx="1500560" cy="1169551"/>
          </a:xfrm>
          <a:prstGeom prst="rect">
            <a:avLst/>
          </a:prstGeom>
          <a:solidFill>
            <a:srgbClr val="45B08B">
              <a:alpha val="23426"/>
            </a:srgbClr>
          </a:solidFill>
        </p:spPr>
        <p:txBody>
          <a:bodyPr wrap="square" rtlCol="0">
            <a:spAutoFit/>
          </a:bodyPr>
          <a:lstStyle/>
          <a:p>
            <a:pPr fontAlgn="base"/>
            <a:r>
              <a:rPr lang="en-GB" sz="1400" dirty="0">
                <a:solidFill>
                  <a:schemeClr val="dk1"/>
                </a:solidFill>
              </a:rPr>
              <a:t>Sign up to be the first cohort to try out this new Open Science tool/practice!</a:t>
            </a:r>
          </a:p>
        </p:txBody>
      </p:sp>
      <p:sp>
        <p:nvSpPr>
          <p:cNvPr id="45" name="TextBox 44">
            <a:extLst>
              <a:ext uri="{FF2B5EF4-FFF2-40B4-BE49-F238E27FC236}">
                <a16:creationId xmlns:a16="http://schemas.microsoft.com/office/drawing/2014/main" id="{67D05587-A91C-44C7-E430-F4819168DE01}"/>
              </a:ext>
            </a:extLst>
          </p:cNvPr>
          <p:cNvSpPr txBox="1"/>
          <p:nvPr/>
        </p:nvSpPr>
        <p:spPr>
          <a:xfrm>
            <a:off x="885517" y="2536659"/>
            <a:ext cx="3057133" cy="523220"/>
          </a:xfrm>
          <a:prstGeom prst="rect">
            <a:avLst/>
          </a:prstGeom>
          <a:solidFill>
            <a:srgbClr val="92D050">
              <a:alpha val="25036"/>
            </a:srgbClr>
          </a:solidFill>
        </p:spPr>
        <p:txBody>
          <a:bodyPr wrap="square" rtlCol="0">
            <a:spAutoFit/>
          </a:bodyPr>
          <a:lstStyle/>
          <a:p>
            <a:r>
              <a:rPr lang="en-GB" sz="1400" dirty="0">
                <a:solidFill>
                  <a:schemeClr val="dk1"/>
                </a:solidFill>
              </a:rPr>
              <a:t>This Open Science tool/practice has X benefits, have you tried it out?</a:t>
            </a:r>
            <a:endParaRPr lang="en-US" sz="1400" dirty="0"/>
          </a:p>
        </p:txBody>
      </p:sp>
      <p:sp>
        <p:nvSpPr>
          <p:cNvPr id="14" name="TextBox 13">
            <a:extLst>
              <a:ext uri="{FF2B5EF4-FFF2-40B4-BE49-F238E27FC236}">
                <a16:creationId xmlns:a16="http://schemas.microsoft.com/office/drawing/2014/main" id="{6C3087C7-1628-6916-C447-8E2B39318532}"/>
              </a:ext>
            </a:extLst>
          </p:cNvPr>
          <p:cNvSpPr txBox="1"/>
          <p:nvPr/>
        </p:nvSpPr>
        <p:spPr>
          <a:xfrm>
            <a:off x="1075757" y="6041604"/>
            <a:ext cx="2287307" cy="307777"/>
          </a:xfrm>
          <a:prstGeom prst="rect">
            <a:avLst/>
          </a:prstGeom>
          <a:noFill/>
        </p:spPr>
        <p:txBody>
          <a:bodyPr wrap="square" rtlCol="0">
            <a:spAutoFit/>
          </a:bodyPr>
          <a:lstStyle/>
          <a:p>
            <a:r>
              <a:rPr lang="en-US" sz="1400" dirty="0"/>
              <a:t>Willing to put in extra effort</a:t>
            </a:r>
          </a:p>
        </p:txBody>
      </p:sp>
      <p:sp>
        <p:nvSpPr>
          <p:cNvPr id="22" name="TextBox 21">
            <a:extLst>
              <a:ext uri="{FF2B5EF4-FFF2-40B4-BE49-F238E27FC236}">
                <a16:creationId xmlns:a16="http://schemas.microsoft.com/office/drawing/2014/main" id="{F3F23413-A17A-CD7D-4D6D-C733C15D7FEA}"/>
              </a:ext>
            </a:extLst>
          </p:cNvPr>
          <p:cNvSpPr txBox="1"/>
          <p:nvPr/>
        </p:nvSpPr>
        <p:spPr>
          <a:xfrm>
            <a:off x="3534999" y="6030302"/>
            <a:ext cx="1227048" cy="307777"/>
          </a:xfrm>
          <a:prstGeom prst="rect">
            <a:avLst/>
          </a:prstGeom>
          <a:noFill/>
        </p:spPr>
        <p:txBody>
          <a:bodyPr wrap="square" rtlCol="0">
            <a:spAutoFit/>
          </a:bodyPr>
          <a:lstStyle/>
          <a:p>
            <a:r>
              <a:rPr lang="en-US" sz="1400" dirty="0"/>
              <a:t>Some effort</a:t>
            </a:r>
          </a:p>
        </p:txBody>
      </p:sp>
      <p:sp>
        <p:nvSpPr>
          <p:cNvPr id="23" name="TextBox 22">
            <a:extLst>
              <a:ext uri="{FF2B5EF4-FFF2-40B4-BE49-F238E27FC236}">
                <a16:creationId xmlns:a16="http://schemas.microsoft.com/office/drawing/2014/main" id="{1542CD79-E82B-C181-AFEF-307112F3959C}"/>
              </a:ext>
            </a:extLst>
          </p:cNvPr>
          <p:cNvSpPr txBox="1"/>
          <p:nvPr/>
        </p:nvSpPr>
        <p:spPr>
          <a:xfrm>
            <a:off x="4680129" y="6013890"/>
            <a:ext cx="1409424" cy="523220"/>
          </a:xfrm>
          <a:prstGeom prst="rect">
            <a:avLst/>
          </a:prstGeom>
          <a:noFill/>
        </p:spPr>
        <p:txBody>
          <a:bodyPr wrap="square" rtlCol="0">
            <a:spAutoFit/>
          </a:bodyPr>
          <a:lstStyle/>
          <a:p>
            <a:pPr algn="ctr"/>
            <a:r>
              <a:rPr lang="en-US" sz="1400" dirty="0"/>
              <a:t>Not much </a:t>
            </a:r>
          </a:p>
          <a:p>
            <a:r>
              <a:rPr lang="en-US" sz="1400" dirty="0"/>
              <a:t>effort expected</a:t>
            </a:r>
          </a:p>
        </p:txBody>
      </p:sp>
      <p:sp>
        <p:nvSpPr>
          <p:cNvPr id="24" name="TextBox 23">
            <a:extLst>
              <a:ext uri="{FF2B5EF4-FFF2-40B4-BE49-F238E27FC236}">
                <a16:creationId xmlns:a16="http://schemas.microsoft.com/office/drawing/2014/main" id="{E61A270E-EA61-FBC1-FA9E-E7FB8DA38DF9}"/>
              </a:ext>
            </a:extLst>
          </p:cNvPr>
          <p:cNvSpPr txBox="1"/>
          <p:nvPr/>
        </p:nvSpPr>
        <p:spPr>
          <a:xfrm>
            <a:off x="6054706" y="6080117"/>
            <a:ext cx="1547830" cy="307777"/>
          </a:xfrm>
          <a:prstGeom prst="rect">
            <a:avLst/>
          </a:prstGeom>
          <a:noFill/>
        </p:spPr>
        <p:txBody>
          <a:bodyPr wrap="square" rtlCol="0">
            <a:spAutoFit/>
          </a:bodyPr>
          <a:lstStyle/>
          <a:p>
            <a:r>
              <a:rPr lang="en-US" sz="1400" dirty="0"/>
              <a:t>Minimal effort</a:t>
            </a:r>
          </a:p>
        </p:txBody>
      </p:sp>
      <p:sp>
        <p:nvSpPr>
          <p:cNvPr id="25" name="TextBox 24">
            <a:extLst>
              <a:ext uri="{FF2B5EF4-FFF2-40B4-BE49-F238E27FC236}">
                <a16:creationId xmlns:a16="http://schemas.microsoft.com/office/drawing/2014/main" id="{4DD51457-2EC2-09E1-D5AA-F650BB8EAD13}"/>
              </a:ext>
            </a:extLst>
          </p:cNvPr>
          <p:cNvSpPr txBox="1"/>
          <p:nvPr/>
        </p:nvSpPr>
        <p:spPr>
          <a:xfrm>
            <a:off x="7933852" y="6057163"/>
            <a:ext cx="1752150" cy="307777"/>
          </a:xfrm>
          <a:prstGeom prst="rect">
            <a:avLst/>
          </a:prstGeom>
          <a:noFill/>
        </p:spPr>
        <p:txBody>
          <a:bodyPr wrap="square" rtlCol="0">
            <a:spAutoFit/>
          </a:bodyPr>
          <a:lstStyle/>
          <a:p>
            <a:r>
              <a:rPr lang="en-US" sz="1400" dirty="0"/>
              <a:t>Expect assistance</a:t>
            </a:r>
          </a:p>
        </p:txBody>
      </p:sp>
      <p:sp>
        <p:nvSpPr>
          <p:cNvPr id="28" name="TextBox 27">
            <a:extLst>
              <a:ext uri="{FF2B5EF4-FFF2-40B4-BE49-F238E27FC236}">
                <a16:creationId xmlns:a16="http://schemas.microsoft.com/office/drawing/2014/main" id="{F94EC0A4-81EF-EBDC-22AC-20EB3A7B219D}"/>
              </a:ext>
            </a:extLst>
          </p:cNvPr>
          <p:cNvSpPr txBox="1"/>
          <p:nvPr/>
        </p:nvSpPr>
        <p:spPr>
          <a:xfrm>
            <a:off x="91320" y="5976766"/>
            <a:ext cx="1738690" cy="523220"/>
          </a:xfrm>
          <a:prstGeom prst="rect">
            <a:avLst/>
          </a:prstGeom>
          <a:noFill/>
        </p:spPr>
        <p:txBody>
          <a:bodyPr wrap="square" rtlCol="0">
            <a:spAutoFit/>
          </a:bodyPr>
          <a:lstStyle/>
          <a:p>
            <a:r>
              <a:rPr lang="en-US" sz="1400" dirty="0"/>
              <a:t>Effort </a:t>
            </a:r>
          </a:p>
          <a:p>
            <a:r>
              <a:rPr lang="en-US" sz="1400" dirty="0"/>
              <a:t>expected:</a:t>
            </a:r>
          </a:p>
        </p:txBody>
      </p:sp>
      <p:sp>
        <p:nvSpPr>
          <p:cNvPr id="31" name="TextBox 30">
            <a:extLst>
              <a:ext uri="{FF2B5EF4-FFF2-40B4-BE49-F238E27FC236}">
                <a16:creationId xmlns:a16="http://schemas.microsoft.com/office/drawing/2014/main" id="{E0188274-F041-7321-AE03-6CFC1EF4A72D}"/>
              </a:ext>
            </a:extLst>
          </p:cNvPr>
          <p:cNvSpPr txBox="1"/>
          <p:nvPr/>
        </p:nvSpPr>
        <p:spPr>
          <a:xfrm>
            <a:off x="134023" y="662414"/>
            <a:ext cx="9057031" cy="369332"/>
          </a:xfrm>
          <a:prstGeom prst="rect">
            <a:avLst/>
          </a:prstGeom>
          <a:noFill/>
        </p:spPr>
        <p:txBody>
          <a:bodyPr wrap="none" rtlCol="0">
            <a:spAutoFit/>
          </a:bodyPr>
          <a:lstStyle/>
          <a:p>
            <a:r>
              <a:rPr lang="en-US" dirty="0"/>
              <a:t>How to </a:t>
            </a:r>
            <a:r>
              <a:rPr lang="en-US" b="1" dirty="0"/>
              <a:t>tailor messaging </a:t>
            </a:r>
            <a:r>
              <a:rPr lang="en-US" dirty="0"/>
              <a:t>depending on adopter type based on the effort adopters expect. </a:t>
            </a:r>
          </a:p>
        </p:txBody>
      </p:sp>
    </p:spTree>
    <p:extLst>
      <p:ext uri="{BB962C8B-B14F-4D97-AF65-F5344CB8AC3E}">
        <p14:creationId xmlns:p14="http://schemas.microsoft.com/office/powerpoint/2010/main" val="298874075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6FBFB8-169F-83DC-43C8-15098BA47F37}"/>
            </a:ext>
          </a:extLst>
        </p:cNvPr>
        <p:cNvGrpSpPr/>
        <p:nvPr/>
      </p:nvGrpSpPr>
      <p:grpSpPr>
        <a:xfrm>
          <a:off x="0" y="0"/>
          <a:ext cx="0" cy="0"/>
          <a:chOff x="0" y="0"/>
          <a:chExt cx="0" cy="0"/>
        </a:xfrm>
      </p:grpSpPr>
      <p:sp>
        <p:nvSpPr>
          <p:cNvPr id="29" name="Rectangle 28">
            <a:extLst>
              <a:ext uri="{FF2B5EF4-FFF2-40B4-BE49-F238E27FC236}">
                <a16:creationId xmlns:a16="http://schemas.microsoft.com/office/drawing/2014/main" id="{5E691A6D-DE5E-9615-CBAD-7ABE66163DE2}"/>
              </a:ext>
            </a:extLst>
          </p:cNvPr>
          <p:cNvSpPr/>
          <p:nvPr/>
        </p:nvSpPr>
        <p:spPr>
          <a:xfrm>
            <a:off x="531121" y="2085116"/>
            <a:ext cx="11129758" cy="3567539"/>
          </a:xfrm>
          <a:prstGeom prst="rect">
            <a:avLst/>
          </a:prstGeom>
          <a:noFill/>
          <a:ln w="66675">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3">
            <a:extLst>
              <a:ext uri="{FF2B5EF4-FFF2-40B4-BE49-F238E27FC236}">
                <a16:creationId xmlns:a16="http://schemas.microsoft.com/office/drawing/2014/main" id="{033BD07D-FDDE-4B3F-EA66-9C65A43B55E8}"/>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E2594301-0AFE-EAB5-67A5-A934A9C5FE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D496305-FEAB-E866-EF66-6619021DCC7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ABCF9525-7118-8D8C-C8F8-10126D2C9E55}"/>
              </a:ext>
            </a:extLst>
          </p:cNvPr>
          <p:cNvSpPr txBox="1">
            <a:spLocks/>
          </p:cNvSpPr>
          <p:nvPr/>
        </p:nvSpPr>
        <p:spPr>
          <a:xfrm>
            <a:off x="0" y="15230"/>
            <a:ext cx="12192000" cy="1013509"/>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3800" b="1" dirty="0"/>
              <a:t>Varying norms and awareness of Open Science practices </a:t>
            </a:r>
          </a:p>
        </p:txBody>
      </p:sp>
      <p:sp>
        <p:nvSpPr>
          <p:cNvPr id="2" name="Slide Number Placeholder 1">
            <a:extLst>
              <a:ext uri="{FF2B5EF4-FFF2-40B4-BE49-F238E27FC236}">
                <a16:creationId xmlns:a16="http://schemas.microsoft.com/office/drawing/2014/main" id="{B3B41E10-6B82-BCB1-90F1-1BEC7F753514}"/>
              </a:ext>
            </a:extLst>
          </p:cNvPr>
          <p:cNvSpPr>
            <a:spLocks noGrp="1"/>
          </p:cNvSpPr>
          <p:nvPr>
            <p:ph type="sldNum" sz="quarter" idx="12"/>
          </p:nvPr>
        </p:nvSpPr>
        <p:spPr/>
        <p:txBody>
          <a:bodyPr/>
          <a:lstStyle/>
          <a:p>
            <a:fld id="{D292B180-B274-DE43-B36F-C827C7616C05}" type="slidenum">
              <a:rPr lang="en-US" smtClean="0"/>
              <a:t>57</a:t>
            </a:fld>
            <a:endParaRPr lang="en-US"/>
          </a:p>
        </p:txBody>
      </p:sp>
      <p:sp>
        <p:nvSpPr>
          <p:cNvPr id="16" name="TextBox 15">
            <a:extLst>
              <a:ext uri="{FF2B5EF4-FFF2-40B4-BE49-F238E27FC236}">
                <a16:creationId xmlns:a16="http://schemas.microsoft.com/office/drawing/2014/main" id="{6D2050F1-CE59-C6B5-A844-F70793F3BE20}"/>
              </a:ext>
            </a:extLst>
          </p:cNvPr>
          <p:cNvSpPr txBox="1"/>
          <p:nvPr/>
        </p:nvSpPr>
        <p:spPr>
          <a:xfrm>
            <a:off x="3278346" y="4797916"/>
            <a:ext cx="3655809" cy="461665"/>
          </a:xfrm>
          <a:prstGeom prst="rect">
            <a:avLst/>
          </a:prstGeom>
          <a:noFill/>
        </p:spPr>
        <p:txBody>
          <a:bodyPr wrap="none" rtlCol="0">
            <a:spAutoFit/>
          </a:bodyPr>
          <a:lstStyle/>
          <a:p>
            <a:r>
              <a:rPr lang="en-US" sz="2400" dirty="0"/>
              <a:t>Open Access Publications</a:t>
            </a:r>
          </a:p>
        </p:txBody>
      </p:sp>
      <p:sp>
        <p:nvSpPr>
          <p:cNvPr id="17" name="TextBox 16">
            <a:extLst>
              <a:ext uri="{FF2B5EF4-FFF2-40B4-BE49-F238E27FC236}">
                <a16:creationId xmlns:a16="http://schemas.microsoft.com/office/drawing/2014/main" id="{CB424E68-38B0-78EC-692D-2DDE45EC225E}"/>
              </a:ext>
            </a:extLst>
          </p:cNvPr>
          <p:cNvSpPr txBox="1"/>
          <p:nvPr/>
        </p:nvSpPr>
        <p:spPr>
          <a:xfrm>
            <a:off x="3902794" y="3874733"/>
            <a:ext cx="1386470" cy="461665"/>
          </a:xfrm>
          <a:prstGeom prst="rect">
            <a:avLst/>
          </a:prstGeom>
          <a:noFill/>
        </p:spPr>
        <p:txBody>
          <a:bodyPr wrap="none" rtlCol="0">
            <a:spAutoFit/>
          </a:bodyPr>
          <a:lstStyle/>
          <a:p>
            <a:r>
              <a:rPr lang="en-US" sz="2400" dirty="0"/>
              <a:t>Preprints</a:t>
            </a:r>
          </a:p>
        </p:txBody>
      </p:sp>
      <p:sp>
        <p:nvSpPr>
          <p:cNvPr id="18" name="TextBox 17">
            <a:extLst>
              <a:ext uri="{FF2B5EF4-FFF2-40B4-BE49-F238E27FC236}">
                <a16:creationId xmlns:a16="http://schemas.microsoft.com/office/drawing/2014/main" id="{9DB10A84-FA4A-31DE-F54B-3E8A945E6003}"/>
              </a:ext>
            </a:extLst>
          </p:cNvPr>
          <p:cNvSpPr txBox="1"/>
          <p:nvPr/>
        </p:nvSpPr>
        <p:spPr>
          <a:xfrm>
            <a:off x="975323" y="2920106"/>
            <a:ext cx="1611916" cy="461665"/>
          </a:xfrm>
          <a:prstGeom prst="rect">
            <a:avLst/>
          </a:prstGeom>
          <a:noFill/>
        </p:spPr>
        <p:txBody>
          <a:bodyPr wrap="none" rtlCol="0">
            <a:spAutoFit/>
          </a:bodyPr>
          <a:lstStyle/>
          <a:p>
            <a:r>
              <a:rPr lang="en-US" sz="2400" dirty="0"/>
              <a:t>Open Data</a:t>
            </a:r>
          </a:p>
        </p:txBody>
      </p:sp>
      <p:sp>
        <p:nvSpPr>
          <p:cNvPr id="19" name="TextBox 18">
            <a:extLst>
              <a:ext uri="{FF2B5EF4-FFF2-40B4-BE49-F238E27FC236}">
                <a16:creationId xmlns:a16="http://schemas.microsoft.com/office/drawing/2014/main" id="{2B9DEB61-ABFA-813E-3B30-E559CB3D7BC2}"/>
              </a:ext>
            </a:extLst>
          </p:cNvPr>
          <p:cNvSpPr txBox="1"/>
          <p:nvPr/>
        </p:nvSpPr>
        <p:spPr>
          <a:xfrm>
            <a:off x="8610600" y="2861802"/>
            <a:ext cx="2230675" cy="461665"/>
          </a:xfrm>
          <a:prstGeom prst="rect">
            <a:avLst/>
          </a:prstGeom>
          <a:noFill/>
        </p:spPr>
        <p:txBody>
          <a:bodyPr wrap="none" rtlCol="0">
            <a:spAutoFit/>
          </a:bodyPr>
          <a:lstStyle/>
          <a:p>
            <a:r>
              <a:rPr lang="en-US" sz="2400" dirty="0"/>
              <a:t>Open Research</a:t>
            </a:r>
          </a:p>
        </p:txBody>
      </p:sp>
      <p:sp>
        <p:nvSpPr>
          <p:cNvPr id="20" name="TextBox 19">
            <a:extLst>
              <a:ext uri="{FF2B5EF4-FFF2-40B4-BE49-F238E27FC236}">
                <a16:creationId xmlns:a16="http://schemas.microsoft.com/office/drawing/2014/main" id="{4DAEDA5D-0FD1-BE9E-381F-AAF45601B810}"/>
              </a:ext>
            </a:extLst>
          </p:cNvPr>
          <p:cNvSpPr txBox="1"/>
          <p:nvPr/>
        </p:nvSpPr>
        <p:spPr>
          <a:xfrm>
            <a:off x="5665751" y="2880762"/>
            <a:ext cx="2211503" cy="461665"/>
          </a:xfrm>
          <a:prstGeom prst="rect">
            <a:avLst/>
          </a:prstGeom>
          <a:noFill/>
        </p:spPr>
        <p:txBody>
          <a:bodyPr wrap="none" rtlCol="0">
            <a:spAutoFit/>
          </a:bodyPr>
          <a:lstStyle/>
          <a:p>
            <a:r>
              <a:rPr lang="en-US" sz="2400" dirty="0"/>
              <a:t>Open Materials</a:t>
            </a:r>
          </a:p>
        </p:txBody>
      </p:sp>
      <p:sp>
        <p:nvSpPr>
          <p:cNvPr id="21" name="TextBox 20">
            <a:extLst>
              <a:ext uri="{FF2B5EF4-FFF2-40B4-BE49-F238E27FC236}">
                <a16:creationId xmlns:a16="http://schemas.microsoft.com/office/drawing/2014/main" id="{C555FC72-ED3A-1B48-D675-FA80B7903E17}"/>
              </a:ext>
            </a:extLst>
          </p:cNvPr>
          <p:cNvSpPr txBox="1"/>
          <p:nvPr/>
        </p:nvSpPr>
        <p:spPr>
          <a:xfrm>
            <a:off x="757470" y="3859011"/>
            <a:ext cx="2576988" cy="461665"/>
          </a:xfrm>
          <a:prstGeom prst="rect">
            <a:avLst/>
          </a:prstGeom>
          <a:noFill/>
        </p:spPr>
        <p:txBody>
          <a:bodyPr wrap="none" rtlCol="0">
            <a:spAutoFit/>
          </a:bodyPr>
          <a:lstStyle/>
          <a:p>
            <a:r>
              <a:rPr lang="en-US" sz="2400" dirty="0"/>
              <a:t>Open Peer Review</a:t>
            </a:r>
          </a:p>
        </p:txBody>
      </p:sp>
      <p:sp>
        <p:nvSpPr>
          <p:cNvPr id="22" name="TextBox 21">
            <a:extLst>
              <a:ext uri="{FF2B5EF4-FFF2-40B4-BE49-F238E27FC236}">
                <a16:creationId xmlns:a16="http://schemas.microsoft.com/office/drawing/2014/main" id="{4FD2F37A-28FC-1EC9-AE80-04E2DA01584C}"/>
              </a:ext>
            </a:extLst>
          </p:cNvPr>
          <p:cNvSpPr txBox="1"/>
          <p:nvPr/>
        </p:nvSpPr>
        <p:spPr>
          <a:xfrm>
            <a:off x="3278346" y="2843904"/>
            <a:ext cx="1696298" cy="461665"/>
          </a:xfrm>
          <a:prstGeom prst="rect">
            <a:avLst/>
          </a:prstGeom>
          <a:noFill/>
        </p:spPr>
        <p:txBody>
          <a:bodyPr wrap="none" rtlCol="0">
            <a:spAutoFit/>
          </a:bodyPr>
          <a:lstStyle/>
          <a:p>
            <a:r>
              <a:rPr lang="en-US" sz="2400" dirty="0"/>
              <a:t>Open Code</a:t>
            </a:r>
          </a:p>
        </p:txBody>
      </p:sp>
      <p:sp>
        <p:nvSpPr>
          <p:cNvPr id="23" name="TextBox 22">
            <a:extLst>
              <a:ext uri="{FF2B5EF4-FFF2-40B4-BE49-F238E27FC236}">
                <a16:creationId xmlns:a16="http://schemas.microsoft.com/office/drawing/2014/main" id="{329E8800-E30A-4356-30F2-11827681DB93}"/>
              </a:ext>
            </a:extLst>
          </p:cNvPr>
          <p:cNvSpPr txBox="1"/>
          <p:nvPr/>
        </p:nvSpPr>
        <p:spPr>
          <a:xfrm>
            <a:off x="6214059" y="3815629"/>
            <a:ext cx="2116798" cy="461665"/>
          </a:xfrm>
          <a:prstGeom prst="rect">
            <a:avLst/>
          </a:prstGeom>
          <a:noFill/>
        </p:spPr>
        <p:txBody>
          <a:bodyPr wrap="none" rtlCol="0">
            <a:spAutoFit/>
          </a:bodyPr>
          <a:lstStyle/>
          <a:p>
            <a:r>
              <a:rPr lang="en-US" sz="2400" dirty="0"/>
              <a:t>Preregistration</a:t>
            </a:r>
          </a:p>
        </p:txBody>
      </p:sp>
      <p:sp>
        <p:nvSpPr>
          <p:cNvPr id="24" name="TextBox 23">
            <a:extLst>
              <a:ext uri="{FF2B5EF4-FFF2-40B4-BE49-F238E27FC236}">
                <a16:creationId xmlns:a16="http://schemas.microsoft.com/office/drawing/2014/main" id="{F57886A4-17D3-0F38-3B39-20ADFA708F7C}"/>
              </a:ext>
            </a:extLst>
          </p:cNvPr>
          <p:cNvSpPr txBox="1"/>
          <p:nvPr/>
        </p:nvSpPr>
        <p:spPr>
          <a:xfrm>
            <a:off x="7713067" y="4899867"/>
            <a:ext cx="3447932" cy="461665"/>
          </a:xfrm>
          <a:prstGeom prst="rect">
            <a:avLst/>
          </a:prstGeom>
          <a:noFill/>
        </p:spPr>
        <p:txBody>
          <a:bodyPr wrap="none" rtlCol="0">
            <a:spAutoFit/>
          </a:bodyPr>
          <a:lstStyle/>
          <a:p>
            <a:r>
              <a:rPr lang="en-US" sz="2400" dirty="0"/>
              <a:t>Research Co-production</a:t>
            </a:r>
          </a:p>
        </p:txBody>
      </p:sp>
      <p:sp>
        <p:nvSpPr>
          <p:cNvPr id="25" name="TextBox 24">
            <a:extLst>
              <a:ext uri="{FF2B5EF4-FFF2-40B4-BE49-F238E27FC236}">
                <a16:creationId xmlns:a16="http://schemas.microsoft.com/office/drawing/2014/main" id="{7ECF7C9A-0F43-A33D-0DDA-7837B8814202}"/>
              </a:ext>
            </a:extLst>
          </p:cNvPr>
          <p:cNvSpPr txBox="1"/>
          <p:nvPr/>
        </p:nvSpPr>
        <p:spPr>
          <a:xfrm>
            <a:off x="1199258" y="4760201"/>
            <a:ext cx="1693412" cy="461665"/>
          </a:xfrm>
          <a:prstGeom prst="rect">
            <a:avLst/>
          </a:prstGeom>
          <a:noFill/>
        </p:spPr>
        <p:txBody>
          <a:bodyPr wrap="none" rtlCol="0">
            <a:spAutoFit/>
          </a:bodyPr>
          <a:lstStyle/>
          <a:p>
            <a:r>
              <a:rPr lang="en-US" sz="2400" dirty="0"/>
              <a:t>Replication</a:t>
            </a:r>
          </a:p>
        </p:txBody>
      </p:sp>
      <p:sp>
        <p:nvSpPr>
          <p:cNvPr id="26" name="TextBox 25">
            <a:extLst>
              <a:ext uri="{FF2B5EF4-FFF2-40B4-BE49-F238E27FC236}">
                <a16:creationId xmlns:a16="http://schemas.microsoft.com/office/drawing/2014/main" id="{ED9DCB8D-C9BA-396A-7F12-D1851661F444}"/>
              </a:ext>
            </a:extLst>
          </p:cNvPr>
          <p:cNvSpPr txBox="1"/>
          <p:nvPr/>
        </p:nvSpPr>
        <p:spPr>
          <a:xfrm>
            <a:off x="8961807" y="3796330"/>
            <a:ext cx="2699072" cy="461665"/>
          </a:xfrm>
          <a:prstGeom prst="rect">
            <a:avLst/>
          </a:prstGeom>
          <a:noFill/>
        </p:spPr>
        <p:txBody>
          <a:bodyPr wrap="none" rtlCol="0">
            <a:spAutoFit/>
          </a:bodyPr>
          <a:lstStyle/>
          <a:p>
            <a:r>
              <a:rPr lang="en-US" sz="2400" dirty="0"/>
              <a:t>Registered Reports</a:t>
            </a:r>
          </a:p>
        </p:txBody>
      </p:sp>
      <p:sp>
        <p:nvSpPr>
          <p:cNvPr id="27" name="TextBox 26">
            <a:extLst>
              <a:ext uri="{FF2B5EF4-FFF2-40B4-BE49-F238E27FC236}">
                <a16:creationId xmlns:a16="http://schemas.microsoft.com/office/drawing/2014/main" id="{2A660E9F-57A1-23B8-44C7-6CD182AE49F4}"/>
              </a:ext>
            </a:extLst>
          </p:cNvPr>
          <p:cNvSpPr txBox="1"/>
          <p:nvPr/>
        </p:nvSpPr>
        <p:spPr>
          <a:xfrm>
            <a:off x="542007" y="1087656"/>
            <a:ext cx="10553979" cy="461665"/>
          </a:xfrm>
          <a:prstGeom prst="rect">
            <a:avLst/>
          </a:prstGeom>
          <a:noFill/>
        </p:spPr>
        <p:txBody>
          <a:bodyPr wrap="none" rtlCol="0">
            <a:spAutoFit/>
          </a:bodyPr>
          <a:lstStyle/>
          <a:p>
            <a:r>
              <a:rPr lang="en-US" sz="2400" dirty="0"/>
              <a:t>1. </a:t>
            </a:r>
            <a:r>
              <a:rPr lang="en-US" sz="2400" b="1" dirty="0"/>
              <a:t>Which</a:t>
            </a:r>
            <a:r>
              <a:rPr lang="en-US" sz="2400" dirty="0"/>
              <a:t> Open Science practice do you think is the </a:t>
            </a:r>
            <a:r>
              <a:rPr lang="en-US" sz="2400" b="1" dirty="0"/>
              <a:t>most used</a:t>
            </a:r>
            <a:r>
              <a:rPr lang="en-US" sz="2400" dirty="0"/>
              <a:t>? And the </a:t>
            </a:r>
            <a:r>
              <a:rPr lang="en-US" sz="2400" b="1" dirty="0"/>
              <a:t>least</a:t>
            </a:r>
            <a:r>
              <a:rPr lang="en-US" sz="2400" dirty="0"/>
              <a:t>?</a:t>
            </a:r>
          </a:p>
        </p:txBody>
      </p:sp>
      <p:sp>
        <p:nvSpPr>
          <p:cNvPr id="30" name="TextBox 29">
            <a:extLst>
              <a:ext uri="{FF2B5EF4-FFF2-40B4-BE49-F238E27FC236}">
                <a16:creationId xmlns:a16="http://schemas.microsoft.com/office/drawing/2014/main" id="{EBA8403E-29F1-2C5E-2778-A8B1CB83B940}"/>
              </a:ext>
            </a:extLst>
          </p:cNvPr>
          <p:cNvSpPr txBox="1"/>
          <p:nvPr/>
        </p:nvSpPr>
        <p:spPr>
          <a:xfrm>
            <a:off x="4343533" y="2135832"/>
            <a:ext cx="3504934" cy="461665"/>
          </a:xfrm>
          <a:prstGeom prst="rect">
            <a:avLst/>
          </a:prstGeom>
          <a:noFill/>
        </p:spPr>
        <p:txBody>
          <a:bodyPr wrap="none" rtlCol="0">
            <a:spAutoFit/>
          </a:bodyPr>
          <a:lstStyle/>
          <a:p>
            <a:r>
              <a:rPr lang="en-US" sz="2400" b="1" dirty="0"/>
              <a:t>Open Science practices</a:t>
            </a:r>
          </a:p>
        </p:txBody>
      </p:sp>
    </p:spTree>
    <p:extLst>
      <p:ext uri="{BB962C8B-B14F-4D97-AF65-F5344CB8AC3E}">
        <p14:creationId xmlns:p14="http://schemas.microsoft.com/office/powerpoint/2010/main" val="33013003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8CD5F-9D7B-81B6-FD3B-C25C2B17B01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6AD6CA7-3215-C078-25BA-83CC519671AD}"/>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1145F0B7-A48D-BAA4-D0B8-D3FCA4B3B0F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C3F78E5-7276-3E45-D343-A3EF9AFAD23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44BB49FA-28F3-BEDE-029D-1056383809AB}"/>
              </a:ext>
            </a:extLst>
          </p:cNvPr>
          <p:cNvSpPr txBox="1">
            <a:spLocks/>
          </p:cNvSpPr>
          <p:nvPr/>
        </p:nvSpPr>
        <p:spPr>
          <a:xfrm>
            <a:off x="0" y="15230"/>
            <a:ext cx="12192000" cy="709165"/>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Open Access is now the norm</a:t>
            </a:r>
          </a:p>
        </p:txBody>
      </p:sp>
      <p:pic>
        <p:nvPicPr>
          <p:cNvPr id="7" name="Picture 6" descr="A graph with numbers and text&#10;&#10;AI-generated content may be incorrect.">
            <a:extLst>
              <a:ext uri="{FF2B5EF4-FFF2-40B4-BE49-F238E27FC236}">
                <a16:creationId xmlns:a16="http://schemas.microsoft.com/office/drawing/2014/main" id="{C09DC63B-520B-AA8E-AE6B-B3DC24BD82AD}"/>
              </a:ext>
            </a:extLst>
          </p:cNvPr>
          <p:cNvPicPr>
            <a:picLocks noChangeAspect="1"/>
          </p:cNvPicPr>
          <p:nvPr/>
        </p:nvPicPr>
        <p:blipFill>
          <a:blip r:embed="rId5"/>
          <a:srcRect l="26163"/>
          <a:stretch>
            <a:fillRect/>
          </a:stretch>
        </p:blipFill>
        <p:spPr>
          <a:xfrm>
            <a:off x="3640494" y="952225"/>
            <a:ext cx="6567932" cy="5176295"/>
          </a:xfrm>
          <a:prstGeom prst="rect">
            <a:avLst/>
          </a:prstGeom>
        </p:spPr>
      </p:pic>
      <p:sp>
        <p:nvSpPr>
          <p:cNvPr id="2" name="Slide Number Placeholder 1">
            <a:extLst>
              <a:ext uri="{FF2B5EF4-FFF2-40B4-BE49-F238E27FC236}">
                <a16:creationId xmlns:a16="http://schemas.microsoft.com/office/drawing/2014/main" id="{19B2BEF9-5A03-FF90-D6FA-FEB6497C57DB}"/>
              </a:ext>
            </a:extLst>
          </p:cNvPr>
          <p:cNvSpPr>
            <a:spLocks noGrp="1"/>
          </p:cNvSpPr>
          <p:nvPr>
            <p:ph type="sldNum" sz="quarter" idx="12"/>
          </p:nvPr>
        </p:nvSpPr>
        <p:spPr/>
        <p:txBody>
          <a:bodyPr/>
          <a:lstStyle/>
          <a:p>
            <a:fld id="{D292B180-B274-DE43-B36F-C827C7616C05}" type="slidenum">
              <a:rPr lang="en-US" smtClean="0"/>
              <a:t>58</a:t>
            </a:fld>
            <a:endParaRPr lang="en-US" dirty="0"/>
          </a:p>
        </p:txBody>
      </p:sp>
      <p:pic>
        <p:nvPicPr>
          <p:cNvPr id="14" name="Picture 13" descr="A graph with numbers and text&#10;&#10;AI-generated content may be incorrect.">
            <a:extLst>
              <a:ext uri="{FF2B5EF4-FFF2-40B4-BE49-F238E27FC236}">
                <a16:creationId xmlns:a16="http://schemas.microsoft.com/office/drawing/2014/main" id="{004EF5D4-8A46-CD92-1850-9AD06B6E1B59}"/>
              </a:ext>
            </a:extLst>
          </p:cNvPr>
          <p:cNvPicPr>
            <a:picLocks noChangeAspect="1"/>
          </p:cNvPicPr>
          <p:nvPr/>
        </p:nvPicPr>
        <p:blipFill>
          <a:blip r:embed="rId5"/>
          <a:srcRect r="73625"/>
          <a:stretch>
            <a:fillRect/>
          </a:stretch>
        </p:blipFill>
        <p:spPr>
          <a:xfrm>
            <a:off x="1299843" y="973111"/>
            <a:ext cx="2346084" cy="5176295"/>
          </a:xfrm>
          <a:prstGeom prst="rect">
            <a:avLst/>
          </a:prstGeom>
        </p:spPr>
      </p:pic>
      <p:sp>
        <p:nvSpPr>
          <p:cNvPr id="8" name="TextBox 7">
            <a:extLst>
              <a:ext uri="{FF2B5EF4-FFF2-40B4-BE49-F238E27FC236}">
                <a16:creationId xmlns:a16="http://schemas.microsoft.com/office/drawing/2014/main" id="{69CEB8AD-405F-F777-7FCC-08AC0B06FF6D}"/>
              </a:ext>
            </a:extLst>
          </p:cNvPr>
          <p:cNvSpPr txBox="1"/>
          <p:nvPr/>
        </p:nvSpPr>
        <p:spPr>
          <a:xfrm>
            <a:off x="80193" y="634557"/>
            <a:ext cx="3389326" cy="338554"/>
          </a:xfrm>
          <a:prstGeom prst="rect">
            <a:avLst/>
          </a:prstGeom>
          <a:noFill/>
        </p:spPr>
        <p:txBody>
          <a:bodyPr wrap="none" rtlCol="0">
            <a:spAutoFit/>
          </a:bodyPr>
          <a:lstStyle/>
          <a:p>
            <a:r>
              <a:rPr lang="en-US" sz="1600" dirty="0">
                <a:solidFill>
                  <a:schemeClr val="bg1">
                    <a:lumMod val="50000"/>
                  </a:schemeClr>
                </a:solidFill>
              </a:rPr>
              <a:t>Adapted from </a:t>
            </a:r>
            <a:r>
              <a:rPr lang="en-US" sz="1600" dirty="0">
                <a:solidFill>
                  <a:schemeClr val="bg1">
                    <a:lumMod val="50000"/>
                  </a:schemeClr>
                </a:solidFill>
                <a:hlinkClick r:id="rId6"/>
              </a:rPr>
              <a:t>Pennington et al. 2026</a:t>
            </a:r>
            <a:endParaRPr lang="en-US" sz="1600" dirty="0">
              <a:solidFill>
                <a:schemeClr val="bg1">
                  <a:lumMod val="50000"/>
                </a:schemeClr>
              </a:solidFill>
            </a:endParaRPr>
          </a:p>
        </p:txBody>
      </p:sp>
    </p:spTree>
    <p:extLst>
      <p:ext uri="{BB962C8B-B14F-4D97-AF65-F5344CB8AC3E}">
        <p14:creationId xmlns:p14="http://schemas.microsoft.com/office/powerpoint/2010/main" val="402001902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id="{684F632F-7864-4F1E-8E62-89A6A5979DB2}"/>
              </a:ext>
            </a:extLst>
          </p:cNvPr>
          <p:cNvPicPr>
            <a:picLocks noChangeAspect="1"/>
          </p:cNvPicPr>
          <p:nvPr/>
        </p:nvPicPr>
        <p:blipFill>
          <a:blip r:embed="rId3"/>
          <a:srcRect l="4361" t="4290" r="64321" b="6149"/>
          <a:stretch>
            <a:fillRect/>
          </a:stretch>
        </p:blipFill>
        <p:spPr>
          <a:xfrm>
            <a:off x="5880141" y="3984994"/>
            <a:ext cx="1761588" cy="2693931"/>
          </a:xfrm>
          <a:prstGeom prst="rect">
            <a:avLst/>
          </a:prstGeom>
        </p:spPr>
      </p:pic>
      <p:sp>
        <p:nvSpPr>
          <p:cNvPr id="2" name="Title 1">
            <a:extLst>
              <a:ext uri="{FF2B5EF4-FFF2-40B4-BE49-F238E27FC236}">
                <a16:creationId xmlns:a16="http://schemas.microsoft.com/office/drawing/2014/main" id="{A68A87DD-62B5-F9D7-EF5A-93A67FEB79EF}"/>
              </a:ext>
            </a:extLst>
          </p:cNvPr>
          <p:cNvSpPr>
            <a:spLocks noGrp="1"/>
          </p:cNvSpPr>
          <p:nvPr>
            <p:ph type="title"/>
          </p:nvPr>
        </p:nvSpPr>
        <p:spPr>
          <a:xfrm>
            <a:off x="0" y="0"/>
            <a:ext cx="11994078" cy="662489"/>
          </a:xfrm>
        </p:spPr>
        <p:txBody>
          <a:bodyPr>
            <a:normAutofit fontScale="90000"/>
          </a:bodyPr>
          <a:lstStyle/>
          <a:p>
            <a:r>
              <a:rPr lang="en-US" b="1" dirty="0"/>
              <a:t>Varying norms and awareness across disciplines </a:t>
            </a:r>
            <a:endParaRPr lang="en-US" dirty="0"/>
          </a:p>
        </p:txBody>
      </p:sp>
      <p:sp>
        <p:nvSpPr>
          <p:cNvPr id="4" name="Slide Number Placeholder 3">
            <a:extLst>
              <a:ext uri="{FF2B5EF4-FFF2-40B4-BE49-F238E27FC236}">
                <a16:creationId xmlns:a16="http://schemas.microsoft.com/office/drawing/2014/main" id="{78458210-25A3-42C6-53E6-F6B741DA0B18}"/>
              </a:ext>
            </a:extLst>
          </p:cNvPr>
          <p:cNvSpPr>
            <a:spLocks noGrp="1"/>
          </p:cNvSpPr>
          <p:nvPr>
            <p:ph type="sldNum" sz="quarter" idx="12"/>
          </p:nvPr>
        </p:nvSpPr>
        <p:spPr/>
        <p:txBody>
          <a:bodyPr/>
          <a:lstStyle/>
          <a:p>
            <a:fld id="{D292B180-B274-DE43-B36F-C827C7616C05}" type="slidenum">
              <a:rPr lang="en-US" smtClean="0"/>
              <a:t>59</a:t>
            </a:fld>
            <a:endParaRPr lang="en-US"/>
          </a:p>
        </p:txBody>
      </p:sp>
      <p:pic>
        <p:nvPicPr>
          <p:cNvPr id="6" name="Picture 5">
            <a:extLst>
              <a:ext uri="{FF2B5EF4-FFF2-40B4-BE49-F238E27FC236}">
                <a16:creationId xmlns:a16="http://schemas.microsoft.com/office/drawing/2014/main" id="{58908B4E-B7F3-8BAB-4FFA-DC4A3F5FDF1D}"/>
              </a:ext>
            </a:extLst>
          </p:cNvPr>
          <p:cNvPicPr>
            <a:picLocks noChangeAspect="1"/>
          </p:cNvPicPr>
          <p:nvPr/>
        </p:nvPicPr>
        <p:blipFill>
          <a:blip r:embed="rId4"/>
          <a:srcRect l="4147" t="4526" b="5946"/>
          <a:stretch>
            <a:fillRect/>
          </a:stretch>
        </p:blipFill>
        <p:spPr>
          <a:xfrm>
            <a:off x="83127" y="1146052"/>
            <a:ext cx="5490194" cy="2671948"/>
          </a:xfrm>
          <a:prstGeom prst="rect">
            <a:avLst/>
          </a:prstGeom>
        </p:spPr>
      </p:pic>
      <p:pic>
        <p:nvPicPr>
          <p:cNvPr id="8" name="Picture 7">
            <a:extLst>
              <a:ext uri="{FF2B5EF4-FFF2-40B4-BE49-F238E27FC236}">
                <a16:creationId xmlns:a16="http://schemas.microsoft.com/office/drawing/2014/main" id="{D54BF835-7F34-30D1-C62A-73A823F3E6B1}"/>
              </a:ext>
            </a:extLst>
          </p:cNvPr>
          <p:cNvPicPr>
            <a:picLocks noChangeAspect="1"/>
          </p:cNvPicPr>
          <p:nvPr/>
        </p:nvPicPr>
        <p:blipFill>
          <a:blip r:embed="rId3"/>
          <a:srcRect l="4361" t="4290" b="6149"/>
          <a:stretch>
            <a:fillRect/>
          </a:stretch>
        </p:blipFill>
        <p:spPr>
          <a:xfrm>
            <a:off x="138463" y="4027544"/>
            <a:ext cx="5379522" cy="2693931"/>
          </a:xfrm>
          <a:prstGeom prst="rect">
            <a:avLst/>
          </a:prstGeom>
        </p:spPr>
      </p:pic>
      <p:pic>
        <p:nvPicPr>
          <p:cNvPr id="13" name="Picture 12">
            <a:extLst>
              <a:ext uri="{FF2B5EF4-FFF2-40B4-BE49-F238E27FC236}">
                <a16:creationId xmlns:a16="http://schemas.microsoft.com/office/drawing/2014/main" id="{ABCFBC66-39CC-FCFA-2A00-2E79A5F58ED5}"/>
              </a:ext>
            </a:extLst>
          </p:cNvPr>
          <p:cNvPicPr>
            <a:picLocks noChangeAspect="1"/>
          </p:cNvPicPr>
          <p:nvPr/>
        </p:nvPicPr>
        <p:blipFill>
          <a:blip r:embed="rId5"/>
          <a:stretch>
            <a:fillRect/>
          </a:stretch>
        </p:blipFill>
        <p:spPr>
          <a:xfrm>
            <a:off x="7638471" y="3794249"/>
            <a:ext cx="3911025" cy="2887048"/>
          </a:xfrm>
          <a:prstGeom prst="rect">
            <a:avLst/>
          </a:prstGeom>
        </p:spPr>
      </p:pic>
      <p:pic>
        <p:nvPicPr>
          <p:cNvPr id="20" name="Graphic 19" descr="Pie chart with solid fill">
            <a:extLst>
              <a:ext uri="{FF2B5EF4-FFF2-40B4-BE49-F238E27FC236}">
                <a16:creationId xmlns:a16="http://schemas.microsoft.com/office/drawing/2014/main" id="{95855858-9D77-3A5A-212B-F22C16435CF9}"/>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753949" y="3886199"/>
            <a:ext cx="468155" cy="468155"/>
          </a:xfrm>
          <a:prstGeom prst="rect">
            <a:avLst/>
          </a:prstGeom>
        </p:spPr>
      </p:pic>
      <p:pic>
        <p:nvPicPr>
          <p:cNvPr id="26" name="Graphic 25" descr="Drama with solid fill">
            <a:extLst>
              <a:ext uri="{FF2B5EF4-FFF2-40B4-BE49-F238E27FC236}">
                <a16:creationId xmlns:a16="http://schemas.microsoft.com/office/drawing/2014/main" id="{51E96E53-422C-42B4-1BF0-1AA3324AF38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55523" y="898004"/>
            <a:ext cx="533162" cy="533162"/>
          </a:xfrm>
          <a:prstGeom prst="rect">
            <a:avLst/>
          </a:prstGeom>
        </p:spPr>
      </p:pic>
      <p:sp>
        <p:nvSpPr>
          <p:cNvPr id="27" name="Rectangle 26">
            <a:extLst>
              <a:ext uri="{FF2B5EF4-FFF2-40B4-BE49-F238E27FC236}">
                <a16:creationId xmlns:a16="http://schemas.microsoft.com/office/drawing/2014/main" id="{7CC497D6-538A-AC15-1339-BFF087E3CBBD}"/>
              </a:ext>
            </a:extLst>
          </p:cNvPr>
          <p:cNvSpPr/>
          <p:nvPr/>
        </p:nvSpPr>
        <p:spPr>
          <a:xfrm>
            <a:off x="474763" y="3361692"/>
            <a:ext cx="1425289" cy="202600"/>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9" name="Rectangle 28">
            <a:extLst>
              <a:ext uri="{FF2B5EF4-FFF2-40B4-BE49-F238E27FC236}">
                <a16:creationId xmlns:a16="http://schemas.microsoft.com/office/drawing/2014/main" id="{B3F35D95-32BB-1317-3E91-6FC65F8733E5}"/>
              </a:ext>
            </a:extLst>
          </p:cNvPr>
          <p:cNvSpPr/>
          <p:nvPr/>
        </p:nvSpPr>
        <p:spPr>
          <a:xfrm>
            <a:off x="771896" y="1649666"/>
            <a:ext cx="1128156" cy="202600"/>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Rectangle 30">
            <a:extLst>
              <a:ext uri="{FF2B5EF4-FFF2-40B4-BE49-F238E27FC236}">
                <a16:creationId xmlns:a16="http://schemas.microsoft.com/office/drawing/2014/main" id="{09DFD1DF-6F24-1889-32CD-FA9FCA32F70D}"/>
              </a:ext>
            </a:extLst>
          </p:cNvPr>
          <p:cNvSpPr/>
          <p:nvPr/>
        </p:nvSpPr>
        <p:spPr>
          <a:xfrm>
            <a:off x="985652" y="2716466"/>
            <a:ext cx="914399" cy="202600"/>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Rectangle 31">
            <a:extLst>
              <a:ext uri="{FF2B5EF4-FFF2-40B4-BE49-F238E27FC236}">
                <a16:creationId xmlns:a16="http://schemas.microsoft.com/office/drawing/2014/main" id="{6E262762-FF05-2A52-B145-2969F85A55C7}"/>
              </a:ext>
            </a:extLst>
          </p:cNvPr>
          <p:cNvSpPr/>
          <p:nvPr/>
        </p:nvSpPr>
        <p:spPr>
          <a:xfrm>
            <a:off x="5923058" y="6421552"/>
            <a:ext cx="1761588" cy="234719"/>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CF7CDE42-C7F3-3FAE-6C5F-B3CD057341B0}"/>
              </a:ext>
            </a:extLst>
          </p:cNvPr>
          <p:cNvSpPr/>
          <p:nvPr/>
        </p:nvSpPr>
        <p:spPr>
          <a:xfrm>
            <a:off x="1068779" y="5424039"/>
            <a:ext cx="878651" cy="391518"/>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36" name="Picture 35">
            <a:extLst>
              <a:ext uri="{FF2B5EF4-FFF2-40B4-BE49-F238E27FC236}">
                <a16:creationId xmlns:a16="http://schemas.microsoft.com/office/drawing/2014/main" id="{916BF476-97EE-04B1-D20E-117506C3E31B}"/>
              </a:ext>
            </a:extLst>
          </p:cNvPr>
          <p:cNvPicPr>
            <a:picLocks noChangeAspect="1"/>
          </p:cNvPicPr>
          <p:nvPr/>
        </p:nvPicPr>
        <p:blipFill>
          <a:blip r:embed="rId3"/>
          <a:srcRect l="4361" t="4290" r="64321" b="6149"/>
          <a:stretch>
            <a:fillRect/>
          </a:stretch>
        </p:blipFill>
        <p:spPr>
          <a:xfrm>
            <a:off x="5880141" y="1122850"/>
            <a:ext cx="1761588" cy="2693931"/>
          </a:xfrm>
          <a:prstGeom prst="rect">
            <a:avLst/>
          </a:prstGeom>
        </p:spPr>
      </p:pic>
      <p:sp>
        <p:nvSpPr>
          <p:cNvPr id="38" name="Rectangle 37">
            <a:extLst>
              <a:ext uri="{FF2B5EF4-FFF2-40B4-BE49-F238E27FC236}">
                <a16:creationId xmlns:a16="http://schemas.microsoft.com/office/drawing/2014/main" id="{6E1DE3B7-1714-D230-89FE-095B36096ADA}"/>
              </a:ext>
            </a:extLst>
          </p:cNvPr>
          <p:cNvSpPr/>
          <p:nvPr/>
        </p:nvSpPr>
        <p:spPr>
          <a:xfrm>
            <a:off x="6297818" y="2922509"/>
            <a:ext cx="1425289" cy="202600"/>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1" name="Picture 40">
            <a:extLst>
              <a:ext uri="{FF2B5EF4-FFF2-40B4-BE49-F238E27FC236}">
                <a16:creationId xmlns:a16="http://schemas.microsoft.com/office/drawing/2014/main" id="{45D9BC83-FA0C-7F97-CBC2-376F9D3A7854}"/>
              </a:ext>
            </a:extLst>
          </p:cNvPr>
          <p:cNvPicPr>
            <a:picLocks noChangeAspect="1"/>
          </p:cNvPicPr>
          <p:nvPr/>
        </p:nvPicPr>
        <p:blipFill>
          <a:blip r:embed="rId8"/>
          <a:srcRect t="20284" b="24610"/>
          <a:stretch>
            <a:fillRect/>
          </a:stretch>
        </p:blipFill>
        <p:spPr>
          <a:xfrm>
            <a:off x="4211054" y="610714"/>
            <a:ext cx="6096000" cy="223949"/>
          </a:xfrm>
          <a:prstGeom prst="rect">
            <a:avLst/>
          </a:prstGeom>
        </p:spPr>
      </p:pic>
      <p:pic>
        <p:nvPicPr>
          <p:cNvPr id="44" name="Picture 43">
            <a:extLst>
              <a:ext uri="{FF2B5EF4-FFF2-40B4-BE49-F238E27FC236}">
                <a16:creationId xmlns:a16="http://schemas.microsoft.com/office/drawing/2014/main" id="{9CADDA33-DC86-8880-2C5D-DE9597A03EDC}"/>
              </a:ext>
            </a:extLst>
          </p:cNvPr>
          <p:cNvPicPr>
            <a:picLocks noChangeAspect="1"/>
          </p:cNvPicPr>
          <p:nvPr/>
        </p:nvPicPr>
        <p:blipFill>
          <a:blip r:embed="rId9"/>
          <a:srcRect t="3360" b="3922"/>
          <a:stretch>
            <a:fillRect/>
          </a:stretch>
        </p:blipFill>
        <p:spPr>
          <a:xfrm>
            <a:off x="7638471" y="1029238"/>
            <a:ext cx="3953093" cy="2765011"/>
          </a:xfrm>
          <a:prstGeom prst="rect">
            <a:avLst/>
          </a:prstGeom>
        </p:spPr>
      </p:pic>
      <p:pic>
        <p:nvPicPr>
          <p:cNvPr id="22" name="Graphic 21" descr="Globe with solid fill">
            <a:extLst>
              <a:ext uri="{FF2B5EF4-FFF2-40B4-BE49-F238E27FC236}">
                <a16:creationId xmlns:a16="http://schemas.microsoft.com/office/drawing/2014/main" id="{F7372AF6-1E3F-4A34-7083-C9B7B8413CD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139928" y="3737294"/>
            <a:ext cx="495401" cy="495401"/>
          </a:xfrm>
          <a:prstGeom prst="rect">
            <a:avLst/>
          </a:prstGeom>
        </p:spPr>
      </p:pic>
      <p:pic>
        <p:nvPicPr>
          <p:cNvPr id="46" name="Graphic 45" descr="Stethoscope with solid fill">
            <a:extLst>
              <a:ext uri="{FF2B5EF4-FFF2-40B4-BE49-F238E27FC236}">
                <a16:creationId xmlns:a16="http://schemas.microsoft.com/office/drawing/2014/main" id="{C38CDF64-1882-2432-CE82-4F3C840987D3}"/>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682728" y="774710"/>
            <a:ext cx="533162" cy="533162"/>
          </a:xfrm>
          <a:prstGeom prst="rect">
            <a:avLst/>
          </a:prstGeom>
        </p:spPr>
      </p:pic>
      <p:sp>
        <p:nvSpPr>
          <p:cNvPr id="50" name="Slide Number Placeholder 1">
            <a:extLst>
              <a:ext uri="{FF2B5EF4-FFF2-40B4-BE49-F238E27FC236}">
                <a16:creationId xmlns:a16="http://schemas.microsoft.com/office/drawing/2014/main" id="{406BC120-CDE0-C8C7-1747-4A8A6E69611B}"/>
              </a:ext>
            </a:extLst>
          </p:cNvPr>
          <p:cNvSpPr txBox="1">
            <a:spLocks/>
          </p:cNvSpPr>
          <p:nvPr/>
        </p:nvSpPr>
        <p:spPr>
          <a:xfrm>
            <a:off x="9131135" y="6521552"/>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292B180-B274-DE43-B36F-C827C7616C05}" type="slidenum">
              <a:rPr lang="en-US" smtClean="0"/>
              <a:pPr/>
              <a:t>59</a:t>
            </a:fld>
            <a:endParaRPr lang="en-US"/>
          </a:p>
        </p:txBody>
      </p:sp>
      <p:sp>
        <p:nvSpPr>
          <p:cNvPr id="3" name="TextBox 2">
            <a:extLst>
              <a:ext uri="{FF2B5EF4-FFF2-40B4-BE49-F238E27FC236}">
                <a16:creationId xmlns:a16="http://schemas.microsoft.com/office/drawing/2014/main" id="{6C12D111-B858-42EF-FC15-7D13755EB268}"/>
              </a:ext>
            </a:extLst>
          </p:cNvPr>
          <p:cNvSpPr txBox="1"/>
          <p:nvPr/>
        </p:nvSpPr>
        <p:spPr>
          <a:xfrm>
            <a:off x="80193" y="634557"/>
            <a:ext cx="3389326" cy="338554"/>
          </a:xfrm>
          <a:prstGeom prst="rect">
            <a:avLst/>
          </a:prstGeom>
          <a:noFill/>
        </p:spPr>
        <p:txBody>
          <a:bodyPr wrap="none" rtlCol="0">
            <a:spAutoFit/>
          </a:bodyPr>
          <a:lstStyle/>
          <a:p>
            <a:r>
              <a:rPr lang="en-US" sz="1600" dirty="0">
                <a:solidFill>
                  <a:schemeClr val="bg1">
                    <a:lumMod val="50000"/>
                  </a:schemeClr>
                </a:solidFill>
              </a:rPr>
              <a:t>Adapted from </a:t>
            </a:r>
            <a:r>
              <a:rPr lang="en-US" sz="1600" dirty="0">
                <a:solidFill>
                  <a:schemeClr val="bg1">
                    <a:lumMod val="50000"/>
                  </a:schemeClr>
                </a:solidFill>
                <a:hlinkClick r:id="rId12"/>
              </a:rPr>
              <a:t>Pennington et al. 2026</a:t>
            </a:r>
            <a:endParaRPr lang="en-US" sz="1600" dirty="0">
              <a:solidFill>
                <a:schemeClr val="bg1">
                  <a:lumMod val="50000"/>
                </a:schemeClr>
              </a:solidFill>
            </a:endParaRPr>
          </a:p>
        </p:txBody>
      </p:sp>
    </p:spTree>
    <p:extLst>
      <p:ext uri="{BB962C8B-B14F-4D97-AF65-F5344CB8AC3E}">
        <p14:creationId xmlns:p14="http://schemas.microsoft.com/office/powerpoint/2010/main" val="317042291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F0F8B6-0E04-B8A2-6333-621EF7466349}"/>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42E9B91-D70D-7844-DCAC-8AED181AA6F8}"/>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C5F6753B-BAC9-AFA6-742C-AD4EC6E5C1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41DCFF6E-0DF4-049E-9465-CBB8BABED00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24860EF9-EB22-ECF8-C5A7-896C5ACB2597}"/>
              </a:ext>
            </a:extLst>
          </p:cNvPr>
          <p:cNvSpPr txBox="1">
            <a:spLocks/>
          </p:cNvSpPr>
          <p:nvPr/>
        </p:nvSpPr>
        <p:spPr>
          <a:xfrm>
            <a:off x="0" y="15231"/>
            <a:ext cx="12192000" cy="632682"/>
          </a:xfrm>
          <a:prstGeom prst="rect">
            <a:avLst/>
          </a:prstGeom>
          <a:noFill/>
        </p:spPr>
        <p:txBody>
          <a:bodyPr vert="horz" lIns="91440" tIns="45720" rIns="91440" bIns="45720" rtlCol="0" anchor="ctr">
            <a:normAutofit fontScale="9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Varying norms and awareness: career stage</a:t>
            </a:r>
          </a:p>
        </p:txBody>
      </p:sp>
      <p:sp>
        <p:nvSpPr>
          <p:cNvPr id="2" name="Slide Number Placeholder 1">
            <a:extLst>
              <a:ext uri="{FF2B5EF4-FFF2-40B4-BE49-F238E27FC236}">
                <a16:creationId xmlns:a16="http://schemas.microsoft.com/office/drawing/2014/main" id="{0D217B79-8D61-9A57-2120-35A3F6E1F726}"/>
              </a:ext>
            </a:extLst>
          </p:cNvPr>
          <p:cNvSpPr>
            <a:spLocks noGrp="1"/>
          </p:cNvSpPr>
          <p:nvPr>
            <p:ph type="sldNum" sz="quarter" idx="12"/>
          </p:nvPr>
        </p:nvSpPr>
        <p:spPr/>
        <p:txBody>
          <a:bodyPr/>
          <a:lstStyle/>
          <a:p>
            <a:fld id="{D292B180-B274-DE43-B36F-C827C7616C05}" type="slidenum">
              <a:rPr lang="en-US" smtClean="0"/>
              <a:t>60</a:t>
            </a:fld>
            <a:endParaRPr lang="en-US"/>
          </a:p>
        </p:txBody>
      </p:sp>
      <p:pic>
        <p:nvPicPr>
          <p:cNvPr id="8" name="image9.png">
            <a:extLst>
              <a:ext uri="{FF2B5EF4-FFF2-40B4-BE49-F238E27FC236}">
                <a16:creationId xmlns:a16="http://schemas.microsoft.com/office/drawing/2014/main" id="{B860D416-27A8-FA76-37D4-635CB1B2FB93}"/>
              </a:ext>
            </a:extLst>
          </p:cNvPr>
          <p:cNvPicPr/>
          <p:nvPr/>
        </p:nvPicPr>
        <p:blipFill rotWithShape="1">
          <a:blip r:embed="rId5"/>
          <a:srcRect t="-1" r="47509" b="77225"/>
          <a:stretch>
            <a:fillRect/>
          </a:stretch>
        </p:blipFill>
        <p:spPr bwMode="auto">
          <a:xfrm>
            <a:off x="318633" y="1801246"/>
            <a:ext cx="5429024" cy="3061904"/>
          </a:xfrm>
          <a:prstGeom prst="rect">
            <a:avLst/>
          </a:prstGeom>
          <a:ln>
            <a:noFill/>
          </a:ln>
          <a:extLst>
            <a:ext uri="{53640926-AAD7-44D8-BBD7-CCE9431645EC}">
              <a14:shadowObscured xmlns:a14="http://schemas.microsoft.com/office/drawing/2010/main"/>
            </a:ext>
          </a:extLst>
        </p:spPr>
      </p:pic>
      <p:pic>
        <p:nvPicPr>
          <p:cNvPr id="9" name="image9.png">
            <a:extLst>
              <a:ext uri="{FF2B5EF4-FFF2-40B4-BE49-F238E27FC236}">
                <a16:creationId xmlns:a16="http://schemas.microsoft.com/office/drawing/2014/main" id="{1488F530-C463-3217-56B6-B98AA6980ACF}"/>
              </a:ext>
            </a:extLst>
          </p:cNvPr>
          <p:cNvPicPr/>
          <p:nvPr/>
        </p:nvPicPr>
        <p:blipFill rotWithShape="1">
          <a:blip r:embed="rId5"/>
          <a:srcRect l="20879" t="96699" r="18858" b="104"/>
          <a:stretch>
            <a:fillRect/>
          </a:stretch>
        </p:blipFill>
        <p:spPr bwMode="auto">
          <a:xfrm>
            <a:off x="2016804" y="5088700"/>
            <a:ext cx="6840281" cy="497688"/>
          </a:xfrm>
          <a:prstGeom prst="rect">
            <a:avLst/>
          </a:prstGeom>
          <a:ln>
            <a:noFill/>
          </a:ln>
          <a:extLst>
            <a:ext uri="{53640926-AAD7-44D8-BBD7-CCE9431645EC}">
              <a14:shadowObscured xmlns:a14="http://schemas.microsoft.com/office/drawing/2010/main"/>
            </a:ext>
          </a:extLst>
        </p:spPr>
      </p:pic>
      <p:pic>
        <p:nvPicPr>
          <p:cNvPr id="10" name="image9.png">
            <a:extLst>
              <a:ext uri="{FF2B5EF4-FFF2-40B4-BE49-F238E27FC236}">
                <a16:creationId xmlns:a16="http://schemas.microsoft.com/office/drawing/2014/main" id="{52BCB230-D923-C39C-C4A4-00328F1F49F9}"/>
              </a:ext>
            </a:extLst>
          </p:cNvPr>
          <p:cNvPicPr/>
          <p:nvPr/>
        </p:nvPicPr>
        <p:blipFill rotWithShape="1">
          <a:blip r:embed="rId5"/>
          <a:srcRect l="53046" t="72445" r="11393" b="3499"/>
          <a:stretch>
            <a:fillRect/>
          </a:stretch>
        </p:blipFill>
        <p:spPr bwMode="auto">
          <a:xfrm>
            <a:off x="5593278" y="1696424"/>
            <a:ext cx="3883231" cy="3331104"/>
          </a:xfrm>
          <a:prstGeom prst="rect">
            <a:avLst/>
          </a:prstGeom>
          <a:ln>
            <a:noFill/>
          </a:ln>
          <a:extLst>
            <a:ext uri="{53640926-AAD7-44D8-BBD7-CCE9431645EC}">
              <a14:shadowObscured xmlns:a14="http://schemas.microsoft.com/office/drawing/2010/main"/>
            </a:ext>
          </a:extLst>
        </p:spPr>
      </p:pic>
      <p:sp>
        <p:nvSpPr>
          <p:cNvPr id="14" name="Rectangle 13">
            <a:extLst>
              <a:ext uri="{FF2B5EF4-FFF2-40B4-BE49-F238E27FC236}">
                <a16:creationId xmlns:a16="http://schemas.microsoft.com/office/drawing/2014/main" id="{B40E6399-1247-71A1-E8C0-33BD63122EDC}"/>
              </a:ext>
            </a:extLst>
          </p:cNvPr>
          <p:cNvSpPr/>
          <p:nvPr/>
        </p:nvSpPr>
        <p:spPr>
          <a:xfrm>
            <a:off x="1211283" y="2275640"/>
            <a:ext cx="1009403" cy="218178"/>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43D75B9E-76E2-B4B4-8B65-2521BD6557B2}"/>
              </a:ext>
            </a:extLst>
          </p:cNvPr>
          <p:cNvSpPr/>
          <p:nvPr/>
        </p:nvSpPr>
        <p:spPr>
          <a:xfrm>
            <a:off x="855023" y="4193505"/>
            <a:ext cx="1365663" cy="218178"/>
          </a:xfrm>
          <a:prstGeom prst="rect">
            <a:avLst/>
          </a:prstGeom>
          <a:solidFill>
            <a:srgbClr val="C00000">
              <a:alpha val="18716"/>
            </a:srgbClr>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Graphic 18" descr="Graduation cap with solid fill">
            <a:extLst>
              <a:ext uri="{FF2B5EF4-FFF2-40B4-BE49-F238E27FC236}">
                <a16:creationId xmlns:a16="http://schemas.microsoft.com/office/drawing/2014/main" id="{DEAFDA99-E055-0F44-738C-9EB6EAFBDC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593796" y="1575696"/>
            <a:ext cx="747861" cy="747861"/>
          </a:xfrm>
          <a:prstGeom prst="rect">
            <a:avLst/>
          </a:prstGeom>
        </p:spPr>
      </p:pic>
      <p:pic>
        <p:nvPicPr>
          <p:cNvPr id="21" name="Graphic 20" descr="Teacher with solid fill">
            <a:extLst>
              <a:ext uri="{FF2B5EF4-FFF2-40B4-BE49-F238E27FC236}">
                <a16:creationId xmlns:a16="http://schemas.microsoft.com/office/drawing/2014/main" id="{F2B0C1CB-384E-650C-A1BB-A8A06A760C3A}"/>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257049" y="1532226"/>
            <a:ext cx="708205" cy="708205"/>
          </a:xfrm>
          <a:prstGeom prst="rect">
            <a:avLst/>
          </a:prstGeom>
        </p:spPr>
      </p:pic>
      <p:sp>
        <p:nvSpPr>
          <p:cNvPr id="3" name="TextBox 2">
            <a:extLst>
              <a:ext uri="{FF2B5EF4-FFF2-40B4-BE49-F238E27FC236}">
                <a16:creationId xmlns:a16="http://schemas.microsoft.com/office/drawing/2014/main" id="{653C1D5D-5705-191B-F295-A1D4A7E79CC1}"/>
              </a:ext>
            </a:extLst>
          </p:cNvPr>
          <p:cNvSpPr txBox="1"/>
          <p:nvPr/>
        </p:nvSpPr>
        <p:spPr>
          <a:xfrm>
            <a:off x="80193" y="634557"/>
            <a:ext cx="3389326" cy="338554"/>
          </a:xfrm>
          <a:prstGeom prst="rect">
            <a:avLst/>
          </a:prstGeom>
          <a:noFill/>
        </p:spPr>
        <p:txBody>
          <a:bodyPr wrap="none" rtlCol="0">
            <a:spAutoFit/>
          </a:bodyPr>
          <a:lstStyle/>
          <a:p>
            <a:r>
              <a:rPr lang="en-US" sz="1600" dirty="0">
                <a:solidFill>
                  <a:schemeClr val="bg1">
                    <a:lumMod val="50000"/>
                  </a:schemeClr>
                </a:solidFill>
              </a:rPr>
              <a:t>Adapted from </a:t>
            </a:r>
            <a:r>
              <a:rPr lang="en-US" sz="1600" dirty="0">
                <a:solidFill>
                  <a:schemeClr val="bg1">
                    <a:lumMod val="50000"/>
                  </a:schemeClr>
                </a:solidFill>
                <a:hlinkClick r:id="rId8"/>
              </a:rPr>
              <a:t>Pennington et al. 2026</a:t>
            </a:r>
            <a:endParaRPr lang="en-US" sz="1600" dirty="0">
              <a:solidFill>
                <a:schemeClr val="bg1">
                  <a:lumMod val="50000"/>
                </a:schemeClr>
              </a:solidFill>
            </a:endParaRPr>
          </a:p>
        </p:txBody>
      </p:sp>
    </p:spTree>
    <p:extLst>
      <p:ext uri="{BB962C8B-B14F-4D97-AF65-F5344CB8AC3E}">
        <p14:creationId xmlns:p14="http://schemas.microsoft.com/office/powerpoint/2010/main" val="427362301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88721-4D03-10F2-1929-2FB8408A049B}"/>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B011904-A4D0-C727-E08C-E317DAA8EDB8}"/>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2ED40AC0-D965-E33E-08D2-2B4DC1DD30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D1E0D4D-146F-569F-B421-F7F17AD34928}"/>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E460473D-4464-3961-0994-3F2004E03FC2}"/>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influences leadership and research culture</a:t>
            </a:r>
          </a:p>
        </p:txBody>
      </p:sp>
      <p:sp>
        <p:nvSpPr>
          <p:cNvPr id="2" name="Slide Number Placeholder 1">
            <a:extLst>
              <a:ext uri="{FF2B5EF4-FFF2-40B4-BE49-F238E27FC236}">
                <a16:creationId xmlns:a16="http://schemas.microsoft.com/office/drawing/2014/main" id="{3A1BD6F8-98B5-4E3D-33C9-7543638D8148}"/>
              </a:ext>
            </a:extLst>
          </p:cNvPr>
          <p:cNvSpPr>
            <a:spLocks noGrp="1"/>
          </p:cNvSpPr>
          <p:nvPr>
            <p:ph type="sldNum" sz="quarter" idx="12"/>
          </p:nvPr>
        </p:nvSpPr>
        <p:spPr/>
        <p:txBody>
          <a:bodyPr/>
          <a:lstStyle/>
          <a:p>
            <a:fld id="{D292B180-B274-DE43-B36F-C827C7616C05}" type="slidenum">
              <a:rPr lang="en-US" smtClean="0"/>
              <a:t>61</a:t>
            </a:fld>
            <a:endParaRPr lang="en-US" dirty="0"/>
          </a:p>
        </p:txBody>
      </p:sp>
      <p:sp>
        <p:nvSpPr>
          <p:cNvPr id="14" name="TextBox 13">
            <a:extLst>
              <a:ext uri="{FF2B5EF4-FFF2-40B4-BE49-F238E27FC236}">
                <a16:creationId xmlns:a16="http://schemas.microsoft.com/office/drawing/2014/main" id="{616E4372-7286-CCA4-BB85-BCF8DDCC3A2E}"/>
              </a:ext>
            </a:extLst>
          </p:cNvPr>
          <p:cNvSpPr txBox="1"/>
          <p:nvPr/>
        </p:nvSpPr>
        <p:spPr>
          <a:xfrm>
            <a:off x="116146" y="829016"/>
            <a:ext cx="3137693" cy="1938992"/>
          </a:xfrm>
          <a:prstGeom prst="rect">
            <a:avLst/>
          </a:prstGeom>
          <a:noFill/>
        </p:spPr>
        <p:txBody>
          <a:bodyPr wrap="square" rtlCol="0">
            <a:spAutoFit/>
          </a:bodyPr>
          <a:lstStyle/>
          <a:p>
            <a:r>
              <a:rPr lang="en-US" sz="2000" dirty="0"/>
              <a:t>Social and cultural factors such as </a:t>
            </a:r>
            <a:r>
              <a:rPr lang="en-US" sz="2000" b="1" dirty="0"/>
              <a:t>gender</a:t>
            </a:r>
            <a:r>
              <a:rPr lang="en-US" sz="2000" dirty="0"/>
              <a:t>, </a:t>
            </a:r>
            <a:r>
              <a:rPr lang="en-US" sz="2000" b="1" dirty="0"/>
              <a:t>ethnicity</a:t>
            </a:r>
            <a:r>
              <a:rPr lang="en-US" sz="2000" dirty="0"/>
              <a:t>, </a:t>
            </a:r>
            <a:r>
              <a:rPr lang="en-US" sz="2000" b="1" dirty="0"/>
              <a:t>employment status</a:t>
            </a:r>
            <a:r>
              <a:rPr lang="en-US" sz="2000" dirty="0"/>
              <a:t>, </a:t>
            </a:r>
            <a:r>
              <a:rPr lang="en-US" sz="2000" b="1" dirty="0"/>
              <a:t>travel freedoms</a:t>
            </a:r>
            <a:r>
              <a:rPr lang="en-US" sz="2000" dirty="0"/>
              <a:t>, etc. influence how you do research.</a:t>
            </a:r>
          </a:p>
        </p:txBody>
      </p:sp>
      <p:sp>
        <p:nvSpPr>
          <p:cNvPr id="3" name="Rectangle 2">
            <a:extLst>
              <a:ext uri="{FF2B5EF4-FFF2-40B4-BE49-F238E27FC236}">
                <a16:creationId xmlns:a16="http://schemas.microsoft.com/office/drawing/2014/main" id="{357B62A4-5932-E2CF-F745-230D329FC128}"/>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51972466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FA2B4-C1FA-FC1C-36EC-871E02F98A7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C8A6FDD-5F40-90DC-0073-81898771F3D8}"/>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31BFCB1C-B7C5-0FC3-7A1E-C30E11AC0A8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0864A9C-9446-E7AA-5FE8-34C094F080FC}"/>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086B42E6-3B2E-9DC3-236E-7FCD30F82881}"/>
              </a:ext>
            </a:extLst>
          </p:cNvPr>
          <p:cNvSpPr>
            <a:spLocks noGrp="1"/>
          </p:cNvSpPr>
          <p:nvPr>
            <p:ph type="sldNum" sz="quarter" idx="12"/>
          </p:nvPr>
        </p:nvSpPr>
        <p:spPr/>
        <p:txBody>
          <a:bodyPr/>
          <a:lstStyle/>
          <a:p>
            <a:fld id="{D292B180-B274-DE43-B36F-C827C7616C05}" type="slidenum">
              <a:rPr lang="en-US" smtClean="0"/>
              <a:t>62</a:t>
            </a:fld>
            <a:endParaRPr lang="en-US" dirty="0"/>
          </a:p>
        </p:txBody>
      </p:sp>
      <p:sp>
        <p:nvSpPr>
          <p:cNvPr id="11" name="TextBox 10">
            <a:extLst>
              <a:ext uri="{FF2B5EF4-FFF2-40B4-BE49-F238E27FC236}">
                <a16:creationId xmlns:a16="http://schemas.microsoft.com/office/drawing/2014/main" id="{CF815C8F-3AB4-382A-A595-239E1D065D2D}"/>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5"/>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pic>
        <p:nvPicPr>
          <p:cNvPr id="13" name="Picture 12">
            <a:extLst>
              <a:ext uri="{FF2B5EF4-FFF2-40B4-BE49-F238E27FC236}">
                <a16:creationId xmlns:a16="http://schemas.microsoft.com/office/drawing/2014/main" id="{6F44458D-1A36-B6AB-8DA8-7EBE2356615D}"/>
              </a:ext>
            </a:extLst>
          </p:cNvPr>
          <p:cNvPicPr>
            <a:picLocks noChangeAspect="1"/>
          </p:cNvPicPr>
          <p:nvPr/>
        </p:nvPicPr>
        <p:blipFill>
          <a:blip r:embed="rId6"/>
          <a:srcRect l="9019" t="2250" r="6720" b="2509"/>
          <a:stretch>
            <a:fillRect/>
          </a:stretch>
        </p:blipFill>
        <p:spPr>
          <a:xfrm>
            <a:off x="2777179" y="743091"/>
            <a:ext cx="5888273" cy="6114909"/>
          </a:xfrm>
          <a:prstGeom prst="rect">
            <a:avLst/>
          </a:prstGeom>
        </p:spPr>
      </p:pic>
      <p:sp>
        <p:nvSpPr>
          <p:cNvPr id="14" name="TextBox 13">
            <a:extLst>
              <a:ext uri="{FF2B5EF4-FFF2-40B4-BE49-F238E27FC236}">
                <a16:creationId xmlns:a16="http://schemas.microsoft.com/office/drawing/2014/main" id="{C63F4A98-D50F-0FB0-6357-C7453068F6BE}"/>
              </a:ext>
            </a:extLst>
          </p:cNvPr>
          <p:cNvSpPr txBox="1"/>
          <p:nvPr/>
        </p:nvSpPr>
        <p:spPr>
          <a:xfrm>
            <a:off x="116146" y="829016"/>
            <a:ext cx="3137693" cy="1938992"/>
          </a:xfrm>
          <a:prstGeom prst="rect">
            <a:avLst/>
          </a:prstGeom>
          <a:noFill/>
        </p:spPr>
        <p:txBody>
          <a:bodyPr wrap="square" rtlCol="0">
            <a:spAutoFit/>
          </a:bodyPr>
          <a:lstStyle/>
          <a:p>
            <a:r>
              <a:rPr lang="en-US" sz="2000" dirty="0"/>
              <a:t>Social and cultural factors such as </a:t>
            </a:r>
            <a:r>
              <a:rPr lang="en-US" sz="2000" b="1" dirty="0"/>
              <a:t>gender</a:t>
            </a:r>
            <a:r>
              <a:rPr lang="en-US" sz="2000" dirty="0"/>
              <a:t>, </a:t>
            </a:r>
            <a:r>
              <a:rPr lang="en-US" sz="2000" b="1" dirty="0"/>
              <a:t>ethnicity</a:t>
            </a:r>
            <a:r>
              <a:rPr lang="en-US" sz="2000" dirty="0"/>
              <a:t>, </a:t>
            </a:r>
            <a:r>
              <a:rPr lang="en-US" sz="2000" b="1" dirty="0"/>
              <a:t>employment status</a:t>
            </a:r>
            <a:r>
              <a:rPr lang="en-US" sz="2000" dirty="0"/>
              <a:t>, </a:t>
            </a:r>
            <a:r>
              <a:rPr lang="en-US" sz="2000" b="1" dirty="0"/>
              <a:t>travel freedoms</a:t>
            </a:r>
            <a:r>
              <a:rPr lang="en-US" sz="2000" dirty="0"/>
              <a:t>, etc. influence how you do research.</a:t>
            </a:r>
          </a:p>
        </p:txBody>
      </p:sp>
      <p:sp>
        <p:nvSpPr>
          <p:cNvPr id="21" name="TextBox 20">
            <a:extLst>
              <a:ext uri="{FF2B5EF4-FFF2-40B4-BE49-F238E27FC236}">
                <a16:creationId xmlns:a16="http://schemas.microsoft.com/office/drawing/2014/main" id="{956F385B-30B3-71C4-5B2E-9085A0F58B0B}"/>
              </a:ext>
            </a:extLst>
          </p:cNvPr>
          <p:cNvSpPr txBox="1"/>
          <p:nvPr/>
        </p:nvSpPr>
        <p:spPr>
          <a:xfrm>
            <a:off x="8763243" y="2368521"/>
            <a:ext cx="3428757" cy="2554545"/>
          </a:xfrm>
          <a:prstGeom prst="rect">
            <a:avLst/>
          </a:prstGeom>
          <a:noFill/>
        </p:spPr>
        <p:txBody>
          <a:bodyPr wrap="square" rtlCol="0">
            <a:spAutoFit/>
          </a:bodyPr>
          <a:lstStyle/>
          <a:p>
            <a:r>
              <a:rPr lang="en-GB" sz="2000" dirty="0"/>
              <a:t>The </a:t>
            </a:r>
            <a:r>
              <a:rPr lang="en-GB" sz="2000" b="1" dirty="0"/>
              <a:t>Academic Wheel of Privilege </a:t>
            </a:r>
            <a:r>
              <a:rPr lang="en-GB" sz="2000" dirty="0"/>
              <a:t>is a framework to reflect on how social location influences academic activities (e.g. </a:t>
            </a:r>
            <a:r>
              <a:rPr lang="en-GB" sz="2000" b="1" dirty="0"/>
              <a:t>authorship</a:t>
            </a:r>
            <a:r>
              <a:rPr lang="en-GB" sz="2000" dirty="0"/>
              <a:t> decisions, building </a:t>
            </a:r>
            <a:r>
              <a:rPr lang="en-GB" sz="2000" b="1" dirty="0"/>
              <a:t>collaborations</a:t>
            </a:r>
            <a:r>
              <a:rPr lang="en-GB" sz="2000" dirty="0"/>
              <a:t>, </a:t>
            </a:r>
            <a:r>
              <a:rPr lang="en-GB" sz="2000" b="1" dirty="0"/>
              <a:t>study design</a:t>
            </a:r>
            <a:r>
              <a:rPr lang="en-GB" sz="2000" dirty="0"/>
              <a:t>, and </a:t>
            </a:r>
            <a:r>
              <a:rPr lang="en-GB" sz="2000" b="1" dirty="0"/>
              <a:t>leadership</a:t>
            </a:r>
            <a:r>
              <a:rPr lang="en-GB" sz="2000" dirty="0"/>
              <a:t>).  </a:t>
            </a:r>
            <a:endParaRPr lang="en-US" sz="2000" dirty="0"/>
          </a:p>
        </p:txBody>
      </p:sp>
      <p:sp>
        <p:nvSpPr>
          <p:cNvPr id="3" name="Rectangle 2">
            <a:extLst>
              <a:ext uri="{FF2B5EF4-FFF2-40B4-BE49-F238E27FC236}">
                <a16:creationId xmlns:a16="http://schemas.microsoft.com/office/drawing/2014/main" id="{6C9B3714-E094-6A1C-6889-6AE31844A765}"/>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Rectangle 6">
            <a:extLst>
              <a:ext uri="{FF2B5EF4-FFF2-40B4-BE49-F238E27FC236}">
                <a16:creationId xmlns:a16="http://schemas.microsoft.com/office/drawing/2014/main" id="{4386D3FF-D683-E4B4-5EA1-FE39F2067570}"/>
              </a:ext>
            </a:extLst>
          </p:cNvPr>
          <p:cNvSpPr/>
          <p:nvPr/>
        </p:nvSpPr>
        <p:spPr>
          <a:xfrm>
            <a:off x="109502" y="865051"/>
            <a:ext cx="3137693" cy="1866921"/>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itle 1">
            <a:extLst>
              <a:ext uri="{FF2B5EF4-FFF2-40B4-BE49-F238E27FC236}">
                <a16:creationId xmlns:a16="http://schemas.microsoft.com/office/drawing/2014/main" id="{A41706A2-A016-6EBF-3850-06F36881F1CF}"/>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influences leadership and research culture</a:t>
            </a:r>
          </a:p>
        </p:txBody>
      </p:sp>
    </p:spTree>
    <p:extLst>
      <p:ext uri="{BB962C8B-B14F-4D97-AF65-F5344CB8AC3E}">
        <p14:creationId xmlns:p14="http://schemas.microsoft.com/office/powerpoint/2010/main" val="262716030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0361-000A-1E53-D7E9-ED2F2368B852}"/>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4431E748-0984-492C-E9FD-BE06CFF2E080}"/>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4E3EDA16-F4D0-D199-FB59-DB90724EF5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ABC9CDBF-1C9B-78D8-5F4F-CB5B2A2DB92B}"/>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A227DC7D-9600-B9C7-504B-E069F9C7FE76}"/>
              </a:ext>
            </a:extLst>
          </p:cNvPr>
          <p:cNvSpPr txBox="1">
            <a:spLocks/>
          </p:cNvSpPr>
          <p:nvPr/>
        </p:nvSpPr>
        <p:spPr>
          <a:xfrm>
            <a:off x="0" y="0"/>
            <a:ext cx="12192000" cy="95164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influences leadership style</a:t>
            </a:r>
          </a:p>
        </p:txBody>
      </p:sp>
      <p:sp>
        <p:nvSpPr>
          <p:cNvPr id="2" name="Slide Number Placeholder 1">
            <a:extLst>
              <a:ext uri="{FF2B5EF4-FFF2-40B4-BE49-F238E27FC236}">
                <a16:creationId xmlns:a16="http://schemas.microsoft.com/office/drawing/2014/main" id="{8B866F31-A13E-5537-9B46-05E9E1F7F457}"/>
              </a:ext>
            </a:extLst>
          </p:cNvPr>
          <p:cNvSpPr>
            <a:spLocks noGrp="1"/>
          </p:cNvSpPr>
          <p:nvPr>
            <p:ph type="sldNum" sz="quarter" idx="12"/>
          </p:nvPr>
        </p:nvSpPr>
        <p:spPr/>
        <p:txBody>
          <a:bodyPr/>
          <a:lstStyle/>
          <a:p>
            <a:fld id="{D292B180-B274-DE43-B36F-C827C7616C05}" type="slidenum">
              <a:rPr lang="en-US" smtClean="0"/>
              <a:t>63</a:t>
            </a:fld>
            <a:endParaRPr lang="en-US" dirty="0"/>
          </a:p>
        </p:txBody>
      </p:sp>
      <p:pic>
        <p:nvPicPr>
          <p:cNvPr id="13" name="Picture 12">
            <a:extLst>
              <a:ext uri="{FF2B5EF4-FFF2-40B4-BE49-F238E27FC236}">
                <a16:creationId xmlns:a16="http://schemas.microsoft.com/office/drawing/2014/main" id="{54BDFC91-B29D-6652-7A93-2B47561BEBC6}"/>
              </a:ext>
            </a:extLst>
          </p:cNvPr>
          <p:cNvPicPr>
            <a:picLocks noChangeAspect="1"/>
          </p:cNvPicPr>
          <p:nvPr/>
        </p:nvPicPr>
        <p:blipFill>
          <a:blip r:embed="rId5"/>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3E936BBB-3516-480D-F471-57AD6B6142E3}"/>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CE69A678-354E-F71C-25DD-C5FA3B3DD191}"/>
              </a:ext>
            </a:extLst>
          </p:cNvPr>
          <p:cNvSpPr txBox="1"/>
          <p:nvPr/>
        </p:nvSpPr>
        <p:spPr>
          <a:xfrm>
            <a:off x="200742" y="1151098"/>
            <a:ext cx="3017471" cy="3170099"/>
          </a:xfrm>
          <a:prstGeom prst="rect">
            <a:avLst/>
          </a:prstGeom>
          <a:noFill/>
        </p:spPr>
        <p:txBody>
          <a:bodyPr wrap="square" rtlCol="0">
            <a:spAutoFit/>
          </a:bodyPr>
          <a:lstStyle/>
          <a:p>
            <a:r>
              <a:rPr lang="en-US" sz="2000" dirty="0"/>
              <a:t>Each of us map onto a different </a:t>
            </a:r>
            <a:r>
              <a:rPr lang="en-US" sz="2000" b="1" dirty="0"/>
              <a:t>social location</a:t>
            </a:r>
            <a:r>
              <a:rPr lang="en-US" sz="2000" dirty="0"/>
              <a:t>, which </a:t>
            </a:r>
            <a:r>
              <a:rPr lang="en-US" sz="2000" b="1" dirty="0"/>
              <a:t>can change </a:t>
            </a:r>
            <a:r>
              <a:rPr lang="en-US" sz="2000" dirty="0"/>
              <a:t>over time. </a:t>
            </a:r>
          </a:p>
          <a:p>
            <a:endParaRPr lang="en-US" sz="2000" dirty="0"/>
          </a:p>
          <a:p>
            <a:r>
              <a:rPr lang="en-US" sz="2000" dirty="0"/>
              <a:t>Our social location influences our </a:t>
            </a:r>
            <a:r>
              <a:rPr lang="en-US" sz="2000" b="1" dirty="0"/>
              <a:t>values</a:t>
            </a:r>
            <a:r>
              <a:rPr lang="en-US" sz="2000" dirty="0"/>
              <a:t>, </a:t>
            </a:r>
            <a:r>
              <a:rPr lang="en-US" sz="2000" b="1" dirty="0"/>
              <a:t>actions</a:t>
            </a:r>
            <a:r>
              <a:rPr lang="en-US" sz="2000" dirty="0"/>
              <a:t> and the </a:t>
            </a:r>
            <a:r>
              <a:rPr lang="en-US" sz="2000" b="1" dirty="0"/>
              <a:t>research culture</a:t>
            </a:r>
            <a:r>
              <a:rPr lang="en-US" sz="2000" dirty="0"/>
              <a:t> we foster as leaders.</a:t>
            </a:r>
            <a:endParaRPr lang="en-US" dirty="0"/>
          </a:p>
        </p:txBody>
      </p:sp>
      <p:sp>
        <p:nvSpPr>
          <p:cNvPr id="8" name="TextBox 7">
            <a:extLst>
              <a:ext uri="{FF2B5EF4-FFF2-40B4-BE49-F238E27FC236}">
                <a16:creationId xmlns:a16="http://schemas.microsoft.com/office/drawing/2014/main" id="{7D1FA7DC-D733-9E4B-5653-590A30417601}"/>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6"/>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8097268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8E152-DC48-6B14-6E37-F0729ABEC5E9}"/>
            </a:ext>
          </a:extLst>
        </p:cNvPr>
        <p:cNvGrpSpPr/>
        <p:nvPr/>
      </p:nvGrpSpPr>
      <p:grpSpPr>
        <a:xfrm>
          <a:off x="0" y="0"/>
          <a:ext cx="0" cy="0"/>
          <a:chOff x="0" y="0"/>
          <a:chExt cx="0" cy="0"/>
        </a:xfrm>
      </p:grpSpPr>
      <p:sp>
        <p:nvSpPr>
          <p:cNvPr id="29" name="TextBox 28">
            <a:extLst>
              <a:ext uri="{FF2B5EF4-FFF2-40B4-BE49-F238E27FC236}">
                <a16:creationId xmlns:a16="http://schemas.microsoft.com/office/drawing/2014/main" id="{9E3A73F4-4CED-F098-22BC-950B11CB95D1}"/>
              </a:ext>
            </a:extLst>
          </p:cNvPr>
          <p:cNvSpPr txBox="1"/>
          <p:nvPr/>
        </p:nvSpPr>
        <p:spPr>
          <a:xfrm>
            <a:off x="9093021" y="1028838"/>
            <a:ext cx="3017471" cy="4708981"/>
          </a:xfrm>
          <a:prstGeom prst="rect">
            <a:avLst/>
          </a:prstGeom>
          <a:solidFill>
            <a:schemeClr val="bg1">
              <a:lumMod val="85000"/>
            </a:schemeClr>
          </a:solidFill>
        </p:spPr>
        <p:txBody>
          <a:bodyPr wrap="square" rtlCol="0">
            <a:spAutoFit/>
          </a:bodyPr>
          <a:lstStyle/>
          <a:p>
            <a:r>
              <a:rPr lang="en-US" sz="2000" dirty="0"/>
              <a:t>Example: teaching a reproducible coding workshop </a:t>
            </a:r>
          </a:p>
          <a:p>
            <a:endParaRPr lang="en-US" sz="2000" dirty="0"/>
          </a:p>
          <a:p>
            <a:r>
              <a:rPr lang="en-US" sz="2000" dirty="0"/>
              <a:t>The workshop is likely to be </a:t>
            </a:r>
            <a:r>
              <a:rPr lang="en-US" sz="2000" b="1" dirty="0"/>
              <a:t>led differently </a:t>
            </a:r>
            <a:r>
              <a:rPr lang="en-US" sz="2000" dirty="0"/>
              <a:t>if the instructor is a tenured male professor, disabled post-doctoral researcher or a female international PhD student. </a:t>
            </a:r>
          </a:p>
          <a:p>
            <a:endParaRPr lang="en-US" sz="2000" dirty="0"/>
          </a:p>
          <a:p>
            <a:r>
              <a:rPr lang="en-US" sz="2000" dirty="0"/>
              <a:t>See </a:t>
            </a:r>
            <a:r>
              <a:rPr lang="en-US" sz="2000" dirty="0">
                <a:hlinkClick r:id="rId3"/>
              </a:rPr>
              <a:t>Gershenson et al. (2015)</a:t>
            </a:r>
            <a:r>
              <a:rPr lang="en-US" sz="2000" dirty="0"/>
              <a:t> for more on this topic.</a:t>
            </a:r>
          </a:p>
        </p:txBody>
      </p:sp>
      <p:grpSp>
        <p:nvGrpSpPr>
          <p:cNvPr id="4" name="Group 3">
            <a:extLst>
              <a:ext uri="{FF2B5EF4-FFF2-40B4-BE49-F238E27FC236}">
                <a16:creationId xmlns:a16="http://schemas.microsoft.com/office/drawing/2014/main" id="{BE87AF62-1DE4-A8F6-2EA2-5506754084F9}"/>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2BF0C9CF-8AC5-7CB7-E529-08A3270797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FE0BE2E-7813-7BB8-83A5-5C34EA4C4E2A}"/>
                </a:ext>
              </a:extLst>
            </p:cNvPr>
            <p:cNvPicPr>
              <a:picLocks noChangeAspect="1"/>
            </p:cNvPicPr>
            <p:nvPr/>
          </p:nvPicPr>
          <p:blipFill>
            <a:blip r:embed="rId5"/>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5A6F005-AC29-383D-1FCA-1CB4A5D78E22}"/>
              </a:ext>
            </a:extLst>
          </p:cNvPr>
          <p:cNvSpPr txBox="1">
            <a:spLocks/>
          </p:cNvSpPr>
          <p:nvPr/>
        </p:nvSpPr>
        <p:spPr>
          <a:xfrm>
            <a:off x="0" y="0"/>
            <a:ext cx="12192000" cy="951646"/>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influences leadership style</a:t>
            </a:r>
          </a:p>
        </p:txBody>
      </p:sp>
      <p:sp>
        <p:nvSpPr>
          <p:cNvPr id="2" name="Slide Number Placeholder 1">
            <a:extLst>
              <a:ext uri="{FF2B5EF4-FFF2-40B4-BE49-F238E27FC236}">
                <a16:creationId xmlns:a16="http://schemas.microsoft.com/office/drawing/2014/main" id="{5561ED62-33A1-A00E-4FA5-5D25650FDDD2}"/>
              </a:ext>
            </a:extLst>
          </p:cNvPr>
          <p:cNvSpPr>
            <a:spLocks noGrp="1"/>
          </p:cNvSpPr>
          <p:nvPr>
            <p:ph type="sldNum" sz="quarter" idx="12"/>
          </p:nvPr>
        </p:nvSpPr>
        <p:spPr/>
        <p:txBody>
          <a:bodyPr/>
          <a:lstStyle/>
          <a:p>
            <a:fld id="{D292B180-B274-DE43-B36F-C827C7616C05}" type="slidenum">
              <a:rPr lang="en-US" smtClean="0"/>
              <a:t>64</a:t>
            </a:fld>
            <a:endParaRPr lang="en-US" dirty="0"/>
          </a:p>
        </p:txBody>
      </p:sp>
      <p:pic>
        <p:nvPicPr>
          <p:cNvPr id="13" name="Picture 12">
            <a:extLst>
              <a:ext uri="{FF2B5EF4-FFF2-40B4-BE49-F238E27FC236}">
                <a16:creationId xmlns:a16="http://schemas.microsoft.com/office/drawing/2014/main" id="{EEF6C08C-5221-769F-EEB2-AEC6D7783D2C}"/>
              </a:ext>
            </a:extLst>
          </p:cNvPr>
          <p:cNvPicPr>
            <a:picLocks noChangeAspect="1"/>
          </p:cNvPicPr>
          <p:nvPr/>
        </p:nvPicPr>
        <p:blipFill>
          <a:blip r:embed="rId6"/>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3B4217AE-1F24-1724-063A-A8E7AABF9436}"/>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Box 27">
            <a:extLst>
              <a:ext uri="{FF2B5EF4-FFF2-40B4-BE49-F238E27FC236}">
                <a16:creationId xmlns:a16="http://schemas.microsoft.com/office/drawing/2014/main" id="{9ED2886E-B43F-FAE6-4867-8A95E6577789}"/>
              </a:ext>
            </a:extLst>
          </p:cNvPr>
          <p:cNvSpPr txBox="1"/>
          <p:nvPr/>
        </p:nvSpPr>
        <p:spPr>
          <a:xfrm>
            <a:off x="200742" y="1151098"/>
            <a:ext cx="3017471" cy="3170099"/>
          </a:xfrm>
          <a:prstGeom prst="rect">
            <a:avLst/>
          </a:prstGeom>
          <a:noFill/>
        </p:spPr>
        <p:txBody>
          <a:bodyPr wrap="square" rtlCol="0">
            <a:spAutoFit/>
          </a:bodyPr>
          <a:lstStyle/>
          <a:p>
            <a:r>
              <a:rPr lang="en-US" sz="2000" dirty="0"/>
              <a:t>Each of us map onto a different </a:t>
            </a:r>
            <a:r>
              <a:rPr lang="en-US" sz="2000" b="1" dirty="0"/>
              <a:t>social location</a:t>
            </a:r>
            <a:r>
              <a:rPr lang="en-US" sz="2000" dirty="0"/>
              <a:t>, which </a:t>
            </a:r>
            <a:r>
              <a:rPr lang="en-US" sz="2000" b="1" dirty="0"/>
              <a:t>can change </a:t>
            </a:r>
            <a:r>
              <a:rPr lang="en-US" sz="2000" dirty="0"/>
              <a:t>over time. </a:t>
            </a:r>
          </a:p>
          <a:p>
            <a:endParaRPr lang="en-US" sz="2000" dirty="0"/>
          </a:p>
          <a:p>
            <a:r>
              <a:rPr lang="en-US" sz="2000" dirty="0"/>
              <a:t>Our social location influences our </a:t>
            </a:r>
            <a:r>
              <a:rPr lang="en-US" sz="2000" b="1" dirty="0"/>
              <a:t>values</a:t>
            </a:r>
            <a:r>
              <a:rPr lang="en-US" sz="2000" dirty="0"/>
              <a:t>, </a:t>
            </a:r>
            <a:r>
              <a:rPr lang="en-US" sz="2000" b="1" dirty="0"/>
              <a:t>actions</a:t>
            </a:r>
            <a:r>
              <a:rPr lang="en-US" sz="2000" dirty="0"/>
              <a:t> and the </a:t>
            </a:r>
            <a:r>
              <a:rPr lang="en-US" sz="2000" b="1" dirty="0"/>
              <a:t>research culture</a:t>
            </a:r>
            <a:r>
              <a:rPr lang="en-US" sz="2000" dirty="0"/>
              <a:t> we foster as leaders.</a:t>
            </a:r>
            <a:endParaRPr lang="en-US" dirty="0"/>
          </a:p>
        </p:txBody>
      </p:sp>
      <p:pic>
        <p:nvPicPr>
          <p:cNvPr id="39" name="Graphic 38" descr="Programmer female outline">
            <a:extLst>
              <a:ext uri="{FF2B5EF4-FFF2-40B4-BE49-F238E27FC236}">
                <a16:creationId xmlns:a16="http://schemas.microsoft.com/office/drawing/2014/main" id="{408D4F8C-EC7B-0F26-3F8B-4E55D2A1FFBE}"/>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76596" y="1250679"/>
            <a:ext cx="914400" cy="914400"/>
          </a:xfrm>
          <a:prstGeom prst="rect">
            <a:avLst/>
          </a:prstGeom>
        </p:spPr>
      </p:pic>
      <p:sp>
        <p:nvSpPr>
          <p:cNvPr id="7" name="Rectangle 6">
            <a:extLst>
              <a:ext uri="{FF2B5EF4-FFF2-40B4-BE49-F238E27FC236}">
                <a16:creationId xmlns:a16="http://schemas.microsoft.com/office/drawing/2014/main" id="{20FC0C69-E011-DD5A-B4B4-6BC9E8C598D6}"/>
              </a:ext>
            </a:extLst>
          </p:cNvPr>
          <p:cNvSpPr/>
          <p:nvPr/>
        </p:nvSpPr>
        <p:spPr>
          <a:xfrm>
            <a:off x="109502" y="865051"/>
            <a:ext cx="3137693" cy="3778201"/>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552DC08A-6ACD-4971-9920-5EC22D0D8B17}"/>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8"/>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851813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BF5F05-C68D-8EA0-9D21-85ACAC30246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DD4BB3B7-8076-60D4-DE4D-EB706183392B}"/>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97E15A2B-FF67-7A0E-6886-8B0407B0F7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755F6789-C947-8DD9-C071-60AC0F93102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97CE1CC9-06C6-F4D1-F941-764DEC083564}"/>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and adoption of Open Science practices</a:t>
            </a:r>
          </a:p>
        </p:txBody>
      </p:sp>
      <p:sp>
        <p:nvSpPr>
          <p:cNvPr id="2" name="Slide Number Placeholder 1">
            <a:extLst>
              <a:ext uri="{FF2B5EF4-FFF2-40B4-BE49-F238E27FC236}">
                <a16:creationId xmlns:a16="http://schemas.microsoft.com/office/drawing/2014/main" id="{0821D727-2625-55CE-F385-46AF11BA9604}"/>
              </a:ext>
            </a:extLst>
          </p:cNvPr>
          <p:cNvSpPr>
            <a:spLocks noGrp="1"/>
          </p:cNvSpPr>
          <p:nvPr>
            <p:ph type="sldNum" sz="quarter" idx="12"/>
          </p:nvPr>
        </p:nvSpPr>
        <p:spPr/>
        <p:txBody>
          <a:bodyPr/>
          <a:lstStyle/>
          <a:p>
            <a:fld id="{D292B180-B274-DE43-B36F-C827C7616C05}" type="slidenum">
              <a:rPr lang="en-US" smtClean="0"/>
              <a:t>65</a:t>
            </a:fld>
            <a:endParaRPr lang="en-US" dirty="0"/>
          </a:p>
        </p:txBody>
      </p:sp>
      <p:pic>
        <p:nvPicPr>
          <p:cNvPr id="13" name="Picture 12">
            <a:extLst>
              <a:ext uri="{FF2B5EF4-FFF2-40B4-BE49-F238E27FC236}">
                <a16:creationId xmlns:a16="http://schemas.microsoft.com/office/drawing/2014/main" id="{C36FA40A-8B8B-9D8B-FA1F-5DF0EAAE0576}"/>
              </a:ext>
            </a:extLst>
          </p:cNvPr>
          <p:cNvPicPr>
            <a:picLocks noChangeAspect="1"/>
          </p:cNvPicPr>
          <p:nvPr/>
        </p:nvPicPr>
        <p:blipFill>
          <a:blip r:embed="rId5"/>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C297C432-D392-BD58-CA85-006134A5FC74}"/>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7D64123B-EB2E-68D0-EB6B-6D1BBD62A484}"/>
              </a:ext>
            </a:extLst>
          </p:cNvPr>
          <p:cNvSpPr txBox="1"/>
          <p:nvPr/>
        </p:nvSpPr>
        <p:spPr>
          <a:xfrm>
            <a:off x="228769" y="4194860"/>
            <a:ext cx="3203199" cy="1323439"/>
          </a:xfrm>
          <a:prstGeom prst="rect">
            <a:avLst/>
          </a:prstGeom>
          <a:solidFill>
            <a:srgbClr val="7030A0">
              <a:alpha val="12755"/>
            </a:srgbClr>
          </a:solidFill>
        </p:spPr>
        <p:txBody>
          <a:bodyPr wrap="square" rtlCol="0">
            <a:spAutoFit/>
          </a:bodyPr>
          <a:lstStyle/>
          <a:p>
            <a:r>
              <a:rPr lang="en-US" sz="2000" dirty="0"/>
              <a:t>Ability to pay for Article Processing Charges (APCs) for </a:t>
            </a:r>
            <a:r>
              <a:rPr lang="en-US" sz="2000" b="1" dirty="0"/>
              <a:t>Open Access </a:t>
            </a:r>
            <a:r>
              <a:rPr lang="en-US" sz="2000" dirty="0"/>
              <a:t>publications</a:t>
            </a:r>
          </a:p>
        </p:txBody>
      </p:sp>
      <p:pic>
        <p:nvPicPr>
          <p:cNvPr id="12" name="Graphic 11" descr="Coins outline">
            <a:extLst>
              <a:ext uri="{FF2B5EF4-FFF2-40B4-BE49-F238E27FC236}">
                <a16:creationId xmlns:a16="http://schemas.microsoft.com/office/drawing/2014/main" id="{4E7F00DC-A17F-E2C9-F551-B849B8799BF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07796" y="4813837"/>
            <a:ext cx="720776" cy="720776"/>
          </a:xfrm>
          <a:prstGeom prst="rect">
            <a:avLst/>
          </a:prstGeom>
        </p:spPr>
      </p:pic>
      <p:sp>
        <p:nvSpPr>
          <p:cNvPr id="16" name="TextBox 15">
            <a:extLst>
              <a:ext uri="{FF2B5EF4-FFF2-40B4-BE49-F238E27FC236}">
                <a16:creationId xmlns:a16="http://schemas.microsoft.com/office/drawing/2014/main" id="{CF20F0AB-2FBC-0215-E206-283538E0021D}"/>
              </a:ext>
            </a:extLst>
          </p:cNvPr>
          <p:cNvSpPr txBox="1"/>
          <p:nvPr/>
        </p:nvSpPr>
        <p:spPr>
          <a:xfrm>
            <a:off x="228768" y="3796401"/>
            <a:ext cx="3203199" cy="400110"/>
          </a:xfrm>
          <a:prstGeom prst="rect">
            <a:avLst/>
          </a:prstGeom>
          <a:solidFill>
            <a:srgbClr val="7030A0">
              <a:alpha val="42054"/>
            </a:srgbClr>
          </a:solidFill>
        </p:spPr>
        <p:txBody>
          <a:bodyPr wrap="square">
            <a:spAutoFit/>
          </a:bodyPr>
          <a:lstStyle/>
          <a:p>
            <a:r>
              <a:rPr lang="en-US" sz="2000" b="1" dirty="0"/>
              <a:t>Funding/resources </a:t>
            </a:r>
          </a:p>
        </p:txBody>
      </p:sp>
      <p:sp>
        <p:nvSpPr>
          <p:cNvPr id="9" name="TextBox 8">
            <a:extLst>
              <a:ext uri="{FF2B5EF4-FFF2-40B4-BE49-F238E27FC236}">
                <a16:creationId xmlns:a16="http://schemas.microsoft.com/office/drawing/2014/main" id="{EDB58CEE-93A4-A713-0D44-1DD1E3D324C7}"/>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7"/>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82825434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1499E5-CBDB-A88A-E956-E9A89159AAD1}"/>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B0B398AD-9D65-3D47-DD6B-6A3420E1285C}"/>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0836B583-D7DF-3725-0C47-BEA0DA37DDD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CCD99DC-F45E-5EFA-D3BE-2E908647888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CD51A157-952D-EBE1-7952-10E2D58732EF}"/>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and adoption of Open Science practices</a:t>
            </a:r>
          </a:p>
        </p:txBody>
      </p:sp>
      <p:sp>
        <p:nvSpPr>
          <p:cNvPr id="2" name="Slide Number Placeholder 1">
            <a:extLst>
              <a:ext uri="{FF2B5EF4-FFF2-40B4-BE49-F238E27FC236}">
                <a16:creationId xmlns:a16="http://schemas.microsoft.com/office/drawing/2014/main" id="{BB2C32EA-9C55-7958-F4EB-CC1DF92FFD0E}"/>
              </a:ext>
            </a:extLst>
          </p:cNvPr>
          <p:cNvSpPr>
            <a:spLocks noGrp="1"/>
          </p:cNvSpPr>
          <p:nvPr>
            <p:ph type="sldNum" sz="quarter" idx="12"/>
          </p:nvPr>
        </p:nvSpPr>
        <p:spPr/>
        <p:txBody>
          <a:bodyPr/>
          <a:lstStyle/>
          <a:p>
            <a:fld id="{D292B180-B274-DE43-B36F-C827C7616C05}" type="slidenum">
              <a:rPr lang="en-US" smtClean="0"/>
              <a:t>66</a:t>
            </a:fld>
            <a:endParaRPr lang="en-US" dirty="0"/>
          </a:p>
        </p:txBody>
      </p:sp>
      <p:pic>
        <p:nvPicPr>
          <p:cNvPr id="13" name="Picture 12">
            <a:extLst>
              <a:ext uri="{FF2B5EF4-FFF2-40B4-BE49-F238E27FC236}">
                <a16:creationId xmlns:a16="http://schemas.microsoft.com/office/drawing/2014/main" id="{B1DAE0DA-F3F0-5255-12E8-9B906761C534}"/>
              </a:ext>
            </a:extLst>
          </p:cNvPr>
          <p:cNvPicPr>
            <a:picLocks noChangeAspect="1"/>
          </p:cNvPicPr>
          <p:nvPr/>
        </p:nvPicPr>
        <p:blipFill>
          <a:blip r:embed="rId5"/>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89138105-D9B6-12DD-EF3E-6DD2C4AF855F}"/>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6C47895D-6CA1-F0AB-7621-3E32E6A7ACEB}"/>
              </a:ext>
            </a:extLst>
          </p:cNvPr>
          <p:cNvSpPr txBox="1"/>
          <p:nvPr/>
        </p:nvSpPr>
        <p:spPr>
          <a:xfrm>
            <a:off x="228769" y="4194860"/>
            <a:ext cx="3203199" cy="1323439"/>
          </a:xfrm>
          <a:prstGeom prst="rect">
            <a:avLst/>
          </a:prstGeom>
          <a:solidFill>
            <a:srgbClr val="7030A0">
              <a:alpha val="12755"/>
            </a:srgbClr>
          </a:solidFill>
        </p:spPr>
        <p:txBody>
          <a:bodyPr wrap="square" rtlCol="0">
            <a:spAutoFit/>
          </a:bodyPr>
          <a:lstStyle/>
          <a:p>
            <a:r>
              <a:rPr lang="en-US" sz="2000" dirty="0"/>
              <a:t>Ability to pay for Article Processing Charges (APCs) for </a:t>
            </a:r>
            <a:r>
              <a:rPr lang="en-US" sz="2000" b="1" dirty="0"/>
              <a:t>Open Access </a:t>
            </a:r>
            <a:r>
              <a:rPr lang="en-US" sz="2000" dirty="0"/>
              <a:t>publications</a:t>
            </a:r>
          </a:p>
        </p:txBody>
      </p:sp>
      <p:pic>
        <p:nvPicPr>
          <p:cNvPr id="12" name="Graphic 11" descr="Coins outline">
            <a:extLst>
              <a:ext uri="{FF2B5EF4-FFF2-40B4-BE49-F238E27FC236}">
                <a16:creationId xmlns:a16="http://schemas.microsoft.com/office/drawing/2014/main" id="{29F6848D-5265-FD9C-3EE0-16C0F99D89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07796" y="4813837"/>
            <a:ext cx="720776" cy="720776"/>
          </a:xfrm>
          <a:prstGeom prst="rect">
            <a:avLst/>
          </a:prstGeom>
        </p:spPr>
      </p:pic>
      <p:sp>
        <p:nvSpPr>
          <p:cNvPr id="16" name="TextBox 15">
            <a:extLst>
              <a:ext uri="{FF2B5EF4-FFF2-40B4-BE49-F238E27FC236}">
                <a16:creationId xmlns:a16="http://schemas.microsoft.com/office/drawing/2014/main" id="{C0A3DE48-4545-24E2-538A-BDF1A144CB01}"/>
              </a:ext>
            </a:extLst>
          </p:cNvPr>
          <p:cNvSpPr txBox="1"/>
          <p:nvPr/>
        </p:nvSpPr>
        <p:spPr>
          <a:xfrm>
            <a:off x="228768" y="3796401"/>
            <a:ext cx="3203199" cy="400110"/>
          </a:xfrm>
          <a:prstGeom prst="rect">
            <a:avLst/>
          </a:prstGeom>
          <a:solidFill>
            <a:srgbClr val="7030A0">
              <a:alpha val="42054"/>
            </a:srgbClr>
          </a:solidFill>
        </p:spPr>
        <p:txBody>
          <a:bodyPr wrap="square">
            <a:spAutoFit/>
          </a:bodyPr>
          <a:lstStyle/>
          <a:p>
            <a:r>
              <a:rPr lang="en-US" sz="2000" b="1" dirty="0"/>
              <a:t>Funding/resources </a:t>
            </a:r>
          </a:p>
        </p:txBody>
      </p:sp>
      <p:sp>
        <p:nvSpPr>
          <p:cNvPr id="24" name="TextBox 23">
            <a:extLst>
              <a:ext uri="{FF2B5EF4-FFF2-40B4-BE49-F238E27FC236}">
                <a16:creationId xmlns:a16="http://schemas.microsoft.com/office/drawing/2014/main" id="{13C6C5A6-EB50-99D1-CD21-D0C48AD4039E}"/>
              </a:ext>
            </a:extLst>
          </p:cNvPr>
          <p:cNvSpPr txBox="1"/>
          <p:nvPr/>
        </p:nvSpPr>
        <p:spPr>
          <a:xfrm>
            <a:off x="228769" y="914375"/>
            <a:ext cx="3203198" cy="400110"/>
          </a:xfrm>
          <a:prstGeom prst="rect">
            <a:avLst/>
          </a:prstGeom>
          <a:solidFill>
            <a:schemeClr val="accent2">
              <a:alpha val="46243"/>
            </a:schemeClr>
          </a:solidFill>
        </p:spPr>
        <p:txBody>
          <a:bodyPr wrap="square" rtlCol="0">
            <a:spAutoFit/>
          </a:bodyPr>
          <a:lstStyle/>
          <a:p>
            <a:r>
              <a:rPr lang="en-US" sz="2000" b="1" dirty="0"/>
              <a:t>Culture and language </a:t>
            </a:r>
          </a:p>
        </p:txBody>
      </p:sp>
      <p:sp>
        <p:nvSpPr>
          <p:cNvPr id="27" name="TextBox 26">
            <a:extLst>
              <a:ext uri="{FF2B5EF4-FFF2-40B4-BE49-F238E27FC236}">
                <a16:creationId xmlns:a16="http://schemas.microsoft.com/office/drawing/2014/main" id="{89C58803-847B-2AEE-B2BC-23003DAEBABA}"/>
              </a:ext>
            </a:extLst>
          </p:cNvPr>
          <p:cNvSpPr txBox="1"/>
          <p:nvPr/>
        </p:nvSpPr>
        <p:spPr>
          <a:xfrm>
            <a:off x="228768" y="1302568"/>
            <a:ext cx="3203198" cy="1938992"/>
          </a:xfrm>
          <a:prstGeom prst="rect">
            <a:avLst/>
          </a:prstGeom>
          <a:solidFill>
            <a:schemeClr val="accent2">
              <a:alpha val="21259"/>
            </a:schemeClr>
          </a:solidFill>
        </p:spPr>
        <p:txBody>
          <a:bodyPr wrap="square" rtlCol="0">
            <a:spAutoFit/>
          </a:bodyPr>
          <a:lstStyle/>
          <a:p>
            <a:r>
              <a:rPr lang="en-US" sz="2000" b="1" dirty="0"/>
              <a:t>Study design</a:t>
            </a:r>
            <a:r>
              <a:rPr lang="en-US" sz="2000" dirty="0"/>
              <a:t>, language accessibility of </a:t>
            </a:r>
            <a:r>
              <a:rPr lang="en-US" sz="2000" b="1" dirty="0"/>
              <a:t>Open Educational Resources. </a:t>
            </a:r>
            <a:r>
              <a:rPr lang="en-US" sz="2000" dirty="0"/>
              <a:t>Utility of </a:t>
            </a:r>
            <a:r>
              <a:rPr lang="en-US" sz="2000" b="1" dirty="0"/>
              <a:t>open peer review </a:t>
            </a:r>
            <a:r>
              <a:rPr lang="en-US" sz="2000" dirty="0"/>
              <a:t>perceived differently across cultures</a:t>
            </a:r>
          </a:p>
        </p:txBody>
      </p:sp>
      <p:pic>
        <p:nvPicPr>
          <p:cNvPr id="29" name="Graphic 28" descr="Chat with solid fill">
            <a:extLst>
              <a:ext uri="{FF2B5EF4-FFF2-40B4-BE49-F238E27FC236}">
                <a16:creationId xmlns:a16="http://schemas.microsoft.com/office/drawing/2014/main" id="{55B5F776-4EA6-0527-6C00-BD10FD0FAA8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654068" y="2557399"/>
            <a:ext cx="666437" cy="666437"/>
          </a:xfrm>
          <a:prstGeom prst="rect">
            <a:avLst/>
          </a:prstGeom>
        </p:spPr>
      </p:pic>
      <p:sp>
        <p:nvSpPr>
          <p:cNvPr id="7" name="Rectangle 6">
            <a:extLst>
              <a:ext uri="{FF2B5EF4-FFF2-40B4-BE49-F238E27FC236}">
                <a16:creationId xmlns:a16="http://schemas.microsoft.com/office/drawing/2014/main" id="{06F998D2-AED2-94D8-3391-0EAE149D4A24}"/>
              </a:ext>
            </a:extLst>
          </p:cNvPr>
          <p:cNvSpPr/>
          <p:nvPr/>
        </p:nvSpPr>
        <p:spPr>
          <a:xfrm>
            <a:off x="209402" y="3794569"/>
            <a:ext cx="3222564" cy="1938993"/>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7E439ED2-E9E8-455C-7B4B-2DD315890C64}"/>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8"/>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393623796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D49A9-9ACC-8B26-FDBA-DCAE490E0B4F}"/>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51A86900-FF1A-2DE0-0387-D173699415F3}"/>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856D5AB0-5B34-9680-82BD-038B4AFC64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3DA339F1-7B3D-4CDF-D8FF-0B4F53D9BD6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B489014-60A5-8DF3-8579-32E65181A6EB}"/>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and adoption of Open Science practices</a:t>
            </a:r>
          </a:p>
        </p:txBody>
      </p:sp>
      <p:sp>
        <p:nvSpPr>
          <p:cNvPr id="2" name="Slide Number Placeholder 1">
            <a:extLst>
              <a:ext uri="{FF2B5EF4-FFF2-40B4-BE49-F238E27FC236}">
                <a16:creationId xmlns:a16="http://schemas.microsoft.com/office/drawing/2014/main" id="{F12A8C61-EA56-17D9-15D3-67B25A629C0A}"/>
              </a:ext>
            </a:extLst>
          </p:cNvPr>
          <p:cNvSpPr>
            <a:spLocks noGrp="1"/>
          </p:cNvSpPr>
          <p:nvPr>
            <p:ph type="sldNum" sz="quarter" idx="12"/>
          </p:nvPr>
        </p:nvSpPr>
        <p:spPr/>
        <p:txBody>
          <a:bodyPr/>
          <a:lstStyle/>
          <a:p>
            <a:fld id="{D292B180-B274-DE43-B36F-C827C7616C05}" type="slidenum">
              <a:rPr lang="en-US" smtClean="0"/>
              <a:t>67</a:t>
            </a:fld>
            <a:endParaRPr lang="en-US" dirty="0"/>
          </a:p>
        </p:txBody>
      </p:sp>
      <p:pic>
        <p:nvPicPr>
          <p:cNvPr id="13" name="Picture 12">
            <a:extLst>
              <a:ext uri="{FF2B5EF4-FFF2-40B4-BE49-F238E27FC236}">
                <a16:creationId xmlns:a16="http://schemas.microsoft.com/office/drawing/2014/main" id="{E30A4BC1-4962-1AD2-A179-0DA5A6644581}"/>
              </a:ext>
            </a:extLst>
          </p:cNvPr>
          <p:cNvPicPr>
            <a:picLocks noChangeAspect="1"/>
          </p:cNvPicPr>
          <p:nvPr/>
        </p:nvPicPr>
        <p:blipFill>
          <a:blip r:embed="rId5"/>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A22EAB14-2925-690C-A619-300F8F5B2FEC}"/>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0F423798-497A-A8DF-F276-D0CD99344412}"/>
              </a:ext>
            </a:extLst>
          </p:cNvPr>
          <p:cNvSpPr txBox="1"/>
          <p:nvPr/>
        </p:nvSpPr>
        <p:spPr>
          <a:xfrm>
            <a:off x="228769" y="4194860"/>
            <a:ext cx="3203199" cy="1323439"/>
          </a:xfrm>
          <a:prstGeom prst="rect">
            <a:avLst/>
          </a:prstGeom>
          <a:solidFill>
            <a:srgbClr val="7030A0">
              <a:alpha val="12755"/>
            </a:srgbClr>
          </a:solidFill>
        </p:spPr>
        <p:txBody>
          <a:bodyPr wrap="square" rtlCol="0">
            <a:spAutoFit/>
          </a:bodyPr>
          <a:lstStyle/>
          <a:p>
            <a:r>
              <a:rPr lang="en-US" sz="2000" dirty="0"/>
              <a:t>Ability to pay for Article Processing Charges (APCs) for </a:t>
            </a:r>
            <a:r>
              <a:rPr lang="en-US" sz="2000" b="1" dirty="0"/>
              <a:t>Open Access </a:t>
            </a:r>
            <a:r>
              <a:rPr lang="en-US" sz="2000" dirty="0"/>
              <a:t>publications</a:t>
            </a:r>
          </a:p>
        </p:txBody>
      </p:sp>
      <p:pic>
        <p:nvPicPr>
          <p:cNvPr id="12" name="Graphic 11" descr="Coins outline">
            <a:extLst>
              <a:ext uri="{FF2B5EF4-FFF2-40B4-BE49-F238E27FC236}">
                <a16:creationId xmlns:a16="http://schemas.microsoft.com/office/drawing/2014/main" id="{DAB1DD28-C3DA-A3BF-963A-2563797E493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07796" y="4813837"/>
            <a:ext cx="720776" cy="720776"/>
          </a:xfrm>
          <a:prstGeom prst="rect">
            <a:avLst/>
          </a:prstGeom>
        </p:spPr>
      </p:pic>
      <p:sp>
        <p:nvSpPr>
          <p:cNvPr id="16" name="TextBox 15">
            <a:extLst>
              <a:ext uri="{FF2B5EF4-FFF2-40B4-BE49-F238E27FC236}">
                <a16:creationId xmlns:a16="http://schemas.microsoft.com/office/drawing/2014/main" id="{0F302C4B-89F0-3814-96E9-D48B6C64D758}"/>
              </a:ext>
            </a:extLst>
          </p:cNvPr>
          <p:cNvSpPr txBox="1"/>
          <p:nvPr/>
        </p:nvSpPr>
        <p:spPr>
          <a:xfrm>
            <a:off x="228768" y="3796401"/>
            <a:ext cx="3203199" cy="400110"/>
          </a:xfrm>
          <a:prstGeom prst="rect">
            <a:avLst/>
          </a:prstGeom>
          <a:solidFill>
            <a:srgbClr val="7030A0">
              <a:alpha val="42054"/>
            </a:srgbClr>
          </a:solidFill>
        </p:spPr>
        <p:txBody>
          <a:bodyPr wrap="square">
            <a:spAutoFit/>
          </a:bodyPr>
          <a:lstStyle/>
          <a:p>
            <a:r>
              <a:rPr lang="en-US" sz="2000" b="1" dirty="0"/>
              <a:t>Funding/resources </a:t>
            </a:r>
          </a:p>
        </p:txBody>
      </p:sp>
      <p:sp>
        <p:nvSpPr>
          <p:cNvPr id="24" name="TextBox 23">
            <a:extLst>
              <a:ext uri="{FF2B5EF4-FFF2-40B4-BE49-F238E27FC236}">
                <a16:creationId xmlns:a16="http://schemas.microsoft.com/office/drawing/2014/main" id="{1B3C7BDC-4529-29A6-D92D-9051857DE639}"/>
              </a:ext>
            </a:extLst>
          </p:cNvPr>
          <p:cNvSpPr txBox="1"/>
          <p:nvPr/>
        </p:nvSpPr>
        <p:spPr>
          <a:xfrm>
            <a:off x="228769" y="914375"/>
            <a:ext cx="3203198" cy="400110"/>
          </a:xfrm>
          <a:prstGeom prst="rect">
            <a:avLst/>
          </a:prstGeom>
          <a:solidFill>
            <a:schemeClr val="accent2">
              <a:alpha val="46243"/>
            </a:schemeClr>
          </a:solidFill>
        </p:spPr>
        <p:txBody>
          <a:bodyPr wrap="square" rtlCol="0">
            <a:spAutoFit/>
          </a:bodyPr>
          <a:lstStyle/>
          <a:p>
            <a:r>
              <a:rPr lang="en-US" sz="2000" b="1" dirty="0"/>
              <a:t>Culture and language </a:t>
            </a:r>
          </a:p>
        </p:txBody>
      </p:sp>
      <p:grpSp>
        <p:nvGrpSpPr>
          <p:cNvPr id="33" name="Group 32">
            <a:extLst>
              <a:ext uri="{FF2B5EF4-FFF2-40B4-BE49-F238E27FC236}">
                <a16:creationId xmlns:a16="http://schemas.microsoft.com/office/drawing/2014/main" id="{8ADD2C0E-7B5D-8CA8-DB98-3926A78CE64C}"/>
              </a:ext>
            </a:extLst>
          </p:cNvPr>
          <p:cNvGrpSpPr/>
          <p:nvPr/>
        </p:nvGrpSpPr>
        <p:grpSpPr>
          <a:xfrm>
            <a:off x="8760032" y="777380"/>
            <a:ext cx="3203201" cy="1711621"/>
            <a:chOff x="8610597" y="836977"/>
            <a:chExt cx="3203201" cy="1711621"/>
          </a:xfrm>
        </p:grpSpPr>
        <p:pic>
          <p:nvPicPr>
            <p:cNvPr id="17" name="Graphic 16" descr="Person in wheelchair with solid fill">
              <a:extLst>
                <a:ext uri="{FF2B5EF4-FFF2-40B4-BE49-F238E27FC236}">
                  <a16:creationId xmlns:a16="http://schemas.microsoft.com/office/drawing/2014/main" id="{F20AA8F5-A7D7-A322-ED94-0E56979C31D9}"/>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52692" y="1302568"/>
              <a:ext cx="579877" cy="579877"/>
            </a:xfrm>
            <a:prstGeom prst="rect">
              <a:avLst/>
            </a:prstGeom>
          </p:spPr>
        </p:pic>
        <p:sp>
          <p:nvSpPr>
            <p:cNvPr id="18" name="TextBox 17">
              <a:extLst>
                <a:ext uri="{FF2B5EF4-FFF2-40B4-BE49-F238E27FC236}">
                  <a16:creationId xmlns:a16="http://schemas.microsoft.com/office/drawing/2014/main" id="{4C17B4BF-B3B8-EBBC-A9E9-E43A9B987F66}"/>
                </a:ext>
              </a:extLst>
            </p:cNvPr>
            <p:cNvSpPr txBox="1"/>
            <p:nvPr/>
          </p:nvSpPr>
          <p:spPr>
            <a:xfrm>
              <a:off x="8610600" y="836977"/>
              <a:ext cx="3203198" cy="400110"/>
            </a:xfrm>
            <a:prstGeom prst="rect">
              <a:avLst/>
            </a:prstGeom>
            <a:solidFill>
              <a:srgbClr val="FFC000">
                <a:alpha val="41342"/>
              </a:srgbClr>
            </a:solidFill>
          </p:spPr>
          <p:txBody>
            <a:bodyPr wrap="square" rtlCol="0">
              <a:spAutoFit/>
            </a:bodyPr>
            <a:lstStyle/>
            <a:p>
              <a:r>
                <a:rPr lang="en-US" sz="2000" b="1" dirty="0"/>
                <a:t>Disability status</a:t>
              </a:r>
            </a:p>
          </p:txBody>
        </p:sp>
        <p:sp>
          <p:nvSpPr>
            <p:cNvPr id="25" name="TextBox 24">
              <a:extLst>
                <a:ext uri="{FF2B5EF4-FFF2-40B4-BE49-F238E27FC236}">
                  <a16:creationId xmlns:a16="http://schemas.microsoft.com/office/drawing/2014/main" id="{5412E341-8DC2-16CB-E2E8-7F9802457C23}"/>
                </a:ext>
              </a:extLst>
            </p:cNvPr>
            <p:cNvSpPr txBox="1"/>
            <p:nvPr/>
          </p:nvSpPr>
          <p:spPr>
            <a:xfrm>
              <a:off x="8610597" y="1225159"/>
              <a:ext cx="3203199" cy="1323439"/>
            </a:xfrm>
            <a:prstGeom prst="rect">
              <a:avLst/>
            </a:prstGeom>
            <a:solidFill>
              <a:srgbClr val="FFC000">
                <a:alpha val="12755"/>
              </a:srgbClr>
            </a:solidFill>
          </p:spPr>
          <p:txBody>
            <a:bodyPr wrap="square" rtlCol="0">
              <a:spAutoFit/>
            </a:bodyPr>
            <a:lstStyle/>
            <a:p>
              <a:r>
                <a:rPr lang="en-US" sz="2000" dirty="0"/>
                <a:t>Accessibility of </a:t>
              </a:r>
              <a:r>
                <a:rPr lang="en-US" sz="2000" b="1" dirty="0"/>
                <a:t>digital platforms</a:t>
              </a:r>
              <a:r>
                <a:rPr lang="en-US" sz="2000" dirty="0"/>
                <a:t> and time to implement Open Science practices </a:t>
              </a:r>
            </a:p>
          </p:txBody>
        </p:sp>
      </p:grpSp>
      <p:sp>
        <p:nvSpPr>
          <p:cNvPr id="27" name="TextBox 26">
            <a:extLst>
              <a:ext uri="{FF2B5EF4-FFF2-40B4-BE49-F238E27FC236}">
                <a16:creationId xmlns:a16="http://schemas.microsoft.com/office/drawing/2014/main" id="{95BA737F-0936-413C-5906-C845A456A591}"/>
              </a:ext>
            </a:extLst>
          </p:cNvPr>
          <p:cNvSpPr txBox="1"/>
          <p:nvPr/>
        </p:nvSpPr>
        <p:spPr>
          <a:xfrm>
            <a:off x="228768" y="1302568"/>
            <a:ext cx="3203198" cy="1938992"/>
          </a:xfrm>
          <a:prstGeom prst="rect">
            <a:avLst/>
          </a:prstGeom>
          <a:solidFill>
            <a:schemeClr val="accent2">
              <a:alpha val="21259"/>
            </a:schemeClr>
          </a:solidFill>
        </p:spPr>
        <p:txBody>
          <a:bodyPr wrap="square" rtlCol="0">
            <a:spAutoFit/>
          </a:bodyPr>
          <a:lstStyle/>
          <a:p>
            <a:r>
              <a:rPr lang="en-US" sz="2000" b="1" dirty="0"/>
              <a:t>Study design</a:t>
            </a:r>
            <a:r>
              <a:rPr lang="en-US" sz="2000" dirty="0"/>
              <a:t>, language accessibility of </a:t>
            </a:r>
            <a:r>
              <a:rPr lang="en-US" sz="2000" b="1" dirty="0"/>
              <a:t>Open Educational Resources. </a:t>
            </a:r>
            <a:r>
              <a:rPr lang="en-US" sz="2000" dirty="0"/>
              <a:t>Utility of </a:t>
            </a:r>
            <a:r>
              <a:rPr lang="en-US" sz="2000" b="1" dirty="0"/>
              <a:t>open peer review </a:t>
            </a:r>
            <a:r>
              <a:rPr lang="en-US" sz="2000" dirty="0"/>
              <a:t>perceived differently across cultures</a:t>
            </a:r>
          </a:p>
        </p:txBody>
      </p:sp>
      <p:pic>
        <p:nvPicPr>
          <p:cNvPr id="29" name="Graphic 28" descr="Chat with solid fill">
            <a:extLst>
              <a:ext uri="{FF2B5EF4-FFF2-40B4-BE49-F238E27FC236}">
                <a16:creationId xmlns:a16="http://schemas.microsoft.com/office/drawing/2014/main" id="{A4F2749D-CE8F-9CAA-2C3C-3D1C8498DF1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54068" y="2557399"/>
            <a:ext cx="666437" cy="666437"/>
          </a:xfrm>
          <a:prstGeom prst="rect">
            <a:avLst/>
          </a:prstGeom>
        </p:spPr>
      </p:pic>
      <p:sp>
        <p:nvSpPr>
          <p:cNvPr id="7" name="Rectangle 6">
            <a:extLst>
              <a:ext uri="{FF2B5EF4-FFF2-40B4-BE49-F238E27FC236}">
                <a16:creationId xmlns:a16="http://schemas.microsoft.com/office/drawing/2014/main" id="{0B7BE8AC-91EA-B6AE-8C0B-04CCC7144284}"/>
              </a:ext>
            </a:extLst>
          </p:cNvPr>
          <p:cNvSpPr/>
          <p:nvPr/>
        </p:nvSpPr>
        <p:spPr>
          <a:xfrm>
            <a:off x="209402" y="777381"/>
            <a:ext cx="3222564" cy="4956182"/>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2F7BA622-A3CC-565E-288B-1ED81FBE212D}"/>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9"/>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100328104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F62D5-0F6B-6B95-EA3B-D3DC9E876E94}"/>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24867AD7-D814-611D-D008-50C1E8C7FB57}"/>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DE9584CC-F121-B8C1-E47A-D5A52C5B61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85698DFC-1D9B-3AC5-7EE1-1268111BAB33}"/>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962F16A-0B55-1B32-6C3B-1B71A13A6512}"/>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and adoption of Open Science practices</a:t>
            </a:r>
          </a:p>
        </p:txBody>
      </p:sp>
      <p:sp>
        <p:nvSpPr>
          <p:cNvPr id="2" name="Slide Number Placeholder 1">
            <a:extLst>
              <a:ext uri="{FF2B5EF4-FFF2-40B4-BE49-F238E27FC236}">
                <a16:creationId xmlns:a16="http://schemas.microsoft.com/office/drawing/2014/main" id="{6D97C3B3-38F4-62DC-1AF3-D6C2C5EB642E}"/>
              </a:ext>
            </a:extLst>
          </p:cNvPr>
          <p:cNvSpPr>
            <a:spLocks noGrp="1"/>
          </p:cNvSpPr>
          <p:nvPr>
            <p:ph type="sldNum" sz="quarter" idx="12"/>
          </p:nvPr>
        </p:nvSpPr>
        <p:spPr/>
        <p:txBody>
          <a:bodyPr/>
          <a:lstStyle/>
          <a:p>
            <a:fld id="{D292B180-B274-DE43-B36F-C827C7616C05}" type="slidenum">
              <a:rPr lang="en-US" smtClean="0"/>
              <a:t>68</a:t>
            </a:fld>
            <a:endParaRPr lang="en-US" dirty="0"/>
          </a:p>
        </p:txBody>
      </p:sp>
      <p:pic>
        <p:nvPicPr>
          <p:cNvPr id="13" name="Picture 12">
            <a:extLst>
              <a:ext uri="{FF2B5EF4-FFF2-40B4-BE49-F238E27FC236}">
                <a16:creationId xmlns:a16="http://schemas.microsoft.com/office/drawing/2014/main" id="{9F2D39AF-63B8-42D5-CB00-A8EC732788E3}"/>
              </a:ext>
            </a:extLst>
          </p:cNvPr>
          <p:cNvPicPr>
            <a:picLocks noChangeAspect="1"/>
          </p:cNvPicPr>
          <p:nvPr/>
        </p:nvPicPr>
        <p:blipFill>
          <a:blip r:embed="rId5"/>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DE4152A1-E8F6-C05A-234B-639F12BD83C5}"/>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2592E47E-F4CD-FF5E-5B2F-4CC10C7D1F2C}"/>
              </a:ext>
            </a:extLst>
          </p:cNvPr>
          <p:cNvSpPr txBox="1"/>
          <p:nvPr/>
        </p:nvSpPr>
        <p:spPr>
          <a:xfrm>
            <a:off x="228769" y="4194860"/>
            <a:ext cx="3203199" cy="1323439"/>
          </a:xfrm>
          <a:prstGeom prst="rect">
            <a:avLst/>
          </a:prstGeom>
          <a:solidFill>
            <a:srgbClr val="7030A0">
              <a:alpha val="12755"/>
            </a:srgbClr>
          </a:solidFill>
        </p:spPr>
        <p:txBody>
          <a:bodyPr wrap="square" rtlCol="0">
            <a:spAutoFit/>
          </a:bodyPr>
          <a:lstStyle/>
          <a:p>
            <a:r>
              <a:rPr lang="en-US" sz="2000" dirty="0"/>
              <a:t>Ability to pay for Article Processing Charges (APCs) for </a:t>
            </a:r>
            <a:r>
              <a:rPr lang="en-US" sz="2000" b="1" dirty="0"/>
              <a:t>Open Access </a:t>
            </a:r>
            <a:r>
              <a:rPr lang="en-US" sz="2000" dirty="0"/>
              <a:t>publications</a:t>
            </a:r>
          </a:p>
        </p:txBody>
      </p:sp>
      <p:pic>
        <p:nvPicPr>
          <p:cNvPr id="12" name="Graphic 11" descr="Coins outline">
            <a:extLst>
              <a:ext uri="{FF2B5EF4-FFF2-40B4-BE49-F238E27FC236}">
                <a16:creationId xmlns:a16="http://schemas.microsoft.com/office/drawing/2014/main" id="{341F4053-A42D-7828-FED1-1DE72860A5C3}"/>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507796" y="4813837"/>
            <a:ext cx="720776" cy="720776"/>
          </a:xfrm>
          <a:prstGeom prst="rect">
            <a:avLst/>
          </a:prstGeom>
        </p:spPr>
      </p:pic>
      <p:sp>
        <p:nvSpPr>
          <p:cNvPr id="16" name="TextBox 15">
            <a:extLst>
              <a:ext uri="{FF2B5EF4-FFF2-40B4-BE49-F238E27FC236}">
                <a16:creationId xmlns:a16="http://schemas.microsoft.com/office/drawing/2014/main" id="{B2E07AA8-8467-DB26-1EC6-5726A6BC4432}"/>
              </a:ext>
            </a:extLst>
          </p:cNvPr>
          <p:cNvSpPr txBox="1"/>
          <p:nvPr/>
        </p:nvSpPr>
        <p:spPr>
          <a:xfrm>
            <a:off x="228768" y="3796401"/>
            <a:ext cx="3203199" cy="400110"/>
          </a:xfrm>
          <a:prstGeom prst="rect">
            <a:avLst/>
          </a:prstGeom>
          <a:solidFill>
            <a:srgbClr val="7030A0">
              <a:alpha val="42054"/>
            </a:srgbClr>
          </a:solidFill>
        </p:spPr>
        <p:txBody>
          <a:bodyPr wrap="square">
            <a:spAutoFit/>
          </a:bodyPr>
          <a:lstStyle/>
          <a:p>
            <a:r>
              <a:rPr lang="en-US" sz="2000" b="1" dirty="0"/>
              <a:t>Funding/resources </a:t>
            </a:r>
          </a:p>
        </p:txBody>
      </p:sp>
      <p:sp>
        <p:nvSpPr>
          <p:cNvPr id="24" name="TextBox 23">
            <a:extLst>
              <a:ext uri="{FF2B5EF4-FFF2-40B4-BE49-F238E27FC236}">
                <a16:creationId xmlns:a16="http://schemas.microsoft.com/office/drawing/2014/main" id="{675023F9-3820-DDFB-D1C9-C78A578C9DFF}"/>
              </a:ext>
            </a:extLst>
          </p:cNvPr>
          <p:cNvSpPr txBox="1"/>
          <p:nvPr/>
        </p:nvSpPr>
        <p:spPr>
          <a:xfrm>
            <a:off x="228769" y="914375"/>
            <a:ext cx="3203198" cy="400110"/>
          </a:xfrm>
          <a:prstGeom prst="rect">
            <a:avLst/>
          </a:prstGeom>
          <a:solidFill>
            <a:schemeClr val="accent2">
              <a:alpha val="46243"/>
            </a:schemeClr>
          </a:solidFill>
        </p:spPr>
        <p:txBody>
          <a:bodyPr wrap="square" rtlCol="0">
            <a:spAutoFit/>
          </a:bodyPr>
          <a:lstStyle/>
          <a:p>
            <a:r>
              <a:rPr lang="en-US" sz="2000" b="1" dirty="0"/>
              <a:t>Culture and language </a:t>
            </a:r>
          </a:p>
        </p:txBody>
      </p:sp>
      <p:grpSp>
        <p:nvGrpSpPr>
          <p:cNvPr id="33" name="Group 32">
            <a:extLst>
              <a:ext uri="{FF2B5EF4-FFF2-40B4-BE49-F238E27FC236}">
                <a16:creationId xmlns:a16="http://schemas.microsoft.com/office/drawing/2014/main" id="{3970E7AA-8F4D-3DA9-90EC-DFA923950368}"/>
              </a:ext>
            </a:extLst>
          </p:cNvPr>
          <p:cNvGrpSpPr/>
          <p:nvPr/>
        </p:nvGrpSpPr>
        <p:grpSpPr>
          <a:xfrm>
            <a:off x="8760032" y="777380"/>
            <a:ext cx="3203201" cy="1711621"/>
            <a:chOff x="8610597" y="836977"/>
            <a:chExt cx="3203201" cy="1711621"/>
          </a:xfrm>
        </p:grpSpPr>
        <p:pic>
          <p:nvPicPr>
            <p:cNvPr id="17" name="Graphic 16" descr="Person in wheelchair with solid fill">
              <a:extLst>
                <a:ext uri="{FF2B5EF4-FFF2-40B4-BE49-F238E27FC236}">
                  <a16:creationId xmlns:a16="http://schemas.microsoft.com/office/drawing/2014/main" id="{9847632D-3FE5-74DD-81FC-3434F61EED68}"/>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152692" y="1302568"/>
              <a:ext cx="579877" cy="579877"/>
            </a:xfrm>
            <a:prstGeom prst="rect">
              <a:avLst/>
            </a:prstGeom>
          </p:spPr>
        </p:pic>
        <p:sp>
          <p:nvSpPr>
            <p:cNvPr id="18" name="TextBox 17">
              <a:extLst>
                <a:ext uri="{FF2B5EF4-FFF2-40B4-BE49-F238E27FC236}">
                  <a16:creationId xmlns:a16="http://schemas.microsoft.com/office/drawing/2014/main" id="{3D5D89DB-98AA-A59F-80E5-BF87569F36E5}"/>
                </a:ext>
              </a:extLst>
            </p:cNvPr>
            <p:cNvSpPr txBox="1"/>
            <p:nvPr/>
          </p:nvSpPr>
          <p:spPr>
            <a:xfrm>
              <a:off x="8610600" y="836977"/>
              <a:ext cx="3203198" cy="400110"/>
            </a:xfrm>
            <a:prstGeom prst="rect">
              <a:avLst/>
            </a:prstGeom>
            <a:solidFill>
              <a:srgbClr val="FFC000">
                <a:alpha val="41342"/>
              </a:srgbClr>
            </a:solidFill>
          </p:spPr>
          <p:txBody>
            <a:bodyPr wrap="square" rtlCol="0">
              <a:spAutoFit/>
            </a:bodyPr>
            <a:lstStyle/>
            <a:p>
              <a:r>
                <a:rPr lang="en-US" sz="2000" b="1" dirty="0"/>
                <a:t>Disability status</a:t>
              </a:r>
            </a:p>
          </p:txBody>
        </p:sp>
        <p:sp>
          <p:nvSpPr>
            <p:cNvPr id="25" name="TextBox 24">
              <a:extLst>
                <a:ext uri="{FF2B5EF4-FFF2-40B4-BE49-F238E27FC236}">
                  <a16:creationId xmlns:a16="http://schemas.microsoft.com/office/drawing/2014/main" id="{2378C1BE-481B-3895-A2E3-6F91B8928EF4}"/>
                </a:ext>
              </a:extLst>
            </p:cNvPr>
            <p:cNvSpPr txBox="1"/>
            <p:nvPr/>
          </p:nvSpPr>
          <p:spPr>
            <a:xfrm>
              <a:off x="8610597" y="1225159"/>
              <a:ext cx="3203199" cy="1323439"/>
            </a:xfrm>
            <a:prstGeom prst="rect">
              <a:avLst/>
            </a:prstGeom>
            <a:solidFill>
              <a:srgbClr val="FFC000">
                <a:alpha val="12755"/>
              </a:srgbClr>
            </a:solidFill>
          </p:spPr>
          <p:txBody>
            <a:bodyPr wrap="square" rtlCol="0">
              <a:spAutoFit/>
            </a:bodyPr>
            <a:lstStyle/>
            <a:p>
              <a:r>
                <a:rPr lang="en-US" sz="2000" dirty="0"/>
                <a:t>Accessibility of </a:t>
              </a:r>
              <a:r>
                <a:rPr lang="en-US" sz="2000" b="1" dirty="0"/>
                <a:t>digital platforms</a:t>
              </a:r>
              <a:r>
                <a:rPr lang="en-US" sz="2000" dirty="0"/>
                <a:t> and time to implement Open Science practices </a:t>
              </a:r>
            </a:p>
          </p:txBody>
        </p:sp>
      </p:grpSp>
      <p:sp>
        <p:nvSpPr>
          <p:cNvPr id="27" name="TextBox 26">
            <a:extLst>
              <a:ext uri="{FF2B5EF4-FFF2-40B4-BE49-F238E27FC236}">
                <a16:creationId xmlns:a16="http://schemas.microsoft.com/office/drawing/2014/main" id="{BC13BBE9-4539-AC7F-464E-4DC6B2906020}"/>
              </a:ext>
            </a:extLst>
          </p:cNvPr>
          <p:cNvSpPr txBox="1"/>
          <p:nvPr/>
        </p:nvSpPr>
        <p:spPr>
          <a:xfrm>
            <a:off x="228768" y="1302568"/>
            <a:ext cx="3203198" cy="1938992"/>
          </a:xfrm>
          <a:prstGeom prst="rect">
            <a:avLst/>
          </a:prstGeom>
          <a:solidFill>
            <a:schemeClr val="accent2">
              <a:alpha val="21259"/>
            </a:schemeClr>
          </a:solidFill>
        </p:spPr>
        <p:txBody>
          <a:bodyPr wrap="square" rtlCol="0">
            <a:spAutoFit/>
          </a:bodyPr>
          <a:lstStyle/>
          <a:p>
            <a:r>
              <a:rPr lang="en-US" sz="2000" b="1" dirty="0"/>
              <a:t>Study design</a:t>
            </a:r>
            <a:r>
              <a:rPr lang="en-US" sz="2000" dirty="0"/>
              <a:t>, language accessibility of </a:t>
            </a:r>
            <a:r>
              <a:rPr lang="en-US" sz="2000" b="1" dirty="0"/>
              <a:t>Open Educational Resources. </a:t>
            </a:r>
            <a:r>
              <a:rPr lang="en-US" sz="2000" dirty="0"/>
              <a:t>Utility of </a:t>
            </a:r>
            <a:r>
              <a:rPr lang="en-US" sz="2000" b="1" dirty="0"/>
              <a:t>open peer review </a:t>
            </a:r>
            <a:r>
              <a:rPr lang="en-US" sz="2000" dirty="0"/>
              <a:t>perceived differently across cultures</a:t>
            </a:r>
          </a:p>
        </p:txBody>
      </p:sp>
      <p:pic>
        <p:nvPicPr>
          <p:cNvPr id="29" name="Graphic 28" descr="Chat with solid fill">
            <a:extLst>
              <a:ext uri="{FF2B5EF4-FFF2-40B4-BE49-F238E27FC236}">
                <a16:creationId xmlns:a16="http://schemas.microsoft.com/office/drawing/2014/main" id="{96283AE6-4D81-E410-1F89-061D706E062B}"/>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654068" y="2557399"/>
            <a:ext cx="666437" cy="666437"/>
          </a:xfrm>
          <a:prstGeom prst="rect">
            <a:avLst/>
          </a:prstGeom>
        </p:spPr>
      </p:pic>
      <p:sp>
        <p:nvSpPr>
          <p:cNvPr id="31" name="TextBox 30">
            <a:extLst>
              <a:ext uri="{FF2B5EF4-FFF2-40B4-BE49-F238E27FC236}">
                <a16:creationId xmlns:a16="http://schemas.microsoft.com/office/drawing/2014/main" id="{63CB3005-F28A-9391-4417-6D15CB1623B7}"/>
              </a:ext>
            </a:extLst>
          </p:cNvPr>
          <p:cNvSpPr txBox="1"/>
          <p:nvPr/>
        </p:nvSpPr>
        <p:spPr>
          <a:xfrm>
            <a:off x="8788563" y="2621780"/>
            <a:ext cx="3174668" cy="400110"/>
          </a:xfrm>
          <a:prstGeom prst="rect">
            <a:avLst/>
          </a:prstGeom>
          <a:solidFill>
            <a:srgbClr val="1FB02E">
              <a:alpha val="36078"/>
            </a:srgbClr>
          </a:solidFill>
        </p:spPr>
        <p:txBody>
          <a:bodyPr wrap="square" rtlCol="0">
            <a:spAutoFit/>
          </a:bodyPr>
          <a:lstStyle/>
          <a:p>
            <a:r>
              <a:rPr lang="en-US" sz="2000" b="1" dirty="0"/>
              <a:t>Home nation stability</a:t>
            </a:r>
            <a:endParaRPr lang="en-US" sz="2000" dirty="0"/>
          </a:p>
        </p:txBody>
      </p:sp>
      <p:sp>
        <p:nvSpPr>
          <p:cNvPr id="32" name="TextBox 31">
            <a:extLst>
              <a:ext uri="{FF2B5EF4-FFF2-40B4-BE49-F238E27FC236}">
                <a16:creationId xmlns:a16="http://schemas.microsoft.com/office/drawing/2014/main" id="{8A9929CC-2384-F5C3-6D4A-FBD6F75F4195}"/>
              </a:ext>
            </a:extLst>
          </p:cNvPr>
          <p:cNvSpPr txBox="1"/>
          <p:nvPr/>
        </p:nvSpPr>
        <p:spPr>
          <a:xfrm>
            <a:off x="8788563" y="3012507"/>
            <a:ext cx="3174668" cy="1015663"/>
          </a:xfrm>
          <a:prstGeom prst="rect">
            <a:avLst/>
          </a:prstGeom>
          <a:solidFill>
            <a:srgbClr val="1FB02E">
              <a:alpha val="12755"/>
            </a:srgbClr>
          </a:solidFill>
        </p:spPr>
        <p:txBody>
          <a:bodyPr wrap="square" rtlCol="0">
            <a:spAutoFit/>
          </a:bodyPr>
          <a:lstStyle/>
          <a:p>
            <a:r>
              <a:rPr lang="en-US" sz="2000" dirty="0"/>
              <a:t>Ability to make and sustain collaborations or engage in </a:t>
            </a:r>
            <a:r>
              <a:rPr lang="en-US" sz="2000" b="1" dirty="0"/>
              <a:t>Big Team Science </a:t>
            </a:r>
            <a:r>
              <a:rPr lang="en-US" sz="2000" dirty="0"/>
              <a:t>projects</a:t>
            </a:r>
          </a:p>
        </p:txBody>
      </p:sp>
      <p:pic>
        <p:nvPicPr>
          <p:cNvPr id="35" name="Graphic 34" descr="World with solid fill">
            <a:extLst>
              <a:ext uri="{FF2B5EF4-FFF2-40B4-BE49-F238E27FC236}">
                <a16:creationId xmlns:a16="http://schemas.microsoft.com/office/drawing/2014/main" id="{710E8216-246B-AE5C-20BA-D83D1CAEAB6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11442631" y="2611422"/>
            <a:ext cx="558393" cy="558393"/>
          </a:xfrm>
          <a:prstGeom prst="rect">
            <a:avLst/>
          </a:prstGeom>
        </p:spPr>
      </p:pic>
      <p:sp>
        <p:nvSpPr>
          <p:cNvPr id="7" name="Rectangle 6">
            <a:extLst>
              <a:ext uri="{FF2B5EF4-FFF2-40B4-BE49-F238E27FC236}">
                <a16:creationId xmlns:a16="http://schemas.microsoft.com/office/drawing/2014/main" id="{2BA94BA7-E107-DCEB-83A0-990D975CB9B0}"/>
              </a:ext>
            </a:extLst>
          </p:cNvPr>
          <p:cNvSpPr/>
          <p:nvPr/>
        </p:nvSpPr>
        <p:spPr>
          <a:xfrm>
            <a:off x="209402" y="777381"/>
            <a:ext cx="3222564" cy="4956182"/>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8DE3D6DD-3320-2F5F-4D4C-CBDAD165FD01}"/>
              </a:ext>
            </a:extLst>
          </p:cNvPr>
          <p:cNvSpPr/>
          <p:nvPr/>
        </p:nvSpPr>
        <p:spPr>
          <a:xfrm>
            <a:off x="8660584" y="684327"/>
            <a:ext cx="3531416" cy="1856381"/>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DEDCD2BF-0718-A4C7-8E03-64C0B633C450}"/>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10"/>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270107071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1A4C4E-DF65-AC0A-A014-6A30A0ED6125}"/>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6A9AD3A-3A83-11AE-E0BB-856E5B6040F7}"/>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9AE28015-71B7-1748-3D6E-E18886CBED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0BACD4F1-4A72-4941-856C-DDDDB59490B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8E28AF07-F501-EF99-6C06-3BCE66C536B3}"/>
              </a:ext>
            </a:extLst>
          </p:cNvPr>
          <p:cNvSpPr txBox="1">
            <a:spLocks/>
          </p:cNvSpPr>
          <p:nvPr/>
        </p:nvSpPr>
        <p:spPr>
          <a:xfrm>
            <a:off x="0" y="0"/>
            <a:ext cx="12192000" cy="951646"/>
          </a:xfrm>
          <a:prstGeom prst="rect">
            <a:avLst/>
          </a:prstGeom>
          <a:no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Social location and adoption of Open Science practices</a:t>
            </a:r>
          </a:p>
        </p:txBody>
      </p:sp>
      <p:sp>
        <p:nvSpPr>
          <p:cNvPr id="2" name="Slide Number Placeholder 1">
            <a:extLst>
              <a:ext uri="{FF2B5EF4-FFF2-40B4-BE49-F238E27FC236}">
                <a16:creationId xmlns:a16="http://schemas.microsoft.com/office/drawing/2014/main" id="{EB7568C4-ACB4-0371-11B8-3874DDC364A9}"/>
              </a:ext>
            </a:extLst>
          </p:cNvPr>
          <p:cNvSpPr>
            <a:spLocks noGrp="1"/>
          </p:cNvSpPr>
          <p:nvPr>
            <p:ph type="sldNum" sz="quarter" idx="12"/>
          </p:nvPr>
        </p:nvSpPr>
        <p:spPr/>
        <p:txBody>
          <a:bodyPr/>
          <a:lstStyle/>
          <a:p>
            <a:fld id="{D292B180-B274-DE43-B36F-C827C7616C05}" type="slidenum">
              <a:rPr lang="en-US" smtClean="0"/>
              <a:t>69</a:t>
            </a:fld>
            <a:endParaRPr lang="en-US" dirty="0"/>
          </a:p>
        </p:txBody>
      </p:sp>
      <p:pic>
        <p:nvPicPr>
          <p:cNvPr id="13" name="Picture 12">
            <a:extLst>
              <a:ext uri="{FF2B5EF4-FFF2-40B4-BE49-F238E27FC236}">
                <a16:creationId xmlns:a16="http://schemas.microsoft.com/office/drawing/2014/main" id="{B735C3D0-BAD5-06FB-778C-75E430787CFD}"/>
              </a:ext>
            </a:extLst>
          </p:cNvPr>
          <p:cNvPicPr>
            <a:picLocks noChangeAspect="1"/>
          </p:cNvPicPr>
          <p:nvPr/>
        </p:nvPicPr>
        <p:blipFill>
          <a:blip r:embed="rId5"/>
          <a:srcRect l="9019" t="2250" r="6720" b="2509"/>
          <a:stretch>
            <a:fillRect/>
          </a:stretch>
        </p:blipFill>
        <p:spPr>
          <a:xfrm>
            <a:off x="2777179" y="743091"/>
            <a:ext cx="5888273" cy="6114909"/>
          </a:xfrm>
          <a:prstGeom prst="rect">
            <a:avLst/>
          </a:prstGeom>
        </p:spPr>
      </p:pic>
      <p:sp>
        <p:nvSpPr>
          <p:cNvPr id="3" name="Rectangle 2">
            <a:extLst>
              <a:ext uri="{FF2B5EF4-FFF2-40B4-BE49-F238E27FC236}">
                <a16:creationId xmlns:a16="http://schemas.microsoft.com/office/drawing/2014/main" id="{D9994D16-42DC-56E3-C5FD-8FE8BAB396E0}"/>
              </a:ext>
            </a:extLst>
          </p:cNvPr>
          <p:cNvSpPr/>
          <p:nvPr/>
        </p:nvSpPr>
        <p:spPr>
          <a:xfrm>
            <a:off x="2772312" y="5972411"/>
            <a:ext cx="5888272" cy="879575"/>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TextBox 7">
            <a:extLst>
              <a:ext uri="{FF2B5EF4-FFF2-40B4-BE49-F238E27FC236}">
                <a16:creationId xmlns:a16="http://schemas.microsoft.com/office/drawing/2014/main" id="{543D8C1C-ACCA-E562-7F81-42FE9C6BEB1C}"/>
              </a:ext>
            </a:extLst>
          </p:cNvPr>
          <p:cNvSpPr txBox="1"/>
          <p:nvPr/>
        </p:nvSpPr>
        <p:spPr>
          <a:xfrm>
            <a:off x="228769" y="4194860"/>
            <a:ext cx="3203199" cy="1323439"/>
          </a:xfrm>
          <a:prstGeom prst="rect">
            <a:avLst/>
          </a:prstGeom>
          <a:solidFill>
            <a:srgbClr val="7030A0">
              <a:alpha val="12755"/>
            </a:srgbClr>
          </a:solidFill>
        </p:spPr>
        <p:txBody>
          <a:bodyPr wrap="square" rtlCol="0">
            <a:spAutoFit/>
          </a:bodyPr>
          <a:lstStyle/>
          <a:p>
            <a:r>
              <a:rPr lang="en-US" sz="2000" dirty="0"/>
              <a:t>Ability to pay for Article Processing Charges (APCs) for </a:t>
            </a:r>
            <a:r>
              <a:rPr lang="en-US" sz="2000" b="1" dirty="0"/>
              <a:t>Open Access </a:t>
            </a:r>
            <a:r>
              <a:rPr lang="en-US" sz="2000" dirty="0"/>
              <a:t>publications</a:t>
            </a:r>
          </a:p>
        </p:txBody>
      </p:sp>
      <p:sp>
        <p:nvSpPr>
          <p:cNvPr id="23" name="TextBox 22">
            <a:extLst>
              <a:ext uri="{FF2B5EF4-FFF2-40B4-BE49-F238E27FC236}">
                <a16:creationId xmlns:a16="http://schemas.microsoft.com/office/drawing/2014/main" id="{27302AE4-A2C9-B4DB-2E1F-8085E098DCBB}"/>
              </a:ext>
            </a:extLst>
          </p:cNvPr>
          <p:cNvSpPr txBox="1"/>
          <p:nvPr/>
        </p:nvSpPr>
        <p:spPr>
          <a:xfrm>
            <a:off x="8502732" y="4695099"/>
            <a:ext cx="3460499" cy="1631216"/>
          </a:xfrm>
          <a:prstGeom prst="rect">
            <a:avLst/>
          </a:prstGeom>
          <a:solidFill>
            <a:schemeClr val="tx2">
              <a:lumMod val="75000"/>
              <a:lumOff val="25000"/>
              <a:alpha val="12755"/>
            </a:schemeClr>
          </a:solidFill>
        </p:spPr>
        <p:txBody>
          <a:bodyPr wrap="square" rtlCol="0">
            <a:spAutoFit/>
          </a:bodyPr>
          <a:lstStyle/>
          <a:p>
            <a:r>
              <a:rPr lang="en-US" sz="2000" dirty="0"/>
              <a:t>Insecure or short-term employment influences capacity to do a </a:t>
            </a:r>
            <a:r>
              <a:rPr lang="en-US" sz="2000" b="1" dirty="0"/>
              <a:t>preregistration</a:t>
            </a:r>
            <a:r>
              <a:rPr lang="en-US" sz="2000" dirty="0"/>
              <a:t> </a:t>
            </a:r>
          </a:p>
          <a:p>
            <a:r>
              <a:rPr lang="en-US" sz="2000" dirty="0"/>
              <a:t>or </a:t>
            </a:r>
            <a:r>
              <a:rPr lang="en-US" sz="2000" b="1" dirty="0"/>
              <a:t>registered report</a:t>
            </a:r>
          </a:p>
        </p:txBody>
      </p:sp>
      <p:sp>
        <p:nvSpPr>
          <p:cNvPr id="9" name="TextBox 8">
            <a:extLst>
              <a:ext uri="{FF2B5EF4-FFF2-40B4-BE49-F238E27FC236}">
                <a16:creationId xmlns:a16="http://schemas.microsoft.com/office/drawing/2014/main" id="{52777F5C-DBFB-B8FB-F363-8AD0ABC2DFF7}"/>
              </a:ext>
            </a:extLst>
          </p:cNvPr>
          <p:cNvSpPr txBox="1"/>
          <p:nvPr/>
        </p:nvSpPr>
        <p:spPr>
          <a:xfrm>
            <a:off x="8502732" y="4295897"/>
            <a:ext cx="3460499" cy="400110"/>
          </a:xfrm>
          <a:prstGeom prst="rect">
            <a:avLst/>
          </a:prstGeom>
          <a:solidFill>
            <a:schemeClr val="tx2">
              <a:lumMod val="75000"/>
              <a:lumOff val="25000"/>
              <a:alpha val="33996"/>
            </a:schemeClr>
          </a:solidFill>
        </p:spPr>
        <p:txBody>
          <a:bodyPr wrap="square" rtlCol="0">
            <a:spAutoFit/>
          </a:bodyPr>
          <a:lstStyle/>
          <a:p>
            <a:r>
              <a:rPr lang="en-US" sz="2000" b="1" dirty="0"/>
              <a:t>Employment status</a:t>
            </a:r>
          </a:p>
        </p:txBody>
      </p:sp>
      <p:pic>
        <p:nvPicPr>
          <p:cNvPr id="10" name="Graphic 9" descr="Briefcase with solid fill">
            <a:extLst>
              <a:ext uri="{FF2B5EF4-FFF2-40B4-BE49-F238E27FC236}">
                <a16:creationId xmlns:a16="http://schemas.microsoft.com/office/drawing/2014/main" id="{C20936EC-1297-A43F-9ED8-A294C3B99D2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1022597" y="5426626"/>
            <a:ext cx="662406" cy="662406"/>
          </a:xfrm>
          <a:prstGeom prst="rect">
            <a:avLst/>
          </a:prstGeom>
        </p:spPr>
      </p:pic>
      <p:pic>
        <p:nvPicPr>
          <p:cNvPr id="12" name="Graphic 11" descr="Coins outline">
            <a:extLst>
              <a:ext uri="{FF2B5EF4-FFF2-40B4-BE49-F238E27FC236}">
                <a16:creationId xmlns:a16="http://schemas.microsoft.com/office/drawing/2014/main" id="{F10CCF95-CC12-8936-FF5F-F7A06AB8CF2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507796" y="4813837"/>
            <a:ext cx="720776" cy="720776"/>
          </a:xfrm>
          <a:prstGeom prst="rect">
            <a:avLst/>
          </a:prstGeom>
        </p:spPr>
      </p:pic>
      <p:sp>
        <p:nvSpPr>
          <p:cNvPr id="16" name="TextBox 15">
            <a:extLst>
              <a:ext uri="{FF2B5EF4-FFF2-40B4-BE49-F238E27FC236}">
                <a16:creationId xmlns:a16="http://schemas.microsoft.com/office/drawing/2014/main" id="{1E7F0B40-984C-5F62-D1C7-6D115B678C0A}"/>
              </a:ext>
            </a:extLst>
          </p:cNvPr>
          <p:cNvSpPr txBox="1"/>
          <p:nvPr/>
        </p:nvSpPr>
        <p:spPr>
          <a:xfrm>
            <a:off x="228768" y="3796401"/>
            <a:ext cx="3203199" cy="400110"/>
          </a:xfrm>
          <a:prstGeom prst="rect">
            <a:avLst/>
          </a:prstGeom>
          <a:solidFill>
            <a:srgbClr val="7030A0">
              <a:alpha val="42054"/>
            </a:srgbClr>
          </a:solidFill>
        </p:spPr>
        <p:txBody>
          <a:bodyPr wrap="square">
            <a:spAutoFit/>
          </a:bodyPr>
          <a:lstStyle/>
          <a:p>
            <a:r>
              <a:rPr lang="en-US" sz="2000" b="1" dirty="0"/>
              <a:t>Funding/resources </a:t>
            </a:r>
          </a:p>
        </p:txBody>
      </p:sp>
      <p:sp>
        <p:nvSpPr>
          <p:cNvPr id="24" name="TextBox 23">
            <a:extLst>
              <a:ext uri="{FF2B5EF4-FFF2-40B4-BE49-F238E27FC236}">
                <a16:creationId xmlns:a16="http://schemas.microsoft.com/office/drawing/2014/main" id="{7BFF7506-CD6C-4FB2-2C38-9B3B1172C053}"/>
              </a:ext>
            </a:extLst>
          </p:cNvPr>
          <p:cNvSpPr txBox="1"/>
          <p:nvPr/>
        </p:nvSpPr>
        <p:spPr>
          <a:xfrm>
            <a:off x="228769" y="914375"/>
            <a:ext cx="3203198" cy="400110"/>
          </a:xfrm>
          <a:prstGeom prst="rect">
            <a:avLst/>
          </a:prstGeom>
          <a:solidFill>
            <a:schemeClr val="accent2">
              <a:alpha val="46243"/>
            </a:schemeClr>
          </a:solidFill>
        </p:spPr>
        <p:txBody>
          <a:bodyPr wrap="square" rtlCol="0">
            <a:spAutoFit/>
          </a:bodyPr>
          <a:lstStyle/>
          <a:p>
            <a:r>
              <a:rPr lang="en-US" sz="2000" b="1" dirty="0"/>
              <a:t>Culture and language </a:t>
            </a:r>
          </a:p>
        </p:txBody>
      </p:sp>
      <p:grpSp>
        <p:nvGrpSpPr>
          <p:cNvPr id="33" name="Group 32">
            <a:extLst>
              <a:ext uri="{FF2B5EF4-FFF2-40B4-BE49-F238E27FC236}">
                <a16:creationId xmlns:a16="http://schemas.microsoft.com/office/drawing/2014/main" id="{FE3E2A51-47F3-6EC6-5D5A-509C5F979A37}"/>
              </a:ext>
            </a:extLst>
          </p:cNvPr>
          <p:cNvGrpSpPr/>
          <p:nvPr/>
        </p:nvGrpSpPr>
        <p:grpSpPr>
          <a:xfrm>
            <a:off x="8760032" y="777380"/>
            <a:ext cx="3203201" cy="1711621"/>
            <a:chOff x="8610597" y="836977"/>
            <a:chExt cx="3203201" cy="1711621"/>
          </a:xfrm>
        </p:grpSpPr>
        <p:pic>
          <p:nvPicPr>
            <p:cNvPr id="17" name="Graphic 16" descr="Person in wheelchair with solid fill">
              <a:extLst>
                <a:ext uri="{FF2B5EF4-FFF2-40B4-BE49-F238E27FC236}">
                  <a16:creationId xmlns:a16="http://schemas.microsoft.com/office/drawing/2014/main" id="{A800642E-CD44-44DA-9AC7-856FDCCF58F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152692" y="1302568"/>
              <a:ext cx="579877" cy="579877"/>
            </a:xfrm>
            <a:prstGeom prst="rect">
              <a:avLst/>
            </a:prstGeom>
          </p:spPr>
        </p:pic>
        <p:sp>
          <p:nvSpPr>
            <p:cNvPr id="18" name="TextBox 17">
              <a:extLst>
                <a:ext uri="{FF2B5EF4-FFF2-40B4-BE49-F238E27FC236}">
                  <a16:creationId xmlns:a16="http://schemas.microsoft.com/office/drawing/2014/main" id="{FC3BA185-BDCF-ADFA-0709-8A1FFC3DA473}"/>
                </a:ext>
              </a:extLst>
            </p:cNvPr>
            <p:cNvSpPr txBox="1"/>
            <p:nvPr/>
          </p:nvSpPr>
          <p:spPr>
            <a:xfrm>
              <a:off x="8610600" y="836977"/>
              <a:ext cx="3203198" cy="400110"/>
            </a:xfrm>
            <a:prstGeom prst="rect">
              <a:avLst/>
            </a:prstGeom>
            <a:solidFill>
              <a:srgbClr val="FFC000">
                <a:alpha val="41342"/>
              </a:srgbClr>
            </a:solidFill>
          </p:spPr>
          <p:txBody>
            <a:bodyPr wrap="square" rtlCol="0">
              <a:spAutoFit/>
            </a:bodyPr>
            <a:lstStyle/>
            <a:p>
              <a:r>
                <a:rPr lang="en-US" sz="2000" b="1" dirty="0"/>
                <a:t>Disability status</a:t>
              </a:r>
            </a:p>
          </p:txBody>
        </p:sp>
        <p:sp>
          <p:nvSpPr>
            <p:cNvPr id="25" name="TextBox 24">
              <a:extLst>
                <a:ext uri="{FF2B5EF4-FFF2-40B4-BE49-F238E27FC236}">
                  <a16:creationId xmlns:a16="http://schemas.microsoft.com/office/drawing/2014/main" id="{8EAFE5FD-0F0D-02C7-AB5A-DB31F7184701}"/>
                </a:ext>
              </a:extLst>
            </p:cNvPr>
            <p:cNvSpPr txBox="1"/>
            <p:nvPr/>
          </p:nvSpPr>
          <p:spPr>
            <a:xfrm>
              <a:off x="8610597" y="1225159"/>
              <a:ext cx="3203199" cy="1323439"/>
            </a:xfrm>
            <a:prstGeom prst="rect">
              <a:avLst/>
            </a:prstGeom>
            <a:solidFill>
              <a:srgbClr val="FFC000">
                <a:alpha val="12755"/>
              </a:srgbClr>
            </a:solidFill>
          </p:spPr>
          <p:txBody>
            <a:bodyPr wrap="square" rtlCol="0">
              <a:spAutoFit/>
            </a:bodyPr>
            <a:lstStyle/>
            <a:p>
              <a:r>
                <a:rPr lang="en-US" sz="2000" dirty="0"/>
                <a:t>Accessibility of </a:t>
              </a:r>
              <a:r>
                <a:rPr lang="en-US" sz="2000" b="1" dirty="0"/>
                <a:t>digital platforms</a:t>
              </a:r>
              <a:r>
                <a:rPr lang="en-US" sz="2000" dirty="0"/>
                <a:t> and time to implement Open Science practices </a:t>
              </a:r>
            </a:p>
          </p:txBody>
        </p:sp>
      </p:grpSp>
      <p:sp>
        <p:nvSpPr>
          <p:cNvPr id="27" name="TextBox 26">
            <a:extLst>
              <a:ext uri="{FF2B5EF4-FFF2-40B4-BE49-F238E27FC236}">
                <a16:creationId xmlns:a16="http://schemas.microsoft.com/office/drawing/2014/main" id="{28897DFC-97C7-A609-9285-B419FDC73CFC}"/>
              </a:ext>
            </a:extLst>
          </p:cNvPr>
          <p:cNvSpPr txBox="1"/>
          <p:nvPr/>
        </p:nvSpPr>
        <p:spPr>
          <a:xfrm>
            <a:off x="228768" y="1302568"/>
            <a:ext cx="3203198" cy="1938992"/>
          </a:xfrm>
          <a:prstGeom prst="rect">
            <a:avLst/>
          </a:prstGeom>
          <a:solidFill>
            <a:schemeClr val="accent2">
              <a:alpha val="21259"/>
            </a:schemeClr>
          </a:solidFill>
        </p:spPr>
        <p:txBody>
          <a:bodyPr wrap="square" rtlCol="0">
            <a:spAutoFit/>
          </a:bodyPr>
          <a:lstStyle/>
          <a:p>
            <a:r>
              <a:rPr lang="en-US" sz="2000" b="1" dirty="0"/>
              <a:t>Study design</a:t>
            </a:r>
            <a:r>
              <a:rPr lang="en-US" sz="2000" dirty="0"/>
              <a:t>, language accessibility of </a:t>
            </a:r>
            <a:r>
              <a:rPr lang="en-US" sz="2000" b="1" dirty="0"/>
              <a:t>Open Educational Resources. </a:t>
            </a:r>
            <a:r>
              <a:rPr lang="en-US" sz="2000" dirty="0"/>
              <a:t>Utility of </a:t>
            </a:r>
            <a:r>
              <a:rPr lang="en-US" sz="2000" b="1" dirty="0"/>
              <a:t>open peer review </a:t>
            </a:r>
            <a:r>
              <a:rPr lang="en-US" sz="2000" dirty="0"/>
              <a:t>perceived differently across cultures</a:t>
            </a:r>
          </a:p>
        </p:txBody>
      </p:sp>
      <p:pic>
        <p:nvPicPr>
          <p:cNvPr id="29" name="Graphic 28" descr="Chat with solid fill">
            <a:extLst>
              <a:ext uri="{FF2B5EF4-FFF2-40B4-BE49-F238E27FC236}">
                <a16:creationId xmlns:a16="http://schemas.microsoft.com/office/drawing/2014/main" id="{2AB0E69A-566F-97AF-97FB-C13460C19FC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2654068" y="2557399"/>
            <a:ext cx="666437" cy="666437"/>
          </a:xfrm>
          <a:prstGeom prst="rect">
            <a:avLst/>
          </a:prstGeom>
        </p:spPr>
      </p:pic>
      <p:sp>
        <p:nvSpPr>
          <p:cNvPr id="31" name="TextBox 30">
            <a:extLst>
              <a:ext uri="{FF2B5EF4-FFF2-40B4-BE49-F238E27FC236}">
                <a16:creationId xmlns:a16="http://schemas.microsoft.com/office/drawing/2014/main" id="{63A6DF0E-29CC-7F1B-4C8F-7BBFC44CCAE8}"/>
              </a:ext>
            </a:extLst>
          </p:cNvPr>
          <p:cNvSpPr txBox="1"/>
          <p:nvPr/>
        </p:nvSpPr>
        <p:spPr>
          <a:xfrm>
            <a:off x="8788563" y="2621780"/>
            <a:ext cx="3174668" cy="400110"/>
          </a:xfrm>
          <a:prstGeom prst="rect">
            <a:avLst/>
          </a:prstGeom>
          <a:solidFill>
            <a:srgbClr val="1FB02E">
              <a:alpha val="36078"/>
            </a:srgbClr>
          </a:solidFill>
        </p:spPr>
        <p:txBody>
          <a:bodyPr wrap="square" rtlCol="0">
            <a:spAutoFit/>
          </a:bodyPr>
          <a:lstStyle/>
          <a:p>
            <a:r>
              <a:rPr lang="en-US" sz="2000" b="1" dirty="0"/>
              <a:t>Home nation stability</a:t>
            </a:r>
            <a:endParaRPr lang="en-US" sz="2000" dirty="0"/>
          </a:p>
        </p:txBody>
      </p:sp>
      <p:sp>
        <p:nvSpPr>
          <p:cNvPr id="32" name="TextBox 31">
            <a:extLst>
              <a:ext uri="{FF2B5EF4-FFF2-40B4-BE49-F238E27FC236}">
                <a16:creationId xmlns:a16="http://schemas.microsoft.com/office/drawing/2014/main" id="{FCB2A343-9A8C-C69E-ABF5-77446B383A60}"/>
              </a:ext>
            </a:extLst>
          </p:cNvPr>
          <p:cNvSpPr txBox="1"/>
          <p:nvPr/>
        </p:nvSpPr>
        <p:spPr>
          <a:xfrm>
            <a:off x="8788563" y="3012507"/>
            <a:ext cx="3174668" cy="1015663"/>
          </a:xfrm>
          <a:prstGeom prst="rect">
            <a:avLst/>
          </a:prstGeom>
          <a:solidFill>
            <a:srgbClr val="1FB02E">
              <a:alpha val="12755"/>
            </a:srgbClr>
          </a:solidFill>
        </p:spPr>
        <p:txBody>
          <a:bodyPr wrap="square" rtlCol="0">
            <a:spAutoFit/>
          </a:bodyPr>
          <a:lstStyle/>
          <a:p>
            <a:r>
              <a:rPr lang="en-US" sz="2000" dirty="0"/>
              <a:t>Ability to make and sustain collaborations or engage in </a:t>
            </a:r>
            <a:r>
              <a:rPr lang="en-US" sz="2000" b="1" dirty="0"/>
              <a:t>Big Team Science </a:t>
            </a:r>
            <a:r>
              <a:rPr lang="en-US" sz="2000" dirty="0"/>
              <a:t>projects</a:t>
            </a:r>
          </a:p>
        </p:txBody>
      </p:sp>
      <p:pic>
        <p:nvPicPr>
          <p:cNvPr id="35" name="Graphic 34" descr="World with solid fill">
            <a:extLst>
              <a:ext uri="{FF2B5EF4-FFF2-40B4-BE49-F238E27FC236}">
                <a16:creationId xmlns:a16="http://schemas.microsoft.com/office/drawing/2014/main" id="{9225F7E1-287A-FD93-766F-A8F2EE6B7C9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1442631" y="2611422"/>
            <a:ext cx="558393" cy="558393"/>
          </a:xfrm>
          <a:prstGeom prst="rect">
            <a:avLst/>
          </a:prstGeom>
        </p:spPr>
      </p:pic>
      <p:sp>
        <p:nvSpPr>
          <p:cNvPr id="7" name="Rectangle 6">
            <a:extLst>
              <a:ext uri="{FF2B5EF4-FFF2-40B4-BE49-F238E27FC236}">
                <a16:creationId xmlns:a16="http://schemas.microsoft.com/office/drawing/2014/main" id="{F5457BB3-D5B2-FE99-CD2A-46BC6E85BFF2}"/>
              </a:ext>
            </a:extLst>
          </p:cNvPr>
          <p:cNvSpPr/>
          <p:nvPr/>
        </p:nvSpPr>
        <p:spPr>
          <a:xfrm>
            <a:off x="209402" y="777381"/>
            <a:ext cx="3222564" cy="4832192"/>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2AFAF9A0-5B0B-F3C5-F402-47BFA22E4609}"/>
              </a:ext>
            </a:extLst>
          </p:cNvPr>
          <p:cNvSpPr/>
          <p:nvPr/>
        </p:nvSpPr>
        <p:spPr>
          <a:xfrm>
            <a:off x="8660584" y="684327"/>
            <a:ext cx="3531416" cy="3343843"/>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extBox 10">
            <a:extLst>
              <a:ext uri="{FF2B5EF4-FFF2-40B4-BE49-F238E27FC236}">
                <a16:creationId xmlns:a16="http://schemas.microsoft.com/office/drawing/2014/main" id="{980322E3-A9D4-22CF-0678-0D6308B04A49}"/>
              </a:ext>
            </a:extLst>
          </p:cNvPr>
          <p:cNvSpPr txBox="1"/>
          <p:nvPr/>
        </p:nvSpPr>
        <p:spPr>
          <a:xfrm>
            <a:off x="116146" y="5950533"/>
            <a:ext cx="2251428" cy="923330"/>
          </a:xfrm>
          <a:prstGeom prst="rect">
            <a:avLst/>
          </a:prstGeom>
          <a:noFill/>
        </p:spPr>
        <p:txBody>
          <a:bodyPr wrap="square" rtlCol="0">
            <a:spAutoFit/>
          </a:bodyPr>
          <a:lstStyle/>
          <a:p>
            <a:r>
              <a:rPr lang="en-US" dirty="0">
                <a:solidFill>
                  <a:schemeClr val="bg1">
                    <a:lumMod val="50000"/>
                  </a:schemeClr>
                </a:solidFill>
              </a:rPr>
              <a:t>Adapted from </a:t>
            </a:r>
            <a:r>
              <a:rPr lang="en-US" dirty="0">
                <a:solidFill>
                  <a:schemeClr val="bg1">
                    <a:lumMod val="50000"/>
                  </a:schemeClr>
                </a:solidFill>
                <a:hlinkClick r:id="rId11"/>
              </a:rPr>
              <a:t>Middleton et al. 2026</a:t>
            </a:r>
            <a:endParaRPr lang="en-US" dirty="0">
              <a:solidFill>
                <a:schemeClr val="bg1">
                  <a:lumMod val="50000"/>
                </a:schemeClr>
              </a:solidFill>
            </a:endParaRPr>
          </a:p>
          <a:p>
            <a:r>
              <a:rPr lang="en-US" dirty="0">
                <a:solidFill>
                  <a:schemeClr val="bg1">
                    <a:lumMod val="50000"/>
                  </a:schemeClr>
                </a:solidFill>
              </a:rPr>
              <a:t>(CC BY NC SA)</a:t>
            </a:r>
          </a:p>
        </p:txBody>
      </p:sp>
    </p:spTree>
    <p:extLst>
      <p:ext uri="{BB962C8B-B14F-4D97-AF65-F5344CB8AC3E}">
        <p14:creationId xmlns:p14="http://schemas.microsoft.com/office/powerpoint/2010/main" val="4557498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A9CE9D-A5A1-FB1D-96C2-B1A5E36C5113}"/>
            </a:ext>
          </a:extLst>
        </p:cNvPr>
        <p:cNvGrpSpPr/>
        <p:nvPr/>
      </p:nvGrpSpPr>
      <p:grpSpPr>
        <a:xfrm>
          <a:off x="0" y="0"/>
          <a:ext cx="0" cy="0"/>
          <a:chOff x="0" y="0"/>
          <a:chExt cx="0" cy="0"/>
        </a:xfrm>
      </p:grpSpPr>
      <p:grpSp>
        <p:nvGrpSpPr>
          <p:cNvPr id="6" name="Group 5">
            <a:extLst>
              <a:ext uri="{FF2B5EF4-FFF2-40B4-BE49-F238E27FC236}">
                <a16:creationId xmlns:a16="http://schemas.microsoft.com/office/drawing/2014/main" id="{00AFB854-C720-2F05-A9CC-6DE208F4650E}"/>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26317CE9-0805-BF7A-2055-FC2759156BC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6E0093DD-C970-CF29-5DEF-2FC5C33FA1D6}"/>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11" name="Picture 10">
            <a:extLst>
              <a:ext uri="{FF2B5EF4-FFF2-40B4-BE49-F238E27FC236}">
                <a16:creationId xmlns:a16="http://schemas.microsoft.com/office/drawing/2014/main" id="{7326FD41-3651-BE5E-E54F-609DF46824C7}"/>
              </a:ext>
            </a:extLst>
          </p:cNvPr>
          <p:cNvPicPr>
            <a:picLocks noChangeAspect="1"/>
          </p:cNvPicPr>
          <p:nvPr/>
        </p:nvPicPr>
        <p:blipFill>
          <a:blip r:embed="rId5"/>
          <a:srcRect b="7315"/>
          <a:stretch>
            <a:fillRect/>
          </a:stretch>
        </p:blipFill>
        <p:spPr>
          <a:xfrm>
            <a:off x="5334000" y="87427"/>
            <a:ext cx="6858000" cy="6356350"/>
          </a:xfrm>
          <a:prstGeom prst="rect">
            <a:avLst/>
          </a:prstGeom>
        </p:spPr>
      </p:pic>
      <p:sp>
        <p:nvSpPr>
          <p:cNvPr id="2" name="Slide Number Placeholder 1">
            <a:extLst>
              <a:ext uri="{FF2B5EF4-FFF2-40B4-BE49-F238E27FC236}">
                <a16:creationId xmlns:a16="http://schemas.microsoft.com/office/drawing/2014/main" id="{E237F5C1-CCC4-B6A1-2D46-16E0BA6A926F}"/>
              </a:ext>
            </a:extLst>
          </p:cNvPr>
          <p:cNvSpPr>
            <a:spLocks noGrp="1"/>
          </p:cNvSpPr>
          <p:nvPr>
            <p:ph type="sldNum" sz="quarter" idx="12"/>
          </p:nvPr>
        </p:nvSpPr>
        <p:spPr/>
        <p:txBody>
          <a:bodyPr/>
          <a:lstStyle/>
          <a:p>
            <a:fld id="{D292B180-B274-DE43-B36F-C827C7616C05}" type="slidenum">
              <a:rPr lang="en-US" smtClean="0"/>
              <a:t>70</a:t>
            </a:fld>
            <a:endParaRPr lang="en-US"/>
          </a:p>
        </p:txBody>
      </p:sp>
      <p:sp>
        <p:nvSpPr>
          <p:cNvPr id="3" name="Title 1">
            <a:extLst>
              <a:ext uri="{FF2B5EF4-FFF2-40B4-BE49-F238E27FC236}">
                <a16:creationId xmlns:a16="http://schemas.microsoft.com/office/drawing/2014/main" id="{DA8D9B5F-F050-10E7-AADB-DC06B202D621}"/>
              </a:ext>
            </a:extLst>
          </p:cNvPr>
          <p:cNvSpPr txBox="1">
            <a:spLocks/>
          </p:cNvSpPr>
          <p:nvPr/>
        </p:nvSpPr>
        <p:spPr>
          <a:xfrm>
            <a:off x="0" y="87427"/>
            <a:ext cx="5878286"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a:t>
            </a:r>
          </a:p>
        </p:txBody>
      </p:sp>
      <p:sp>
        <p:nvSpPr>
          <p:cNvPr id="7" name="Right Brace 6">
            <a:extLst>
              <a:ext uri="{FF2B5EF4-FFF2-40B4-BE49-F238E27FC236}">
                <a16:creationId xmlns:a16="http://schemas.microsoft.com/office/drawing/2014/main" id="{7F338337-FA89-5D35-0987-2921CDD3127A}"/>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7FF7816F-86B5-B7E1-088C-41A644F787D2}"/>
              </a:ext>
            </a:extLst>
          </p:cNvPr>
          <p:cNvSpPr txBox="1"/>
          <p:nvPr/>
        </p:nvSpPr>
        <p:spPr>
          <a:xfrm>
            <a:off x="282555" y="1324415"/>
            <a:ext cx="3745477" cy="1323439"/>
          </a:xfrm>
          <a:prstGeom prst="rect">
            <a:avLst/>
          </a:prstGeom>
          <a:noFill/>
        </p:spPr>
        <p:txBody>
          <a:bodyPr wrap="square">
            <a:spAutoFit/>
          </a:bodyPr>
          <a:lstStyle/>
          <a:p>
            <a:r>
              <a:rPr lang="en-US" sz="2000" dirty="0"/>
              <a:t>A </a:t>
            </a:r>
            <a:r>
              <a:rPr lang="en-US" sz="2000" b="1" dirty="0"/>
              <a:t>healthy</a:t>
            </a:r>
            <a:r>
              <a:rPr lang="en-US" sz="2000" dirty="0"/>
              <a:t> research culture </a:t>
            </a:r>
            <a:r>
              <a:rPr lang="en-US" sz="2000" b="1" dirty="0"/>
              <a:t>enables </a:t>
            </a:r>
            <a:r>
              <a:rPr lang="en-US" sz="2000" dirty="0"/>
              <a:t>high quality research (which also </a:t>
            </a:r>
            <a:r>
              <a:rPr lang="en-US" sz="2000" b="1" dirty="0"/>
              <a:t>safeguards</a:t>
            </a:r>
            <a:r>
              <a:rPr lang="en-US" sz="2000" dirty="0"/>
              <a:t> research integrity)</a:t>
            </a:r>
          </a:p>
        </p:txBody>
      </p:sp>
      <p:pic>
        <p:nvPicPr>
          <p:cNvPr id="4" name="Picture 3">
            <a:extLst>
              <a:ext uri="{FF2B5EF4-FFF2-40B4-BE49-F238E27FC236}">
                <a16:creationId xmlns:a16="http://schemas.microsoft.com/office/drawing/2014/main" id="{9B981AC8-14D9-B858-C1E8-5C5B0AC62286}"/>
              </a:ext>
            </a:extLst>
          </p:cNvPr>
          <p:cNvPicPr>
            <a:picLocks noChangeAspect="1"/>
          </p:cNvPicPr>
          <p:nvPr/>
        </p:nvPicPr>
        <p:blipFill>
          <a:blip r:embed="rId6"/>
          <a:srcRect l="25891" t="22584" r="23267" b="27652"/>
          <a:stretch>
            <a:fillRect/>
          </a:stretch>
        </p:blipFill>
        <p:spPr>
          <a:xfrm>
            <a:off x="7110712" y="1606152"/>
            <a:ext cx="3524859" cy="3450127"/>
          </a:xfrm>
          <a:prstGeom prst="rect">
            <a:avLst/>
          </a:prstGeom>
        </p:spPr>
      </p:pic>
    </p:spTree>
    <p:extLst>
      <p:ext uri="{BB962C8B-B14F-4D97-AF65-F5344CB8AC3E}">
        <p14:creationId xmlns:p14="http://schemas.microsoft.com/office/powerpoint/2010/main" val="228692153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AF509B-0DA3-B8DC-E870-236D186CA566}"/>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F5C40D89-088D-3ADB-F338-242EDB674467}"/>
              </a:ext>
            </a:extLst>
          </p:cNvPr>
          <p:cNvGrpSpPr/>
          <p:nvPr/>
        </p:nvGrpSpPr>
        <p:grpSpPr>
          <a:xfrm>
            <a:off x="10644280" y="6476875"/>
            <a:ext cx="1474613" cy="325672"/>
            <a:chOff x="19317" y="2690018"/>
            <a:chExt cx="11784755" cy="2025180"/>
          </a:xfrm>
        </p:grpSpPr>
        <p:pic>
          <p:nvPicPr>
            <p:cNvPr id="10" name="Picture 2">
              <a:extLst>
                <a:ext uri="{FF2B5EF4-FFF2-40B4-BE49-F238E27FC236}">
                  <a16:creationId xmlns:a16="http://schemas.microsoft.com/office/drawing/2014/main" id="{856FCA1A-ADFC-21AB-22E6-516F5AE5C6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BD61867A-D8B5-FDC9-961B-7295E3EE77BB}"/>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11" name="Picture 10">
            <a:extLst>
              <a:ext uri="{FF2B5EF4-FFF2-40B4-BE49-F238E27FC236}">
                <a16:creationId xmlns:a16="http://schemas.microsoft.com/office/drawing/2014/main" id="{9B2FA873-03AF-C2E2-E42B-DAC2D15E3BE8}"/>
              </a:ext>
            </a:extLst>
          </p:cNvPr>
          <p:cNvPicPr>
            <a:picLocks noChangeAspect="1"/>
          </p:cNvPicPr>
          <p:nvPr/>
        </p:nvPicPr>
        <p:blipFill>
          <a:blip r:embed="rId5"/>
          <a:srcRect b="7315"/>
          <a:stretch>
            <a:fillRect/>
          </a:stretch>
        </p:blipFill>
        <p:spPr>
          <a:xfrm>
            <a:off x="5334000" y="87427"/>
            <a:ext cx="6858000" cy="6356350"/>
          </a:xfrm>
          <a:prstGeom prst="rect">
            <a:avLst/>
          </a:prstGeom>
        </p:spPr>
      </p:pic>
      <p:sp>
        <p:nvSpPr>
          <p:cNvPr id="2" name="Slide Number Placeholder 1">
            <a:extLst>
              <a:ext uri="{FF2B5EF4-FFF2-40B4-BE49-F238E27FC236}">
                <a16:creationId xmlns:a16="http://schemas.microsoft.com/office/drawing/2014/main" id="{E1847B3C-A195-B48B-16AA-33EDFD54FD80}"/>
              </a:ext>
            </a:extLst>
          </p:cNvPr>
          <p:cNvSpPr>
            <a:spLocks noGrp="1"/>
          </p:cNvSpPr>
          <p:nvPr>
            <p:ph type="sldNum" sz="quarter" idx="12"/>
          </p:nvPr>
        </p:nvSpPr>
        <p:spPr/>
        <p:txBody>
          <a:bodyPr/>
          <a:lstStyle/>
          <a:p>
            <a:fld id="{D292B180-B274-DE43-B36F-C827C7616C05}" type="slidenum">
              <a:rPr lang="en-US" smtClean="0"/>
              <a:t>71</a:t>
            </a:fld>
            <a:endParaRPr lang="en-US"/>
          </a:p>
        </p:txBody>
      </p:sp>
      <p:sp>
        <p:nvSpPr>
          <p:cNvPr id="3" name="Title 1">
            <a:extLst>
              <a:ext uri="{FF2B5EF4-FFF2-40B4-BE49-F238E27FC236}">
                <a16:creationId xmlns:a16="http://schemas.microsoft.com/office/drawing/2014/main" id="{DD3AED1E-81B0-67C3-3E99-1EB70CB3423D}"/>
              </a:ext>
            </a:extLst>
          </p:cNvPr>
          <p:cNvSpPr txBox="1">
            <a:spLocks/>
          </p:cNvSpPr>
          <p:nvPr/>
        </p:nvSpPr>
        <p:spPr>
          <a:xfrm>
            <a:off x="0" y="87427"/>
            <a:ext cx="5878286"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a:t>
            </a:r>
          </a:p>
        </p:txBody>
      </p:sp>
      <p:sp>
        <p:nvSpPr>
          <p:cNvPr id="7" name="Right Brace 6">
            <a:extLst>
              <a:ext uri="{FF2B5EF4-FFF2-40B4-BE49-F238E27FC236}">
                <a16:creationId xmlns:a16="http://schemas.microsoft.com/office/drawing/2014/main" id="{E47650F9-1B46-6686-AAE7-6E989CCA6B8B}"/>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4A6DDF62-2366-4357-3DDF-FF1CB3E870F2}"/>
              </a:ext>
            </a:extLst>
          </p:cNvPr>
          <p:cNvSpPr txBox="1"/>
          <p:nvPr/>
        </p:nvSpPr>
        <p:spPr>
          <a:xfrm>
            <a:off x="282555" y="1324415"/>
            <a:ext cx="3745477" cy="1323439"/>
          </a:xfrm>
          <a:prstGeom prst="rect">
            <a:avLst/>
          </a:prstGeom>
          <a:noFill/>
        </p:spPr>
        <p:txBody>
          <a:bodyPr wrap="square">
            <a:spAutoFit/>
          </a:bodyPr>
          <a:lstStyle/>
          <a:p>
            <a:r>
              <a:rPr lang="en-US" sz="2000" dirty="0"/>
              <a:t>A </a:t>
            </a:r>
            <a:r>
              <a:rPr lang="en-US" sz="2000" b="1" dirty="0"/>
              <a:t>healthy</a:t>
            </a:r>
            <a:r>
              <a:rPr lang="en-US" sz="2000" dirty="0"/>
              <a:t> research culture </a:t>
            </a:r>
            <a:r>
              <a:rPr lang="en-US" sz="2000" b="1" dirty="0"/>
              <a:t>enables </a:t>
            </a:r>
            <a:r>
              <a:rPr lang="en-US" sz="2000" dirty="0"/>
              <a:t>high quality research (which also </a:t>
            </a:r>
            <a:r>
              <a:rPr lang="en-US" sz="2000" b="1" dirty="0"/>
              <a:t>safeguards</a:t>
            </a:r>
            <a:r>
              <a:rPr lang="en-US" sz="2000" dirty="0"/>
              <a:t> research integrity)</a:t>
            </a:r>
          </a:p>
        </p:txBody>
      </p:sp>
      <p:sp>
        <p:nvSpPr>
          <p:cNvPr id="6" name="TextBox 5">
            <a:extLst>
              <a:ext uri="{FF2B5EF4-FFF2-40B4-BE49-F238E27FC236}">
                <a16:creationId xmlns:a16="http://schemas.microsoft.com/office/drawing/2014/main" id="{2BACFF48-802A-EA43-E6F1-76744DA7B23A}"/>
              </a:ext>
            </a:extLst>
          </p:cNvPr>
          <p:cNvSpPr txBox="1"/>
          <p:nvPr/>
        </p:nvSpPr>
        <p:spPr>
          <a:xfrm>
            <a:off x="282555" y="2825018"/>
            <a:ext cx="3398796" cy="707886"/>
          </a:xfrm>
          <a:prstGeom prst="rect">
            <a:avLst/>
          </a:prstGeom>
          <a:noFill/>
        </p:spPr>
        <p:txBody>
          <a:bodyPr wrap="square">
            <a:spAutoFit/>
          </a:bodyPr>
          <a:lstStyle/>
          <a:p>
            <a:r>
              <a:rPr lang="en-US" sz="2000" dirty="0"/>
              <a:t>Identify what is </a:t>
            </a:r>
            <a:r>
              <a:rPr lang="en-US" sz="2000" b="1" dirty="0"/>
              <a:t>working well </a:t>
            </a:r>
            <a:r>
              <a:rPr lang="en-US" sz="2000" dirty="0"/>
              <a:t>and what is not</a:t>
            </a:r>
          </a:p>
        </p:txBody>
      </p:sp>
      <p:sp>
        <p:nvSpPr>
          <p:cNvPr id="8" name="Rectangle 7">
            <a:extLst>
              <a:ext uri="{FF2B5EF4-FFF2-40B4-BE49-F238E27FC236}">
                <a16:creationId xmlns:a16="http://schemas.microsoft.com/office/drawing/2014/main" id="{7DBA7F2A-DDC6-C9EA-6F7F-AEE6A714422B}"/>
              </a:ext>
            </a:extLst>
          </p:cNvPr>
          <p:cNvSpPr/>
          <p:nvPr/>
        </p:nvSpPr>
        <p:spPr>
          <a:xfrm>
            <a:off x="209401" y="1163782"/>
            <a:ext cx="3638203" cy="1661236"/>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4" name="Picture 3">
            <a:extLst>
              <a:ext uri="{FF2B5EF4-FFF2-40B4-BE49-F238E27FC236}">
                <a16:creationId xmlns:a16="http://schemas.microsoft.com/office/drawing/2014/main" id="{B828CE2C-71D7-81B4-15B7-B337B88CE5FF}"/>
              </a:ext>
            </a:extLst>
          </p:cNvPr>
          <p:cNvPicPr>
            <a:picLocks noChangeAspect="1"/>
          </p:cNvPicPr>
          <p:nvPr/>
        </p:nvPicPr>
        <p:blipFill>
          <a:blip r:embed="rId6"/>
          <a:srcRect l="25891" t="22584" r="23267" b="27652"/>
          <a:stretch>
            <a:fillRect/>
          </a:stretch>
        </p:blipFill>
        <p:spPr>
          <a:xfrm>
            <a:off x="7110712" y="1606152"/>
            <a:ext cx="3524859" cy="3450127"/>
          </a:xfrm>
          <a:prstGeom prst="rect">
            <a:avLst/>
          </a:prstGeom>
        </p:spPr>
      </p:pic>
    </p:spTree>
    <p:extLst>
      <p:ext uri="{BB962C8B-B14F-4D97-AF65-F5344CB8AC3E}">
        <p14:creationId xmlns:p14="http://schemas.microsoft.com/office/powerpoint/2010/main" val="40543252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411557-1169-12F6-6531-ADEA006F6FCD}"/>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1EED391D-1059-0708-658D-3E9C6F36CC1B}"/>
              </a:ext>
            </a:extLst>
          </p:cNvPr>
          <p:cNvGrpSpPr/>
          <p:nvPr/>
        </p:nvGrpSpPr>
        <p:grpSpPr>
          <a:xfrm>
            <a:off x="10644280" y="6476875"/>
            <a:ext cx="1474613" cy="325672"/>
            <a:chOff x="19317" y="2690018"/>
            <a:chExt cx="11784755" cy="2025180"/>
          </a:xfrm>
        </p:grpSpPr>
        <p:pic>
          <p:nvPicPr>
            <p:cNvPr id="10" name="Picture 2">
              <a:extLst>
                <a:ext uri="{FF2B5EF4-FFF2-40B4-BE49-F238E27FC236}">
                  <a16:creationId xmlns:a16="http://schemas.microsoft.com/office/drawing/2014/main" id="{F2A15A09-D561-DA9B-790B-A8B1297FF5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3B896577-A232-3B43-A350-3434A0D57BAA}"/>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11" name="Picture 10">
            <a:extLst>
              <a:ext uri="{FF2B5EF4-FFF2-40B4-BE49-F238E27FC236}">
                <a16:creationId xmlns:a16="http://schemas.microsoft.com/office/drawing/2014/main" id="{90C38964-FB0E-DF87-31A6-DDB81684B706}"/>
              </a:ext>
            </a:extLst>
          </p:cNvPr>
          <p:cNvPicPr>
            <a:picLocks noChangeAspect="1"/>
          </p:cNvPicPr>
          <p:nvPr/>
        </p:nvPicPr>
        <p:blipFill>
          <a:blip r:embed="rId5"/>
          <a:srcRect b="7315"/>
          <a:stretch>
            <a:fillRect/>
          </a:stretch>
        </p:blipFill>
        <p:spPr>
          <a:xfrm>
            <a:off x="5334000" y="87427"/>
            <a:ext cx="6858000" cy="6356350"/>
          </a:xfrm>
          <a:prstGeom prst="rect">
            <a:avLst/>
          </a:prstGeom>
        </p:spPr>
      </p:pic>
      <p:sp>
        <p:nvSpPr>
          <p:cNvPr id="2" name="Slide Number Placeholder 1">
            <a:extLst>
              <a:ext uri="{FF2B5EF4-FFF2-40B4-BE49-F238E27FC236}">
                <a16:creationId xmlns:a16="http://schemas.microsoft.com/office/drawing/2014/main" id="{4CBCC120-C65F-25C3-8E55-7BE03F42E112}"/>
              </a:ext>
            </a:extLst>
          </p:cNvPr>
          <p:cNvSpPr>
            <a:spLocks noGrp="1"/>
          </p:cNvSpPr>
          <p:nvPr>
            <p:ph type="sldNum" sz="quarter" idx="12"/>
          </p:nvPr>
        </p:nvSpPr>
        <p:spPr/>
        <p:txBody>
          <a:bodyPr/>
          <a:lstStyle/>
          <a:p>
            <a:fld id="{D292B180-B274-DE43-B36F-C827C7616C05}" type="slidenum">
              <a:rPr lang="en-US" smtClean="0"/>
              <a:t>72</a:t>
            </a:fld>
            <a:endParaRPr lang="en-US"/>
          </a:p>
        </p:txBody>
      </p:sp>
      <p:sp>
        <p:nvSpPr>
          <p:cNvPr id="3" name="Title 1">
            <a:extLst>
              <a:ext uri="{FF2B5EF4-FFF2-40B4-BE49-F238E27FC236}">
                <a16:creationId xmlns:a16="http://schemas.microsoft.com/office/drawing/2014/main" id="{AC230FA2-1336-EED7-2E30-E48C9C40023D}"/>
              </a:ext>
            </a:extLst>
          </p:cNvPr>
          <p:cNvSpPr txBox="1">
            <a:spLocks/>
          </p:cNvSpPr>
          <p:nvPr/>
        </p:nvSpPr>
        <p:spPr>
          <a:xfrm>
            <a:off x="0" y="87427"/>
            <a:ext cx="5878286"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a:t>
            </a:r>
          </a:p>
        </p:txBody>
      </p:sp>
      <p:sp>
        <p:nvSpPr>
          <p:cNvPr id="7" name="Right Brace 6">
            <a:extLst>
              <a:ext uri="{FF2B5EF4-FFF2-40B4-BE49-F238E27FC236}">
                <a16:creationId xmlns:a16="http://schemas.microsoft.com/office/drawing/2014/main" id="{ABCA9A11-6D03-2C36-CBA7-B8F55C32C324}"/>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2ADAE47B-8A49-8A22-1805-8B00BCDF8F87}"/>
              </a:ext>
            </a:extLst>
          </p:cNvPr>
          <p:cNvSpPr txBox="1"/>
          <p:nvPr/>
        </p:nvSpPr>
        <p:spPr>
          <a:xfrm>
            <a:off x="282555" y="1324415"/>
            <a:ext cx="3745477" cy="1323439"/>
          </a:xfrm>
          <a:prstGeom prst="rect">
            <a:avLst/>
          </a:prstGeom>
          <a:noFill/>
        </p:spPr>
        <p:txBody>
          <a:bodyPr wrap="square">
            <a:spAutoFit/>
          </a:bodyPr>
          <a:lstStyle/>
          <a:p>
            <a:r>
              <a:rPr lang="en-US" sz="2000" dirty="0"/>
              <a:t>A </a:t>
            </a:r>
            <a:r>
              <a:rPr lang="en-US" sz="2000" b="1" dirty="0"/>
              <a:t>healthy</a:t>
            </a:r>
            <a:r>
              <a:rPr lang="en-US" sz="2000" dirty="0"/>
              <a:t> research culture </a:t>
            </a:r>
            <a:r>
              <a:rPr lang="en-US" sz="2000" b="1" dirty="0"/>
              <a:t>enables </a:t>
            </a:r>
            <a:r>
              <a:rPr lang="en-US" sz="2000" dirty="0"/>
              <a:t>high quality research (which also </a:t>
            </a:r>
            <a:r>
              <a:rPr lang="en-US" sz="2000" b="1" dirty="0"/>
              <a:t>safeguards</a:t>
            </a:r>
            <a:r>
              <a:rPr lang="en-US" sz="2000" dirty="0"/>
              <a:t> research integrity)</a:t>
            </a:r>
          </a:p>
        </p:txBody>
      </p:sp>
      <p:sp>
        <p:nvSpPr>
          <p:cNvPr id="6" name="TextBox 5">
            <a:extLst>
              <a:ext uri="{FF2B5EF4-FFF2-40B4-BE49-F238E27FC236}">
                <a16:creationId xmlns:a16="http://schemas.microsoft.com/office/drawing/2014/main" id="{77ED5860-E682-3662-733C-5894CC6FEFD4}"/>
              </a:ext>
            </a:extLst>
          </p:cNvPr>
          <p:cNvSpPr txBox="1"/>
          <p:nvPr/>
        </p:nvSpPr>
        <p:spPr>
          <a:xfrm>
            <a:off x="282555" y="2825018"/>
            <a:ext cx="3398796" cy="707886"/>
          </a:xfrm>
          <a:prstGeom prst="rect">
            <a:avLst/>
          </a:prstGeom>
          <a:noFill/>
        </p:spPr>
        <p:txBody>
          <a:bodyPr wrap="square">
            <a:spAutoFit/>
          </a:bodyPr>
          <a:lstStyle/>
          <a:p>
            <a:r>
              <a:rPr lang="en-US" sz="2000" dirty="0"/>
              <a:t>Identify what is </a:t>
            </a:r>
            <a:r>
              <a:rPr lang="en-US" sz="2000" b="1" dirty="0"/>
              <a:t>working well </a:t>
            </a:r>
            <a:r>
              <a:rPr lang="en-US" sz="2000" dirty="0"/>
              <a:t>and what is not</a:t>
            </a:r>
          </a:p>
        </p:txBody>
      </p:sp>
      <p:sp>
        <p:nvSpPr>
          <p:cNvPr id="8" name="Rectangle 7">
            <a:extLst>
              <a:ext uri="{FF2B5EF4-FFF2-40B4-BE49-F238E27FC236}">
                <a16:creationId xmlns:a16="http://schemas.microsoft.com/office/drawing/2014/main" id="{3CC4FC5B-1CCA-BC66-8992-72773B42905A}"/>
              </a:ext>
            </a:extLst>
          </p:cNvPr>
          <p:cNvSpPr/>
          <p:nvPr/>
        </p:nvSpPr>
        <p:spPr>
          <a:xfrm>
            <a:off x="209401" y="1163782"/>
            <a:ext cx="3638203" cy="2369122"/>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a:extLst>
              <a:ext uri="{FF2B5EF4-FFF2-40B4-BE49-F238E27FC236}">
                <a16:creationId xmlns:a16="http://schemas.microsoft.com/office/drawing/2014/main" id="{F7C86D9D-6B1C-14F8-BC4F-A3161C781DF9}"/>
              </a:ext>
            </a:extLst>
          </p:cNvPr>
          <p:cNvSpPr txBox="1"/>
          <p:nvPr/>
        </p:nvSpPr>
        <p:spPr>
          <a:xfrm>
            <a:off x="282555" y="3621486"/>
            <a:ext cx="3398796" cy="707886"/>
          </a:xfrm>
          <a:prstGeom prst="rect">
            <a:avLst/>
          </a:prstGeom>
          <a:noFill/>
        </p:spPr>
        <p:txBody>
          <a:bodyPr wrap="square">
            <a:spAutoFit/>
          </a:bodyPr>
          <a:lstStyle/>
          <a:p>
            <a:r>
              <a:rPr lang="en-US" sz="2000" dirty="0"/>
              <a:t>Recognize how your </a:t>
            </a:r>
            <a:r>
              <a:rPr lang="en-US" sz="2000" b="1" dirty="0"/>
              <a:t>actions</a:t>
            </a:r>
            <a:r>
              <a:rPr lang="en-US" sz="2000" dirty="0"/>
              <a:t> shape the research culture</a:t>
            </a:r>
          </a:p>
        </p:txBody>
      </p:sp>
      <p:pic>
        <p:nvPicPr>
          <p:cNvPr id="13" name="Picture 12">
            <a:extLst>
              <a:ext uri="{FF2B5EF4-FFF2-40B4-BE49-F238E27FC236}">
                <a16:creationId xmlns:a16="http://schemas.microsoft.com/office/drawing/2014/main" id="{47CFC339-2595-DCFA-F172-B03F30A48FDF}"/>
              </a:ext>
            </a:extLst>
          </p:cNvPr>
          <p:cNvPicPr>
            <a:picLocks noChangeAspect="1"/>
          </p:cNvPicPr>
          <p:nvPr/>
        </p:nvPicPr>
        <p:blipFill>
          <a:blip r:embed="rId6"/>
          <a:srcRect l="25891" t="22584" r="23267" b="27652"/>
          <a:stretch>
            <a:fillRect/>
          </a:stretch>
        </p:blipFill>
        <p:spPr>
          <a:xfrm>
            <a:off x="7110712" y="1606152"/>
            <a:ext cx="3524859" cy="3450127"/>
          </a:xfrm>
          <a:prstGeom prst="rect">
            <a:avLst/>
          </a:prstGeom>
        </p:spPr>
      </p:pic>
    </p:spTree>
    <p:extLst>
      <p:ext uri="{BB962C8B-B14F-4D97-AF65-F5344CB8AC3E}">
        <p14:creationId xmlns:p14="http://schemas.microsoft.com/office/powerpoint/2010/main" val="68154209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753CF6-51B8-2863-40EC-EC0821F3B9F2}"/>
            </a:ext>
          </a:extLst>
        </p:cNvPr>
        <p:cNvGrpSpPr/>
        <p:nvPr/>
      </p:nvGrpSpPr>
      <p:grpSpPr>
        <a:xfrm>
          <a:off x="0" y="0"/>
          <a:ext cx="0" cy="0"/>
          <a:chOff x="0" y="0"/>
          <a:chExt cx="0" cy="0"/>
        </a:xfrm>
      </p:grpSpPr>
      <p:grpSp>
        <p:nvGrpSpPr>
          <p:cNvPr id="9" name="Group 8">
            <a:extLst>
              <a:ext uri="{FF2B5EF4-FFF2-40B4-BE49-F238E27FC236}">
                <a16:creationId xmlns:a16="http://schemas.microsoft.com/office/drawing/2014/main" id="{D85C5F4B-5BD9-4EAE-3285-ACCD9585A189}"/>
              </a:ext>
            </a:extLst>
          </p:cNvPr>
          <p:cNvGrpSpPr/>
          <p:nvPr/>
        </p:nvGrpSpPr>
        <p:grpSpPr>
          <a:xfrm>
            <a:off x="10644280" y="6476875"/>
            <a:ext cx="1474613" cy="325672"/>
            <a:chOff x="19317" y="2690018"/>
            <a:chExt cx="11784755" cy="2025180"/>
          </a:xfrm>
        </p:grpSpPr>
        <p:pic>
          <p:nvPicPr>
            <p:cNvPr id="10" name="Picture 2">
              <a:extLst>
                <a:ext uri="{FF2B5EF4-FFF2-40B4-BE49-F238E27FC236}">
                  <a16:creationId xmlns:a16="http://schemas.microsoft.com/office/drawing/2014/main" id="{C963591D-CBBD-F1FD-B3ED-F2774097AE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D05950C1-A700-E285-3164-E3E44CBF248F}"/>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11" name="Picture 10">
            <a:extLst>
              <a:ext uri="{FF2B5EF4-FFF2-40B4-BE49-F238E27FC236}">
                <a16:creationId xmlns:a16="http://schemas.microsoft.com/office/drawing/2014/main" id="{F5468213-A711-C18F-9D1F-8E951E22BD48}"/>
              </a:ext>
            </a:extLst>
          </p:cNvPr>
          <p:cNvPicPr>
            <a:picLocks noChangeAspect="1"/>
          </p:cNvPicPr>
          <p:nvPr/>
        </p:nvPicPr>
        <p:blipFill>
          <a:blip r:embed="rId5"/>
          <a:srcRect b="7315"/>
          <a:stretch>
            <a:fillRect/>
          </a:stretch>
        </p:blipFill>
        <p:spPr>
          <a:xfrm>
            <a:off x="5334000" y="87427"/>
            <a:ext cx="6858000" cy="6356350"/>
          </a:xfrm>
          <a:prstGeom prst="rect">
            <a:avLst/>
          </a:prstGeom>
        </p:spPr>
      </p:pic>
      <p:sp>
        <p:nvSpPr>
          <p:cNvPr id="2" name="Slide Number Placeholder 1">
            <a:extLst>
              <a:ext uri="{FF2B5EF4-FFF2-40B4-BE49-F238E27FC236}">
                <a16:creationId xmlns:a16="http://schemas.microsoft.com/office/drawing/2014/main" id="{2F913EEB-DA9E-E20A-ECC1-5DC1DD29AF86}"/>
              </a:ext>
            </a:extLst>
          </p:cNvPr>
          <p:cNvSpPr>
            <a:spLocks noGrp="1"/>
          </p:cNvSpPr>
          <p:nvPr>
            <p:ph type="sldNum" sz="quarter" idx="12"/>
          </p:nvPr>
        </p:nvSpPr>
        <p:spPr/>
        <p:txBody>
          <a:bodyPr/>
          <a:lstStyle/>
          <a:p>
            <a:fld id="{D292B180-B274-DE43-B36F-C827C7616C05}" type="slidenum">
              <a:rPr lang="en-US" smtClean="0"/>
              <a:t>73</a:t>
            </a:fld>
            <a:endParaRPr lang="en-US"/>
          </a:p>
        </p:txBody>
      </p:sp>
      <p:sp>
        <p:nvSpPr>
          <p:cNvPr id="3" name="Title 1">
            <a:extLst>
              <a:ext uri="{FF2B5EF4-FFF2-40B4-BE49-F238E27FC236}">
                <a16:creationId xmlns:a16="http://schemas.microsoft.com/office/drawing/2014/main" id="{EE1DF4E4-75FA-620B-B593-91DB557775D0}"/>
              </a:ext>
            </a:extLst>
          </p:cNvPr>
          <p:cNvSpPr txBox="1">
            <a:spLocks/>
          </p:cNvSpPr>
          <p:nvPr/>
        </p:nvSpPr>
        <p:spPr>
          <a:xfrm>
            <a:off x="0" y="87427"/>
            <a:ext cx="5878286"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a:t>
            </a:r>
          </a:p>
        </p:txBody>
      </p:sp>
      <p:sp>
        <p:nvSpPr>
          <p:cNvPr id="7" name="Right Brace 6">
            <a:extLst>
              <a:ext uri="{FF2B5EF4-FFF2-40B4-BE49-F238E27FC236}">
                <a16:creationId xmlns:a16="http://schemas.microsoft.com/office/drawing/2014/main" id="{7E1E8960-FA27-CD3D-BA72-D5B685FE5B9B}"/>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CDE8BC3E-B315-60E5-AD13-BC5CC97C9A1D}"/>
              </a:ext>
            </a:extLst>
          </p:cNvPr>
          <p:cNvSpPr txBox="1"/>
          <p:nvPr/>
        </p:nvSpPr>
        <p:spPr>
          <a:xfrm>
            <a:off x="282555" y="1324415"/>
            <a:ext cx="3745477" cy="1323439"/>
          </a:xfrm>
          <a:prstGeom prst="rect">
            <a:avLst/>
          </a:prstGeom>
          <a:noFill/>
        </p:spPr>
        <p:txBody>
          <a:bodyPr wrap="square">
            <a:spAutoFit/>
          </a:bodyPr>
          <a:lstStyle/>
          <a:p>
            <a:r>
              <a:rPr lang="en-US" sz="2000" dirty="0"/>
              <a:t>A </a:t>
            </a:r>
            <a:r>
              <a:rPr lang="en-US" sz="2000" b="1" dirty="0"/>
              <a:t>healthy</a:t>
            </a:r>
            <a:r>
              <a:rPr lang="en-US" sz="2000" dirty="0"/>
              <a:t> research culture </a:t>
            </a:r>
            <a:r>
              <a:rPr lang="en-US" sz="2000" b="1" dirty="0"/>
              <a:t>enables </a:t>
            </a:r>
            <a:r>
              <a:rPr lang="en-US" sz="2000" dirty="0"/>
              <a:t>high quality research (which also </a:t>
            </a:r>
            <a:r>
              <a:rPr lang="en-US" sz="2000" b="1" dirty="0"/>
              <a:t>safeguards</a:t>
            </a:r>
            <a:r>
              <a:rPr lang="en-US" sz="2000" dirty="0"/>
              <a:t> research integrity)</a:t>
            </a:r>
          </a:p>
        </p:txBody>
      </p:sp>
      <p:sp>
        <p:nvSpPr>
          <p:cNvPr id="6" name="TextBox 5">
            <a:extLst>
              <a:ext uri="{FF2B5EF4-FFF2-40B4-BE49-F238E27FC236}">
                <a16:creationId xmlns:a16="http://schemas.microsoft.com/office/drawing/2014/main" id="{E0E02C22-1512-BF71-7B8A-190085114B74}"/>
              </a:ext>
            </a:extLst>
          </p:cNvPr>
          <p:cNvSpPr txBox="1"/>
          <p:nvPr/>
        </p:nvSpPr>
        <p:spPr>
          <a:xfrm>
            <a:off x="282555" y="2825018"/>
            <a:ext cx="3398796" cy="707886"/>
          </a:xfrm>
          <a:prstGeom prst="rect">
            <a:avLst/>
          </a:prstGeom>
          <a:noFill/>
        </p:spPr>
        <p:txBody>
          <a:bodyPr wrap="square">
            <a:spAutoFit/>
          </a:bodyPr>
          <a:lstStyle/>
          <a:p>
            <a:r>
              <a:rPr lang="en-US" sz="2000" dirty="0"/>
              <a:t>Identify what is </a:t>
            </a:r>
            <a:r>
              <a:rPr lang="en-US" sz="2000" b="1" dirty="0"/>
              <a:t>working well </a:t>
            </a:r>
            <a:r>
              <a:rPr lang="en-US" sz="2000" dirty="0"/>
              <a:t>and what is not</a:t>
            </a:r>
          </a:p>
        </p:txBody>
      </p:sp>
      <p:sp>
        <p:nvSpPr>
          <p:cNvPr id="4" name="TextBox 3">
            <a:extLst>
              <a:ext uri="{FF2B5EF4-FFF2-40B4-BE49-F238E27FC236}">
                <a16:creationId xmlns:a16="http://schemas.microsoft.com/office/drawing/2014/main" id="{C90E1166-AD2B-9116-95D9-E082F0ED8AA0}"/>
              </a:ext>
            </a:extLst>
          </p:cNvPr>
          <p:cNvSpPr txBox="1"/>
          <p:nvPr/>
        </p:nvSpPr>
        <p:spPr>
          <a:xfrm>
            <a:off x="282555" y="3621486"/>
            <a:ext cx="3398796" cy="707886"/>
          </a:xfrm>
          <a:prstGeom prst="rect">
            <a:avLst/>
          </a:prstGeom>
          <a:noFill/>
        </p:spPr>
        <p:txBody>
          <a:bodyPr wrap="square">
            <a:spAutoFit/>
          </a:bodyPr>
          <a:lstStyle/>
          <a:p>
            <a:r>
              <a:rPr lang="en-US" sz="2000" dirty="0"/>
              <a:t>Recognize how your </a:t>
            </a:r>
            <a:r>
              <a:rPr lang="en-US" sz="2000" b="1" dirty="0"/>
              <a:t>actions</a:t>
            </a:r>
            <a:r>
              <a:rPr lang="en-US" sz="2000" dirty="0"/>
              <a:t> shape the research culture</a:t>
            </a:r>
          </a:p>
        </p:txBody>
      </p:sp>
      <p:sp>
        <p:nvSpPr>
          <p:cNvPr id="8" name="Rectangle 7">
            <a:extLst>
              <a:ext uri="{FF2B5EF4-FFF2-40B4-BE49-F238E27FC236}">
                <a16:creationId xmlns:a16="http://schemas.microsoft.com/office/drawing/2014/main" id="{CE4A812D-8A7F-DAFE-92AC-4CFBA62CD68D}"/>
              </a:ext>
            </a:extLst>
          </p:cNvPr>
          <p:cNvSpPr/>
          <p:nvPr/>
        </p:nvSpPr>
        <p:spPr>
          <a:xfrm>
            <a:off x="209401" y="1163781"/>
            <a:ext cx="3638203" cy="3165591"/>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TextBox 13">
            <a:extLst>
              <a:ext uri="{FF2B5EF4-FFF2-40B4-BE49-F238E27FC236}">
                <a16:creationId xmlns:a16="http://schemas.microsoft.com/office/drawing/2014/main" id="{2A5FAC69-75F1-52BE-0257-4C11786F70C1}"/>
              </a:ext>
            </a:extLst>
          </p:cNvPr>
          <p:cNvSpPr txBox="1"/>
          <p:nvPr/>
        </p:nvSpPr>
        <p:spPr>
          <a:xfrm>
            <a:off x="282555" y="4417954"/>
            <a:ext cx="3605386" cy="707886"/>
          </a:xfrm>
          <a:prstGeom prst="rect">
            <a:avLst/>
          </a:prstGeom>
          <a:noFill/>
        </p:spPr>
        <p:txBody>
          <a:bodyPr wrap="square">
            <a:spAutoFit/>
          </a:bodyPr>
          <a:lstStyle/>
          <a:p>
            <a:r>
              <a:rPr lang="en-US" sz="2000" dirty="0"/>
              <a:t>Try out </a:t>
            </a:r>
            <a:r>
              <a:rPr lang="en-US" sz="2000" b="1" dirty="0"/>
              <a:t>new</a:t>
            </a:r>
            <a:r>
              <a:rPr lang="en-US" sz="2000" dirty="0"/>
              <a:t> ways of </a:t>
            </a:r>
            <a:r>
              <a:rPr lang="en-US" sz="2000" b="1" dirty="0"/>
              <a:t>thinking </a:t>
            </a:r>
            <a:r>
              <a:rPr lang="en-US" sz="2000" dirty="0"/>
              <a:t>and </a:t>
            </a:r>
            <a:r>
              <a:rPr lang="en-US" sz="2000" b="1" dirty="0"/>
              <a:t>working </a:t>
            </a:r>
          </a:p>
        </p:txBody>
      </p:sp>
      <p:pic>
        <p:nvPicPr>
          <p:cNvPr id="13" name="Picture 12">
            <a:extLst>
              <a:ext uri="{FF2B5EF4-FFF2-40B4-BE49-F238E27FC236}">
                <a16:creationId xmlns:a16="http://schemas.microsoft.com/office/drawing/2014/main" id="{1DC4BD2D-A00F-F98E-F9A9-601E83D4896B}"/>
              </a:ext>
            </a:extLst>
          </p:cNvPr>
          <p:cNvPicPr>
            <a:picLocks noChangeAspect="1"/>
          </p:cNvPicPr>
          <p:nvPr/>
        </p:nvPicPr>
        <p:blipFill>
          <a:blip r:embed="rId6"/>
          <a:srcRect l="25891" t="22584" r="23267" b="27652"/>
          <a:stretch>
            <a:fillRect/>
          </a:stretch>
        </p:blipFill>
        <p:spPr>
          <a:xfrm>
            <a:off x="7110712" y="1606152"/>
            <a:ext cx="3524859" cy="3450127"/>
          </a:xfrm>
          <a:prstGeom prst="rect">
            <a:avLst/>
          </a:prstGeom>
        </p:spPr>
      </p:pic>
    </p:spTree>
    <p:extLst>
      <p:ext uri="{BB962C8B-B14F-4D97-AF65-F5344CB8AC3E}">
        <p14:creationId xmlns:p14="http://schemas.microsoft.com/office/powerpoint/2010/main" val="304641024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3EA26-FCDB-C7A7-7362-394EE6D4883A}"/>
            </a:ext>
          </a:extLst>
        </p:cNvPr>
        <p:cNvGrpSpPr/>
        <p:nvPr/>
      </p:nvGrpSpPr>
      <p:grpSpPr>
        <a:xfrm>
          <a:off x="0" y="0"/>
          <a:ext cx="0" cy="0"/>
          <a:chOff x="0" y="0"/>
          <a:chExt cx="0" cy="0"/>
        </a:xfrm>
      </p:grpSpPr>
      <p:sp>
        <p:nvSpPr>
          <p:cNvPr id="14" name="TextBox 13">
            <a:extLst>
              <a:ext uri="{FF2B5EF4-FFF2-40B4-BE49-F238E27FC236}">
                <a16:creationId xmlns:a16="http://schemas.microsoft.com/office/drawing/2014/main" id="{70E487E9-768F-7C65-C861-4179339129C1}"/>
              </a:ext>
            </a:extLst>
          </p:cNvPr>
          <p:cNvSpPr txBox="1"/>
          <p:nvPr/>
        </p:nvSpPr>
        <p:spPr>
          <a:xfrm>
            <a:off x="282555" y="4417954"/>
            <a:ext cx="3605386" cy="707886"/>
          </a:xfrm>
          <a:prstGeom prst="rect">
            <a:avLst/>
          </a:prstGeom>
          <a:noFill/>
        </p:spPr>
        <p:txBody>
          <a:bodyPr wrap="square">
            <a:spAutoFit/>
          </a:bodyPr>
          <a:lstStyle/>
          <a:p>
            <a:r>
              <a:rPr lang="en-US" sz="2000" dirty="0"/>
              <a:t>Try out </a:t>
            </a:r>
            <a:r>
              <a:rPr lang="en-US" sz="2000" b="1" dirty="0"/>
              <a:t>new</a:t>
            </a:r>
            <a:r>
              <a:rPr lang="en-US" sz="2000" dirty="0"/>
              <a:t> ways of </a:t>
            </a:r>
            <a:r>
              <a:rPr lang="en-US" sz="2000" b="1" dirty="0"/>
              <a:t>thinking </a:t>
            </a:r>
            <a:r>
              <a:rPr lang="en-US" sz="2000" dirty="0"/>
              <a:t>and </a:t>
            </a:r>
            <a:r>
              <a:rPr lang="en-US" sz="2000" b="1" dirty="0"/>
              <a:t>working </a:t>
            </a:r>
          </a:p>
        </p:txBody>
      </p:sp>
      <p:grpSp>
        <p:nvGrpSpPr>
          <p:cNvPr id="9" name="Group 8">
            <a:extLst>
              <a:ext uri="{FF2B5EF4-FFF2-40B4-BE49-F238E27FC236}">
                <a16:creationId xmlns:a16="http://schemas.microsoft.com/office/drawing/2014/main" id="{7B4E2CBE-742B-E3A7-6E4D-B6226569CAFC}"/>
              </a:ext>
            </a:extLst>
          </p:cNvPr>
          <p:cNvGrpSpPr/>
          <p:nvPr/>
        </p:nvGrpSpPr>
        <p:grpSpPr>
          <a:xfrm>
            <a:off x="10644280" y="6476875"/>
            <a:ext cx="1474613" cy="325672"/>
            <a:chOff x="19317" y="2690018"/>
            <a:chExt cx="11784755" cy="2025180"/>
          </a:xfrm>
        </p:grpSpPr>
        <p:pic>
          <p:nvPicPr>
            <p:cNvPr id="10" name="Picture 2">
              <a:extLst>
                <a:ext uri="{FF2B5EF4-FFF2-40B4-BE49-F238E27FC236}">
                  <a16:creationId xmlns:a16="http://schemas.microsoft.com/office/drawing/2014/main" id="{71CB0918-60B8-D21A-4E72-6D0E61B354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a:extLst>
                <a:ext uri="{FF2B5EF4-FFF2-40B4-BE49-F238E27FC236}">
                  <a16:creationId xmlns:a16="http://schemas.microsoft.com/office/drawing/2014/main" id="{77FB94E3-7CE5-2E76-BCEA-E772993127F1}"/>
                </a:ext>
              </a:extLst>
            </p:cNvPr>
            <p:cNvPicPr>
              <a:picLocks noChangeAspect="1"/>
            </p:cNvPicPr>
            <p:nvPr/>
          </p:nvPicPr>
          <p:blipFill>
            <a:blip r:embed="rId4"/>
            <a:stretch>
              <a:fillRect/>
            </a:stretch>
          </p:blipFill>
          <p:spPr>
            <a:xfrm>
              <a:off x="5728531" y="2690018"/>
              <a:ext cx="6075541" cy="2025180"/>
            </a:xfrm>
            <a:prstGeom prst="rect">
              <a:avLst/>
            </a:prstGeom>
          </p:spPr>
        </p:pic>
      </p:grpSp>
      <p:pic>
        <p:nvPicPr>
          <p:cNvPr id="11" name="Picture 10">
            <a:extLst>
              <a:ext uri="{FF2B5EF4-FFF2-40B4-BE49-F238E27FC236}">
                <a16:creationId xmlns:a16="http://schemas.microsoft.com/office/drawing/2014/main" id="{C1A184D2-CFCF-0A84-BB2C-FB397B64D405}"/>
              </a:ext>
            </a:extLst>
          </p:cNvPr>
          <p:cNvPicPr>
            <a:picLocks noChangeAspect="1"/>
          </p:cNvPicPr>
          <p:nvPr/>
        </p:nvPicPr>
        <p:blipFill>
          <a:blip r:embed="rId5"/>
          <a:srcRect b="7315"/>
          <a:stretch>
            <a:fillRect/>
          </a:stretch>
        </p:blipFill>
        <p:spPr>
          <a:xfrm>
            <a:off x="5334000" y="87427"/>
            <a:ext cx="6858000" cy="6356350"/>
          </a:xfrm>
          <a:prstGeom prst="rect">
            <a:avLst/>
          </a:prstGeom>
        </p:spPr>
      </p:pic>
      <p:sp>
        <p:nvSpPr>
          <p:cNvPr id="2" name="Slide Number Placeholder 1">
            <a:extLst>
              <a:ext uri="{FF2B5EF4-FFF2-40B4-BE49-F238E27FC236}">
                <a16:creationId xmlns:a16="http://schemas.microsoft.com/office/drawing/2014/main" id="{F11300EE-460B-CFDD-7833-DB5902B83616}"/>
              </a:ext>
            </a:extLst>
          </p:cNvPr>
          <p:cNvSpPr>
            <a:spLocks noGrp="1"/>
          </p:cNvSpPr>
          <p:nvPr>
            <p:ph type="sldNum" sz="quarter" idx="12"/>
          </p:nvPr>
        </p:nvSpPr>
        <p:spPr/>
        <p:txBody>
          <a:bodyPr/>
          <a:lstStyle/>
          <a:p>
            <a:fld id="{D292B180-B274-DE43-B36F-C827C7616C05}" type="slidenum">
              <a:rPr lang="en-US" smtClean="0"/>
              <a:t>74</a:t>
            </a:fld>
            <a:endParaRPr lang="en-US"/>
          </a:p>
        </p:txBody>
      </p:sp>
      <p:sp>
        <p:nvSpPr>
          <p:cNvPr id="3" name="Title 1">
            <a:extLst>
              <a:ext uri="{FF2B5EF4-FFF2-40B4-BE49-F238E27FC236}">
                <a16:creationId xmlns:a16="http://schemas.microsoft.com/office/drawing/2014/main" id="{732ABDF6-A390-EA42-5A62-A98A43F2D07D}"/>
              </a:ext>
            </a:extLst>
          </p:cNvPr>
          <p:cNvSpPr txBox="1">
            <a:spLocks/>
          </p:cNvSpPr>
          <p:nvPr/>
        </p:nvSpPr>
        <p:spPr>
          <a:xfrm>
            <a:off x="0" y="87427"/>
            <a:ext cx="5878286"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a:t>
            </a:r>
          </a:p>
        </p:txBody>
      </p:sp>
      <p:sp>
        <p:nvSpPr>
          <p:cNvPr id="7" name="Right Brace 6">
            <a:extLst>
              <a:ext uri="{FF2B5EF4-FFF2-40B4-BE49-F238E27FC236}">
                <a16:creationId xmlns:a16="http://schemas.microsoft.com/office/drawing/2014/main" id="{1D3886A5-D223-642F-1E77-E57093C0E77A}"/>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F319A135-62FF-B94C-B64D-4B253B7F87E1}"/>
              </a:ext>
            </a:extLst>
          </p:cNvPr>
          <p:cNvSpPr txBox="1"/>
          <p:nvPr/>
        </p:nvSpPr>
        <p:spPr>
          <a:xfrm>
            <a:off x="282555" y="1324415"/>
            <a:ext cx="3745477" cy="1323439"/>
          </a:xfrm>
          <a:prstGeom prst="rect">
            <a:avLst/>
          </a:prstGeom>
          <a:noFill/>
        </p:spPr>
        <p:txBody>
          <a:bodyPr wrap="square">
            <a:spAutoFit/>
          </a:bodyPr>
          <a:lstStyle/>
          <a:p>
            <a:r>
              <a:rPr lang="en-US" sz="2000" dirty="0"/>
              <a:t>A </a:t>
            </a:r>
            <a:r>
              <a:rPr lang="en-US" sz="2000" b="1" dirty="0"/>
              <a:t>healthy</a:t>
            </a:r>
            <a:r>
              <a:rPr lang="en-US" sz="2000" dirty="0"/>
              <a:t> research culture </a:t>
            </a:r>
            <a:r>
              <a:rPr lang="en-US" sz="2000" b="1" dirty="0"/>
              <a:t>enables </a:t>
            </a:r>
            <a:r>
              <a:rPr lang="en-US" sz="2000" dirty="0"/>
              <a:t>high quality research (which also </a:t>
            </a:r>
            <a:r>
              <a:rPr lang="en-US" sz="2000" b="1" dirty="0"/>
              <a:t>safeguards</a:t>
            </a:r>
            <a:r>
              <a:rPr lang="en-US" sz="2000" dirty="0"/>
              <a:t> research integrity)</a:t>
            </a:r>
          </a:p>
        </p:txBody>
      </p:sp>
      <p:sp>
        <p:nvSpPr>
          <p:cNvPr id="6" name="TextBox 5">
            <a:extLst>
              <a:ext uri="{FF2B5EF4-FFF2-40B4-BE49-F238E27FC236}">
                <a16:creationId xmlns:a16="http://schemas.microsoft.com/office/drawing/2014/main" id="{53E12C0A-D9DF-16EC-5646-63354569DA1B}"/>
              </a:ext>
            </a:extLst>
          </p:cNvPr>
          <p:cNvSpPr txBox="1"/>
          <p:nvPr/>
        </p:nvSpPr>
        <p:spPr>
          <a:xfrm>
            <a:off x="282555" y="2825018"/>
            <a:ext cx="3398796" cy="707886"/>
          </a:xfrm>
          <a:prstGeom prst="rect">
            <a:avLst/>
          </a:prstGeom>
          <a:noFill/>
        </p:spPr>
        <p:txBody>
          <a:bodyPr wrap="square">
            <a:spAutoFit/>
          </a:bodyPr>
          <a:lstStyle/>
          <a:p>
            <a:r>
              <a:rPr lang="en-US" sz="2000" dirty="0"/>
              <a:t>Identify what is </a:t>
            </a:r>
            <a:r>
              <a:rPr lang="en-US" sz="2000" b="1" dirty="0"/>
              <a:t>working well </a:t>
            </a:r>
            <a:r>
              <a:rPr lang="en-US" sz="2000" dirty="0"/>
              <a:t>and what is not</a:t>
            </a:r>
          </a:p>
        </p:txBody>
      </p:sp>
      <p:sp>
        <p:nvSpPr>
          <p:cNvPr id="4" name="TextBox 3">
            <a:extLst>
              <a:ext uri="{FF2B5EF4-FFF2-40B4-BE49-F238E27FC236}">
                <a16:creationId xmlns:a16="http://schemas.microsoft.com/office/drawing/2014/main" id="{AD4EB67B-4331-C351-D81C-DAD4EB2F0C82}"/>
              </a:ext>
            </a:extLst>
          </p:cNvPr>
          <p:cNvSpPr txBox="1"/>
          <p:nvPr/>
        </p:nvSpPr>
        <p:spPr>
          <a:xfrm>
            <a:off x="282555" y="3621486"/>
            <a:ext cx="3398796" cy="707886"/>
          </a:xfrm>
          <a:prstGeom prst="rect">
            <a:avLst/>
          </a:prstGeom>
          <a:noFill/>
        </p:spPr>
        <p:txBody>
          <a:bodyPr wrap="square">
            <a:spAutoFit/>
          </a:bodyPr>
          <a:lstStyle/>
          <a:p>
            <a:r>
              <a:rPr lang="en-US" sz="2000" dirty="0"/>
              <a:t>Recognize how your </a:t>
            </a:r>
            <a:r>
              <a:rPr lang="en-US" sz="2000" b="1" dirty="0"/>
              <a:t>actions</a:t>
            </a:r>
            <a:r>
              <a:rPr lang="en-US" sz="2000" dirty="0"/>
              <a:t> shape the research culture</a:t>
            </a:r>
          </a:p>
        </p:txBody>
      </p:sp>
      <p:sp>
        <p:nvSpPr>
          <p:cNvPr id="8" name="Rectangle 7">
            <a:extLst>
              <a:ext uri="{FF2B5EF4-FFF2-40B4-BE49-F238E27FC236}">
                <a16:creationId xmlns:a16="http://schemas.microsoft.com/office/drawing/2014/main" id="{DDDEDDB4-23AB-DDBD-0A9A-4A1B2798583D}"/>
              </a:ext>
            </a:extLst>
          </p:cNvPr>
          <p:cNvSpPr/>
          <p:nvPr/>
        </p:nvSpPr>
        <p:spPr>
          <a:xfrm>
            <a:off x="209401" y="1163781"/>
            <a:ext cx="3638203" cy="3962059"/>
          </a:xfrm>
          <a:prstGeom prst="rect">
            <a:avLst/>
          </a:prstGeom>
          <a:solidFill>
            <a:schemeClr val="bg1">
              <a:alpha val="6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Box 12">
            <a:extLst>
              <a:ext uri="{FF2B5EF4-FFF2-40B4-BE49-F238E27FC236}">
                <a16:creationId xmlns:a16="http://schemas.microsoft.com/office/drawing/2014/main" id="{7021D08F-DD4C-649E-1DE2-58E6A22BED2B}"/>
              </a:ext>
            </a:extLst>
          </p:cNvPr>
          <p:cNvSpPr txBox="1"/>
          <p:nvPr/>
        </p:nvSpPr>
        <p:spPr>
          <a:xfrm>
            <a:off x="282555" y="5125840"/>
            <a:ext cx="4906962" cy="1015663"/>
          </a:xfrm>
          <a:prstGeom prst="rect">
            <a:avLst/>
          </a:prstGeom>
          <a:noFill/>
        </p:spPr>
        <p:txBody>
          <a:bodyPr wrap="square">
            <a:spAutoFit/>
          </a:bodyPr>
          <a:lstStyle/>
          <a:p>
            <a:r>
              <a:rPr lang="en-US" sz="2000" dirty="0"/>
              <a:t>Increase opportunities for </a:t>
            </a:r>
            <a:r>
              <a:rPr lang="en-US" sz="2000" b="1" dirty="0"/>
              <a:t>engagement</a:t>
            </a:r>
            <a:r>
              <a:rPr lang="en-US" sz="2000" dirty="0"/>
              <a:t> in the learning and research process (e.g. via </a:t>
            </a:r>
            <a:r>
              <a:rPr lang="en-US" sz="2000" b="1" dirty="0"/>
              <a:t>Universal Design</a:t>
            </a:r>
            <a:r>
              <a:rPr lang="en-US" sz="2000" dirty="0"/>
              <a:t>, </a:t>
            </a:r>
            <a:r>
              <a:rPr lang="en-US" sz="2000" b="1" dirty="0"/>
              <a:t>participatory research</a:t>
            </a:r>
            <a:r>
              <a:rPr lang="en-US" sz="2000" dirty="0"/>
              <a:t>)</a:t>
            </a:r>
          </a:p>
        </p:txBody>
      </p:sp>
      <p:sp>
        <p:nvSpPr>
          <p:cNvPr id="15" name="TextBox 14">
            <a:extLst>
              <a:ext uri="{FF2B5EF4-FFF2-40B4-BE49-F238E27FC236}">
                <a16:creationId xmlns:a16="http://schemas.microsoft.com/office/drawing/2014/main" id="{F4B131F0-5478-3558-1268-37EFA41B5726}"/>
              </a:ext>
            </a:extLst>
          </p:cNvPr>
          <p:cNvSpPr txBox="1"/>
          <p:nvPr/>
        </p:nvSpPr>
        <p:spPr>
          <a:xfrm>
            <a:off x="282555" y="6248840"/>
            <a:ext cx="6034794" cy="400110"/>
          </a:xfrm>
          <a:prstGeom prst="rect">
            <a:avLst/>
          </a:prstGeom>
          <a:noFill/>
        </p:spPr>
        <p:txBody>
          <a:bodyPr wrap="square" rtlCol="0">
            <a:spAutoFit/>
          </a:bodyPr>
          <a:lstStyle/>
          <a:p>
            <a:r>
              <a:rPr lang="en-US" sz="2000" dirty="0"/>
              <a:t>Check the workbook for additional resources!</a:t>
            </a:r>
            <a:endParaRPr lang="en-US" dirty="0"/>
          </a:p>
        </p:txBody>
      </p:sp>
      <p:pic>
        <p:nvPicPr>
          <p:cNvPr id="16" name="Picture 15">
            <a:extLst>
              <a:ext uri="{FF2B5EF4-FFF2-40B4-BE49-F238E27FC236}">
                <a16:creationId xmlns:a16="http://schemas.microsoft.com/office/drawing/2014/main" id="{F839203D-D47F-E0B3-60A3-58B563D24307}"/>
              </a:ext>
            </a:extLst>
          </p:cNvPr>
          <p:cNvPicPr>
            <a:picLocks noChangeAspect="1"/>
          </p:cNvPicPr>
          <p:nvPr/>
        </p:nvPicPr>
        <p:blipFill>
          <a:blip r:embed="rId6"/>
          <a:srcRect l="25891" t="22584" r="23267" b="27652"/>
          <a:stretch>
            <a:fillRect/>
          </a:stretch>
        </p:blipFill>
        <p:spPr>
          <a:xfrm>
            <a:off x="7110712" y="1606152"/>
            <a:ext cx="3524859" cy="3450127"/>
          </a:xfrm>
          <a:prstGeom prst="rect">
            <a:avLst/>
          </a:prstGeom>
        </p:spPr>
      </p:pic>
    </p:spTree>
    <p:extLst>
      <p:ext uri="{BB962C8B-B14F-4D97-AF65-F5344CB8AC3E}">
        <p14:creationId xmlns:p14="http://schemas.microsoft.com/office/powerpoint/2010/main" val="235609373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60AC-C92E-F5D9-FA7A-BA17BC0B93D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F651BD6-8C8F-F2F2-834A-174E76C9AFB4}"/>
              </a:ext>
            </a:extLst>
          </p:cNvPr>
          <p:cNvSpPr/>
          <p:nvPr/>
        </p:nvSpPr>
        <p:spPr>
          <a:xfrm>
            <a:off x="277496" y="5752617"/>
            <a:ext cx="2066462" cy="380517"/>
          </a:xfrm>
          <a:prstGeom prst="rect">
            <a:avLst/>
          </a:prstGeom>
          <a:solidFill>
            <a:srgbClr val="FF5528">
              <a:alpha val="6588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12" name="Group 11">
            <a:extLst>
              <a:ext uri="{FF2B5EF4-FFF2-40B4-BE49-F238E27FC236}">
                <a16:creationId xmlns:a16="http://schemas.microsoft.com/office/drawing/2014/main" id="{EFF4982E-BBB9-1BC0-1022-B1FA9578DB65}"/>
              </a:ext>
            </a:extLst>
          </p:cNvPr>
          <p:cNvGrpSpPr/>
          <p:nvPr/>
        </p:nvGrpSpPr>
        <p:grpSpPr>
          <a:xfrm>
            <a:off x="10644280" y="6476875"/>
            <a:ext cx="1474613" cy="325672"/>
            <a:chOff x="19317" y="2690018"/>
            <a:chExt cx="11784755" cy="2025180"/>
          </a:xfrm>
        </p:grpSpPr>
        <p:pic>
          <p:nvPicPr>
            <p:cNvPr id="13" name="Picture 2">
              <a:extLst>
                <a:ext uri="{FF2B5EF4-FFF2-40B4-BE49-F238E27FC236}">
                  <a16:creationId xmlns:a16="http://schemas.microsoft.com/office/drawing/2014/main" id="{B4FB544D-83E0-C42F-B812-A93F62E674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4388A547-EA32-85C2-448A-81972448A891}"/>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CF3DBED8-2810-5D25-F912-B99DBCFA1C96}"/>
              </a:ext>
            </a:extLst>
          </p:cNvPr>
          <p:cNvSpPr>
            <a:spLocks noGrp="1"/>
          </p:cNvSpPr>
          <p:nvPr>
            <p:ph type="sldNum" sz="quarter" idx="12"/>
          </p:nvPr>
        </p:nvSpPr>
        <p:spPr>
          <a:xfrm>
            <a:off x="10593574" y="6356350"/>
            <a:ext cx="760226" cy="365125"/>
          </a:xfrm>
        </p:spPr>
        <p:txBody>
          <a:bodyPr/>
          <a:lstStyle/>
          <a:p>
            <a:fld id="{D292B180-B274-DE43-B36F-C827C7616C05}" type="slidenum">
              <a:rPr lang="en-US" smtClean="0"/>
              <a:t>75</a:t>
            </a:fld>
            <a:endParaRPr lang="en-US"/>
          </a:p>
        </p:txBody>
      </p:sp>
      <p:sp>
        <p:nvSpPr>
          <p:cNvPr id="3" name="Title 1">
            <a:extLst>
              <a:ext uri="{FF2B5EF4-FFF2-40B4-BE49-F238E27FC236}">
                <a16:creationId xmlns:a16="http://schemas.microsoft.com/office/drawing/2014/main" id="{DF8FE22D-803A-636D-26C4-D9A419B39D74}"/>
              </a:ext>
            </a:extLst>
          </p:cNvPr>
          <p:cNvSpPr txBox="1">
            <a:spLocks/>
          </p:cNvSpPr>
          <p:nvPr/>
        </p:nvSpPr>
        <p:spPr>
          <a:xfrm>
            <a:off x="0" y="87427"/>
            <a:ext cx="10593574"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 Universal Design (UD)</a:t>
            </a:r>
          </a:p>
        </p:txBody>
      </p:sp>
      <p:sp>
        <p:nvSpPr>
          <p:cNvPr id="7" name="Right Brace 6">
            <a:extLst>
              <a:ext uri="{FF2B5EF4-FFF2-40B4-BE49-F238E27FC236}">
                <a16:creationId xmlns:a16="http://schemas.microsoft.com/office/drawing/2014/main" id="{DCB75599-B93B-DA85-53E4-9B663A9796E7}"/>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74E74058-9F36-BE93-475E-6BD5FCCFB95F}"/>
              </a:ext>
            </a:extLst>
          </p:cNvPr>
          <p:cNvSpPr/>
          <p:nvPr/>
        </p:nvSpPr>
        <p:spPr>
          <a:xfrm>
            <a:off x="249226" y="1060264"/>
            <a:ext cx="3684661" cy="2573585"/>
          </a:xfrm>
          <a:prstGeom prst="rect">
            <a:avLst/>
          </a:prstGeom>
          <a:solidFill>
            <a:srgbClr val="FF5528">
              <a:alpha val="304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705C3416-D651-C976-01D1-9E82CE956601}"/>
              </a:ext>
            </a:extLst>
          </p:cNvPr>
          <p:cNvSpPr txBox="1"/>
          <p:nvPr/>
        </p:nvSpPr>
        <p:spPr>
          <a:xfrm>
            <a:off x="277496" y="1218147"/>
            <a:ext cx="3684661" cy="2246769"/>
          </a:xfrm>
          <a:prstGeom prst="rect">
            <a:avLst/>
          </a:prstGeom>
          <a:noFill/>
        </p:spPr>
        <p:txBody>
          <a:bodyPr wrap="square" rtlCol="0">
            <a:spAutoFit/>
          </a:bodyPr>
          <a:lstStyle/>
          <a:p>
            <a:r>
              <a:rPr lang="en-US" sz="2000" dirty="0"/>
              <a:t>The </a:t>
            </a:r>
            <a:r>
              <a:rPr lang="en-US" sz="2000" b="1" dirty="0"/>
              <a:t>proactive </a:t>
            </a:r>
            <a:r>
              <a:rPr lang="en-GB" sz="2000" dirty="0"/>
              <a:t>creation of spaces designed with human </a:t>
            </a:r>
            <a:r>
              <a:rPr lang="en-GB" sz="2000" b="1" dirty="0"/>
              <a:t>variability</a:t>
            </a:r>
            <a:r>
              <a:rPr lang="en-GB" sz="2000" dirty="0"/>
              <a:t> in mind.</a:t>
            </a:r>
          </a:p>
          <a:p>
            <a:endParaRPr lang="en-GB" sz="2000" dirty="0"/>
          </a:p>
          <a:p>
            <a:r>
              <a:rPr lang="en-GB" sz="2000" dirty="0"/>
              <a:t>Aims to </a:t>
            </a:r>
            <a:r>
              <a:rPr lang="en-GB" sz="2000" b="1" dirty="0"/>
              <a:t>minimize barriers </a:t>
            </a:r>
            <a:r>
              <a:rPr lang="en-GB" sz="2000" dirty="0"/>
              <a:t>and be </a:t>
            </a:r>
            <a:r>
              <a:rPr lang="en-GB" sz="2000" b="1" dirty="0"/>
              <a:t>usable</a:t>
            </a:r>
            <a:r>
              <a:rPr lang="en-GB" sz="2000" dirty="0"/>
              <a:t> by the widest range of people.</a:t>
            </a:r>
            <a:endParaRPr lang="en-US" sz="2000" dirty="0"/>
          </a:p>
        </p:txBody>
      </p:sp>
      <p:pic>
        <p:nvPicPr>
          <p:cNvPr id="72706" name="Picture 2" descr="The curb-cut effect: A range of people of all ages next to a crossing, road, and park show how the curb cut design for disabilities benefits everyone">
            <a:extLst>
              <a:ext uri="{FF2B5EF4-FFF2-40B4-BE49-F238E27FC236}">
                <a16:creationId xmlns:a16="http://schemas.microsoft.com/office/drawing/2014/main" id="{CB25B4B0-0797-72B3-544C-802C642F690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35023" y="945622"/>
            <a:ext cx="6157491" cy="5217804"/>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AB2DF455-B8AF-8C20-B565-B89F10A3BD64}"/>
              </a:ext>
            </a:extLst>
          </p:cNvPr>
          <p:cNvSpPr txBox="1"/>
          <p:nvPr/>
        </p:nvSpPr>
        <p:spPr>
          <a:xfrm>
            <a:off x="5455710" y="6133134"/>
            <a:ext cx="6404780" cy="307777"/>
          </a:xfrm>
          <a:prstGeom prst="rect">
            <a:avLst/>
          </a:prstGeom>
          <a:noFill/>
        </p:spPr>
        <p:txBody>
          <a:bodyPr wrap="square">
            <a:spAutoFit/>
          </a:bodyPr>
          <a:lstStyle/>
          <a:p>
            <a:r>
              <a:rPr lang="en-US" sz="1400" dirty="0">
                <a:solidFill>
                  <a:schemeClr val="bg1">
                    <a:lumMod val="50000"/>
                  </a:schemeClr>
                </a:solidFill>
              </a:rPr>
              <a:t>Image source: https://</a:t>
            </a:r>
            <a:r>
              <a:rPr lang="en-US" sz="1400" dirty="0" err="1">
                <a:solidFill>
                  <a:schemeClr val="bg1">
                    <a:lumMod val="50000"/>
                  </a:schemeClr>
                </a:solidFill>
              </a:rPr>
              <a:t>sketchplanations.com</a:t>
            </a:r>
            <a:r>
              <a:rPr lang="en-US" sz="1400" dirty="0">
                <a:solidFill>
                  <a:schemeClr val="bg1">
                    <a:lumMod val="50000"/>
                  </a:schemeClr>
                </a:solidFill>
              </a:rPr>
              <a:t>/the-curb-cut-effect</a:t>
            </a:r>
          </a:p>
        </p:txBody>
      </p:sp>
      <p:sp>
        <p:nvSpPr>
          <p:cNvPr id="20" name="TextBox 19">
            <a:extLst>
              <a:ext uri="{FF2B5EF4-FFF2-40B4-BE49-F238E27FC236}">
                <a16:creationId xmlns:a16="http://schemas.microsoft.com/office/drawing/2014/main" id="{9B8B3465-B3C2-1826-917A-595C5911838E}"/>
              </a:ext>
            </a:extLst>
          </p:cNvPr>
          <p:cNvSpPr txBox="1"/>
          <p:nvPr/>
        </p:nvSpPr>
        <p:spPr>
          <a:xfrm>
            <a:off x="282555" y="5125840"/>
            <a:ext cx="4906962" cy="1015663"/>
          </a:xfrm>
          <a:prstGeom prst="rect">
            <a:avLst/>
          </a:prstGeom>
          <a:noFill/>
        </p:spPr>
        <p:txBody>
          <a:bodyPr wrap="square">
            <a:spAutoFit/>
          </a:bodyPr>
          <a:lstStyle/>
          <a:p>
            <a:r>
              <a:rPr lang="en-US" sz="2000" dirty="0"/>
              <a:t>Increase opportunities for </a:t>
            </a:r>
            <a:r>
              <a:rPr lang="en-US" sz="2000" b="1" dirty="0"/>
              <a:t>engagement</a:t>
            </a:r>
            <a:r>
              <a:rPr lang="en-US" sz="2000" dirty="0"/>
              <a:t> in the learning and research process (e.g. via </a:t>
            </a:r>
            <a:r>
              <a:rPr lang="en-US" sz="2000" b="1" dirty="0"/>
              <a:t>Universal Design</a:t>
            </a:r>
            <a:r>
              <a:rPr lang="en-US" sz="2000" dirty="0"/>
              <a:t>, </a:t>
            </a:r>
            <a:r>
              <a:rPr lang="en-US" sz="2000" b="1" dirty="0"/>
              <a:t>participatory research</a:t>
            </a:r>
            <a:r>
              <a:rPr lang="en-US" sz="2000" dirty="0"/>
              <a:t>)</a:t>
            </a:r>
          </a:p>
        </p:txBody>
      </p:sp>
    </p:spTree>
    <p:extLst>
      <p:ext uri="{BB962C8B-B14F-4D97-AF65-F5344CB8AC3E}">
        <p14:creationId xmlns:p14="http://schemas.microsoft.com/office/powerpoint/2010/main" val="5003445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DC895-CBFD-FBBA-E712-5804C2E68B0C}"/>
            </a:ext>
          </a:extLst>
        </p:cNvPr>
        <p:cNvGrpSpPr/>
        <p:nvPr/>
      </p:nvGrpSpPr>
      <p:grpSpPr>
        <a:xfrm>
          <a:off x="0" y="0"/>
          <a:ext cx="0" cy="0"/>
          <a:chOff x="0" y="0"/>
          <a:chExt cx="0" cy="0"/>
        </a:xfrm>
      </p:grpSpPr>
      <p:grpSp>
        <p:nvGrpSpPr>
          <p:cNvPr id="12" name="Group 11">
            <a:extLst>
              <a:ext uri="{FF2B5EF4-FFF2-40B4-BE49-F238E27FC236}">
                <a16:creationId xmlns:a16="http://schemas.microsoft.com/office/drawing/2014/main" id="{6054C665-7865-5621-FC08-4DDD8C4371C9}"/>
              </a:ext>
            </a:extLst>
          </p:cNvPr>
          <p:cNvGrpSpPr/>
          <p:nvPr/>
        </p:nvGrpSpPr>
        <p:grpSpPr>
          <a:xfrm>
            <a:off x="10644280" y="6476875"/>
            <a:ext cx="1474613" cy="325672"/>
            <a:chOff x="19317" y="2690018"/>
            <a:chExt cx="11784755" cy="2025180"/>
          </a:xfrm>
        </p:grpSpPr>
        <p:pic>
          <p:nvPicPr>
            <p:cNvPr id="13" name="Picture 2">
              <a:extLst>
                <a:ext uri="{FF2B5EF4-FFF2-40B4-BE49-F238E27FC236}">
                  <a16:creationId xmlns:a16="http://schemas.microsoft.com/office/drawing/2014/main" id="{4AEB913B-C483-9A8F-2747-47359673C7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a:extLst>
                <a:ext uri="{FF2B5EF4-FFF2-40B4-BE49-F238E27FC236}">
                  <a16:creationId xmlns:a16="http://schemas.microsoft.com/office/drawing/2014/main" id="{90565A64-0A09-9D66-52CF-B3739EE66F19}"/>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Slide Number Placeholder 1">
            <a:extLst>
              <a:ext uri="{FF2B5EF4-FFF2-40B4-BE49-F238E27FC236}">
                <a16:creationId xmlns:a16="http://schemas.microsoft.com/office/drawing/2014/main" id="{6DFC8BE2-2055-DDCA-6666-1B97C4E5249B}"/>
              </a:ext>
            </a:extLst>
          </p:cNvPr>
          <p:cNvSpPr>
            <a:spLocks noGrp="1"/>
          </p:cNvSpPr>
          <p:nvPr>
            <p:ph type="sldNum" sz="quarter" idx="12"/>
          </p:nvPr>
        </p:nvSpPr>
        <p:spPr>
          <a:xfrm>
            <a:off x="10593574" y="6356350"/>
            <a:ext cx="760226" cy="365125"/>
          </a:xfrm>
        </p:spPr>
        <p:txBody>
          <a:bodyPr/>
          <a:lstStyle/>
          <a:p>
            <a:fld id="{D292B180-B274-DE43-B36F-C827C7616C05}" type="slidenum">
              <a:rPr lang="en-US" smtClean="0"/>
              <a:t>76</a:t>
            </a:fld>
            <a:endParaRPr lang="en-US"/>
          </a:p>
        </p:txBody>
      </p:sp>
      <p:sp>
        <p:nvSpPr>
          <p:cNvPr id="7" name="Right Brace 6">
            <a:extLst>
              <a:ext uri="{FF2B5EF4-FFF2-40B4-BE49-F238E27FC236}">
                <a16:creationId xmlns:a16="http://schemas.microsoft.com/office/drawing/2014/main" id="{66FBDB26-39FE-D56E-32A9-54065722CA25}"/>
              </a:ext>
            </a:extLst>
          </p:cNvPr>
          <p:cNvSpPr/>
          <p:nvPr/>
        </p:nvSpPr>
        <p:spPr>
          <a:xfrm rot="10800000">
            <a:off x="4134910" y="1039073"/>
            <a:ext cx="1199090" cy="2702352"/>
          </a:xfrm>
          <a:prstGeom prst="rightBrace">
            <a:avLst>
              <a:gd name="adj1" fmla="val 18053"/>
              <a:gd name="adj2" fmla="val 48553"/>
            </a:avLst>
          </a:prstGeom>
          <a:ln w="50800">
            <a:solidFill>
              <a:schemeClr val="tx1">
                <a:alpha val="47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0" name="Rectangle 9">
            <a:extLst>
              <a:ext uri="{FF2B5EF4-FFF2-40B4-BE49-F238E27FC236}">
                <a16:creationId xmlns:a16="http://schemas.microsoft.com/office/drawing/2014/main" id="{352AE4EE-9590-5FE7-4953-71910122F234}"/>
              </a:ext>
            </a:extLst>
          </p:cNvPr>
          <p:cNvSpPr/>
          <p:nvPr/>
        </p:nvSpPr>
        <p:spPr>
          <a:xfrm>
            <a:off x="277496" y="1069925"/>
            <a:ext cx="3684661" cy="4647656"/>
          </a:xfrm>
          <a:prstGeom prst="rect">
            <a:avLst/>
          </a:prstGeom>
          <a:solidFill>
            <a:srgbClr val="FF5528">
              <a:alpha val="3042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53DF4394-42A0-2778-540F-78061ED4F7BB}"/>
              </a:ext>
            </a:extLst>
          </p:cNvPr>
          <p:cNvSpPr txBox="1"/>
          <p:nvPr/>
        </p:nvSpPr>
        <p:spPr>
          <a:xfrm>
            <a:off x="277495" y="1140419"/>
            <a:ext cx="3763975" cy="4708981"/>
          </a:xfrm>
          <a:prstGeom prst="rect">
            <a:avLst/>
          </a:prstGeom>
          <a:noFill/>
        </p:spPr>
        <p:txBody>
          <a:bodyPr wrap="square" rtlCol="0">
            <a:spAutoFit/>
          </a:bodyPr>
          <a:lstStyle/>
          <a:p>
            <a:r>
              <a:rPr lang="en-GB" sz="2000" b="1" dirty="0"/>
              <a:t>Example: Extend FAIR principles</a:t>
            </a:r>
            <a:r>
              <a:rPr lang="en-GB" sz="2000" dirty="0"/>
              <a:t> to </a:t>
            </a:r>
            <a:r>
              <a:rPr lang="en-GB" sz="2000" b="1" dirty="0"/>
              <a:t>include Universal Design</a:t>
            </a:r>
            <a:r>
              <a:rPr lang="en-GB" sz="2000" dirty="0"/>
              <a:t> to information sharing.</a:t>
            </a:r>
          </a:p>
          <a:p>
            <a:endParaRPr lang="en-GB" sz="2000" dirty="0"/>
          </a:p>
          <a:p>
            <a:r>
              <a:rPr lang="en-GB" sz="2000" dirty="0"/>
              <a:t>Include </a:t>
            </a:r>
            <a:r>
              <a:rPr lang="en-GB" sz="2000" b="1" dirty="0"/>
              <a:t>plain language </a:t>
            </a:r>
            <a:r>
              <a:rPr lang="en-GB" sz="2000" dirty="0"/>
              <a:t>summaries, captioned </a:t>
            </a:r>
            <a:r>
              <a:rPr lang="en-GB" sz="2000" b="1" dirty="0"/>
              <a:t>video</a:t>
            </a:r>
            <a:r>
              <a:rPr lang="en-GB" sz="2000" dirty="0"/>
              <a:t> or </a:t>
            </a:r>
            <a:r>
              <a:rPr lang="en-GB" sz="2000" b="1" dirty="0"/>
              <a:t>audio </a:t>
            </a:r>
            <a:r>
              <a:rPr lang="en-GB" sz="2000" dirty="0"/>
              <a:t>format summaries to research outputs/educational materials (</a:t>
            </a:r>
            <a:r>
              <a:rPr lang="en-US" sz="2000" dirty="0">
                <a:hlinkClick r:id="rId5"/>
              </a:rPr>
              <a:t>Phan et al. 2025</a:t>
            </a:r>
            <a:r>
              <a:rPr lang="en-US" sz="2000" dirty="0"/>
              <a:t>).</a:t>
            </a:r>
          </a:p>
          <a:p>
            <a:endParaRPr lang="en-US" sz="2000" dirty="0"/>
          </a:p>
          <a:p>
            <a:r>
              <a:rPr lang="en-US" sz="2000" b="1" dirty="0"/>
              <a:t>Many people benefit </a:t>
            </a:r>
            <a:r>
              <a:rPr lang="en-US" sz="2000" dirty="0"/>
              <a:t>(e.g. neurodivergent, disabled, non-native speakers, those with caring duties)! </a:t>
            </a:r>
          </a:p>
          <a:p>
            <a:endParaRPr lang="en-US" sz="2000" dirty="0"/>
          </a:p>
        </p:txBody>
      </p:sp>
      <p:pic>
        <p:nvPicPr>
          <p:cNvPr id="5" name="Picture 2" descr="The curb-cut effect: A range of people of all ages next to a crossing, road, and park show how the curb cut design for disabilities benefits everyone">
            <a:extLst>
              <a:ext uri="{FF2B5EF4-FFF2-40B4-BE49-F238E27FC236}">
                <a16:creationId xmlns:a16="http://schemas.microsoft.com/office/drawing/2014/main" id="{52860A1E-4F5C-0305-793E-613DC73F83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35023" y="945622"/>
            <a:ext cx="6157491" cy="5217804"/>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D5628F35-4426-6847-D7C9-2DC25876978B}"/>
              </a:ext>
            </a:extLst>
          </p:cNvPr>
          <p:cNvSpPr txBox="1"/>
          <p:nvPr/>
        </p:nvSpPr>
        <p:spPr>
          <a:xfrm>
            <a:off x="5455710" y="6133134"/>
            <a:ext cx="6404780" cy="307777"/>
          </a:xfrm>
          <a:prstGeom prst="rect">
            <a:avLst/>
          </a:prstGeom>
          <a:noFill/>
        </p:spPr>
        <p:txBody>
          <a:bodyPr wrap="square">
            <a:spAutoFit/>
          </a:bodyPr>
          <a:lstStyle/>
          <a:p>
            <a:r>
              <a:rPr lang="en-US" sz="1400" dirty="0">
                <a:solidFill>
                  <a:schemeClr val="bg1">
                    <a:lumMod val="50000"/>
                  </a:schemeClr>
                </a:solidFill>
              </a:rPr>
              <a:t>Image source: https://</a:t>
            </a:r>
            <a:r>
              <a:rPr lang="en-US" sz="1400" dirty="0" err="1">
                <a:solidFill>
                  <a:schemeClr val="bg1">
                    <a:lumMod val="50000"/>
                  </a:schemeClr>
                </a:solidFill>
              </a:rPr>
              <a:t>sketchplanations.com</a:t>
            </a:r>
            <a:r>
              <a:rPr lang="en-US" sz="1400" dirty="0">
                <a:solidFill>
                  <a:schemeClr val="bg1">
                    <a:lumMod val="50000"/>
                  </a:schemeClr>
                </a:solidFill>
              </a:rPr>
              <a:t>/the-curb-cut-effect</a:t>
            </a:r>
          </a:p>
        </p:txBody>
      </p:sp>
      <p:sp>
        <p:nvSpPr>
          <p:cNvPr id="8" name="Title 1">
            <a:extLst>
              <a:ext uri="{FF2B5EF4-FFF2-40B4-BE49-F238E27FC236}">
                <a16:creationId xmlns:a16="http://schemas.microsoft.com/office/drawing/2014/main" id="{C808BC4A-2C22-32DE-9C78-89028B6F34F3}"/>
              </a:ext>
            </a:extLst>
          </p:cNvPr>
          <p:cNvSpPr txBox="1">
            <a:spLocks/>
          </p:cNvSpPr>
          <p:nvPr/>
        </p:nvSpPr>
        <p:spPr>
          <a:xfrm>
            <a:off x="0" y="87427"/>
            <a:ext cx="10593574" cy="951646"/>
          </a:xfrm>
          <a:prstGeom prst="rect">
            <a:avLst/>
          </a:prstGeom>
          <a:noFill/>
        </p:spPr>
        <p:txBody>
          <a:bodyPr vert="horz" lIns="91440" tIns="45720" rIns="91440" bIns="45720" rtlCol="0" anchor="ctr">
            <a:normAutofit fontScale="8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Towards an open, equitable </a:t>
            </a:r>
          </a:p>
          <a:p>
            <a:r>
              <a:rPr lang="en-US" b="1" dirty="0"/>
              <a:t>and diverse research culture: Universal Design (UD)</a:t>
            </a:r>
          </a:p>
        </p:txBody>
      </p:sp>
    </p:spTree>
    <p:extLst>
      <p:ext uri="{BB962C8B-B14F-4D97-AF65-F5344CB8AC3E}">
        <p14:creationId xmlns:p14="http://schemas.microsoft.com/office/powerpoint/2010/main" val="20501796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15A31E-9932-0F36-5B84-E7571E914A10}"/>
            </a:ext>
          </a:extLst>
        </p:cNvPr>
        <p:cNvGrpSpPr/>
        <p:nvPr/>
      </p:nvGrpSpPr>
      <p:grpSpPr>
        <a:xfrm>
          <a:off x="0" y="0"/>
          <a:ext cx="0" cy="0"/>
          <a:chOff x="0" y="0"/>
          <a:chExt cx="0" cy="0"/>
        </a:xfrm>
      </p:grpSpPr>
      <p:grpSp>
        <p:nvGrpSpPr>
          <p:cNvPr id="37" name="Group 36">
            <a:extLst>
              <a:ext uri="{FF2B5EF4-FFF2-40B4-BE49-F238E27FC236}">
                <a16:creationId xmlns:a16="http://schemas.microsoft.com/office/drawing/2014/main" id="{E59A399C-9594-2E80-84DF-6DF7B40594DF}"/>
              </a:ext>
            </a:extLst>
          </p:cNvPr>
          <p:cNvGrpSpPr/>
          <p:nvPr/>
        </p:nvGrpSpPr>
        <p:grpSpPr>
          <a:xfrm>
            <a:off x="10644280" y="6476875"/>
            <a:ext cx="1474613" cy="325672"/>
            <a:chOff x="19317" y="2690018"/>
            <a:chExt cx="11784755" cy="2025180"/>
          </a:xfrm>
        </p:grpSpPr>
        <p:pic>
          <p:nvPicPr>
            <p:cNvPr id="38" name="Picture 2">
              <a:extLst>
                <a:ext uri="{FF2B5EF4-FFF2-40B4-BE49-F238E27FC236}">
                  <a16:creationId xmlns:a16="http://schemas.microsoft.com/office/drawing/2014/main" id="{D598CEED-B887-E5FC-D839-4E1BE238A92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39" name="Picture 38">
              <a:extLst>
                <a:ext uri="{FF2B5EF4-FFF2-40B4-BE49-F238E27FC236}">
                  <a16:creationId xmlns:a16="http://schemas.microsoft.com/office/drawing/2014/main" id="{546A5F4A-2493-10D7-A1B1-0DBC1C9A0DB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50E7F0AD-9BE1-2437-A7A2-5769433F5D86}"/>
              </a:ext>
            </a:extLst>
          </p:cNvPr>
          <p:cNvSpPr>
            <a:spLocks noGrp="1"/>
          </p:cNvSpPr>
          <p:nvPr>
            <p:ph type="title"/>
          </p:nvPr>
        </p:nvSpPr>
        <p:spPr>
          <a:xfrm>
            <a:off x="0" y="1"/>
            <a:ext cx="12192000" cy="878774"/>
          </a:xfrm>
        </p:spPr>
        <p:txBody>
          <a:bodyPr/>
          <a:lstStyle/>
          <a:p>
            <a:r>
              <a:rPr lang="en-US" b="1" dirty="0"/>
              <a:t>Interim summary </a:t>
            </a:r>
          </a:p>
        </p:txBody>
      </p:sp>
      <p:sp>
        <p:nvSpPr>
          <p:cNvPr id="4" name="Slide Number Placeholder 3">
            <a:extLst>
              <a:ext uri="{FF2B5EF4-FFF2-40B4-BE49-F238E27FC236}">
                <a16:creationId xmlns:a16="http://schemas.microsoft.com/office/drawing/2014/main" id="{FA495F7E-5D3D-D939-82D5-AB099ADE4EF7}"/>
              </a:ext>
            </a:extLst>
          </p:cNvPr>
          <p:cNvSpPr>
            <a:spLocks noGrp="1"/>
          </p:cNvSpPr>
          <p:nvPr>
            <p:ph type="sldNum" sz="quarter" idx="12"/>
          </p:nvPr>
        </p:nvSpPr>
        <p:spPr/>
        <p:txBody>
          <a:bodyPr/>
          <a:lstStyle/>
          <a:p>
            <a:fld id="{D292B180-B274-DE43-B36F-C827C7616C05}" type="slidenum">
              <a:rPr lang="en-US" smtClean="0"/>
              <a:t>77</a:t>
            </a:fld>
            <a:endParaRPr lang="en-US"/>
          </a:p>
        </p:txBody>
      </p:sp>
      <p:grpSp>
        <p:nvGrpSpPr>
          <p:cNvPr id="12" name="Group 11">
            <a:extLst>
              <a:ext uri="{FF2B5EF4-FFF2-40B4-BE49-F238E27FC236}">
                <a16:creationId xmlns:a16="http://schemas.microsoft.com/office/drawing/2014/main" id="{1159AFEB-1947-477E-1C79-835F0E20A35C}"/>
              </a:ext>
            </a:extLst>
          </p:cNvPr>
          <p:cNvGrpSpPr/>
          <p:nvPr/>
        </p:nvGrpSpPr>
        <p:grpSpPr>
          <a:xfrm>
            <a:off x="8015842" y="1179755"/>
            <a:ext cx="2074786" cy="1462656"/>
            <a:chOff x="1190928" y="1726247"/>
            <a:chExt cx="2074786" cy="1462656"/>
          </a:xfrm>
        </p:grpSpPr>
        <p:sp>
          <p:nvSpPr>
            <p:cNvPr id="7" name="Oval 6">
              <a:extLst>
                <a:ext uri="{FF2B5EF4-FFF2-40B4-BE49-F238E27FC236}">
                  <a16:creationId xmlns:a16="http://schemas.microsoft.com/office/drawing/2014/main" id="{DFA7D461-181D-6852-D4B1-70319AC7ABA0}"/>
                </a:ext>
              </a:extLst>
            </p:cNvPr>
            <p:cNvSpPr/>
            <p:nvPr/>
          </p:nvSpPr>
          <p:spPr>
            <a:xfrm>
              <a:off x="2801365" y="2692907"/>
              <a:ext cx="402305" cy="365126"/>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256265F-EC24-E76D-263A-80E2EBAF2546}"/>
                </a:ext>
              </a:extLst>
            </p:cNvPr>
            <p:cNvSpPr/>
            <p:nvPr/>
          </p:nvSpPr>
          <p:spPr>
            <a:xfrm>
              <a:off x="2484698" y="1908810"/>
              <a:ext cx="402305" cy="365126"/>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43E4050-F792-4048-2886-CCFB88360C22}"/>
                </a:ext>
              </a:extLst>
            </p:cNvPr>
            <p:cNvSpPr/>
            <p:nvPr/>
          </p:nvSpPr>
          <p:spPr>
            <a:xfrm>
              <a:off x="1757156" y="1726247"/>
              <a:ext cx="402305" cy="365126"/>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4D373216-800D-1B6B-509B-56BF867E4BEC}"/>
                </a:ext>
              </a:extLst>
            </p:cNvPr>
            <p:cNvSpPr/>
            <p:nvPr/>
          </p:nvSpPr>
          <p:spPr>
            <a:xfrm>
              <a:off x="1520453" y="2283067"/>
              <a:ext cx="402305" cy="365126"/>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Oval 10">
              <a:extLst>
                <a:ext uri="{FF2B5EF4-FFF2-40B4-BE49-F238E27FC236}">
                  <a16:creationId xmlns:a16="http://schemas.microsoft.com/office/drawing/2014/main" id="{2C1E43C3-BC60-6854-4DF1-AF9B9C95CBA7}"/>
                </a:ext>
              </a:extLst>
            </p:cNvPr>
            <p:cNvSpPr/>
            <p:nvPr/>
          </p:nvSpPr>
          <p:spPr>
            <a:xfrm>
              <a:off x="1248051" y="2712604"/>
              <a:ext cx="402305" cy="365126"/>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 name="Group 2">
              <a:extLst>
                <a:ext uri="{FF2B5EF4-FFF2-40B4-BE49-F238E27FC236}">
                  <a16:creationId xmlns:a16="http://schemas.microsoft.com/office/drawing/2014/main" id="{CBAE571D-19A0-4BEE-C65D-5176CAC74CD5}"/>
                </a:ext>
              </a:extLst>
            </p:cNvPr>
            <p:cNvGrpSpPr/>
            <p:nvPr/>
          </p:nvGrpSpPr>
          <p:grpSpPr>
            <a:xfrm>
              <a:off x="1190928" y="1852550"/>
              <a:ext cx="2074786" cy="1336353"/>
              <a:chOff x="4373172" y="914401"/>
              <a:chExt cx="6620884" cy="5617758"/>
            </a:xfrm>
          </p:grpSpPr>
          <p:pic>
            <p:nvPicPr>
              <p:cNvPr id="5" name="Graphic 4" descr="Normal Distribution outline">
                <a:extLst>
                  <a:ext uri="{FF2B5EF4-FFF2-40B4-BE49-F238E27FC236}">
                    <a16:creationId xmlns:a16="http://schemas.microsoft.com/office/drawing/2014/main" id="{FA1D0F5F-2210-B2DB-96F4-ED42D3AA91F3}"/>
                  </a:ext>
                </a:extLst>
              </p:cNvPr>
              <p:cNvPicPr>
                <a:picLocks noChangeAspect="1"/>
              </p:cNvPicPr>
              <p:nvPr/>
            </p:nvPicPr>
            <p:blipFill>
              <a:blip>
                <a:extLst>
                  <a:ext uri="{96DAC541-7B7A-43D3-8B79-37D633B846F1}">
                    <asvg:svgBlip xmlns:asvg="http://schemas.microsoft.com/office/drawing/2016/SVG/main" r:embed="rId5"/>
                  </a:ext>
                </a:extLst>
              </a:blip>
              <a:srcRect l="10997" t="18998" r="21214" b="23484"/>
              <a:stretch>
                <a:fillRect/>
              </a:stretch>
            </p:blipFill>
            <p:spPr>
              <a:xfrm>
                <a:off x="4373172" y="914401"/>
                <a:ext cx="6620884" cy="5617758"/>
              </a:xfrm>
              <a:prstGeom prst="rect">
                <a:avLst/>
              </a:prstGeom>
            </p:spPr>
          </p:pic>
          <p:sp>
            <p:nvSpPr>
              <p:cNvPr id="6" name="Rectangle 5">
                <a:extLst>
                  <a:ext uri="{FF2B5EF4-FFF2-40B4-BE49-F238E27FC236}">
                    <a16:creationId xmlns:a16="http://schemas.microsoft.com/office/drawing/2014/main" id="{815025C6-274D-8AAA-1B99-A698DDB7D2FC}"/>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13" name="Group 12">
            <a:extLst>
              <a:ext uri="{FF2B5EF4-FFF2-40B4-BE49-F238E27FC236}">
                <a16:creationId xmlns:a16="http://schemas.microsoft.com/office/drawing/2014/main" id="{A0E2A51B-DB90-3031-BA14-B2556F38DE7C}"/>
              </a:ext>
            </a:extLst>
          </p:cNvPr>
          <p:cNvGrpSpPr/>
          <p:nvPr/>
        </p:nvGrpSpPr>
        <p:grpSpPr>
          <a:xfrm>
            <a:off x="657178" y="1727491"/>
            <a:ext cx="1246182" cy="1199866"/>
            <a:chOff x="6434528" y="3509174"/>
            <a:chExt cx="1517427" cy="1440662"/>
          </a:xfrm>
        </p:grpSpPr>
        <p:sp>
          <p:nvSpPr>
            <p:cNvPr id="14" name="Oval 13">
              <a:extLst>
                <a:ext uri="{FF2B5EF4-FFF2-40B4-BE49-F238E27FC236}">
                  <a16:creationId xmlns:a16="http://schemas.microsoft.com/office/drawing/2014/main" id="{3C2B9379-17B2-052D-07B8-8C1B77061D7E}"/>
                </a:ext>
              </a:extLst>
            </p:cNvPr>
            <p:cNvSpPr/>
            <p:nvPr/>
          </p:nvSpPr>
          <p:spPr>
            <a:xfrm>
              <a:off x="6434528" y="3509174"/>
              <a:ext cx="1517427" cy="144066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5" name="Graphic 14" descr="Users with solid fill">
              <a:extLst>
                <a:ext uri="{FF2B5EF4-FFF2-40B4-BE49-F238E27FC236}">
                  <a16:creationId xmlns:a16="http://schemas.microsoft.com/office/drawing/2014/main" id="{AD58AEC0-6828-C87A-96EE-40C78CE3BC2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6755714" y="3756356"/>
              <a:ext cx="807015" cy="914400"/>
            </a:xfrm>
            <a:prstGeom prst="rect">
              <a:avLst/>
            </a:prstGeom>
          </p:spPr>
        </p:pic>
      </p:grpSp>
      <p:sp>
        <p:nvSpPr>
          <p:cNvPr id="18" name="Oval 17">
            <a:extLst>
              <a:ext uri="{FF2B5EF4-FFF2-40B4-BE49-F238E27FC236}">
                <a16:creationId xmlns:a16="http://schemas.microsoft.com/office/drawing/2014/main" id="{EB154CC2-1D3B-4909-7E44-EC3B781B708B}"/>
              </a:ext>
            </a:extLst>
          </p:cNvPr>
          <p:cNvSpPr/>
          <p:nvPr/>
        </p:nvSpPr>
        <p:spPr>
          <a:xfrm>
            <a:off x="2929978" y="1646488"/>
            <a:ext cx="1246182" cy="1199865"/>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Graphic 18" descr="Unlock outline">
            <a:extLst>
              <a:ext uri="{FF2B5EF4-FFF2-40B4-BE49-F238E27FC236}">
                <a16:creationId xmlns:a16="http://schemas.microsoft.com/office/drawing/2014/main" id="{DF9C810F-9EE9-DB7F-8C10-B6B847451144}"/>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flipH="1">
            <a:off x="3257310" y="1881295"/>
            <a:ext cx="556121" cy="630121"/>
          </a:xfrm>
          <a:prstGeom prst="rect">
            <a:avLst/>
          </a:prstGeom>
        </p:spPr>
      </p:pic>
      <p:pic>
        <p:nvPicPr>
          <p:cNvPr id="21" name="Graphic 20" descr="Transfer outline">
            <a:extLst>
              <a:ext uri="{FF2B5EF4-FFF2-40B4-BE49-F238E27FC236}">
                <a16:creationId xmlns:a16="http://schemas.microsoft.com/office/drawing/2014/main" id="{A995F52D-88F3-33BA-E8AD-69BF266D068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017963" y="1813635"/>
            <a:ext cx="883453" cy="1001010"/>
          </a:xfrm>
          <a:prstGeom prst="rect">
            <a:avLst/>
          </a:prstGeom>
        </p:spPr>
      </p:pic>
      <p:pic>
        <p:nvPicPr>
          <p:cNvPr id="22" name="Picture 21">
            <a:extLst>
              <a:ext uri="{FF2B5EF4-FFF2-40B4-BE49-F238E27FC236}">
                <a16:creationId xmlns:a16="http://schemas.microsoft.com/office/drawing/2014/main" id="{907D7734-03BB-CEBD-5733-3F7AB5463EB8}"/>
              </a:ext>
            </a:extLst>
          </p:cNvPr>
          <p:cNvPicPr>
            <a:picLocks noChangeAspect="1"/>
          </p:cNvPicPr>
          <p:nvPr/>
        </p:nvPicPr>
        <p:blipFill>
          <a:blip r:embed="rId9"/>
          <a:srcRect l="12210" b="17485"/>
          <a:stretch>
            <a:fillRect/>
          </a:stretch>
        </p:blipFill>
        <p:spPr>
          <a:xfrm>
            <a:off x="8345367" y="4024929"/>
            <a:ext cx="1652033" cy="1426659"/>
          </a:xfrm>
          <a:prstGeom prst="rect">
            <a:avLst/>
          </a:prstGeom>
        </p:spPr>
      </p:pic>
      <p:sp>
        <p:nvSpPr>
          <p:cNvPr id="25" name="TextBox 24">
            <a:extLst>
              <a:ext uri="{FF2B5EF4-FFF2-40B4-BE49-F238E27FC236}">
                <a16:creationId xmlns:a16="http://schemas.microsoft.com/office/drawing/2014/main" id="{E90D7446-EA26-FDD8-BE69-3213028845AC}"/>
              </a:ext>
            </a:extLst>
          </p:cNvPr>
          <p:cNvSpPr txBox="1"/>
          <p:nvPr/>
        </p:nvSpPr>
        <p:spPr>
          <a:xfrm>
            <a:off x="819397" y="3171624"/>
            <a:ext cx="3699204" cy="646331"/>
          </a:xfrm>
          <a:prstGeom prst="rect">
            <a:avLst/>
          </a:prstGeom>
          <a:noFill/>
        </p:spPr>
        <p:txBody>
          <a:bodyPr wrap="square">
            <a:spAutoFit/>
          </a:bodyPr>
          <a:lstStyle/>
          <a:p>
            <a:pPr marL="0" indent="0">
              <a:buNone/>
            </a:pPr>
            <a:r>
              <a:rPr lang="en-US" dirty="0"/>
              <a:t>E</a:t>
            </a:r>
            <a:r>
              <a:rPr lang="en-US" sz="1800" dirty="0"/>
              <a:t>ffective leadership and Open Science have many </a:t>
            </a:r>
            <a:r>
              <a:rPr lang="en-US" sz="1800" b="1" dirty="0"/>
              <a:t>shared values</a:t>
            </a:r>
          </a:p>
        </p:txBody>
      </p:sp>
      <p:sp>
        <p:nvSpPr>
          <p:cNvPr id="26" name="TextBox 25">
            <a:extLst>
              <a:ext uri="{FF2B5EF4-FFF2-40B4-BE49-F238E27FC236}">
                <a16:creationId xmlns:a16="http://schemas.microsoft.com/office/drawing/2014/main" id="{8551A0BD-471E-A3FD-619C-F581A8A2CB44}"/>
              </a:ext>
            </a:extLst>
          </p:cNvPr>
          <p:cNvSpPr txBox="1"/>
          <p:nvPr/>
        </p:nvSpPr>
        <p:spPr>
          <a:xfrm>
            <a:off x="6894864" y="2802003"/>
            <a:ext cx="4734316" cy="923330"/>
          </a:xfrm>
          <a:prstGeom prst="rect">
            <a:avLst/>
          </a:prstGeom>
          <a:noFill/>
        </p:spPr>
        <p:txBody>
          <a:bodyPr wrap="square">
            <a:spAutoFit/>
          </a:bodyPr>
          <a:lstStyle/>
          <a:p>
            <a:pPr marL="0" indent="0">
              <a:buNone/>
            </a:pPr>
            <a:r>
              <a:rPr lang="en-US" dirty="0"/>
              <a:t>There are </a:t>
            </a:r>
            <a:r>
              <a:rPr lang="en-US" b="1" dirty="0"/>
              <a:t>5 adopter types </a:t>
            </a:r>
            <a:r>
              <a:rPr lang="en-US" dirty="0"/>
              <a:t>of Open Science practices: innovators, early adopters, early majority, late majority and laggards</a:t>
            </a:r>
            <a:endParaRPr lang="en-US" sz="1800" b="1" dirty="0"/>
          </a:p>
        </p:txBody>
      </p:sp>
      <p:sp>
        <p:nvSpPr>
          <p:cNvPr id="27" name="TextBox 26">
            <a:extLst>
              <a:ext uri="{FF2B5EF4-FFF2-40B4-BE49-F238E27FC236}">
                <a16:creationId xmlns:a16="http://schemas.microsoft.com/office/drawing/2014/main" id="{65DCF8C8-FF79-0EC4-B424-723C4F3C6E85}"/>
              </a:ext>
            </a:extLst>
          </p:cNvPr>
          <p:cNvSpPr txBox="1"/>
          <p:nvPr/>
        </p:nvSpPr>
        <p:spPr>
          <a:xfrm>
            <a:off x="6821310" y="5495682"/>
            <a:ext cx="4976603" cy="923330"/>
          </a:xfrm>
          <a:prstGeom prst="rect">
            <a:avLst/>
          </a:prstGeom>
          <a:noFill/>
        </p:spPr>
        <p:txBody>
          <a:bodyPr wrap="square">
            <a:spAutoFit/>
          </a:bodyPr>
          <a:lstStyle/>
          <a:p>
            <a:pPr marL="0" indent="0">
              <a:buNone/>
            </a:pPr>
            <a:r>
              <a:rPr lang="en-US" b="1" dirty="0"/>
              <a:t>Social</a:t>
            </a:r>
            <a:r>
              <a:rPr lang="en-US" dirty="0"/>
              <a:t> and </a:t>
            </a:r>
            <a:r>
              <a:rPr lang="en-US" b="1" dirty="0"/>
              <a:t>cultural identities </a:t>
            </a:r>
            <a:r>
              <a:rPr lang="en-US" dirty="0"/>
              <a:t>influences how we navigate research spaces, </a:t>
            </a:r>
            <a:r>
              <a:rPr lang="en-US" b="1" dirty="0"/>
              <a:t>leadership</a:t>
            </a:r>
            <a:r>
              <a:rPr lang="en-US" dirty="0"/>
              <a:t> and </a:t>
            </a:r>
            <a:r>
              <a:rPr lang="en-US" b="1" dirty="0"/>
              <a:t>engagement</a:t>
            </a:r>
            <a:r>
              <a:rPr lang="en-US" dirty="0"/>
              <a:t> with Open Science practices </a:t>
            </a:r>
            <a:endParaRPr lang="en-US" sz="1800" b="1" dirty="0"/>
          </a:p>
        </p:txBody>
      </p:sp>
      <p:pic>
        <p:nvPicPr>
          <p:cNvPr id="29" name="Graphic 28" descr="Earth globe: Africa and Europe with solid fill">
            <a:extLst>
              <a:ext uri="{FF2B5EF4-FFF2-40B4-BE49-F238E27FC236}">
                <a16:creationId xmlns:a16="http://schemas.microsoft.com/office/drawing/2014/main" id="{46138A6A-DEC1-4866-49DF-4634C9793326}"/>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1563987" y="4316359"/>
            <a:ext cx="1444245" cy="1444245"/>
          </a:xfrm>
          <a:prstGeom prst="rect">
            <a:avLst/>
          </a:prstGeom>
        </p:spPr>
      </p:pic>
      <p:pic>
        <p:nvPicPr>
          <p:cNvPr id="31" name="Graphic 30" descr="Drama with solid fill">
            <a:extLst>
              <a:ext uri="{FF2B5EF4-FFF2-40B4-BE49-F238E27FC236}">
                <a16:creationId xmlns:a16="http://schemas.microsoft.com/office/drawing/2014/main" id="{6DA6AE17-FAE7-E348-3F74-373CC079070C}"/>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920951" y="4273524"/>
            <a:ext cx="914400" cy="914400"/>
          </a:xfrm>
          <a:prstGeom prst="rect">
            <a:avLst/>
          </a:prstGeom>
        </p:spPr>
      </p:pic>
      <p:pic>
        <p:nvPicPr>
          <p:cNvPr id="33" name="Graphic 32" descr="Graduation cap with solid fill">
            <a:extLst>
              <a:ext uri="{FF2B5EF4-FFF2-40B4-BE49-F238E27FC236}">
                <a16:creationId xmlns:a16="http://schemas.microsoft.com/office/drawing/2014/main" id="{1F12578A-6781-2ACC-2333-A0F418A053E1}"/>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011145" y="4537188"/>
            <a:ext cx="914400" cy="914400"/>
          </a:xfrm>
          <a:prstGeom prst="rect">
            <a:avLst/>
          </a:prstGeom>
        </p:spPr>
      </p:pic>
      <p:sp>
        <p:nvSpPr>
          <p:cNvPr id="36" name="TextBox 35">
            <a:extLst>
              <a:ext uri="{FF2B5EF4-FFF2-40B4-BE49-F238E27FC236}">
                <a16:creationId xmlns:a16="http://schemas.microsoft.com/office/drawing/2014/main" id="{D1586724-3B7D-530A-FA24-95F3C66504AA}"/>
              </a:ext>
            </a:extLst>
          </p:cNvPr>
          <p:cNvSpPr txBox="1"/>
          <p:nvPr/>
        </p:nvSpPr>
        <p:spPr>
          <a:xfrm>
            <a:off x="657178" y="5658530"/>
            <a:ext cx="3963096" cy="923330"/>
          </a:xfrm>
          <a:prstGeom prst="rect">
            <a:avLst/>
          </a:prstGeom>
          <a:noFill/>
        </p:spPr>
        <p:txBody>
          <a:bodyPr wrap="square">
            <a:spAutoFit/>
          </a:bodyPr>
          <a:lstStyle/>
          <a:p>
            <a:r>
              <a:rPr lang="en-US" sz="1800" dirty="0"/>
              <a:t>Adoption of Open Science practices </a:t>
            </a:r>
            <a:r>
              <a:rPr lang="en-US" sz="1800" b="1" dirty="0"/>
              <a:t>varies</a:t>
            </a:r>
            <a:r>
              <a:rPr lang="en-US" sz="1800" dirty="0"/>
              <a:t> across teams, career stage, departments, disciplines and nations.   </a:t>
            </a:r>
          </a:p>
        </p:txBody>
      </p:sp>
    </p:spTree>
    <p:extLst>
      <p:ext uri="{BB962C8B-B14F-4D97-AF65-F5344CB8AC3E}">
        <p14:creationId xmlns:p14="http://schemas.microsoft.com/office/powerpoint/2010/main" val="20761582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3E5AA-E971-9728-ACA8-97F50ACC84B8}"/>
            </a:ext>
          </a:extLst>
        </p:cNvPr>
        <p:cNvGrpSpPr/>
        <p:nvPr/>
      </p:nvGrpSpPr>
      <p:grpSpPr>
        <a:xfrm>
          <a:off x="0" y="0"/>
          <a:ext cx="0" cy="0"/>
          <a:chOff x="0" y="0"/>
          <a:chExt cx="0" cy="0"/>
        </a:xfrm>
      </p:grpSpPr>
      <p:grpSp>
        <p:nvGrpSpPr>
          <p:cNvPr id="8" name="Group 7">
            <a:extLst>
              <a:ext uri="{FF2B5EF4-FFF2-40B4-BE49-F238E27FC236}">
                <a16:creationId xmlns:a16="http://schemas.microsoft.com/office/drawing/2014/main" id="{B14B3908-7CFF-6CCD-BE66-D0B2198B564A}"/>
              </a:ext>
            </a:extLst>
          </p:cNvPr>
          <p:cNvGrpSpPr/>
          <p:nvPr/>
        </p:nvGrpSpPr>
        <p:grpSpPr>
          <a:xfrm>
            <a:off x="10644280" y="6476875"/>
            <a:ext cx="1474613" cy="325672"/>
            <a:chOff x="19317" y="2690018"/>
            <a:chExt cx="11784755" cy="2025180"/>
          </a:xfrm>
        </p:grpSpPr>
        <p:pic>
          <p:nvPicPr>
            <p:cNvPr id="9" name="Picture 2">
              <a:extLst>
                <a:ext uri="{FF2B5EF4-FFF2-40B4-BE49-F238E27FC236}">
                  <a16:creationId xmlns:a16="http://schemas.microsoft.com/office/drawing/2014/main" id="{38C5ADEB-01E2-181D-38BA-EDA7073867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FD5C89D8-DD0D-072D-2F37-742CEF5E259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FDB61927-DFA3-9255-E17A-9437767BA049}"/>
              </a:ext>
            </a:extLst>
          </p:cNvPr>
          <p:cNvSpPr>
            <a:spLocks noGrp="1"/>
          </p:cNvSpPr>
          <p:nvPr>
            <p:ph type="sldNum" sz="quarter" idx="12"/>
          </p:nvPr>
        </p:nvSpPr>
        <p:spPr/>
        <p:txBody>
          <a:bodyPr/>
          <a:lstStyle/>
          <a:p>
            <a:fld id="{D292B180-B274-DE43-B36F-C827C7616C05}" type="slidenum">
              <a:rPr lang="en-US" smtClean="0"/>
              <a:t>78</a:t>
            </a:fld>
            <a:endParaRPr lang="en-US"/>
          </a:p>
        </p:txBody>
      </p:sp>
      <p:pic>
        <p:nvPicPr>
          <p:cNvPr id="7" name="Picture 6">
            <a:extLst>
              <a:ext uri="{FF2B5EF4-FFF2-40B4-BE49-F238E27FC236}">
                <a16:creationId xmlns:a16="http://schemas.microsoft.com/office/drawing/2014/main" id="{753E0942-D4D1-3B43-3A56-7AA493C7B3D4}"/>
              </a:ext>
            </a:extLst>
          </p:cNvPr>
          <p:cNvPicPr>
            <a:picLocks noChangeAspect="1"/>
          </p:cNvPicPr>
          <p:nvPr/>
        </p:nvPicPr>
        <p:blipFill>
          <a:blip r:embed="rId5"/>
          <a:srcRect b="7887"/>
          <a:stretch>
            <a:fillRect/>
          </a:stretch>
        </p:blipFill>
        <p:spPr>
          <a:xfrm>
            <a:off x="0" y="136525"/>
            <a:ext cx="11923074" cy="6198919"/>
          </a:xfrm>
          <a:prstGeom prst="rect">
            <a:avLst/>
          </a:prstGeom>
        </p:spPr>
      </p:pic>
    </p:spTree>
    <p:extLst>
      <p:ext uri="{BB962C8B-B14F-4D97-AF65-F5344CB8AC3E}">
        <p14:creationId xmlns:p14="http://schemas.microsoft.com/office/powerpoint/2010/main" val="10212726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B0B29335-E7AF-7C49-9994-23C3B1C8A8DA}"/>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19B0DF41-D618-B7C6-36F9-CF0A934AE0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A92652D0-DB1B-CFAF-EA6B-693A31A20E5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3C2B5D98-00D3-16A2-9134-307F6497E171}"/>
              </a:ext>
            </a:extLst>
          </p:cNvPr>
          <p:cNvSpPr>
            <a:spLocks noGrp="1"/>
          </p:cNvSpPr>
          <p:nvPr>
            <p:ph type="title"/>
          </p:nvPr>
        </p:nvSpPr>
        <p:spPr>
          <a:xfrm>
            <a:off x="0" y="0"/>
            <a:ext cx="12192000" cy="1009403"/>
          </a:xfrm>
        </p:spPr>
        <p:txBody>
          <a:bodyPr/>
          <a:lstStyle/>
          <a:p>
            <a:r>
              <a:rPr lang="en-US" b="1" dirty="0"/>
              <a:t>Case study on leadership in Open Science: FORRT </a:t>
            </a:r>
          </a:p>
        </p:txBody>
      </p:sp>
      <p:sp>
        <p:nvSpPr>
          <p:cNvPr id="4" name="Slide Number Placeholder 3">
            <a:extLst>
              <a:ext uri="{FF2B5EF4-FFF2-40B4-BE49-F238E27FC236}">
                <a16:creationId xmlns:a16="http://schemas.microsoft.com/office/drawing/2014/main" id="{A96F8DA8-1B1F-50E2-FF9B-9B7006C0C572}"/>
              </a:ext>
            </a:extLst>
          </p:cNvPr>
          <p:cNvSpPr>
            <a:spLocks noGrp="1"/>
          </p:cNvSpPr>
          <p:nvPr>
            <p:ph type="sldNum" sz="quarter" idx="12"/>
          </p:nvPr>
        </p:nvSpPr>
        <p:spPr/>
        <p:txBody>
          <a:bodyPr/>
          <a:lstStyle/>
          <a:p>
            <a:fld id="{D292B180-B274-DE43-B36F-C827C7616C05}" type="slidenum">
              <a:rPr lang="en-US" smtClean="0"/>
              <a:t>79</a:t>
            </a:fld>
            <a:endParaRPr lang="en-US"/>
          </a:p>
        </p:txBody>
      </p:sp>
      <p:pic>
        <p:nvPicPr>
          <p:cNvPr id="6" name="Picture 2">
            <a:extLst>
              <a:ext uri="{FF2B5EF4-FFF2-40B4-BE49-F238E27FC236}">
                <a16:creationId xmlns:a16="http://schemas.microsoft.com/office/drawing/2014/main" id="{F534943F-B982-1F0B-E792-B424DB803F3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123" y="1481020"/>
            <a:ext cx="2755219" cy="2755219"/>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E2CB3C7-D457-D53D-9F75-E9F07FC51AB0}"/>
              </a:ext>
            </a:extLst>
          </p:cNvPr>
          <p:cNvSpPr txBox="1"/>
          <p:nvPr/>
        </p:nvSpPr>
        <p:spPr>
          <a:xfrm>
            <a:off x="448822" y="4477023"/>
            <a:ext cx="4504178" cy="461665"/>
          </a:xfrm>
          <a:prstGeom prst="rect">
            <a:avLst/>
          </a:prstGeom>
          <a:noFill/>
        </p:spPr>
        <p:txBody>
          <a:bodyPr wrap="square">
            <a:spAutoFit/>
          </a:bodyPr>
          <a:lstStyle/>
          <a:p>
            <a:r>
              <a:rPr lang="en-GB" sz="2400" b="1" dirty="0"/>
              <a:t>Dr Flavio Azevedo (he/him)</a:t>
            </a:r>
          </a:p>
        </p:txBody>
      </p:sp>
      <p:sp>
        <p:nvSpPr>
          <p:cNvPr id="11" name="TextBox 10">
            <a:extLst>
              <a:ext uri="{FF2B5EF4-FFF2-40B4-BE49-F238E27FC236}">
                <a16:creationId xmlns:a16="http://schemas.microsoft.com/office/drawing/2014/main" id="{95C51EB6-358B-4D00-9A67-B528078671CD}"/>
              </a:ext>
            </a:extLst>
          </p:cNvPr>
          <p:cNvSpPr txBox="1"/>
          <p:nvPr/>
        </p:nvSpPr>
        <p:spPr>
          <a:xfrm>
            <a:off x="448822" y="5146147"/>
            <a:ext cx="3956923" cy="1200329"/>
          </a:xfrm>
          <a:prstGeom prst="rect">
            <a:avLst/>
          </a:prstGeom>
          <a:noFill/>
        </p:spPr>
        <p:txBody>
          <a:bodyPr wrap="square">
            <a:spAutoFit/>
          </a:bodyPr>
          <a:lstStyle/>
          <a:p>
            <a:r>
              <a:rPr lang="en-GB" sz="2400" dirty="0"/>
              <a:t>Asst. Prof Interdisciplinary Social Sciences (Utrecht) and FORRT Director</a:t>
            </a:r>
          </a:p>
        </p:txBody>
      </p:sp>
      <p:sp>
        <p:nvSpPr>
          <p:cNvPr id="14" name="AutoShape 2" descr="FORRT - Framework for Open and Reproducible Research Training">
            <a:extLst>
              <a:ext uri="{FF2B5EF4-FFF2-40B4-BE49-F238E27FC236}">
                <a16:creationId xmlns:a16="http://schemas.microsoft.com/office/drawing/2014/main" id="{C42E96AC-6F58-BB10-9532-6F80526EE39A}"/>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5" name="Picture 14">
            <a:extLst>
              <a:ext uri="{FF2B5EF4-FFF2-40B4-BE49-F238E27FC236}">
                <a16:creationId xmlns:a16="http://schemas.microsoft.com/office/drawing/2014/main" id="{B63CF654-CD1C-1B70-7006-CA97F114E635}"/>
              </a:ext>
            </a:extLst>
          </p:cNvPr>
          <p:cNvPicPr>
            <a:picLocks noChangeAspect="1"/>
          </p:cNvPicPr>
          <p:nvPr/>
        </p:nvPicPr>
        <p:blipFill>
          <a:blip r:embed="rId6"/>
          <a:stretch>
            <a:fillRect/>
          </a:stretch>
        </p:blipFill>
        <p:spPr>
          <a:xfrm>
            <a:off x="5575533" y="1790713"/>
            <a:ext cx="5176987" cy="1638287"/>
          </a:xfrm>
          <a:prstGeom prst="rect">
            <a:avLst/>
          </a:prstGeom>
        </p:spPr>
      </p:pic>
      <p:sp>
        <p:nvSpPr>
          <p:cNvPr id="5" name="TextBox 4">
            <a:extLst>
              <a:ext uri="{FF2B5EF4-FFF2-40B4-BE49-F238E27FC236}">
                <a16:creationId xmlns:a16="http://schemas.microsoft.com/office/drawing/2014/main" id="{9B9E796F-0F9B-F2B4-3C90-B23C5035EF35}"/>
              </a:ext>
            </a:extLst>
          </p:cNvPr>
          <p:cNvSpPr txBox="1"/>
          <p:nvPr/>
        </p:nvSpPr>
        <p:spPr>
          <a:xfrm>
            <a:off x="5943600" y="4914887"/>
            <a:ext cx="4847230" cy="830997"/>
          </a:xfrm>
          <a:prstGeom prst="rect">
            <a:avLst/>
          </a:prstGeom>
          <a:solidFill>
            <a:schemeClr val="bg1">
              <a:lumMod val="85000"/>
            </a:schemeClr>
          </a:solidFill>
        </p:spPr>
        <p:txBody>
          <a:bodyPr wrap="square">
            <a:spAutoFit/>
          </a:bodyPr>
          <a:lstStyle/>
          <a:p>
            <a:r>
              <a:rPr lang="en-US" sz="2400" b="1" dirty="0"/>
              <a:t>Access to slides: </a:t>
            </a:r>
            <a:r>
              <a:rPr lang="en-US" sz="2400" dirty="0">
                <a:hlinkClick r:id="rId7"/>
              </a:rPr>
              <a:t>https://osf.io/ay8qk/files/cmeuy</a:t>
            </a:r>
            <a:r>
              <a:rPr lang="en-US" sz="2400" dirty="0"/>
              <a:t> </a:t>
            </a:r>
          </a:p>
        </p:txBody>
      </p:sp>
    </p:spTree>
    <p:extLst>
      <p:ext uri="{BB962C8B-B14F-4D97-AF65-F5344CB8AC3E}">
        <p14:creationId xmlns:p14="http://schemas.microsoft.com/office/powerpoint/2010/main" val="98285276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0E277769-FAE9-6185-152A-A094C5904869}"/>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1D9E57CC-F9E7-463E-577E-C565F022D36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D8F60DC5-C095-DE48-4278-D98664AADCD2}"/>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4" name="Slide Number Placeholder 3">
            <a:extLst>
              <a:ext uri="{FF2B5EF4-FFF2-40B4-BE49-F238E27FC236}">
                <a16:creationId xmlns:a16="http://schemas.microsoft.com/office/drawing/2014/main" id="{2A440406-2442-5BA4-CF04-4F9796F49567}"/>
              </a:ext>
            </a:extLst>
          </p:cNvPr>
          <p:cNvSpPr>
            <a:spLocks noGrp="1"/>
          </p:cNvSpPr>
          <p:nvPr>
            <p:ph type="sldNum" sz="quarter" idx="12"/>
          </p:nvPr>
        </p:nvSpPr>
        <p:spPr/>
        <p:txBody>
          <a:bodyPr/>
          <a:lstStyle/>
          <a:p>
            <a:fld id="{D292B180-B274-DE43-B36F-C827C7616C05}" type="slidenum">
              <a:rPr lang="en-US" smtClean="0"/>
              <a:t>80</a:t>
            </a:fld>
            <a:endParaRPr lang="en-US"/>
          </a:p>
        </p:txBody>
      </p:sp>
      <p:pic>
        <p:nvPicPr>
          <p:cNvPr id="6" name="Picture 5">
            <a:extLst>
              <a:ext uri="{FF2B5EF4-FFF2-40B4-BE49-F238E27FC236}">
                <a16:creationId xmlns:a16="http://schemas.microsoft.com/office/drawing/2014/main" id="{DC108436-703E-0F68-796F-AD7599F93128}"/>
              </a:ext>
            </a:extLst>
          </p:cNvPr>
          <p:cNvPicPr>
            <a:picLocks noChangeAspect="1"/>
          </p:cNvPicPr>
          <p:nvPr/>
        </p:nvPicPr>
        <p:blipFill>
          <a:blip r:embed="rId5"/>
          <a:stretch>
            <a:fillRect/>
          </a:stretch>
        </p:blipFill>
        <p:spPr>
          <a:xfrm>
            <a:off x="592991" y="136525"/>
            <a:ext cx="10760809" cy="6048138"/>
          </a:xfrm>
          <a:prstGeom prst="rect">
            <a:avLst/>
          </a:prstGeom>
        </p:spPr>
      </p:pic>
    </p:spTree>
    <p:extLst>
      <p:ext uri="{BB962C8B-B14F-4D97-AF65-F5344CB8AC3E}">
        <p14:creationId xmlns:p14="http://schemas.microsoft.com/office/powerpoint/2010/main" val="365867954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866B4C-B120-2349-A93C-BDCBB0DA90B4}"/>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89762F79-56B3-A308-CB57-17E1DA5139B3}"/>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E6470CA7-B9AA-C6BE-43CE-29594578E6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9EF2643F-C4F0-4E3C-457D-A3CC5130C2D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3D407A97-E00B-223E-6A2D-2F105294E388}"/>
              </a:ext>
            </a:extLst>
          </p:cNvPr>
          <p:cNvSpPr>
            <a:spLocks noGrp="1"/>
          </p:cNvSpPr>
          <p:nvPr>
            <p:ph type="title"/>
          </p:nvPr>
        </p:nvSpPr>
        <p:spPr>
          <a:xfrm>
            <a:off x="0" y="0"/>
            <a:ext cx="12192000" cy="1009403"/>
          </a:xfrm>
        </p:spPr>
        <p:txBody>
          <a:bodyPr/>
          <a:lstStyle/>
          <a:p>
            <a:r>
              <a:rPr lang="en-US" b="1" dirty="0"/>
              <a:t>Final summary </a:t>
            </a:r>
          </a:p>
        </p:txBody>
      </p:sp>
      <p:sp>
        <p:nvSpPr>
          <p:cNvPr id="4" name="Slide Number Placeholder 3">
            <a:extLst>
              <a:ext uri="{FF2B5EF4-FFF2-40B4-BE49-F238E27FC236}">
                <a16:creationId xmlns:a16="http://schemas.microsoft.com/office/drawing/2014/main" id="{84B02F52-0CA9-CB6D-B270-0F8EB13CD307}"/>
              </a:ext>
            </a:extLst>
          </p:cNvPr>
          <p:cNvSpPr>
            <a:spLocks noGrp="1"/>
          </p:cNvSpPr>
          <p:nvPr>
            <p:ph type="sldNum" sz="quarter" idx="12"/>
          </p:nvPr>
        </p:nvSpPr>
        <p:spPr>
          <a:xfrm>
            <a:off x="10307782" y="6356350"/>
            <a:ext cx="1046018" cy="365125"/>
          </a:xfrm>
        </p:spPr>
        <p:txBody>
          <a:bodyPr/>
          <a:lstStyle/>
          <a:p>
            <a:fld id="{D292B180-B274-DE43-B36F-C827C7616C05}" type="slidenum">
              <a:rPr lang="en-US" smtClean="0"/>
              <a:t>81</a:t>
            </a:fld>
            <a:endParaRPr lang="en-US" dirty="0"/>
          </a:p>
        </p:txBody>
      </p:sp>
      <p:sp>
        <p:nvSpPr>
          <p:cNvPr id="10" name="TextBox 9">
            <a:extLst>
              <a:ext uri="{FF2B5EF4-FFF2-40B4-BE49-F238E27FC236}">
                <a16:creationId xmlns:a16="http://schemas.microsoft.com/office/drawing/2014/main" id="{D0968B57-AAE5-81B4-6EA2-B50883DCA202}"/>
              </a:ext>
            </a:extLst>
          </p:cNvPr>
          <p:cNvSpPr txBox="1"/>
          <p:nvPr/>
        </p:nvSpPr>
        <p:spPr>
          <a:xfrm>
            <a:off x="594117" y="2252997"/>
            <a:ext cx="2011517" cy="646331"/>
          </a:xfrm>
          <a:prstGeom prst="rect">
            <a:avLst/>
          </a:prstGeom>
          <a:noFill/>
        </p:spPr>
        <p:txBody>
          <a:bodyPr wrap="square" rtlCol="0">
            <a:spAutoFit/>
          </a:bodyPr>
          <a:lstStyle/>
          <a:p>
            <a:pPr algn="ctr"/>
            <a:r>
              <a:rPr lang="en-US" dirty="0"/>
              <a:t>Leadership is about people! </a:t>
            </a:r>
          </a:p>
        </p:txBody>
      </p:sp>
      <p:sp>
        <p:nvSpPr>
          <p:cNvPr id="11" name="TextBox 10">
            <a:extLst>
              <a:ext uri="{FF2B5EF4-FFF2-40B4-BE49-F238E27FC236}">
                <a16:creationId xmlns:a16="http://schemas.microsoft.com/office/drawing/2014/main" id="{6D135D2B-3DFC-B0E6-7D18-03D1A436513B}"/>
              </a:ext>
            </a:extLst>
          </p:cNvPr>
          <p:cNvSpPr txBox="1"/>
          <p:nvPr/>
        </p:nvSpPr>
        <p:spPr>
          <a:xfrm>
            <a:off x="3414894" y="2211737"/>
            <a:ext cx="2191518" cy="923330"/>
          </a:xfrm>
          <a:prstGeom prst="rect">
            <a:avLst/>
          </a:prstGeom>
          <a:noFill/>
        </p:spPr>
        <p:txBody>
          <a:bodyPr wrap="square" rtlCol="0">
            <a:spAutoFit/>
          </a:bodyPr>
          <a:lstStyle/>
          <a:p>
            <a:pPr algn="ctr"/>
            <a:r>
              <a:rPr lang="en-US" dirty="0"/>
              <a:t>Self-leadership is critical step towards leading others</a:t>
            </a:r>
          </a:p>
        </p:txBody>
      </p:sp>
      <p:sp>
        <p:nvSpPr>
          <p:cNvPr id="12" name="TextBox 11">
            <a:extLst>
              <a:ext uri="{FF2B5EF4-FFF2-40B4-BE49-F238E27FC236}">
                <a16:creationId xmlns:a16="http://schemas.microsoft.com/office/drawing/2014/main" id="{3B088A20-B6F5-9CBB-0439-C668028711B6}"/>
              </a:ext>
            </a:extLst>
          </p:cNvPr>
          <p:cNvSpPr txBox="1"/>
          <p:nvPr/>
        </p:nvSpPr>
        <p:spPr>
          <a:xfrm>
            <a:off x="6222669" y="2239984"/>
            <a:ext cx="2299989" cy="369332"/>
          </a:xfrm>
          <a:prstGeom prst="rect">
            <a:avLst/>
          </a:prstGeom>
          <a:noFill/>
        </p:spPr>
        <p:txBody>
          <a:bodyPr wrap="none" rtlCol="0">
            <a:spAutoFit/>
          </a:bodyPr>
          <a:lstStyle/>
          <a:p>
            <a:r>
              <a:rPr lang="en-US" dirty="0"/>
              <a:t>Values shape actions</a:t>
            </a:r>
          </a:p>
        </p:txBody>
      </p:sp>
      <p:sp>
        <p:nvSpPr>
          <p:cNvPr id="13" name="TextBox 12">
            <a:extLst>
              <a:ext uri="{FF2B5EF4-FFF2-40B4-BE49-F238E27FC236}">
                <a16:creationId xmlns:a16="http://schemas.microsoft.com/office/drawing/2014/main" id="{4CF0C2FF-3F32-31C4-CF9F-9E994ECC179D}"/>
              </a:ext>
            </a:extLst>
          </p:cNvPr>
          <p:cNvSpPr txBox="1"/>
          <p:nvPr/>
        </p:nvSpPr>
        <p:spPr>
          <a:xfrm>
            <a:off x="9223649" y="2265432"/>
            <a:ext cx="2423743" cy="923330"/>
          </a:xfrm>
          <a:prstGeom prst="rect">
            <a:avLst/>
          </a:prstGeom>
          <a:noFill/>
        </p:spPr>
        <p:txBody>
          <a:bodyPr wrap="square" rtlCol="0">
            <a:spAutoFit/>
          </a:bodyPr>
          <a:lstStyle/>
          <a:p>
            <a:pPr algn="ctr"/>
            <a:r>
              <a:rPr lang="en-US" dirty="0"/>
              <a:t>Effective leadership and Open Science share many values</a:t>
            </a:r>
          </a:p>
        </p:txBody>
      </p:sp>
      <p:sp>
        <p:nvSpPr>
          <p:cNvPr id="14" name="TextBox 13">
            <a:extLst>
              <a:ext uri="{FF2B5EF4-FFF2-40B4-BE49-F238E27FC236}">
                <a16:creationId xmlns:a16="http://schemas.microsoft.com/office/drawing/2014/main" id="{DAC0AE04-2573-0EB3-58BC-E09B723A1F32}"/>
              </a:ext>
            </a:extLst>
          </p:cNvPr>
          <p:cNvSpPr txBox="1"/>
          <p:nvPr/>
        </p:nvSpPr>
        <p:spPr>
          <a:xfrm>
            <a:off x="429088" y="5215721"/>
            <a:ext cx="3036248" cy="923330"/>
          </a:xfrm>
          <a:prstGeom prst="rect">
            <a:avLst/>
          </a:prstGeom>
          <a:noFill/>
        </p:spPr>
        <p:txBody>
          <a:bodyPr wrap="square" rtlCol="0">
            <a:spAutoFit/>
          </a:bodyPr>
          <a:lstStyle/>
          <a:p>
            <a:pPr algn="ctr"/>
            <a:r>
              <a:rPr lang="en-US" dirty="0"/>
              <a:t>Research/learning culture shaped by our values, social location and work context</a:t>
            </a:r>
          </a:p>
        </p:txBody>
      </p:sp>
      <p:sp>
        <p:nvSpPr>
          <p:cNvPr id="16" name="TextBox 15">
            <a:extLst>
              <a:ext uri="{FF2B5EF4-FFF2-40B4-BE49-F238E27FC236}">
                <a16:creationId xmlns:a16="http://schemas.microsoft.com/office/drawing/2014/main" id="{983F7414-1D19-06FE-CC47-DF0288EA0319}"/>
              </a:ext>
            </a:extLst>
          </p:cNvPr>
          <p:cNvSpPr txBox="1"/>
          <p:nvPr/>
        </p:nvSpPr>
        <p:spPr>
          <a:xfrm>
            <a:off x="9103365" y="5060561"/>
            <a:ext cx="2709989" cy="923330"/>
          </a:xfrm>
          <a:prstGeom prst="rect">
            <a:avLst/>
          </a:prstGeom>
          <a:noFill/>
        </p:spPr>
        <p:txBody>
          <a:bodyPr wrap="square" rtlCol="0">
            <a:spAutoFit/>
          </a:bodyPr>
          <a:lstStyle/>
          <a:p>
            <a:pPr algn="ctr"/>
            <a:r>
              <a:rPr lang="en-US" dirty="0"/>
              <a:t>Awareness and </a:t>
            </a:r>
          </a:p>
          <a:p>
            <a:pPr algn="ctr"/>
            <a:r>
              <a:rPr lang="en-US" dirty="0"/>
              <a:t>adoption of Open Science practices varies  </a:t>
            </a:r>
          </a:p>
        </p:txBody>
      </p:sp>
      <p:grpSp>
        <p:nvGrpSpPr>
          <p:cNvPr id="27" name="Group 26">
            <a:extLst>
              <a:ext uri="{FF2B5EF4-FFF2-40B4-BE49-F238E27FC236}">
                <a16:creationId xmlns:a16="http://schemas.microsoft.com/office/drawing/2014/main" id="{34EED2FA-159F-7F1A-FDE1-9DB42C991823}"/>
              </a:ext>
            </a:extLst>
          </p:cNvPr>
          <p:cNvGrpSpPr/>
          <p:nvPr/>
        </p:nvGrpSpPr>
        <p:grpSpPr>
          <a:xfrm>
            <a:off x="9302578" y="1275854"/>
            <a:ext cx="2010408" cy="745147"/>
            <a:chOff x="475056" y="765176"/>
            <a:chExt cx="3488767" cy="1213150"/>
          </a:xfrm>
        </p:grpSpPr>
        <p:grpSp>
          <p:nvGrpSpPr>
            <p:cNvPr id="20" name="Group 19">
              <a:extLst>
                <a:ext uri="{FF2B5EF4-FFF2-40B4-BE49-F238E27FC236}">
                  <a16:creationId xmlns:a16="http://schemas.microsoft.com/office/drawing/2014/main" id="{9F77629A-D624-7710-E5B2-885BF5E17945}"/>
                </a:ext>
              </a:extLst>
            </p:cNvPr>
            <p:cNvGrpSpPr/>
            <p:nvPr/>
          </p:nvGrpSpPr>
          <p:grpSpPr>
            <a:xfrm>
              <a:off x="475056" y="778460"/>
              <a:ext cx="1246182" cy="1199866"/>
              <a:chOff x="6434528" y="3509174"/>
              <a:chExt cx="1517427" cy="1440662"/>
            </a:xfrm>
          </p:grpSpPr>
          <p:sp>
            <p:nvSpPr>
              <p:cNvPr id="21" name="Oval 20">
                <a:extLst>
                  <a:ext uri="{FF2B5EF4-FFF2-40B4-BE49-F238E27FC236}">
                    <a16:creationId xmlns:a16="http://schemas.microsoft.com/office/drawing/2014/main" id="{AC9F3607-7704-587B-60C1-2A53E49B905B}"/>
                  </a:ext>
                </a:extLst>
              </p:cNvPr>
              <p:cNvSpPr/>
              <p:nvPr/>
            </p:nvSpPr>
            <p:spPr>
              <a:xfrm>
                <a:off x="6434528" y="3509174"/>
                <a:ext cx="1517427" cy="1440662"/>
              </a:xfrm>
              <a:prstGeom prst="ellipse">
                <a:avLst/>
              </a:prstGeom>
              <a:solidFill>
                <a:schemeClr val="bg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2" name="Graphic 21" descr="Users with solid fill">
                <a:extLst>
                  <a:ext uri="{FF2B5EF4-FFF2-40B4-BE49-F238E27FC236}">
                    <a16:creationId xmlns:a16="http://schemas.microsoft.com/office/drawing/2014/main" id="{A1283E8D-9510-7CFA-81D6-8C10B4F7CA4A}"/>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755714" y="3756356"/>
                <a:ext cx="807015" cy="914400"/>
              </a:xfrm>
              <a:prstGeom prst="rect">
                <a:avLst/>
              </a:prstGeom>
            </p:spPr>
          </p:pic>
        </p:grpSp>
        <p:sp>
          <p:nvSpPr>
            <p:cNvPr id="23" name="Oval 22">
              <a:extLst>
                <a:ext uri="{FF2B5EF4-FFF2-40B4-BE49-F238E27FC236}">
                  <a16:creationId xmlns:a16="http://schemas.microsoft.com/office/drawing/2014/main" id="{2621C257-879E-750B-E669-080E27DB6CCA}"/>
                </a:ext>
              </a:extLst>
            </p:cNvPr>
            <p:cNvSpPr/>
            <p:nvPr/>
          </p:nvSpPr>
          <p:spPr>
            <a:xfrm>
              <a:off x="2717641" y="765176"/>
              <a:ext cx="1246182" cy="1199865"/>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4" name="Graphic 23" descr="Unlock outline">
              <a:extLst>
                <a:ext uri="{FF2B5EF4-FFF2-40B4-BE49-F238E27FC236}">
                  <a16:creationId xmlns:a16="http://schemas.microsoft.com/office/drawing/2014/main" id="{6505C51A-E59A-0E5D-B856-63BF21FE30CF}"/>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flipH="1">
              <a:off x="3062671" y="1033599"/>
              <a:ext cx="556121" cy="630121"/>
            </a:xfrm>
            <a:prstGeom prst="rect">
              <a:avLst/>
            </a:prstGeom>
          </p:spPr>
        </p:pic>
        <p:pic>
          <p:nvPicPr>
            <p:cNvPr id="25" name="Graphic 24" descr="Transfer outline">
              <a:extLst>
                <a:ext uri="{FF2B5EF4-FFF2-40B4-BE49-F238E27FC236}">
                  <a16:creationId xmlns:a16="http://schemas.microsoft.com/office/drawing/2014/main" id="{006211B5-CD64-00FB-D2B4-D152F4CC324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761630" y="901739"/>
              <a:ext cx="883453" cy="1001010"/>
            </a:xfrm>
            <a:prstGeom prst="rect">
              <a:avLst/>
            </a:prstGeom>
          </p:spPr>
        </p:pic>
      </p:grpSp>
      <p:grpSp>
        <p:nvGrpSpPr>
          <p:cNvPr id="28" name="Group 27">
            <a:extLst>
              <a:ext uri="{FF2B5EF4-FFF2-40B4-BE49-F238E27FC236}">
                <a16:creationId xmlns:a16="http://schemas.microsoft.com/office/drawing/2014/main" id="{447F5C1E-8BF5-2605-21C9-31D68B329919}"/>
              </a:ext>
            </a:extLst>
          </p:cNvPr>
          <p:cNvGrpSpPr/>
          <p:nvPr/>
        </p:nvGrpSpPr>
        <p:grpSpPr>
          <a:xfrm>
            <a:off x="567189" y="1325584"/>
            <a:ext cx="2025707" cy="914400"/>
            <a:chOff x="4099570" y="2312765"/>
            <a:chExt cx="2025707" cy="914400"/>
          </a:xfrm>
        </p:grpSpPr>
        <p:pic>
          <p:nvPicPr>
            <p:cNvPr id="29" name="Graphic 28" descr="User with solid fill">
              <a:extLst>
                <a:ext uri="{FF2B5EF4-FFF2-40B4-BE49-F238E27FC236}">
                  <a16:creationId xmlns:a16="http://schemas.microsoft.com/office/drawing/2014/main" id="{D00DF097-7CB3-0D41-37AA-A65ADCA7A63E}"/>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4099570" y="2472319"/>
              <a:ext cx="554007" cy="627725"/>
            </a:xfrm>
            <a:prstGeom prst="rect">
              <a:avLst/>
            </a:prstGeom>
          </p:spPr>
        </p:pic>
        <p:pic>
          <p:nvPicPr>
            <p:cNvPr id="30" name="Graphic 29" descr="Users with solid fill">
              <a:extLst>
                <a:ext uri="{FF2B5EF4-FFF2-40B4-BE49-F238E27FC236}">
                  <a16:creationId xmlns:a16="http://schemas.microsoft.com/office/drawing/2014/main" id="{431D1004-6811-83B4-A86A-8A527C0CB139}"/>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318262" y="2312765"/>
              <a:ext cx="807015" cy="914400"/>
            </a:xfrm>
            <a:prstGeom prst="rect">
              <a:avLst/>
            </a:prstGeom>
          </p:spPr>
        </p:pic>
        <p:pic>
          <p:nvPicPr>
            <p:cNvPr id="31" name="Graphic 30" descr="Transfer outline">
              <a:extLst>
                <a:ext uri="{FF2B5EF4-FFF2-40B4-BE49-F238E27FC236}">
                  <a16:creationId xmlns:a16="http://schemas.microsoft.com/office/drawing/2014/main" id="{9CAB434A-D16F-22D4-3C34-13482B422BF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68674" y="2468745"/>
              <a:ext cx="570427" cy="646331"/>
            </a:xfrm>
            <a:prstGeom prst="rect">
              <a:avLst/>
            </a:prstGeom>
          </p:spPr>
        </p:pic>
      </p:grpSp>
      <p:grpSp>
        <p:nvGrpSpPr>
          <p:cNvPr id="32" name="Group 31">
            <a:extLst>
              <a:ext uri="{FF2B5EF4-FFF2-40B4-BE49-F238E27FC236}">
                <a16:creationId xmlns:a16="http://schemas.microsoft.com/office/drawing/2014/main" id="{B12AAF97-48E6-4918-B024-F54EFECB0C60}"/>
              </a:ext>
            </a:extLst>
          </p:cNvPr>
          <p:cNvGrpSpPr/>
          <p:nvPr/>
        </p:nvGrpSpPr>
        <p:grpSpPr>
          <a:xfrm>
            <a:off x="4049136" y="1319252"/>
            <a:ext cx="778806" cy="1200329"/>
            <a:chOff x="7864892" y="2862387"/>
            <a:chExt cx="970294" cy="1447098"/>
          </a:xfrm>
        </p:grpSpPr>
        <p:sp>
          <p:nvSpPr>
            <p:cNvPr id="33" name="Oval 32">
              <a:extLst>
                <a:ext uri="{FF2B5EF4-FFF2-40B4-BE49-F238E27FC236}">
                  <a16:creationId xmlns:a16="http://schemas.microsoft.com/office/drawing/2014/main" id="{74812B20-B1D4-DC1D-75D4-3464CB1AC295}"/>
                </a:ext>
              </a:extLst>
            </p:cNvPr>
            <p:cNvSpPr/>
            <p:nvPr/>
          </p:nvSpPr>
          <p:spPr>
            <a:xfrm>
              <a:off x="7864892" y="2862387"/>
              <a:ext cx="970294" cy="898336"/>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i="1"/>
            </a:p>
          </p:txBody>
        </p:sp>
        <p:pic>
          <p:nvPicPr>
            <p:cNvPr id="34" name="Graphic 33" descr="Line arrow: Rotate left with solid fill">
              <a:extLst>
                <a:ext uri="{FF2B5EF4-FFF2-40B4-BE49-F238E27FC236}">
                  <a16:creationId xmlns:a16="http://schemas.microsoft.com/office/drawing/2014/main" id="{DC80FBAA-3773-7837-18DF-B19858B0E8B3}"/>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8010310" y="2974343"/>
              <a:ext cx="674423" cy="674423"/>
            </a:xfrm>
            <a:prstGeom prst="rect">
              <a:avLst/>
            </a:prstGeom>
          </p:spPr>
        </p:pic>
        <p:sp>
          <p:nvSpPr>
            <p:cNvPr id="35" name="TextBox 34">
              <a:extLst>
                <a:ext uri="{FF2B5EF4-FFF2-40B4-BE49-F238E27FC236}">
                  <a16:creationId xmlns:a16="http://schemas.microsoft.com/office/drawing/2014/main" id="{D427FDD1-DC77-0198-AC05-AF48B177DCDD}"/>
                </a:ext>
              </a:extLst>
            </p:cNvPr>
            <p:cNvSpPr txBox="1"/>
            <p:nvPr/>
          </p:nvSpPr>
          <p:spPr>
            <a:xfrm>
              <a:off x="8255155" y="3847820"/>
              <a:ext cx="184730" cy="461665"/>
            </a:xfrm>
            <a:prstGeom prst="rect">
              <a:avLst/>
            </a:prstGeom>
            <a:noFill/>
          </p:spPr>
          <p:txBody>
            <a:bodyPr wrap="none" rtlCol="0">
              <a:spAutoFit/>
            </a:bodyPr>
            <a:lstStyle/>
            <a:p>
              <a:pPr algn="ctr"/>
              <a:endParaRPr lang="en-US" sz="2400" i="1" dirty="0"/>
            </a:p>
          </p:txBody>
        </p:sp>
      </p:grpSp>
      <p:grpSp>
        <p:nvGrpSpPr>
          <p:cNvPr id="39" name="Group 38">
            <a:extLst>
              <a:ext uri="{FF2B5EF4-FFF2-40B4-BE49-F238E27FC236}">
                <a16:creationId xmlns:a16="http://schemas.microsoft.com/office/drawing/2014/main" id="{BA6626E7-C431-D643-1043-5AC7C49475D9}"/>
              </a:ext>
            </a:extLst>
          </p:cNvPr>
          <p:cNvGrpSpPr/>
          <p:nvPr/>
        </p:nvGrpSpPr>
        <p:grpSpPr>
          <a:xfrm>
            <a:off x="6697018" y="1284013"/>
            <a:ext cx="1425704" cy="728828"/>
            <a:chOff x="3896739" y="2725180"/>
            <a:chExt cx="2319706" cy="1045370"/>
          </a:xfrm>
        </p:grpSpPr>
        <p:sp>
          <p:nvSpPr>
            <p:cNvPr id="40" name="Oval 39">
              <a:extLst>
                <a:ext uri="{FF2B5EF4-FFF2-40B4-BE49-F238E27FC236}">
                  <a16:creationId xmlns:a16="http://schemas.microsoft.com/office/drawing/2014/main" id="{D2038172-6350-91CB-2A8B-6A8EBA4EDCA9}"/>
                </a:ext>
              </a:extLst>
            </p:cNvPr>
            <p:cNvSpPr/>
            <p:nvPr/>
          </p:nvSpPr>
          <p:spPr>
            <a:xfrm>
              <a:off x="5196203" y="2791757"/>
              <a:ext cx="1020242" cy="932041"/>
            </a:xfrm>
            <a:prstGeom prst="ellipse">
              <a:avLst/>
            </a:prstGeom>
            <a:solidFill>
              <a:srgbClr val="527ECE">
                <a:alpha val="92157"/>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Oval 40">
              <a:extLst>
                <a:ext uri="{FF2B5EF4-FFF2-40B4-BE49-F238E27FC236}">
                  <a16:creationId xmlns:a16="http://schemas.microsoft.com/office/drawing/2014/main" id="{9D5D0519-8E79-2783-EFA8-0284612B84B4}"/>
                </a:ext>
              </a:extLst>
            </p:cNvPr>
            <p:cNvSpPr/>
            <p:nvPr/>
          </p:nvSpPr>
          <p:spPr>
            <a:xfrm>
              <a:off x="4589944" y="2778673"/>
              <a:ext cx="1033351" cy="958997"/>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Oval 41">
              <a:extLst>
                <a:ext uri="{FF2B5EF4-FFF2-40B4-BE49-F238E27FC236}">
                  <a16:creationId xmlns:a16="http://schemas.microsoft.com/office/drawing/2014/main" id="{BE8E8971-B8FA-C54C-5772-A3536184FC30}"/>
                </a:ext>
              </a:extLst>
            </p:cNvPr>
            <p:cNvSpPr/>
            <p:nvPr/>
          </p:nvSpPr>
          <p:spPr>
            <a:xfrm>
              <a:off x="3896739" y="2725180"/>
              <a:ext cx="1116380" cy="104537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44" name="Picture 43">
            <a:extLst>
              <a:ext uri="{FF2B5EF4-FFF2-40B4-BE49-F238E27FC236}">
                <a16:creationId xmlns:a16="http://schemas.microsoft.com/office/drawing/2014/main" id="{585162F5-BD4C-84FD-9847-E159DA7A2903}"/>
              </a:ext>
            </a:extLst>
          </p:cNvPr>
          <p:cNvPicPr>
            <a:picLocks noChangeAspect="1"/>
          </p:cNvPicPr>
          <p:nvPr/>
        </p:nvPicPr>
        <p:blipFill>
          <a:blip r:embed="rId10"/>
          <a:srcRect l="12210" b="17485"/>
          <a:stretch>
            <a:fillRect/>
          </a:stretch>
        </p:blipFill>
        <p:spPr>
          <a:xfrm>
            <a:off x="1121196" y="3600946"/>
            <a:ext cx="1652033" cy="1426659"/>
          </a:xfrm>
          <a:prstGeom prst="rect">
            <a:avLst/>
          </a:prstGeom>
        </p:spPr>
      </p:pic>
      <p:pic>
        <p:nvPicPr>
          <p:cNvPr id="45" name="Graphic 44" descr="Earth globe: Africa and Europe with solid fill">
            <a:extLst>
              <a:ext uri="{FF2B5EF4-FFF2-40B4-BE49-F238E27FC236}">
                <a16:creationId xmlns:a16="http://schemas.microsoft.com/office/drawing/2014/main" id="{1CBB740C-57AB-5D43-8BA3-14D2FA51F257}"/>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10044332" y="4240439"/>
            <a:ext cx="828054" cy="828054"/>
          </a:xfrm>
          <a:prstGeom prst="rect">
            <a:avLst/>
          </a:prstGeom>
        </p:spPr>
      </p:pic>
      <p:pic>
        <p:nvPicPr>
          <p:cNvPr id="46" name="Graphic 45" descr="Drama with solid fill">
            <a:extLst>
              <a:ext uri="{FF2B5EF4-FFF2-40B4-BE49-F238E27FC236}">
                <a16:creationId xmlns:a16="http://schemas.microsoft.com/office/drawing/2014/main" id="{C71BD05D-9189-25C9-D0FE-756FC8E7B640}"/>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9490901" y="3811302"/>
            <a:ext cx="691186" cy="691186"/>
          </a:xfrm>
          <a:prstGeom prst="rect">
            <a:avLst/>
          </a:prstGeom>
        </p:spPr>
      </p:pic>
      <p:pic>
        <p:nvPicPr>
          <p:cNvPr id="47" name="Graphic 46" descr="Graduation cap with solid fill">
            <a:extLst>
              <a:ext uri="{FF2B5EF4-FFF2-40B4-BE49-F238E27FC236}">
                <a16:creationId xmlns:a16="http://schemas.microsoft.com/office/drawing/2014/main" id="{A356F3BC-5D5B-939B-16E6-A587A999E253}"/>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10731921" y="3811302"/>
            <a:ext cx="524269" cy="524269"/>
          </a:xfrm>
          <a:prstGeom prst="rect">
            <a:avLst/>
          </a:prstGeom>
        </p:spPr>
      </p:pic>
      <p:grpSp>
        <p:nvGrpSpPr>
          <p:cNvPr id="48" name="Group 47">
            <a:extLst>
              <a:ext uri="{FF2B5EF4-FFF2-40B4-BE49-F238E27FC236}">
                <a16:creationId xmlns:a16="http://schemas.microsoft.com/office/drawing/2014/main" id="{7433743E-B062-9E2C-FCE9-EEE33389F18A}"/>
              </a:ext>
            </a:extLst>
          </p:cNvPr>
          <p:cNvGrpSpPr/>
          <p:nvPr/>
        </p:nvGrpSpPr>
        <p:grpSpPr>
          <a:xfrm>
            <a:off x="5297877" y="3505243"/>
            <a:ext cx="2074786" cy="1462656"/>
            <a:chOff x="1190928" y="1726247"/>
            <a:chExt cx="2074786" cy="1462656"/>
          </a:xfrm>
        </p:grpSpPr>
        <p:sp>
          <p:nvSpPr>
            <p:cNvPr id="49" name="Oval 48">
              <a:extLst>
                <a:ext uri="{FF2B5EF4-FFF2-40B4-BE49-F238E27FC236}">
                  <a16:creationId xmlns:a16="http://schemas.microsoft.com/office/drawing/2014/main" id="{A439027F-92F0-FF8B-EFC8-BD029586BCC3}"/>
                </a:ext>
              </a:extLst>
            </p:cNvPr>
            <p:cNvSpPr/>
            <p:nvPr/>
          </p:nvSpPr>
          <p:spPr>
            <a:xfrm>
              <a:off x="2801365" y="2692907"/>
              <a:ext cx="402305" cy="365126"/>
            </a:xfrm>
            <a:prstGeom prst="ellipse">
              <a:avLst/>
            </a:prstGeom>
            <a:solidFill>
              <a:srgbClr val="C00000">
                <a:alpha val="42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670C513D-78FF-3D84-E256-B6433391A0C2}"/>
                </a:ext>
              </a:extLst>
            </p:cNvPr>
            <p:cNvSpPr/>
            <p:nvPr/>
          </p:nvSpPr>
          <p:spPr>
            <a:xfrm>
              <a:off x="2484698" y="1908810"/>
              <a:ext cx="402305" cy="365126"/>
            </a:xfrm>
            <a:prstGeom prst="ellipse">
              <a:avLst/>
            </a:prstGeom>
            <a:solidFill>
              <a:schemeClr val="accent2">
                <a:alpha val="64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475EB737-4019-0B25-720E-6ACB8A0BD11C}"/>
                </a:ext>
              </a:extLst>
            </p:cNvPr>
            <p:cNvSpPr/>
            <p:nvPr/>
          </p:nvSpPr>
          <p:spPr>
            <a:xfrm>
              <a:off x="1757156" y="1726247"/>
              <a:ext cx="402305" cy="365126"/>
            </a:xfrm>
            <a:prstGeom prst="ellipse">
              <a:avLst/>
            </a:prstGeom>
            <a:solidFill>
              <a:srgbClr val="FFC000">
                <a:alpha val="5906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DF0AD88C-98E0-48FB-9654-3B88F51705F5}"/>
                </a:ext>
              </a:extLst>
            </p:cNvPr>
            <p:cNvSpPr/>
            <p:nvPr/>
          </p:nvSpPr>
          <p:spPr>
            <a:xfrm>
              <a:off x="1520453" y="2283067"/>
              <a:ext cx="402305" cy="365126"/>
            </a:xfrm>
            <a:prstGeom prst="ellipse">
              <a:avLst/>
            </a:prstGeom>
            <a:solidFill>
              <a:srgbClr val="92D050">
                <a:alpha val="66725"/>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6575B7FF-60D2-9DE5-444F-468041BF0C76}"/>
                </a:ext>
              </a:extLst>
            </p:cNvPr>
            <p:cNvSpPr/>
            <p:nvPr/>
          </p:nvSpPr>
          <p:spPr>
            <a:xfrm>
              <a:off x="1248051" y="2712604"/>
              <a:ext cx="402305" cy="365126"/>
            </a:xfrm>
            <a:prstGeom prst="ellipse">
              <a:avLst/>
            </a:prstGeom>
            <a:solidFill>
              <a:srgbClr val="45B0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4" name="Group 53">
              <a:extLst>
                <a:ext uri="{FF2B5EF4-FFF2-40B4-BE49-F238E27FC236}">
                  <a16:creationId xmlns:a16="http://schemas.microsoft.com/office/drawing/2014/main" id="{4DBD4CE7-033A-12B1-65F6-8E1E5212F799}"/>
                </a:ext>
              </a:extLst>
            </p:cNvPr>
            <p:cNvGrpSpPr/>
            <p:nvPr/>
          </p:nvGrpSpPr>
          <p:grpSpPr>
            <a:xfrm>
              <a:off x="1190928" y="1852550"/>
              <a:ext cx="2074786" cy="1336353"/>
              <a:chOff x="4373172" y="914401"/>
              <a:chExt cx="6620884" cy="5617758"/>
            </a:xfrm>
          </p:grpSpPr>
          <p:pic>
            <p:nvPicPr>
              <p:cNvPr id="55" name="Graphic 54" descr="Normal Distribution outline">
                <a:extLst>
                  <a:ext uri="{FF2B5EF4-FFF2-40B4-BE49-F238E27FC236}">
                    <a16:creationId xmlns:a16="http://schemas.microsoft.com/office/drawing/2014/main" id="{AE359FC1-1374-34F3-4DC6-4DBBC1CD13DD}"/>
                  </a:ext>
                </a:extLst>
              </p:cNvPr>
              <p:cNvPicPr>
                <a:picLocks noChangeAspect="1"/>
              </p:cNvPicPr>
              <p:nvPr/>
            </p:nvPicPr>
            <p:blipFill>
              <a:blip>
                <a:extLst>
                  <a:ext uri="{96DAC541-7B7A-43D3-8B79-37D633B846F1}">
                    <asvg:svgBlip xmlns:asvg="http://schemas.microsoft.com/office/drawing/2016/SVG/main" r:embed="rId14"/>
                  </a:ext>
                </a:extLst>
              </a:blip>
              <a:srcRect l="10997" t="18998" r="21214" b="23484"/>
              <a:stretch>
                <a:fillRect/>
              </a:stretch>
            </p:blipFill>
            <p:spPr>
              <a:xfrm>
                <a:off x="4373172" y="914401"/>
                <a:ext cx="6620884" cy="5617758"/>
              </a:xfrm>
              <a:prstGeom prst="rect">
                <a:avLst/>
              </a:prstGeom>
            </p:spPr>
          </p:pic>
          <p:sp>
            <p:nvSpPr>
              <p:cNvPr id="56" name="Rectangle 55">
                <a:extLst>
                  <a:ext uri="{FF2B5EF4-FFF2-40B4-BE49-F238E27FC236}">
                    <a16:creationId xmlns:a16="http://schemas.microsoft.com/office/drawing/2014/main" id="{F1359120-2F11-7D18-FFD9-5A89ACBF470C}"/>
                  </a:ext>
                </a:extLst>
              </p:cNvPr>
              <p:cNvSpPr/>
              <p:nvPr/>
            </p:nvSpPr>
            <p:spPr>
              <a:xfrm>
                <a:off x="7283519" y="2121042"/>
                <a:ext cx="1011856" cy="42761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58" name="TextBox 57">
            <a:extLst>
              <a:ext uri="{FF2B5EF4-FFF2-40B4-BE49-F238E27FC236}">
                <a16:creationId xmlns:a16="http://schemas.microsoft.com/office/drawing/2014/main" id="{9DCC198D-40C8-352E-3C3F-A288C88DFA28}"/>
              </a:ext>
            </a:extLst>
          </p:cNvPr>
          <p:cNvSpPr txBox="1"/>
          <p:nvPr/>
        </p:nvSpPr>
        <p:spPr>
          <a:xfrm>
            <a:off x="4980275" y="5215721"/>
            <a:ext cx="2709989" cy="923330"/>
          </a:xfrm>
          <a:prstGeom prst="rect">
            <a:avLst/>
          </a:prstGeom>
          <a:noFill/>
        </p:spPr>
        <p:txBody>
          <a:bodyPr wrap="square" rtlCol="0">
            <a:spAutoFit/>
          </a:bodyPr>
          <a:lstStyle/>
          <a:p>
            <a:pPr algn="ctr"/>
            <a:r>
              <a:rPr lang="en-US" dirty="0"/>
              <a:t>Culture curve can be used to identify types of Open Science adopters</a:t>
            </a:r>
          </a:p>
        </p:txBody>
      </p:sp>
    </p:spTree>
    <p:extLst>
      <p:ext uri="{BB962C8B-B14F-4D97-AF65-F5344CB8AC3E}">
        <p14:creationId xmlns:p14="http://schemas.microsoft.com/office/powerpoint/2010/main" val="229971890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205752-5A9C-DCFF-A58B-2971C43F45FA}"/>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6A648341-5C9A-0D3D-EA0E-49318D2CCB41}"/>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FA10AD61-9023-33EB-DA96-4B42B4D6A3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C5A55E05-88E1-009F-E1D7-8EEB88D4D52E}"/>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1F4E27C2-B7DD-3D01-0AD7-9C1E99872BB9}"/>
              </a:ext>
            </a:extLst>
          </p:cNvPr>
          <p:cNvSpPr>
            <a:spLocks noGrp="1"/>
          </p:cNvSpPr>
          <p:nvPr>
            <p:ph type="title"/>
          </p:nvPr>
        </p:nvSpPr>
        <p:spPr>
          <a:xfrm>
            <a:off x="0" y="0"/>
            <a:ext cx="12192000" cy="1009403"/>
          </a:xfrm>
        </p:spPr>
        <p:txBody>
          <a:bodyPr/>
          <a:lstStyle/>
          <a:p>
            <a:r>
              <a:rPr lang="en-US" b="1" dirty="0"/>
              <a:t>Leadership qualities we practiced</a:t>
            </a:r>
          </a:p>
        </p:txBody>
      </p:sp>
      <p:sp>
        <p:nvSpPr>
          <p:cNvPr id="4" name="Slide Number Placeholder 3">
            <a:extLst>
              <a:ext uri="{FF2B5EF4-FFF2-40B4-BE49-F238E27FC236}">
                <a16:creationId xmlns:a16="http://schemas.microsoft.com/office/drawing/2014/main" id="{05BC0C0D-A611-2F1B-94AF-430DE2366B21}"/>
              </a:ext>
            </a:extLst>
          </p:cNvPr>
          <p:cNvSpPr>
            <a:spLocks noGrp="1"/>
          </p:cNvSpPr>
          <p:nvPr>
            <p:ph type="sldNum" sz="quarter" idx="12"/>
          </p:nvPr>
        </p:nvSpPr>
        <p:spPr>
          <a:xfrm>
            <a:off x="10307782" y="6356350"/>
            <a:ext cx="1046018" cy="365125"/>
          </a:xfrm>
        </p:spPr>
        <p:txBody>
          <a:bodyPr/>
          <a:lstStyle/>
          <a:p>
            <a:fld id="{D292B180-B274-DE43-B36F-C827C7616C05}" type="slidenum">
              <a:rPr lang="en-US" smtClean="0"/>
              <a:t>82</a:t>
            </a:fld>
            <a:endParaRPr lang="en-US" dirty="0"/>
          </a:p>
        </p:txBody>
      </p:sp>
      <p:pic>
        <p:nvPicPr>
          <p:cNvPr id="36" name="Graphic 35" descr="Reflection with solid fill">
            <a:extLst>
              <a:ext uri="{FF2B5EF4-FFF2-40B4-BE49-F238E27FC236}">
                <a16:creationId xmlns:a16="http://schemas.microsoft.com/office/drawing/2014/main" id="{F43CF1E2-5566-FDAE-B472-41071CCAAC12}"/>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4084" y="1947735"/>
            <a:ext cx="914400" cy="914400"/>
          </a:xfrm>
          <a:prstGeom prst="rect">
            <a:avLst/>
          </a:prstGeom>
        </p:spPr>
      </p:pic>
      <p:pic>
        <p:nvPicPr>
          <p:cNvPr id="37" name="Graphic 36" descr="Care with solid fill">
            <a:extLst>
              <a:ext uri="{FF2B5EF4-FFF2-40B4-BE49-F238E27FC236}">
                <a16:creationId xmlns:a16="http://schemas.microsoft.com/office/drawing/2014/main" id="{9FB5EB60-5916-F9F0-0F26-94C7244E2BB5}"/>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82361" y="1947735"/>
            <a:ext cx="914400" cy="914400"/>
          </a:xfrm>
          <a:prstGeom prst="rect">
            <a:avLst/>
          </a:prstGeom>
        </p:spPr>
      </p:pic>
      <p:sp>
        <p:nvSpPr>
          <p:cNvPr id="38" name="TextBox 37">
            <a:extLst>
              <a:ext uri="{FF2B5EF4-FFF2-40B4-BE49-F238E27FC236}">
                <a16:creationId xmlns:a16="http://schemas.microsoft.com/office/drawing/2014/main" id="{7C13899B-54ED-EE6E-D8D6-9BDE1067F7BF}"/>
              </a:ext>
            </a:extLst>
          </p:cNvPr>
          <p:cNvSpPr txBox="1"/>
          <p:nvPr/>
        </p:nvSpPr>
        <p:spPr>
          <a:xfrm>
            <a:off x="343225" y="1105807"/>
            <a:ext cx="9572671" cy="461665"/>
          </a:xfrm>
          <a:prstGeom prst="rect">
            <a:avLst/>
          </a:prstGeom>
          <a:noFill/>
        </p:spPr>
        <p:txBody>
          <a:bodyPr wrap="square" rtlCol="0">
            <a:spAutoFit/>
          </a:bodyPr>
          <a:lstStyle/>
          <a:p>
            <a:r>
              <a:rPr lang="en-US" sz="2400" dirty="0"/>
              <a:t>We’ve worked our </a:t>
            </a:r>
            <a:r>
              <a:rPr lang="en-US" sz="2400" b="1" dirty="0"/>
              <a:t>emotional intelligence </a:t>
            </a:r>
            <a:r>
              <a:rPr lang="en-US" sz="2400" dirty="0"/>
              <a:t>muscles in this session!</a:t>
            </a:r>
          </a:p>
        </p:txBody>
      </p:sp>
      <p:sp>
        <p:nvSpPr>
          <p:cNvPr id="19" name="TextBox 18">
            <a:extLst>
              <a:ext uri="{FF2B5EF4-FFF2-40B4-BE49-F238E27FC236}">
                <a16:creationId xmlns:a16="http://schemas.microsoft.com/office/drawing/2014/main" id="{106B7FF6-F402-ACFE-C8F2-23BCFFFD04C8}"/>
              </a:ext>
            </a:extLst>
          </p:cNvPr>
          <p:cNvSpPr txBox="1"/>
          <p:nvPr/>
        </p:nvSpPr>
        <p:spPr>
          <a:xfrm>
            <a:off x="1058669" y="2967335"/>
            <a:ext cx="1361783" cy="461665"/>
          </a:xfrm>
          <a:prstGeom prst="rect">
            <a:avLst/>
          </a:prstGeom>
          <a:noFill/>
        </p:spPr>
        <p:txBody>
          <a:bodyPr wrap="square" rtlCol="0">
            <a:spAutoFit/>
          </a:bodyPr>
          <a:lstStyle/>
          <a:p>
            <a:r>
              <a:rPr lang="en-US" sz="2400" dirty="0"/>
              <a:t>Empathy</a:t>
            </a:r>
          </a:p>
        </p:txBody>
      </p:sp>
      <p:sp>
        <p:nvSpPr>
          <p:cNvPr id="26" name="TextBox 25">
            <a:extLst>
              <a:ext uri="{FF2B5EF4-FFF2-40B4-BE49-F238E27FC236}">
                <a16:creationId xmlns:a16="http://schemas.microsoft.com/office/drawing/2014/main" id="{F9705F8A-1356-0B03-F64D-5BF17E487DC9}"/>
              </a:ext>
            </a:extLst>
          </p:cNvPr>
          <p:cNvSpPr txBox="1"/>
          <p:nvPr/>
        </p:nvSpPr>
        <p:spPr>
          <a:xfrm>
            <a:off x="3205351" y="2967334"/>
            <a:ext cx="2233497" cy="461665"/>
          </a:xfrm>
          <a:prstGeom prst="rect">
            <a:avLst/>
          </a:prstGeom>
          <a:noFill/>
        </p:spPr>
        <p:txBody>
          <a:bodyPr wrap="none" rtlCol="0">
            <a:spAutoFit/>
          </a:bodyPr>
          <a:lstStyle/>
          <a:p>
            <a:r>
              <a:rPr lang="en-US" sz="2400" dirty="0"/>
              <a:t>Self-awareness</a:t>
            </a:r>
          </a:p>
        </p:txBody>
      </p:sp>
    </p:spTree>
    <p:extLst>
      <p:ext uri="{BB962C8B-B14F-4D97-AF65-F5344CB8AC3E}">
        <p14:creationId xmlns:p14="http://schemas.microsoft.com/office/powerpoint/2010/main" val="132673378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5BEF87-BCAE-57A2-C615-9DAC11FC6358}"/>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4537AC2B-C1A3-621C-EE4D-DB12879ACDB2}"/>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26F6DCB7-1C49-9ECF-00F7-B17B9873DE8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C4DC523-1B29-CE11-F39C-1CC3215E5364}"/>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C9B217AF-D815-584C-DE0B-E895A7ADB6E7}"/>
              </a:ext>
            </a:extLst>
          </p:cNvPr>
          <p:cNvSpPr>
            <a:spLocks noGrp="1"/>
          </p:cNvSpPr>
          <p:nvPr>
            <p:ph type="title"/>
          </p:nvPr>
        </p:nvSpPr>
        <p:spPr>
          <a:xfrm>
            <a:off x="0" y="0"/>
            <a:ext cx="12192000" cy="1009403"/>
          </a:xfrm>
        </p:spPr>
        <p:txBody>
          <a:bodyPr/>
          <a:lstStyle/>
          <a:p>
            <a:r>
              <a:rPr lang="en-US" b="1" dirty="0"/>
              <a:t>Leadership qualities we practiced</a:t>
            </a:r>
          </a:p>
        </p:txBody>
      </p:sp>
      <p:sp>
        <p:nvSpPr>
          <p:cNvPr id="4" name="Slide Number Placeholder 3">
            <a:extLst>
              <a:ext uri="{FF2B5EF4-FFF2-40B4-BE49-F238E27FC236}">
                <a16:creationId xmlns:a16="http://schemas.microsoft.com/office/drawing/2014/main" id="{F684FBBD-D24E-15EA-390D-4A3D6CD748FF}"/>
              </a:ext>
            </a:extLst>
          </p:cNvPr>
          <p:cNvSpPr>
            <a:spLocks noGrp="1"/>
          </p:cNvSpPr>
          <p:nvPr>
            <p:ph type="sldNum" sz="quarter" idx="12"/>
          </p:nvPr>
        </p:nvSpPr>
        <p:spPr>
          <a:xfrm>
            <a:off x="10307782" y="6356350"/>
            <a:ext cx="1046018" cy="365125"/>
          </a:xfrm>
        </p:spPr>
        <p:txBody>
          <a:bodyPr/>
          <a:lstStyle/>
          <a:p>
            <a:fld id="{D292B180-B274-DE43-B36F-C827C7616C05}" type="slidenum">
              <a:rPr lang="en-US" smtClean="0"/>
              <a:t>83</a:t>
            </a:fld>
            <a:endParaRPr lang="en-US" dirty="0"/>
          </a:p>
        </p:txBody>
      </p:sp>
      <p:pic>
        <p:nvPicPr>
          <p:cNvPr id="36" name="Graphic 35" descr="Reflection with solid fill">
            <a:extLst>
              <a:ext uri="{FF2B5EF4-FFF2-40B4-BE49-F238E27FC236}">
                <a16:creationId xmlns:a16="http://schemas.microsoft.com/office/drawing/2014/main" id="{EEE6EF1A-5370-A628-91C6-833828786FC1}"/>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724084" y="1947735"/>
            <a:ext cx="914400" cy="914400"/>
          </a:xfrm>
          <a:prstGeom prst="rect">
            <a:avLst/>
          </a:prstGeom>
        </p:spPr>
      </p:pic>
      <p:pic>
        <p:nvPicPr>
          <p:cNvPr id="37" name="Graphic 36" descr="Care with solid fill">
            <a:extLst>
              <a:ext uri="{FF2B5EF4-FFF2-40B4-BE49-F238E27FC236}">
                <a16:creationId xmlns:a16="http://schemas.microsoft.com/office/drawing/2014/main" id="{7A31E1FA-7CFE-A7CA-C249-102CA67ADA6C}"/>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282361" y="1947735"/>
            <a:ext cx="914400" cy="914400"/>
          </a:xfrm>
          <a:prstGeom prst="rect">
            <a:avLst/>
          </a:prstGeom>
        </p:spPr>
      </p:pic>
      <p:sp>
        <p:nvSpPr>
          <p:cNvPr id="38" name="TextBox 37">
            <a:extLst>
              <a:ext uri="{FF2B5EF4-FFF2-40B4-BE49-F238E27FC236}">
                <a16:creationId xmlns:a16="http://schemas.microsoft.com/office/drawing/2014/main" id="{A0314B9C-E82A-D29E-91F1-3DA0609F937E}"/>
              </a:ext>
            </a:extLst>
          </p:cNvPr>
          <p:cNvSpPr txBox="1"/>
          <p:nvPr/>
        </p:nvSpPr>
        <p:spPr>
          <a:xfrm>
            <a:off x="343225" y="1105807"/>
            <a:ext cx="9572671" cy="461665"/>
          </a:xfrm>
          <a:prstGeom prst="rect">
            <a:avLst/>
          </a:prstGeom>
          <a:noFill/>
        </p:spPr>
        <p:txBody>
          <a:bodyPr wrap="square" rtlCol="0">
            <a:spAutoFit/>
          </a:bodyPr>
          <a:lstStyle/>
          <a:p>
            <a:r>
              <a:rPr lang="en-US" sz="2400" dirty="0"/>
              <a:t>We’ve worked our </a:t>
            </a:r>
            <a:r>
              <a:rPr lang="en-US" sz="2400" b="1" dirty="0"/>
              <a:t>emotional intelligence </a:t>
            </a:r>
            <a:r>
              <a:rPr lang="en-US" sz="2400" dirty="0"/>
              <a:t>muscles in this session!</a:t>
            </a:r>
          </a:p>
        </p:txBody>
      </p:sp>
      <p:sp>
        <p:nvSpPr>
          <p:cNvPr id="5" name="TextBox 4">
            <a:extLst>
              <a:ext uri="{FF2B5EF4-FFF2-40B4-BE49-F238E27FC236}">
                <a16:creationId xmlns:a16="http://schemas.microsoft.com/office/drawing/2014/main" id="{30EA96A1-3B11-1BEE-DC37-1242003FF4AE}"/>
              </a:ext>
            </a:extLst>
          </p:cNvPr>
          <p:cNvSpPr txBox="1"/>
          <p:nvPr/>
        </p:nvSpPr>
        <p:spPr>
          <a:xfrm>
            <a:off x="5894905" y="3683145"/>
            <a:ext cx="5523884" cy="461665"/>
          </a:xfrm>
          <a:prstGeom prst="rect">
            <a:avLst/>
          </a:prstGeom>
          <a:noFill/>
        </p:spPr>
        <p:txBody>
          <a:bodyPr wrap="square" rtlCol="0">
            <a:spAutoFit/>
          </a:bodyPr>
          <a:lstStyle/>
          <a:p>
            <a:r>
              <a:rPr lang="en-US" sz="2400" dirty="0"/>
              <a:t>In the next two sessions we will work on:</a:t>
            </a:r>
          </a:p>
        </p:txBody>
      </p:sp>
      <p:sp>
        <p:nvSpPr>
          <p:cNvPr id="6" name="TextBox 5">
            <a:extLst>
              <a:ext uri="{FF2B5EF4-FFF2-40B4-BE49-F238E27FC236}">
                <a16:creationId xmlns:a16="http://schemas.microsoft.com/office/drawing/2014/main" id="{2BFB1332-ECD9-3EE5-5EFB-FA2752486943}"/>
              </a:ext>
            </a:extLst>
          </p:cNvPr>
          <p:cNvSpPr txBox="1"/>
          <p:nvPr/>
        </p:nvSpPr>
        <p:spPr>
          <a:xfrm>
            <a:off x="10094596" y="5450132"/>
            <a:ext cx="2001830" cy="461665"/>
          </a:xfrm>
          <a:prstGeom prst="rect">
            <a:avLst/>
          </a:prstGeom>
          <a:noFill/>
        </p:spPr>
        <p:txBody>
          <a:bodyPr wrap="none" rtlCol="0">
            <a:spAutoFit/>
          </a:bodyPr>
          <a:lstStyle/>
          <a:p>
            <a:r>
              <a:rPr lang="en-US" sz="2400" dirty="0"/>
              <a:t>Collaboration</a:t>
            </a:r>
          </a:p>
        </p:txBody>
      </p:sp>
      <p:sp>
        <p:nvSpPr>
          <p:cNvPr id="15" name="TextBox 14">
            <a:extLst>
              <a:ext uri="{FF2B5EF4-FFF2-40B4-BE49-F238E27FC236}">
                <a16:creationId xmlns:a16="http://schemas.microsoft.com/office/drawing/2014/main" id="{40A4657E-2ED1-1CED-8B2D-19DCA3707AF5}"/>
              </a:ext>
            </a:extLst>
          </p:cNvPr>
          <p:cNvSpPr txBox="1"/>
          <p:nvPr/>
        </p:nvSpPr>
        <p:spPr>
          <a:xfrm>
            <a:off x="7768180" y="5450131"/>
            <a:ext cx="2299797" cy="461665"/>
          </a:xfrm>
          <a:prstGeom prst="rect">
            <a:avLst/>
          </a:prstGeom>
          <a:noFill/>
        </p:spPr>
        <p:txBody>
          <a:bodyPr wrap="none" rtlCol="0">
            <a:spAutoFit/>
          </a:bodyPr>
          <a:lstStyle/>
          <a:p>
            <a:r>
              <a:rPr lang="en-US" sz="2400" dirty="0"/>
              <a:t>Problem solving</a:t>
            </a:r>
          </a:p>
        </p:txBody>
      </p:sp>
      <p:pic>
        <p:nvPicPr>
          <p:cNvPr id="17" name="Graphic 16" descr="Puzzle pieces with solid fill">
            <a:extLst>
              <a:ext uri="{FF2B5EF4-FFF2-40B4-BE49-F238E27FC236}">
                <a16:creationId xmlns:a16="http://schemas.microsoft.com/office/drawing/2014/main" id="{CFA2DC2B-5AED-3256-E4D6-4A1C4B5B1AF1}"/>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8460879" y="4241214"/>
            <a:ext cx="914400" cy="914400"/>
          </a:xfrm>
          <a:prstGeom prst="rect">
            <a:avLst/>
          </a:prstGeom>
        </p:spPr>
      </p:pic>
      <p:pic>
        <p:nvPicPr>
          <p:cNvPr id="18" name="Graphic 17" descr="Cheers with solid fill">
            <a:extLst>
              <a:ext uri="{FF2B5EF4-FFF2-40B4-BE49-F238E27FC236}">
                <a16:creationId xmlns:a16="http://schemas.microsoft.com/office/drawing/2014/main" id="{BF9D58D2-A229-94BE-9BD8-5A634B633BEF}"/>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0644280" y="4375885"/>
            <a:ext cx="914400" cy="914400"/>
          </a:xfrm>
          <a:prstGeom prst="rect">
            <a:avLst/>
          </a:prstGeom>
        </p:spPr>
      </p:pic>
      <p:sp>
        <p:nvSpPr>
          <p:cNvPr id="19" name="TextBox 18">
            <a:extLst>
              <a:ext uri="{FF2B5EF4-FFF2-40B4-BE49-F238E27FC236}">
                <a16:creationId xmlns:a16="http://schemas.microsoft.com/office/drawing/2014/main" id="{2C2CC01B-2504-89F0-DFF4-827DF31119E4}"/>
              </a:ext>
            </a:extLst>
          </p:cNvPr>
          <p:cNvSpPr txBox="1"/>
          <p:nvPr/>
        </p:nvSpPr>
        <p:spPr>
          <a:xfrm>
            <a:off x="1058669" y="2967335"/>
            <a:ext cx="1361783" cy="461665"/>
          </a:xfrm>
          <a:prstGeom prst="rect">
            <a:avLst/>
          </a:prstGeom>
          <a:noFill/>
        </p:spPr>
        <p:txBody>
          <a:bodyPr wrap="square" rtlCol="0">
            <a:spAutoFit/>
          </a:bodyPr>
          <a:lstStyle/>
          <a:p>
            <a:r>
              <a:rPr lang="en-US" sz="2400" dirty="0"/>
              <a:t>Empathy</a:t>
            </a:r>
          </a:p>
        </p:txBody>
      </p:sp>
      <p:sp>
        <p:nvSpPr>
          <p:cNvPr id="26" name="TextBox 25">
            <a:extLst>
              <a:ext uri="{FF2B5EF4-FFF2-40B4-BE49-F238E27FC236}">
                <a16:creationId xmlns:a16="http://schemas.microsoft.com/office/drawing/2014/main" id="{28BDAD98-A4C6-5E82-27CA-E998023DD6AF}"/>
              </a:ext>
            </a:extLst>
          </p:cNvPr>
          <p:cNvSpPr txBox="1"/>
          <p:nvPr/>
        </p:nvSpPr>
        <p:spPr>
          <a:xfrm>
            <a:off x="3205351" y="2967334"/>
            <a:ext cx="2233497" cy="461665"/>
          </a:xfrm>
          <a:prstGeom prst="rect">
            <a:avLst/>
          </a:prstGeom>
          <a:noFill/>
        </p:spPr>
        <p:txBody>
          <a:bodyPr wrap="none" rtlCol="0">
            <a:spAutoFit/>
          </a:bodyPr>
          <a:lstStyle/>
          <a:p>
            <a:r>
              <a:rPr lang="en-US" sz="2400" dirty="0"/>
              <a:t>Self-awareness</a:t>
            </a:r>
          </a:p>
        </p:txBody>
      </p:sp>
      <p:pic>
        <p:nvPicPr>
          <p:cNvPr id="10" name="Graphic 9" descr="Arrow: Slight curve with solid fill">
            <a:extLst>
              <a:ext uri="{FF2B5EF4-FFF2-40B4-BE49-F238E27FC236}">
                <a16:creationId xmlns:a16="http://schemas.microsoft.com/office/drawing/2014/main" id="{FF668525-1609-810A-1130-BFCE246288E6}"/>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rot="1912168">
            <a:off x="3765921" y="3661667"/>
            <a:ext cx="1712937" cy="1712937"/>
          </a:xfrm>
          <a:prstGeom prst="rect">
            <a:avLst/>
          </a:prstGeom>
        </p:spPr>
      </p:pic>
      <p:pic>
        <p:nvPicPr>
          <p:cNvPr id="3" name="Graphic 2" descr="Books with solid fill">
            <a:extLst>
              <a:ext uri="{FF2B5EF4-FFF2-40B4-BE49-F238E27FC236}">
                <a16:creationId xmlns:a16="http://schemas.microsoft.com/office/drawing/2014/main" id="{656424D6-37B2-E786-9F36-27DBBDBBBE7F}"/>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6096000" y="4447286"/>
            <a:ext cx="807522" cy="807522"/>
          </a:xfrm>
          <a:prstGeom prst="rect">
            <a:avLst/>
          </a:prstGeom>
        </p:spPr>
      </p:pic>
      <p:sp>
        <p:nvSpPr>
          <p:cNvPr id="11" name="TextBox 10">
            <a:extLst>
              <a:ext uri="{FF2B5EF4-FFF2-40B4-BE49-F238E27FC236}">
                <a16:creationId xmlns:a16="http://schemas.microsoft.com/office/drawing/2014/main" id="{7D0BD06B-E81C-4512-15E8-774071322F89}"/>
              </a:ext>
            </a:extLst>
          </p:cNvPr>
          <p:cNvSpPr txBox="1"/>
          <p:nvPr/>
        </p:nvSpPr>
        <p:spPr>
          <a:xfrm>
            <a:off x="5847474" y="5450130"/>
            <a:ext cx="1640129" cy="461665"/>
          </a:xfrm>
          <a:prstGeom prst="rect">
            <a:avLst/>
          </a:prstGeom>
          <a:noFill/>
        </p:spPr>
        <p:txBody>
          <a:bodyPr wrap="none" rtlCol="0">
            <a:spAutoFit/>
          </a:bodyPr>
          <a:lstStyle/>
          <a:p>
            <a:r>
              <a:rPr lang="en-US" sz="2400" dirty="0"/>
              <a:t>Knowledge</a:t>
            </a:r>
          </a:p>
        </p:txBody>
      </p:sp>
      <p:sp>
        <p:nvSpPr>
          <p:cNvPr id="12" name="TextBox 11">
            <a:extLst>
              <a:ext uri="{FF2B5EF4-FFF2-40B4-BE49-F238E27FC236}">
                <a16:creationId xmlns:a16="http://schemas.microsoft.com/office/drawing/2014/main" id="{130FE75E-34AB-99F8-D8CC-D9907A02FFD0}"/>
              </a:ext>
            </a:extLst>
          </p:cNvPr>
          <p:cNvSpPr txBox="1"/>
          <p:nvPr/>
        </p:nvSpPr>
        <p:spPr>
          <a:xfrm>
            <a:off x="184097" y="5461212"/>
            <a:ext cx="4631546" cy="1015663"/>
          </a:xfrm>
          <a:prstGeom prst="rect">
            <a:avLst/>
          </a:prstGeom>
          <a:solidFill>
            <a:schemeClr val="bg1">
              <a:lumMod val="75000"/>
              <a:alpha val="21259"/>
            </a:schemeClr>
          </a:solidFill>
        </p:spPr>
        <p:txBody>
          <a:bodyPr wrap="square" rtlCol="0">
            <a:spAutoFit/>
          </a:bodyPr>
          <a:lstStyle/>
          <a:p>
            <a:r>
              <a:rPr lang="en-US" sz="2000" b="1" dirty="0"/>
              <a:t>Next two sessions:</a:t>
            </a:r>
          </a:p>
          <a:p>
            <a:r>
              <a:rPr lang="en-US" sz="2000" dirty="0"/>
              <a:t>Challenges in leadership: access </a:t>
            </a:r>
            <a:r>
              <a:rPr lang="en-US" sz="2000" dirty="0">
                <a:hlinkClick r:id="rId11"/>
              </a:rPr>
              <a:t>here</a:t>
            </a:r>
            <a:endParaRPr lang="en-US" sz="2000" dirty="0"/>
          </a:p>
          <a:p>
            <a:r>
              <a:rPr lang="en-US" sz="2000" dirty="0"/>
              <a:t>Strategies in leadership: access </a:t>
            </a:r>
            <a:r>
              <a:rPr lang="en-US" sz="2000" dirty="0">
                <a:hlinkClick r:id="rId12"/>
              </a:rPr>
              <a:t>here</a:t>
            </a:r>
            <a:endParaRPr lang="en-US" sz="2000" dirty="0"/>
          </a:p>
        </p:txBody>
      </p:sp>
    </p:spTree>
    <p:extLst>
      <p:ext uri="{BB962C8B-B14F-4D97-AF65-F5344CB8AC3E}">
        <p14:creationId xmlns:p14="http://schemas.microsoft.com/office/powerpoint/2010/main" val="5024386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4BF30-8CF8-D633-F307-F7BB82D2671D}"/>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7D264568-430F-8006-6A51-B27EB69B38DD}"/>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6E1133AA-272F-A965-DC6E-52047B03AD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EE816D83-19E7-BB9A-2D16-37DE739A9BB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3FBEF8AF-DDFE-68EC-1AF5-F6EE6D75351A}"/>
              </a:ext>
            </a:extLst>
          </p:cNvPr>
          <p:cNvSpPr txBox="1">
            <a:spLocks/>
          </p:cNvSpPr>
          <p:nvPr/>
        </p:nvSpPr>
        <p:spPr>
          <a:xfrm>
            <a:off x="0" y="1"/>
            <a:ext cx="12192000" cy="830998"/>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Survey</a:t>
            </a:r>
          </a:p>
        </p:txBody>
      </p:sp>
      <p:sp>
        <p:nvSpPr>
          <p:cNvPr id="2" name="Slide Number Placeholder 1">
            <a:extLst>
              <a:ext uri="{FF2B5EF4-FFF2-40B4-BE49-F238E27FC236}">
                <a16:creationId xmlns:a16="http://schemas.microsoft.com/office/drawing/2014/main" id="{6373BE42-393E-0D5D-9A59-7936C8E6BCE0}"/>
              </a:ext>
            </a:extLst>
          </p:cNvPr>
          <p:cNvSpPr>
            <a:spLocks noGrp="1"/>
          </p:cNvSpPr>
          <p:nvPr>
            <p:ph type="sldNum" sz="quarter" idx="12"/>
          </p:nvPr>
        </p:nvSpPr>
        <p:spPr/>
        <p:txBody>
          <a:bodyPr/>
          <a:lstStyle/>
          <a:p>
            <a:fld id="{D292B180-B274-DE43-B36F-C827C7616C05}" type="slidenum">
              <a:rPr lang="en-US" smtClean="0"/>
              <a:t>84</a:t>
            </a:fld>
            <a:endParaRPr lang="en-US"/>
          </a:p>
        </p:txBody>
      </p:sp>
      <p:sp>
        <p:nvSpPr>
          <p:cNvPr id="6" name="TextBox 5">
            <a:extLst>
              <a:ext uri="{FF2B5EF4-FFF2-40B4-BE49-F238E27FC236}">
                <a16:creationId xmlns:a16="http://schemas.microsoft.com/office/drawing/2014/main" id="{6260805D-B171-502E-9993-0A2D303ED46B}"/>
              </a:ext>
            </a:extLst>
          </p:cNvPr>
          <p:cNvSpPr txBox="1"/>
          <p:nvPr/>
        </p:nvSpPr>
        <p:spPr>
          <a:xfrm>
            <a:off x="561109" y="1479222"/>
            <a:ext cx="6220690" cy="461665"/>
          </a:xfrm>
          <a:prstGeom prst="rect">
            <a:avLst/>
          </a:prstGeom>
          <a:noFill/>
        </p:spPr>
        <p:txBody>
          <a:bodyPr wrap="square">
            <a:spAutoFit/>
          </a:bodyPr>
          <a:lstStyle/>
          <a:p>
            <a:pPr rtl="0" fontAlgn="t">
              <a:buNone/>
            </a:pPr>
            <a:r>
              <a:rPr lang="en-GB" sz="2400" u="none" strike="noStrike" dirty="0">
                <a:effectLst/>
              </a:rPr>
              <a:t>1. Have you ever had an advocacy role?</a:t>
            </a:r>
            <a:endParaRPr lang="en-GB" sz="2400" dirty="0">
              <a:effectLst/>
            </a:endParaRPr>
          </a:p>
        </p:txBody>
      </p:sp>
      <p:sp>
        <p:nvSpPr>
          <p:cNvPr id="22" name="TextBox 21">
            <a:extLst>
              <a:ext uri="{FF2B5EF4-FFF2-40B4-BE49-F238E27FC236}">
                <a16:creationId xmlns:a16="http://schemas.microsoft.com/office/drawing/2014/main" id="{5D1697FA-1EF4-E119-7521-43B1861BC693}"/>
              </a:ext>
            </a:extLst>
          </p:cNvPr>
          <p:cNvSpPr txBox="1"/>
          <p:nvPr/>
        </p:nvSpPr>
        <p:spPr>
          <a:xfrm>
            <a:off x="690234" y="4032256"/>
            <a:ext cx="9926782" cy="830997"/>
          </a:xfrm>
          <a:prstGeom prst="rect">
            <a:avLst/>
          </a:prstGeom>
          <a:noFill/>
        </p:spPr>
        <p:txBody>
          <a:bodyPr wrap="square">
            <a:spAutoFit/>
          </a:bodyPr>
          <a:lstStyle/>
          <a:p>
            <a:r>
              <a:rPr lang="en-US" sz="2400" dirty="0"/>
              <a:t>3. recognize how different elements of the working environment influences how you lead?</a:t>
            </a:r>
          </a:p>
        </p:txBody>
      </p:sp>
      <p:sp>
        <p:nvSpPr>
          <p:cNvPr id="23" name="TextBox 22">
            <a:extLst>
              <a:ext uri="{FF2B5EF4-FFF2-40B4-BE49-F238E27FC236}">
                <a16:creationId xmlns:a16="http://schemas.microsoft.com/office/drawing/2014/main" id="{15D7944E-8D62-801E-FA35-A6BE585B557D}"/>
              </a:ext>
            </a:extLst>
          </p:cNvPr>
          <p:cNvSpPr txBox="1"/>
          <p:nvPr/>
        </p:nvSpPr>
        <p:spPr>
          <a:xfrm>
            <a:off x="709910" y="2250780"/>
            <a:ext cx="5386090" cy="830997"/>
          </a:xfrm>
          <a:prstGeom prst="rect">
            <a:avLst/>
          </a:prstGeom>
          <a:noFill/>
        </p:spPr>
        <p:txBody>
          <a:bodyPr wrap="none" rtlCol="0">
            <a:spAutoFit/>
          </a:bodyPr>
          <a:lstStyle/>
          <a:p>
            <a:r>
              <a:rPr lang="en-US" sz="2400" dirty="0"/>
              <a:t>How confident are you in your ability to:</a:t>
            </a:r>
          </a:p>
          <a:p>
            <a:r>
              <a:rPr lang="en-US" sz="2400" dirty="0"/>
              <a:t> </a:t>
            </a:r>
          </a:p>
        </p:txBody>
      </p:sp>
      <p:sp>
        <p:nvSpPr>
          <p:cNvPr id="24" name="TextBox 23">
            <a:extLst>
              <a:ext uri="{FF2B5EF4-FFF2-40B4-BE49-F238E27FC236}">
                <a16:creationId xmlns:a16="http://schemas.microsoft.com/office/drawing/2014/main" id="{0E98D40D-F1E8-A800-14C4-E7FD918BD351}"/>
              </a:ext>
            </a:extLst>
          </p:cNvPr>
          <p:cNvSpPr txBox="1"/>
          <p:nvPr/>
        </p:nvSpPr>
        <p:spPr>
          <a:xfrm>
            <a:off x="709910" y="2712445"/>
            <a:ext cx="9165009" cy="369332"/>
          </a:xfrm>
          <a:prstGeom prst="rect">
            <a:avLst/>
          </a:prstGeom>
          <a:noFill/>
        </p:spPr>
        <p:txBody>
          <a:bodyPr wrap="none" rtlCol="0">
            <a:spAutoFit/>
          </a:bodyPr>
          <a:lstStyle/>
          <a:p>
            <a:r>
              <a:rPr lang="en-US" i="1" dirty="0"/>
              <a:t>0 = not confident at all, 1 = mostly not confident, 2 = somewhat confident, 3 = very confident</a:t>
            </a:r>
          </a:p>
        </p:txBody>
      </p:sp>
      <p:sp>
        <p:nvSpPr>
          <p:cNvPr id="27" name="TextBox 26">
            <a:extLst>
              <a:ext uri="{FF2B5EF4-FFF2-40B4-BE49-F238E27FC236}">
                <a16:creationId xmlns:a16="http://schemas.microsoft.com/office/drawing/2014/main" id="{AD3043AA-25AA-9577-AC1F-E2CAA927FFCC}"/>
              </a:ext>
            </a:extLst>
          </p:cNvPr>
          <p:cNvSpPr txBox="1"/>
          <p:nvPr/>
        </p:nvSpPr>
        <p:spPr>
          <a:xfrm>
            <a:off x="690234" y="3360668"/>
            <a:ext cx="6220690" cy="461665"/>
          </a:xfrm>
          <a:prstGeom prst="rect">
            <a:avLst/>
          </a:prstGeom>
          <a:noFill/>
        </p:spPr>
        <p:txBody>
          <a:bodyPr wrap="square">
            <a:spAutoFit/>
          </a:bodyPr>
          <a:lstStyle/>
          <a:p>
            <a:r>
              <a:rPr lang="en-US" sz="2400" dirty="0"/>
              <a:t>2. identify my own leadership values?</a:t>
            </a:r>
            <a:endParaRPr lang="en-US" dirty="0"/>
          </a:p>
        </p:txBody>
      </p:sp>
    </p:spTree>
    <p:extLst>
      <p:ext uri="{BB962C8B-B14F-4D97-AF65-F5344CB8AC3E}">
        <p14:creationId xmlns:p14="http://schemas.microsoft.com/office/powerpoint/2010/main" val="95842586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17870F-E1DA-8443-A1DE-3E104E1820E0}"/>
            </a:ext>
          </a:extLst>
        </p:cNvPr>
        <p:cNvGrpSpPr/>
        <p:nvPr/>
      </p:nvGrpSpPr>
      <p:grpSpPr>
        <a:xfrm>
          <a:off x="0" y="0"/>
          <a:ext cx="0" cy="0"/>
          <a:chOff x="0" y="0"/>
          <a:chExt cx="0" cy="0"/>
        </a:xfrm>
      </p:grpSpPr>
      <p:grpSp>
        <p:nvGrpSpPr>
          <p:cNvPr id="7" name="Group 6">
            <a:extLst>
              <a:ext uri="{FF2B5EF4-FFF2-40B4-BE49-F238E27FC236}">
                <a16:creationId xmlns:a16="http://schemas.microsoft.com/office/drawing/2014/main" id="{E7ED6692-3A6F-D991-0A89-9879E5871344}"/>
              </a:ext>
            </a:extLst>
          </p:cNvPr>
          <p:cNvGrpSpPr/>
          <p:nvPr/>
        </p:nvGrpSpPr>
        <p:grpSpPr>
          <a:xfrm>
            <a:off x="10644280" y="6476875"/>
            <a:ext cx="1474613" cy="325672"/>
            <a:chOff x="19317" y="2690018"/>
            <a:chExt cx="11784755" cy="2025180"/>
          </a:xfrm>
        </p:grpSpPr>
        <p:pic>
          <p:nvPicPr>
            <p:cNvPr id="8" name="Picture 2">
              <a:extLst>
                <a:ext uri="{FF2B5EF4-FFF2-40B4-BE49-F238E27FC236}">
                  <a16:creationId xmlns:a16="http://schemas.microsoft.com/office/drawing/2014/main" id="{C5D1C1ED-62D8-EA9B-7C92-EBF96C23A9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1B7786B5-3350-AA77-C318-63F9DE9FFDC6}"/>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2" name="Title 1">
            <a:extLst>
              <a:ext uri="{FF2B5EF4-FFF2-40B4-BE49-F238E27FC236}">
                <a16:creationId xmlns:a16="http://schemas.microsoft.com/office/drawing/2014/main" id="{78A5D707-EB17-2F1E-6E21-8CDC1101079B}"/>
              </a:ext>
            </a:extLst>
          </p:cNvPr>
          <p:cNvSpPr>
            <a:spLocks noGrp="1"/>
          </p:cNvSpPr>
          <p:nvPr>
            <p:ph type="title"/>
          </p:nvPr>
        </p:nvSpPr>
        <p:spPr>
          <a:xfrm>
            <a:off x="0" y="0"/>
            <a:ext cx="12192000" cy="1009403"/>
          </a:xfrm>
        </p:spPr>
        <p:txBody>
          <a:bodyPr/>
          <a:lstStyle/>
          <a:p>
            <a:r>
              <a:rPr lang="en-US" b="1" dirty="0"/>
              <a:t>Questions</a:t>
            </a:r>
          </a:p>
        </p:txBody>
      </p:sp>
      <p:sp>
        <p:nvSpPr>
          <p:cNvPr id="4" name="Slide Number Placeholder 3">
            <a:extLst>
              <a:ext uri="{FF2B5EF4-FFF2-40B4-BE49-F238E27FC236}">
                <a16:creationId xmlns:a16="http://schemas.microsoft.com/office/drawing/2014/main" id="{FED9C24E-1FBF-FB2A-8E5E-8C4EF4C4C524}"/>
              </a:ext>
            </a:extLst>
          </p:cNvPr>
          <p:cNvSpPr>
            <a:spLocks noGrp="1"/>
          </p:cNvSpPr>
          <p:nvPr>
            <p:ph type="sldNum" sz="quarter" idx="12"/>
          </p:nvPr>
        </p:nvSpPr>
        <p:spPr>
          <a:xfrm>
            <a:off x="10307782" y="6356350"/>
            <a:ext cx="1046018" cy="365125"/>
          </a:xfrm>
        </p:spPr>
        <p:txBody>
          <a:bodyPr/>
          <a:lstStyle/>
          <a:p>
            <a:fld id="{D292B180-B274-DE43-B36F-C827C7616C05}" type="slidenum">
              <a:rPr lang="en-US" smtClean="0"/>
              <a:t>85</a:t>
            </a:fld>
            <a:endParaRPr lang="en-US" dirty="0"/>
          </a:p>
        </p:txBody>
      </p:sp>
      <p:pic>
        <p:nvPicPr>
          <p:cNvPr id="11" name="Picture 10">
            <a:extLst>
              <a:ext uri="{FF2B5EF4-FFF2-40B4-BE49-F238E27FC236}">
                <a16:creationId xmlns:a16="http://schemas.microsoft.com/office/drawing/2014/main" id="{4C39DEFB-097F-7151-3B3A-DAC52F6F72AA}"/>
              </a:ext>
            </a:extLst>
          </p:cNvPr>
          <p:cNvPicPr>
            <a:picLocks noChangeAspect="1"/>
          </p:cNvPicPr>
          <p:nvPr/>
        </p:nvPicPr>
        <p:blipFill>
          <a:blip r:embed="rId5"/>
          <a:srcRect b="7683"/>
          <a:stretch>
            <a:fillRect/>
          </a:stretch>
        </p:blipFill>
        <p:spPr>
          <a:xfrm>
            <a:off x="2666999" y="155065"/>
            <a:ext cx="7170683" cy="6619731"/>
          </a:xfrm>
          <a:prstGeom prst="rect">
            <a:avLst/>
          </a:prstGeom>
        </p:spPr>
      </p:pic>
    </p:spTree>
    <p:extLst>
      <p:ext uri="{BB962C8B-B14F-4D97-AF65-F5344CB8AC3E}">
        <p14:creationId xmlns:p14="http://schemas.microsoft.com/office/powerpoint/2010/main" val="352837880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3504A-4B41-97AD-815E-102D7F46B5CA}"/>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1A81D009-31F2-CC9A-609E-FDE158FDE5DF}"/>
              </a:ext>
            </a:extLst>
          </p:cNvPr>
          <p:cNvGrpSpPr/>
          <p:nvPr/>
        </p:nvGrpSpPr>
        <p:grpSpPr>
          <a:xfrm>
            <a:off x="10644280" y="6476875"/>
            <a:ext cx="1474613" cy="325672"/>
            <a:chOff x="19317" y="2690018"/>
            <a:chExt cx="11784755" cy="2025180"/>
          </a:xfrm>
        </p:grpSpPr>
        <p:pic>
          <p:nvPicPr>
            <p:cNvPr id="5" name="Picture 2">
              <a:extLst>
                <a:ext uri="{FF2B5EF4-FFF2-40B4-BE49-F238E27FC236}">
                  <a16:creationId xmlns:a16="http://schemas.microsoft.com/office/drawing/2014/main" id="{1C4DA1C5-6A10-A13D-1B2F-A117AE5C0F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65CCAFAE-76F0-74C6-620F-A9334478455D}"/>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3" name="Slide Number Placeholder 2">
            <a:extLst>
              <a:ext uri="{FF2B5EF4-FFF2-40B4-BE49-F238E27FC236}">
                <a16:creationId xmlns:a16="http://schemas.microsoft.com/office/drawing/2014/main" id="{D3694398-4FFB-E740-5EB3-3E82C700B254}"/>
              </a:ext>
            </a:extLst>
          </p:cNvPr>
          <p:cNvSpPr>
            <a:spLocks noGrp="1"/>
          </p:cNvSpPr>
          <p:nvPr>
            <p:ph type="sldNum" sz="quarter" idx="12"/>
          </p:nvPr>
        </p:nvSpPr>
        <p:spPr/>
        <p:txBody>
          <a:bodyPr/>
          <a:lstStyle/>
          <a:p>
            <a:fld id="{D292B180-B274-DE43-B36F-C827C7616C05}" type="slidenum">
              <a:rPr lang="en-US" smtClean="0"/>
              <a:t>86</a:t>
            </a:fld>
            <a:endParaRPr lang="en-US"/>
          </a:p>
        </p:txBody>
      </p:sp>
      <p:sp>
        <p:nvSpPr>
          <p:cNvPr id="8" name="Title 1">
            <a:extLst>
              <a:ext uri="{FF2B5EF4-FFF2-40B4-BE49-F238E27FC236}">
                <a16:creationId xmlns:a16="http://schemas.microsoft.com/office/drawing/2014/main" id="{2E3665AF-8B39-24C7-63DD-2C60CE297042}"/>
              </a:ext>
            </a:extLst>
          </p:cNvPr>
          <p:cNvSpPr>
            <a:spLocks noGrp="1"/>
          </p:cNvSpPr>
          <p:nvPr>
            <p:ph type="title"/>
          </p:nvPr>
        </p:nvSpPr>
        <p:spPr>
          <a:xfrm>
            <a:off x="0" y="0"/>
            <a:ext cx="12192000" cy="794791"/>
          </a:xfrm>
        </p:spPr>
        <p:txBody>
          <a:bodyPr/>
          <a:lstStyle/>
          <a:p>
            <a:r>
              <a:rPr lang="en-US" b="1" dirty="0"/>
              <a:t>References</a:t>
            </a:r>
          </a:p>
        </p:txBody>
      </p:sp>
      <p:sp>
        <p:nvSpPr>
          <p:cNvPr id="9" name="TextBox 8">
            <a:extLst>
              <a:ext uri="{FF2B5EF4-FFF2-40B4-BE49-F238E27FC236}">
                <a16:creationId xmlns:a16="http://schemas.microsoft.com/office/drawing/2014/main" id="{31549D7F-4474-812D-E787-3594FDE7BBDD}"/>
              </a:ext>
            </a:extLst>
          </p:cNvPr>
          <p:cNvSpPr txBox="1"/>
          <p:nvPr/>
        </p:nvSpPr>
        <p:spPr>
          <a:xfrm>
            <a:off x="73107" y="631018"/>
            <a:ext cx="12045787" cy="6678751"/>
          </a:xfrm>
          <a:prstGeom prst="rect">
            <a:avLst/>
          </a:prstGeom>
          <a:noFill/>
        </p:spPr>
        <p:txBody>
          <a:bodyPr wrap="square" rtlCol="0">
            <a:spAutoFit/>
          </a:bodyPr>
          <a:lstStyle/>
          <a:p>
            <a:r>
              <a:rPr lang="en-GB" sz="1050" dirty="0"/>
              <a:t>Carroll, S. R., Herczog, E., Hudson, M., Russell, K., &amp; Stall, S. (2021). Operationalizing the CARE and FAIR Principles for Indigenous data futures. </a:t>
            </a:r>
            <a:r>
              <a:rPr lang="en-GB" sz="1050" i="1" dirty="0"/>
              <a:t>Scientific Data</a:t>
            </a:r>
            <a:r>
              <a:rPr lang="en-GB" sz="1050" dirty="0"/>
              <a:t>, </a:t>
            </a:r>
            <a:r>
              <a:rPr lang="en-GB" sz="1050" i="1" dirty="0"/>
              <a:t>8</a:t>
            </a:r>
            <a:r>
              <a:rPr lang="en-GB" sz="1050" dirty="0"/>
              <a:t>(1), 108. </a:t>
            </a:r>
            <a:r>
              <a:rPr lang="en-GB" sz="1050" dirty="0">
                <a:hlinkClick r:id="rId5"/>
              </a:rPr>
              <a:t>https://doi.org/10.1038/s41597-021-00892-0</a:t>
            </a:r>
            <a:endParaRPr lang="en-GB" sz="1050" dirty="0"/>
          </a:p>
          <a:p>
            <a:endParaRPr lang="en-GB" sz="1050" dirty="0"/>
          </a:p>
          <a:p>
            <a:r>
              <a:rPr lang="en-GB" sz="1050" dirty="0"/>
              <a:t>Centre for Teaching, Support and Innovation. (2026). </a:t>
            </a:r>
            <a:r>
              <a:rPr lang="en-GB" sz="1050" i="1" dirty="0"/>
              <a:t>1.3 Values, Goals, and Outcomes</a:t>
            </a:r>
            <a:r>
              <a:rPr lang="en-GB" sz="1050" dirty="0"/>
              <a:t>. Universal Design for Learning Foundations. </a:t>
            </a:r>
            <a:r>
              <a:rPr lang="en-GB" sz="1050" dirty="0">
                <a:hlinkClick r:id="rId6"/>
              </a:rPr>
              <a:t>https://q.utoronto.ca/courses/386447/pages/1-dot-3-values-goals-and-outcomes?module_item_id=7180870</a:t>
            </a:r>
            <a:endParaRPr lang="en-GB" sz="1050" dirty="0"/>
          </a:p>
          <a:p>
            <a:endParaRPr lang="en-GB" sz="1050" dirty="0"/>
          </a:p>
          <a:p>
            <a:r>
              <a:rPr lang="en-GB" sz="1050" dirty="0"/>
              <a:t>DeRue, D. S., &amp; Ashford, S. J. (2010). Who will lead and who will follow? A social process of leadership identity construction and organizations. </a:t>
            </a:r>
            <a:r>
              <a:rPr lang="en-GB" sz="1050" i="1" dirty="0"/>
              <a:t>The Academy of Management Review</a:t>
            </a:r>
            <a:r>
              <a:rPr lang="en-GB" sz="1050" dirty="0"/>
              <a:t>, </a:t>
            </a:r>
            <a:r>
              <a:rPr lang="en-GB" sz="1050" i="1" dirty="0"/>
              <a:t>35</a:t>
            </a:r>
            <a:r>
              <a:rPr lang="en-GB" sz="1050" dirty="0"/>
              <a:t>(4), 627–647. JSTOR. </a:t>
            </a:r>
            <a:r>
              <a:rPr lang="en-GB" sz="1050" dirty="0">
                <a:hlinkClick r:id="rId7"/>
              </a:rPr>
              <a:t>http://www.jstor.org/stable/29765008</a:t>
            </a:r>
            <a:endParaRPr lang="en-GB" sz="1050" dirty="0"/>
          </a:p>
          <a:p>
            <a:endParaRPr lang="en-GB" sz="1050" dirty="0"/>
          </a:p>
          <a:p>
            <a:r>
              <a:rPr lang="en-GB" sz="1050" dirty="0"/>
              <a:t>EOSC Open Science Observatory (2024). Open Science by Area / Training for Open Science. </a:t>
            </a:r>
            <a:r>
              <a:rPr lang="en-GB" sz="1050" u="sng" dirty="0">
                <a:hlinkClick r:id="rId8"/>
              </a:rPr>
              <a:t>https://www.eoscobservatory.eu/explore/open-science-by-area/training</a:t>
            </a:r>
            <a:endParaRPr lang="en-GB" sz="1050" u="sng" dirty="0"/>
          </a:p>
          <a:p>
            <a:endParaRPr lang="en-GB" sz="1050" dirty="0">
              <a:effectLst/>
            </a:endParaRPr>
          </a:p>
          <a:p>
            <a:r>
              <a:rPr lang="en-GB" sz="1050" dirty="0">
                <a:effectLst/>
              </a:rPr>
              <a:t>Gershenson, S., Holt, S. B., &amp; Papageorge, N. W. (2015). </a:t>
            </a:r>
            <a:r>
              <a:rPr lang="en-GB" sz="1050" i="1" dirty="0">
                <a:effectLst/>
              </a:rPr>
              <a:t>Who Believes in Me? The Effect of Student-Teacher Demographic Match on Teacher Expectations</a:t>
            </a:r>
            <a:r>
              <a:rPr lang="en-GB" sz="1050" dirty="0">
                <a:effectLst/>
              </a:rPr>
              <a:t>. W.E. Upjohn Institute. </a:t>
            </a:r>
            <a:r>
              <a:rPr lang="en-GB" sz="1050" dirty="0">
                <a:effectLst/>
                <a:hlinkClick r:id="rId9"/>
              </a:rPr>
              <a:t>https://doi.org/10.17848/wp15-231</a:t>
            </a:r>
            <a:endParaRPr lang="en-GB" sz="1050" dirty="0">
              <a:effectLst/>
            </a:endParaRPr>
          </a:p>
          <a:p>
            <a:endParaRPr lang="en-GB" sz="1050" dirty="0"/>
          </a:p>
          <a:p>
            <a:r>
              <a:rPr lang="en-GB" sz="1050" dirty="0"/>
              <a:t>Goleman, D. (2000). Emotional Intelligence: Leadership That Gets Results. Harvard Business Review. </a:t>
            </a:r>
            <a:br>
              <a:rPr lang="en-GB" sz="1050" dirty="0"/>
            </a:br>
            <a:r>
              <a:rPr lang="en-GB" sz="1050" dirty="0">
                <a:hlinkClick r:id="rId10"/>
              </a:rPr>
              <a:t>https://hbr.org/2000/03/leadership-that-gets-results</a:t>
            </a:r>
            <a:endParaRPr lang="en-GB" sz="1050" dirty="0"/>
          </a:p>
          <a:p>
            <a:endParaRPr lang="en-GB" sz="1050" dirty="0"/>
          </a:p>
          <a:p>
            <a:r>
              <a:rPr lang="en-GB" sz="1050" dirty="0"/>
              <a:t>Lacey, S., Ricken, J., &amp; Cassidy, S. (2026). </a:t>
            </a:r>
            <a:r>
              <a:rPr lang="en-GB" sz="1050" i="1" dirty="0"/>
              <a:t>Leadership to Strengthen Research Culture and Foster Responsible Conduct of Research: A Case Study</a:t>
            </a:r>
            <a:r>
              <a:rPr lang="en-GB" sz="1050" dirty="0"/>
              <a:t>. </a:t>
            </a:r>
            <a:r>
              <a:rPr lang="en-GB" sz="1050" dirty="0" err="1"/>
              <a:t>EdArXiv</a:t>
            </a:r>
            <a:r>
              <a:rPr lang="en-GB" sz="1050" dirty="0"/>
              <a:t>. </a:t>
            </a:r>
            <a:r>
              <a:rPr lang="en-GB" sz="1050" dirty="0">
                <a:hlinkClick r:id="rId11"/>
              </a:rPr>
              <a:t>https://doi.org/10.35542/osf.io/ws2cv_v1</a:t>
            </a:r>
            <a:endParaRPr lang="en-GB" sz="1050" dirty="0"/>
          </a:p>
          <a:p>
            <a:endParaRPr lang="en-GB" sz="1050" dirty="0"/>
          </a:p>
          <a:p>
            <a:r>
              <a:rPr lang="en-GB" sz="1050" dirty="0"/>
              <a:t>Leopold, T., Di Battista, A., Jativa, X., Sharma, S., Li, R., &amp; Grayling, S. (2025). Future of jobs report 2025. In </a:t>
            </a:r>
            <a:r>
              <a:rPr lang="en-GB" sz="1050" i="1" dirty="0"/>
              <a:t>World Economic Forum</a:t>
            </a:r>
            <a:r>
              <a:rPr lang="en-GB" sz="1050" dirty="0"/>
              <a:t>. </a:t>
            </a:r>
            <a:r>
              <a:rPr lang="en-GB" sz="1050" dirty="0">
                <a:hlinkClick r:id="rId12"/>
              </a:rPr>
              <a:t>https://www.weforum.org/publications/the-future-of-jobs-report-2025/</a:t>
            </a:r>
            <a:r>
              <a:rPr lang="en-GB" sz="1050" dirty="0"/>
              <a:t> </a:t>
            </a:r>
          </a:p>
          <a:p>
            <a:endParaRPr lang="en-GB" sz="1050" dirty="0"/>
          </a:p>
          <a:p>
            <a:r>
              <a:rPr lang="en-GB" sz="1050" dirty="0"/>
              <a:t>Middleton, S. L., Sulik, J., Iley, B. J., Elsherif, M. M., &amp; Azevedo, F. (2026). </a:t>
            </a:r>
            <a:r>
              <a:rPr lang="en-GB" sz="1050" i="1" dirty="0"/>
              <a:t>The Academic Wheel of Privilege: An equity-based tool for authorship order</a:t>
            </a:r>
            <a:r>
              <a:rPr lang="en-GB" sz="1050" dirty="0"/>
              <a:t>. </a:t>
            </a:r>
            <a:r>
              <a:rPr lang="en-GB" sz="1050" dirty="0" err="1"/>
              <a:t>MetaArXiv</a:t>
            </a:r>
            <a:r>
              <a:rPr lang="en-GB" sz="1050" dirty="0"/>
              <a:t>. </a:t>
            </a:r>
            <a:r>
              <a:rPr lang="en-GB" sz="1050" dirty="0">
                <a:hlinkClick r:id="rId13"/>
              </a:rPr>
              <a:t>https://doi.org/10.31222/osf.io/af4nk_v2</a:t>
            </a:r>
            <a:endParaRPr lang="en-GB" sz="1050" dirty="0"/>
          </a:p>
          <a:p>
            <a:endParaRPr lang="en-GB" sz="1050" dirty="0"/>
          </a:p>
          <a:p>
            <a:r>
              <a:rPr lang="en-GB" sz="1050" dirty="0"/>
              <a:t>Pennington, C. R., Norris, E., </a:t>
            </a:r>
            <a:r>
              <a:rPr lang="en-GB" sz="1050" dirty="0" err="1"/>
              <a:t>Skubera</a:t>
            </a:r>
            <a:r>
              <a:rPr lang="en-GB" sz="1050" dirty="0"/>
              <a:t>, M., Ba, Y., Moffat, R., Amaral, O. B., </a:t>
            </a:r>
            <a:r>
              <a:rPr lang="en-GB" sz="1050" dirty="0" err="1"/>
              <a:t>Adamkovic</a:t>
            </a:r>
            <a:r>
              <a:rPr lang="en-GB" sz="1050" dirty="0"/>
              <a:t>, M., Adıgüzel, A., Almeida, R. A., Baldwin, J., Ballou, N., Behrens, L. M. P., Bertram, M., Bjerke, I. E., Blackwell, S. E., </a:t>
            </a:r>
            <a:r>
              <a:rPr lang="en-GB" sz="1050" dirty="0" err="1"/>
              <a:t>Bochynska</a:t>
            </a:r>
            <a:r>
              <a:rPr lang="en-GB" sz="1050" dirty="0"/>
              <a:t>, A., De Boer, M., Buljan, I., Canales-Aguirre, C. B., … Clark, K. (2026). </a:t>
            </a:r>
            <a:r>
              <a:rPr lang="en-GB" sz="1050" i="1" dirty="0"/>
              <a:t>Awareness and Use of Open Research Practices: An International Survey of Researchers Across Disciplines</a:t>
            </a:r>
            <a:r>
              <a:rPr lang="en-GB" sz="1050" dirty="0"/>
              <a:t>. </a:t>
            </a:r>
            <a:r>
              <a:rPr lang="en-GB" sz="1050" dirty="0" err="1"/>
              <a:t>PsyArXiv</a:t>
            </a:r>
            <a:r>
              <a:rPr lang="en-GB" sz="1050" dirty="0"/>
              <a:t>. </a:t>
            </a:r>
            <a:r>
              <a:rPr lang="en-GB" sz="1050" dirty="0">
                <a:hlinkClick r:id="rId14"/>
              </a:rPr>
              <a:t>https://doi.org/10.31234/osf.io/edzxf_v1</a:t>
            </a:r>
            <a:endParaRPr lang="en-GB" sz="1050" dirty="0"/>
          </a:p>
          <a:p>
            <a:endParaRPr lang="en-GB" sz="1050" dirty="0"/>
          </a:p>
          <a:p>
            <a:r>
              <a:rPr lang="en-GB" sz="1050" dirty="0"/>
              <a:t>Phan, J. M., Middleton, S. L., Azevedo, F., Iley, B. J., Grose‐Hodge, M., Tyler, S. L., Kapp, S. K., Yeung, S. K., Shaw, J. J., Hartmann, H., &amp; FORRT. (2025). Bridging Neurodiversity and Open Scholarship: How Shared Values Can Guide Best Practices for Research Integrity, Social Justice, and Principled Education. </a:t>
            </a:r>
            <a:r>
              <a:rPr lang="en-GB" sz="1050" i="1" dirty="0"/>
              <a:t>Journal of Social Issues</a:t>
            </a:r>
            <a:r>
              <a:rPr lang="en-GB" sz="1050" dirty="0"/>
              <a:t>, </a:t>
            </a:r>
            <a:r>
              <a:rPr lang="en-GB" sz="1050" i="1" dirty="0"/>
              <a:t>81</a:t>
            </a:r>
            <a:r>
              <a:rPr lang="en-GB" sz="1050" dirty="0"/>
              <a:t>(4), e70035. </a:t>
            </a:r>
            <a:r>
              <a:rPr lang="en-GB" sz="1050" dirty="0">
                <a:hlinkClick r:id="rId15"/>
              </a:rPr>
              <a:t>https://doi.org/10.1111/josi.70035</a:t>
            </a:r>
            <a:endParaRPr lang="en-GB" sz="1050" dirty="0"/>
          </a:p>
          <a:p>
            <a:endParaRPr lang="en-GB" sz="1050" dirty="0"/>
          </a:p>
          <a:p>
            <a:r>
              <a:rPr lang="en-GB" sz="1050" dirty="0"/>
              <a:t>Rogers, E. M. (1983). Elements of Diffusion. In </a:t>
            </a:r>
            <a:r>
              <a:rPr lang="en-GB" sz="1050" i="1" dirty="0"/>
              <a:t>Diffusion of innovations</a:t>
            </a:r>
            <a:r>
              <a:rPr lang="en-GB" sz="1050" dirty="0"/>
              <a:t> (3rd </a:t>
            </a:r>
            <a:r>
              <a:rPr lang="en-GB" sz="1050" dirty="0" err="1"/>
              <a:t>edn</a:t>
            </a:r>
            <a:r>
              <a:rPr lang="en-GB" sz="1050" dirty="0"/>
              <a:t>). The Free Press. (Original work published 1962)</a:t>
            </a:r>
          </a:p>
          <a:p>
            <a:endParaRPr lang="en-GB" sz="1050" dirty="0"/>
          </a:p>
          <a:p>
            <a:r>
              <a:rPr lang="en-GB" sz="1050" dirty="0"/>
              <a:t>Skelly, L. &amp; Rusu, C.  (2023). Crafting Open Research advocacy message using the Diffusion of Innovation theory. Edinburgh Open Research Conference.</a:t>
            </a:r>
          </a:p>
          <a:p>
            <a:endParaRPr lang="en-GB" sz="1050" dirty="0"/>
          </a:p>
          <a:p>
            <a:r>
              <a:rPr lang="en-GB" sz="1050" dirty="0"/>
              <a:t>Uhl-Bien, M. (2006). Relational Leadership Theory: Exploring the social processes of leadership and organizing. </a:t>
            </a:r>
            <a:r>
              <a:rPr lang="en-GB" sz="1050" i="1" dirty="0"/>
              <a:t>The Leadership Quarterly</a:t>
            </a:r>
            <a:r>
              <a:rPr lang="en-GB" sz="1050" dirty="0"/>
              <a:t>, </a:t>
            </a:r>
            <a:r>
              <a:rPr lang="en-GB" sz="1050" i="1" dirty="0"/>
              <a:t>17</a:t>
            </a:r>
            <a:r>
              <a:rPr lang="en-GB" sz="1050" dirty="0"/>
              <a:t>(6), 654–676. </a:t>
            </a:r>
            <a:r>
              <a:rPr lang="en-GB" sz="1050" dirty="0">
                <a:hlinkClick r:id="rId16"/>
              </a:rPr>
              <a:t>https://doi.org/10.1016/j.leaqua.2006.10.007</a:t>
            </a:r>
            <a:endParaRPr lang="en-GB" sz="1050" dirty="0"/>
          </a:p>
          <a:p>
            <a:endParaRPr lang="en-GB" sz="1050" dirty="0"/>
          </a:p>
          <a:p>
            <a:r>
              <a:rPr lang="en-GB" sz="1050" dirty="0"/>
              <a:t>UNESCO (2023) Open Science Outlook 1: status and trends around the world. </a:t>
            </a:r>
            <a:r>
              <a:rPr lang="en-GB" sz="1050" dirty="0">
                <a:hlinkClick r:id="rId17"/>
              </a:rPr>
              <a:t>https://unesdoc.unesco.org/ark:/48223/pf0000387324</a:t>
            </a:r>
            <a:endParaRPr lang="en-US" sz="1050" dirty="0"/>
          </a:p>
          <a:p>
            <a:endParaRPr lang="en-GB" sz="1050" dirty="0"/>
          </a:p>
          <a:p>
            <a:endParaRPr lang="en-US" sz="1400" dirty="0"/>
          </a:p>
        </p:txBody>
      </p:sp>
    </p:spTree>
    <p:extLst>
      <p:ext uri="{BB962C8B-B14F-4D97-AF65-F5344CB8AC3E}">
        <p14:creationId xmlns:p14="http://schemas.microsoft.com/office/powerpoint/2010/main" val="143653918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C96532-5112-7EE6-60BA-22DE1890DD16}"/>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1F657B58-D3B3-1783-3557-D8567348099B}"/>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DB7AC062-A284-AD7C-DB2E-06F8AF373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58A1A974-FFC6-E6B2-2548-3D8FFA05A3B0}"/>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56770A85-1241-BE18-DE84-153679E17A1D}"/>
              </a:ext>
            </a:extLst>
          </p:cNvPr>
          <p:cNvSpPr txBox="1">
            <a:spLocks/>
          </p:cNvSpPr>
          <p:nvPr/>
        </p:nvSpPr>
        <p:spPr>
          <a:xfrm>
            <a:off x="0" y="0"/>
            <a:ext cx="12192000" cy="1325563"/>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Contribution statement</a:t>
            </a:r>
          </a:p>
        </p:txBody>
      </p:sp>
      <p:sp>
        <p:nvSpPr>
          <p:cNvPr id="2" name="Slide Number Placeholder 1">
            <a:extLst>
              <a:ext uri="{FF2B5EF4-FFF2-40B4-BE49-F238E27FC236}">
                <a16:creationId xmlns:a16="http://schemas.microsoft.com/office/drawing/2014/main" id="{88A7F22A-791C-9EF1-D703-B38DAA3FC2ED}"/>
              </a:ext>
            </a:extLst>
          </p:cNvPr>
          <p:cNvSpPr>
            <a:spLocks noGrp="1"/>
          </p:cNvSpPr>
          <p:nvPr>
            <p:ph type="sldNum" sz="quarter" idx="12"/>
          </p:nvPr>
        </p:nvSpPr>
        <p:spPr/>
        <p:txBody>
          <a:bodyPr/>
          <a:lstStyle/>
          <a:p>
            <a:fld id="{D292B180-B274-DE43-B36F-C827C7616C05}" type="slidenum">
              <a:rPr lang="en-US" smtClean="0"/>
              <a:t>87</a:t>
            </a:fld>
            <a:endParaRPr lang="en-US"/>
          </a:p>
        </p:txBody>
      </p:sp>
      <p:sp>
        <p:nvSpPr>
          <p:cNvPr id="5" name="TextBox 4">
            <a:extLst>
              <a:ext uri="{FF2B5EF4-FFF2-40B4-BE49-F238E27FC236}">
                <a16:creationId xmlns:a16="http://schemas.microsoft.com/office/drawing/2014/main" id="{92EA5BCF-D994-6E35-8717-B22BDCEADA9F}"/>
              </a:ext>
            </a:extLst>
          </p:cNvPr>
          <p:cNvSpPr txBox="1"/>
          <p:nvPr/>
        </p:nvSpPr>
        <p:spPr>
          <a:xfrm>
            <a:off x="190458" y="1859340"/>
            <a:ext cx="12001541" cy="3416320"/>
          </a:xfrm>
          <a:prstGeom prst="rect">
            <a:avLst/>
          </a:prstGeom>
          <a:noFill/>
        </p:spPr>
        <p:txBody>
          <a:bodyPr wrap="square">
            <a:spAutoFit/>
          </a:bodyPr>
          <a:lstStyle/>
          <a:p>
            <a:r>
              <a:rPr lang="en-GB" sz="2400" b="1" i="0" u="none" strike="noStrike" dirty="0">
                <a:solidFill>
                  <a:srgbClr val="000000"/>
                </a:solidFill>
                <a:effectLst/>
              </a:rPr>
              <a:t>Creator: </a:t>
            </a:r>
            <a:r>
              <a:rPr lang="en-GB" sz="2400" dirty="0">
                <a:solidFill>
                  <a:srgbClr val="000000"/>
                </a:solidFill>
              </a:rPr>
              <a:t>Middleton, Sara Lil </a:t>
            </a:r>
            <a:r>
              <a:rPr lang="en-GB" sz="2400" dirty="0"/>
              <a:t>(      </a:t>
            </a:r>
            <a:r>
              <a:rPr lang="en-GB" sz="2400" dirty="0">
                <a:hlinkClick r:id="rId5"/>
              </a:rPr>
              <a:t>0000-0001-5307-8029</a:t>
            </a:r>
            <a:r>
              <a:rPr lang="en-GB" sz="2400" dirty="0"/>
              <a:t>), </a:t>
            </a:r>
          </a:p>
          <a:p>
            <a:r>
              <a:rPr lang="en-GB" sz="2400" dirty="0"/>
              <a:t>Azevedo, Flavio (      </a:t>
            </a:r>
            <a:r>
              <a:rPr lang="en-GB" sz="2400" dirty="0">
                <a:hlinkClick r:id="rId6"/>
              </a:rPr>
              <a:t>0000-0001-9000-8513</a:t>
            </a:r>
            <a:r>
              <a:rPr lang="en-GB" sz="2400" dirty="0"/>
              <a:t>) </a:t>
            </a:r>
          </a:p>
          <a:p>
            <a:r>
              <a:rPr lang="en-GB" sz="2400" b="1" dirty="0"/>
              <a:t>Reviewer:</a:t>
            </a:r>
            <a:r>
              <a:rPr lang="en-GB" sz="2400" dirty="0"/>
              <a:t> Verheyen, Steven (      </a:t>
            </a:r>
            <a:r>
              <a:rPr lang="en-GB" sz="2400" dirty="0">
                <a:hlinkClick r:id="rId7"/>
              </a:rPr>
              <a:t>0000-0002-6778-6744</a:t>
            </a:r>
            <a:r>
              <a:rPr lang="en-GB" sz="2400" dirty="0"/>
              <a:t>),</a:t>
            </a:r>
          </a:p>
          <a:p>
            <a:r>
              <a:rPr lang="en-GB" sz="2400" dirty="0"/>
              <a:t> von </a:t>
            </a:r>
            <a:r>
              <a:rPr lang="en-GB" sz="2400" dirty="0" err="1"/>
              <a:t>Grebmer</a:t>
            </a:r>
            <a:r>
              <a:rPr lang="en-GB" sz="2400" dirty="0"/>
              <a:t> </a:t>
            </a:r>
            <a:r>
              <a:rPr lang="en-GB" sz="2400" dirty="0" err="1"/>
              <a:t>zu</a:t>
            </a:r>
            <a:r>
              <a:rPr lang="en-GB" sz="2400" dirty="0"/>
              <a:t> </a:t>
            </a:r>
            <a:r>
              <a:rPr lang="en-GB" sz="2400" dirty="0" err="1"/>
              <a:t>Wolfsthurn</a:t>
            </a:r>
            <a:r>
              <a:rPr lang="en-GB" sz="2400" dirty="0"/>
              <a:t>, Sarah (      </a:t>
            </a:r>
            <a:r>
              <a:rPr lang="en-GB" sz="2400" dirty="0">
                <a:hlinkClick r:id="rId8"/>
              </a:rPr>
              <a:t>0000-0002-6413-3895</a:t>
            </a:r>
            <a:r>
              <a:rPr lang="en-GB" sz="2400" dirty="0"/>
              <a:t>)</a:t>
            </a:r>
          </a:p>
          <a:p>
            <a:endParaRPr lang="en-US" sz="2400" b="1" dirty="0"/>
          </a:p>
          <a:p>
            <a:r>
              <a:rPr lang="en-US" sz="2400" b="1" dirty="0"/>
              <a:t>Acknowledgements:</a:t>
            </a:r>
          </a:p>
          <a:p>
            <a:r>
              <a:rPr lang="en-US" sz="2400" b="1" dirty="0"/>
              <a:t>Sharing leadership expertise:</a:t>
            </a:r>
          </a:p>
          <a:p>
            <a:r>
              <a:rPr lang="en-US" sz="2400" dirty="0"/>
              <a:t>Elisabeth Bik, </a:t>
            </a:r>
            <a:r>
              <a:rPr lang="en-GB" sz="2400" dirty="0"/>
              <a:t>Fotis </a:t>
            </a:r>
            <a:r>
              <a:rPr lang="en-GB" sz="2400" dirty="0" err="1"/>
              <a:t>Mystakopoulos</a:t>
            </a:r>
            <a:r>
              <a:rPr lang="en-GB" sz="2400" dirty="0"/>
              <a:t>, </a:t>
            </a:r>
            <a:r>
              <a:rPr lang="en-US" sz="2400" dirty="0"/>
              <a:t>Beth Montague-Hellen</a:t>
            </a:r>
          </a:p>
          <a:p>
            <a:endParaRPr lang="en-GB" sz="2400" dirty="0"/>
          </a:p>
        </p:txBody>
      </p:sp>
      <p:pic>
        <p:nvPicPr>
          <p:cNvPr id="4" name="Picture 3" descr="orcid logo">
            <a:extLst>
              <a:ext uri="{FF2B5EF4-FFF2-40B4-BE49-F238E27FC236}">
                <a16:creationId xmlns:a16="http://schemas.microsoft.com/office/drawing/2014/main" id="{D42C5C4C-AD1B-1C14-4CA3-22F18CCD461E}"/>
              </a:ext>
            </a:extLst>
          </p:cNvPr>
          <p:cNvPicPr>
            <a:picLocks noChangeAspect="1"/>
          </p:cNvPicPr>
          <p:nvPr/>
        </p:nvPicPr>
        <p:blipFill>
          <a:blip r:embed="rId9"/>
          <a:stretch>
            <a:fillRect/>
          </a:stretch>
        </p:blipFill>
        <p:spPr>
          <a:xfrm>
            <a:off x="4078060" y="1938852"/>
            <a:ext cx="322470" cy="322470"/>
          </a:xfrm>
          <a:prstGeom prst="rect">
            <a:avLst/>
          </a:prstGeom>
        </p:spPr>
      </p:pic>
      <p:pic>
        <p:nvPicPr>
          <p:cNvPr id="9" name="Picture 8" descr="orcid logo">
            <a:extLst>
              <a:ext uri="{FF2B5EF4-FFF2-40B4-BE49-F238E27FC236}">
                <a16:creationId xmlns:a16="http://schemas.microsoft.com/office/drawing/2014/main" id="{03D15B71-6DED-A5DB-552B-4A32F7CB2C34}"/>
              </a:ext>
            </a:extLst>
          </p:cNvPr>
          <p:cNvPicPr>
            <a:picLocks noChangeAspect="1"/>
          </p:cNvPicPr>
          <p:nvPr/>
        </p:nvPicPr>
        <p:blipFill>
          <a:blip r:embed="rId9"/>
          <a:stretch>
            <a:fillRect/>
          </a:stretch>
        </p:blipFill>
        <p:spPr>
          <a:xfrm>
            <a:off x="5015355" y="3038456"/>
            <a:ext cx="322470" cy="322470"/>
          </a:xfrm>
          <a:prstGeom prst="rect">
            <a:avLst/>
          </a:prstGeom>
        </p:spPr>
      </p:pic>
      <p:pic>
        <p:nvPicPr>
          <p:cNvPr id="10" name="Picture 9" descr="orcid logo">
            <a:extLst>
              <a:ext uri="{FF2B5EF4-FFF2-40B4-BE49-F238E27FC236}">
                <a16:creationId xmlns:a16="http://schemas.microsoft.com/office/drawing/2014/main" id="{45D3BC8F-C731-177F-7E65-47704F5B5EF8}"/>
              </a:ext>
            </a:extLst>
          </p:cNvPr>
          <p:cNvPicPr>
            <a:picLocks noChangeAspect="1"/>
          </p:cNvPicPr>
          <p:nvPr/>
        </p:nvPicPr>
        <p:blipFill>
          <a:blip r:embed="rId9"/>
          <a:stretch>
            <a:fillRect/>
          </a:stretch>
        </p:blipFill>
        <p:spPr>
          <a:xfrm>
            <a:off x="4141957" y="2683926"/>
            <a:ext cx="322470" cy="322470"/>
          </a:xfrm>
          <a:prstGeom prst="rect">
            <a:avLst/>
          </a:prstGeom>
        </p:spPr>
      </p:pic>
      <p:pic>
        <p:nvPicPr>
          <p:cNvPr id="6" name="Picture 5" descr="orcid logo">
            <a:extLst>
              <a:ext uri="{FF2B5EF4-FFF2-40B4-BE49-F238E27FC236}">
                <a16:creationId xmlns:a16="http://schemas.microsoft.com/office/drawing/2014/main" id="{49984413-0D89-F8FA-DC45-F0957881C731}"/>
              </a:ext>
            </a:extLst>
          </p:cNvPr>
          <p:cNvPicPr>
            <a:picLocks noChangeAspect="1"/>
          </p:cNvPicPr>
          <p:nvPr/>
        </p:nvPicPr>
        <p:blipFill>
          <a:blip r:embed="rId9"/>
          <a:stretch>
            <a:fillRect/>
          </a:stretch>
        </p:blipFill>
        <p:spPr>
          <a:xfrm>
            <a:off x="2455509" y="2305533"/>
            <a:ext cx="322470" cy="322470"/>
          </a:xfrm>
          <a:prstGeom prst="rect">
            <a:avLst/>
          </a:prstGeom>
        </p:spPr>
      </p:pic>
    </p:spTree>
    <p:extLst>
      <p:ext uri="{BB962C8B-B14F-4D97-AF65-F5344CB8AC3E}">
        <p14:creationId xmlns:p14="http://schemas.microsoft.com/office/powerpoint/2010/main" val="181448835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AFA96-CED9-BA09-F9C0-CCF753970DF5}"/>
            </a:ext>
          </a:extLst>
        </p:cNvPr>
        <p:cNvGrpSpPr/>
        <p:nvPr/>
      </p:nvGrpSpPr>
      <p:grpSpPr>
        <a:xfrm>
          <a:off x="0" y="0"/>
          <a:ext cx="0" cy="0"/>
          <a:chOff x="0" y="0"/>
          <a:chExt cx="0" cy="0"/>
        </a:xfrm>
      </p:grpSpPr>
      <p:grpSp>
        <p:nvGrpSpPr>
          <p:cNvPr id="3" name="Group 2">
            <a:extLst>
              <a:ext uri="{FF2B5EF4-FFF2-40B4-BE49-F238E27FC236}">
                <a16:creationId xmlns:a16="http://schemas.microsoft.com/office/drawing/2014/main" id="{740470B7-9A19-B313-E4C7-2598A46CDC7B}"/>
              </a:ext>
            </a:extLst>
          </p:cNvPr>
          <p:cNvGrpSpPr/>
          <p:nvPr/>
        </p:nvGrpSpPr>
        <p:grpSpPr>
          <a:xfrm>
            <a:off x="10704849" y="6564312"/>
            <a:ext cx="1362075" cy="273690"/>
            <a:chOff x="19317" y="2690018"/>
            <a:chExt cx="11784755" cy="2025180"/>
          </a:xfrm>
        </p:grpSpPr>
        <p:pic>
          <p:nvPicPr>
            <p:cNvPr id="7" name="Picture 2">
              <a:extLst>
                <a:ext uri="{FF2B5EF4-FFF2-40B4-BE49-F238E27FC236}">
                  <a16:creationId xmlns:a16="http://schemas.microsoft.com/office/drawing/2014/main" id="{37A66174-7F85-7D2C-A194-D5DF41B6241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317" y="2766218"/>
              <a:ext cx="5590651" cy="1776413"/>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a:extLst>
                <a:ext uri="{FF2B5EF4-FFF2-40B4-BE49-F238E27FC236}">
                  <a16:creationId xmlns:a16="http://schemas.microsoft.com/office/drawing/2014/main" id="{8EAAA4A6-CA4C-DCE0-698A-E63CE69ED5A7}"/>
                </a:ext>
              </a:extLst>
            </p:cNvPr>
            <p:cNvPicPr>
              <a:picLocks noChangeAspect="1"/>
            </p:cNvPicPr>
            <p:nvPr/>
          </p:nvPicPr>
          <p:blipFill>
            <a:blip r:embed="rId4"/>
            <a:stretch>
              <a:fillRect/>
            </a:stretch>
          </p:blipFill>
          <p:spPr>
            <a:xfrm>
              <a:off x="5728531" y="2690018"/>
              <a:ext cx="6075541" cy="2025180"/>
            </a:xfrm>
            <a:prstGeom prst="rect">
              <a:avLst/>
            </a:prstGeom>
          </p:spPr>
        </p:pic>
      </p:grpSp>
      <p:sp>
        <p:nvSpPr>
          <p:cNvPr id="15" name="Title 1">
            <a:extLst>
              <a:ext uri="{FF2B5EF4-FFF2-40B4-BE49-F238E27FC236}">
                <a16:creationId xmlns:a16="http://schemas.microsoft.com/office/drawing/2014/main" id="{3FD3F697-889F-7091-1505-A39A3F2A988F}"/>
              </a:ext>
            </a:extLst>
          </p:cNvPr>
          <p:cNvSpPr txBox="1">
            <a:spLocks/>
          </p:cNvSpPr>
          <p:nvPr/>
        </p:nvSpPr>
        <p:spPr>
          <a:xfrm>
            <a:off x="0" y="0"/>
            <a:ext cx="12192000" cy="981091"/>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b="1" dirty="0"/>
              <a:t>License and citation statement</a:t>
            </a:r>
          </a:p>
        </p:txBody>
      </p:sp>
      <p:sp>
        <p:nvSpPr>
          <p:cNvPr id="2" name="Slide Number Placeholder 1">
            <a:extLst>
              <a:ext uri="{FF2B5EF4-FFF2-40B4-BE49-F238E27FC236}">
                <a16:creationId xmlns:a16="http://schemas.microsoft.com/office/drawing/2014/main" id="{731AE89B-2271-D166-B69F-29F451834D5B}"/>
              </a:ext>
            </a:extLst>
          </p:cNvPr>
          <p:cNvSpPr>
            <a:spLocks noGrp="1"/>
          </p:cNvSpPr>
          <p:nvPr>
            <p:ph type="sldNum" sz="quarter" idx="12"/>
          </p:nvPr>
        </p:nvSpPr>
        <p:spPr/>
        <p:txBody>
          <a:bodyPr/>
          <a:lstStyle/>
          <a:p>
            <a:fld id="{D292B180-B274-DE43-B36F-C827C7616C05}" type="slidenum">
              <a:rPr lang="en-US" smtClean="0"/>
              <a:t>88</a:t>
            </a:fld>
            <a:endParaRPr lang="en-US"/>
          </a:p>
        </p:txBody>
      </p:sp>
      <p:sp>
        <p:nvSpPr>
          <p:cNvPr id="5" name="TextBox 4">
            <a:extLst>
              <a:ext uri="{FF2B5EF4-FFF2-40B4-BE49-F238E27FC236}">
                <a16:creationId xmlns:a16="http://schemas.microsoft.com/office/drawing/2014/main" id="{E30D9EE9-7588-E80F-5EB9-85C15B961EC0}"/>
              </a:ext>
            </a:extLst>
          </p:cNvPr>
          <p:cNvSpPr txBox="1"/>
          <p:nvPr/>
        </p:nvSpPr>
        <p:spPr>
          <a:xfrm>
            <a:off x="462656" y="1682780"/>
            <a:ext cx="10888357" cy="4893647"/>
          </a:xfrm>
          <a:prstGeom prst="rect">
            <a:avLst/>
          </a:prstGeom>
          <a:noFill/>
        </p:spPr>
        <p:txBody>
          <a:bodyPr wrap="square">
            <a:spAutoFit/>
          </a:bodyPr>
          <a:lstStyle/>
          <a:p>
            <a:r>
              <a:rPr lang="en-GB" sz="2400" dirty="0"/>
              <a:t>This current work by Sara Lil Middleton, Flavio Azevedo, Steven Verheyen and Sarah von </a:t>
            </a:r>
            <a:r>
              <a:rPr lang="en-GB" sz="2400" dirty="0" err="1"/>
              <a:t>Grebmer</a:t>
            </a:r>
            <a:r>
              <a:rPr lang="en-GB" sz="2400" dirty="0"/>
              <a:t> </a:t>
            </a:r>
            <a:r>
              <a:rPr lang="en-GB" sz="2400" dirty="0" err="1"/>
              <a:t>zu</a:t>
            </a:r>
            <a:r>
              <a:rPr lang="en-GB" sz="2400" dirty="0"/>
              <a:t> </a:t>
            </a:r>
            <a:r>
              <a:rPr lang="en-GB" sz="2400" dirty="0" err="1"/>
              <a:t>Wolfsthurn</a:t>
            </a:r>
            <a:r>
              <a:rPr lang="en-GB" sz="2400" dirty="0"/>
              <a:t> is licensed under a CC-BY-SA 4.0 </a:t>
            </a:r>
            <a:r>
              <a:rPr lang="en-GB" sz="2400" dirty="0">
                <a:hlinkClick r:id="rId5"/>
              </a:rPr>
              <a:t>Creative Commons Attribution 4.0 International SA License</a:t>
            </a:r>
            <a:r>
              <a:rPr lang="en-GB" sz="2400" dirty="0"/>
              <a:t> (unless otherwise stated). It permits unrestricted re-use, distribution, and reproduction in any medium, provided the original work is properly cited. If you remix, transform, or build upon the material, you must distribute your contributions under the same license as the original.</a:t>
            </a:r>
          </a:p>
          <a:p>
            <a:endParaRPr lang="en-GB" sz="2400" dirty="0"/>
          </a:p>
          <a:p>
            <a:r>
              <a:rPr lang="en-GB" sz="2400" dirty="0"/>
              <a:t>Please cite these materials as: Middleton, S., Azevedo, F., Verheyen, S., &amp; Von </a:t>
            </a:r>
            <a:r>
              <a:rPr lang="en-GB" sz="2400" dirty="0" err="1"/>
              <a:t>Grebmer</a:t>
            </a:r>
            <a:r>
              <a:rPr lang="en-GB" sz="2400" dirty="0"/>
              <a:t> Zu </a:t>
            </a:r>
            <a:r>
              <a:rPr lang="en-GB" sz="2400" dirty="0" err="1"/>
              <a:t>Wolfsthurn</a:t>
            </a:r>
            <a:r>
              <a:rPr lang="en-GB" sz="2400" dirty="0"/>
              <a:t>, S. (2026). </a:t>
            </a:r>
            <a:r>
              <a:rPr lang="en-GB" sz="2400" i="1" dirty="0"/>
              <a:t>Leadership in Open Research: Skills, values and culture</a:t>
            </a:r>
            <a:r>
              <a:rPr lang="en-GB" sz="2400" dirty="0"/>
              <a:t> [Quarto slides]. LMU Open Science Center and FORRT. </a:t>
            </a:r>
            <a:r>
              <a:rPr lang="en-GB" sz="2400" dirty="0">
                <a:hlinkClick r:id="rId6"/>
              </a:rPr>
              <a:t>https://lmu-osc.github.io/train-the-trainer-open-research/leadership-open-research/leadership-skills-culture/</a:t>
            </a:r>
            <a:endParaRPr lang="en-US" sz="2400" dirty="0"/>
          </a:p>
        </p:txBody>
      </p:sp>
      <p:pic>
        <p:nvPicPr>
          <p:cNvPr id="4" name="Picture 3" descr="Creative Commons Attribution 4.0 SA">
            <a:extLst>
              <a:ext uri="{FF2B5EF4-FFF2-40B4-BE49-F238E27FC236}">
                <a16:creationId xmlns:a16="http://schemas.microsoft.com/office/drawing/2014/main" id="{9D43809C-D247-5582-DF05-6731C1FC754F}"/>
              </a:ext>
            </a:extLst>
          </p:cNvPr>
          <p:cNvPicPr>
            <a:picLocks noChangeAspect="1"/>
          </p:cNvPicPr>
          <p:nvPr/>
        </p:nvPicPr>
        <p:blipFill>
          <a:blip r:embed="rId7"/>
          <a:stretch>
            <a:fillRect/>
          </a:stretch>
        </p:blipFill>
        <p:spPr>
          <a:xfrm>
            <a:off x="4876800" y="981091"/>
            <a:ext cx="1219200" cy="419100"/>
          </a:xfrm>
          <a:prstGeom prst="rect">
            <a:avLst/>
          </a:prstGeom>
        </p:spPr>
      </p:pic>
    </p:spTree>
    <p:extLst>
      <p:ext uri="{BB962C8B-B14F-4D97-AF65-F5344CB8AC3E}">
        <p14:creationId xmlns:p14="http://schemas.microsoft.com/office/powerpoint/2010/main" val="92648423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50546</TotalTime>
  <Words>9399</Words>
  <Application>Microsoft Macintosh PowerPoint</Application>
  <PresentationFormat>Widescreen</PresentationFormat>
  <Paragraphs>1234</Paragraphs>
  <Slides>88</Slides>
  <Notes>88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88</vt:i4>
      </vt:variant>
    </vt:vector>
  </HeadingPairs>
  <TitlesOfParts>
    <vt:vector size="94" baseType="lpstr">
      <vt:lpstr>Aptos</vt:lpstr>
      <vt:lpstr>Aptos Display</vt:lpstr>
      <vt:lpstr>Arial</vt:lpstr>
      <vt:lpstr>Calibri</vt:lpstr>
      <vt:lpstr>Wingdings</vt:lpstr>
      <vt:lpstr>Office Theme</vt:lpstr>
      <vt:lpstr>Leadership in Open Science: Skills, values and culture</vt:lpstr>
      <vt:lpstr>Prerequisites </vt:lpstr>
      <vt:lpstr>PowerPoint Presentation</vt:lpstr>
      <vt:lpstr>PowerPoint Presentation</vt:lpstr>
      <vt:lpstr> </vt:lpstr>
      <vt:lpstr>Zooming out</vt:lpstr>
      <vt:lpstr>Leadership is a core skill</vt:lpstr>
      <vt:lpstr>Skills in working with others and self-efficacy</vt:lpstr>
      <vt:lpstr>European Policy on skills/training in Open Science</vt:lpstr>
      <vt:lpstr>Regional differences in Open Science priorities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Leadership styles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Interim summary </vt:lpstr>
      <vt:lpstr>PowerPoint Presentation</vt:lpstr>
      <vt:lpstr>Shared values of effective leadership and Open Science</vt:lpstr>
      <vt:lpstr>Example of shared values: transparency and integrity</vt:lpstr>
      <vt:lpstr>Example of shared values: transparency and integrity</vt:lpstr>
      <vt:lpstr>Example of shared values: co-development</vt:lpstr>
      <vt:lpstr>Example of shared values: co-development</vt:lpstr>
      <vt:lpstr>Shared values towards an open research culture </vt:lpstr>
      <vt:lpstr>Current context shapes research culture</vt:lpstr>
      <vt:lpstr>Current context shapes research culture</vt:lpstr>
      <vt:lpstr>Current context shapes research culture</vt:lpstr>
      <vt:lpstr>PowerPoint Presentation</vt:lpstr>
      <vt:lpstr>PowerPoint Presentation</vt:lpstr>
      <vt:lpstr>Culture change curve: innovators</vt:lpstr>
      <vt:lpstr>Culture change curve: early adopters</vt:lpstr>
      <vt:lpstr>Culture change curve: early majority</vt:lpstr>
      <vt:lpstr>Culture change curve: late majority</vt:lpstr>
      <vt:lpstr>Culture change curve: laggards</vt:lpstr>
      <vt:lpstr>Culture change curve: time to adoption</vt:lpstr>
      <vt:lpstr>Communicating with different adopter types</vt:lpstr>
      <vt:lpstr>PowerPoint Presentation</vt:lpstr>
      <vt:lpstr>PowerPoint Presentation</vt:lpstr>
      <vt:lpstr>Varying norms and awareness across disciplines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Interim summary </vt:lpstr>
      <vt:lpstr>PowerPoint Presentation</vt:lpstr>
      <vt:lpstr>Case study on leadership in Open Science: FORRT </vt:lpstr>
      <vt:lpstr>PowerPoint Presentation</vt:lpstr>
      <vt:lpstr>Final summary </vt:lpstr>
      <vt:lpstr>Leadership qualities we practiced</vt:lpstr>
      <vt:lpstr>Leadership qualities we practiced</vt:lpstr>
      <vt:lpstr>PowerPoint Presentation</vt:lpstr>
      <vt:lpstr>Questions</vt:lpstr>
      <vt:lpstr>References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Sara Middleton</dc:creator>
  <cp:lastModifiedBy>Sara Middleton</cp:lastModifiedBy>
  <cp:revision>53</cp:revision>
  <dcterms:created xsi:type="dcterms:W3CDTF">2026-09-16T07:47:17Z</dcterms:created>
  <dcterms:modified xsi:type="dcterms:W3CDTF">2026-10-21T10:13:33Z</dcterms:modified>
</cp:coreProperties>
</file>