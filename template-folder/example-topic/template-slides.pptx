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notesMaster" Target="notesMasters/notesMaster1.xml" /><Relationship Id="rId61" Type="http://schemas.openxmlformats.org/officeDocument/2006/relationships/viewProps" Target="viewProps.xml" /><Relationship Id="rId60" Type="http://schemas.openxmlformats.org/officeDocument/2006/relationships/presProps" Target="presProps.xml" /><Relationship Id="rId1" Type="http://schemas.openxmlformats.org/officeDocument/2006/relationships/slideMaster" Target="slideMasters/slideMaster1.xml" /><Relationship Id="rId63" Type="http://schemas.openxmlformats.org/officeDocument/2006/relationships/tableStyles" Target="tableStyles.xml" /><Relationship Id="rId62"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4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Add the script for this slide.</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a:t>These are the prerequisites for this topic. Before you get started on this topic with your audience, you need to ensure that the audience fulfills these criteria. Outline any essential prerequisites (software, tools, other sessions etc.) here in table format. If you prefer bullet points to list the prerequisites, delete the table and use bullet points instead.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first slide is dedicated to clarifying questions from the previous session and/or to discuss assignments.</a:t>
            </a:r>
          </a:p>
          <a:p>
            <a:pPr lvl="0" indent="0" marL="0">
              <a:buNone/>
            </a:pPr>
          </a:p>
          <a:p>
            <a:pPr lvl="0"/>
            <a:r>
              <a:rPr/>
              <a:t>Additional slides may need to be added depending on the nature of the homework assignments.</a:t>
            </a:r>
          </a:p>
          <a:p>
            <a:pPr lvl="0" indent="0" marL="0">
              <a:buNone/>
            </a:pPr>
          </a:p>
          <a:p>
            <a:pPr lvl="0"/>
            <a:r>
              <a:rPr/>
              <a:t>Critical for the learning process to ensure that learners are on the same page and have been able to achieve the learning goals of the previous workshop.</a:t>
            </a:r>
          </a:p>
          <a:p>
            <a:pPr lvl="0" indent="0" marL="0">
              <a:buNone/>
            </a:pPr>
          </a:p>
          <a:p>
            <a:pPr lvl="0"/>
            <a:r>
              <a:rPr/>
              <a:t>Not applicable if this set of slides corresponds to the first session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This survey serves to examine learners’ prior knowledge about the topic. For an interactive delivery, use free tools such as for example Particify to create interactive surveys with QR codes before you deliver this lesson. The pre-session survey should serve to examine learners’ prior knowledge about version control and related concepts. Note that this survey cannot be completed in an asynchronous setting because the survey results cannot be displayed.</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Place the topic of the current session within a broader context.</a:t>
            </a:r>
          </a:p>
          <a:p>
            <a:pPr lvl="0" indent="0" marL="0">
              <a:buNone/>
            </a:pPr>
          </a:p>
          <a:p>
            <a:pPr lvl="0"/>
            <a:r>
              <a:rPr/>
              <a:t>Remind learners what you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slides serves as an overview of the topics that are discussed, presented as bullet points.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key terms we will revisit throughout the lesson. What comes to mind when you see each of them? Which ones are familiar, and which feel new? Take a moment to think about what they might mean.</a:t>
            </a:r>
          </a:p>
          <a:p>
            <a:pPr lvl="0" indent="0" marL="0">
              <a:buNone/>
            </a:pPr>
          </a:p>
          <a:p>
            <a:pPr lvl="0" indent="0" marL="0">
              <a:buNone/>
            </a:pPr>
            <a:r>
              <a:rPr b="1"/>
              <a:t>Instructor Notes</a:t>
            </a:r>
            <a:r>
              <a:rPr/>
              <a:t>: Base yourself on conceptual change theory and examine existing concepts in relation to some key terms. Re-examine the formation of new concepts at the end of the lesson. Use a think-pair-share approach. First, have learners reflect individually on their associations with each term for a few minutes, then discuss in pairs for a few minutes, and finally share with the group. Allow about 10 minutes for this activity.</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go through what these key terms mean:</a:t>
            </a:r>
          </a:p>
          <a:p>
            <a:pPr lvl="0" indent="0" marL="0">
              <a:buNone/>
            </a:pPr>
          </a:p>
          <a:p>
            <a:pPr lvl="0" indent="0" marL="0">
              <a:buNone/>
            </a:pPr>
            <a:r>
              <a:rPr b="1"/>
              <a:t>Instructor Notes</a:t>
            </a:r>
            <a:r>
              <a:rPr/>
              <a:t>: Come back to this slide at the end of the lesson, no need to go through in detail at this point. Learners just need to know that this overview exists.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Add script for the slide here.</a:t>
            </a:r>
          </a:p>
          <a:p>
            <a:pPr lvl="0" indent="0" marL="0">
              <a:buNone/>
            </a:pPr>
          </a:p>
          <a:p>
            <a:pPr lvl="0" indent="0" marL="0">
              <a:buNone/>
            </a:pPr>
            <a:r>
              <a:rPr b="1"/>
              <a:t>Instructor Notes</a:t>
            </a:r>
            <a:r>
              <a:rPr/>
              <a:t>:</a:t>
            </a:r>
          </a:p>
          <a:p>
            <a:pPr lvl="0" indent="0" marL="0">
              <a:buNone/>
            </a:pPr>
          </a:p>
          <a:p>
            <a:pPr lvl="0"/>
            <a:r>
              <a:rPr b="1"/>
              <a:t>Aim</a:t>
            </a:r>
            <a:r>
              <a:rPr/>
              <a:t>: Core theoretical introduction of the topic.</a:t>
            </a:r>
          </a:p>
          <a:p>
            <a:pPr lvl="0" indent="0" marL="0">
              <a:buNone/>
            </a:pPr>
          </a:p>
          <a:p>
            <a:pPr lvl="0"/>
            <a:r>
              <a:rPr/>
              <a:t>For a 90-minute lesson, the instructor should try to “lecture” for only 20 minutes, learners should work in groups/pairs/on their own for at least 55 minutes of the lesson (+ a 15 minute break).</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Use multiple slides for this part.</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t>
            </a:r>
            <a:r>
              <a:rPr b="1"/>
              <a:t>Aim</a:t>
            </a:r>
            <a:r>
              <a:rPr/>
              <a:t>: Present relevant content - Highlight particularly important aspects with Quarto call-out boxes, for example: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A summary with the most important achievements and concepts up until now. This serves to consolidate and integrate new concepts.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Interactive quiz to check understanding and retention of learners. Use free survey software such as Particify to establish the following questions (shown on separate slides).</a:t>
            </a:r>
          </a:p>
          <a:p>
            <a:pPr lvl="0" indent="0" marL="0">
              <a:buNone/>
            </a:pPr>
          </a:p>
          <a:p>
            <a:pPr lvl="0" indent="0" marL="0">
              <a:buNone/>
            </a:pPr>
            <a:r>
              <a:rPr b="1"/>
              <a:t>Instructor Notes</a:t>
            </a:r>
            <a:r>
              <a:rPr/>
              <a:t>: This pre-break survey serves to examine learners’ current understanding of key concepts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clarify concepts and aspects that are not yet understood</a:t>
            </a:r>
          </a:p>
          <a:p>
            <a:pPr lvl="0" indent="0" marL="0">
              <a:buNone/>
            </a:pPr>
          </a:p>
          <a:p>
            <a:pPr lvl="0"/>
            <a:r>
              <a:rPr/>
              <a:t>Highlight specific answers given during the survey</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Design more practical exercises for learners to apply the new skills in practice.</a:t>
            </a:r>
          </a:p>
          <a:p>
            <a:pPr lvl="0" indent="0" marL="0">
              <a:buNone/>
            </a:pPr>
          </a:p>
          <a:p>
            <a:pPr lvl="0"/>
            <a:r>
              <a:rPr/>
              <a:t>Depending on the topic, the exercises should be in accordance with the learning objective(s).</a:t>
            </a:r>
          </a:p>
          <a:p>
            <a:pPr lvl="0" indent="0" marL="0">
              <a:buNone/>
            </a:pPr>
          </a:p>
          <a:p>
            <a:pPr lvl="0"/>
            <a:r>
              <a:rPr/>
              <a:t>Add a description of the task, as well as a checklist as an overview of that your learners need to be doing.</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To work out the relevance of the topic to your learners.</a:t>
            </a:r>
          </a:p>
          <a:p>
            <a:pPr lvl="0" indent="0" marL="0">
              <a:buNone/>
            </a:pPr>
          </a:p>
          <a:p>
            <a:pPr lvl="0"/>
            <a:r>
              <a:rPr/>
              <a:t>In an interactive setting, discuss how the new skills could be applied in practise with specific examples.</a:t>
            </a:r>
          </a:p>
          <a:p>
            <a:pPr lvl="0" indent="0" marL="0">
              <a:buNone/>
            </a:pPr>
          </a:p>
          <a:p>
            <a:pPr lvl="0"/>
            <a:r>
              <a:rPr/>
              <a:t>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presentation here.</a:t>
            </a:r>
          </a:p>
          <a:p>
            <a:pPr lvl="0" indent="0" marL="0">
              <a:buNone/>
            </a:pPr>
          </a:p>
          <a:p>
            <a:pPr lvl="0" indent="0" marL="0">
              <a:buNone/>
            </a:pPr>
            <a:r>
              <a:rPr b="1"/>
              <a:t>Instructor Notes</a:t>
            </a:r>
            <a:r>
              <a:rPr/>
              <a:t>:</a:t>
            </a:r>
          </a:p>
          <a:p>
            <a:pPr lvl="0" indent="0" marL="0">
              <a:buNone/>
            </a:pPr>
          </a:p>
          <a:p>
            <a:pPr lvl="0"/>
            <a:r>
              <a:rPr b="1"/>
              <a:t>Aim</a:t>
            </a:r>
            <a:r>
              <a:rPr/>
              <a:t>: Explain the homework assignment and the rationale behind the homework.</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learners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End lesson on clear take-home message that are interactively compiled by learners.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Provide overview of the topics covered today and remind learners of the bigger picture.</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and reflect on how comfortable you feel with each one.</a:t>
            </a:r>
          </a:p>
          <a:p>
            <a:pPr lvl="0" indent="0" marL="0">
              <a:buNone/>
            </a:pPr>
          </a:p>
          <a:p>
            <a:pPr lvl="0" indent="0" marL="0">
              <a:buNone/>
            </a:pPr>
            <a:r>
              <a:rPr/>
              <a:t>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Use this slide to encourage self-reflection rather than evaluation. Emphasize that learners are not expected to feel equally confident about all objectives at this stage. Keep the discussion supportive and brief, focusing on clarifying concepts rather than introducing new material.</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a:t>
            </a:r>
          </a:p>
          <a:p>
            <a:pPr lvl="0" indent="0" marL="0">
              <a:buNone/>
            </a:pPr>
          </a:p>
          <a:p>
            <a:pPr lvl="0"/>
            <a:r>
              <a:rPr b="1"/>
              <a:t>Aim</a:t>
            </a:r>
            <a:r>
              <a:rPr/>
              <a:t>: This post-session survey serves to examine learners’ current knowledge about the sumodule’s topic.</a:t>
            </a:r>
          </a:p>
          <a:p>
            <a:pPr lvl="0" indent="0" marL="0">
              <a:buNone/>
            </a:pPr>
          </a:p>
          <a:p>
            <a:pPr lvl="0"/>
            <a:r>
              <a:rPr/>
              <a:t>Use free survey software such as particify or formR to establish the following questions (shown on separate slides)</a:t>
            </a:r>
          </a:p>
          <a:p>
            <a:pPr lvl="0" indent="0" marL="0">
              <a:buNone/>
            </a:pPr>
          </a:p>
          <a:p>
            <a:pPr lvl="0"/>
            <a:r>
              <a:rPr/>
              <a:t>Use identical questions as in the pre-session survey to be able to directly compare</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Instructer Notes</a:t>
            </a:r>
            <a:r>
              <a:rPr/>
              <a:t>:</a:t>
            </a:r>
          </a:p>
          <a:p>
            <a:pPr lvl="0" indent="0" marL="0">
              <a:buNone/>
            </a:pPr>
          </a:p>
          <a:p>
            <a:pPr lvl="0"/>
            <a:r>
              <a:rPr b="1"/>
              <a:t>Aim</a:t>
            </a:r>
            <a:r>
              <a:rPr/>
              <a:t>: Briefly examine the answers given to each question interactively with the group.</a:t>
            </a:r>
          </a:p>
          <a:p>
            <a:pPr lvl="0" indent="0" marL="0">
              <a:buNone/>
            </a:pPr>
          </a:p>
          <a:p>
            <a:pPr lvl="0"/>
            <a:r>
              <a:rPr/>
              <a:t>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Script for the slide here.</a:t>
            </a:r>
          </a:p>
          <a:p>
            <a:pPr lvl="0" indent="0" marL="0">
              <a:buNone/>
            </a:pPr>
          </a:p>
          <a:p>
            <a:pPr lvl="0" indent="0" marL="0">
              <a:buNone/>
            </a:pPr>
            <a:r>
              <a:rPr b="1"/>
              <a:t>Instructor Notes</a:t>
            </a:r>
            <a:r>
              <a:rPr/>
              <a:t>: Highlight particularly relevant reading for your learners in bold.</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CC0 1.0 Creative Commons Universal License.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Images are usually centered by default in PPTX output. However, the font size and the image size must be controlled in the PowerPoint template, not in Markdown. The text in quotes represents the alt text that is visible when hovering over the image in the slides. The alt text does </a:t>
            </a:r>
            <a:r>
              <a:rPr i="1"/>
              <a:t>not</a:t>
            </a:r>
            <a:r>
              <a:rPr/>
              <a:t> appear in the pptx and has to be added manually in PowerPoint.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 for pptx template</a:t>
            </a:r>
            <a:r>
              <a:rPr/>
              <a:t>: Stacked figures cannot be resized in markdown but need to be resized afterwards in pptx directly.</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Notes for the pptx template</a:t>
            </a:r>
            <a:r>
              <a:rPr/>
              <a:t>: Font size, padding or row and colour number cannot be coded in markdown and have to be changed manually in the pptx output.</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This slide converts to pptx, but will not be interactive with adding or eliminating a tick mark. This will convert into simple bullet points.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Note</a:t>
            </a:r>
            <a:r>
              <a:rPr/>
              <a:t>: PowerPoint </a:t>
            </a:r>
            <a:r>
              <a:rPr i="1"/>
              <a:t>cannot run R code</a:t>
            </a:r>
            <a:r>
              <a:rPr/>
              <a:t>, therefore the code block this will appear as </a:t>
            </a:r>
            <a:r>
              <a:rPr i="1"/>
              <a:t>formatted code text</a:t>
            </a:r>
            <a:r>
              <a:rPr/>
              <a:t>, not executed output.</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 Id="rId3" Type="http://schemas.openxmlformats.org/officeDocument/2006/relationships/hyperlink" Target="https://doi.org/10.1026/0033-3042/a000335" TargetMode="Externa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0-0002-6413-3895"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8282-3910"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Staff%20URL" TargetMode="External" /><Relationship Id="rId4" Type="http://schemas.openxmlformats.org/officeDocument/2006/relationships/hyperlink" Target="https://creativecommons.org/licenses/by-sa/4.0/deed.en" TargetMode="External" /><Relationship Id="rId5" Type="http://schemas.openxmlformats.org/officeDocument/2006/relationships/hyperlink" Target="url" TargetMode="External" /><Relationship Id="rId6" Type="http://schemas.openxmlformats.org/officeDocument/2006/relationships/hyperlink" Target="https://creativecommons.org/licenses/by-sa/4.0/deed.en" TargetMode="External" /><Relationship Id="rId7" Type="http://schemas.openxmlformats.org/officeDocument/2006/relationships/hyperlink" Target="https://creativecommons.org/publicdomain/zero/1.0/" TargetMode="External" /><Relationship Id="rId8" Type="http://schemas.openxmlformats.org/officeDocument/2006/relationships/hyperlink" Target="https://www.osc.lmu.de/" TargetMode="External" /><Relationship Id="rId9" Type="http://schemas.openxmlformats.org/officeDocument/2006/relationships/hyperlink" Target="https://lmu-osc.github.io/teaching-material-for-novices/open-research-tools/topic"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 TargetMode="External" /><Relationship Id="rId3" Type="http://schemas.openxmlformats.org/officeDocument/2006/relationships/hyperlink" Target="https://revealjs.com/" TargetMode="External" /><Relationship Id="rId4" Type="http://schemas.openxmlformats.org/officeDocument/2006/relationships/hyperlink" Target="https://www.markdownguide.org/" TargetMode="External" /><Relationship Id="rId5" Type="http://schemas.openxmlformats.org/officeDocument/2006/relationships/hyperlink" Target="https://github.com/" TargetMode="Externa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27.xml" /><Relationship Id="rId3" Type="http://schemas.openxmlformats.org/officeDocument/2006/relationships/image" Target="../media/image1.jpg"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2.jpg" /><Relationship Id="rId2" Type="http://schemas.openxmlformats.org/officeDocument/2006/relationships/image" Target="../media/image1.jp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28.xml" /><Relationship Id="rId3" Type="http://schemas.openxmlformats.org/officeDocument/2006/relationships/image" Target="../media/image1.jpg"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3" Type="http://schemas.openxmlformats.org/officeDocument/2006/relationships/hyperlink" Target="https://www.youtube.com/watch?v=q3uXXh1sHcI" TargetMode="External" /><Relationship Id="rId2" Type="http://schemas.openxmlformats.org/officeDocument/2006/relationships/image" Target="../media/image1.jpg" /></Relationships>
</file>

<file path=ppt/slides/_rels/slide52.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1.xml" /><Relationship Id="rId3" Type="http://schemas.openxmlformats.org/officeDocument/2006/relationships/image" Target="../media/image3.png"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Template Quarto slides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Add your name</a:t>
            </a:r>
          </a:p>
        </p:txBody>
      </p:sp>
      <p:sp>
        <p:nvSpPr>
          <p:cNvPr id="4" name="Date Placeholder 3"/>
          <p:cNvSpPr>
            <a:spLocks noGrp="1"/>
          </p:cNvSpPr>
          <p:nvPr>
            <p:ph idx="10" sz="half" type="dt"/>
          </p:nvPr>
        </p:nvSpPr>
        <p:spPr/>
        <p:txBody>
          <a:bodyPr/>
          <a:lstStyle/>
          <a:p>
            <a:pPr lvl="0" indent="0" marL="0">
              <a:buNone/>
            </a:pPr>
            <a:r>
              <a:rPr/>
              <a:t>19/10/2026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Important</a:t>
            </a:r>
          </a:p>
          <a:p>
            <a:pPr lvl="0" indent="0" marL="1270000">
              <a:buNone/>
            </a:pPr>
            <a:r>
              <a:rPr sz="2000"/>
              <a:t>Before completing this session, please carefully read about the prerequisites.</a:t>
            </a:r>
          </a:p>
          <a:p>
            <a:pPr lvl="0" indent="0" marL="0">
              <a:buNone/>
            </a:pPr>
            <a:r>
              <a:rPr/>
              <a:t>Add references in the footer.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the previous session</a:t>
            </a:r>
          </a:p>
          <a:p>
            <a:pPr lvl="0" indent="0" marL="0">
              <a:buNone/>
            </a:pPr>
            <a:r>
              <a:rPr/>
              <a:t>Are there any open questions regarding </a:t>
            </a:r>
            <a:r>
              <a:rPr b="1"/>
              <a:t>Topic</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Before we start: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r>
              <a:rPr/>
              <a:t>What do we see in the results?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Point 1</a:t>
            </a:r>
          </a:p>
          <a:p>
            <a:pPr lvl="0"/>
            <a:r>
              <a:rPr/>
              <a:t>Point 2</a:t>
            </a:r>
          </a:p>
          <a:p>
            <a:pPr lvl="0" indent="0" marL="0">
              <a:buNone/>
            </a:pPr>
            <a:r>
              <a:rPr b="1"/>
              <a:t>Up next</a:t>
            </a:r>
            <a:r>
              <a:rPr/>
              <a:t>:</a:t>
            </a:r>
          </a:p>
          <a:p>
            <a:pPr lvl="0"/>
            <a:r>
              <a:rPr/>
              <a:t>Point 1</a:t>
            </a:r>
          </a:p>
          <a:p>
            <a:pPr lvl="0"/>
            <a:r>
              <a:rPr/>
              <a:t>Point 2</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a:t>Topic 1</a:t>
            </a:r>
          </a:p>
          <a:p>
            <a:pPr lvl="0"/>
            <a:r>
              <a:rPr/>
              <a:t>Topic 2</a:t>
            </a:r>
          </a:p>
          <a:p>
            <a:pPr lvl="0"/>
            <a:r>
              <a:rPr/>
              <a:t>Topic 3</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a:t>
            </a:r>
          </a:p>
          <a:p>
            <a:pPr lvl="0" indent="0" marL="0">
              <a:buNone/>
            </a:pPr>
            <a:r>
              <a:rPr/>
              <a:t>At the end of this session, you will be able to…</a:t>
            </a:r>
          </a:p>
          <a:p>
            <a:pPr lvl="0"/>
            <a:r>
              <a:rPr b="1"/>
              <a:t>Install</a:t>
            </a:r>
            <a:r>
              <a:rPr/>
              <a:t> and </a:t>
            </a:r>
            <a:r>
              <a:rPr b="1"/>
              <a:t>load</a:t>
            </a:r>
            <a:r>
              <a:rPr/>
              <a:t> ….</a:t>
            </a:r>
          </a:p>
          <a:p>
            <a:pPr lvl="0"/>
            <a:r>
              <a:rPr b="1"/>
              <a:t>Import</a:t>
            </a:r>
            <a:r>
              <a:rPr/>
              <a:t> external data …</a:t>
            </a:r>
          </a:p>
          <a:p>
            <a:pPr lvl="0"/>
            <a:r>
              <a:rPr b="1"/>
              <a:t>Explain</a:t>
            </a:r>
            <a:r>
              <a:rPr/>
              <a:t> key components of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p>
          <a:p>
            <a:pPr lvl="0"/>
            <a:r>
              <a:rPr b="1"/>
              <a:t>Key Term 2</a:t>
            </a:r>
          </a:p>
          <a:p>
            <a:pPr lvl="0"/>
            <a:r>
              <a:rPr b="1"/>
              <a:t>Key Term 3</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Key Term 1</a:t>
            </a:r>
            <a:r>
              <a:rPr/>
              <a:t>: Definition</a:t>
            </a:r>
          </a:p>
          <a:p>
            <a:pPr lvl="0"/>
            <a:r>
              <a:rPr b="1"/>
              <a:t>Key Term 2</a:t>
            </a:r>
            <a:r>
              <a:rPr/>
              <a:t>: Definition</a:t>
            </a:r>
          </a:p>
          <a:p>
            <a:pPr lvl="0"/>
            <a:r>
              <a:rPr b="1"/>
              <a:t>Key Term 3</a:t>
            </a:r>
            <a:r>
              <a:rPr/>
              <a:t>: Definition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Introduction to topic</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a:p>
            <a:pPr lvl="0" indent="0" marL="1270000">
              <a:buNone/>
            </a:pPr>
            <a:r>
              <a:rPr sz="2000" b="1"/>
              <a:t>Important with Title</a:t>
            </a:r>
          </a:p>
          <a:p>
            <a:pPr lvl="0" indent="0" marL="1270000">
              <a:buNone/>
            </a:pPr>
            <a:r>
              <a:rPr sz="2000"/>
              <a:t>This is an example of a callout box to highlight particularly important information.</a:t>
            </a:r>
          </a:p>
          <a:p>
            <a:pPr lvl="0" indent="0" marL="1270000">
              <a:buNone/>
            </a:pPr>
            <a:r>
              <a:rPr sz="2000" b="1"/>
              <a:t>Tip with Title</a:t>
            </a:r>
          </a:p>
          <a:p>
            <a:pPr lvl="0" indent="0" marL="1270000">
              <a:buNone/>
            </a:pPr>
            <a:r>
              <a:rPr sz="2000"/>
              <a:t>This is an example of a callout box to give important tips.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Name</a:t>
            </a:r>
          </a:p>
          <a:p>
            <a:pPr lvl="0"/>
            <a:r>
              <a:rPr/>
              <a:t>☒ Step 1</a:t>
            </a:r>
          </a:p>
          <a:p>
            <a:pPr lvl="0"/>
            <a:r>
              <a:rPr/>
              <a:t>☐ Step 2</a:t>
            </a:r>
          </a:p>
          <a:p>
            <a:pPr lvl="0"/>
            <a:r>
              <a:rPr/>
              <a:t>☐ Step 3</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Pre-break quiz</a:t>
            </a:r>
          </a:p>
          <a:p>
            <a:pPr lvl="0" indent="0" marL="0">
              <a:spcBef>
                <a:spcPts val="3000"/>
              </a:spcBef>
              <a:buNone/>
            </a:pPr>
            <a:r>
              <a:rPr b="1"/>
              <a:t>Question 1</a:t>
            </a:r>
          </a:p>
          <a:p>
            <a:pPr lvl="0" indent="0" marL="0">
              <a:buNone/>
            </a:pPr>
            <a:r>
              <a:rPr b="1"/>
              <a:t>Which species is the largest type of penguin</a:t>
            </a:r>
            <a:r>
              <a:rPr/>
              <a:t>?</a:t>
            </a:r>
          </a:p>
          <a:p>
            <a:pPr lvl="0" indent="-342900" marL="342900">
              <a:buAutoNum type="alphaLcPeriod"/>
            </a:pPr>
            <a:r>
              <a:rPr/>
              <a:t>Chinstrap Penguin</a:t>
            </a:r>
          </a:p>
          <a:p>
            <a:pPr lvl="0" indent="-342900" marL="342900">
              <a:buAutoNum type="alphaLcPeriod"/>
            </a:pPr>
            <a:r>
              <a:rPr/>
              <a:t>Emperor Penguin ✅</a:t>
            </a:r>
          </a:p>
          <a:p>
            <a:pPr lvl="0" indent="-342900" marL="342900">
              <a:buAutoNum type="alphaLcPeriod"/>
            </a:pPr>
            <a:r>
              <a:rPr/>
              <a:t>Adélie Penguin</a:t>
            </a:r>
          </a:p>
          <a:p>
            <a:pPr lvl="0" indent="-342900" marL="342900">
              <a:buAutoNum type="alphaLcPeriod"/>
            </a:pPr>
            <a:r>
              <a:rPr/>
              <a:t>King Penguin</a:t>
            </a:r>
          </a:p>
          <a:p>
            <a:pPr lvl="0" indent="0" marL="0">
              <a:spcBef>
                <a:spcPts val="3000"/>
              </a:spcBef>
              <a:buNone/>
            </a:pPr>
            <a:r>
              <a:rPr b="1"/>
              <a:t>Question 2</a:t>
            </a:r>
          </a:p>
          <a:p>
            <a:pPr lvl="0" indent="0" marL="0">
              <a:buNone/>
            </a:pPr>
            <a:r>
              <a:rPr b="1"/>
              <a:t>What is the key biological feature that helps penguins swim efficiently?</a:t>
            </a:r>
          </a:p>
          <a:p>
            <a:pPr lvl="0" indent="-342900" marL="342900">
              <a:buAutoNum type="alphaLcPeriod"/>
            </a:pPr>
            <a:r>
              <a:rPr/>
              <a:t>Hollow bones for buoyancy</a:t>
            </a:r>
          </a:p>
          <a:p>
            <a:pPr lvl="0" indent="-342900" marL="342900">
              <a:buAutoNum type="alphaLcPeriod"/>
            </a:pPr>
            <a:r>
              <a:rPr/>
              <a:t>Webbed feet for paddling</a:t>
            </a:r>
          </a:p>
          <a:p>
            <a:pPr lvl="0" indent="-342900" marL="342900">
              <a:buAutoNum type="alphaLcPeriod"/>
            </a:pPr>
            <a:r>
              <a:rPr/>
              <a:t>Waterproof feathers and flipper-like wings ✅</a:t>
            </a:r>
          </a:p>
          <a:p>
            <a:pPr lvl="0" indent="-342900" marL="342900">
              <a:buAutoNum type="alphaLcPeriod"/>
            </a:pPr>
            <a:r>
              <a:rPr/>
              <a:t>Gills to breathe underwater</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Topic content slide</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a:t>
            </a:r>
          </a:p>
          <a:p>
            <a:pPr lvl="0" indent="0" marL="0">
              <a:buNone/>
            </a:pPr>
            <a:r>
              <a:rPr b="1"/>
              <a:t>Task Aim</a:t>
            </a:r>
          </a:p>
          <a:p>
            <a:pPr lvl="0"/>
            <a:r>
              <a:rPr/>
              <a:t>☒ Step 1</a:t>
            </a:r>
          </a:p>
          <a:p>
            <a:pPr lvl="0"/>
            <a:r>
              <a:rPr/>
              <a:t>☐ Step 2</a:t>
            </a:r>
          </a:p>
          <a:p>
            <a:pPr lvl="0"/>
            <a:r>
              <a:rPr/>
              <a:t>☐ Step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 (if applicable)</a:t>
            </a:r>
          </a:p>
          <a:p>
            <a:pPr lvl="0"/>
            <a:r>
              <a:rPr b="1"/>
              <a:t>Aim</a:t>
            </a:r>
            <a:r>
              <a:rPr/>
              <a:t>: To work out the relevance of the topic to your learners.</a:t>
            </a:r>
          </a:p>
          <a:p>
            <a:pPr lvl="0"/>
            <a:r>
              <a:rPr/>
              <a:t>In an interactive setting, discuss how the new skills could be applied in practise with specific examples.</a:t>
            </a:r>
          </a:p>
          <a:p>
            <a:pPr lvl="0"/>
            <a:r>
              <a:rPr/>
              <a:t>Examine downfalls and practical obstacles.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a:r>
              <a:rPr b="1"/>
              <a:t>Aim</a:t>
            </a:r>
            <a:r>
              <a:rPr/>
              <a:t>: Explain the homework assignment and the rationale behind the homework.</a:t>
            </a:r>
          </a:p>
          <a:p>
            <a:pPr lvl="0"/>
            <a:r>
              <a:rPr/>
              <a:t>Examine whether/how it will be assessed</a:t>
            </a:r>
          </a:p>
          <a:p>
            <a:pPr lvl="0"/>
            <a:r>
              <a:rPr/>
              <a:t>Mention scoring rubrics, if applicable</a:t>
            </a:r>
          </a:p>
          <a:p>
            <a:pPr lvl="0"/>
            <a:r>
              <a:rPr/>
              <a:t>Design a peer-review system for assignments to place learners in role of reviewer and author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Take-home message(s)</a:t>
            </a:r>
          </a:p>
          <a:p>
            <a:pPr lvl="0"/>
            <a:r>
              <a:rPr/>
              <a:t>Take-home message 1</a:t>
            </a:r>
          </a:p>
          <a:p>
            <a:pPr lvl="0"/>
            <a:r>
              <a:rPr/>
              <a:t>Take-home message 2</a:t>
            </a:r>
          </a:p>
          <a:p>
            <a:pPr lvl="0" indent="0" marL="0">
              <a:buNone/>
            </a:pPr>
            <a:r>
              <a:rPr/>
              <a:t> </a:t>
            </a:r>
          </a:p>
          <a:p>
            <a:pPr lvl="0" indent="0" marL="1270000">
              <a:buNone/>
            </a:pPr>
            <a:r>
              <a:rPr sz="2000" b="1"/>
              <a:t>Tip with Title</a:t>
            </a:r>
          </a:p>
          <a:p>
            <a:pPr lvl="0" indent="0" marL="1270000">
              <a:buNone/>
            </a:pPr>
            <a:r>
              <a:rPr sz="2000"/>
              <a:t>Add one practical tip in this box.</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 What have we done so far?</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objectives: Check-In</a:t>
            </a:r>
          </a:p>
          <a:p>
            <a:pPr lvl="0" indent="0" marL="0">
              <a:buNone/>
            </a:pPr>
            <a:r>
              <a:rPr b="1"/>
              <a:t>Where are we at?</a:t>
            </a:r>
          </a:p>
          <a:p>
            <a:pPr lvl="0"/>
            <a:r>
              <a:rPr/>
              <a:t>☐ </a:t>
            </a:r>
            <a:r>
              <a:rPr b="1"/>
              <a:t>Explain</a:t>
            </a:r>
            <a:r>
              <a:rPr/>
              <a:t> the importance …</a:t>
            </a:r>
          </a:p>
          <a:p>
            <a:pPr lvl="0"/>
            <a:r>
              <a:rPr/>
              <a:t>☐ </a:t>
            </a:r>
            <a:r>
              <a:rPr b="1"/>
              <a:t>Familiarize yourself</a:t>
            </a:r>
            <a:r>
              <a:rPr/>
              <a:t> with different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To conclude: Survey time!</a:t>
            </a:r>
          </a:p>
          <a:p>
            <a:pPr lvl="0" indent="0" marL="0">
              <a:spcBef>
                <a:spcPts val="3000"/>
              </a:spcBef>
              <a:buNone/>
            </a:pPr>
            <a:r>
              <a:rPr b="1"/>
              <a:t>Question 1</a:t>
            </a:r>
          </a:p>
          <a:p>
            <a:pPr lvl="0" indent="0" marL="0">
              <a:buNone/>
            </a:pPr>
            <a:r>
              <a:rPr b="1"/>
              <a:t>What is your level of familiarity with [Topic] (e.g., basic concepts, terminology, or tools)?</a:t>
            </a:r>
          </a:p>
          <a:p>
            <a:pPr lvl="0" indent="-342900" marL="342900">
              <a:buAutoNum type="alphaLcPeriod"/>
            </a:pPr>
            <a:r>
              <a:rPr/>
              <a:t>I have never heard of it before.</a:t>
            </a:r>
          </a:p>
          <a:p>
            <a:pPr lvl="0" indent="-342900" marL="342900">
              <a:buAutoNum type="alphaLcPeriod"/>
            </a:pPr>
            <a:r>
              <a:rPr/>
              <a:t>I have heard of it but have never worked with it.</a:t>
            </a:r>
          </a:p>
          <a:p>
            <a:pPr lvl="0" indent="-342900" marL="342900">
              <a:buAutoNum type="alphaLcPeriod"/>
            </a:pPr>
            <a:r>
              <a:rPr/>
              <a:t>I have basic understanding and experience with it.</a:t>
            </a:r>
          </a:p>
          <a:p>
            <a:pPr lvl="0" indent="-342900" marL="342900">
              <a:buAutoNum type="alphaLcPeriod"/>
            </a:pPr>
            <a:r>
              <a:rPr/>
              <a:t>I am very familiar and have worked with it extensively.</a:t>
            </a:r>
          </a:p>
          <a:p>
            <a:pPr lvl="0" indent="0" marL="0">
              <a:spcBef>
                <a:spcPts val="3000"/>
              </a:spcBef>
              <a:buNone/>
            </a:pPr>
            <a:r>
              <a:rPr b="1"/>
              <a:t>Question 2</a:t>
            </a:r>
          </a:p>
          <a:p>
            <a:pPr lvl="0" indent="0" marL="0">
              <a:buNone/>
            </a:pPr>
            <a:r>
              <a:rPr b="1"/>
              <a:t>Which of the following concepts or skills do you feel most confident about in relation to [Topic]? (Select all that apply)</a:t>
            </a:r>
          </a:p>
          <a:p>
            <a:pPr lvl="0" indent="-342900" marL="342900">
              <a:buAutoNum type="alphaLcPeriod"/>
            </a:pPr>
            <a:r>
              <a:rPr/>
              <a:t>Concept 1</a:t>
            </a:r>
          </a:p>
          <a:p>
            <a:pPr lvl="0" indent="-342900" marL="342900">
              <a:buAutoNum type="alphaLcPeriod"/>
            </a:pPr>
            <a:r>
              <a:rPr/>
              <a:t>Concept 2</a:t>
            </a:r>
          </a:p>
          <a:p>
            <a:pPr lvl="0" indent="-342900" marL="342900">
              <a:buAutoNum type="alphaLcPeriod"/>
            </a:pPr>
            <a:r>
              <a:rPr/>
              <a:t>Concept 3</a:t>
            </a:r>
          </a:p>
          <a:p>
            <a:pPr lvl="0" indent="-342900" marL="342900">
              <a:buAutoNum type="alphaLcPeriod"/>
            </a:pPr>
            <a:r>
              <a:rPr/>
              <a:t>Concept 4</a:t>
            </a:r>
          </a:p>
          <a:p>
            <a:pPr lvl="0" indent="-342900" marL="342900">
              <a:buAutoNum type="alphaLcPeriod"/>
            </a:pPr>
            <a:r>
              <a:rPr/>
              <a:t>I am not sure about any of these concepts.</a:t>
            </a:r>
          </a:p>
          <a:p>
            <a:pPr lvl="0" indent="0" marL="0">
              <a:spcBef>
                <a:spcPts val="3000"/>
              </a:spcBef>
              <a:buNone/>
            </a:pPr>
            <a:r>
              <a:rPr b="1"/>
              <a:t>Question 3</a:t>
            </a:r>
          </a:p>
          <a:p>
            <a:pPr lvl="0" indent="0" marL="0">
              <a:buNone/>
            </a:pPr>
            <a:r>
              <a:rPr b="1"/>
              <a:t>On a scale of 1 to 5, how comfortable are you with using [specific tool/technology] related to [Topic]? (1 = Not comfortable at all, 5 = Very comfortable)</a:t>
            </a:r>
          </a:p>
          <a:p>
            <a:pPr lvl="0" indent="-342900" marL="342900">
              <a:buAutoNum type="alphaLcPeriod"/>
            </a:pPr>
            <a:r>
              <a:rPr/>
              <a:t>1</a:t>
            </a:r>
          </a:p>
          <a:p>
            <a:pPr lvl="0" indent="-342900" marL="342900">
              <a:buAutoNum type="alphaLcPeriod"/>
            </a:pPr>
            <a:r>
              <a:rPr/>
              <a:t>2</a:t>
            </a:r>
          </a:p>
          <a:p>
            <a:pPr lvl="0" indent="-342900" marL="342900">
              <a:buAutoNum type="alphaLcPeriod"/>
            </a:pPr>
            <a:r>
              <a:rPr/>
              <a:t>3</a:t>
            </a:r>
          </a:p>
          <a:p>
            <a:pPr lvl="0" indent="-342900" marL="342900">
              <a:buAutoNum type="alphaLcPeriod"/>
            </a:pPr>
            <a:r>
              <a:rPr/>
              <a:t>4</a:t>
            </a:r>
          </a:p>
          <a:p>
            <a:pPr lvl="0" indent="-342900" marL="342900">
              <a:buAutoNum type="alphaLcPeriod"/>
            </a:pPr>
            <a:r>
              <a:rPr/>
              <a:t>5</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indent="0" marL="0">
              <a:buNone/>
            </a:pPr>
            <a:r>
              <a:rPr/>
              <a:t>Abele-Brehm, A. E., &amp; Bühner, M. (2016). Wer soll die Professur bekommen? </a:t>
            </a:r>
            <a:r>
              <a:rPr i="1"/>
              <a:t>Psychologische Rundschau</a:t>
            </a:r>
            <a:r>
              <a:rPr/>
              <a:t>, </a:t>
            </a:r>
            <a:r>
              <a:rPr i="1"/>
              <a:t>67</a:t>
            </a:r>
            <a:r>
              <a:rPr/>
              <a:t>(4), 250–261. </a:t>
            </a:r>
            <a:r>
              <a:rPr>
                <a:hlinkClick r:id="rId3"/>
              </a:rPr>
              <a:t>https://doi.org/10.1026/0033-3042/a000335</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resources</a:t>
            </a:r>
          </a:p>
          <a:p>
            <a:pPr lvl="0"/>
            <a:r>
              <a:rPr/>
              <a:t>Videos</a:t>
            </a:r>
          </a:p>
          <a:p>
            <a:pPr lvl="0"/>
            <a:r>
              <a:rPr/>
              <a:t>Useful resources</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Von Grebmer Zu Wolfsthurn, Sarah ( </a:t>
            </a:r>
            <a:r>
              <a:rPr>
                <a:hlinkClick r:id="rId2"/>
              </a:rPr>
              <a:t>0000-0002-6413-3895</a:t>
            </a:r>
            <a:r>
              <a:rPr/>
              <a:t>)</a:t>
            </a:r>
          </a:p>
          <a:p>
            <a:pPr lvl="0" indent="0" marL="0">
              <a:buNone/>
            </a:pPr>
            <a:r>
              <a:rPr b="1"/>
              <a:t>Reviewer</a:t>
            </a:r>
            <a:r>
              <a:rPr/>
              <a:t>: Ihle, Malika ( </a:t>
            </a:r>
            <a:r>
              <a:rPr>
                <a:hlinkClick r:id="rId3"/>
              </a:rPr>
              <a:t>0000-0002-3242-5981</a:t>
            </a:r>
            <a:r>
              <a:rPr/>
              <a:t>)</a:t>
            </a:r>
          </a:p>
          <a:p>
            <a:pPr lvl="0" indent="0" marL="0">
              <a:buNone/>
            </a:pPr>
            <a:r>
              <a:rPr b="1"/>
              <a:t>Consultant</a:t>
            </a:r>
            <a:r>
              <a:rPr/>
              <a:t>: Schönbrodt, Felix (</a:t>
            </a:r>
            <a:r>
              <a:rPr>
                <a:hlinkClick r:id="rId4"/>
              </a:rPr>
              <a:t>0000-0002-8282-3910</a:t>
            </a:r>
            <a:r>
              <a:rPr/>
              <a: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 and citation statement</a:t>
            </a:r>
          </a:p>
          <a:p>
            <a:pPr lvl="0" indent="0" marL="0">
              <a:buNone/>
            </a:pPr>
          </a:p>
          <a:p>
            <a:pPr lvl="0" indent="0" marL="0">
              <a:buNone/>
            </a:pPr>
          </a:p>
          <a:p>
            <a:pPr lvl="0" indent="0" marL="0">
              <a:buNone/>
            </a:pPr>
            <a:r>
              <a:rPr/>
              <a:t>This work was originally created by </a:t>
            </a:r>
            <a:r>
              <a:rPr>
                <a:hlinkClick r:id="rId3"/>
              </a:rPr>
              <a:t>FirstName Name</a:t>
            </a:r>
            <a:r>
              <a:rPr/>
              <a:t> under a CC-BY-SA 4.0 </a:t>
            </a:r>
            <a:r>
              <a:rPr>
                <a:hlinkClick r:id="rId4"/>
              </a:rPr>
              <a:t>Creative Commons Attribution 4.0 SA International License</a:t>
            </a:r>
            <a:r>
              <a:rPr/>
              <a:t>. It was subsequently adapted by </a:t>
            </a:r>
            <a:r>
              <a:rPr>
                <a:hlinkClick r:id="rId5"/>
              </a:rPr>
              <a:t>FirstName Name</a:t>
            </a:r>
            <a:r>
              <a:rPr/>
              <a:t>. This current work by FirstName Name and FirstName Name is licensed under a CC-BY-SA 4.0 </a:t>
            </a:r>
            <a:r>
              <a:rPr>
                <a:hlinkClick r:id="rId6"/>
              </a:rPr>
              <a:t>Creative Commons Attribution 4.0 International SA License</a:t>
            </a:r>
            <a:r>
              <a:rPr/>
              <a:t>. Code snippets are dedicated to the public domain and are licensed under a </a:t>
            </a:r>
            <a:r>
              <a:rPr>
                <a:hlinkClick r:id="rId7"/>
              </a:rPr>
              <a:t>Creative Commons Universal License</a:t>
            </a:r>
            <a:r>
              <a:rPr/>
              <a:t> (CC0 1.0).</a:t>
            </a:r>
          </a:p>
          <a:p>
            <a:pPr lvl="0" indent="0" marL="0">
              <a:buNone/>
            </a:pPr>
            <a:r>
              <a:rPr/>
              <a:t>Please cite these materials as: Name, S., Name, M., &amp; Name, F. (2026). </a:t>
            </a:r>
            <a:r>
              <a:rPr i="1"/>
              <a:t>Slidedeck Title</a:t>
            </a:r>
            <a:r>
              <a:rPr/>
              <a:t> [Quarto slides]. </a:t>
            </a:r>
            <a:r>
              <a:rPr>
                <a:hlinkClick r:id="rId8"/>
              </a:rPr>
              <a:t>LMU Open Science Center</a:t>
            </a:r>
            <a:r>
              <a:rPr/>
              <a:t>. </a:t>
            </a:r>
            <a:r>
              <a:rPr>
                <a:hlinkClick r:id="rId9"/>
              </a:rPr>
              <a:t>https://lmu-osc.github.io/teaching-material-for-novices/open-research-tools/topic</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End of slide deck</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Formatting elements for instructors - delete</a:t>
            </a:r>
          </a:p>
        </p:txBody>
      </p:sp>
      <p:sp>
        <p:nvSpPr>
          <p:cNvPr id="3" name="Content Placeholder 2"/>
          <p:cNvSpPr>
            <a:spLocks noGrp="1"/>
          </p:cNvSpPr>
          <p:nvPr>
            <p:ph idx="1"/>
          </p:nvPr>
        </p:nvSpPr>
        <p:spPr/>
        <p:txBody>
          <a:bodyPr/>
          <a:lstStyle/>
          <a:p>
            <a:pPr lvl="0"/>
            <a:r>
              <a:rPr b="1"/>
              <a:t>Aim</a:t>
            </a:r>
            <a:r>
              <a:rPr/>
              <a:t>: This section contains templates for different formatting elements, which can be modified and adapted for the instructor’s individual purposes. Delete when the slides are final.</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example links</a:t>
            </a:r>
          </a:p>
          <a:p>
            <a:pPr lvl="0"/>
            <a:r>
              <a:rPr>
                <a:hlinkClick r:id="rId2"/>
              </a:rPr>
              <a:t>Quarto Documentation</a:t>
            </a:r>
          </a:p>
          <a:p>
            <a:pPr lvl="0"/>
            <a:r>
              <a:rPr>
                <a:hlinkClick r:id="rId3"/>
              </a:rPr>
              <a:t>Reveal.js Documentation</a:t>
            </a:r>
          </a:p>
          <a:p>
            <a:pPr lvl="0"/>
            <a:r>
              <a:rPr>
                <a:hlinkClick r:id="rId4"/>
              </a:rPr>
              <a:t>Markdown Guide</a:t>
            </a:r>
          </a:p>
          <a:p>
            <a:pPr lvl="0"/>
            <a:r>
              <a:rPr>
                <a:hlinkClick r:id="rId5"/>
              </a:rPr>
              <a:t>GitHub</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Basic text formatting</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r>
              <a:rPr sz="2000"/>
              <a:t>Blockquote: </a:t>
            </a:r>
            <a:r>
              <a:rPr sz="2000">
                <a:latin typeface="Courier"/>
              </a:rPr>
              <a:t>&gt; Quote</a:t>
            </a:r>
            <a:r>
              <a:rPr sz="2000"/>
              <a:t> →</a:t>
            </a:r>
            <a:br/>
            <a:r>
              <a:rPr sz="2000"/>
              <a:t>“This is a quote”</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Text with references</a:t>
            </a:r>
          </a:p>
          <a:p>
            <a:pPr lvl="0"/>
            <a:r>
              <a:rPr/>
              <a:t>Sample text for adding a reference in brackets (Abele-Brehm &amp; Bühner, 2016). </a:t>
            </a:r>
            <a:r>
              <a:rPr b="1"/>
              <a:t>Use square brackets in the qmd file.</a:t>
            </a:r>
          </a:p>
          <a:p>
            <a:pPr lvl="0"/>
            <a:r>
              <a:rPr/>
              <a:t>Sample text for adding in text-citation: Abele-Brehm &amp; Bühner (2016) argue that climate change is accelerating. </a:t>
            </a:r>
            <a:r>
              <a:rPr b="1"/>
              <a:t>No brackets used in the qmd file.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Call-out boxes</a:t>
            </a:r>
          </a:p>
          <a:p>
            <a:pPr lvl="0" indent="0" marL="1270000">
              <a:buNone/>
            </a:pPr>
            <a:r>
              <a:rPr sz="2000" b="1"/>
              <a:t>Caution</a:t>
            </a:r>
          </a:p>
          <a:p>
            <a:pPr lvl="0" indent="0" marL="1270000">
              <a:buNone/>
            </a:pPr>
            <a:r>
              <a:rPr sz="2000"/>
              <a:t>Include text here.</a:t>
            </a:r>
          </a:p>
          <a:p>
            <a:pPr lvl="0" indent="0" marL="1270000">
              <a:buNone/>
            </a:pPr>
            <a:r>
              <a:rPr sz="2000" b="1"/>
              <a:t>Warning</a:t>
            </a:r>
          </a:p>
          <a:p>
            <a:pPr lvl="0" indent="0" marL="1270000">
              <a:buNone/>
            </a:pPr>
            <a:r>
              <a:rPr sz="2000"/>
              <a:t>Include text here.</a:t>
            </a:r>
          </a:p>
          <a:p>
            <a:pPr lvl="0" indent="0" marL="1270000">
              <a:buNone/>
            </a:pPr>
            <a:r>
              <a:rPr sz="2000" b="1"/>
              <a:t>Tip</a:t>
            </a:r>
          </a:p>
          <a:p>
            <a:pPr lvl="0" indent="0" marL="1270000">
              <a:buNone/>
            </a:pPr>
            <a:r>
              <a:rPr sz="2000"/>
              <a:t>Include text here.</a:t>
            </a:r>
          </a:p>
          <a:p>
            <a:pPr lvl="0" indent="0" marL="1270000">
              <a:buNone/>
            </a:pPr>
            <a:r>
              <a:rPr sz="2000" b="1"/>
              <a:t>Note</a:t>
            </a:r>
          </a:p>
          <a:p>
            <a:pPr lvl="0" indent="0" marL="1270000">
              <a:buNone/>
            </a:pPr>
            <a:r>
              <a:rPr sz="2000"/>
              <a:t>Include text here.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Figure (centered) with caption and alt text</a:t>
            </a:r>
          </a:p>
        </p:txBody>
      </p:sp>
      <p:pic>
        <p:nvPicPr>
          <p:cNvPr descr="images/penguin.jp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A penguin standing on ice.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Figure with bullet points</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Side-by-side figures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2"/>
          <a:stretch>
            <a:fillRect/>
          </a:stretch>
        </p:blipFill>
        <p:spPr bwMode="auto">
          <a:xfrm>
            <a:off x="457200" y="1295400"/>
            <a:ext cx="4038600" cy="2679700"/>
          </a:xfrm>
          <a:prstGeom prst="rect">
            <a:avLst/>
          </a:prstGeom>
          <a:noFill/>
          <a:ln w="9525">
            <a:noFill/>
            <a:headEnd/>
            <a:tailEnd/>
          </a:ln>
        </p:spPr>
      </p:pic>
      <p:sp>
        <p:nvSpPr>
          <p:cNvPr id="1" name="TextBox 3"/>
          <p:cNvSpPr txBox="1"/>
          <p:nvPr>
            <p:ph idx="1"/>
          </p:nvPr>
        </p:nvSpPr>
        <p:spPr>
          <a:xfrm>
            <a:off x="457200" y="4076700"/>
            <a:ext cx="4038600" cy="508000"/>
          </a:xfrm>
          <a:prstGeom prst="rect">
            <a:avLst/>
          </a:prstGeom>
          <a:noFill/>
        </p:spPr>
        <p:txBody>
          <a:bodyPr/>
          <a:lstStyle/>
          <a:p>
            <a:pPr lvl="0" indent="0" marL="0" algn="ctr">
              <a:buNone/>
            </a:pPr>
            <a:r>
              <a:rPr/>
              <a:t>Figure 1: Penguin</a:t>
            </a:r>
          </a:p>
        </p:txBody>
      </p:sp>
      <p:pic>
        <p:nvPicPr>
          <p:cNvPr descr="images/seal.jpg" id="0" name="Picture 1"/>
          <p:cNvPicPr>
            <a:picLocks noGrp="1" noChangeAspect="1"/>
          </p:cNvPicPr>
          <p:nvPr/>
        </p:nvPicPr>
        <p:blipFill>
          <a:blip r:embed="rId3"/>
          <a:stretch>
            <a:fillRect/>
          </a:stretch>
        </p:blipFill>
        <p:spPr bwMode="auto">
          <a:xfrm>
            <a:off x="4648200" y="1295400"/>
            <a:ext cx="4038600" cy="2692400"/>
          </a:xfrm>
          <a:prstGeom prst="rect">
            <a:avLst/>
          </a:prstGeom>
          <a:noFill/>
          <a:ln w="9525">
            <a:noFill/>
            <a:headEnd/>
            <a:tailEnd/>
          </a:ln>
        </p:spPr>
      </p:pic>
      <p:sp>
        <p:nvSpPr>
          <p:cNvPr id="1" name="TextBox 3"/>
          <p:cNvSpPr txBox="1"/>
          <p:nvPr>
            <p:ph idx="1"/>
          </p:nvPr>
        </p:nvSpPr>
        <p:spPr>
          <a:xfrm>
            <a:off x="4648200" y="4076700"/>
            <a:ext cx="4038600" cy="508000"/>
          </a:xfrm>
          <a:prstGeom prst="rect">
            <a:avLst/>
          </a:prstGeom>
          <a:noFill/>
        </p:spPr>
        <p:txBody>
          <a:bodyPr/>
          <a:lstStyle/>
          <a:p>
            <a:pPr lvl="0" indent="0" marL="0" algn="ctr">
              <a:buNone/>
            </a:pPr>
            <a:r>
              <a:rPr/>
              <a:t>Figure 2: Seal</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Stacked figures with text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penguin.jpg" id="0" name="Picture 1"/>
          <p:cNvPicPr>
            <a:picLocks noGrp="1" noChangeAspect="1"/>
          </p:cNvPicPr>
          <p:nvPr/>
        </p:nvPicPr>
        <p:blipFill>
          <a:blip r:embed="rId3"/>
          <a:stretch>
            <a:fillRect/>
          </a:stretch>
        </p:blipFill>
        <p:spPr bwMode="auto">
          <a:xfrm>
            <a:off x="457200" y="1549400"/>
            <a:ext cx="4038600" cy="2679700"/>
          </a:xfrm>
          <a:prstGeom prst="rect">
            <a:avLst/>
          </a:prstGeom>
          <a:noFill/>
          <a:ln w="9525">
            <a:noFill/>
            <a:headEnd/>
            <a:tailEnd/>
          </a:ln>
        </p:spPr>
      </p:pic>
      <p:sp>
        <p:nvSpPr>
          <p:cNvPr id="4" name="Content Placeholder 3"/>
          <p:cNvSpPr>
            <a:spLocks noGrp="1"/>
          </p:cNvSpPr>
          <p:nvPr>
            <p:ph idx="2" sz="half"/>
          </p:nvPr>
        </p:nvSpPr>
        <p:spPr/>
        <p:txBody>
          <a:bodyPr/>
          <a:lstStyle/>
          <a:p>
            <a:pPr lvl="0"/>
            <a:r>
              <a:rPr/>
              <a:t>First bullet point</a:t>
            </a:r>
          </a:p>
          <a:p>
            <a:pPr lvl="0"/>
            <a:r>
              <a:rPr/>
              <a:t>Second bullet point</a:t>
            </a:r>
          </a:p>
          <a:p>
            <a:pPr lvl="0"/>
            <a:r>
              <a:rPr/>
              <a:t>Third bullet point</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Two-column text slide</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br/>
            <a:r>
              <a:rPr/>
              <a:t>Cras venenatis euismod malesuada.</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Three-column text slide</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b="1"/>
              <a:t>Column 1</a:t>
            </a:r>
          </a:p>
          <a:p>
            <a:pPr lvl="0" indent="0" marL="0">
              <a:buNone/>
            </a:pPr>
            <a:r>
              <a:rPr/>
              <a:t>Lorem ipsum dolor sit amet, consectetur adipiscing elit.</a:t>
            </a:r>
            <a:br/>
            <a:r>
              <a:rPr/>
              <a:t>Vivamus lacinia odio vitae vestibulum vestibulum.</a:t>
            </a:r>
          </a:p>
        </p:txBody>
      </p:sp>
      <p:sp>
        <p:nvSpPr>
          <p:cNvPr id="4" name="Content Placeholder 3"/>
          <p:cNvSpPr>
            <a:spLocks noGrp="1"/>
          </p:cNvSpPr>
          <p:nvPr>
            <p:ph idx="2" sz="half"/>
          </p:nvPr>
        </p:nvSpPr>
        <p:spPr/>
        <p:txBody>
          <a:bodyPr/>
          <a:lstStyle/>
          <a:p>
            <a:pPr lvl="0" indent="0" marL="0">
              <a:buNone/>
            </a:pPr>
            <a:r>
              <a:rPr b="1"/>
              <a:t>Column 2</a:t>
            </a:r>
          </a:p>
          <a:p>
            <a:pPr lvl="0" indent="0" marL="0">
              <a:buNone/>
            </a:pPr>
            <a:r>
              <a:rPr/>
              <a:t>Sed do eiusmod tempor incididunt ut labore et dolore magna aliqua.</a:t>
            </a:r>
            <a:br/>
            <a:r>
              <a:rPr/>
              <a:t>Ut enim ad minim veniam, quis nostrud exercitation ullamco laboris.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Simple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Column 1</a:t>
                      </a:r>
                    </a:p>
                  </a:txBody>
                  <a:tcPr/>
                </a:tc>
                <a:tc>
                  <a:txBody>
                    <a:bodyPr/>
                    <a:lstStyle/>
                    <a:p>
                      <a:pPr lvl="0" indent="0" marL="0">
                        <a:buNone/>
                      </a:pPr>
                      <a:r>
                        <a:rPr/>
                        <a:t>Column 2</a:t>
                      </a:r>
                    </a:p>
                  </a:txBody>
                  <a:tcPr/>
                </a:tc>
                <a:tc>
                  <a:txBody>
                    <a:bodyPr/>
                    <a:lstStyle/>
                    <a:p>
                      <a:pPr lvl="0" indent="0" marL="0">
                        <a:buNone/>
                      </a:pPr>
                      <a:r>
                        <a:rPr/>
                        <a:t>Column 3</a:t>
                      </a:r>
                    </a:p>
                  </a:txBody>
                  <a:tcPr/>
                </a:tc>
              </a:tr>
              <a:tr h="0">
                <a:tc>
                  <a:txBody>
                    <a:bodyPr/>
                    <a:lstStyle/>
                    <a:p>
                      <a:pPr lvl="0" indent="0" marL="0">
                        <a:buNone/>
                      </a:pPr>
                      <a:r>
                        <a:rPr/>
                        <a:t>Row 1 Cell</a:t>
                      </a:r>
                    </a:p>
                  </a:txBody>
                </a:tc>
                <a:tc>
                  <a:txBody>
                    <a:bodyPr/>
                    <a:lstStyle/>
                    <a:p>
                      <a:pPr lvl="0" indent="0" marL="0">
                        <a:buNone/>
                      </a:pPr>
                      <a:r>
                        <a:rPr/>
                        <a:t>Row 1 Cell</a:t>
                      </a:r>
                    </a:p>
                  </a:txBody>
                </a:tc>
                <a:tc>
                  <a:txBody>
                    <a:bodyPr/>
                    <a:lstStyle/>
                    <a:p>
                      <a:pPr lvl="0" indent="0" marL="0">
                        <a:buNone/>
                      </a:pPr>
                      <a:r>
                        <a:rPr/>
                        <a:t>Row 1 Cell</a:t>
                      </a:r>
                    </a:p>
                  </a:txBody>
                </a:tc>
              </a:tr>
              <a:tr h="0">
                <a:tc>
                  <a:txBody>
                    <a:bodyPr/>
                    <a:lstStyle/>
                    <a:p>
                      <a:pPr lvl="0" indent="0" marL="0">
                        <a:buNone/>
                      </a:pPr>
                      <a:r>
                        <a:rPr/>
                        <a:t>Row 2 Cell</a:t>
                      </a:r>
                    </a:p>
                  </a:txBody>
                </a:tc>
                <a:tc>
                  <a:txBody>
                    <a:bodyPr/>
                    <a:lstStyle/>
                    <a:p>
                      <a:pPr lvl="0" indent="0" marL="0">
                        <a:buNone/>
                      </a:pPr>
                      <a:r>
                        <a:rPr/>
                        <a:t>Row 2 Cell</a:t>
                      </a:r>
                    </a:p>
                  </a:txBody>
                </a:tc>
                <a:tc>
                  <a:txBody>
                    <a:bodyPr/>
                    <a:lstStyle/>
                    <a:p>
                      <a:pPr lvl="0" indent="0" marL="0">
                        <a:buNone/>
                      </a:pPr>
                      <a:r>
                        <a:rPr/>
                        <a:t>Row 2 Cell</a:t>
                      </a:r>
                    </a:p>
                  </a:txBody>
                </a:tc>
              </a:tr>
              <a:tr h="0">
                <a:tc>
                  <a:txBody>
                    <a:bodyPr/>
                    <a:lstStyle/>
                    <a:p>
                      <a:pPr lvl="0" indent="0" marL="0">
                        <a:buNone/>
                      </a:pPr>
                      <a:r>
                        <a:rPr/>
                        <a:t>Row 3 Cell</a:t>
                      </a:r>
                    </a:p>
                  </a:txBody>
                </a:tc>
                <a:tc>
                  <a:txBody>
                    <a:bodyPr/>
                    <a:lstStyle/>
                    <a:p>
                      <a:pPr lvl="0" indent="0" marL="0">
                        <a:buNone/>
                      </a:pPr>
                      <a:r>
                        <a:rPr/>
                        <a:t>Row 3 Cell</a:t>
                      </a:r>
                    </a:p>
                  </a:txBody>
                </a:tc>
                <a:tc>
                  <a:txBody>
                    <a:bodyPr/>
                    <a:lstStyle/>
                    <a:p>
                      <a:pPr lvl="0" indent="0" marL="0">
                        <a:buNone/>
                      </a:pPr>
                      <a:r>
                        <a:rPr/>
                        <a:t>Row 3 Cell</a:t>
                      </a:r>
                    </a:p>
                  </a:txBody>
                </a:tc>
              </a:tr>
              <a:tr h="0">
                <a:tc>
                  <a:txBody>
                    <a:bodyPr/>
                    <a:lstStyle/>
                    <a:p>
                      <a:pPr lvl="0" indent="0" marL="0">
                        <a:buNone/>
                      </a:pPr>
                      <a:r>
                        <a:rPr/>
                        <a:t>Row 4 Cell</a:t>
                      </a:r>
                    </a:p>
                  </a:txBody>
                </a:tc>
                <a:tc>
                  <a:txBody>
                    <a:bodyPr/>
                    <a:lstStyle/>
                    <a:p>
                      <a:pPr lvl="0" indent="0" marL="0">
                        <a:buNone/>
                      </a:pPr>
                      <a:r>
                        <a:rPr/>
                        <a:t>Row 4 Cell</a:t>
                      </a:r>
                    </a:p>
                  </a:txBody>
                </a:tc>
                <a:tc>
                  <a:txBody>
                    <a:bodyPr/>
                    <a:lstStyle/>
                    <a:p>
                      <a:pPr lvl="0" indent="0" marL="0">
                        <a:buNone/>
                      </a:pPr>
                      <a:r>
                        <a:rPr/>
                        <a:t>Row 4 Cell</a:t>
                      </a:r>
                    </a:p>
                  </a:txBody>
                </a:tc>
              </a:tr>
            </a:tbl>
          </a:graphicData>
        </a:graphic>
      </p:graphicFrame>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Complex Table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850900"/>
                <a:gridCol w="850900"/>
                <a:gridCol w="850900"/>
                <a:gridCol w="850900"/>
                <a:gridCol w="850900"/>
                <a:gridCol w="850900"/>
              </a:tblGrid>
              <a:tr h="0">
                <a:tc>
                  <a:txBody>
                    <a:bodyPr/>
                    <a:lstStyle/>
                    <a:p>
                      <a:pPr lvl="0" indent="0" marL="0">
                        <a:buNone/>
                      </a:pPr>
                      <a:r>
                        <a:rPr b="1"/>
                        <a:t>Category</a:t>
                      </a:r>
                    </a:p>
                  </a:txBody>
                  <a:tcPr/>
                </a:tc>
                <a:tc>
                  <a:txBody>
                    <a:bodyPr/>
                    <a:lstStyle/>
                    <a:p>
                      <a:pPr lvl="0" indent="0" marL="0">
                        <a:buNone/>
                      </a:pPr>
                      <a:r>
                        <a:rPr b="1"/>
                        <a:t>Metric</a:t>
                      </a:r>
                    </a:p>
                  </a:txBody>
                  <a:tcPr/>
                </a:tc>
                <a:tc>
                  <a:txBody>
                    <a:bodyPr/>
                    <a:lstStyle/>
                    <a:p>
                      <a:pPr lvl="0" indent="0" marL="0" algn="r">
                        <a:buNone/>
                      </a:pPr>
                      <a:r>
                        <a:rPr b="1"/>
                        <a:t>Q1</a:t>
                      </a:r>
                    </a:p>
                  </a:txBody>
                  <a:tcPr/>
                </a:tc>
                <a:tc>
                  <a:txBody>
                    <a:bodyPr/>
                    <a:lstStyle/>
                    <a:p>
                      <a:pPr lvl="0" indent="0" marL="0" algn="r">
                        <a:buNone/>
                      </a:pPr>
                      <a:r>
                        <a:rPr b="1"/>
                        <a:t>Q2</a:t>
                      </a:r>
                    </a:p>
                  </a:txBody>
                  <a:tcPr/>
                </a:tc>
                <a:tc>
                  <a:txBody>
                    <a:bodyPr/>
                    <a:lstStyle/>
                    <a:p>
                      <a:pPr lvl="0" indent="0" marL="0" algn="r">
                        <a:buNone/>
                      </a:pPr>
                      <a:r>
                        <a:rPr b="1"/>
                        <a:t>Q3</a:t>
                      </a:r>
                    </a:p>
                  </a:txBody>
                  <a:tcPr/>
                </a:tc>
                <a:tc>
                  <a:txBody>
                    <a:bodyPr/>
                    <a:lstStyle/>
                    <a:p>
                      <a:pPr lvl="0" indent="0" marL="0" algn="r">
                        <a:buNone/>
                      </a:pPr>
                      <a:r>
                        <a:rPr b="1"/>
                        <a:t>Q4</a:t>
                      </a:r>
                    </a:p>
                  </a:txBody>
                  <a:tcPr/>
                </a:tc>
              </a:tr>
              <a:tr h="0">
                <a:tc>
                  <a:txBody>
                    <a:bodyPr/>
                    <a:lstStyle/>
                    <a:p>
                      <a:pPr lvl="0" indent="0" marL="0">
                        <a:buNone/>
                      </a:pPr>
                      <a:r>
                        <a:rPr b="1"/>
                        <a:t>Sales</a:t>
                      </a:r>
                    </a:p>
                  </a:txBody>
                </a:tc>
                <a:tc>
                  <a:txBody>
                    <a:bodyPr/>
                    <a:lstStyle/>
                    <a:p>
                      <a:pPr lvl="0" indent="0" marL="0">
                        <a:buNone/>
                      </a:pPr>
                      <a:r>
                        <a:rPr/>
                        <a:t>Revenue</a:t>
                      </a:r>
                    </a:p>
                  </a:txBody>
                </a:tc>
                <a:tc>
                  <a:txBody>
                    <a:bodyPr/>
                    <a:lstStyle/>
                    <a:p>
                      <a:pPr lvl="0" indent="0" marL="0" algn="r">
                        <a:buNone/>
                      </a:pPr>
                      <a:r>
                        <a:rPr/>
                        <a:t>12,000</a:t>
                      </a:r>
                    </a:p>
                  </a:txBody>
                </a:tc>
                <a:tc>
                  <a:txBody>
                    <a:bodyPr/>
                    <a:lstStyle/>
                    <a:p>
                      <a:pPr lvl="0" indent="0" marL="0" algn="r">
                        <a:buNone/>
                      </a:pPr>
                      <a:r>
                        <a:rPr/>
                        <a:t>14,500</a:t>
                      </a:r>
                    </a:p>
                  </a:txBody>
                </a:tc>
                <a:tc>
                  <a:txBody>
                    <a:bodyPr/>
                    <a:lstStyle/>
                    <a:p>
                      <a:pPr lvl="0" indent="0" marL="0" algn="r">
                        <a:buNone/>
                      </a:pPr>
                      <a:r>
                        <a:rPr/>
                        <a:t>15,200</a:t>
                      </a:r>
                    </a:p>
                  </a:txBody>
                </a:tc>
                <a:tc>
                  <a:txBody>
                    <a:bodyPr/>
                    <a:lstStyle/>
                    <a:p>
                      <a:pPr lvl="0" indent="0" marL="0" algn="r">
                        <a:buNone/>
                      </a:pPr>
                      <a:r>
                        <a:rPr/>
                        <a:t>16,800</a:t>
                      </a:r>
                    </a:p>
                  </a:txBody>
                </a:tc>
              </a:tr>
              <a:tr h="0">
                <a:tc>
                  <a:txBody>
                    <a:bodyPr/>
                    <a:lstStyle/>
                    <a:p>
                      <a:endParaRPr/>
                    </a:p>
                  </a:txBody>
                </a:tc>
                <a:tc>
                  <a:txBody>
                    <a:bodyPr/>
                    <a:lstStyle/>
                    <a:p>
                      <a:pPr lvl="0" indent="0" marL="0">
                        <a:buNone/>
                      </a:pPr>
                      <a:r>
                        <a:rPr/>
                        <a:t>Units Sold</a:t>
                      </a:r>
                    </a:p>
                  </a:txBody>
                </a:tc>
                <a:tc>
                  <a:txBody>
                    <a:bodyPr/>
                    <a:lstStyle/>
                    <a:p>
                      <a:pPr lvl="0" indent="0" marL="0" algn="r">
                        <a:buNone/>
                      </a:pPr>
                      <a:r>
                        <a:rPr/>
                        <a:t>1,200</a:t>
                      </a:r>
                    </a:p>
                  </a:txBody>
                </a:tc>
                <a:tc>
                  <a:txBody>
                    <a:bodyPr/>
                    <a:lstStyle/>
                    <a:p>
                      <a:pPr lvl="0" indent="0" marL="0" algn="r">
                        <a:buNone/>
                      </a:pPr>
                      <a:r>
                        <a:rPr/>
                        <a:t>1,450</a:t>
                      </a:r>
                    </a:p>
                  </a:txBody>
                </a:tc>
                <a:tc>
                  <a:txBody>
                    <a:bodyPr/>
                    <a:lstStyle/>
                    <a:p>
                      <a:pPr lvl="0" indent="0" marL="0" algn="r">
                        <a:buNone/>
                      </a:pPr>
                      <a:r>
                        <a:rPr/>
                        <a:t>1,520</a:t>
                      </a:r>
                    </a:p>
                  </a:txBody>
                </a:tc>
                <a:tc>
                  <a:txBody>
                    <a:bodyPr/>
                    <a:lstStyle/>
                    <a:p>
                      <a:pPr lvl="0" indent="0" marL="0" algn="r">
                        <a:buNone/>
                      </a:pPr>
                      <a:r>
                        <a:rPr/>
                        <a:t>1,680</a:t>
                      </a:r>
                    </a:p>
                  </a:txBody>
                </a:tc>
              </a:tr>
              <a:tr h="0">
                <a:tc>
                  <a:txBody>
                    <a:bodyPr/>
                    <a:lstStyle/>
                    <a:p>
                      <a:pPr lvl="0" indent="0" marL="0">
                        <a:buNone/>
                      </a:pPr>
                      <a:r>
                        <a:rPr b="1"/>
                        <a:t>Costs</a:t>
                      </a:r>
                    </a:p>
                  </a:txBody>
                </a:tc>
                <a:tc>
                  <a:txBody>
                    <a:bodyPr/>
                    <a:lstStyle/>
                    <a:p>
                      <a:pPr lvl="0" indent="0" marL="0">
                        <a:buNone/>
                      </a:pPr>
                      <a:r>
                        <a:rPr/>
                        <a:t>COGS</a:t>
                      </a:r>
                    </a:p>
                  </a:txBody>
                </a:tc>
                <a:tc>
                  <a:txBody>
                    <a:bodyPr/>
                    <a:lstStyle/>
                    <a:p>
                      <a:pPr lvl="0" indent="0" marL="0" algn="r">
                        <a:buNone/>
                      </a:pPr>
                      <a:r>
                        <a:rPr/>
                        <a:t>5,000</a:t>
                      </a:r>
                    </a:p>
                  </a:txBody>
                </a:tc>
                <a:tc>
                  <a:txBody>
                    <a:bodyPr/>
                    <a:lstStyle/>
                    <a:p>
                      <a:pPr lvl="0" indent="0" marL="0" algn="r">
                        <a:buNone/>
                      </a:pPr>
                      <a:r>
                        <a:rPr/>
                        <a:t>5,200</a:t>
                      </a:r>
                    </a:p>
                  </a:txBody>
                </a:tc>
                <a:tc>
                  <a:txBody>
                    <a:bodyPr/>
                    <a:lstStyle/>
                    <a:p>
                      <a:pPr lvl="0" indent="0" marL="0" algn="r">
                        <a:buNone/>
                      </a:pPr>
                      <a:r>
                        <a:rPr/>
                        <a:t>5,400</a:t>
                      </a:r>
                    </a:p>
                  </a:txBody>
                </a:tc>
                <a:tc>
                  <a:txBody>
                    <a:bodyPr/>
                    <a:lstStyle/>
                    <a:p>
                      <a:pPr lvl="0" indent="0" marL="0" algn="r">
                        <a:buNone/>
                      </a:pPr>
                      <a:r>
                        <a:rPr/>
                        <a:t>5,600</a:t>
                      </a:r>
                    </a:p>
                  </a:txBody>
                </a:tc>
              </a:tr>
              <a:tr h="0">
                <a:tc>
                  <a:txBody>
                    <a:bodyPr/>
                    <a:lstStyle/>
                    <a:p>
                      <a:endParaRPr/>
                    </a:p>
                  </a:txBody>
                </a:tc>
                <a:tc>
                  <a:txBody>
                    <a:bodyPr/>
                    <a:lstStyle/>
                    <a:p>
                      <a:pPr lvl="0" indent="0" marL="0">
                        <a:buNone/>
                      </a:pPr>
                      <a:r>
                        <a:rPr/>
                        <a:t>Operating Exp.</a:t>
                      </a:r>
                    </a:p>
                  </a:txBody>
                </a:tc>
                <a:tc>
                  <a:txBody>
                    <a:bodyPr/>
                    <a:lstStyle/>
                    <a:p>
                      <a:pPr lvl="0" indent="0" marL="0" algn="r">
                        <a:buNone/>
                      </a:pPr>
                      <a:r>
                        <a:rPr/>
                        <a:t>2,300</a:t>
                      </a:r>
                    </a:p>
                  </a:txBody>
                </a:tc>
                <a:tc>
                  <a:txBody>
                    <a:bodyPr/>
                    <a:lstStyle/>
                    <a:p>
                      <a:pPr lvl="0" indent="0" marL="0" algn="r">
                        <a:buNone/>
                      </a:pPr>
                      <a:r>
                        <a:rPr/>
                        <a:t>2,400</a:t>
                      </a:r>
                    </a:p>
                  </a:txBody>
                </a:tc>
                <a:tc>
                  <a:txBody>
                    <a:bodyPr/>
                    <a:lstStyle/>
                    <a:p>
                      <a:pPr lvl="0" indent="0" marL="0" algn="r">
                        <a:buNone/>
                      </a:pPr>
                      <a:r>
                        <a:rPr/>
                        <a:t>2,450</a:t>
                      </a:r>
                    </a:p>
                  </a:txBody>
                </a:tc>
                <a:tc>
                  <a:txBody>
                    <a:bodyPr/>
                    <a:lstStyle/>
                    <a:p>
                      <a:pPr lvl="0" indent="0" marL="0" algn="r">
                        <a:buNone/>
                      </a:pPr>
                      <a:r>
                        <a:rPr/>
                        <a:t>2,500</a:t>
                      </a:r>
                    </a:p>
                  </a:txBody>
                </a:tc>
              </a:tr>
              <a:tr h="0">
                <a:tc>
                  <a:txBody>
                    <a:bodyPr/>
                    <a:lstStyle/>
                    <a:p>
                      <a:pPr lvl="0" indent="0" marL="0">
                        <a:buNone/>
                      </a:pPr>
                      <a:r>
                        <a:rPr b="1"/>
                        <a:t>Profit</a:t>
                      </a:r>
                    </a:p>
                  </a:txBody>
                </a:tc>
                <a:tc>
                  <a:txBody>
                    <a:bodyPr/>
                    <a:lstStyle/>
                    <a:p>
                      <a:pPr lvl="0" indent="0" marL="0">
                        <a:buNone/>
                      </a:pPr>
                      <a:r>
                        <a:rPr/>
                        <a:t>Gross Profit</a:t>
                      </a:r>
                    </a:p>
                  </a:txBody>
                </a:tc>
                <a:tc>
                  <a:txBody>
                    <a:bodyPr/>
                    <a:lstStyle/>
                    <a:p>
                      <a:pPr lvl="0" indent="0" marL="0" algn="r">
                        <a:buNone/>
                      </a:pPr>
                      <a:r>
                        <a:rPr/>
                        <a:t>7,000</a:t>
                      </a:r>
                    </a:p>
                  </a:txBody>
                </a:tc>
                <a:tc>
                  <a:txBody>
                    <a:bodyPr/>
                    <a:lstStyle/>
                    <a:p>
                      <a:pPr lvl="0" indent="0" marL="0" algn="r">
                        <a:buNone/>
                      </a:pPr>
                      <a:r>
                        <a:rPr/>
                        <a:t>9,300</a:t>
                      </a:r>
                    </a:p>
                  </a:txBody>
                </a:tc>
                <a:tc>
                  <a:txBody>
                    <a:bodyPr/>
                    <a:lstStyle/>
                    <a:p>
                      <a:pPr lvl="0" indent="0" marL="0" algn="r">
                        <a:buNone/>
                      </a:pPr>
                      <a:r>
                        <a:rPr/>
                        <a:t>9,800</a:t>
                      </a:r>
                    </a:p>
                  </a:txBody>
                </a:tc>
                <a:tc>
                  <a:txBody>
                    <a:bodyPr/>
                    <a:lstStyle/>
                    <a:p>
                      <a:pPr lvl="0" indent="0" marL="0" algn="r">
                        <a:buNone/>
                      </a:pPr>
                      <a:r>
                        <a:rPr/>
                        <a:t>11,200</a:t>
                      </a:r>
                    </a:p>
                  </a:txBody>
                </a:tc>
              </a:tr>
              <a:tr h="0">
                <a:tc>
                  <a:txBody>
                    <a:bodyPr/>
                    <a:lstStyle/>
                    <a:p>
                      <a:endParaRPr/>
                    </a:p>
                  </a:txBody>
                </a:tc>
                <a:tc>
                  <a:txBody>
                    <a:bodyPr/>
                    <a:lstStyle/>
                    <a:p>
                      <a:pPr lvl="0" indent="0" marL="0">
                        <a:buNone/>
                      </a:pPr>
                      <a:r>
                        <a:rPr/>
                        <a:t>Net Profit</a:t>
                      </a:r>
                    </a:p>
                  </a:txBody>
                </a:tc>
                <a:tc>
                  <a:txBody>
                    <a:bodyPr/>
                    <a:lstStyle/>
                    <a:p>
                      <a:pPr lvl="0" indent="0" marL="0" algn="r">
                        <a:buNone/>
                      </a:pPr>
                      <a:r>
                        <a:rPr/>
                        <a:t>4,700</a:t>
                      </a:r>
                    </a:p>
                  </a:txBody>
                </a:tc>
                <a:tc>
                  <a:txBody>
                    <a:bodyPr/>
                    <a:lstStyle/>
                    <a:p>
                      <a:pPr lvl="0" indent="0" marL="0" algn="r">
                        <a:buNone/>
                      </a:pPr>
                      <a:r>
                        <a:rPr/>
                        <a:t>6,500</a:t>
                      </a:r>
                    </a:p>
                  </a:txBody>
                </a:tc>
                <a:tc>
                  <a:txBody>
                    <a:bodyPr/>
                    <a:lstStyle/>
                    <a:p>
                      <a:pPr lvl="0" indent="0" marL="0" algn="r">
                        <a:buNone/>
                      </a:pPr>
                      <a:r>
                        <a:rPr/>
                        <a:t>7,000</a:t>
                      </a:r>
                    </a:p>
                  </a:txBody>
                </a:tc>
                <a:tc>
                  <a:txBody>
                    <a:bodyPr/>
                    <a:lstStyle/>
                    <a:p>
                      <a:pPr lvl="0" indent="0" marL="0" algn="r">
                        <a:buNone/>
                      </a:pPr>
                      <a:r>
                        <a:rPr/>
                        <a:t>8,100</a:t>
                      </a:r>
                    </a:p>
                  </a:txBody>
                </a:tc>
              </a:tr>
            </a:tbl>
          </a:graphicData>
        </a:graphic>
      </p:graphicFrame>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a:t>Note: Values are in USD thousands.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Task list</a:t>
            </a:r>
          </a:p>
          <a:p>
            <a:pPr lvl="0"/>
            <a:r>
              <a:rPr/>
              <a:t>☐ Collect data</a:t>
            </a:r>
          </a:p>
          <a:p>
            <a:pPr lvl="0"/>
            <a:r>
              <a:rPr/>
              <a:t>☐ Evaluate results</a:t>
            </a:r>
          </a:p>
          <a:p>
            <a:pPr lvl="0"/>
            <a:r>
              <a:rPr/>
              <a:t>✅ Done (for PowerPoint conversion)-</a:t>
            </a:r>
          </a:p>
          <a:p>
            <a:pPr lvl="0"/>
            <a:r>
              <a:rPr/>
              <a:t>⬜ To do pptx friendly</a:t>
            </a:r>
          </a:p>
          <a:p>
            <a:pPr lvl="0"/>
            <a:r>
              <a:rPr/>
              <a:t>☐ Task one</a:t>
            </a:r>
          </a:p>
          <a:p>
            <a:pPr lvl="0"/>
            <a:r>
              <a:rPr/>
              <a:t>☐ Task two</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Linking to video with thumbnail</a:t>
            </a:r>
          </a:p>
        </p:txBody>
      </p:sp>
      <p:pic>
        <p:nvPicPr>
          <p:cNvPr descr="images/penguin.jpg" id="0" name="Picture 1">
            <a:hlinkClick r:id="rId3"/>
          </p:cNvPr>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Code blocks</a:t>
            </a:r>
          </a:p>
          <a:p>
            <a:pPr lvl="0" indent="0">
              <a:buNone/>
            </a:pPr>
            <a:r>
              <a:rPr>
                <a:solidFill>
                  <a:srgbClr val="5E5E5E"/>
                </a:solidFill>
                <a:latin typeface="Courier"/>
              </a:rPr>
              <a:t># A basic R code chunk</a:t>
            </a:r>
            <a:br/>
            <a:r>
              <a:rPr>
                <a:solidFill>
                  <a:srgbClr val="003B4F"/>
                </a:solidFill>
                <a:latin typeface="Courier"/>
              </a:rPr>
              <a:t>x &lt;- </a:t>
            </a:r>
            <a:r>
              <a:rPr>
                <a:solidFill>
                  <a:srgbClr val="AD0000"/>
                </a:solidFill>
                <a:latin typeface="Courier"/>
              </a:rPr>
              <a:t>1</a:t>
            </a:r>
            <a:r>
              <a:rPr>
                <a:solidFill>
                  <a:srgbClr val="5E5E5E"/>
                </a:solidFill>
                <a:latin typeface="Courier"/>
              </a:rPr>
              <a:t>:</a:t>
            </a:r>
            <a:r>
              <a:rPr>
                <a:solidFill>
                  <a:srgbClr val="AD0000"/>
                </a:solidFill>
                <a:latin typeface="Courier"/>
              </a:rPr>
              <a:t>10</a:t>
            </a:r>
            <a:br/>
            <a:r>
              <a:rPr>
                <a:solidFill>
                  <a:srgbClr val="4758AB"/>
                </a:solidFill>
                <a:latin typeface="Courier"/>
              </a:rPr>
              <a:t>mean</a:t>
            </a:r>
            <a:r>
              <a:rPr>
                <a:solidFill>
                  <a:srgbClr val="003B4F"/>
                </a:solidFill>
                <a:latin typeface="Courier"/>
              </a:rPr>
              <a:t>(x)</a:t>
            </a:r>
          </a:p>
          <a:p>
            <a:pPr lvl="0" indent="0">
              <a:buNone/>
            </a:pPr>
            <a:r>
              <a:rPr>
                <a:latin typeface="Courier"/>
              </a:rPr>
              <a:t>[1] 5.5</a:t>
            </a:r>
          </a:p>
          <a:p>
            <a:pPr lvl="0" indent="0">
              <a:buNone/>
            </a:pPr>
            <a:r>
              <a:rPr>
                <a:solidFill>
                  <a:srgbClr val="5E5E5E"/>
                </a:solidFill>
                <a:latin typeface="Courier"/>
              </a:rPr>
              <a:t># A simple plot</a:t>
            </a:r>
            <a:br/>
            <a:r>
              <a:rPr>
                <a:solidFill>
                  <a:srgbClr val="4758AB"/>
                </a:solidFill>
                <a:latin typeface="Courier"/>
              </a:rPr>
              <a:t>hist</a:t>
            </a:r>
            <a:r>
              <a:rPr>
                <a:solidFill>
                  <a:srgbClr val="003B4F"/>
                </a:solidFill>
                <a:latin typeface="Courier"/>
              </a:rPr>
              <a:t>(</a:t>
            </a:r>
            <a:r>
              <a:rPr>
                <a:solidFill>
                  <a:srgbClr val="4758AB"/>
                </a:solidFill>
                <a:latin typeface="Courier"/>
              </a:rPr>
              <a:t>rnorm</a:t>
            </a:r>
            <a:r>
              <a:rPr>
                <a:solidFill>
                  <a:srgbClr val="003B4F"/>
                </a:solidFill>
                <a:latin typeface="Courier"/>
              </a:rPr>
              <a:t>(</a:t>
            </a:r>
            <a:r>
              <a:rPr>
                <a:solidFill>
                  <a:srgbClr val="AD0000"/>
                </a:solidFill>
                <a:latin typeface="Courier"/>
              </a:rPr>
              <a:t>100</a:t>
            </a:r>
            <a:r>
              <a:rPr>
                <a:solidFill>
                  <a:srgbClr val="003B4F"/>
                </a:solidFill>
                <a:latin typeface="Courier"/>
              </a:rPr>
              <a:t>), </a:t>
            </a:r>
            <a:r>
              <a:rPr>
                <a:solidFill>
                  <a:srgbClr val="657422"/>
                </a:solidFill>
                <a:latin typeface="Courier"/>
              </a:rPr>
              <a:t>main =</a:t>
            </a:r>
            <a:r>
              <a:rPr>
                <a:solidFill>
                  <a:srgbClr val="003B4F"/>
                </a:solidFill>
                <a:latin typeface="Courier"/>
              </a:rPr>
              <a:t> </a:t>
            </a:r>
            <a:r>
              <a:rPr>
                <a:solidFill>
                  <a:srgbClr val="20794D"/>
                </a:solidFill>
                <a:latin typeface="Courier"/>
              </a:rPr>
              <a:t>"Histogram of Random Normals"</a:t>
            </a:r>
            <a:r>
              <a:rPr>
                <a:solidFill>
                  <a:srgbClr val="003B4F"/>
                </a:solidFill>
                <a:latin typeface="Courier"/>
              </a:rPr>
              <a:t>)</a:t>
            </a:r>
          </a:p>
        </p:txBody>
      </p:sp>
      <p:pic>
        <p:nvPicPr>
          <p:cNvPr descr="template-slides_files/figure-pptx/unnamed-chunk-1-1.png" id="0" name="Picture 1"/>
          <p:cNvPicPr>
            <a:picLocks noGrp="1" noChangeAspect="1"/>
          </p:cNvPicPr>
          <p:nvPr/>
        </p:nvPicPr>
        <p:blipFill>
          <a:blip r:embed="rId3"/>
          <a:stretch>
            <a:fillRect/>
          </a:stretch>
        </p:blipFill>
        <p:spPr bwMode="auto">
          <a:xfrm>
            <a:off x="3568700" y="1117600"/>
            <a:ext cx="5105400" cy="2552700"/>
          </a:xfrm>
          <a:prstGeom prst="rect">
            <a:avLst/>
          </a:prstGeom>
          <a:noFill/>
          <a:ln w="9525">
            <a:noFill/>
            <a:headEnd/>
            <a:tailEnd/>
          </a:ln>
        </p:spPr>
      </p:pic>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Here is an overview of which features </a:t>
            </a:r>
            <a:r>
              <a:rPr b="1"/>
              <a:t>cannot</a:t>
            </a:r>
            <a:r>
              <a:rPr/>
              <a:t> be transferred to a pptx file from Quarto revealjs file (not exhaustive list):</a:t>
            </a:r>
          </a:p>
          <a:p>
            <a:pPr lvl="0"/>
            <a:r>
              <a:rPr/>
              <a:t>Custom HTML/CSS layout</a:t>
            </a:r>
          </a:p>
          <a:p>
            <a:pPr lvl="1"/>
            <a:r>
              <a:rPr/>
              <a:t>Absolute positioning (position: absolute)</a:t>
            </a:r>
          </a:p>
          <a:p>
            <a:pPr lvl="1"/>
            <a:r>
              <a:rPr/>
              <a:t>Flexbox / Grid layout</a:t>
            </a:r>
          </a:p>
          <a:p>
            <a:pPr lvl="1"/>
            <a:r>
              <a:rPr/>
              <a:t>Custom margins, padding, alignment</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Fragments / incremental reveal</a:t>
            </a:r>
          </a:p>
          <a:p>
            <a:pPr lvl="1"/>
            <a:r>
              <a:rPr/>
              <a:t>Click-to-reveal bullets or elements (.fragment)</a:t>
            </a:r>
          </a:p>
          <a:p>
            <a:pPr lvl="1"/>
            <a:r>
              <a:rPr/>
              <a:t>Animations &amp; transitions</a:t>
            </a:r>
          </a:p>
          <a:p>
            <a:pPr lvl="1"/>
            <a:r>
              <a:rPr/>
              <a:t>CSS animations ((</a:t>
            </a:r>
            <a:r>
              <a:rPr b="1"/>
              <a:t>keyframes?</a:t>
            </a:r>
            <a:r>
              <a:rPr/>
              <a:t>))</a:t>
            </a:r>
          </a:p>
          <a:p>
            <a:pPr lvl="1"/>
            <a:r>
              <a:rPr/>
              <a:t>Reveal.js slide transitions (fade, zoom, etc.)</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Interactive JavaScript components</a:t>
            </a:r>
          </a:p>
          <a:p>
            <a:pPr lvl="1"/>
            <a:r>
              <a:rPr/>
              <a:t>Plotly, Shiny apps, interactive charts</a:t>
            </a:r>
          </a:p>
          <a:p>
            <a:pPr lvl="1"/>
            <a:r>
              <a:rPr/>
              <a:t>Custom JS widgets</a:t>
            </a:r>
          </a:p>
          <a:p>
            <a:pPr lvl="1"/>
            <a:r>
              <a:rPr/>
              <a:t>Embedded iframes and external content</a:t>
            </a:r>
          </a:p>
          <a:p>
            <a:pPr lvl="1"/>
            <a:r>
              <a:rPr/>
              <a:t>YouTube embeds</a:t>
            </a:r>
          </a:p>
          <a:p>
            <a:pPr lvl="1"/>
            <a:r>
              <a:rPr/>
              <a:t>Google Maps</a:t>
            </a:r>
          </a:p>
          <a:p>
            <a:pPr lvl="1"/>
            <a:r>
              <a:rPr/>
              <a:t>Embedded websites</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Dynamic sizing / responsive behavior</a:t>
            </a:r>
          </a:p>
          <a:p>
            <a:pPr lvl="1"/>
            <a:r>
              <a:rPr/>
              <a:t>Percent-based sizing (width: 50%)</a:t>
            </a:r>
          </a:p>
          <a:p>
            <a:pPr lvl="0"/>
            <a:r>
              <a:rPr/>
              <a:t>Text shadows, letter spacing</a:t>
            </a:r>
          </a:p>
          <a:p>
            <a:pPr lvl="0"/>
            <a:r>
              <a:rPr/>
              <a:t>Custom tables with HTML styling</a:t>
            </a:r>
          </a:p>
          <a:p>
            <a:pPr lvl="0"/>
            <a:r>
              <a:rPr/>
              <a:t>Colored headers or rows</a:t>
            </a:r>
          </a:p>
          <a:p>
            <a:pPr lvl="0"/>
            <a:r>
              <a:rPr/>
              <a:t>Cell borders and padding via CSS</a:t>
            </a:r>
          </a:p>
          <a:p>
            <a:pPr lvl="0"/>
            <a:r>
              <a:rPr/>
              <a:t>Overlapping or rotated elements</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Features supported in html but not in pptx</a:t>
            </a:r>
          </a:p>
          <a:p>
            <a:pPr lvl="0" indent="0" marL="0">
              <a:buNone/>
            </a:pPr>
            <a:r>
              <a:rPr/>
              <a:t>(continued)</a:t>
            </a:r>
          </a:p>
          <a:p>
            <a:pPr lvl="0"/>
            <a:r>
              <a:rPr/>
              <a:t>Rotated images or text</a:t>
            </a:r>
          </a:p>
          <a:p>
            <a:pPr lvl="0"/>
            <a:r>
              <a:rPr/>
              <a:t>Speech bubbles and callout shapes</a:t>
            </a:r>
          </a:p>
          <a:p>
            <a:pPr lvl="0"/>
            <a:r>
              <a:rPr/>
              <a:t>Bubble-style layouts</a:t>
            </a:r>
          </a:p>
          <a:p>
            <a:pPr lvl="0"/>
            <a:r>
              <a:rPr/>
              <a:t>Decorative shapes using CSS</a:t>
            </a:r>
          </a:p>
          <a:p>
            <a:pPr lvl="0"/>
            <a:r>
              <a:rPr/>
              <a:t>Embedded fonts and icon libraries</a:t>
            </a:r>
          </a:p>
          <a:p>
            <a:pPr lvl="0"/>
            <a:r>
              <a:rPr/>
              <a:t>Interactive quizzes or logic</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Template Quarto slides</dc:title>
  <dc:creator>Add your name</dc:creator>
  <cp:keywords/>
  <dcterms:created xsi:type="dcterms:W3CDTF">2026-10-19T09:36:04Z</dcterms:created>
  <dcterms:modified xsi:type="dcterms:W3CDTF">2026-10-19T09:36:04Z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19/10/2026</vt:lpwstr>
  </property>
  <property fmtid="{D5CDD505-2E9C-101B-9397-08002B2CF9AE}" pid="8" name="date-format">
    <vt:lpwstr>DD/MM/YYYY</vt:lpwstr>
  </property>
  <property fmtid="{D5CDD505-2E9C-101B-9397-08002B2CF9AE}" pid="9" name="editor">
    <vt:lpwstr>source</vt:lpwstr>
  </property>
  <property fmtid="{D5CDD505-2E9C-101B-9397-08002B2CF9AE}" pid="10" name="execute">
    <vt:lpwstr/>
  </property>
  <property fmtid="{D5CDD505-2E9C-101B-9397-08002B2CF9AE}" pid="11" name="header-includes">
    <vt:lpwstr/>
  </property>
  <property fmtid="{D5CDD505-2E9C-101B-9397-08002B2CF9AE}" pid="12" name="include-after">
    <vt:lpwstr/>
  </property>
  <property fmtid="{D5CDD505-2E9C-101B-9397-08002B2CF9AE}" pid="13" name="include-before">
    <vt:lpwstr/>
  </property>
  <property fmtid="{D5CDD505-2E9C-101B-9397-08002B2CF9AE}" pid="14" name="labels">
    <vt:lpwstr/>
  </property>
  <property fmtid="{D5CDD505-2E9C-101B-9397-08002B2CF9AE}" pid="15" name="repo-url">
    <vt:lpwstr>https://github.com/lmu-osc/train-the-trainer-open-research</vt:lpwstr>
  </property>
  <property fmtid="{D5CDD505-2E9C-101B-9397-08002B2CF9AE}" pid="16" name="revealjs-plugins">
    <vt:lpwstr/>
  </property>
  <property fmtid="{D5CDD505-2E9C-101B-9397-08002B2CF9AE}" pid="17" name="toc-title">
    <vt:lpwstr>Table of contents</vt:lpwstr>
  </property>
</Properties>
</file>