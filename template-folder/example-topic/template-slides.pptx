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notesMaster" Target="notesMasters/notesMaster1.xml" /><Relationship Id="rId61" Type="http://schemas.openxmlformats.org/officeDocument/2006/relationships/viewProps" Target="viewProps.xml" /><Relationship Id="rId60" Type="http://schemas.openxmlformats.org/officeDocument/2006/relationships/presProps" Target="presProps.xml" /><Relationship Id="rId1" Type="http://schemas.openxmlformats.org/officeDocument/2006/relationships/slideMaster" Target="slideMasters/slideMaster1.xml" /><Relationship Id="rId63" Type="http://schemas.openxmlformats.org/officeDocument/2006/relationships/tableStyles" Target="tableStyles.xml" /><Relationship Id="rId6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a:t>Add the script for this slide.</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a:t>These are the prerequisites for this topic. Before you get started on this topic with your audience, you need to ensure that the audience fulfills these criteria. Outline any essential prerequisites (software, tools, other sessions etc.) here in table format. If you prefer bullet points to list the prerequisites, delete the table and use bullet points instead.</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This first slide is dedicated to clarifying questions from the previous session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session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This survey serves to examine learners’ prior knowledge about the topic. For an interactive delivery, use free tools such as for example Particify to create interactive surveys with QR codes before you deliver this lesson. The pre-session survey should serve to examine learners’ prior knowledge about version control and related concepts. Note that this survey cannot be completed in an asynchronous setting because the survey results cannot be displayed.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a:t>
            </a:r>
          </a:p>
          <a:p>
            <a:pPr lvl="0" indent="0" marL="0">
              <a:buNone/>
            </a:pPr>
          </a:p>
          <a:p>
            <a:pPr lvl="0"/>
            <a:r>
              <a:rPr b="1"/>
              <a:t>Aim</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Place the topic of the current session within a broader context.</a:t>
            </a:r>
          </a:p>
          <a:p>
            <a:pPr lvl="0" indent="0" marL="0">
              <a:buNone/>
            </a:pPr>
          </a:p>
          <a:p>
            <a:pPr lvl="0"/>
            <a:r>
              <a:rPr/>
              <a:t>Remind learners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slides serves as an overview of the topics that are discussed, presented as bullet points.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Formulate specific, action-oriented goals learning goals which are measurable and observable in line with Bloom’s taxonomy (Anderson et al., 2001; Bloom et al., 1956)</a:t>
            </a:r>
          </a:p>
          <a:p>
            <a:pPr lvl="0" indent="0" marL="0">
              <a:buNone/>
            </a:pPr>
          </a:p>
          <a:p>
            <a:pPr lvl="0"/>
            <a:r>
              <a:rPr/>
              <a:t>Place an emphasis on the </a:t>
            </a:r>
            <a:r>
              <a:rPr b="1"/>
              <a:t>verbs</a:t>
            </a:r>
            <a:r>
              <a:rPr/>
              <a:t> of the learning goals and choose verbs that align with the skills you want to develop or assess.</a:t>
            </a:r>
          </a:p>
          <a:p>
            <a:pPr lvl="0" indent="0" marL="0">
              <a:buNone/>
            </a:pPr>
          </a:p>
          <a:p>
            <a:pPr lvl="0"/>
            <a:r>
              <a:rPr/>
              <a:t>Examples:</a:t>
            </a:r>
          </a:p>
          <a:p>
            <a:pPr lvl="0" indent="0" marL="0">
              <a:buNone/>
            </a:pPr>
          </a:p>
          <a:p>
            <a:pPr lvl="1"/>
            <a:r>
              <a:rPr/>
              <a:t>Learners will </a:t>
            </a:r>
            <a:r>
              <a:rPr b="1"/>
              <a:t>describe</a:t>
            </a:r>
            <a:r>
              <a:rPr/>
              <a:t> the process of photosynthesis or</a:t>
            </a:r>
          </a:p>
          <a:p>
            <a:pPr lvl="0" indent="0" marL="0">
              <a:buNone/>
            </a:pPr>
          </a:p>
          <a:p>
            <a:pPr lvl="1"/>
            <a:r>
              <a:rPr/>
              <a:t>Learners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key terms we will revisit throughout the lesson. What comes to mind when you see each of them? Which ones are familiar, and which feel new? Take a moment to think about what they might mean.</a:t>
            </a:r>
          </a:p>
          <a:p>
            <a:pPr lvl="0" indent="0" marL="0">
              <a:buNone/>
            </a:pPr>
          </a:p>
          <a:p>
            <a:pPr lvl="0" indent="0" marL="0">
              <a:buNone/>
            </a:pPr>
            <a:r>
              <a:rPr b="1"/>
              <a:t>Instructor Notes</a:t>
            </a:r>
            <a:r>
              <a:rPr/>
              <a:t>: Base yourself on conceptual change theory and examine existing concepts in relation to some key terms. Re-examine the formation of new concepts at the end of the lesson. Use a think-pair-share approach. First, have learners reflect individually on their associations with each term for a few minutes, then discuss in pairs for a few minutes, and finally share with the group. Allow about 10 minutes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go through what these key terms mean:</a:t>
            </a:r>
          </a:p>
          <a:p>
            <a:pPr lvl="0" indent="0" marL="0">
              <a:buNone/>
            </a:pPr>
          </a:p>
          <a:p>
            <a:pPr lvl="0" indent="0" marL="0">
              <a:buNone/>
            </a:pPr>
            <a:r>
              <a:rPr b="1"/>
              <a:t>Instructor Notes</a:t>
            </a:r>
            <a:r>
              <a:rPr/>
              <a:t>: Come back to this slide at the end of the lesson, no need to go through in detail at this point. Learners just need to know that this overview exists.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script for the slide here.</a:t>
            </a:r>
          </a:p>
          <a:p>
            <a:pPr lvl="0" indent="0" marL="0">
              <a:buNone/>
            </a:pPr>
          </a:p>
          <a:p>
            <a:pPr lvl="0" indent="0" marL="0">
              <a:buNone/>
            </a:pPr>
            <a:r>
              <a:rPr b="1"/>
              <a:t>Instructor Notes</a:t>
            </a:r>
            <a:r>
              <a:rPr/>
              <a:t>:</a:t>
            </a:r>
          </a:p>
          <a:p>
            <a:pPr lvl="0" indent="0" marL="0">
              <a:buNone/>
            </a:pPr>
          </a:p>
          <a:p>
            <a:pPr lvl="0"/>
            <a:r>
              <a:rPr b="1"/>
              <a:t>Aim</a:t>
            </a:r>
            <a:r>
              <a:rPr/>
              <a:t>: Core theoretical introduction of the topic.</a:t>
            </a:r>
          </a:p>
          <a:p>
            <a:pPr lvl="0" indent="0" marL="0">
              <a:buNone/>
            </a:pPr>
          </a:p>
          <a:p>
            <a:pPr lvl="0"/>
            <a:r>
              <a:rPr/>
              <a:t>For a 90-minute lesson, the instructor should try to “lecture” for only 20 minutes, learners should work in groups/pairs/on their own for at least 55 minutes of the lesson (+ a 15 minute break).</a:t>
            </a:r>
          </a:p>
          <a:p>
            <a:pPr lvl="0" indent="0" marL="0">
              <a:buNone/>
            </a:pPr>
          </a:p>
          <a:p>
            <a:pPr lvl="0"/>
            <a:r>
              <a:rPr/>
              <a:t>Pair theoretical aspects with practical exercises and group discussions according to the Think-Pair-Share style and according to Cognitive Load Theory (Sweller, 1980).</a:t>
            </a:r>
          </a:p>
          <a:p>
            <a:pPr lvl="0" indent="0" marL="0">
              <a:buNone/>
            </a:pPr>
          </a:p>
          <a:p>
            <a:pPr lvl="0"/>
            <a:r>
              <a:rPr/>
              <a:t>Use multiple slides for this part.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a:t>
            </a:r>
            <a:r>
              <a:rPr b="1"/>
              <a:t>Aim</a:t>
            </a:r>
            <a:r>
              <a:rPr/>
              <a:t>: Present relevant content - Highlight particularly important aspects with Quarto call-out boxes, for example: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Design more practical exercises for learners to apply the new skills in practice.</a:t>
            </a:r>
          </a:p>
          <a:p>
            <a:pPr lvl="0" indent="0" marL="0">
              <a:buNone/>
            </a:pPr>
          </a:p>
          <a:p>
            <a:pPr lvl="0"/>
            <a:r>
              <a:rPr/>
              <a:t>Depending on the topic, the exercises should be in accordance with the learning objective(s).</a:t>
            </a:r>
          </a:p>
          <a:p>
            <a:pPr lvl="0" indent="0" marL="0">
              <a:buNone/>
            </a:pPr>
          </a:p>
          <a:p>
            <a:pPr lvl="0"/>
            <a:r>
              <a:rPr/>
              <a:t>Add a description of the task, as well as a checklist as an overview of that your learners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A summary with the most important achievements and concepts up until now. This serves to consolidate and integrate new concepts.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Interactive quiz to check understanding and retention of learners. Use free survey software such as Particify to establish the following questions (shown on separate slides).</a:t>
            </a:r>
          </a:p>
          <a:p>
            <a:pPr lvl="0" indent="0" marL="0">
              <a:buNone/>
            </a:pPr>
          </a:p>
          <a:p>
            <a:pPr lvl="0" indent="0" marL="0">
              <a:buNone/>
            </a:pPr>
            <a:r>
              <a:rPr b="1"/>
              <a:t>Instructor Notes</a:t>
            </a:r>
            <a:r>
              <a:rPr/>
              <a:t>: This pre-break survey serves to examine learners’ current understanding of key concepts of the session.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To clarify concepts and aspects that are not yet understood</a:t>
            </a:r>
          </a:p>
          <a:p>
            <a:pPr lvl="0" indent="0" marL="0">
              <a:buNone/>
            </a:pPr>
          </a:p>
          <a:p>
            <a:pPr lvl="0"/>
            <a:r>
              <a:rPr/>
              <a:t>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Design more practical exercises for learners to apply the new skills in practice.</a:t>
            </a:r>
          </a:p>
          <a:p>
            <a:pPr lvl="0" indent="0" marL="0">
              <a:buNone/>
            </a:pPr>
          </a:p>
          <a:p>
            <a:pPr lvl="0"/>
            <a:r>
              <a:rPr/>
              <a:t>Depending on the topic, the exercises should be in accordance with the learning objective(s).</a:t>
            </a:r>
          </a:p>
          <a:p>
            <a:pPr lvl="0" indent="0" marL="0">
              <a:buNone/>
            </a:pPr>
          </a:p>
          <a:p>
            <a:pPr lvl="0"/>
            <a:r>
              <a:rPr/>
              <a:t>Add a description of the task, as well as a checklist as an overview of that your learners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To work out the relevance of the topic to your learners.</a:t>
            </a:r>
          </a:p>
          <a:p>
            <a:pPr lvl="0" indent="0" marL="0">
              <a:buNone/>
            </a:pPr>
          </a:p>
          <a:p>
            <a:pPr lvl="0"/>
            <a:r>
              <a:rPr/>
              <a:t>In an interactive setting, discuss how the new skills could be applied in practise with specific examples.</a:t>
            </a:r>
          </a:p>
          <a:p>
            <a:pPr lvl="0" indent="0" marL="0">
              <a:buNone/>
            </a:pPr>
          </a:p>
          <a:p>
            <a:pPr lvl="0"/>
            <a:r>
              <a:rPr/>
              <a:t>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presentation here.</a:t>
            </a:r>
          </a:p>
          <a:p>
            <a:pPr lvl="0" indent="0" marL="0">
              <a:buNone/>
            </a:pPr>
          </a:p>
          <a:p>
            <a:pPr lvl="0" indent="0" marL="0">
              <a:buNone/>
            </a:pPr>
            <a:r>
              <a:rPr b="1"/>
              <a:t>Instructor Notes</a:t>
            </a:r>
            <a:r>
              <a:rPr/>
              <a:t>:</a:t>
            </a:r>
          </a:p>
          <a:p>
            <a:pPr lvl="0" indent="0" marL="0">
              <a:buNone/>
            </a:pPr>
          </a:p>
          <a:p>
            <a:pPr lvl="0"/>
            <a:r>
              <a:rPr b="1"/>
              <a:t>Aim</a:t>
            </a:r>
            <a:r>
              <a:rPr/>
              <a:t>: Explain the homework assignment and the rationale behind the homework.</a:t>
            </a:r>
          </a:p>
          <a:p>
            <a:pPr lvl="0" indent="0" marL="0">
              <a:buNone/>
            </a:pPr>
          </a:p>
          <a:p>
            <a:pPr lvl="0"/>
            <a:r>
              <a:rPr/>
              <a:t>Examine whether/how it will be assessed</a:t>
            </a:r>
          </a:p>
          <a:p>
            <a:pPr lvl="0" indent="0" marL="0">
              <a:buNone/>
            </a:pPr>
          </a:p>
          <a:p>
            <a:pPr lvl="0"/>
            <a:r>
              <a:rPr/>
              <a:t>Mention scoring rubrics, if applicable</a:t>
            </a:r>
          </a:p>
          <a:p>
            <a:pPr lvl="0" indent="0" marL="0">
              <a:buNone/>
            </a:pPr>
          </a:p>
          <a:p>
            <a:pPr lvl="0"/>
            <a:r>
              <a:rPr/>
              <a:t>Design a peer-review system for assignments to place learners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Provide overview of the topics covered today and remind learners of the bigger picture.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objectives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objectives at this stage.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This post-session survey serves to examine learners’ current knowledge about the sumodule’s topic.</a:t>
            </a:r>
          </a:p>
          <a:p>
            <a:pPr lvl="0" indent="0" marL="0">
              <a:buNone/>
            </a:pPr>
          </a:p>
          <a:p>
            <a:pPr lvl="0"/>
            <a:r>
              <a:rPr/>
              <a:t>Use free survey software such as particify or formR to establish the following questions (shown on separate slides)</a:t>
            </a:r>
          </a:p>
          <a:p>
            <a:pPr lvl="0" indent="0" marL="0">
              <a:buNone/>
            </a:pPr>
          </a:p>
          <a:p>
            <a:pPr lvl="0"/>
            <a:r>
              <a:rPr/>
              <a:t>Use identical questions as in the pre-session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a:t>
            </a:r>
          </a:p>
          <a:p>
            <a:pPr lvl="0" indent="0" marL="0">
              <a:buNone/>
            </a:pPr>
          </a:p>
          <a:p>
            <a:pPr lvl="0"/>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Highlight particularly relevant reading for your learners in bold.</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 for pptx template</a:t>
            </a:r>
            <a:r>
              <a:rPr/>
              <a:t>: Images are usually centered by default in PPTX output. However, the font size and the image size must be controlled in the PowerPoint template, not in Markdown. The text in quotes represents the alt text that is visible when hovering over the image in the slides. The alt text does </a:t>
            </a:r>
            <a:r>
              <a:rPr i="1"/>
              <a:t>not</a:t>
            </a:r>
            <a:r>
              <a:rPr/>
              <a:t> appear in the pptx and has to be added manually in PowerPoint.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 for pptx template</a:t>
            </a:r>
            <a:r>
              <a:rPr/>
              <a:t>: Stacked figures cannot be resized in markdown but need to be resized afterwards in pptx directly.</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Notes for the pptx template</a:t>
            </a:r>
            <a:r>
              <a:rPr/>
              <a:t>: Font size, padding or row and colour number cannot be coded in markdown and have to be changed manually in the pptx output.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a:t>
            </a:r>
            <a:r>
              <a:rPr/>
              <a:t>: This slide converts to pptx, but will not be interactive with adding or eliminating a tick mark. This will convert into simple bullet points.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Note</a:t>
            </a:r>
            <a:r>
              <a:rPr/>
              <a:t>: PowerPoint </a:t>
            </a:r>
            <a:r>
              <a:rPr i="1"/>
              <a:t>cannot run R code</a:t>
            </a:r>
            <a:r>
              <a:rPr/>
              <a:t>, therefore the code block this will appear as </a:t>
            </a:r>
            <a:r>
              <a:rPr i="1"/>
              <a:t>formatted code text</a:t>
            </a:r>
            <a:r>
              <a:rPr/>
              <a:t>, not executed output.</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hyperlink" Target="https://doi.org/10.1026/0033-3042/a000335"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6413-3895" TargetMode="External" /><Relationship Id="rId3" Type="http://schemas.openxmlformats.org/officeDocument/2006/relationships/hyperlink" Target="https://orcid.org/0000-0002-3242-5981" TargetMode="External" /><Relationship Id="rId4" Type="http://schemas.openxmlformats.org/officeDocument/2006/relationships/hyperlink" Target="https://orcid.org/0000-0002-8282-3910"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hyperlink" Target="Staff%20URL" TargetMode="External" /><Relationship Id="rId4" Type="http://schemas.openxmlformats.org/officeDocument/2006/relationships/hyperlink" Target="https://creativecommons.org/licenses/by-sa/4.0/deed.en" TargetMode="External" /><Relationship Id="rId5" Type="http://schemas.openxmlformats.org/officeDocument/2006/relationships/hyperlink" Target="url" TargetMode="External" /><Relationship Id="rId6" Type="http://schemas.openxmlformats.org/officeDocument/2006/relationships/hyperlink" Target="https://creativecommons.org/licenses/by-sa/4.0/deed.en" TargetMode="External" /><Relationship Id="rId7" Type="http://schemas.openxmlformats.org/officeDocument/2006/relationships/hyperlink" Target="https://creativecommons.org/publicdomain/zero/1.0/" TargetMode="External" /><Relationship Id="rId8" Type="http://schemas.openxmlformats.org/officeDocument/2006/relationships/hyperlink" Target="https://www.osc.lmu.de/" TargetMode="External" /><Relationship Id="rId9" Type="http://schemas.openxmlformats.org/officeDocument/2006/relationships/hyperlink" Target="https://lmu-osc.github.io/teaching-material-for-novices/open-research-tools/topic"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jp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jpg" /><Relationship Id="rId2" Type="http://schemas.openxmlformats.org/officeDocument/2006/relationships/image" Target="../media/image1.jp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hyperlink" Target="https://www.youtube.com/watch?v=q3uXXh1sHcI" TargetMode="External" /><Relationship Id="rId2" Type="http://schemas.openxmlformats.org/officeDocument/2006/relationships/image" Target="../media/image1.jpg"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1.xml" /><Relationship Id="rId3" Type="http://schemas.openxmlformats.org/officeDocument/2006/relationships/image" Target="../media/image3.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Template Quarto slides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Add your name</a:t>
            </a:r>
          </a:p>
        </p:txBody>
      </p:sp>
      <p:sp>
        <p:nvSpPr>
          <p:cNvPr id="4" name="Date Placeholder 3"/>
          <p:cNvSpPr>
            <a:spLocks noGrp="1"/>
          </p:cNvSpPr>
          <p:nvPr>
            <p:ph idx="10" sz="half" type="dt"/>
          </p:nvPr>
        </p:nvSpPr>
        <p:spPr/>
        <p:txBody>
          <a:bodyPr/>
          <a:lstStyle/>
          <a:p>
            <a:pPr lvl="0" indent="0" marL="0">
              <a:buNone/>
            </a:pPr>
            <a:r>
              <a:rPr/>
              <a:t>29/10/2026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session, please carefully read about the prerequisites.</a:t>
            </a:r>
          </a:p>
          <a:p>
            <a:pPr lvl="0" indent="0" marL="0">
              <a:buNone/>
            </a:pPr>
            <a:r>
              <a:rPr/>
              <a:t>Add references in the footer.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the previous session</a:t>
            </a:r>
          </a:p>
          <a:p>
            <a:pPr lvl="0" indent="0" marL="0">
              <a:buNone/>
            </a:pPr>
            <a:r>
              <a:rPr/>
              <a:t>Are there any open questions regarding </a:t>
            </a:r>
            <a:r>
              <a:rPr b="1"/>
              <a:t>Topic</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spcBef>
                <a:spcPts val="3000"/>
              </a:spcBef>
              <a:buNone/>
            </a:pPr>
            <a:r>
              <a:rPr b="1"/>
              <a:t>Question 1</a:t>
            </a:r>
          </a:p>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a:p>
            <a:pPr lvl="0" indent="0" marL="0">
              <a:spcBef>
                <a:spcPts val="3000"/>
              </a:spcBef>
              <a:buNone/>
            </a:pPr>
            <a:r>
              <a:rPr b="1"/>
              <a:t>Question 3</a:t>
            </a:r>
          </a:p>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r>
              <a:rPr/>
              <a:t>What do we see in the results?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Point 1</a:t>
            </a:r>
          </a:p>
          <a:p>
            <a:pPr lvl="0"/>
            <a:r>
              <a:rPr/>
              <a:t>Point 2</a:t>
            </a:r>
          </a:p>
          <a:p>
            <a:pPr lvl="0" indent="0" marL="0">
              <a:buNone/>
            </a:pPr>
            <a:r>
              <a:rPr b="1"/>
              <a:t>Up next</a:t>
            </a:r>
            <a:r>
              <a:rPr/>
              <a:t>:</a:t>
            </a:r>
          </a:p>
          <a:p>
            <a:pPr lvl="0"/>
            <a:r>
              <a:rPr/>
              <a:t>Point 1</a:t>
            </a:r>
          </a:p>
          <a:p>
            <a:pPr lvl="0"/>
            <a:r>
              <a:rPr/>
              <a:t>Point 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a:t>Topic 1</a:t>
            </a:r>
          </a:p>
          <a:p>
            <a:pPr lvl="0"/>
            <a:r>
              <a:rPr/>
              <a:t>Topic 2</a:t>
            </a:r>
          </a:p>
          <a:p>
            <a:pPr lvl="0"/>
            <a:r>
              <a:rPr/>
              <a:t>Topic 3</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objectives</a:t>
            </a:r>
          </a:p>
          <a:p>
            <a:pPr lvl="0" indent="0" marL="0">
              <a:buNone/>
            </a:pPr>
            <a:r>
              <a:rPr/>
              <a:t>At the end of this session, you will be able to…</a:t>
            </a:r>
          </a:p>
          <a:p>
            <a:pPr lvl="0"/>
            <a:r>
              <a:rPr b="1"/>
              <a:t>Install</a:t>
            </a:r>
            <a:r>
              <a:rPr/>
              <a:t> and </a:t>
            </a:r>
            <a:r>
              <a:rPr b="1"/>
              <a:t>load</a:t>
            </a:r>
            <a:r>
              <a:rPr/>
              <a:t> ….</a:t>
            </a:r>
          </a:p>
          <a:p>
            <a:pPr lvl="0"/>
            <a:r>
              <a:rPr b="1"/>
              <a:t>Import</a:t>
            </a:r>
            <a:r>
              <a:rPr/>
              <a:t> external data …</a:t>
            </a:r>
          </a:p>
          <a:p>
            <a:pPr lvl="0"/>
            <a:r>
              <a:rPr b="1"/>
              <a:t>Explain</a:t>
            </a:r>
            <a:r>
              <a:rPr/>
              <a:t> key components of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Key Term 1</a:t>
            </a:r>
          </a:p>
          <a:p>
            <a:pPr lvl="0"/>
            <a:r>
              <a:rPr b="1"/>
              <a:t>Key Term 2</a:t>
            </a:r>
          </a:p>
          <a:p>
            <a:pPr lvl="0"/>
            <a:r>
              <a:rPr b="1"/>
              <a:t>Key Term 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to topic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Topic content slide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a:t>
            </a:r>
          </a:p>
          <a:p>
            <a:pPr lvl="0" indent="0" marL="0">
              <a:buNone/>
            </a:pPr>
            <a:r>
              <a:rPr b="1"/>
              <a:t>Task Name</a:t>
            </a:r>
          </a:p>
          <a:p>
            <a:pPr lvl="0"/>
            <a:r>
              <a:rPr/>
              <a:t>☒ Step 1</a:t>
            </a:r>
          </a:p>
          <a:p>
            <a:pPr lvl="0"/>
            <a:r>
              <a:rPr/>
              <a:t>☐ Step 2</a:t>
            </a:r>
          </a:p>
          <a:p>
            <a:pPr lvl="0"/>
            <a:r>
              <a:rPr/>
              <a:t>☐ Step 3</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quiz</a:t>
            </a:r>
          </a:p>
          <a:p>
            <a:pPr lvl="0" indent="0" marL="0">
              <a:spcBef>
                <a:spcPts val="3000"/>
              </a:spcBef>
              <a:buNone/>
            </a:pPr>
            <a:r>
              <a:rPr b="1"/>
              <a:t>Question 1</a:t>
            </a:r>
          </a:p>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a:p>
            <a:pPr lvl="0" indent="0" marL="0">
              <a:spcBef>
                <a:spcPts val="3000"/>
              </a:spcBef>
              <a:buNone/>
            </a:pPr>
            <a:r>
              <a:rPr b="1"/>
              <a:t>Question 2</a:t>
            </a:r>
          </a:p>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Topic content slide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a:t>
            </a:r>
          </a:p>
          <a:p>
            <a:pPr lvl="0" indent="0" marL="0">
              <a:buNone/>
            </a:pPr>
            <a:r>
              <a:rPr b="1"/>
              <a:t>Task Aim</a:t>
            </a:r>
          </a:p>
          <a:p>
            <a:pPr lvl="0"/>
            <a:r>
              <a:rPr/>
              <a:t>☒ Step 1</a:t>
            </a:r>
          </a:p>
          <a:p>
            <a:pPr lvl="0"/>
            <a:r>
              <a:rPr/>
              <a:t>☐ Step 2</a:t>
            </a:r>
          </a:p>
          <a:p>
            <a:pPr lvl="0"/>
            <a:r>
              <a:rPr/>
              <a:t>☐ Step 3</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 (if applicable)</a:t>
            </a:r>
          </a:p>
          <a:p>
            <a:pPr lvl="0"/>
            <a:r>
              <a:rPr b="1"/>
              <a:t>Aim</a:t>
            </a:r>
            <a:r>
              <a:rPr/>
              <a:t>: To work out the relevance of the topic to your learners.</a:t>
            </a:r>
          </a:p>
          <a:p>
            <a:pPr lvl="0"/>
            <a:r>
              <a:rPr/>
              <a:t>In an interactive setting, discuss how the new skills could be applied in practise with specific examples.</a:t>
            </a:r>
          </a:p>
          <a:p>
            <a:pPr lvl="0"/>
            <a:r>
              <a:rPr/>
              <a:t>Examine downfalls and practical obstacles.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learners in role of reviewer and author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message(s)</a:t>
            </a:r>
          </a:p>
          <a:p>
            <a:pPr lvl="0"/>
            <a:r>
              <a:rPr/>
              <a:t>Take-home message 1</a:t>
            </a:r>
          </a:p>
          <a:p>
            <a:pPr lvl="0"/>
            <a:r>
              <a:rPr/>
              <a:t>Take-home message 2</a:t>
            </a:r>
          </a:p>
          <a:p>
            <a:pPr lvl="0" indent="0" marL="0">
              <a:buNone/>
            </a:pPr>
            <a:r>
              <a:rPr/>
              <a:t> </a:t>
            </a:r>
          </a:p>
          <a:p>
            <a:pPr lvl="0" indent="0" marL="1270000">
              <a:buNone/>
            </a:pPr>
            <a:r>
              <a:rPr sz="2000" b="1"/>
              <a:t>Tip with Title</a:t>
            </a:r>
          </a:p>
          <a:p>
            <a:pPr lvl="0" indent="0" marL="1270000">
              <a:buNone/>
            </a:pPr>
            <a:r>
              <a:rPr sz="2000"/>
              <a:t>Add one practical tip in this box.</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What have we done so far?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objectives: Check-In</a:t>
            </a:r>
          </a:p>
          <a:p>
            <a:pPr lvl="0" indent="0" marL="0">
              <a:buNone/>
            </a:pPr>
            <a:r>
              <a:rPr b="1"/>
              <a:t>Where are we at?</a:t>
            </a:r>
          </a:p>
          <a:p>
            <a:pPr lvl="0"/>
            <a:r>
              <a:rPr/>
              <a:t>☐ </a:t>
            </a:r>
            <a:r>
              <a:rPr b="1"/>
              <a:t>Explain</a:t>
            </a:r>
            <a:r>
              <a:rPr/>
              <a:t> the importance …</a:t>
            </a:r>
          </a:p>
          <a:p>
            <a:pPr lvl="0"/>
            <a:r>
              <a:rPr/>
              <a:t>☐ </a:t>
            </a:r>
            <a:r>
              <a:rPr b="1"/>
              <a:t>Familiarize yourself</a:t>
            </a:r>
            <a:r>
              <a:rPr/>
              <a:t> with different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indent="0" marL="0">
              <a:spcBef>
                <a:spcPts val="3000"/>
              </a:spcBef>
              <a:buNone/>
            </a:pPr>
            <a:r>
              <a:rPr b="1"/>
              <a:t>Question 1</a:t>
            </a:r>
          </a:p>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a:p>
            <a:pPr lvl="0" indent="0" marL="0">
              <a:spcBef>
                <a:spcPts val="3000"/>
              </a:spcBef>
              <a:buNone/>
            </a:pPr>
            <a:r>
              <a:rPr b="1"/>
              <a:t>Question 3</a:t>
            </a:r>
          </a:p>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Abele-Brehm, A. E., &amp; Bühner, M. (2016). Wer soll die Professur bekommen? </a:t>
            </a:r>
            <a:r>
              <a:rPr i="1"/>
              <a:t>Psychologische Rundschau</a:t>
            </a:r>
            <a:r>
              <a:rPr/>
              <a:t>, </a:t>
            </a:r>
            <a:r>
              <a:rPr i="1"/>
              <a:t>67</a:t>
            </a:r>
            <a:r>
              <a:rPr/>
              <a:t>(4), 250–261. </a:t>
            </a:r>
            <a:r>
              <a:rPr>
                <a:hlinkClick r:id="rId3"/>
              </a:rPr>
              <a:t>https://doi.org/10.1026/0033-3042/a000335</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resources</a:t>
            </a:r>
          </a:p>
          <a:p>
            <a:pPr lvl="0"/>
            <a:r>
              <a:rPr/>
              <a:t>Videos</a:t>
            </a:r>
          </a:p>
          <a:p>
            <a:pPr lvl="0"/>
            <a:r>
              <a:rPr/>
              <a:t>Useful resources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Von Grebmer Zu Wolfsthurn, Sarah ( </a:t>
            </a:r>
            <a:r>
              <a:rPr>
                <a:hlinkClick r:id="rId2"/>
              </a:rPr>
              <a:t>0000-0002-6413-3895</a:t>
            </a:r>
            <a:r>
              <a:rPr/>
              <a:t>)</a:t>
            </a:r>
          </a:p>
          <a:p>
            <a:pPr lvl="0" indent="0" marL="0">
              <a:buNone/>
            </a:pPr>
            <a:r>
              <a:rPr b="1"/>
              <a:t>Reviewer</a:t>
            </a:r>
            <a:r>
              <a:rPr/>
              <a:t>: Ihle, Malika ( </a:t>
            </a:r>
            <a:r>
              <a:rPr>
                <a:hlinkClick r:id="rId3"/>
              </a:rPr>
              <a:t>0000-0002-3242-5981</a:t>
            </a:r>
            <a:r>
              <a:rPr/>
              <a:t>)</a:t>
            </a:r>
          </a:p>
          <a:p>
            <a:pPr lvl="0" indent="0" marL="0">
              <a:buNone/>
            </a:pPr>
            <a:r>
              <a:rPr b="1"/>
              <a:t>Consultant</a:t>
            </a:r>
            <a:r>
              <a:rPr/>
              <a:t>: Schönbrodt, Felix (</a:t>
            </a:r>
            <a:r>
              <a:rPr>
                <a:hlinkClick r:id="rId4"/>
              </a:rPr>
              <a:t>0000-0002-8282-3910</a:t>
            </a:r>
            <a: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 and citation statement</a:t>
            </a:r>
          </a:p>
          <a:p>
            <a:pPr lvl="0" indent="0" marL="0">
              <a:buNone/>
            </a:pPr>
          </a:p>
          <a:p>
            <a:pPr lvl="0" indent="0" marL="0">
              <a:buNone/>
            </a:pPr>
          </a:p>
          <a:p>
            <a:pPr lvl="0" indent="0" marL="0">
              <a:buNone/>
            </a:pPr>
            <a:r>
              <a:rPr/>
              <a:t>This work was originally created by </a:t>
            </a:r>
            <a:r>
              <a:rPr>
                <a:hlinkClick r:id="rId3"/>
              </a:rPr>
              <a:t>FirstName Name</a:t>
            </a:r>
            <a:r>
              <a:rPr/>
              <a:t> under a CC-BY-SA 4.0 </a:t>
            </a:r>
            <a:r>
              <a:rPr>
                <a:hlinkClick r:id="rId4"/>
              </a:rPr>
              <a:t>Creative Commons Attribution 4.0 SA International License</a:t>
            </a:r>
            <a:r>
              <a:rPr/>
              <a:t>. It was subsequently adapted by </a:t>
            </a:r>
            <a:r>
              <a:rPr>
                <a:hlinkClick r:id="rId5"/>
              </a:rPr>
              <a:t>FirstName Name</a:t>
            </a:r>
            <a:r>
              <a:rPr/>
              <a:t>. This current work by FirstName Name and FirstName Name is licensed under a CC-BY-SA 4.0 </a:t>
            </a:r>
            <a:r>
              <a:rPr>
                <a:hlinkClick r:id="rId6"/>
              </a:rPr>
              <a:t>Creative Commons Attribution 4.0 International SA License</a:t>
            </a:r>
            <a:r>
              <a:rPr/>
              <a:t>. Code snippets are dedicated to the public domain and are licensed under a </a:t>
            </a:r>
            <a:r>
              <a:rPr>
                <a:hlinkClick r:id="rId7"/>
              </a:rPr>
              <a:t>Creative Commons Universal License</a:t>
            </a:r>
            <a:r>
              <a:rPr/>
              <a:t> (CC0 1.0).</a:t>
            </a:r>
          </a:p>
          <a:p>
            <a:pPr lvl="0" indent="0" marL="0">
              <a:buNone/>
            </a:pPr>
            <a:r>
              <a:rPr/>
              <a:t>Please cite these materials as: Name, S., Name, M., &amp; Name, F. (2026). </a:t>
            </a:r>
            <a:r>
              <a:rPr i="1"/>
              <a:t>Slidedeck Title</a:t>
            </a:r>
            <a:r>
              <a:rPr/>
              <a:t> [Quarto slides]. </a:t>
            </a:r>
            <a:r>
              <a:rPr>
                <a:hlinkClick r:id="rId8"/>
              </a:rPr>
              <a:t>LMU Open Science Center</a:t>
            </a:r>
            <a:r>
              <a:rPr/>
              <a:t>. </a:t>
            </a:r>
            <a:r>
              <a:rPr>
                <a:hlinkClick r:id="rId9"/>
              </a:rPr>
              <a:t>https://lmu-osc.github.io/teaching-material-for-novices/open-research-tools/topic</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End of slide deck</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 - delete</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 Delete when the slides are final.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references</a:t>
            </a:r>
          </a:p>
          <a:p>
            <a:pPr lvl="0"/>
            <a:r>
              <a:rPr/>
              <a:t>Sample text for adding a reference in brackets (Abele-Brehm &amp; Bühner, 2016). </a:t>
            </a:r>
            <a:r>
              <a:rPr b="1"/>
              <a:t>Use square brackets in the qmd file.</a:t>
            </a:r>
          </a:p>
          <a:p>
            <a:pPr lvl="0"/>
            <a:r>
              <a:rPr/>
              <a:t>Sample text for adding in text-citation: Abele-Brehm &amp; Bühner (2016) argue that climate change is accelerating. </a:t>
            </a:r>
            <a:r>
              <a:rPr b="1"/>
              <a:t>No brackets used in the qmd file.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Call-out boxes</a:t>
            </a:r>
          </a:p>
          <a:p>
            <a:pPr lvl="0" indent="0" marL="1270000">
              <a:buNone/>
            </a:pPr>
            <a:r>
              <a:rPr sz="2000" b="1"/>
              <a:t>Caution</a:t>
            </a:r>
          </a:p>
          <a:p>
            <a:pPr lvl="0" indent="0" marL="1270000">
              <a:buNone/>
            </a:pPr>
            <a:r>
              <a:rPr sz="2000"/>
              <a:t>Include text here.</a:t>
            </a:r>
          </a:p>
          <a:p>
            <a:pPr lvl="0" indent="0" marL="1270000">
              <a:buNone/>
            </a:pPr>
            <a:r>
              <a:rPr sz="2000" b="1"/>
              <a:t>Warning</a:t>
            </a:r>
          </a:p>
          <a:p>
            <a:pPr lvl="0" indent="0" marL="1270000">
              <a:buNone/>
            </a:pPr>
            <a:r>
              <a:rPr sz="2000"/>
              <a:t>Include text here.</a:t>
            </a:r>
          </a:p>
          <a:p>
            <a:pPr lvl="0" indent="0" marL="1270000">
              <a:buNone/>
            </a:pPr>
            <a:r>
              <a:rPr sz="2000" b="1"/>
              <a:t>Tip</a:t>
            </a:r>
          </a:p>
          <a:p>
            <a:pPr lvl="0" indent="0" marL="1270000">
              <a:buNone/>
            </a:pPr>
            <a:r>
              <a:rPr sz="2000"/>
              <a:t>Include text here.</a:t>
            </a:r>
          </a:p>
          <a:p>
            <a:pPr lvl="0" indent="0" marL="1270000">
              <a:buNone/>
            </a:pPr>
            <a:r>
              <a:rPr sz="2000" b="1"/>
              <a:t>Note</a:t>
            </a:r>
          </a:p>
          <a:p>
            <a:pPr lvl="0" indent="0" marL="1270000">
              <a:buNone/>
            </a:pPr>
            <a:r>
              <a:rPr sz="2000"/>
              <a:t>Include text here.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Figure (centered) with caption and alt text</a:t>
            </a:r>
          </a:p>
        </p:txBody>
      </p:sp>
      <p:pic>
        <p:nvPicPr>
          <p:cNvPr descr="images/penguin.jpg" id="0" name="Picture 1"/>
          <p:cNvPicPr>
            <a:picLocks noGrp="1" noChangeAspect="1"/>
          </p:cNvPicPr>
          <p:nvPr/>
        </p:nvPicPr>
        <p:blipFill>
          <a:blip r:embed="rId3"/>
          <a:stretch>
            <a:fillRect/>
          </a:stretch>
        </p:blipFill>
        <p:spPr bwMode="auto">
          <a:xfrm>
            <a:off x="3568700" y="444500"/>
            <a:ext cx="5105400" cy="3390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A penguin standing on ice.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enguin.jpg" id="0" name="Picture 1"/>
          <p:cNvPicPr>
            <a:picLocks noGrp="1" noChangeAspect="1"/>
          </p:cNvPicPr>
          <p:nvPr/>
        </p:nvPicPr>
        <p:blipFill>
          <a:blip r:embed="rId2"/>
          <a:stretch>
            <a:fillRect/>
          </a:stretch>
        </p:blipFill>
        <p:spPr bwMode="auto">
          <a:xfrm>
            <a:off x="457200" y="1549400"/>
            <a:ext cx="4038600" cy="2679700"/>
          </a:xfrm>
          <a:prstGeom prst="rect">
            <a:avLst/>
          </a:prstGeom>
          <a:noFill/>
          <a:ln w="9525">
            <a:noFill/>
            <a:headEnd/>
            <a:tailEnd/>
          </a:ln>
        </p:spPr>
      </p:pic>
      <p:sp>
        <p:nvSpPr>
          <p:cNvPr id="4" name="Content Placeholder 3"/>
          <p:cNvSpPr>
            <a:spLocks noGrp="1"/>
          </p:cNvSpPr>
          <p:nvPr>
            <p:ph idx="2" sz="half"/>
          </p:nvPr>
        </p:nvSpPr>
        <p:spPr/>
        <p:txBody>
          <a:bodyPr/>
          <a:lstStyle/>
          <a:p>
            <a:pPr lvl="0"/>
            <a:r>
              <a:rPr/>
              <a:t>First bullet point</a:t>
            </a:r>
          </a:p>
          <a:p>
            <a:pPr lvl="0"/>
            <a:r>
              <a:rPr/>
              <a:t>Second bullet point</a:t>
            </a:r>
          </a:p>
          <a:p>
            <a:pPr lvl="0"/>
            <a:r>
              <a:rPr/>
              <a:t>Third bullet point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enguin.jpg" id="0" name="Picture 1"/>
          <p:cNvPicPr>
            <a:picLocks noGrp="1" noChangeAspect="1"/>
          </p:cNvPicPr>
          <p:nvPr/>
        </p:nvPicPr>
        <p:blipFill>
          <a:blip r:embed="rId2"/>
          <a:stretch>
            <a:fillRect/>
          </a:stretch>
        </p:blipFill>
        <p:spPr bwMode="auto">
          <a:xfrm>
            <a:off x="457200" y="1295400"/>
            <a:ext cx="4038600" cy="2679700"/>
          </a:xfrm>
          <a:prstGeom prst="rect">
            <a:avLst/>
          </a:prstGeom>
          <a:noFill/>
          <a:ln w="9525">
            <a:noFill/>
            <a:headEnd/>
            <a:tailEnd/>
          </a:ln>
        </p:spPr>
      </p:pic>
      <p:sp>
        <p:nvSpPr>
          <p:cNvPr id="1" name="TextBox 3"/>
          <p:cNvSpPr txBox="1"/>
          <p:nvPr>
            <p:ph idx="1"/>
          </p:nvPr>
        </p:nvSpPr>
        <p:spPr>
          <a:xfrm>
            <a:off x="457200" y="4076700"/>
            <a:ext cx="4038600" cy="508000"/>
          </a:xfrm>
          <a:prstGeom prst="rect">
            <a:avLst/>
          </a:prstGeom>
          <a:noFill/>
        </p:spPr>
        <p:txBody>
          <a:bodyPr/>
          <a:lstStyle/>
          <a:p>
            <a:pPr lvl="0" indent="0" marL="0" algn="ctr">
              <a:buNone/>
            </a:pPr>
            <a:r>
              <a:rPr/>
              <a:t>Figure 1: Penguin</a:t>
            </a:r>
          </a:p>
        </p:txBody>
      </p:sp>
      <p:pic>
        <p:nvPicPr>
          <p:cNvPr descr="images/seal.jpg" id="0" name="Picture 1"/>
          <p:cNvPicPr>
            <a:picLocks noGrp="1" noChangeAspect="1"/>
          </p:cNvPicPr>
          <p:nvPr/>
        </p:nvPicPr>
        <p:blipFill>
          <a:blip r:embed="rId3"/>
          <a:stretch>
            <a:fillRect/>
          </a:stretch>
        </p:blipFill>
        <p:spPr bwMode="auto">
          <a:xfrm>
            <a:off x="4648200" y="1295400"/>
            <a:ext cx="4038600" cy="26924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Figure 2: Seal</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enguin.jpg" id="0" name="Picture 1"/>
          <p:cNvPicPr>
            <a:picLocks noGrp="1" noChangeAspect="1"/>
          </p:cNvPicPr>
          <p:nvPr/>
        </p:nvPicPr>
        <p:blipFill>
          <a:blip r:embed="rId3"/>
          <a:stretch>
            <a:fillRect/>
          </a:stretch>
        </p:blipFill>
        <p:spPr bwMode="auto">
          <a:xfrm>
            <a:off x="457200" y="1549400"/>
            <a:ext cx="4038600" cy="2679700"/>
          </a:xfrm>
          <a:prstGeom prst="rect">
            <a:avLst/>
          </a:prstGeom>
          <a:noFill/>
          <a:ln w="9525">
            <a:noFill/>
            <a:headEnd/>
            <a:tailEnd/>
          </a:ln>
        </p:spPr>
      </p:pic>
      <p:sp>
        <p:nvSpPr>
          <p:cNvPr id="4" name="Content Placeholder 3"/>
          <p:cNvSpPr>
            <a:spLocks noGrp="1"/>
          </p:cNvSpPr>
          <p:nvPr>
            <p:ph idx="2" sz="half"/>
          </p:nvPr>
        </p:nvSpPr>
        <p:spPr/>
        <p:txBody>
          <a:bodyPr/>
          <a:lstStyle/>
          <a:p>
            <a:pPr lvl="0"/>
            <a:r>
              <a:rPr/>
              <a:t>First bullet point</a:t>
            </a:r>
          </a:p>
          <a:p>
            <a:pPr lvl="0"/>
            <a:r>
              <a:rPr/>
              <a:t>Second bullet point</a:t>
            </a:r>
          </a:p>
          <a:p>
            <a:pPr lvl="0"/>
            <a:r>
              <a:rPr/>
              <a:t>Third bullet point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p:txBody>
      </p:sp>
      <p:sp>
        <p:nvSpPr>
          <p:cNvPr id="4" name="Content Placeholder 3"/>
          <p:cNvSpPr>
            <a:spLocks noGrp="1"/>
          </p:cNvSpPr>
          <p:nvPr>
            <p:ph idx="2" sz="half"/>
          </p:nvPr>
        </p:nvSpPr>
        <p:spPr/>
        <p:txBody>
          <a:bodyPr/>
          <a:lstStyle/>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Column 1</a:t>
            </a:r>
          </a:p>
          <a:p>
            <a:pPr lvl="0" indent="0" marL="0">
              <a:buNone/>
            </a:pPr>
            <a:r>
              <a:rPr/>
              <a:t>Lorem ipsum dolor sit amet, consectetur adipiscing elit.</a:t>
            </a:r>
            <a:br/>
            <a:r>
              <a:rPr/>
              <a:t>Vivamus lacinia odio vitae vestibulum vestibulum.</a:t>
            </a:r>
          </a:p>
        </p:txBody>
      </p:sp>
      <p:sp>
        <p:nvSpPr>
          <p:cNvPr id="4" name="Content Placeholder 3"/>
          <p:cNvSpPr>
            <a:spLocks noGrp="1"/>
          </p:cNvSpPr>
          <p:nvPr>
            <p:ph idx="2" sz="half"/>
          </p:nvPr>
        </p:nvSpPr>
        <p:spPr/>
        <p:txBody>
          <a:bodyPr/>
          <a:lstStyle/>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b="1"/>
                        <a:t>Category</a:t>
                      </a:r>
                    </a:p>
                  </a:txBody>
                  <a:tcPr/>
                </a:tc>
                <a:tc>
                  <a:txBody>
                    <a:bodyPr/>
                    <a:lstStyle/>
                    <a:p>
                      <a:pPr lvl="0" indent="0" marL="0">
                        <a:buNone/>
                      </a:pPr>
                      <a:r>
                        <a:rPr b="1"/>
                        <a:t>Metric</a:t>
                      </a:r>
                    </a:p>
                  </a:txBody>
                  <a:tcPr/>
                </a:tc>
                <a:tc>
                  <a:txBody>
                    <a:bodyPr/>
                    <a:lstStyle/>
                    <a:p>
                      <a:pPr lvl="0" indent="0" marL="0" algn="r">
                        <a:buNone/>
                      </a:pPr>
                      <a:r>
                        <a:rPr b="1"/>
                        <a:t>Q1</a:t>
                      </a:r>
                    </a:p>
                  </a:txBody>
                  <a:tcPr/>
                </a:tc>
                <a:tc>
                  <a:txBody>
                    <a:bodyPr/>
                    <a:lstStyle/>
                    <a:p>
                      <a:pPr lvl="0" indent="0" marL="0" algn="r">
                        <a:buNone/>
                      </a:pPr>
                      <a:r>
                        <a:rPr b="1"/>
                        <a:t>Q2</a:t>
                      </a:r>
                    </a:p>
                  </a:txBody>
                  <a:tcPr/>
                </a:tc>
                <a:tc>
                  <a:txBody>
                    <a:bodyPr/>
                    <a:lstStyle/>
                    <a:p>
                      <a:pPr lvl="0" indent="0" marL="0" algn="r">
                        <a:buNone/>
                      </a:pPr>
                      <a:r>
                        <a:rPr b="1"/>
                        <a:t>Q3</a:t>
                      </a:r>
                    </a:p>
                  </a:txBody>
                  <a:tcPr/>
                </a:tc>
                <a:tc>
                  <a:txBody>
                    <a:bodyPr/>
                    <a:lstStyle/>
                    <a:p>
                      <a:pPr lvl="0" indent="0" marL="0" algn="r">
                        <a:buNone/>
                      </a:pPr>
                      <a:r>
                        <a:rPr b="1"/>
                        <a:t>Q4</a:t>
                      </a:r>
                    </a:p>
                  </a:txBody>
                  <a:tcPr/>
                </a:tc>
              </a:tr>
              <a:tr h="0">
                <a:tc>
                  <a:txBody>
                    <a:bodyPr/>
                    <a:lstStyle/>
                    <a:p>
                      <a:pPr lvl="0" indent="0" marL="0">
                        <a:buNone/>
                      </a:pPr>
                      <a:r>
                        <a:rPr b="1"/>
                        <a:t>Sales</a:t>
                      </a:r>
                    </a:p>
                  </a:txBody>
                </a:tc>
                <a:tc>
                  <a:txBody>
                    <a:bodyPr/>
                    <a:lstStyle/>
                    <a:p>
                      <a:pPr lvl="0" indent="0" marL="0">
                        <a:buNone/>
                      </a:pPr>
                      <a:r>
                        <a:rPr/>
                        <a:t>Revenue</a:t>
                      </a:r>
                    </a:p>
                  </a:txBody>
                </a:tc>
                <a:tc>
                  <a:txBody>
                    <a:bodyPr/>
                    <a:lstStyle/>
                    <a:p>
                      <a:pPr lvl="0" indent="0" marL="0" algn="r">
                        <a:buNone/>
                      </a:pPr>
                      <a:r>
                        <a:rPr/>
                        <a:t>12,000</a:t>
                      </a:r>
                    </a:p>
                  </a:txBody>
                </a:tc>
                <a:tc>
                  <a:txBody>
                    <a:bodyPr/>
                    <a:lstStyle/>
                    <a:p>
                      <a:pPr lvl="0" indent="0" marL="0" algn="r">
                        <a:buNone/>
                      </a:pPr>
                      <a:r>
                        <a:rPr/>
                        <a:t>14,500</a:t>
                      </a:r>
                    </a:p>
                  </a:txBody>
                </a:tc>
                <a:tc>
                  <a:txBody>
                    <a:bodyPr/>
                    <a:lstStyle/>
                    <a:p>
                      <a:pPr lvl="0" indent="0" marL="0" algn="r">
                        <a:buNone/>
                      </a:pPr>
                      <a:r>
                        <a:rPr/>
                        <a:t>15,200</a:t>
                      </a:r>
                    </a:p>
                  </a:txBody>
                </a:tc>
                <a:tc>
                  <a:txBody>
                    <a:bodyPr/>
                    <a:lstStyle/>
                    <a:p>
                      <a:pPr lvl="0" indent="0" marL="0" algn="r">
                        <a:buNone/>
                      </a:pPr>
                      <a:r>
                        <a:rPr/>
                        <a:t>16,800</a:t>
                      </a:r>
                    </a:p>
                  </a:txBody>
                </a:tc>
              </a:tr>
              <a:tr h="0">
                <a:tc>
                  <a:txBody>
                    <a:bodyPr/>
                    <a:lstStyle/>
                    <a:p>
                      <a:endParaRPr/>
                    </a:p>
                  </a:txBody>
                </a:tc>
                <a:tc>
                  <a:txBody>
                    <a:bodyPr/>
                    <a:lstStyle/>
                    <a:p>
                      <a:pPr lvl="0" indent="0" marL="0">
                        <a:buNone/>
                      </a:pPr>
                      <a:r>
                        <a:rPr/>
                        <a:t>Units Sold</a:t>
                      </a:r>
                    </a:p>
                  </a:txBody>
                </a:tc>
                <a:tc>
                  <a:txBody>
                    <a:bodyPr/>
                    <a:lstStyle/>
                    <a:p>
                      <a:pPr lvl="0" indent="0" marL="0" algn="r">
                        <a:buNone/>
                      </a:pPr>
                      <a:r>
                        <a:rPr/>
                        <a:t>1,200</a:t>
                      </a:r>
                    </a:p>
                  </a:txBody>
                </a:tc>
                <a:tc>
                  <a:txBody>
                    <a:bodyPr/>
                    <a:lstStyle/>
                    <a:p>
                      <a:pPr lvl="0" indent="0" marL="0" algn="r">
                        <a:buNone/>
                      </a:pPr>
                      <a:r>
                        <a:rPr/>
                        <a:t>1,450</a:t>
                      </a:r>
                    </a:p>
                  </a:txBody>
                </a:tc>
                <a:tc>
                  <a:txBody>
                    <a:bodyPr/>
                    <a:lstStyle/>
                    <a:p>
                      <a:pPr lvl="0" indent="0" marL="0" algn="r">
                        <a:buNone/>
                      </a:pPr>
                      <a:r>
                        <a:rPr/>
                        <a:t>1,520</a:t>
                      </a:r>
                    </a:p>
                  </a:txBody>
                </a:tc>
                <a:tc>
                  <a:txBody>
                    <a:bodyPr/>
                    <a:lstStyle/>
                    <a:p>
                      <a:pPr lvl="0" indent="0" marL="0" algn="r">
                        <a:buNone/>
                      </a:pPr>
                      <a:r>
                        <a:rPr/>
                        <a:t>1,680</a:t>
                      </a:r>
                    </a:p>
                  </a:txBody>
                </a:tc>
              </a:tr>
              <a:tr h="0">
                <a:tc>
                  <a:txBody>
                    <a:bodyPr/>
                    <a:lstStyle/>
                    <a:p>
                      <a:pPr lvl="0" indent="0" marL="0">
                        <a:buNone/>
                      </a:pPr>
                      <a:r>
                        <a:rPr b="1"/>
                        <a:t>Costs</a:t>
                      </a:r>
                    </a:p>
                  </a:txBody>
                </a:tc>
                <a:tc>
                  <a:txBody>
                    <a:bodyPr/>
                    <a:lstStyle/>
                    <a:p>
                      <a:pPr lvl="0" indent="0" marL="0">
                        <a:buNone/>
                      </a:pPr>
                      <a:r>
                        <a:rPr/>
                        <a:t>COGS</a:t>
                      </a:r>
                    </a:p>
                  </a:txBody>
                </a:tc>
                <a:tc>
                  <a:txBody>
                    <a:bodyPr/>
                    <a:lstStyle/>
                    <a:p>
                      <a:pPr lvl="0" indent="0" marL="0" algn="r">
                        <a:buNone/>
                      </a:pPr>
                      <a:r>
                        <a:rPr/>
                        <a:t>5,000</a:t>
                      </a:r>
                    </a:p>
                  </a:txBody>
                </a:tc>
                <a:tc>
                  <a:txBody>
                    <a:bodyPr/>
                    <a:lstStyle/>
                    <a:p>
                      <a:pPr lvl="0" indent="0" marL="0" algn="r">
                        <a:buNone/>
                      </a:pPr>
                      <a:r>
                        <a:rPr/>
                        <a:t>5,200</a:t>
                      </a:r>
                    </a:p>
                  </a:txBody>
                </a:tc>
                <a:tc>
                  <a:txBody>
                    <a:bodyPr/>
                    <a:lstStyle/>
                    <a:p>
                      <a:pPr lvl="0" indent="0" marL="0" algn="r">
                        <a:buNone/>
                      </a:pPr>
                      <a:r>
                        <a:rPr/>
                        <a:t>5,400</a:t>
                      </a:r>
                    </a:p>
                  </a:txBody>
                </a:tc>
                <a:tc>
                  <a:txBody>
                    <a:bodyPr/>
                    <a:lstStyle/>
                    <a:p>
                      <a:pPr lvl="0" indent="0" marL="0" algn="r">
                        <a:buNone/>
                      </a:pPr>
                      <a:r>
                        <a:rPr/>
                        <a:t>5,600</a:t>
                      </a:r>
                    </a:p>
                  </a:txBody>
                </a:tc>
              </a:tr>
              <a:tr h="0">
                <a:tc>
                  <a:txBody>
                    <a:bodyPr/>
                    <a:lstStyle/>
                    <a:p>
                      <a:endParaRPr/>
                    </a:p>
                  </a:txBody>
                </a:tc>
                <a:tc>
                  <a:txBody>
                    <a:bodyPr/>
                    <a:lstStyle/>
                    <a:p>
                      <a:pPr lvl="0" indent="0" marL="0">
                        <a:buNone/>
                      </a:pPr>
                      <a:r>
                        <a:rPr/>
                        <a:t>Operating Exp.</a:t>
                      </a:r>
                    </a:p>
                  </a:txBody>
                </a:tc>
                <a:tc>
                  <a:txBody>
                    <a:bodyPr/>
                    <a:lstStyle/>
                    <a:p>
                      <a:pPr lvl="0" indent="0" marL="0" algn="r">
                        <a:buNone/>
                      </a:pPr>
                      <a:r>
                        <a:rPr/>
                        <a:t>2,300</a:t>
                      </a:r>
                    </a:p>
                  </a:txBody>
                </a:tc>
                <a:tc>
                  <a:txBody>
                    <a:bodyPr/>
                    <a:lstStyle/>
                    <a:p>
                      <a:pPr lvl="0" indent="0" marL="0" algn="r">
                        <a:buNone/>
                      </a:pPr>
                      <a:r>
                        <a:rPr/>
                        <a:t>2,400</a:t>
                      </a:r>
                    </a:p>
                  </a:txBody>
                </a:tc>
                <a:tc>
                  <a:txBody>
                    <a:bodyPr/>
                    <a:lstStyle/>
                    <a:p>
                      <a:pPr lvl="0" indent="0" marL="0" algn="r">
                        <a:buNone/>
                      </a:pPr>
                      <a:r>
                        <a:rPr/>
                        <a:t>2,450</a:t>
                      </a:r>
                    </a:p>
                  </a:txBody>
                </a:tc>
                <a:tc>
                  <a:txBody>
                    <a:bodyPr/>
                    <a:lstStyle/>
                    <a:p>
                      <a:pPr lvl="0" indent="0" marL="0" algn="r">
                        <a:buNone/>
                      </a:pPr>
                      <a:r>
                        <a:rPr/>
                        <a:t>2,500</a:t>
                      </a:r>
                    </a:p>
                  </a:txBody>
                </a:tc>
              </a:tr>
              <a:tr h="0">
                <a:tc>
                  <a:txBody>
                    <a:bodyPr/>
                    <a:lstStyle/>
                    <a:p>
                      <a:pPr lvl="0" indent="0" marL="0">
                        <a:buNone/>
                      </a:pPr>
                      <a:r>
                        <a:rPr b="1"/>
                        <a:t>Profit</a:t>
                      </a:r>
                    </a:p>
                  </a:txBody>
                </a:tc>
                <a:tc>
                  <a:txBody>
                    <a:bodyPr/>
                    <a:lstStyle/>
                    <a:p>
                      <a:pPr lvl="0" indent="0" marL="0">
                        <a:buNone/>
                      </a:pPr>
                      <a:r>
                        <a:rPr/>
                        <a:t>Gross Profit</a:t>
                      </a:r>
                    </a:p>
                  </a:txBody>
                </a:tc>
                <a:tc>
                  <a:txBody>
                    <a:bodyPr/>
                    <a:lstStyle/>
                    <a:p>
                      <a:pPr lvl="0" indent="0" marL="0" algn="r">
                        <a:buNone/>
                      </a:pPr>
                      <a:r>
                        <a:rPr/>
                        <a:t>7,000</a:t>
                      </a:r>
                    </a:p>
                  </a:txBody>
                </a:tc>
                <a:tc>
                  <a:txBody>
                    <a:bodyPr/>
                    <a:lstStyle/>
                    <a:p>
                      <a:pPr lvl="0" indent="0" marL="0" algn="r">
                        <a:buNone/>
                      </a:pPr>
                      <a:r>
                        <a:rPr/>
                        <a:t>9,300</a:t>
                      </a:r>
                    </a:p>
                  </a:txBody>
                </a:tc>
                <a:tc>
                  <a:txBody>
                    <a:bodyPr/>
                    <a:lstStyle/>
                    <a:p>
                      <a:pPr lvl="0" indent="0" marL="0" algn="r">
                        <a:buNone/>
                      </a:pPr>
                      <a:r>
                        <a:rPr/>
                        <a:t>9,800</a:t>
                      </a:r>
                    </a:p>
                  </a:txBody>
                </a:tc>
                <a:tc>
                  <a:txBody>
                    <a:bodyPr/>
                    <a:lstStyle/>
                    <a:p>
                      <a:pPr lvl="0" indent="0" marL="0" algn="r">
                        <a:buNone/>
                      </a:pPr>
                      <a:r>
                        <a:rPr/>
                        <a:t>11,200</a:t>
                      </a:r>
                    </a:p>
                  </a:txBody>
                </a:tc>
              </a:tr>
              <a:tr h="0">
                <a:tc>
                  <a:txBody>
                    <a:bodyPr/>
                    <a:lstStyle/>
                    <a:p>
                      <a:endParaRPr/>
                    </a:p>
                  </a:txBody>
                </a:tc>
                <a:tc>
                  <a:txBody>
                    <a:bodyPr/>
                    <a:lstStyle/>
                    <a:p>
                      <a:pPr lvl="0" indent="0" marL="0">
                        <a:buNone/>
                      </a:pPr>
                      <a:r>
                        <a:rPr/>
                        <a:t>Net Profit</a:t>
                      </a:r>
                    </a:p>
                  </a:txBody>
                </a:tc>
                <a:tc>
                  <a:txBody>
                    <a:bodyPr/>
                    <a:lstStyle/>
                    <a:p>
                      <a:pPr lvl="0" indent="0" marL="0" algn="r">
                        <a:buNone/>
                      </a:pPr>
                      <a:r>
                        <a:rPr/>
                        <a:t>4,700</a:t>
                      </a:r>
                    </a:p>
                  </a:txBody>
                </a:tc>
                <a:tc>
                  <a:txBody>
                    <a:bodyPr/>
                    <a:lstStyle/>
                    <a:p>
                      <a:pPr lvl="0" indent="0" marL="0" algn="r">
                        <a:buNone/>
                      </a:pPr>
                      <a:r>
                        <a:rPr/>
                        <a:t>6,500</a:t>
                      </a:r>
                    </a:p>
                  </a:txBody>
                </a:tc>
                <a:tc>
                  <a:txBody>
                    <a:bodyPr/>
                    <a:lstStyle/>
                    <a:p>
                      <a:pPr lvl="0" indent="0" marL="0" algn="r">
                        <a:buNone/>
                      </a:pPr>
                      <a:r>
                        <a:rPr/>
                        <a:t>7,000</a:t>
                      </a:r>
                    </a:p>
                  </a:txBody>
                </a:tc>
                <a:tc>
                  <a:txBody>
                    <a:bodyPr/>
                    <a:lstStyle/>
                    <a:p>
                      <a:pPr lvl="0" indent="0" marL="0" algn="r">
                        <a:buNone/>
                      </a:pPr>
                      <a:r>
                        <a:rPr/>
                        <a:t>8,100</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Note: Values are in USD thousands.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Collect data</a:t>
            </a:r>
          </a:p>
          <a:p>
            <a:pPr lvl="0"/>
            <a:r>
              <a:rPr/>
              <a:t>☐ Evaluate results</a:t>
            </a:r>
          </a:p>
          <a:p>
            <a:pPr lvl="0"/>
            <a:r>
              <a:rPr/>
              <a:t>✅ Done (for PowerPoint conversion)-</a:t>
            </a:r>
          </a:p>
          <a:p>
            <a:pPr lvl="0"/>
            <a:r>
              <a:rPr/>
              <a:t>⬜ To do pptx friendly</a:t>
            </a:r>
          </a:p>
          <a:p>
            <a:pPr lvl="0"/>
            <a:r>
              <a:rPr/>
              <a:t>☐ Task one</a:t>
            </a:r>
          </a:p>
          <a:p>
            <a:pPr lvl="0"/>
            <a:r>
              <a:rPr/>
              <a:t>☐ Task two</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Linking to video with thumbnail</a:t>
            </a:r>
          </a:p>
        </p:txBody>
      </p:sp>
      <p:pic>
        <p:nvPicPr>
          <p:cNvPr descr="images/penguin.jpg" id="0" name="Picture 1">
            <a:hlinkClick r:id="rId3"/>
          </p:cNvPr>
          <p:cNvPicPr>
            <a:picLocks noGrp="1" noChangeAspect="1"/>
          </p:cNvPicPr>
          <p:nvPr/>
        </p:nvPicPr>
        <p:blipFill>
          <a:blip r:embed="rId2"/>
          <a:stretch>
            <a:fillRect/>
          </a:stretch>
        </p:blipFill>
        <p:spPr bwMode="auto">
          <a:xfrm>
            <a:off x="3568700" y="698500"/>
            <a:ext cx="51054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template-slides_files/figure-pptx/unnamed-chunk-1-1.png" id="0" name="Picture 1"/>
          <p:cNvPicPr>
            <a:picLocks noGrp="1" noChangeAspect="1"/>
          </p:cNvPicPr>
          <p:nvPr/>
        </p:nvPicPr>
        <p:blipFill>
          <a:blip r:embed="rId3"/>
          <a:stretch>
            <a:fillRect/>
          </a:stretch>
        </p:blipFill>
        <p:spPr bwMode="auto">
          <a:xfrm>
            <a:off x="3568700" y="1117600"/>
            <a:ext cx="5105400" cy="25527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Here is an overview of which features </a:t>
            </a:r>
            <a:r>
              <a:rPr b="1"/>
              <a:t>cannot</a:t>
            </a:r>
            <a:r>
              <a:rPr/>
              <a:t> be transferred to a pptx file from Quarto revealjs file (not exhaustive list):</a:t>
            </a:r>
          </a:p>
          <a:p>
            <a:pPr lvl="0"/>
            <a:r>
              <a:rPr/>
              <a:t>Custom HTML/CSS layout</a:t>
            </a:r>
          </a:p>
          <a:p>
            <a:pPr lvl="1"/>
            <a:r>
              <a:rPr/>
              <a:t>Absolute positioning (position: absolute)</a:t>
            </a:r>
          </a:p>
          <a:p>
            <a:pPr lvl="1"/>
            <a:r>
              <a:rPr/>
              <a:t>Flexbox / Grid layout</a:t>
            </a:r>
          </a:p>
          <a:p>
            <a:pPr lvl="1"/>
            <a:r>
              <a:rPr/>
              <a:t>Custom margins, padding, alignment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Fragments / incremental reveal</a:t>
            </a:r>
          </a:p>
          <a:p>
            <a:pPr lvl="1"/>
            <a:r>
              <a:rPr/>
              <a:t>Click-to-reveal bullets or elements (.fragment)</a:t>
            </a:r>
          </a:p>
          <a:p>
            <a:pPr lvl="1"/>
            <a:r>
              <a:rPr/>
              <a:t>Animations &amp; transitions</a:t>
            </a:r>
          </a:p>
          <a:p>
            <a:pPr lvl="1"/>
            <a:r>
              <a:rPr/>
              <a:t>CSS animations ((</a:t>
            </a:r>
            <a:r>
              <a:rPr b="1"/>
              <a:t>keyframes?</a:t>
            </a:r>
            <a:r>
              <a:rPr/>
              <a:t>))</a:t>
            </a:r>
          </a:p>
          <a:p>
            <a:pPr lvl="1"/>
            <a:r>
              <a:rPr/>
              <a:t>Reveal.js slide transitions (fade, zoom, etc.)</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Interactive JavaScript components</a:t>
            </a:r>
          </a:p>
          <a:p>
            <a:pPr lvl="1"/>
            <a:r>
              <a:rPr/>
              <a:t>Plotly, Shiny apps, interactive charts</a:t>
            </a:r>
          </a:p>
          <a:p>
            <a:pPr lvl="1"/>
            <a:r>
              <a:rPr/>
              <a:t>Custom JS widgets</a:t>
            </a:r>
          </a:p>
          <a:p>
            <a:pPr lvl="1"/>
            <a:r>
              <a:rPr/>
              <a:t>Embedded iframes and external content</a:t>
            </a:r>
          </a:p>
          <a:p>
            <a:pPr lvl="1"/>
            <a:r>
              <a:rPr/>
              <a:t>YouTube embeds</a:t>
            </a:r>
          </a:p>
          <a:p>
            <a:pPr lvl="1"/>
            <a:r>
              <a:rPr/>
              <a:t>Google Maps</a:t>
            </a:r>
          </a:p>
          <a:p>
            <a:pPr lvl="1"/>
            <a:r>
              <a:rPr/>
              <a:t>Embedded websites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Dynamic sizing / responsive behavior</a:t>
            </a:r>
          </a:p>
          <a:p>
            <a:pPr lvl="1"/>
            <a:r>
              <a:rPr/>
              <a:t>Percent-based sizing (width: 50%)</a:t>
            </a:r>
          </a:p>
          <a:p>
            <a:pPr lvl="0"/>
            <a:r>
              <a:rPr/>
              <a:t>Text shadows, letter spacing</a:t>
            </a:r>
          </a:p>
          <a:p>
            <a:pPr lvl="0"/>
            <a:r>
              <a:rPr/>
              <a:t>Custom tables with HTML styling</a:t>
            </a:r>
          </a:p>
          <a:p>
            <a:pPr lvl="0"/>
            <a:r>
              <a:rPr/>
              <a:t>Colored headers or rows</a:t>
            </a:r>
          </a:p>
          <a:p>
            <a:pPr lvl="0"/>
            <a:r>
              <a:rPr/>
              <a:t>Cell borders and padding via CSS</a:t>
            </a:r>
          </a:p>
          <a:p>
            <a:pPr lvl="0"/>
            <a:r>
              <a:rPr/>
              <a:t>Overlapping or rotated elements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supported in html but not in pptx</a:t>
            </a:r>
          </a:p>
          <a:p>
            <a:pPr lvl="0" indent="0" marL="0">
              <a:buNone/>
            </a:pPr>
            <a:r>
              <a:rPr/>
              <a:t>(continued)</a:t>
            </a:r>
          </a:p>
          <a:p>
            <a:pPr lvl="0"/>
            <a:r>
              <a:rPr/>
              <a:t>Rotated images or text</a:t>
            </a:r>
          </a:p>
          <a:p>
            <a:pPr lvl="0"/>
            <a:r>
              <a:rPr/>
              <a:t>Speech bubbles and callout shapes</a:t>
            </a:r>
          </a:p>
          <a:p>
            <a:pPr lvl="0"/>
            <a:r>
              <a:rPr/>
              <a:t>Bubble-style layouts</a:t>
            </a:r>
          </a:p>
          <a:p>
            <a:pPr lvl="0"/>
            <a:r>
              <a:rPr/>
              <a:t>Decorative shapes using CSS</a:t>
            </a:r>
          </a:p>
          <a:p>
            <a:pPr lvl="0"/>
            <a:r>
              <a:rPr/>
              <a:t>Embedded fonts and icon libraries</a:t>
            </a:r>
          </a:p>
          <a:p>
            <a:pPr lvl="0"/>
            <a:r>
              <a:rPr/>
              <a:t>Interactive quizzes or logic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Quarto slides</dc:title>
  <dc:creator>Add your name</dc:creator>
  <cp:keywords/>
  <dcterms:created xsi:type="dcterms:W3CDTF">2026-10-29T09:02:23Z</dcterms:created>
  <dcterms:modified xsi:type="dcterms:W3CDTF">2026-10-29T09:02:23Z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29/10/2026</vt:lpwstr>
  </property>
  <property fmtid="{D5CDD505-2E9C-101B-9397-08002B2CF9AE}" pid="8" name="date-format">
    <vt:lpwstr>DD/MM/YYYY</vt:lpwstr>
  </property>
  <property fmtid="{D5CDD505-2E9C-101B-9397-08002B2CF9AE}" pid="9" name="editor">
    <vt:lpwstr>source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repo-url">
    <vt:lpwstr>https://github.com/lmu-osc/train-the-trainer-open-research</vt:lpwstr>
  </property>
  <property fmtid="{D5CDD505-2E9C-101B-9397-08002B2CF9AE}" pid="16" name="revealjs-plugins">
    <vt:lpwstr/>
  </property>
  <property fmtid="{D5CDD505-2E9C-101B-9397-08002B2CF9AE}" pid="17" name="toc-title">
    <vt:lpwstr>Table of contents</vt:lpwstr>
  </property>
</Properties>
</file>